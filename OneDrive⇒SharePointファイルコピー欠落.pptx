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
  </p:notesMasterIdLst>
  <p:handoutMasterIdLst>
    <p:handoutMasterId r:id="rId7"/>
  </p:handoutMasterIdLst>
  <p:sldIdLst>
    <p:sldId id="256" r:id="rId2"/>
    <p:sldId id="271" r:id="rId3"/>
    <p:sldId id="283" r:id="rId4"/>
    <p:sldId id="284" r:id="rId5"/>
  </p:sldIdLst>
  <p:sldSz cx="12192000" cy="6858000"/>
  <p:notesSz cx="6858000" cy="9144000"/>
  <p:defaultTextStyle>
    <a:defPPr rtl="0">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ようこそ" id="{E75E278A-FF0E-49A4-B170-79828D63BBAD}">
          <p14:sldIdLst>
            <p14:sldId id="256"/>
          </p14:sldIdLst>
        </p14:section>
        <p14:section name="デザイン、変形、注釈、共同作業、操作アシスト" id="{B9B51309-D148-4332-87C2-07BE32FBCA3B}">
          <p14:sldIdLst>
            <p14:sldId id="271"/>
            <p14:sldId id="283"/>
            <p14:sldId id="284"/>
          </p14:sldIdLst>
        </p14:section>
        <p14:section name="詳細情報"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作成者"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241" autoAdjust="0"/>
  </p:normalViewPr>
  <p:slideViewPr>
    <p:cSldViewPr snapToGrid="0">
      <p:cViewPr varScale="1">
        <p:scale>
          <a:sx n="119" d="100"/>
          <a:sy n="119" d="100"/>
        </p:scale>
        <p:origin x="192"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77" d="100"/>
          <a:sy n="77" d="100"/>
        </p:scale>
        <p:origin x="3210" y="11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B331DED8-88B5-411A-ACD2-C758F92C980A}" type="datetime1">
              <a:rPr lang="ja-JP" altLang="en-US" smtClean="0">
                <a:latin typeface="Meiryo UI" panose="020B0604030504040204" pitchFamily="34" charset="-128"/>
                <a:ea typeface="Meiryo UI" panose="020B0604030504040204" pitchFamily="34" charset="-128"/>
              </a:rPr>
              <a:t>2025/12/19</a:t>
            </a:fld>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C679768-A2FC-4D08-91F6-8DCE6C566B36}" type="slidenum">
              <a:rPr lang="en-US" altLang="ja-JP" smtClean="0">
                <a:latin typeface="Meiryo UI" panose="020B0604030504040204" pitchFamily="34" charset="-128"/>
                <a:ea typeface="Meiryo UI" panose="020B0604030504040204" pitchFamily="34" charset="-128"/>
                <a:cs typeface="Meiryo UI" panose="020B0604030504040204" pitchFamily="34" charset="-128"/>
              </a:rPr>
              <a:t>‹#›</a:t>
            </a:fld>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eiryo UI" panose="020B0604030504040204" pitchFamily="34" charset="-128"/>
                <a:ea typeface="Meiryo UI" panose="020B0604030504040204" pitchFamily="34" charset="-128"/>
                <a:cs typeface="Meiryo UI" panose="020B0604030504040204" pitchFamily="34" charset="-128"/>
              </a:defRPr>
            </a:lvl1pPr>
          </a:lstStyle>
          <a:p>
            <a:endParaRPr lang="ja-JP" altLang="en-US" noProof="0"/>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eiryo UI" panose="020B0604030504040204" pitchFamily="34" charset="-128"/>
                <a:ea typeface="Meiryo UI" panose="020B0604030504040204" pitchFamily="34" charset="-128"/>
                <a:cs typeface="Meiryo UI" panose="020B0604030504040204" pitchFamily="34" charset="-128"/>
              </a:defRPr>
            </a:lvl1pPr>
          </a:lstStyle>
          <a:p>
            <a:fld id="{EA714F72-2ED5-42CD-BB70-0808FD3450BC}" type="datetime1">
              <a:rPr lang="ja-JP" altLang="en-US" noProof="0" smtClean="0"/>
              <a:t>2025/12/19</a:t>
            </a:fld>
            <a:endParaRPr lang="ja-JP" altLang="en-US" noProof="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ja-JP" altLang="en-US" noProof="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ja-JP" altLang="en-US" noProof="0"/>
              <a:t>クリックしてマスター テキストのスタイルを編集</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eiryo UI" panose="020B0604030504040204" pitchFamily="34" charset="-128"/>
                <a:ea typeface="Meiryo UI" panose="020B0604030504040204" pitchFamily="34" charset="-128"/>
                <a:cs typeface="Meiryo UI" panose="020B0604030504040204" pitchFamily="34" charset="-128"/>
              </a:defRPr>
            </a:lvl1pPr>
          </a:lstStyle>
          <a:p>
            <a:endParaRPr lang="ja-JP" altLang="en-US" noProof="0"/>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eiryo UI" panose="020B0604030504040204" pitchFamily="34" charset="-128"/>
                <a:ea typeface="Meiryo UI" panose="020B0604030504040204" pitchFamily="34" charset="-128"/>
                <a:cs typeface="Meiryo UI" panose="020B0604030504040204" pitchFamily="34" charset="-128"/>
              </a:defRPr>
            </a:lvl1pPr>
          </a:lstStyle>
          <a:p>
            <a:fld id="{DF61EA0F-A667-4B49-8422-0062BC55E249}" type="slidenum">
              <a:rPr lang="en-US" altLang="ja-JP" noProof="0" smtClean="0"/>
              <a:pPr/>
              <a:t>‹#›</a:t>
            </a:fld>
            <a:endParaRPr lang="ja-JP" altLang="en-US" noProof="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1pPr>
    <a:lvl2pPr marL="457200" algn="l" defTabSz="914400" rtl="0" eaLnBrk="1" latinLnBrk="0" hangingPunct="1">
      <a:defRPr sz="12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2pPr>
    <a:lvl3pPr marL="914400" algn="l" defTabSz="914400" rtl="0" eaLnBrk="1" latinLnBrk="0" hangingPunct="1">
      <a:defRPr sz="12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3pPr>
    <a:lvl4pPr marL="1371600" algn="l" defTabSz="914400" rtl="0" eaLnBrk="1" latinLnBrk="0" hangingPunct="1">
      <a:defRPr sz="12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4pPr>
    <a:lvl5pPr marL="1828800" algn="l" defTabSz="914400" rtl="0" eaLnBrk="1" latinLnBrk="0" hangingPunct="1">
      <a:defRPr sz="12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rtlCol="0"/>
          <a:lstStyle/>
          <a:p>
            <a:pPr rtl="0"/>
            <a:endParaRPr lang="ja-JP" altLang="en-US"/>
          </a:p>
        </p:txBody>
      </p:sp>
      <p:sp>
        <p:nvSpPr>
          <p:cNvPr id="4" name="スライド番号プレースホルダー 3"/>
          <p:cNvSpPr>
            <a:spLocks noGrp="1"/>
          </p:cNvSpPr>
          <p:nvPr>
            <p:ph type="sldNum" sz="quarter" idx="10"/>
          </p:nvPr>
        </p:nvSpPr>
        <p:spPr/>
        <p:txBody>
          <a:bodyPr rtlCol="0"/>
          <a:lstStyle/>
          <a:p>
            <a:pPr rtl="0"/>
            <a:fld id="{DF61EA0F-A667-4B49-8422-0062BC55E249}" type="slidenum">
              <a:rPr lang="en-US" altLang="ja-JP" smtClean="0"/>
              <a:t>1</a:t>
            </a:fld>
            <a:endParaRPr lang="ja-JP" altLang="en-US"/>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F61EA0F-A667-4B49-8422-0062BC55E249}" type="slidenum">
              <a:rPr lang="en-US" altLang="ja-JP" smtClean="0"/>
              <a:pPr/>
              <a:t>2</a:t>
            </a:fld>
            <a:endParaRPr lang="ja-JP" altLang="en-US"/>
          </a:p>
        </p:txBody>
      </p:sp>
    </p:spTree>
    <p:extLst>
      <p:ext uri="{BB962C8B-B14F-4D97-AF65-F5344CB8AC3E}">
        <p14:creationId xmlns:p14="http://schemas.microsoft.com/office/powerpoint/2010/main" val="1811998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650FF-63A3-8095-9EDD-0C0677428C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1A1703-94BC-3CCE-0338-1D0C76593FA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65C538-56DA-FAAF-ED0C-F87BE49D2CB3}"/>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E112311-D166-89E5-02F4-2524F9F60831}"/>
              </a:ext>
            </a:extLst>
          </p:cNvPr>
          <p:cNvSpPr>
            <a:spLocks noGrp="1"/>
          </p:cNvSpPr>
          <p:nvPr>
            <p:ph type="sldNum" sz="quarter" idx="5"/>
          </p:nvPr>
        </p:nvSpPr>
        <p:spPr/>
        <p:txBody>
          <a:bodyPr/>
          <a:lstStyle/>
          <a:p>
            <a:fld id="{DF61EA0F-A667-4B49-8422-0062BC55E249}" type="slidenum">
              <a:rPr lang="en-US" altLang="ja-JP" smtClean="0"/>
              <a:pPr/>
              <a:t>3</a:t>
            </a:fld>
            <a:endParaRPr lang="ja-JP" altLang="en-US"/>
          </a:p>
        </p:txBody>
      </p:sp>
    </p:spTree>
    <p:extLst>
      <p:ext uri="{BB962C8B-B14F-4D97-AF65-F5344CB8AC3E}">
        <p14:creationId xmlns:p14="http://schemas.microsoft.com/office/powerpoint/2010/main" val="13301762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D2585-C35B-24A7-503E-A5A9FD859EA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B3DD0A-7243-8888-7723-3016AD3D0EC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0B5F92E-43B5-0572-5256-E6351EB8835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B497257-7F09-D2AB-BA05-F24B7F19161A}"/>
              </a:ext>
            </a:extLst>
          </p:cNvPr>
          <p:cNvSpPr>
            <a:spLocks noGrp="1"/>
          </p:cNvSpPr>
          <p:nvPr>
            <p:ph type="sldNum" sz="quarter" idx="5"/>
          </p:nvPr>
        </p:nvSpPr>
        <p:spPr/>
        <p:txBody>
          <a:bodyPr/>
          <a:lstStyle/>
          <a:p>
            <a:fld id="{DF61EA0F-A667-4B49-8422-0062BC55E249}" type="slidenum">
              <a:rPr lang="en-US" altLang="ja-JP" smtClean="0"/>
              <a:pPr/>
              <a:t>4</a:t>
            </a:fld>
            <a:endParaRPr lang="ja-JP" altLang="en-US"/>
          </a:p>
        </p:txBody>
      </p:sp>
    </p:spTree>
    <p:extLst>
      <p:ext uri="{BB962C8B-B14F-4D97-AF65-F5344CB8AC3E}">
        <p14:creationId xmlns:p14="http://schemas.microsoft.com/office/powerpoint/2010/main" val="3734127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7" name="長方形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sz="1800" noProof="0">
              <a:latin typeface="Meiryo UI" panose="020B0604030504040204" pitchFamily="34" charset="-128"/>
              <a:ea typeface="Meiryo UI" panose="020B0604030504040204" pitchFamily="34" charset="-128"/>
              <a:cs typeface="Meiryo UI" panose="020B0604030504040204" pitchFamily="34" charset="-128"/>
            </a:endParaRPr>
          </a:p>
        </p:txBody>
      </p:sp>
      <p:sp>
        <p:nvSpPr>
          <p:cNvPr id="2" name="タイトル 1"/>
          <p:cNvSpPr>
            <a:spLocks noGrp="1"/>
          </p:cNvSpPr>
          <p:nvPr>
            <p:ph type="title"/>
          </p:nvPr>
        </p:nvSpPr>
        <p:spPr/>
        <p:txBody>
          <a:bodyPr rtlCol="0"/>
          <a:lstStyle>
            <a:lvl1pPr>
              <a:defRPr>
                <a:latin typeface="Meiryo UI" panose="020B0604030504040204" pitchFamily="34" charset="-128"/>
                <a:ea typeface="Meiryo UI" panose="020B0604030504040204" pitchFamily="34" charset="-128"/>
                <a:cs typeface="Meiryo UI" panose="020B0604030504040204" pitchFamily="34" charset="-128"/>
              </a:defRPr>
            </a:lvl1pPr>
          </a:lstStyle>
          <a:p>
            <a:pPr rtl="0"/>
            <a:r>
              <a:rPr lang="zh-CN" altLang="en-US" noProof="0"/>
              <a:t>单击此处编辑母版标题样式</a:t>
            </a:r>
            <a:endParaRPr lang="ja-JP" altLang="en-US" noProof="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9" name="長方形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rtl="0"/>
            <a:endParaRPr lang="ja-JP" altLang="en-US" sz="1800" noProof="0">
              <a:latin typeface="Meiryo UI" panose="020B0604030504040204" pitchFamily="34" charset="-128"/>
              <a:ea typeface="Meiryo UI" panose="020B0604030504040204" pitchFamily="34" charset="-128"/>
              <a:cs typeface="Meiryo UI" panose="020B0604030504040204" pitchFamily="34" charset="-128"/>
            </a:endParaRPr>
          </a:p>
        </p:txBody>
      </p:sp>
      <p:cxnSp>
        <p:nvCxnSpPr>
          <p:cNvPr id="12" name="直線​​コネクタ(S)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タイトル 3"/>
          <p:cNvSpPr>
            <a:spLocks noGrp="1"/>
          </p:cNvSpPr>
          <p:nvPr>
            <p:ph type="title"/>
          </p:nvPr>
        </p:nvSpPr>
        <p:spPr>
          <a:xfrm>
            <a:off x="521207" y="448056"/>
            <a:ext cx="6877119" cy="640080"/>
          </a:xfrm>
        </p:spPr>
        <p:txBody>
          <a:bodyPr rtlCol="0" anchor="b" anchorCtr="0">
            <a:normAutofit/>
          </a:bodyPr>
          <a:lstStyle>
            <a:lvl1pPr>
              <a:defRPr sz="2800">
                <a:solidFill>
                  <a:schemeClr val="bg2">
                    <a:lumMod val="25000"/>
                  </a:schemeClr>
                </a:solidFill>
                <a:latin typeface="Meiryo UI" panose="020B0604030504040204" pitchFamily="34" charset="-128"/>
                <a:ea typeface="Meiryo UI" panose="020B0604030504040204" pitchFamily="34" charset="-128"/>
                <a:cs typeface="Meiryo UI" panose="020B0604030504040204" pitchFamily="34" charset="-128"/>
              </a:defRPr>
            </a:lvl1pPr>
          </a:lstStyle>
          <a:p>
            <a:pPr rtl="0"/>
            <a:r>
              <a:rPr lang="zh-CN" altLang="en-US" noProof="0"/>
              <a:t>单击此处编辑母版标题样式</a:t>
            </a:r>
            <a:endParaRPr lang="ja-JP" altLang="en-US" noProof="0"/>
          </a:p>
        </p:txBody>
      </p:sp>
      <p:sp>
        <p:nvSpPr>
          <p:cNvPr id="3" name="コンテンツ プレースホルダー 2"/>
          <p:cNvSpPr>
            <a:spLocks noGrp="1"/>
          </p:cNvSpPr>
          <p:nvPr>
            <p:ph sz="quarter" idx="10" hasCustomPrompt="1"/>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latin typeface="Meiryo UI" panose="020B0604030504040204" pitchFamily="34" charset="-128"/>
                <a:ea typeface="Meiryo UI" panose="020B0604030504040204" pitchFamily="34" charset="-128"/>
                <a:cs typeface="Meiryo UI" panose="020B0604030504040204" pitchFamily="34" charset="-128"/>
              </a:defRPr>
            </a:lvl1pPr>
            <a:lvl2pPr>
              <a:defRPr lang="en-US" sz="1200" smtClean="0">
                <a:solidFill>
                  <a:schemeClr val="tx1">
                    <a:lumMod val="75000"/>
                    <a:lumOff val="25000"/>
                  </a:schemeClr>
                </a:solidFill>
                <a:latin typeface="Meiryo UI" panose="020B0604030504040204" pitchFamily="34" charset="-128"/>
                <a:ea typeface="Meiryo UI" panose="020B0604030504040204" pitchFamily="34" charset="-128"/>
                <a:cs typeface="Meiryo UI" panose="020B0604030504040204" pitchFamily="34" charset="-128"/>
              </a:defRPr>
            </a:lvl2pPr>
            <a:lvl3pPr>
              <a:defRPr lang="en-US" sz="1200" smtClean="0">
                <a:solidFill>
                  <a:schemeClr val="tx1">
                    <a:lumMod val="75000"/>
                    <a:lumOff val="25000"/>
                  </a:schemeClr>
                </a:solidFill>
                <a:latin typeface="Meiryo UI" panose="020B0604030504040204" pitchFamily="34" charset="-128"/>
                <a:ea typeface="Meiryo UI" panose="020B0604030504040204" pitchFamily="34" charset="-128"/>
                <a:cs typeface="Meiryo UI" panose="020B0604030504040204" pitchFamily="34" charset="-128"/>
              </a:defRPr>
            </a:lvl3pPr>
            <a:lvl4pPr>
              <a:defRPr lang="en-US" sz="1200" smtClean="0">
                <a:solidFill>
                  <a:schemeClr val="tx1">
                    <a:lumMod val="75000"/>
                    <a:lumOff val="25000"/>
                  </a:schemeClr>
                </a:solidFill>
                <a:latin typeface="Meiryo UI" panose="020B0604030504040204" pitchFamily="34" charset="-128"/>
                <a:ea typeface="Meiryo UI" panose="020B0604030504040204" pitchFamily="34" charset="-128"/>
                <a:cs typeface="Meiryo UI" panose="020B0604030504040204" pitchFamily="34" charset="-128"/>
              </a:defRPr>
            </a:lvl4pPr>
            <a:lvl5pPr>
              <a:defRPr lang="en-US" sz="1200">
                <a:solidFill>
                  <a:schemeClr val="tx1">
                    <a:lumMod val="75000"/>
                    <a:lumOff val="25000"/>
                  </a:schemeClr>
                </a:solidFill>
                <a:latin typeface="Meiryo UI" panose="020B0604030504040204" pitchFamily="34" charset="-128"/>
                <a:ea typeface="Meiryo UI" panose="020B0604030504040204" pitchFamily="34" charset="-128"/>
                <a:cs typeface="Meiryo UI" panose="020B0604030504040204" pitchFamily="34" charset="-128"/>
              </a:defRPr>
            </a:lvl5pPr>
          </a:lstStyle>
          <a:p>
            <a:pPr marL="0" lvl="0" indent="0" rtl="0">
              <a:lnSpc>
                <a:spcPct val="150000"/>
              </a:lnSpc>
              <a:spcBef>
                <a:spcPts val="1000"/>
              </a:spcBef>
              <a:spcAft>
                <a:spcPts val="1200"/>
              </a:spcAft>
              <a:buNone/>
            </a:pPr>
            <a:r>
              <a:rPr lang="ja-JP" altLang="en-US" noProof="0"/>
              <a:t>クリックしてマスター テキストのスタイルを編集</a:t>
            </a:r>
          </a:p>
          <a:p>
            <a:pPr marL="0" lvl="1" indent="0" rtl="0">
              <a:lnSpc>
                <a:spcPct val="150000"/>
              </a:lnSpc>
              <a:spcBef>
                <a:spcPts val="1000"/>
              </a:spcBef>
              <a:spcAft>
                <a:spcPts val="1200"/>
              </a:spcAft>
              <a:buNone/>
            </a:pPr>
            <a:r>
              <a:rPr lang="ja-JP" altLang="en-US" noProof="0"/>
              <a:t>第 </a:t>
            </a:r>
            <a:r>
              <a:rPr lang="en-US" altLang="ja-JP" noProof="0"/>
              <a:t>2 </a:t>
            </a:r>
            <a:r>
              <a:rPr lang="ja-JP" altLang="en-US" noProof="0"/>
              <a:t>レベル</a:t>
            </a:r>
          </a:p>
          <a:p>
            <a:pPr marL="0" lvl="2" indent="0" rtl="0">
              <a:lnSpc>
                <a:spcPct val="150000"/>
              </a:lnSpc>
              <a:spcBef>
                <a:spcPts val="1000"/>
              </a:spcBef>
              <a:spcAft>
                <a:spcPts val="1200"/>
              </a:spcAft>
              <a:buNone/>
            </a:pPr>
            <a:r>
              <a:rPr lang="ja-JP" altLang="en-US" noProof="0"/>
              <a:t>第 </a:t>
            </a:r>
            <a:r>
              <a:rPr lang="en-US" altLang="ja-JP" noProof="0"/>
              <a:t>3 </a:t>
            </a:r>
            <a:r>
              <a:rPr lang="ja-JP" altLang="en-US" noProof="0"/>
              <a:t>レベル</a:t>
            </a:r>
          </a:p>
          <a:p>
            <a:pPr marL="0" lvl="3" indent="0" rtl="0">
              <a:lnSpc>
                <a:spcPct val="150000"/>
              </a:lnSpc>
              <a:spcBef>
                <a:spcPts val="1000"/>
              </a:spcBef>
              <a:spcAft>
                <a:spcPts val="1200"/>
              </a:spcAft>
              <a:buNone/>
            </a:pPr>
            <a:r>
              <a:rPr lang="ja-JP" altLang="en-US" noProof="0"/>
              <a:t>第 </a:t>
            </a:r>
            <a:r>
              <a:rPr lang="en-US" altLang="ja-JP" noProof="0"/>
              <a:t>4 </a:t>
            </a:r>
            <a:r>
              <a:rPr lang="ja-JP" altLang="en-US" noProof="0"/>
              <a:t>レベル</a:t>
            </a:r>
          </a:p>
          <a:p>
            <a:pPr marL="0" lvl="4" indent="0" rtl="0">
              <a:lnSpc>
                <a:spcPct val="150000"/>
              </a:lnSpc>
              <a:spcBef>
                <a:spcPts val="1000"/>
              </a:spcBef>
              <a:spcAft>
                <a:spcPts val="1200"/>
              </a:spcAft>
              <a:buNone/>
            </a:pPr>
            <a:r>
              <a:rPr lang="ja-JP" altLang="en-US" noProof="0"/>
              <a:t>第 </a:t>
            </a:r>
            <a:r>
              <a:rPr lang="en-US" altLang="ja-JP" noProof="0"/>
              <a:t>5 </a:t>
            </a:r>
            <a:r>
              <a:rPr lang="ja-JP" altLang="en-US" noProof="0"/>
              <a:t>レベル</a:t>
            </a:r>
          </a:p>
        </p:txBody>
      </p:sp>
      <p:sp>
        <p:nvSpPr>
          <p:cNvPr id="6" name="日付プレースホルダー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defRPr>
            </a:lvl1pPr>
          </a:lstStyle>
          <a:p>
            <a:fld id="{15D3546A-57C6-4569-9DC1-C4E6C62E70F1}" type="datetime1">
              <a:rPr lang="ja-JP" altLang="en-US" noProof="0" smtClean="0"/>
              <a:t>2025/12/19</a:t>
            </a:fld>
            <a:endParaRPr lang="ja-JP" altLang="en-US" noProof="0"/>
          </a:p>
        </p:txBody>
      </p:sp>
      <p:sp>
        <p:nvSpPr>
          <p:cNvPr id="7" name="フッター プレースホルダー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defRPr>
            </a:lvl1pPr>
          </a:lstStyle>
          <a:p>
            <a:endParaRPr lang="ja-JP" altLang="en-US" noProof="0"/>
          </a:p>
        </p:txBody>
      </p:sp>
      <p:sp>
        <p:nvSpPr>
          <p:cNvPr id="8" name="スライド番号プレースホルダー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defRPr>
            </a:lvl1pPr>
          </a:lstStyle>
          <a:p>
            <a:fld id="{9860EDB8-5305-433F-BE41-D7A86D811DB3}" type="slidenum">
              <a:rPr lang="en-US" altLang="ja-JP" noProof="0" smtClean="0"/>
              <a:pPr/>
              <a:t>‹#›</a:t>
            </a:fld>
            <a:endParaRPr lang="ja-JP" altLang="en-US" noProof="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セクション ヘッダー">
    <p:spTree>
      <p:nvGrpSpPr>
        <p:cNvPr id="1" name=""/>
        <p:cNvGrpSpPr/>
        <p:nvPr/>
      </p:nvGrpSpPr>
      <p:grpSpPr>
        <a:xfrm>
          <a:off x="0" y="0"/>
          <a:ext cx="0" cy="0"/>
          <a:chOff x="0" y="0"/>
          <a:chExt cx="0" cy="0"/>
        </a:xfrm>
      </p:grpSpPr>
      <p:sp>
        <p:nvSpPr>
          <p:cNvPr id="9" name="長方形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sz="1800" noProof="0">
              <a:latin typeface="Meiryo UI" panose="020B0604030504040204" pitchFamily="34" charset="-128"/>
              <a:ea typeface="Meiryo UI" panose="020B0604030504040204" pitchFamily="34" charset="-128"/>
              <a:cs typeface="Meiryo UI" panose="020B0604030504040204" pitchFamily="34" charset="-128"/>
            </a:endParaRPr>
          </a:p>
        </p:txBody>
      </p:sp>
      <p:sp>
        <p:nvSpPr>
          <p:cNvPr id="10" name="長方形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sz="1800" noProof="0">
              <a:latin typeface="Meiryo UI" panose="020B0604030504040204" pitchFamily="34" charset="-128"/>
              <a:ea typeface="Meiryo UI" panose="020B0604030504040204" pitchFamily="34" charset="-128"/>
              <a:cs typeface="Meiryo UI" panose="020B0604030504040204" pitchFamily="34" charset="-128"/>
            </a:endParaRPr>
          </a:p>
        </p:txBody>
      </p:sp>
      <p:sp>
        <p:nvSpPr>
          <p:cNvPr id="2" name="タイトル 1"/>
          <p:cNvSpPr>
            <a:spLocks noGrp="1"/>
          </p:cNvSpPr>
          <p:nvPr>
            <p:ph type="title"/>
          </p:nvPr>
        </p:nvSpPr>
        <p:spPr>
          <a:xfrm>
            <a:off x="521208" y="1536192"/>
            <a:ext cx="6876288" cy="640080"/>
          </a:xfrm>
        </p:spPr>
        <p:txBody>
          <a:bodyPr rtlCol="0">
            <a:normAutofit/>
          </a:bodyPr>
          <a:lstStyle>
            <a:lvl1pPr>
              <a:defRPr sz="3600">
                <a:solidFill>
                  <a:schemeClr val="bg1"/>
                </a:solidFill>
                <a:latin typeface="Meiryo UI" panose="020B0604030504040204" pitchFamily="34" charset="-128"/>
                <a:ea typeface="Meiryo UI" panose="020B0604030504040204" pitchFamily="34" charset="-128"/>
                <a:cs typeface="Meiryo UI" panose="020B0604030504040204" pitchFamily="34" charset="-128"/>
              </a:defRPr>
            </a:lvl1pPr>
          </a:lstStyle>
          <a:p>
            <a:pPr rtl="0"/>
            <a:r>
              <a:rPr lang="zh-CN" altLang="en-US" noProof="0"/>
              <a:t>单击此处编辑母版标题样式</a:t>
            </a:r>
            <a:endParaRPr lang="ja-JP" altLang="en-US" noProof="0"/>
          </a:p>
        </p:txBody>
      </p:sp>
      <p:sp>
        <p:nvSpPr>
          <p:cNvPr id="7" name="コンテンツ プレースホルダー 6"/>
          <p:cNvSpPr>
            <a:spLocks noGrp="1"/>
          </p:cNvSpPr>
          <p:nvPr>
            <p:ph sz="quarter" idx="13" hasCustomPrompt="1"/>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eiryo UI" panose="020B0604030504040204" pitchFamily="34" charset="-128"/>
                <a:ea typeface="Meiryo UI" panose="020B0604030504040204" pitchFamily="34" charset="-128"/>
                <a:cs typeface="Meiryo UI" panose="020B0604030504040204" pitchFamily="34" charset="-128"/>
              </a:defRPr>
            </a:lvl1pPr>
            <a:lvl2pPr>
              <a:defRPr lang="en-US" sz="1200" dirty="0" smtClean="0">
                <a:solidFill>
                  <a:schemeClr val="tx1">
                    <a:lumMod val="75000"/>
                    <a:lumOff val="25000"/>
                  </a:schemeClr>
                </a:solidFill>
                <a:latin typeface="Meiryo UI" panose="020B0604030504040204" pitchFamily="34" charset="-128"/>
                <a:ea typeface="Meiryo UI" panose="020B0604030504040204" pitchFamily="34" charset="-128"/>
                <a:cs typeface="Meiryo UI" panose="020B0604030504040204" pitchFamily="34" charset="-128"/>
              </a:defRPr>
            </a:lvl2pPr>
            <a:lvl3pPr>
              <a:defRPr lang="en-US" sz="1200" dirty="0" smtClean="0">
                <a:solidFill>
                  <a:schemeClr val="tx1">
                    <a:lumMod val="75000"/>
                    <a:lumOff val="25000"/>
                  </a:schemeClr>
                </a:solidFill>
                <a:latin typeface="Meiryo UI" panose="020B0604030504040204" pitchFamily="34" charset="-128"/>
                <a:ea typeface="Meiryo UI" panose="020B0604030504040204" pitchFamily="34" charset="-128"/>
                <a:cs typeface="Meiryo UI" panose="020B0604030504040204" pitchFamily="34" charset="-128"/>
              </a:defRPr>
            </a:lvl3pPr>
            <a:lvl4pPr>
              <a:defRPr lang="en-US" sz="1200" dirty="0" smtClean="0">
                <a:solidFill>
                  <a:schemeClr val="tx1">
                    <a:lumMod val="75000"/>
                    <a:lumOff val="25000"/>
                  </a:schemeClr>
                </a:solidFill>
                <a:latin typeface="Meiryo UI" panose="020B0604030504040204" pitchFamily="34" charset="-128"/>
                <a:ea typeface="Meiryo UI" panose="020B0604030504040204" pitchFamily="34" charset="-128"/>
                <a:cs typeface="Meiryo UI" panose="020B0604030504040204" pitchFamily="34" charset="-128"/>
              </a:defRPr>
            </a:lvl4pPr>
            <a:lvl5pPr>
              <a:defRPr lang="en-US" sz="1200" dirty="0">
                <a:solidFill>
                  <a:schemeClr val="tx1">
                    <a:lumMod val="75000"/>
                    <a:lumOff val="25000"/>
                  </a:schemeClr>
                </a:solidFill>
                <a:latin typeface="Meiryo UI" panose="020B0604030504040204" pitchFamily="34" charset="-128"/>
                <a:ea typeface="Meiryo UI" panose="020B0604030504040204" pitchFamily="34" charset="-128"/>
                <a:cs typeface="Meiryo UI" panose="020B0604030504040204" pitchFamily="34" charset="-128"/>
              </a:defRPr>
            </a:lvl5pPr>
          </a:lstStyle>
          <a:p>
            <a:pPr marL="0" lvl="0" indent="0" rtl="0">
              <a:lnSpc>
                <a:spcPct val="150000"/>
              </a:lnSpc>
              <a:spcBef>
                <a:spcPts val="1000"/>
              </a:spcBef>
              <a:spcAft>
                <a:spcPts val="1200"/>
              </a:spcAft>
              <a:buNone/>
            </a:pPr>
            <a:r>
              <a:rPr lang="ja-JP" altLang="en-US" noProof="0"/>
              <a:t>クリックしてマスター テキストのスタイルを編集</a:t>
            </a:r>
          </a:p>
          <a:p>
            <a:pPr marL="0" lvl="1" indent="0" rtl="0">
              <a:lnSpc>
                <a:spcPct val="150000"/>
              </a:lnSpc>
              <a:spcBef>
                <a:spcPts val="1000"/>
              </a:spcBef>
              <a:spcAft>
                <a:spcPts val="1200"/>
              </a:spcAft>
              <a:buNone/>
            </a:pPr>
            <a:r>
              <a:rPr lang="ja-JP" altLang="en-US" noProof="0"/>
              <a:t>第 </a:t>
            </a:r>
            <a:r>
              <a:rPr lang="en-US" altLang="ja-JP" noProof="0"/>
              <a:t>2 </a:t>
            </a:r>
            <a:r>
              <a:rPr lang="ja-JP" altLang="en-US" noProof="0"/>
              <a:t>レベル</a:t>
            </a:r>
          </a:p>
          <a:p>
            <a:pPr marL="0" lvl="2" indent="0" rtl="0">
              <a:lnSpc>
                <a:spcPct val="150000"/>
              </a:lnSpc>
              <a:spcBef>
                <a:spcPts val="1000"/>
              </a:spcBef>
              <a:spcAft>
                <a:spcPts val="1200"/>
              </a:spcAft>
              <a:buNone/>
            </a:pPr>
            <a:r>
              <a:rPr lang="ja-JP" altLang="en-US" noProof="0"/>
              <a:t>第 </a:t>
            </a:r>
            <a:r>
              <a:rPr lang="en-US" altLang="ja-JP" noProof="0"/>
              <a:t>3 </a:t>
            </a:r>
            <a:r>
              <a:rPr lang="ja-JP" altLang="en-US" noProof="0"/>
              <a:t>レベル</a:t>
            </a:r>
          </a:p>
          <a:p>
            <a:pPr marL="0" lvl="3" indent="0" rtl="0">
              <a:lnSpc>
                <a:spcPct val="150000"/>
              </a:lnSpc>
              <a:spcBef>
                <a:spcPts val="1000"/>
              </a:spcBef>
              <a:spcAft>
                <a:spcPts val="1200"/>
              </a:spcAft>
              <a:buNone/>
            </a:pPr>
            <a:r>
              <a:rPr lang="ja-JP" altLang="en-US" noProof="0"/>
              <a:t>第 </a:t>
            </a:r>
            <a:r>
              <a:rPr lang="en-US" altLang="ja-JP" noProof="0"/>
              <a:t>4 </a:t>
            </a:r>
            <a:r>
              <a:rPr lang="ja-JP" altLang="en-US" noProof="0"/>
              <a:t>レベル</a:t>
            </a:r>
          </a:p>
          <a:p>
            <a:pPr marL="0" lvl="4" indent="0" rtl="0">
              <a:lnSpc>
                <a:spcPct val="150000"/>
              </a:lnSpc>
              <a:spcBef>
                <a:spcPts val="1000"/>
              </a:spcBef>
              <a:spcAft>
                <a:spcPts val="1200"/>
              </a:spcAft>
              <a:buNone/>
            </a:pPr>
            <a:r>
              <a:rPr lang="ja-JP" altLang="en-US" noProof="0"/>
              <a:t>第 </a:t>
            </a:r>
            <a:r>
              <a:rPr lang="en-US" altLang="ja-JP" noProof="0"/>
              <a:t>5 </a:t>
            </a:r>
            <a:r>
              <a:rPr lang="ja-JP" altLang="en-US" noProof="0"/>
              <a:t>レベル</a:t>
            </a:r>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長方形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rtl="0"/>
            <a:endParaRPr lang="ja-JP" altLang="en-US" sz="1800" noProof="0">
              <a:latin typeface="Meiryo UI" panose="020B0604030504040204" pitchFamily="34" charset="-128"/>
              <a:ea typeface="Meiryo UI" panose="020B0604030504040204" pitchFamily="34" charset="-128"/>
              <a:cs typeface="Meiryo UI" panose="020B0604030504040204" pitchFamily="34" charset="-128"/>
            </a:endParaRPr>
          </a:p>
        </p:txBody>
      </p:sp>
      <p:sp>
        <p:nvSpPr>
          <p:cNvPr id="2" name="タイトル プレースホルダー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pPr rtl="0"/>
            <a:r>
              <a:rPr lang="ja-JP" altLang="en-US" noProof="0"/>
              <a:t>マスター タイトルの書式設定</a:t>
            </a:r>
          </a:p>
        </p:txBody>
      </p:sp>
      <p:sp>
        <p:nvSpPr>
          <p:cNvPr id="3" name="テキスト プレースホルダー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rtl="0"/>
            <a:r>
              <a:rPr lang="ja-JP" altLang="en-US" noProof="0"/>
              <a:t>クリックしてマスター テキストのスタイルを編集</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4" name="日付プレースホルダー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defRPr>
            </a:lvl1pPr>
          </a:lstStyle>
          <a:p>
            <a:fld id="{2989E8A1-B593-4476-8516-D80777746012}" type="datetime1">
              <a:rPr lang="ja-JP" altLang="en-US" noProof="0" smtClean="0"/>
              <a:t>2025/12/19</a:t>
            </a:fld>
            <a:endParaRPr lang="ja-JP" altLang="en-US" noProof="0" dirty="0"/>
          </a:p>
        </p:txBody>
      </p:sp>
      <p:sp>
        <p:nvSpPr>
          <p:cNvPr id="5" name="フッター プレースホルダー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defRPr>
            </a:lvl1pPr>
          </a:lstStyle>
          <a:p>
            <a:endParaRPr lang="ja-JP" altLang="en-US" noProof="0"/>
          </a:p>
        </p:txBody>
      </p:sp>
      <p:sp>
        <p:nvSpPr>
          <p:cNvPr id="6" name="スライド番号プレースホルダー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defRPr>
            </a:lvl1pPr>
          </a:lstStyle>
          <a:p>
            <a:fld id="{9860EDB8-5305-433F-BE41-D7A86D811DB3}" type="slidenum">
              <a:rPr lang="en-US" altLang="ja-JP" noProof="0" smtClean="0"/>
              <a:pPr/>
              <a:t>‹#›</a:t>
            </a:fld>
            <a:endParaRPr lang="ja-JP" altLang="en-US" noProof="0"/>
          </a:p>
        </p:txBody>
      </p:sp>
      <p:cxnSp>
        <p:nvCxnSpPr>
          <p:cNvPr id="8" name="直線​​コネクタ(S)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sldNum="0" hdr="0" ftr="0" dt="0"/>
  <p:txStyles>
    <p:titleStyle>
      <a:lvl1pPr algn="l" defTabSz="914400" rtl="0" eaLnBrk="1" latinLnBrk="0" hangingPunct="1">
        <a:spcBef>
          <a:spcPct val="0"/>
        </a:spcBef>
        <a:buNone/>
        <a:defRPr kumimoji="1" sz="28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1pPr>
    </p:titleStyle>
    <p:bodyStyle>
      <a:lvl1pPr marL="0" indent="0" algn="l" defTabSz="914400" rtl="0" eaLnBrk="1" latinLnBrk="0" hangingPunct="1">
        <a:lnSpc>
          <a:spcPct val="150000"/>
        </a:lnSpc>
        <a:spcBef>
          <a:spcPts val="1000"/>
        </a:spcBef>
        <a:spcAft>
          <a:spcPts val="1200"/>
        </a:spcAft>
        <a:buFontTx/>
        <a:buNone/>
        <a:defRPr kumimoji="1" lang="en-US" sz="1200" kern="1200" dirty="0">
          <a:solidFill>
            <a:schemeClr val="tx1"/>
          </a:solidFill>
          <a:latin typeface="Meiryo UI" panose="020B0604030504040204" pitchFamily="34" charset="-128"/>
          <a:ea typeface="Meiryo UI" panose="020B0604030504040204" pitchFamily="34" charset="-128"/>
          <a:cs typeface="Meiryo UI" panose="020B0604030504040204" pitchFamily="34" charset="-128"/>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a:solidFill>
            <a:schemeClr val="tx1"/>
          </a:solidFill>
          <a:latin typeface="Meiryo UI" panose="020B0604030504040204" pitchFamily="34" charset="-128"/>
          <a:ea typeface="Meiryo UI" panose="020B0604030504040204" pitchFamily="34" charset="-128"/>
          <a:cs typeface="Meiryo UI" panose="020B0604030504040204" pitchFamily="34" charset="-128"/>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a:solidFill>
            <a:schemeClr val="tx1"/>
          </a:solidFill>
          <a:latin typeface="Meiryo UI" panose="020B0604030504040204" pitchFamily="34" charset="-128"/>
          <a:ea typeface="Meiryo UI" panose="020B0604030504040204" pitchFamily="34" charset="-128"/>
          <a:cs typeface="Meiryo UI" panose="020B0604030504040204" pitchFamily="34" charset="-128"/>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eiryo UI" panose="020B0604030504040204" pitchFamily="34" charset="-128"/>
          <a:ea typeface="Meiryo UI" panose="020B0604030504040204" pitchFamily="34" charset="-128"/>
          <a:cs typeface="Meiryo UI" panose="020B0604030504040204" pitchFamily="34" charset="-128"/>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eiryo UI" panose="020B0604030504040204" pitchFamily="34" charset="-128"/>
          <a:ea typeface="Meiryo UI" panose="020B0604030504040204" pitchFamily="34" charset="-128"/>
          <a:cs typeface="Meiryo UI" panose="020B0604030504040204" pitchFamily="34" charset="-128"/>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kumimoji="1" sz="12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learn.microsoft.com/ja-jp/graph/throttling-limit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838200" y="1164324"/>
            <a:ext cx="10515600" cy="2387600"/>
          </a:xfrm>
        </p:spPr>
        <p:txBody>
          <a:bodyPr rtlCol="0" anchor="ctr" anchorCtr="0">
            <a:normAutofit/>
          </a:bodyPr>
          <a:lstStyle/>
          <a:p>
            <a:pPr rtl="0"/>
            <a:r>
              <a:rPr lang="en-US" altLang="ja-JP" sz="4800" dirty="0">
                <a:solidFill>
                  <a:schemeClr val="bg1"/>
                </a:solidFill>
                <a:latin typeface="Meiryo UI" panose="020B0604030504040204" pitchFamily="34" charset="-128"/>
                <a:ea typeface="Meiryo UI" panose="020B0604030504040204" pitchFamily="34" charset="-128"/>
                <a:cs typeface="Meiryo UI" panose="020B0604030504040204" pitchFamily="34" charset="-128"/>
              </a:rPr>
              <a:t>OneDrive</a:t>
            </a:r>
            <a:r>
              <a:rPr lang="ja-JP" altLang="en-US" sz="4800" dirty="0">
                <a:solidFill>
                  <a:schemeClr val="bg1"/>
                </a:solidFill>
                <a:latin typeface="Meiryo UI" panose="020B0604030504040204" pitchFamily="34" charset="-128"/>
                <a:ea typeface="Meiryo UI" panose="020B0604030504040204" pitchFamily="34" charset="-128"/>
                <a:cs typeface="Meiryo UI" panose="020B0604030504040204" pitchFamily="34" charset="-128"/>
              </a:rPr>
              <a:t>⇒</a:t>
            </a:r>
            <a:r>
              <a:rPr lang="en-US" altLang="ja-JP" sz="4800" dirty="0">
                <a:solidFill>
                  <a:schemeClr val="bg1"/>
                </a:solidFill>
                <a:latin typeface="Meiryo UI" panose="020B0604030504040204" pitchFamily="34" charset="-128"/>
                <a:ea typeface="Meiryo UI" panose="020B0604030504040204" pitchFamily="34" charset="-128"/>
                <a:cs typeface="Meiryo UI" panose="020B0604030504040204" pitchFamily="34" charset="-128"/>
              </a:rPr>
              <a:t>SharePoint</a:t>
            </a:r>
            <a:r>
              <a:rPr lang="ja-JP" altLang="en-US" sz="4800" dirty="0">
                <a:solidFill>
                  <a:schemeClr val="bg1"/>
                </a:solidFill>
                <a:latin typeface="Meiryo UI" panose="020B0604030504040204" pitchFamily="34" charset="-128"/>
                <a:ea typeface="Meiryo UI" panose="020B0604030504040204" pitchFamily="34" charset="-128"/>
                <a:cs typeface="Meiryo UI" panose="020B0604030504040204" pitchFamily="34" charset="-128"/>
              </a:rPr>
              <a:t>へファイルコピー時の欠落</a:t>
            </a:r>
            <a:r>
              <a:rPr lang="ja-JP" altLang="en-US" sz="4800" dirty="0">
                <a:solidFill>
                  <a:schemeClr val="bg1"/>
                </a:solidFill>
              </a:rPr>
              <a:t>原因分析</a:t>
            </a:r>
            <a:r>
              <a:rPr lang="ja-JP" altLang="en-US" sz="4800" dirty="0">
                <a:solidFill>
                  <a:schemeClr val="bg1"/>
                </a:solidFill>
                <a:latin typeface="Meiryo UI" panose="020B0604030504040204" pitchFamily="34" charset="-128"/>
                <a:ea typeface="Meiryo UI" panose="020B0604030504040204" pitchFamily="34" charset="-128"/>
                <a:cs typeface="Meiryo UI" panose="020B0604030504040204" pitchFamily="34" charset="-128"/>
              </a:rPr>
              <a:t>とソリューション</a:t>
            </a:r>
          </a:p>
        </p:txBody>
      </p:sp>
      <p:sp>
        <p:nvSpPr>
          <p:cNvPr id="3" name="サブタイトル 2"/>
          <p:cNvSpPr>
            <a:spLocks noGrp="1"/>
          </p:cNvSpPr>
          <p:nvPr>
            <p:ph type="subTitle" idx="4294967295"/>
          </p:nvPr>
        </p:nvSpPr>
        <p:spPr>
          <a:xfrm>
            <a:off x="838200" y="3234699"/>
            <a:ext cx="9582736" cy="1137793"/>
          </a:xfrm>
        </p:spPr>
        <p:txBody>
          <a:bodyPr rtlCol="0">
            <a:normAutofit/>
          </a:bodyPr>
          <a:lstStyle/>
          <a:p>
            <a:pPr marL="0" indent="0" rtl="0">
              <a:buNone/>
            </a:pPr>
            <a:r>
              <a:rPr lang="ja-JP" altLang="en-US" sz="2400" dirty="0">
                <a:solidFill>
                  <a:schemeClr val="bg1"/>
                </a:solidFill>
                <a:latin typeface="Meiryo UI" panose="020B0604030504040204" pitchFamily="34" charset="-128"/>
                <a:ea typeface="Meiryo UI" panose="020B0604030504040204" pitchFamily="34" charset="-128"/>
                <a:cs typeface="Meiryo UI" panose="020B0604030504040204" pitchFamily="34" charset="-128"/>
              </a:rPr>
              <a:t>株式会社</a:t>
            </a:r>
            <a:r>
              <a:rPr lang="en-US" altLang="ja-JP" sz="2400" dirty="0">
                <a:solidFill>
                  <a:schemeClr val="bg1"/>
                </a:solidFill>
                <a:latin typeface="Meiryo UI" panose="020B0604030504040204" pitchFamily="34" charset="-128"/>
                <a:ea typeface="Meiryo UI" panose="020B0604030504040204" pitchFamily="34" charset="-128"/>
                <a:cs typeface="Meiryo UI" panose="020B0604030504040204" pitchFamily="34" charset="-128"/>
              </a:rPr>
              <a:t>GCJ</a:t>
            </a:r>
            <a:br>
              <a:rPr lang="en-US" altLang="ja-JP" sz="2400" dirty="0">
                <a:solidFill>
                  <a:schemeClr val="bg1"/>
                </a:solidFill>
                <a:latin typeface="Meiryo UI" panose="020B0604030504040204" pitchFamily="34" charset="-128"/>
                <a:ea typeface="Meiryo UI" panose="020B0604030504040204" pitchFamily="34" charset="-128"/>
                <a:cs typeface="Meiryo UI" panose="020B0604030504040204" pitchFamily="34" charset="-128"/>
              </a:rPr>
            </a:br>
            <a:r>
              <a:rPr lang="en-US" altLang="ja-JP" sz="2400" dirty="0">
                <a:solidFill>
                  <a:schemeClr val="bg1"/>
                </a:solidFill>
              </a:rPr>
              <a:t>2025/12/19</a:t>
            </a:r>
            <a:endParaRPr lang="ja-JP" altLang="en-US" sz="2400" dirty="0">
              <a:solidFill>
                <a:schemeClr val="bg1"/>
              </a:solidFill>
              <a:latin typeface="Meiryo UI" panose="020B0604030504040204" pitchFamily="34" charset="-128"/>
              <a:ea typeface="Meiryo UI" panose="020B0604030504040204" pitchFamily="34" charset="-128"/>
              <a:cs typeface="Meiryo UI" panose="020B0604030504040204" pitchFamily="34" charset="-128"/>
            </a:endParaRPr>
          </a:p>
        </p:txBody>
      </p:sp>
      <p:pic>
        <p:nvPicPr>
          <p:cNvPr id="4" name="画像 3" descr="PowerPoint プログラム アイコン"/>
          <p:cNvPicPr>
            <a:picLocks noChangeAspect="1"/>
          </p:cNvPicPr>
          <p:nvPr/>
        </p:nvPicPr>
        <p:blipFill>
          <a:blip r:embed="rId3"/>
          <a:srcRect/>
          <a:stretch/>
        </p:blipFill>
        <p:spPr bwMode="invGray">
          <a:xfrm>
            <a:off x="670216" y="5193062"/>
            <a:ext cx="822960" cy="822960"/>
          </a:xfrm>
          <a:prstGeom prst="rect">
            <a:avLst/>
          </a:prstGeom>
        </p:spPr>
      </p:pic>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p:cNvSpPr>
            <a:spLocks noGrp="1"/>
          </p:cNvSpPr>
          <p:nvPr>
            <p:ph type="title"/>
          </p:nvPr>
        </p:nvSpPr>
        <p:spPr/>
        <p:txBody>
          <a:bodyPr rtlCol="0">
            <a:noAutofit/>
          </a:bodyPr>
          <a:lstStyle/>
          <a:p>
            <a:pPr rtl="0"/>
            <a:r>
              <a:rPr lang="ja-JP" altLang="en-US" dirty="0"/>
              <a:t>背景と原因分析</a:t>
            </a:r>
            <a:endParaRPr lang="ja-JP" altLang="en-US"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38" name="コンテンツ プレースホルダー 17"/>
          <p:cNvSpPr txBox="1">
            <a:spLocks/>
          </p:cNvSpPr>
          <p:nvPr/>
        </p:nvSpPr>
        <p:spPr>
          <a:xfrm>
            <a:off x="541609" y="1524708"/>
            <a:ext cx="11081821" cy="464163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200"/>
              </a:spcBef>
              <a:spcAft>
                <a:spcPts val="300"/>
              </a:spcAft>
              <a:buNone/>
            </a:pPr>
            <a:r>
              <a:rPr lang="en-US" altLang="ja-JP" sz="1400" b="1" dirty="0"/>
              <a:t>1. </a:t>
            </a:r>
            <a:r>
              <a:rPr lang="ja-JP" altLang="en-US" sz="1400" b="1" dirty="0"/>
              <a:t>はじめに</a:t>
            </a:r>
          </a:p>
          <a:p>
            <a:pPr>
              <a:lnSpc>
                <a:spcPct val="120000"/>
              </a:lnSpc>
              <a:spcBef>
                <a:spcPts val="200"/>
              </a:spcBef>
              <a:spcAft>
                <a:spcPts val="300"/>
              </a:spcAft>
            </a:pPr>
            <a:r>
              <a:rPr lang="ja-JP" altLang="en-US" sz="1400" dirty="0"/>
              <a:t>本日の打ち合わせにおいて共有いただいた情報に基づき、現時点で想定される問題の原因分析および解決策についてご報告いたします。</a:t>
            </a:r>
          </a:p>
          <a:p>
            <a:pPr>
              <a:lnSpc>
                <a:spcPct val="120000"/>
              </a:lnSpc>
              <a:spcBef>
                <a:spcPts val="200"/>
              </a:spcBef>
              <a:spcAft>
                <a:spcPts val="300"/>
              </a:spcAft>
            </a:pPr>
            <a:r>
              <a:rPr lang="ja-JP" altLang="en-US" sz="1400" dirty="0"/>
              <a:t>現時点では詳細な操作手順やエラーログがないため、あくまで一般的なファイルコピー処理を前提とした</a:t>
            </a:r>
            <a:r>
              <a:rPr lang="ja-JP" altLang="en-US" sz="1400" b="1" dirty="0"/>
              <a:t>汎用的な観点</a:t>
            </a:r>
            <a:r>
              <a:rPr lang="ja-JP" altLang="en-US" sz="1400" dirty="0"/>
              <a:t>での分析となります。今後、具体的な操作方法や不具合が発生した際の詳細な事象（ファイル名、パス、時間帯等）をご共有いただくことで、より精度の高い解決策をご提示できると考えております。</a:t>
            </a:r>
            <a:endParaRPr lang="en-US" altLang="ja-JP" sz="1400" dirty="0"/>
          </a:p>
          <a:p>
            <a:pPr>
              <a:lnSpc>
                <a:spcPct val="120000"/>
              </a:lnSpc>
              <a:spcBef>
                <a:spcPts val="200"/>
              </a:spcBef>
              <a:spcAft>
                <a:spcPts val="300"/>
              </a:spcAft>
            </a:pPr>
            <a:endParaRPr lang="ja-JP" altLang="en-US" sz="1400" dirty="0"/>
          </a:p>
          <a:p>
            <a:pPr marL="0" indent="0">
              <a:lnSpc>
                <a:spcPct val="120000"/>
              </a:lnSpc>
              <a:spcBef>
                <a:spcPts val="200"/>
              </a:spcBef>
              <a:spcAft>
                <a:spcPts val="300"/>
              </a:spcAft>
              <a:buNone/>
            </a:pPr>
            <a:r>
              <a:rPr lang="en-US" altLang="ja-JP" sz="1400" b="1" dirty="0"/>
              <a:t>2.</a:t>
            </a:r>
            <a:r>
              <a:rPr lang="ja-JP" altLang="ja-JP" sz="1400" b="1" dirty="0"/>
              <a:t>ファイル欠損の主な原因</a:t>
            </a:r>
            <a:endParaRPr lang="en-US" altLang="ja-JP" sz="1400" b="1" dirty="0"/>
          </a:p>
          <a:p>
            <a:pPr marL="457200" lvl="1" indent="0">
              <a:lnSpc>
                <a:spcPct val="120000"/>
              </a:lnSpc>
              <a:spcBef>
                <a:spcPts val="200"/>
              </a:spcBef>
              <a:spcAft>
                <a:spcPts val="300"/>
              </a:spcAft>
              <a:buNone/>
            </a:pPr>
            <a:r>
              <a:rPr lang="en-US" altLang="ja-JP" sz="1400" b="1" dirty="0"/>
              <a:t>※1</a:t>
            </a:r>
            <a:r>
              <a:rPr lang="ja-JP" altLang="en-US" sz="1400" b="1" dirty="0"/>
              <a:t> </a:t>
            </a:r>
            <a:r>
              <a:rPr lang="en-US" altLang="ja-JP" sz="1400" b="1" dirty="0">
                <a:solidFill>
                  <a:srgbClr val="C00000"/>
                </a:solidFill>
              </a:rPr>
              <a:t>API</a:t>
            </a:r>
            <a:r>
              <a:rPr lang="ja-JP" altLang="ja-JP" sz="1400" b="1" dirty="0">
                <a:solidFill>
                  <a:srgbClr val="C00000"/>
                </a:solidFill>
              </a:rPr>
              <a:t>のタイムアウトとスロットリング</a:t>
            </a:r>
            <a:r>
              <a:rPr lang="en-US" altLang="ja-JP" sz="1400" b="1" dirty="0">
                <a:solidFill>
                  <a:srgbClr val="C00000"/>
                </a:solidFill>
              </a:rPr>
              <a:t>:</a:t>
            </a:r>
            <a:r>
              <a:rPr lang="en-US" altLang="ja-JP" sz="1400" dirty="0">
                <a:solidFill>
                  <a:srgbClr val="C00000"/>
                </a:solidFill>
              </a:rPr>
              <a:t> </a:t>
            </a:r>
            <a:r>
              <a:rPr lang="ja-JP" altLang="ja-JP" sz="1400" dirty="0">
                <a:solidFill>
                  <a:srgbClr val="C00000"/>
                </a:solidFill>
              </a:rPr>
              <a:t>大量転送時に</a:t>
            </a:r>
            <a:r>
              <a:rPr lang="en-US" altLang="ja-JP" sz="1400" dirty="0">
                <a:solidFill>
                  <a:srgbClr val="C00000"/>
                </a:solidFill>
              </a:rPr>
              <a:t>Microsoft Graph API</a:t>
            </a:r>
            <a:r>
              <a:rPr lang="ja-JP" altLang="ja-JP" sz="1400" dirty="0">
                <a:solidFill>
                  <a:srgbClr val="C00000"/>
                </a:solidFill>
              </a:rPr>
              <a:t>の制限（スロットリング）</a:t>
            </a:r>
            <a:r>
              <a:rPr lang="ja-JP" altLang="ja-JP" sz="1400" dirty="0"/>
              <a:t>がかかり、一部のリクエストがサイレントに失敗する。</a:t>
            </a:r>
          </a:p>
          <a:p>
            <a:pPr marL="457200" lvl="1" indent="0">
              <a:lnSpc>
                <a:spcPct val="120000"/>
              </a:lnSpc>
              <a:spcBef>
                <a:spcPts val="200"/>
              </a:spcBef>
              <a:spcAft>
                <a:spcPts val="300"/>
              </a:spcAft>
              <a:buNone/>
            </a:pPr>
            <a:r>
              <a:rPr lang="en-US" altLang="ja-JP" sz="1400" b="1" dirty="0"/>
              <a:t>※2 </a:t>
            </a:r>
            <a:r>
              <a:rPr lang="ja-JP" altLang="ja-JP" sz="1400" b="1" dirty="0"/>
              <a:t>ファイル名とパスの制限</a:t>
            </a:r>
            <a:r>
              <a:rPr lang="en-US" altLang="ja-JP" sz="1400" b="1" dirty="0"/>
              <a:t>:</a:t>
            </a:r>
            <a:r>
              <a:rPr lang="en-US" altLang="ja-JP" sz="1400" dirty="0"/>
              <a:t> SharePoint</a:t>
            </a:r>
            <a:r>
              <a:rPr lang="ja-JP" altLang="ja-JP" sz="1400" dirty="0"/>
              <a:t>と</a:t>
            </a:r>
            <a:r>
              <a:rPr lang="en-US" altLang="ja-JP" sz="1400" dirty="0"/>
              <a:t>OneDrive</a:t>
            </a:r>
            <a:r>
              <a:rPr lang="ja-JP" altLang="ja-JP" sz="1400" dirty="0"/>
              <a:t>では許容されるパスの長さや禁止文字が微妙に異なる場合があり、同期エンジンがスキップすることがある。</a:t>
            </a:r>
          </a:p>
          <a:p>
            <a:pPr marL="457200" lvl="1" indent="0">
              <a:lnSpc>
                <a:spcPct val="120000"/>
              </a:lnSpc>
              <a:spcBef>
                <a:spcPts val="200"/>
              </a:spcBef>
              <a:spcAft>
                <a:spcPts val="300"/>
              </a:spcAft>
              <a:buNone/>
            </a:pPr>
            <a:r>
              <a:rPr lang="en-US" altLang="ja-JP" sz="1400" b="1" dirty="0"/>
              <a:t>※3 </a:t>
            </a:r>
            <a:r>
              <a:rPr lang="ja-JP" altLang="ja-JP" sz="1400" b="1" dirty="0"/>
              <a:t>メタデータの競合</a:t>
            </a:r>
            <a:r>
              <a:rPr lang="en-US" altLang="ja-JP" sz="1400" b="1" dirty="0"/>
              <a:t>:</a:t>
            </a:r>
            <a:r>
              <a:rPr lang="en-US" altLang="ja-JP" sz="1400" dirty="0"/>
              <a:t> </a:t>
            </a:r>
            <a:r>
              <a:rPr lang="ja-JP" altLang="ja-JP" sz="1400" dirty="0"/>
              <a:t>同名ファイルのバージョン管理やチェックアウト状態により、上書きされずに無視される。</a:t>
            </a:r>
            <a:endParaRPr lang="en-US" altLang="ja-JP" sz="1400" dirty="0"/>
          </a:p>
          <a:p>
            <a:pPr>
              <a:lnSpc>
                <a:spcPct val="120000"/>
              </a:lnSpc>
              <a:spcBef>
                <a:spcPts val="200"/>
              </a:spcBef>
              <a:spcAft>
                <a:spcPts val="300"/>
              </a:spcAft>
            </a:pPr>
            <a:endParaRPr lang="ja-JP" altLang="en-US" sz="1400" dirty="0"/>
          </a:p>
          <a:p>
            <a:pPr marL="0" indent="0">
              <a:lnSpc>
                <a:spcPct val="120000"/>
              </a:lnSpc>
              <a:spcBef>
                <a:spcPts val="200"/>
              </a:spcBef>
              <a:spcAft>
                <a:spcPts val="300"/>
              </a:spcAft>
              <a:buNone/>
            </a:pPr>
            <a:r>
              <a:rPr lang="en-US" altLang="ja-JP" sz="1400" b="1" dirty="0"/>
              <a:t>3.</a:t>
            </a:r>
            <a:r>
              <a:rPr lang="ja-JP" altLang="en-US" sz="1400" b="1" dirty="0"/>
              <a:t>技術的背景と認識</a:t>
            </a:r>
          </a:p>
          <a:p>
            <a:pPr>
              <a:lnSpc>
                <a:spcPct val="120000"/>
              </a:lnSpc>
              <a:spcBef>
                <a:spcPts val="200"/>
              </a:spcBef>
              <a:spcAft>
                <a:spcPts val="300"/>
              </a:spcAft>
            </a:pPr>
            <a:r>
              <a:rPr lang="en-US" altLang="ja-JP" sz="1400" dirty="0"/>
              <a:t>Windows</a:t>
            </a:r>
            <a:r>
              <a:rPr lang="ja-JP" altLang="en-US" sz="1400" dirty="0"/>
              <a:t>のエクスプローラーによるコピー、</a:t>
            </a:r>
            <a:r>
              <a:rPr lang="en-US" altLang="ja-JP" sz="1400" dirty="0"/>
              <a:t>Power Automate</a:t>
            </a:r>
            <a:r>
              <a:rPr lang="ja-JP" altLang="en-US" sz="1400" dirty="0"/>
              <a:t>による自動処理、あるいは独自開発のプログラムであっても、</a:t>
            </a:r>
            <a:r>
              <a:rPr lang="en-US" altLang="ja-JP" sz="1400" dirty="0"/>
              <a:t>OneDrive</a:t>
            </a:r>
            <a:r>
              <a:rPr lang="ja-JP" altLang="en-US" sz="1400" dirty="0"/>
              <a:t>および</a:t>
            </a:r>
            <a:r>
              <a:rPr lang="en-US" altLang="ja-JP" sz="1400" dirty="0"/>
              <a:t>SharePoint</a:t>
            </a:r>
            <a:r>
              <a:rPr lang="ja-JP" altLang="en-US" sz="1400" dirty="0"/>
              <a:t>間のファイル処理は、その背後で共通して</a:t>
            </a:r>
            <a:r>
              <a:rPr lang="en-US" altLang="ja-JP" sz="1400" b="1" dirty="0"/>
              <a:t>Microsoft Graph API</a:t>
            </a:r>
            <a:r>
              <a:rPr lang="ja-JP" altLang="en-US" sz="1400" dirty="0"/>
              <a:t>を利用しています。したがって、どの手法を用いても、</a:t>
            </a:r>
            <a:r>
              <a:rPr lang="ja-JP" altLang="en-US" sz="1400" dirty="0">
                <a:solidFill>
                  <a:srgbClr val="FF0000"/>
                </a:solidFill>
              </a:rPr>
              <a:t>根本的な原因は</a:t>
            </a:r>
            <a:r>
              <a:rPr lang="en-US" altLang="ja-JP" sz="1400" dirty="0">
                <a:solidFill>
                  <a:srgbClr val="FF0000"/>
                </a:solidFill>
              </a:rPr>
              <a:t>Graph API</a:t>
            </a:r>
            <a:r>
              <a:rPr lang="ja-JP" altLang="en-US" sz="1400" dirty="0">
                <a:solidFill>
                  <a:srgbClr val="FF0000"/>
                </a:solidFill>
              </a:rPr>
              <a:t>の挙動や制限に起因する可能性が高い</a:t>
            </a:r>
            <a:r>
              <a:rPr lang="ja-JP" altLang="en-US" sz="1400" dirty="0"/>
              <a:t>と考えられます。</a:t>
            </a:r>
            <a:endParaRPr lang="en-US" altLang="ja-JP" sz="1400" dirty="0"/>
          </a:p>
          <a:p>
            <a:pPr marL="0" indent="0">
              <a:lnSpc>
                <a:spcPct val="120000"/>
              </a:lnSpc>
              <a:spcBef>
                <a:spcPts val="200"/>
              </a:spcBef>
              <a:spcAft>
                <a:spcPts val="300"/>
              </a:spcAft>
              <a:buNone/>
            </a:pPr>
            <a:r>
              <a:rPr lang="ja-JP" altLang="en-US" sz="1400" dirty="0"/>
              <a:t> ⇒ 発生件数が僅少であれば</a:t>
            </a:r>
            <a:r>
              <a:rPr lang="en-US" altLang="ja-JP" sz="1400" dirty="0"/>
              <a:t>※2</a:t>
            </a:r>
            <a:r>
              <a:rPr lang="ja-JP" altLang="en-US" sz="1400" dirty="0"/>
              <a:t>および</a:t>
            </a:r>
            <a:r>
              <a:rPr lang="en-US" altLang="ja-JP" sz="1400" dirty="0"/>
              <a:t>※3</a:t>
            </a:r>
            <a:r>
              <a:rPr lang="ja-JP" altLang="en-US" sz="1400" dirty="0"/>
              <a:t>に起因するものと推測されますが、多発・大量発生に及ぶ場合は、</a:t>
            </a:r>
            <a:r>
              <a:rPr lang="en-US" altLang="ja-JP" sz="1400" dirty="0">
                <a:solidFill>
                  <a:srgbClr val="C00000"/>
                </a:solidFill>
              </a:rPr>
              <a:t>※1</a:t>
            </a:r>
            <a:r>
              <a:rPr lang="ja-JP" altLang="en-US" sz="1400" dirty="0">
                <a:solidFill>
                  <a:srgbClr val="C00000"/>
                </a:solidFill>
              </a:rPr>
              <a:t>が支配的な要因であると判断するのが妥当です、詳細は</a:t>
            </a:r>
            <a:r>
              <a:rPr lang="en-US" altLang="ja-JP" sz="1400" dirty="0">
                <a:solidFill>
                  <a:srgbClr val="C00000"/>
                </a:solidFill>
                <a:hlinkClick r:id="rId3" action="ppaction://hlinksldjump"/>
              </a:rPr>
              <a:t>P4</a:t>
            </a:r>
            <a:r>
              <a:rPr lang="ja-JP" altLang="en-US" sz="1400" dirty="0">
                <a:solidFill>
                  <a:srgbClr val="C00000"/>
                </a:solidFill>
                <a:hlinkClick r:id="rId3" action="ppaction://hlinksldjump"/>
              </a:rPr>
              <a:t>参照</a:t>
            </a:r>
            <a:r>
              <a:rPr lang="ja-JP" altLang="en-US" sz="1400" dirty="0">
                <a:solidFill>
                  <a:srgbClr val="C00000"/>
                </a:solidFill>
              </a:rPr>
              <a:t>。</a:t>
            </a:r>
          </a:p>
        </p:txBody>
      </p:sp>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9564D-7303-DFE5-ABF3-5159D683B92C}"/>
            </a:ext>
          </a:extLst>
        </p:cNvPr>
        <p:cNvGrpSpPr/>
        <p:nvPr/>
      </p:nvGrpSpPr>
      <p:grpSpPr>
        <a:xfrm>
          <a:off x="0" y="0"/>
          <a:ext cx="0" cy="0"/>
          <a:chOff x="0" y="0"/>
          <a:chExt cx="0" cy="0"/>
        </a:xfrm>
      </p:grpSpPr>
      <p:sp>
        <p:nvSpPr>
          <p:cNvPr id="8" name="タイトル 7">
            <a:extLst>
              <a:ext uri="{FF2B5EF4-FFF2-40B4-BE49-F238E27FC236}">
                <a16:creationId xmlns:a16="http://schemas.microsoft.com/office/drawing/2014/main" id="{8890FFAF-BE48-D125-3BD6-21145108ACC3}"/>
              </a:ext>
            </a:extLst>
          </p:cNvPr>
          <p:cNvSpPr>
            <a:spLocks noGrp="1"/>
          </p:cNvSpPr>
          <p:nvPr>
            <p:ph type="title"/>
          </p:nvPr>
        </p:nvSpPr>
        <p:spPr/>
        <p:txBody>
          <a:bodyPr rtlCol="0">
            <a:noAutofit/>
          </a:bodyPr>
          <a:lstStyle/>
          <a:p>
            <a:pPr rtl="0"/>
            <a:r>
              <a:rPr lang="ja-JP" altLang="en-US" dirty="0"/>
              <a:t>ソリューション</a:t>
            </a:r>
            <a:endParaRPr lang="ja-JP" altLang="en-US"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38" name="コンテンツ プレースホルダー 17">
            <a:extLst>
              <a:ext uri="{FF2B5EF4-FFF2-40B4-BE49-F238E27FC236}">
                <a16:creationId xmlns:a16="http://schemas.microsoft.com/office/drawing/2014/main" id="{5C0C647C-86F6-A90A-6D62-13903C5B4D01}"/>
              </a:ext>
            </a:extLst>
          </p:cNvPr>
          <p:cNvSpPr txBox="1">
            <a:spLocks/>
          </p:cNvSpPr>
          <p:nvPr/>
        </p:nvSpPr>
        <p:spPr>
          <a:xfrm>
            <a:off x="555089" y="1248508"/>
            <a:ext cx="11081821" cy="4012903"/>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200"/>
              </a:spcBef>
              <a:spcAft>
                <a:spcPts val="300"/>
              </a:spcAft>
              <a:buNone/>
            </a:pPr>
            <a:r>
              <a:rPr lang="en-US" altLang="ja-JP" sz="1050" b="1" dirty="0"/>
              <a:t>1. Power Automate (Flow) </a:t>
            </a:r>
            <a:r>
              <a:rPr lang="ja-JP" altLang="ja-JP" sz="1050" b="1" dirty="0"/>
              <a:t>による自動化案</a:t>
            </a:r>
            <a:endParaRPr lang="ja-JP" altLang="ja-JP" sz="1050" dirty="0"/>
          </a:p>
          <a:p>
            <a:pPr marL="457200" lvl="1" indent="0">
              <a:lnSpc>
                <a:spcPct val="120000"/>
              </a:lnSpc>
              <a:spcBef>
                <a:spcPts val="200"/>
              </a:spcBef>
              <a:spcAft>
                <a:spcPts val="300"/>
              </a:spcAft>
              <a:buNone/>
            </a:pPr>
            <a:r>
              <a:rPr lang="ja-JP" altLang="ja-JP" sz="1000" b="1" dirty="0"/>
              <a:t>概要</a:t>
            </a:r>
            <a:r>
              <a:rPr lang="en-US" altLang="ja-JP" sz="1000" b="1" dirty="0"/>
              <a:t>:</a:t>
            </a:r>
            <a:r>
              <a:rPr lang="en-US" altLang="ja-JP" sz="1000" dirty="0"/>
              <a:t> </a:t>
            </a:r>
            <a:r>
              <a:rPr lang="ja-JP" altLang="ja-JP" sz="1000" dirty="0"/>
              <a:t>ローコードツールを活用し、既存のクラウド機能を組み合わせてバックアップフローを構築する手法です。</a:t>
            </a:r>
          </a:p>
          <a:p>
            <a:pPr marL="457200" lvl="1" indent="0">
              <a:lnSpc>
                <a:spcPct val="120000"/>
              </a:lnSpc>
              <a:spcBef>
                <a:spcPts val="200"/>
              </a:spcBef>
              <a:spcAft>
                <a:spcPts val="300"/>
              </a:spcAft>
              <a:buNone/>
            </a:pPr>
            <a:r>
              <a:rPr lang="ja-JP" altLang="ja-JP" sz="1000" b="1" dirty="0"/>
              <a:t>メリット</a:t>
            </a:r>
            <a:r>
              <a:rPr lang="en-US" altLang="ja-JP" sz="1000" b="1" dirty="0"/>
              <a:t>:</a:t>
            </a:r>
            <a:r>
              <a:rPr lang="en-US" altLang="ja-JP" sz="1000" dirty="0"/>
              <a:t> </a:t>
            </a:r>
            <a:r>
              <a:rPr lang="ja-JP" altLang="ja-JP" sz="1000" dirty="0"/>
              <a:t>開発期間が短く、サーバーなどのインフラ準備が不要です。</a:t>
            </a:r>
          </a:p>
          <a:p>
            <a:pPr marL="457200" lvl="1" indent="0">
              <a:lnSpc>
                <a:spcPct val="120000"/>
              </a:lnSpc>
              <a:spcBef>
                <a:spcPts val="200"/>
              </a:spcBef>
              <a:spcAft>
                <a:spcPts val="300"/>
              </a:spcAft>
              <a:buNone/>
            </a:pPr>
            <a:r>
              <a:rPr lang="ja-JP" altLang="ja-JP" sz="1000" b="1" dirty="0"/>
              <a:t>デメリット</a:t>
            </a:r>
            <a:r>
              <a:rPr lang="en-US" altLang="ja-JP" sz="1000" b="1" dirty="0"/>
              <a:t>:</a:t>
            </a:r>
            <a:r>
              <a:rPr lang="en-US" altLang="ja-JP" sz="1000" dirty="0"/>
              <a:t> </a:t>
            </a:r>
            <a:r>
              <a:rPr lang="ja-JP" altLang="ja-JP" sz="1000" dirty="0"/>
              <a:t>大量（数千件以上）のファイル処理には時間がかかり、リアルタイムの進捗確認や柔軟な</a:t>
            </a:r>
            <a:r>
              <a:rPr lang="en-US" altLang="ja-JP" sz="1000" dirty="0"/>
              <a:t>UI</a:t>
            </a:r>
            <a:r>
              <a:rPr lang="ja-JP" altLang="ja-JP" sz="1000" dirty="0"/>
              <a:t>操作が困難です。</a:t>
            </a:r>
          </a:p>
          <a:p>
            <a:pPr marL="0" indent="0">
              <a:lnSpc>
                <a:spcPct val="120000"/>
              </a:lnSpc>
              <a:spcBef>
                <a:spcPts val="200"/>
              </a:spcBef>
              <a:spcAft>
                <a:spcPts val="300"/>
              </a:spcAft>
              <a:buNone/>
            </a:pPr>
            <a:r>
              <a:rPr lang="en-US" altLang="ja-JP" sz="1050" b="1" dirty="0"/>
              <a:t>2. .NET </a:t>
            </a:r>
            <a:r>
              <a:rPr lang="ja-JP" altLang="ja-JP" sz="1050" b="1" dirty="0"/>
              <a:t>デスクトップアプリ</a:t>
            </a:r>
            <a:r>
              <a:rPr lang="en-US" altLang="ja-JP" sz="1050" b="1" dirty="0"/>
              <a:t> (Graph API) </a:t>
            </a:r>
            <a:r>
              <a:rPr lang="ja-JP" altLang="ja-JP" sz="1050" b="1" dirty="0"/>
              <a:t>開発案</a:t>
            </a:r>
            <a:endParaRPr lang="ja-JP" altLang="ja-JP" sz="1050" dirty="0"/>
          </a:p>
          <a:p>
            <a:pPr marL="457200" lvl="1" indent="0">
              <a:lnSpc>
                <a:spcPct val="120000"/>
              </a:lnSpc>
              <a:spcBef>
                <a:spcPts val="200"/>
              </a:spcBef>
              <a:spcAft>
                <a:spcPts val="300"/>
              </a:spcAft>
              <a:buNone/>
            </a:pPr>
            <a:r>
              <a:rPr lang="ja-JP" altLang="ja-JP" sz="1000" b="1" dirty="0"/>
              <a:t>概要</a:t>
            </a:r>
            <a:r>
              <a:rPr lang="en-US" altLang="ja-JP" sz="1000" b="1" dirty="0"/>
              <a:t>:</a:t>
            </a:r>
            <a:r>
              <a:rPr lang="en-US" altLang="ja-JP" sz="1000" dirty="0"/>
              <a:t> .NET</a:t>
            </a:r>
            <a:r>
              <a:rPr lang="ja-JP" altLang="ja-JP" sz="1000" dirty="0"/>
              <a:t>（</a:t>
            </a:r>
            <a:r>
              <a:rPr lang="en-US" altLang="ja-JP" sz="1000" dirty="0"/>
              <a:t>C#</a:t>
            </a:r>
            <a:r>
              <a:rPr lang="ja-JP" altLang="ja-JP" sz="1000" dirty="0"/>
              <a:t>等）を用いて専用ツールを開発し、</a:t>
            </a:r>
            <a:r>
              <a:rPr lang="en-US" altLang="ja-JP" sz="1000" dirty="0"/>
              <a:t>Microsoft Graph API</a:t>
            </a:r>
            <a:r>
              <a:rPr lang="ja-JP" altLang="ja-JP" sz="1000" dirty="0"/>
              <a:t>を直接制御してコピーを行う手法です。</a:t>
            </a:r>
          </a:p>
          <a:p>
            <a:pPr marL="457200" lvl="1" indent="0">
              <a:lnSpc>
                <a:spcPct val="120000"/>
              </a:lnSpc>
              <a:spcBef>
                <a:spcPts val="200"/>
              </a:spcBef>
              <a:spcAft>
                <a:spcPts val="300"/>
              </a:spcAft>
              <a:buNone/>
            </a:pPr>
            <a:r>
              <a:rPr lang="ja-JP" altLang="ja-JP" sz="1000" b="1" dirty="0"/>
              <a:t>メリット</a:t>
            </a:r>
            <a:r>
              <a:rPr lang="en-US" altLang="ja-JP" sz="1000" b="1" dirty="0"/>
              <a:t>:</a:t>
            </a:r>
            <a:r>
              <a:rPr lang="en-US" altLang="ja-JP" sz="1000" dirty="0"/>
              <a:t> </a:t>
            </a:r>
            <a:r>
              <a:rPr lang="ja-JP" altLang="ja-JP" sz="1000" dirty="0"/>
              <a:t>詳細なエラーログの出力、リトライ処理、プログレスバーによる進捗表示など、高度な制御が可能です。</a:t>
            </a:r>
          </a:p>
          <a:p>
            <a:pPr marL="457200" lvl="1" indent="0">
              <a:lnSpc>
                <a:spcPct val="120000"/>
              </a:lnSpc>
              <a:spcBef>
                <a:spcPts val="200"/>
              </a:spcBef>
              <a:spcAft>
                <a:spcPts val="300"/>
              </a:spcAft>
              <a:buNone/>
            </a:pPr>
            <a:r>
              <a:rPr lang="ja-JP" altLang="ja-JP" sz="1000" b="1" dirty="0"/>
              <a:t>デメリット</a:t>
            </a:r>
            <a:r>
              <a:rPr lang="en-US" altLang="ja-JP" sz="1000" b="1" dirty="0"/>
              <a:t>:</a:t>
            </a:r>
            <a:r>
              <a:rPr lang="en-US" altLang="ja-JP" sz="1000" dirty="0"/>
              <a:t> </a:t>
            </a:r>
            <a:r>
              <a:rPr lang="ja-JP" altLang="ja-JP" sz="1000" dirty="0"/>
              <a:t>認証処理や</a:t>
            </a:r>
            <a:r>
              <a:rPr lang="en-US" altLang="ja-JP" sz="1000" dirty="0"/>
              <a:t>UI</a:t>
            </a:r>
            <a:r>
              <a:rPr lang="ja-JP" altLang="ja-JP" sz="1000" dirty="0"/>
              <a:t>設計が必要なため、</a:t>
            </a:r>
            <a:r>
              <a:rPr lang="en-US" altLang="ja-JP" sz="1000" dirty="0"/>
              <a:t>Power Automate</a:t>
            </a:r>
            <a:r>
              <a:rPr lang="ja-JP" altLang="ja-JP" sz="1000" dirty="0"/>
              <a:t>に比べて開発工数が多くなります。</a:t>
            </a:r>
          </a:p>
          <a:p>
            <a:pPr marL="0" indent="0">
              <a:lnSpc>
                <a:spcPct val="120000"/>
              </a:lnSpc>
              <a:spcBef>
                <a:spcPts val="200"/>
              </a:spcBef>
              <a:spcAft>
                <a:spcPts val="300"/>
              </a:spcAft>
              <a:buNone/>
            </a:pPr>
            <a:r>
              <a:rPr lang="ja-JP" altLang="ja-JP" sz="1050" b="1" dirty="0"/>
              <a:t>案の評価</a:t>
            </a:r>
          </a:p>
          <a:p>
            <a:pPr>
              <a:lnSpc>
                <a:spcPct val="120000"/>
              </a:lnSpc>
              <a:spcBef>
                <a:spcPts val="200"/>
              </a:spcBef>
              <a:spcAft>
                <a:spcPts val="300"/>
              </a:spcAft>
            </a:pPr>
            <a:r>
              <a:rPr lang="ja-JP" altLang="ja-JP" sz="1000" b="1" dirty="0"/>
              <a:t>手軽さ重視なら</a:t>
            </a:r>
            <a:r>
              <a:rPr lang="en-US" altLang="ja-JP" sz="1000" b="1" dirty="0"/>
              <a:t> Power Automate: </a:t>
            </a:r>
            <a:r>
              <a:rPr lang="ja-JP" altLang="ja-JP" sz="1000" b="1" dirty="0"/>
              <a:t>ただし、</a:t>
            </a:r>
            <a:r>
              <a:rPr lang="en-US" altLang="ja-JP" sz="1000" b="1" dirty="0"/>
              <a:t>1</a:t>
            </a:r>
            <a:r>
              <a:rPr lang="ja-JP" altLang="ja-JP" sz="1000" b="1" dirty="0"/>
              <a:t>ファイルずつのループ処理は非常に遅いため、数千ファイル規模には向きません。</a:t>
            </a:r>
          </a:p>
          <a:p>
            <a:pPr>
              <a:lnSpc>
                <a:spcPct val="120000"/>
              </a:lnSpc>
              <a:spcBef>
                <a:spcPts val="200"/>
              </a:spcBef>
              <a:spcAft>
                <a:spcPts val="300"/>
              </a:spcAft>
            </a:pPr>
            <a:r>
              <a:rPr lang="ja-JP" altLang="ja-JP" sz="1000" b="1" dirty="0"/>
              <a:t>確実性とユーザー体験重視なら</a:t>
            </a:r>
            <a:r>
              <a:rPr lang="en-US" altLang="ja-JP" sz="1000" b="1" dirty="0"/>
              <a:t> .NET: </a:t>
            </a:r>
            <a:r>
              <a:rPr lang="ja-JP" altLang="ja-JP" sz="1000" b="1" dirty="0"/>
              <a:t>開発コストはかかりますが、</a:t>
            </a:r>
            <a:r>
              <a:rPr lang="en-US" altLang="ja-JP" sz="1000" b="1" dirty="0" err="1"/>
              <a:t>Microsoft.Graph</a:t>
            </a:r>
            <a:r>
              <a:rPr lang="en-US" altLang="ja-JP" sz="1000" b="1" dirty="0"/>
              <a:t> SDK</a:t>
            </a:r>
            <a:r>
              <a:rPr lang="ja-JP" altLang="ja-JP" sz="1000" b="1" dirty="0"/>
              <a:t>を利用すれば、エラーになったファイルパスを</a:t>
            </a:r>
            <a:r>
              <a:rPr lang="en-US" altLang="ja-JP" sz="1000" b="1" dirty="0"/>
              <a:t>CSV</a:t>
            </a:r>
            <a:r>
              <a:rPr lang="ja-JP" altLang="ja-JP" sz="1000" b="1" dirty="0"/>
              <a:t>で書き出すといった「確実な証跡」が残せます。</a:t>
            </a:r>
            <a:r>
              <a:rPr lang="en-US" altLang="ja-JP" sz="1000" b="1" dirty="0"/>
              <a:t> </a:t>
            </a:r>
            <a:endParaRPr lang="ja-JP" altLang="ja-JP" sz="1000" b="1" dirty="0"/>
          </a:p>
          <a:p>
            <a:pPr marL="0" indent="0">
              <a:lnSpc>
                <a:spcPct val="120000"/>
              </a:lnSpc>
              <a:spcBef>
                <a:spcPts val="200"/>
              </a:spcBef>
              <a:spcAft>
                <a:spcPts val="300"/>
              </a:spcAft>
              <a:buNone/>
            </a:pPr>
            <a:r>
              <a:rPr lang="ja-JP" altLang="ja-JP" sz="1050" b="1" dirty="0">
                <a:solidFill>
                  <a:srgbClr val="C00000"/>
                </a:solidFill>
              </a:rPr>
              <a:t>業務として「確実にバックアップされたこと」を保証する必要があるなら、</a:t>
            </a:r>
            <a:r>
              <a:rPr lang="en-US" altLang="ja-JP" sz="1050" b="1" dirty="0">
                <a:solidFill>
                  <a:srgbClr val="C00000"/>
                </a:solidFill>
              </a:rPr>
              <a:t>.NET</a:t>
            </a:r>
            <a:r>
              <a:rPr lang="ja-JP" altLang="ja-JP" sz="1050" b="1" dirty="0">
                <a:solidFill>
                  <a:srgbClr val="C00000"/>
                </a:solidFill>
              </a:rPr>
              <a:t>による専用ツール開発を推奨します。</a:t>
            </a:r>
          </a:p>
          <a:p>
            <a:pPr marL="0" indent="0">
              <a:lnSpc>
                <a:spcPct val="120000"/>
              </a:lnSpc>
              <a:spcBef>
                <a:spcPts val="200"/>
              </a:spcBef>
              <a:spcAft>
                <a:spcPts val="300"/>
              </a:spcAft>
              <a:buNone/>
              <a:defRPr/>
            </a:pPr>
            <a:endParaRPr lang="ja-JP" altLang="en-US" sz="1050" dirty="0">
              <a:latin typeface="Meiryo UI" panose="020B0604030504040204" pitchFamily="34" charset="-128"/>
              <a:ea typeface="Meiryo UI" panose="020B0604030504040204" pitchFamily="34" charset="-128"/>
              <a:cs typeface="Meiryo UI" panose="020B0604030504040204" pitchFamily="34" charset="-128"/>
            </a:endParaRPr>
          </a:p>
        </p:txBody>
      </p:sp>
      <p:graphicFrame>
        <p:nvGraphicFramePr>
          <p:cNvPr id="2" name="表格 1">
            <a:extLst>
              <a:ext uri="{FF2B5EF4-FFF2-40B4-BE49-F238E27FC236}">
                <a16:creationId xmlns:a16="http://schemas.microsoft.com/office/drawing/2014/main" id="{B3DC07DB-836E-FE73-2605-46025A419BAD}"/>
              </a:ext>
            </a:extLst>
          </p:cNvPr>
          <p:cNvGraphicFramePr>
            <a:graphicFrameLocks noGrp="1"/>
          </p:cNvGraphicFramePr>
          <p:nvPr>
            <p:extLst>
              <p:ext uri="{D42A27DB-BD31-4B8C-83A1-F6EECF244321}">
                <p14:modId xmlns:p14="http://schemas.microsoft.com/office/powerpoint/2010/main" val="1931278382"/>
              </p:ext>
            </p:extLst>
          </p:nvPr>
        </p:nvGraphicFramePr>
        <p:xfrm>
          <a:off x="4822639" y="4800756"/>
          <a:ext cx="7133492" cy="1790700"/>
        </p:xfrm>
        <a:graphic>
          <a:graphicData uri="http://schemas.openxmlformats.org/drawingml/2006/table">
            <a:tbl>
              <a:tblPr firstRow="1" firstCol="1" bandRow="1">
                <a:tableStyleId>{5C22544A-7EE6-4342-B048-85BDC9FD1C3A}</a:tableStyleId>
              </a:tblPr>
              <a:tblGrid>
                <a:gridCol w="1008725">
                  <a:extLst>
                    <a:ext uri="{9D8B030D-6E8A-4147-A177-3AD203B41FA5}">
                      <a16:colId xmlns:a16="http://schemas.microsoft.com/office/drawing/2014/main" val="1282123571"/>
                    </a:ext>
                  </a:extLst>
                </a:gridCol>
                <a:gridCol w="3026999">
                  <a:extLst>
                    <a:ext uri="{9D8B030D-6E8A-4147-A177-3AD203B41FA5}">
                      <a16:colId xmlns:a16="http://schemas.microsoft.com/office/drawing/2014/main" val="2475728889"/>
                    </a:ext>
                  </a:extLst>
                </a:gridCol>
                <a:gridCol w="3097768">
                  <a:extLst>
                    <a:ext uri="{9D8B030D-6E8A-4147-A177-3AD203B41FA5}">
                      <a16:colId xmlns:a16="http://schemas.microsoft.com/office/drawing/2014/main" val="520496097"/>
                    </a:ext>
                  </a:extLst>
                </a:gridCol>
              </a:tblGrid>
              <a:tr h="79827">
                <a:tc>
                  <a:txBody>
                    <a:bodyPr/>
                    <a:lstStyle/>
                    <a:p>
                      <a:pPr algn="l">
                        <a:buNone/>
                      </a:pPr>
                      <a:r>
                        <a:rPr lang="zh-CN" sz="1000" kern="0" dirty="0">
                          <a:effectLst/>
                        </a:rPr>
                        <a:t>項目</a:t>
                      </a:r>
                      <a:endParaRPr lang="ja-JP" sz="1100" kern="100" dirty="0">
                        <a:effectLst/>
                        <a:latin typeface="游明朝" panose="02020400000000000000" pitchFamily="18" charset="-128"/>
                        <a:ea typeface="游明朝" panose="02020400000000000000" pitchFamily="18" charset="-128"/>
                        <a:cs typeface="Arial" panose="020B0604020202020204" pitchFamily="34" charset="0"/>
                      </a:endParaRPr>
                    </a:p>
                  </a:txBody>
                  <a:tcPr marL="9525" marR="9525" marT="9525" marB="9525" anchor="ctr"/>
                </a:tc>
                <a:tc>
                  <a:txBody>
                    <a:bodyPr/>
                    <a:lstStyle/>
                    <a:p>
                      <a:pPr algn="l">
                        <a:buNone/>
                      </a:pPr>
                      <a:r>
                        <a:rPr lang="en-US" sz="1000" kern="0" dirty="0">
                          <a:effectLst/>
                        </a:rPr>
                        <a:t>1. Power Automate (Flow)</a:t>
                      </a:r>
                      <a:endParaRPr lang="ja-JP" sz="1100" kern="100" dirty="0">
                        <a:effectLst/>
                        <a:latin typeface="游明朝" panose="02020400000000000000" pitchFamily="18" charset="-128"/>
                        <a:ea typeface="游明朝" panose="02020400000000000000" pitchFamily="18" charset="-128"/>
                        <a:cs typeface="Arial" panose="020B0604020202020204" pitchFamily="34" charset="0"/>
                      </a:endParaRPr>
                    </a:p>
                  </a:txBody>
                  <a:tcPr marL="9525" marR="9525" marT="9525" marB="9525" anchor="ctr"/>
                </a:tc>
                <a:tc>
                  <a:txBody>
                    <a:bodyPr/>
                    <a:lstStyle/>
                    <a:p>
                      <a:pPr algn="l">
                        <a:buNone/>
                      </a:pPr>
                      <a:r>
                        <a:rPr lang="en-US" sz="1000" kern="0">
                          <a:effectLst/>
                        </a:rPr>
                        <a:t>2. .NET Desktop (.NET + Graph API)</a:t>
                      </a:r>
                      <a:endParaRPr lang="ja-JP" sz="1100" kern="100">
                        <a:effectLst/>
                        <a:latin typeface="游明朝" panose="02020400000000000000" pitchFamily="18" charset="-128"/>
                        <a:ea typeface="游明朝" panose="02020400000000000000" pitchFamily="18" charset="-128"/>
                        <a:cs typeface="Arial" panose="020B0604020202020204" pitchFamily="34" charset="0"/>
                      </a:endParaRPr>
                    </a:p>
                  </a:txBody>
                  <a:tcPr marL="9525" marR="9525" marT="9525" marB="9525" anchor="ctr"/>
                </a:tc>
                <a:extLst>
                  <a:ext uri="{0D108BD9-81ED-4DB2-BD59-A6C34878D82A}">
                    <a16:rowId xmlns:a16="http://schemas.microsoft.com/office/drawing/2014/main" val="3781304505"/>
                  </a:ext>
                </a:extLst>
              </a:tr>
              <a:tr h="227912">
                <a:tc>
                  <a:txBody>
                    <a:bodyPr/>
                    <a:lstStyle/>
                    <a:p>
                      <a:pPr algn="l">
                        <a:buNone/>
                      </a:pPr>
                      <a:r>
                        <a:rPr lang="zh-CN" sz="1000" kern="0" dirty="0">
                          <a:effectLst/>
                        </a:rPr>
                        <a:t>作業量</a:t>
                      </a:r>
                      <a:endParaRPr lang="ja-JP" sz="1100" kern="100" dirty="0">
                        <a:effectLst/>
                        <a:latin typeface="游明朝" panose="02020400000000000000" pitchFamily="18" charset="-128"/>
                        <a:ea typeface="游明朝" panose="02020400000000000000" pitchFamily="18" charset="-128"/>
                        <a:cs typeface="Arial" panose="020B0604020202020204" pitchFamily="34" charset="0"/>
                      </a:endParaRPr>
                    </a:p>
                  </a:txBody>
                  <a:tcPr marL="9525" marR="9525" marT="9525" marB="9525" anchor="ctr"/>
                </a:tc>
                <a:tc>
                  <a:txBody>
                    <a:bodyPr/>
                    <a:lstStyle/>
                    <a:p>
                      <a:pPr algn="l">
                        <a:buNone/>
                      </a:pPr>
                      <a:r>
                        <a:rPr lang="ja-JP" sz="1000" kern="0" dirty="0">
                          <a:effectLst/>
                        </a:rPr>
                        <a:t>低い。</a:t>
                      </a:r>
                      <a:r>
                        <a:rPr lang="en-US" sz="1000" kern="0" dirty="0">
                          <a:effectLst/>
                        </a:rPr>
                        <a:t>GUI</a:t>
                      </a:r>
                      <a:r>
                        <a:rPr lang="ja-JP" sz="1000" kern="0" dirty="0">
                          <a:effectLst/>
                        </a:rPr>
                        <a:t>で定義でき、サーバー構築も不要。</a:t>
                      </a:r>
                      <a:endParaRPr lang="ja-JP" sz="1100" kern="100" dirty="0">
                        <a:effectLst/>
                        <a:latin typeface="游明朝" panose="02020400000000000000" pitchFamily="18" charset="-128"/>
                        <a:ea typeface="游明朝" panose="02020400000000000000" pitchFamily="18" charset="-128"/>
                        <a:cs typeface="Arial" panose="020B0604020202020204" pitchFamily="34" charset="0"/>
                      </a:endParaRPr>
                    </a:p>
                  </a:txBody>
                  <a:tcPr marL="9525" marR="9525" marT="9525" marB="9525" anchor="ctr"/>
                </a:tc>
                <a:tc>
                  <a:txBody>
                    <a:bodyPr/>
                    <a:lstStyle/>
                    <a:p>
                      <a:pPr algn="l">
                        <a:buNone/>
                      </a:pPr>
                      <a:r>
                        <a:rPr lang="ja-JP" sz="1000" kern="0" dirty="0">
                          <a:effectLst/>
                        </a:rPr>
                        <a:t>高い。認証処理、</a:t>
                      </a:r>
                      <a:r>
                        <a:rPr lang="en-US" sz="1000" kern="0" dirty="0">
                          <a:effectLst/>
                        </a:rPr>
                        <a:t>UI</a:t>
                      </a:r>
                      <a:r>
                        <a:rPr lang="ja-JP" sz="1000" kern="0" dirty="0">
                          <a:effectLst/>
                        </a:rPr>
                        <a:t>設計、並列処理の実装が必要。</a:t>
                      </a:r>
                      <a:endParaRPr lang="ja-JP" sz="1100" kern="100" dirty="0">
                        <a:effectLst/>
                      </a:endParaRPr>
                    </a:p>
                    <a:p>
                      <a:pPr algn="l">
                        <a:buNone/>
                      </a:pPr>
                      <a:r>
                        <a:rPr lang="ja-JP" sz="1000" kern="0" dirty="0">
                          <a:solidFill>
                            <a:srgbClr val="FF0000"/>
                          </a:solidFill>
                          <a:effectLst/>
                        </a:rPr>
                        <a:t>※　</a:t>
                      </a:r>
                      <a:r>
                        <a:rPr lang="en-US" sz="1000" kern="0" dirty="0" err="1">
                          <a:solidFill>
                            <a:srgbClr val="FF0000"/>
                          </a:solidFill>
                          <a:effectLst/>
                        </a:rPr>
                        <a:t>GraphAPI</a:t>
                      </a:r>
                      <a:r>
                        <a:rPr lang="ja-JP" sz="1000" kern="0" dirty="0">
                          <a:solidFill>
                            <a:srgbClr val="FF0000"/>
                          </a:solidFill>
                          <a:effectLst/>
                        </a:rPr>
                        <a:t>を利用するための</a:t>
                      </a:r>
                      <a:r>
                        <a:rPr lang="en-US" sz="1000" kern="0" dirty="0" err="1">
                          <a:solidFill>
                            <a:srgbClr val="FF0000"/>
                          </a:solidFill>
                          <a:effectLst/>
                        </a:rPr>
                        <a:t>AppID</a:t>
                      </a:r>
                      <a:r>
                        <a:rPr lang="ja-JP" sz="1000" kern="0" dirty="0">
                          <a:solidFill>
                            <a:srgbClr val="FF0000"/>
                          </a:solidFill>
                          <a:effectLst/>
                        </a:rPr>
                        <a:t>申請、登録が必要（</a:t>
                      </a:r>
                      <a:r>
                        <a:rPr lang="en-US" sz="1000" kern="0" dirty="0">
                          <a:solidFill>
                            <a:srgbClr val="FF0000"/>
                          </a:solidFill>
                          <a:effectLst/>
                        </a:rPr>
                        <a:t>MCC</a:t>
                      </a:r>
                      <a:r>
                        <a:rPr lang="ja-JP" sz="1000" kern="0" dirty="0">
                          <a:solidFill>
                            <a:srgbClr val="FF0000"/>
                          </a:solidFill>
                          <a:effectLst/>
                        </a:rPr>
                        <a:t>社内で申請処理できるもの）</a:t>
                      </a:r>
                      <a:endParaRPr lang="ja-JP" sz="1100" kern="100" dirty="0">
                        <a:solidFill>
                          <a:srgbClr val="FF0000"/>
                        </a:solidFill>
                        <a:effectLst/>
                        <a:latin typeface="游明朝" panose="02020400000000000000" pitchFamily="18" charset="-128"/>
                        <a:ea typeface="游明朝" panose="02020400000000000000" pitchFamily="18" charset="-128"/>
                        <a:cs typeface="Arial" panose="020B0604020202020204" pitchFamily="34" charset="0"/>
                      </a:endParaRPr>
                    </a:p>
                  </a:txBody>
                  <a:tcPr marL="9525" marR="9525" marT="9525" marB="9525" anchor="ctr"/>
                </a:tc>
                <a:extLst>
                  <a:ext uri="{0D108BD9-81ED-4DB2-BD59-A6C34878D82A}">
                    <a16:rowId xmlns:a16="http://schemas.microsoft.com/office/drawing/2014/main" val="4085262700"/>
                  </a:ext>
                </a:extLst>
              </a:tr>
              <a:tr h="126954">
                <a:tc>
                  <a:txBody>
                    <a:bodyPr/>
                    <a:lstStyle/>
                    <a:p>
                      <a:pPr algn="l">
                        <a:buNone/>
                      </a:pPr>
                      <a:r>
                        <a:rPr lang="zh-CN" sz="1000" kern="0">
                          <a:effectLst/>
                        </a:rPr>
                        <a:t>進捗表示</a:t>
                      </a:r>
                      <a:endParaRPr lang="ja-JP" sz="1100" kern="100">
                        <a:effectLst/>
                        <a:latin typeface="游明朝" panose="02020400000000000000" pitchFamily="18" charset="-128"/>
                        <a:ea typeface="游明朝" panose="02020400000000000000" pitchFamily="18" charset="-128"/>
                        <a:cs typeface="Arial" panose="020B0604020202020204" pitchFamily="34" charset="0"/>
                      </a:endParaRPr>
                    </a:p>
                  </a:txBody>
                  <a:tcPr marL="9525" marR="9525" marT="9525" marB="9525" anchor="ctr"/>
                </a:tc>
                <a:tc>
                  <a:txBody>
                    <a:bodyPr/>
                    <a:lstStyle/>
                    <a:p>
                      <a:pPr algn="l">
                        <a:buNone/>
                      </a:pPr>
                      <a:r>
                        <a:rPr lang="ja-JP" sz="1000" kern="0" dirty="0">
                          <a:effectLst/>
                        </a:rPr>
                        <a:t>困難。実行履歴でしか確認できず、リアルタイム性に欠ける。</a:t>
                      </a:r>
                      <a:endParaRPr lang="ja-JP" sz="1100" kern="100" dirty="0">
                        <a:effectLst/>
                        <a:latin typeface="游明朝" panose="02020400000000000000" pitchFamily="18" charset="-128"/>
                        <a:ea typeface="游明朝" panose="02020400000000000000" pitchFamily="18" charset="-128"/>
                        <a:cs typeface="Arial" panose="020B0604020202020204" pitchFamily="34" charset="0"/>
                      </a:endParaRPr>
                    </a:p>
                  </a:txBody>
                  <a:tcPr marL="9525" marR="9525" marT="9525" marB="9525" anchor="ctr"/>
                </a:tc>
                <a:tc>
                  <a:txBody>
                    <a:bodyPr/>
                    <a:lstStyle/>
                    <a:p>
                      <a:pPr algn="l">
                        <a:buNone/>
                      </a:pPr>
                      <a:r>
                        <a:rPr lang="zh-CN" sz="1000" kern="0" dirty="0">
                          <a:effectLst/>
                        </a:rPr>
                        <a:t>容易。</a:t>
                      </a:r>
                      <a:r>
                        <a:rPr lang="en-US" sz="1000" kern="0" dirty="0" err="1">
                          <a:effectLst/>
                        </a:rPr>
                        <a:t>ProgressBar</a:t>
                      </a:r>
                      <a:r>
                        <a:rPr lang="zh-CN" sz="1000" kern="0" dirty="0">
                          <a:effectLst/>
                        </a:rPr>
                        <a:t>やログを詳細に表示可能。</a:t>
                      </a:r>
                      <a:endParaRPr lang="ja-JP" sz="1100" kern="100" dirty="0">
                        <a:effectLst/>
                        <a:latin typeface="游明朝" panose="02020400000000000000" pitchFamily="18" charset="-128"/>
                        <a:ea typeface="游明朝" panose="02020400000000000000" pitchFamily="18" charset="-128"/>
                        <a:cs typeface="Arial" panose="020B0604020202020204" pitchFamily="34" charset="0"/>
                      </a:endParaRPr>
                    </a:p>
                  </a:txBody>
                  <a:tcPr marL="9525" marR="9525" marT="9525" marB="9525" anchor="ctr"/>
                </a:tc>
                <a:extLst>
                  <a:ext uri="{0D108BD9-81ED-4DB2-BD59-A6C34878D82A}">
                    <a16:rowId xmlns:a16="http://schemas.microsoft.com/office/drawing/2014/main" val="2592835241"/>
                  </a:ext>
                </a:extLst>
              </a:tr>
              <a:tr h="79827">
                <a:tc>
                  <a:txBody>
                    <a:bodyPr/>
                    <a:lstStyle/>
                    <a:p>
                      <a:pPr algn="l">
                        <a:buNone/>
                      </a:pPr>
                      <a:r>
                        <a:rPr lang="zh-CN" sz="1000" kern="0">
                          <a:effectLst/>
                        </a:rPr>
                        <a:t>操作性</a:t>
                      </a:r>
                      <a:endParaRPr lang="ja-JP" sz="1100" kern="100">
                        <a:effectLst/>
                        <a:latin typeface="游明朝" panose="02020400000000000000" pitchFamily="18" charset="-128"/>
                        <a:ea typeface="游明朝" panose="02020400000000000000" pitchFamily="18" charset="-128"/>
                        <a:cs typeface="Arial" panose="020B0604020202020204" pitchFamily="34" charset="0"/>
                      </a:endParaRPr>
                    </a:p>
                  </a:txBody>
                  <a:tcPr marL="9525" marR="9525" marT="9525" marB="9525" anchor="ctr"/>
                </a:tc>
                <a:tc>
                  <a:txBody>
                    <a:bodyPr/>
                    <a:lstStyle/>
                    <a:p>
                      <a:pPr algn="l">
                        <a:buNone/>
                      </a:pPr>
                      <a:r>
                        <a:rPr lang="ja-JP" sz="1000" kern="0" dirty="0">
                          <a:effectLst/>
                        </a:rPr>
                        <a:t>限定的。トリガーによる実行がメイン。</a:t>
                      </a:r>
                      <a:endParaRPr lang="ja-JP" sz="1100" kern="100" dirty="0">
                        <a:effectLst/>
                        <a:latin typeface="游明朝" panose="02020400000000000000" pitchFamily="18" charset="-128"/>
                        <a:ea typeface="游明朝" panose="02020400000000000000" pitchFamily="18" charset="-128"/>
                        <a:cs typeface="Arial" panose="020B0604020202020204" pitchFamily="34" charset="0"/>
                      </a:endParaRPr>
                    </a:p>
                  </a:txBody>
                  <a:tcPr marL="9525" marR="9525" marT="9525" marB="9525" anchor="ctr"/>
                </a:tc>
                <a:tc>
                  <a:txBody>
                    <a:bodyPr/>
                    <a:lstStyle/>
                    <a:p>
                      <a:pPr algn="l">
                        <a:buNone/>
                      </a:pPr>
                      <a:r>
                        <a:rPr lang="ja-JP" sz="1000" kern="0" dirty="0">
                          <a:effectLst/>
                        </a:rPr>
                        <a:t>高い。</a:t>
                      </a:r>
                      <a:r>
                        <a:rPr lang="en-US" sz="1000" kern="0" dirty="0">
                          <a:effectLst/>
                        </a:rPr>
                        <a:t>Drag &amp; Drop</a:t>
                      </a:r>
                      <a:r>
                        <a:rPr lang="ja-JP" sz="1000" kern="0" dirty="0">
                          <a:effectLst/>
                        </a:rPr>
                        <a:t>や特定フォルダ選択が可能。</a:t>
                      </a:r>
                      <a:endParaRPr lang="ja-JP" sz="1100" kern="100" dirty="0">
                        <a:effectLst/>
                        <a:latin typeface="游明朝" panose="02020400000000000000" pitchFamily="18" charset="-128"/>
                        <a:ea typeface="游明朝" panose="02020400000000000000" pitchFamily="18" charset="-128"/>
                        <a:cs typeface="Arial" panose="020B0604020202020204" pitchFamily="34" charset="0"/>
                      </a:endParaRPr>
                    </a:p>
                  </a:txBody>
                  <a:tcPr marL="9525" marR="9525" marT="9525" marB="9525" anchor="ctr"/>
                </a:tc>
                <a:extLst>
                  <a:ext uri="{0D108BD9-81ED-4DB2-BD59-A6C34878D82A}">
                    <a16:rowId xmlns:a16="http://schemas.microsoft.com/office/drawing/2014/main" val="591990475"/>
                  </a:ext>
                </a:extLst>
              </a:tr>
              <a:tr h="126954">
                <a:tc>
                  <a:txBody>
                    <a:bodyPr/>
                    <a:lstStyle/>
                    <a:p>
                      <a:pPr algn="l">
                        <a:buNone/>
                      </a:pPr>
                      <a:r>
                        <a:rPr lang="zh-CN" sz="1000" kern="0">
                          <a:effectLst/>
                        </a:rPr>
                        <a:t>異常処理</a:t>
                      </a:r>
                      <a:endParaRPr lang="ja-JP" sz="1100" kern="100">
                        <a:effectLst/>
                        <a:latin typeface="游明朝" panose="02020400000000000000" pitchFamily="18" charset="-128"/>
                        <a:ea typeface="游明朝" panose="02020400000000000000" pitchFamily="18" charset="-128"/>
                        <a:cs typeface="Arial" panose="020B0604020202020204" pitchFamily="34" charset="0"/>
                      </a:endParaRPr>
                    </a:p>
                  </a:txBody>
                  <a:tcPr marL="9525" marR="9525" marT="9525" marB="9525" anchor="ctr"/>
                </a:tc>
                <a:tc>
                  <a:txBody>
                    <a:bodyPr/>
                    <a:lstStyle/>
                    <a:p>
                      <a:pPr algn="l">
                        <a:buNone/>
                      </a:pPr>
                      <a:r>
                        <a:rPr lang="ja-JP" sz="1000" kern="0">
                          <a:effectLst/>
                        </a:rPr>
                        <a:t>中程度。</a:t>
                      </a:r>
                      <a:r>
                        <a:rPr lang="en-US" sz="1000" kern="0">
                          <a:effectLst/>
                        </a:rPr>
                        <a:t>Try-Catch</a:t>
                      </a:r>
                      <a:r>
                        <a:rPr lang="ja-JP" sz="1000" kern="0">
                          <a:effectLst/>
                        </a:rPr>
                        <a:t>（スコープ）で制御できるが、通知が遅れる。</a:t>
                      </a:r>
                      <a:endParaRPr lang="ja-JP" sz="1100" kern="100">
                        <a:effectLst/>
                        <a:latin typeface="游明朝" panose="02020400000000000000" pitchFamily="18" charset="-128"/>
                        <a:ea typeface="游明朝" panose="02020400000000000000" pitchFamily="18" charset="-128"/>
                        <a:cs typeface="Arial" panose="020B0604020202020204" pitchFamily="34" charset="0"/>
                      </a:endParaRPr>
                    </a:p>
                  </a:txBody>
                  <a:tcPr marL="9525" marR="9525" marT="9525" marB="9525" anchor="ctr"/>
                </a:tc>
                <a:tc>
                  <a:txBody>
                    <a:bodyPr/>
                    <a:lstStyle/>
                    <a:p>
                      <a:pPr algn="l">
                        <a:buNone/>
                      </a:pPr>
                      <a:r>
                        <a:rPr lang="ja-JP" sz="1000" kern="0" dirty="0">
                          <a:effectLst/>
                        </a:rPr>
                        <a:t>非常に高い。</a:t>
                      </a:r>
                      <a:r>
                        <a:rPr lang="ja-JP" sz="1000" kern="0" dirty="0">
                          <a:solidFill>
                            <a:srgbClr val="FF0000"/>
                          </a:solidFill>
                          <a:effectLst/>
                        </a:rPr>
                        <a:t>リトライロジックや詳細なエラーログ</a:t>
                      </a:r>
                      <a:r>
                        <a:rPr lang="ja-JP" sz="1000" kern="0" dirty="0">
                          <a:effectLst/>
                        </a:rPr>
                        <a:t>を即時生成。</a:t>
                      </a:r>
                      <a:endParaRPr lang="ja-JP" sz="1100" kern="100" dirty="0">
                        <a:effectLst/>
                        <a:latin typeface="游明朝" panose="02020400000000000000" pitchFamily="18" charset="-128"/>
                        <a:ea typeface="游明朝" panose="02020400000000000000" pitchFamily="18" charset="-128"/>
                        <a:cs typeface="Arial" panose="020B0604020202020204" pitchFamily="34" charset="0"/>
                      </a:endParaRPr>
                    </a:p>
                  </a:txBody>
                  <a:tcPr marL="9525" marR="9525" marT="9525" marB="9525" anchor="ctr"/>
                </a:tc>
                <a:extLst>
                  <a:ext uri="{0D108BD9-81ED-4DB2-BD59-A6C34878D82A}">
                    <a16:rowId xmlns:a16="http://schemas.microsoft.com/office/drawing/2014/main" val="793116253"/>
                  </a:ext>
                </a:extLst>
              </a:tr>
              <a:tr h="126954">
                <a:tc>
                  <a:txBody>
                    <a:bodyPr/>
                    <a:lstStyle/>
                    <a:p>
                      <a:pPr algn="l">
                        <a:buNone/>
                      </a:pPr>
                      <a:r>
                        <a:rPr lang="zh-CN" sz="1000" kern="0">
                          <a:effectLst/>
                        </a:rPr>
                        <a:t>ネットワーク負荷</a:t>
                      </a:r>
                      <a:endParaRPr lang="ja-JP" sz="1100" kern="100">
                        <a:effectLst/>
                        <a:latin typeface="游明朝" panose="02020400000000000000" pitchFamily="18" charset="-128"/>
                        <a:ea typeface="游明朝" panose="02020400000000000000" pitchFamily="18" charset="-128"/>
                        <a:cs typeface="Arial" panose="020B0604020202020204" pitchFamily="34" charset="0"/>
                      </a:endParaRPr>
                    </a:p>
                  </a:txBody>
                  <a:tcPr marL="9525" marR="9525" marT="9525" marB="9525" anchor="ctr"/>
                </a:tc>
                <a:tc>
                  <a:txBody>
                    <a:bodyPr/>
                    <a:lstStyle/>
                    <a:p>
                      <a:pPr algn="l">
                        <a:buNone/>
                      </a:pPr>
                      <a:r>
                        <a:rPr lang="ja-JP" sz="1000" kern="0">
                          <a:effectLst/>
                        </a:rPr>
                        <a:t>低（クラウド内）。</a:t>
                      </a:r>
                      <a:r>
                        <a:rPr lang="en-US" sz="1000" kern="0">
                          <a:effectLst/>
                        </a:rPr>
                        <a:t>Microsoft</a:t>
                      </a:r>
                      <a:r>
                        <a:rPr lang="ja-JP" sz="1000" kern="0">
                          <a:effectLst/>
                        </a:rPr>
                        <a:t>のバックボーン内で完結。</a:t>
                      </a:r>
                      <a:endParaRPr lang="ja-JP" sz="1100" kern="100">
                        <a:effectLst/>
                        <a:latin typeface="游明朝" panose="02020400000000000000" pitchFamily="18" charset="-128"/>
                        <a:ea typeface="游明朝" panose="02020400000000000000" pitchFamily="18" charset="-128"/>
                        <a:cs typeface="Arial" panose="020B0604020202020204" pitchFamily="34" charset="0"/>
                      </a:endParaRPr>
                    </a:p>
                  </a:txBody>
                  <a:tcPr marL="9525" marR="9525" marT="9525" marB="9525" anchor="ctr"/>
                </a:tc>
                <a:tc>
                  <a:txBody>
                    <a:bodyPr/>
                    <a:lstStyle/>
                    <a:p>
                      <a:pPr algn="l">
                        <a:buNone/>
                      </a:pPr>
                      <a:r>
                        <a:rPr lang="ja-JP" sz="1000" kern="0" dirty="0">
                          <a:effectLst/>
                        </a:rPr>
                        <a:t>中〜高。</a:t>
                      </a:r>
                      <a:r>
                        <a:rPr lang="en-US" sz="1000" kern="0" dirty="0">
                          <a:effectLst/>
                        </a:rPr>
                        <a:t>PC</a:t>
                      </a:r>
                      <a:r>
                        <a:rPr lang="ja-JP" sz="1000" kern="0" dirty="0">
                          <a:effectLst/>
                        </a:rPr>
                        <a:t>を介して</a:t>
                      </a:r>
                      <a:r>
                        <a:rPr lang="en-US" sz="1000" kern="0" dirty="0">
                          <a:effectLst/>
                        </a:rPr>
                        <a:t>API</a:t>
                      </a:r>
                      <a:r>
                        <a:rPr lang="ja-JP" sz="1000" kern="0" dirty="0">
                          <a:effectLst/>
                        </a:rPr>
                        <a:t>を叩くため、端末の負荷と帯域を消費。</a:t>
                      </a:r>
                      <a:endParaRPr lang="ja-JP" sz="1100" kern="100" dirty="0">
                        <a:effectLst/>
                        <a:latin typeface="游明朝" panose="02020400000000000000" pitchFamily="18" charset="-128"/>
                        <a:ea typeface="游明朝" panose="02020400000000000000" pitchFamily="18" charset="-128"/>
                        <a:cs typeface="Arial" panose="020B0604020202020204" pitchFamily="34" charset="0"/>
                      </a:endParaRPr>
                    </a:p>
                  </a:txBody>
                  <a:tcPr marL="9525" marR="9525" marT="9525" marB="9525" anchor="ctr"/>
                </a:tc>
                <a:extLst>
                  <a:ext uri="{0D108BD9-81ED-4DB2-BD59-A6C34878D82A}">
                    <a16:rowId xmlns:a16="http://schemas.microsoft.com/office/drawing/2014/main" val="1712869303"/>
                  </a:ext>
                </a:extLst>
              </a:tr>
            </a:tbl>
          </a:graphicData>
        </a:graphic>
      </p:graphicFrame>
    </p:spTree>
    <p:extLst>
      <p:ext uri="{BB962C8B-B14F-4D97-AF65-F5344CB8AC3E}">
        <p14:creationId xmlns:p14="http://schemas.microsoft.com/office/powerpoint/2010/main" val="20648157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29B5D-B244-57B1-2CF2-E2734C76D606}"/>
            </a:ext>
          </a:extLst>
        </p:cNvPr>
        <p:cNvGrpSpPr/>
        <p:nvPr/>
      </p:nvGrpSpPr>
      <p:grpSpPr>
        <a:xfrm>
          <a:off x="0" y="0"/>
          <a:ext cx="0" cy="0"/>
          <a:chOff x="0" y="0"/>
          <a:chExt cx="0" cy="0"/>
        </a:xfrm>
      </p:grpSpPr>
      <p:sp>
        <p:nvSpPr>
          <p:cNvPr id="8" name="タイトル 7">
            <a:extLst>
              <a:ext uri="{FF2B5EF4-FFF2-40B4-BE49-F238E27FC236}">
                <a16:creationId xmlns:a16="http://schemas.microsoft.com/office/drawing/2014/main" id="{608D9C75-936D-982F-822B-CA4208464FEB}"/>
              </a:ext>
            </a:extLst>
          </p:cNvPr>
          <p:cNvSpPr>
            <a:spLocks noGrp="1"/>
          </p:cNvSpPr>
          <p:nvPr>
            <p:ph type="title"/>
          </p:nvPr>
        </p:nvSpPr>
        <p:spPr>
          <a:xfrm>
            <a:off x="521207" y="448056"/>
            <a:ext cx="10085833" cy="640080"/>
          </a:xfrm>
        </p:spPr>
        <p:txBody>
          <a:bodyPr rtlCol="0">
            <a:noAutofit/>
          </a:bodyPr>
          <a:lstStyle/>
          <a:p>
            <a:r>
              <a:rPr lang="ja-JP" altLang="en-US" dirty="0"/>
              <a:t>備考 </a:t>
            </a:r>
            <a:r>
              <a:rPr lang="en-US" altLang="ja-JP" dirty="0"/>
              <a:t>Microsoft Graph API</a:t>
            </a:r>
            <a:r>
              <a:rPr lang="ja-JP" altLang="ja-JP" dirty="0"/>
              <a:t>の制限（スロットリング）</a:t>
            </a:r>
            <a:br>
              <a:rPr lang="en-US" altLang="ja-JP" dirty="0"/>
            </a:br>
            <a:r>
              <a:rPr lang="en-US" altLang="ja-JP" dirty="0">
                <a:solidFill>
                  <a:srgbClr val="FF0000"/>
                </a:solidFill>
              </a:rPr>
              <a:t>Error 429 </a:t>
            </a:r>
            <a:r>
              <a:rPr lang="en-US" altLang="ja-JP" b="1" dirty="0">
                <a:solidFill>
                  <a:srgbClr val="FF0000"/>
                </a:solidFill>
              </a:rPr>
              <a:t>Too Many Requests</a:t>
            </a:r>
            <a:endParaRPr lang="ja-JP" altLang="en-US"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38" name="コンテンツ プレースホルダー 17">
            <a:extLst>
              <a:ext uri="{FF2B5EF4-FFF2-40B4-BE49-F238E27FC236}">
                <a16:creationId xmlns:a16="http://schemas.microsoft.com/office/drawing/2014/main" id="{160359F5-C442-6B67-BBF3-19F0F0A5B967}"/>
              </a:ext>
            </a:extLst>
          </p:cNvPr>
          <p:cNvSpPr txBox="1">
            <a:spLocks/>
          </p:cNvSpPr>
          <p:nvPr/>
        </p:nvSpPr>
        <p:spPr>
          <a:xfrm>
            <a:off x="555089" y="1248508"/>
            <a:ext cx="11081821" cy="4819044"/>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00"/>
              </a:spcBef>
              <a:spcAft>
                <a:spcPts val="400"/>
              </a:spcAft>
              <a:buNone/>
            </a:pPr>
            <a:r>
              <a:rPr lang="en-US" altLang="ja-JP" sz="1000" dirty="0"/>
              <a:t>Microsoft Graph API</a:t>
            </a:r>
            <a:r>
              <a:rPr lang="ja-JP" altLang="ja-JP" sz="1000" dirty="0"/>
              <a:t>では、全体に影響するグローバル制限とサービスごとの固有制限が同時に適用されます。アプリまたはテナント単位での制限だけでなく、リクエストごと・エンドポイントごとの制約も多岐にわたります。</a:t>
            </a:r>
          </a:p>
          <a:p>
            <a:pPr marL="0" indent="0">
              <a:lnSpc>
                <a:spcPct val="100000"/>
              </a:lnSpc>
              <a:spcBef>
                <a:spcPts val="300"/>
              </a:spcBef>
              <a:spcAft>
                <a:spcPts val="400"/>
              </a:spcAft>
              <a:buNone/>
            </a:pPr>
            <a:r>
              <a:rPr lang="ja-JP" altLang="ja-JP" sz="1000" b="1" dirty="0"/>
              <a:t>グローバル・アプリ単位の制限</a:t>
            </a:r>
            <a:endParaRPr lang="ja-JP" altLang="ja-JP" sz="1000" dirty="0"/>
          </a:p>
          <a:p>
            <a:pPr lvl="0">
              <a:lnSpc>
                <a:spcPct val="100000"/>
              </a:lnSpc>
              <a:spcBef>
                <a:spcPts val="300"/>
              </a:spcBef>
              <a:spcAft>
                <a:spcPts val="400"/>
              </a:spcAft>
            </a:pPr>
            <a:r>
              <a:rPr lang="ja-JP" altLang="ja-JP" sz="1000" dirty="0"/>
              <a:t>すべてのテナントに対する</a:t>
            </a:r>
            <a:r>
              <a:rPr lang="en-US" altLang="ja-JP" sz="1000" dirty="0"/>
              <a:t>1</a:t>
            </a:r>
            <a:r>
              <a:rPr lang="ja-JP" altLang="ja-JP" sz="1000" dirty="0"/>
              <a:t>アプリからの総リクエスト数：</a:t>
            </a:r>
            <a:r>
              <a:rPr lang="en-US" altLang="ja-JP" sz="1000" dirty="0"/>
              <a:t>10</a:t>
            </a:r>
            <a:r>
              <a:rPr lang="ja-JP" altLang="ja-JP" sz="1000" dirty="0"/>
              <a:t>秒間に</a:t>
            </a:r>
            <a:r>
              <a:rPr lang="en-US" altLang="ja-JP" sz="1000" dirty="0"/>
              <a:t>130,000</a:t>
            </a:r>
            <a:r>
              <a:rPr lang="ja-JP" altLang="ja-JP" sz="1000" dirty="0"/>
              <a:t>件（</a:t>
            </a:r>
            <a:r>
              <a:rPr lang="en-US" altLang="ja-JP" sz="1000" dirty="0"/>
              <a:t>App ID</a:t>
            </a:r>
            <a:r>
              <a:rPr lang="ja-JP" altLang="ja-JP" sz="1000" dirty="0"/>
              <a:t>単位で、全インスタンス合算）。</a:t>
            </a:r>
          </a:p>
          <a:p>
            <a:pPr lvl="0">
              <a:lnSpc>
                <a:spcPct val="100000"/>
              </a:lnSpc>
              <a:spcBef>
                <a:spcPts val="300"/>
              </a:spcBef>
              <a:spcAft>
                <a:spcPts val="400"/>
              </a:spcAft>
            </a:pPr>
            <a:r>
              <a:rPr lang="ja-JP" altLang="ja-JP" sz="1000" dirty="0"/>
              <a:t>この制限はすべての</a:t>
            </a:r>
            <a:r>
              <a:rPr lang="en-US" altLang="ja-JP" sz="1000" dirty="0"/>
              <a:t>App</a:t>
            </a:r>
            <a:r>
              <a:rPr lang="ja-JP" altLang="ja-JP" sz="1000" dirty="0"/>
              <a:t>インスタンスから発生するリクエストの合計です。例えば</a:t>
            </a:r>
            <a:r>
              <a:rPr lang="en-US" altLang="ja-JP" sz="1000" dirty="0"/>
              <a:t>App</a:t>
            </a:r>
            <a:r>
              <a:rPr lang="ja-JP" altLang="ja-JP" sz="1000" dirty="0"/>
              <a:t>の複数インスタンスから発生するリクエストは総量でカウントされ、インスタンスごとに分離されません。</a:t>
            </a:r>
          </a:p>
          <a:p>
            <a:pPr marL="0" indent="0">
              <a:lnSpc>
                <a:spcPct val="100000"/>
              </a:lnSpc>
              <a:spcBef>
                <a:spcPts val="300"/>
              </a:spcBef>
              <a:spcAft>
                <a:spcPts val="400"/>
              </a:spcAft>
              <a:buNone/>
            </a:pPr>
            <a:r>
              <a:rPr lang="ja-JP" altLang="ja-JP" sz="1000" b="1" dirty="0"/>
              <a:t>テナント・チーム・グループレベルの例</a:t>
            </a:r>
            <a:endParaRPr lang="ja-JP" altLang="ja-JP" sz="1000" dirty="0"/>
          </a:p>
          <a:p>
            <a:pPr lvl="0">
              <a:lnSpc>
                <a:spcPct val="100000"/>
              </a:lnSpc>
              <a:spcBef>
                <a:spcPts val="300"/>
              </a:spcBef>
              <a:spcAft>
                <a:spcPts val="400"/>
              </a:spcAft>
            </a:pPr>
            <a:r>
              <a:rPr lang="en-US" altLang="ja-JP" sz="1000" dirty="0"/>
              <a:t>Microsoft Teams API</a:t>
            </a:r>
            <a:r>
              <a:rPr lang="ja-JP" altLang="ja-JP" sz="1000" dirty="0"/>
              <a:t>では、特定のチームごとにアプリごと</a:t>
            </a:r>
            <a:r>
              <a:rPr lang="en-US" altLang="ja-JP" sz="1000" dirty="0"/>
              <a:t>1</a:t>
            </a:r>
            <a:r>
              <a:rPr lang="ja-JP" altLang="ja-JP" sz="1000" dirty="0"/>
              <a:t>秒間に最大</a:t>
            </a:r>
            <a:r>
              <a:rPr lang="en-US" altLang="ja-JP" sz="1000" dirty="0"/>
              <a:t>4</a:t>
            </a:r>
            <a:r>
              <a:rPr lang="ja-JP" altLang="ja-JP" sz="1000" dirty="0"/>
              <a:t>リクエスト。</a:t>
            </a:r>
          </a:p>
          <a:p>
            <a:pPr lvl="0">
              <a:lnSpc>
                <a:spcPct val="100000"/>
              </a:lnSpc>
              <a:spcBef>
                <a:spcPts val="300"/>
              </a:spcBef>
              <a:spcAft>
                <a:spcPts val="400"/>
              </a:spcAft>
            </a:pPr>
            <a:r>
              <a:rPr lang="ja-JP" altLang="ja-JP" sz="1000" dirty="0"/>
              <a:t>特定のチャネル・チャットに対しては、アプリごとテナントごとに</a:t>
            </a:r>
            <a:r>
              <a:rPr lang="en-US" altLang="ja-JP" sz="1000" dirty="0"/>
              <a:t>1</a:t>
            </a:r>
            <a:r>
              <a:rPr lang="ja-JP" altLang="ja-JP" sz="1000" dirty="0"/>
              <a:t>秒間に</a:t>
            </a:r>
            <a:r>
              <a:rPr lang="en-US" altLang="ja-JP" sz="1000" dirty="0"/>
              <a:t>1</a:t>
            </a:r>
            <a:r>
              <a:rPr lang="ja-JP" altLang="ja-JP" sz="1000" dirty="0"/>
              <a:t>リクエストなど、エンドポイントやリソース種別に応じてさらに厳しい制約があります。</a:t>
            </a:r>
          </a:p>
          <a:p>
            <a:pPr marL="0" indent="0">
              <a:lnSpc>
                <a:spcPct val="100000"/>
              </a:lnSpc>
              <a:spcBef>
                <a:spcPts val="300"/>
              </a:spcBef>
              <a:spcAft>
                <a:spcPts val="400"/>
              </a:spcAft>
              <a:buNone/>
            </a:pPr>
            <a:r>
              <a:rPr lang="ja-JP" altLang="ja-JP" sz="1000" b="1" dirty="0"/>
              <a:t>サービスごとの主な制限例</a:t>
            </a:r>
            <a:endParaRPr lang="ja-JP" altLang="ja-JP" sz="1000" dirty="0"/>
          </a:p>
          <a:p>
            <a:pPr lvl="0">
              <a:lnSpc>
                <a:spcPct val="100000"/>
              </a:lnSpc>
              <a:spcBef>
                <a:spcPts val="300"/>
              </a:spcBef>
              <a:spcAft>
                <a:spcPts val="400"/>
              </a:spcAft>
            </a:pPr>
            <a:r>
              <a:rPr lang="en-US" altLang="ja-JP" sz="1000" dirty="0"/>
              <a:t>ID</a:t>
            </a:r>
            <a:r>
              <a:rPr lang="ja-JP" altLang="ja-JP" sz="1000" dirty="0"/>
              <a:t>とアクセスレポート（</a:t>
            </a:r>
            <a:r>
              <a:rPr lang="en-US" altLang="ja-JP" sz="1000" dirty="0" err="1"/>
              <a:t>SignInActivity</a:t>
            </a:r>
            <a:r>
              <a:rPr lang="ja-JP" altLang="ja-JP" sz="1000" dirty="0"/>
              <a:t>含む）：アプリ単位</a:t>
            </a:r>
            <a:r>
              <a:rPr lang="en-US" altLang="ja-JP" sz="1000" dirty="0"/>
              <a:t> 10</a:t>
            </a:r>
            <a:r>
              <a:rPr lang="ja-JP" altLang="ja-JP" sz="1000" dirty="0"/>
              <a:t>秒間に</a:t>
            </a:r>
            <a:r>
              <a:rPr lang="en-US" altLang="ja-JP" sz="1000" dirty="0"/>
              <a:t>5</a:t>
            </a:r>
            <a:r>
              <a:rPr lang="ja-JP" altLang="ja-JP" sz="1000" dirty="0"/>
              <a:t>リクエスト、または</a:t>
            </a:r>
            <a:r>
              <a:rPr lang="en-US" altLang="ja-JP" sz="1000" dirty="0"/>
              <a:t>1</a:t>
            </a:r>
            <a:r>
              <a:rPr lang="ja-JP" altLang="ja-JP" sz="1000" dirty="0"/>
              <a:t>分間に</a:t>
            </a:r>
            <a:r>
              <a:rPr lang="en-US" altLang="ja-JP" sz="1000" dirty="0"/>
              <a:t>10</a:t>
            </a:r>
            <a:r>
              <a:rPr lang="ja-JP" altLang="ja-JP" sz="1000" dirty="0"/>
              <a:t>リクエストなど。サインインアクティビティ取得（</a:t>
            </a:r>
            <a:r>
              <a:rPr lang="en-US" altLang="ja-JP" sz="1000" dirty="0"/>
              <a:t>$select=</a:t>
            </a:r>
            <a:r>
              <a:rPr lang="en-US" altLang="ja-JP" sz="1000" dirty="0" err="1"/>
              <a:t>signInActivity</a:t>
            </a:r>
            <a:r>
              <a:rPr lang="ja-JP" altLang="ja-JP" sz="1000" dirty="0"/>
              <a:t>）は特に厳しく、</a:t>
            </a:r>
            <a:r>
              <a:rPr lang="en-US" altLang="ja-JP" sz="1000" dirty="0"/>
              <a:t>1</a:t>
            </a:r>
            <a:r>
              <a:rPr lang="ja-JP" altLang="ja-JP" sz="1000" dirty="0"/>
              <a:t>分間に</a:t>
            </a:r>
            <a:r>
              <a:rPr lang="en-US" altLang="ja-JP" sz="1000" dirty="0"/>
              <a:t>10</a:t>
            </a:r>
            <a:r>
              <a:rPr lang="ja-JP" altLang="ja-JP" sz="1000" dirty="0"/>
              <a:t>件まで。</a:t>
            </a:r>
          </a:p>
          <a:p>
            <a:pPr lvl="0">
              <a:lnSpc>
                <a:spcPct val="100000"/>
              </a:lnSpc>
              <a:spcBef>
                <a:spcPts val="300"/>
              </a:spcBef>
              <a:spcAft>
                <a:spcPts val="400"/>
              </a:spcAft>
            </a:pPr>
            <a:r>
              <a:rPr lang="ja-JP" altLang="ja-JP" sz="1000" dirty="0"/>
              <a:t>ファイル・リスト（</a:t>
            </a:r>
            <a:r>
              <a:rPr lang="en-US" altLang="ja-JP" sz="1000" dirty="0"/>
              <a:t>OneDrive/SharePoint</a:t>
            </a:r>
            <a:r>
              <a:rPr lang="ja-JP" altLang="ja-JP" sz="1000" dirty="0"/>
              <a:t>含む）：サービス独自の厳しい制限あり。</a:t>
            </a:r>
          </a:p>
          <a:p>
            <a:pPr marL="0" indent="0">
              <a:lnSpc>
                <a:spcPct val="100000"/>
              </a:lnSpc>
              <a:spcBef>
                <a:spcPts val="300"/>
              </a:spcBef>
              <a:spcAft>
                <a:spcPts val="400"/>
              </a:spcAft>
              <a:buNone/>
            </a:pPr>
            <a:r>
              <a:rPr lang="en-US" altLang="ja-JP" sz="1000" b="1" dirty="0"/>
              <a:t>Graph Search</a:t>
            </a:r>
            <a:r>
              <a:rPr lang="zh-CN" altLang="ja-JP" sz="1000" b="1" dirty="0"/>
              <a:t>エンドポイント</a:t>
            </a:r>
            <a:endParaRPr lang="ja-JP" altLang="ja-JP" sz="1000" dirty="0"/>
          </a:p>
          <a:p>
            <a:pPr lvl="0">
              <a:lnSpc>
                <a:spcPct val="100000"/>
              </a:lnSpc>
              <a:spcBef>
                <a:spcPts val="300"/>
              </a:spcBef>
              <a:spcAft>
                <a:spcPts val="400"/>
              </a:spcAft>
            </a:pPr>
            <a:r>
              <a:rPr lang="ja-JP" altLang="ja-JP" sz="1000" dirty="0"/>
              <a:t>一般的な「</a:t>
            </a:r>
            <a:r>
              <a:rPr lang="en-US" altLang="ja-JP" sz="1000" dirty="0"/>
              <a:t>Search</a:t>
            </a:r>
            <a:r>
              <a:rPr lang="ja-JP" altLang="ja-JP" sz="1000" dirty="0"/>
              <a:t>」系エンドポイントも上記グローバル制限に含まれます。専用のより厳しいリミットが設定されている場合は仕様書に個別記載されているので、利用</a:t>
            </a:r>
            <a:r>
              <a:rPr lang="en-US" altLang="ja-JP" sz="1000" dirty="0"/>
              <a:t>API</a:t>
            </a:r>
            <a:r>
              <a:rPr lang="ja-JP" altLang="ja-JP" sz="1000" dirty="0"/>
              <a:t>ごとに必ず公式ドキュメントの該当ページを確認してください。</a:t>
            </a:r>
          </a:p>
          <a:p>
            <a:pPr>
              <a:lnSpc>
                <a:spcPct val="100000"/>
              </a:lnSpc>
              <a:spcBef>
                <a:spcPts val="300"/>
              </a:spcBef>
              <a:spcAft>
                <a:spcPts val="400"/>
              </a:spcAft>
            </a:pPr>
            <a:r>
              <a:rPr lang="ja-JP" altLang="ja-JP" sz="1000" b="1" dirty="0"/>
              <a:t>リクエストカウントとスロットリング</a:t>
            </a:r>
            <a:endParaRPr lang="ja-JP" altLang="ja-JP" sz="1000" dirty="0"/>
          </a:p>
          <a:p>
            <a:pPr lvl="0">
              <a:lnSpc>
                <a:spcPct val="100000"/>
              </a:lnSpc>
              <a:spcBef>
                <a:spcPts val="300"/>
              </a:spcBef>
              <a:spcAft>
                <a:spcPts val="400"/>
              </a:spcAft>
            </a:pPr>
            <a:r>
              <a:rPr lang="zh-CN" altLang="ja-JP" sz="1000" dirty="0"/>
              <a:t>どの制限に先に達しても</a:t>
            </a:r>
            <a:r>
              <a:rPr lang="en-US" altLang="ja-JP" sz="1000" b="1" dirty="0">
                <a:solidFill>
                  <a:srgbClr val="FF0000"/>
                </a:solidFill>
              </a:rPr>
              <a:t>429 Too Many Requests</a:t>
            </a:r>
            <a:r>
              <a:rPr lang="zh-CN" altLang="ja-JP" sz="1000" dirty="0"/>
              <a:t>で調整されます。</a:t>
            </a:r>
            <a:endParaRPr lang="ja-JP" altLang="ja-JP" sz="1000" dirty="0"/>
          </a:p>
          <a:p>
            <a:pPr lvl="0">
              <a:lnSpc>
                <a:spcPct val="100000"/>
              </a:lnSpc>
              <a:spcBef>
                <a:spcPts val="300"/>
              </a:spcBef>
              <a:spcAft>
                <a:spcPts val="400"/>
              </a:spcAft>
            </a:pPr>
            <a:r>
              <a:rPr lang="ja-JP" altLang="ja-JP" sz="1000" dirty="0"/>
              <a:t>リソース単位（</a:t>
            </a:r>
            <a:r>
              <a:rPr lang="en-US" altLang="ja-JP" sz="1000" dirty="0"/>
              <a:t>App</a:t>
            </a:r>
            <a:r>
              <a:rPr lang="ja-JP" altLang="ja-JP" sz="1000" dirty="0"/>
              <a:t>単位、</a:t>
            </a:r>
            <a:r>
              <a:rPr lang="en-US" altLang="ja-JP" sz="1000" dirty="0"/>
              <a:t>App-</a:t>
            </a:r>
            <a:r>
              <a:rPr lang="ja-JP" altLang="ja-JP" sz="1000" dirty="0"/>
              <a:t>テナントペア単位、テナント単位など）、リクエスト種別ごと（</a:t>
            </a:r>
            <a:r>
              <a:rPr lang="en-US" altLang="ja-JP" sz="1000" dirty="0"/>
              <a:t>Read/Write/All</a:t>
            </a:r>
            <a:r>
              <a:rPr lang="ja-JP" altLang="ja-JP" sz="1000" dirty="0"/>
              <a:t>）、サービスごとに独立した制約が存在します。</a:t>
            </a:r>
          </a:p>
          <a:p>
            <a:pPr>
              <a:lnSpc>
                <a:spcPct val="100000"/>
              </a:lnSpc>
              <a:spcBef>
                <a:spcPts val="300"/>
              </a:spcBef>
              <a:spcAft>
                <a:spcPts val="400"/>
              </a:spcAft>
            </a:pPr>
            <a:r>
              <a:rPr lang="ja-JP" altLang="ja-JP" sz="1000" dirty="0"/>
              <a:t>通常は最も早く到達した制限が発動します。</a:t>
            </a:r>
            <a:br>
              <a:rPr lang="en-US" altLang="ja-JP" sz="1000" dirty="0"/>
            </a:br>
            <a:br>
              <a:rPr lang="en-US" altLang="ja-JP" sz="1000" dirty="0"/>
            </a:br>
            <a:endParaRPr lang="en-US" altLang="ja-JP" sz="1000" dirty="0"/>
          </a:p>
          <a:p>
            <a:pPr marL="0" indent="0">
              <a:lnSpc>
                <a:spcPct val="100000"/>
              </a:lnSpc>
              <a:spcBef>
                <a:spcPts val="300"/>
              </a:spcBef>
              <a:spcAft>
                <a:spcPts val="400"/>
              </a:spcAft>
              <a:buNone/>
            </a:pPr>
            <a:r>
              <a:rPr lang="ja-JP" altLang="ja-JP" dirty="0"/>
              <a:t>詳細なレート制限情報・最新版は必ず</a:t>
            </a:r>
            <a:r>
              <a:rPr lang="en-US" altLang="ja-JP" u="sng" dirty="0" err="1">
                <a:hlinkClick r:id="rId3"/>
              </a:rPr>
              <a:t>Microsoft公式ドキュメント（サービス固有の調整制限「throttling-limits</a:t>
            </a:r>
            <a:r>
              <a:rPr lang="en-US" altLang="ja-JP" u="sng" dirty="0">
                <a:hlinkClick r:id="rId3"/>
              </a:rPr>
              <a:t>」）</a:t>
            </a:r>
            <a:r>
              <a:rPr lang="ja-JP" altLang="ja-JP" dirty="0"/>
              <a:t>を参照してください。</a:t>
            </a:r>
            <a:endParaRPr lang="ja-JP" altLang="en-US" sz="700" dirty="0">
              <a:latin typeface="Meiryo UI" panose="020B0604030504040204" pitchFamily="34" charset="-128"/>
              <a:ea typeface="Meiryo UI" panose="020B0604030504040204" pitchFamily="34" charset="-128"/>
              <a:cs typeface="Meiryo UI" panose="020B0604030504040204" pitchFamily="34" charset="-128"/>
            </a:endParaRPr>
          </a:p>
        </p:txBody>
      </p:sp>
    </p:spTree>
    <p:extLst>
      <p:ext uri="{BB962C8B-B14F-4D97-AF65-F5344CB8AC3E}">
        <p14:creationId xmlns:p14="http://schemas.microsoft.com/office/powerpoint/2010/main" val="1819983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ユーザー設定">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0957322_TF10001108_Win32" id="{08D89365-2E4C-432D-9349-8DF9B80AEEA1}" vid="{010FF314-90DF-4A21-BD0D-ADCBA34234AC}"/>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{82ACCDC8-D61A-4947-8970-DF4FD93E069F}TF2989475c-5427-4edb-9ec1-00f4ce72165be1a35dbe_win32-f65d95296286</Template>
  <TotalTime>41</TotalTime>
  <Words>1202</Words>
  <Application>Microsoft Office PowerPoint</Application>
  <PresentationFormat>ワイド画面</PresentationFormat>
  <Paragraphs>69</Paragraphs>
  <Slides>4</Slides>
  <Notes>4</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4</vt:i4>
      </vt:variant>
    </vt:vector>
  </HeadingPairs>
  <TitlesOfParts>
    <vt:vector size="8" baseType="lpstr">
      <vt:lpstr>Meiryo UI</vt:lpstr>
      <vt:lpstr>游明朝</vt:lpstr>
      <vt:lpstr>Arial</vt:lpstr>
      <vt:lpstr>ユーザー設定</vt:lpstr>
      <vt:lpstr>OneDrive⇒SharePointへファイルコピー時の欠落原因分析とソリューション</vt:lpstr>
      <vt:lpstr>背景と原因分析</vt:lpstr>
      <vt:lpstr>ソリューション</vt:lpstr>
      <vt:lpstr>備考 Microsoft Graph APIの制限（スロットリング） Error 429 Too Many Requests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zhendong（Hotmail） He</dc:creator>
  <cp:keywords/>
  <cp:lastModifiedBy>he zhendong/0494938/何　振東</cp:lastModifiedBy>
  <cp:revision>4</cp:revision>
  <dcterms:created xsi:type="dcterms:W3CDTF">2025-12-19T12:57:56Z</dcterms:created>
  <dcterms:modified xsi:type="dcterms:W3CDTF">2025-12-19T14:36:58Z</dcterms:modified>
  <cp:version/>
</cp:coreProperties>
</file>