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37"/>
  </p:notesMasterIdLst>
  <p:handoutMasterIdLst>
    <p:handoutMasterId r:id="rId38"/>
  </p:handoutMasterIdLst>
  <p:sldIdLst>
    <p:sldId id="16772939" r:id="rId10"/>
    <p:sldId id="16776365" r:id="rId11"/>
    <p:sldId id="16776366" r:id="rId12"/>
    <p:sldId id="16776367" r:id="rId13"/>
    <p:sldId id="16776368" r:id="rId14"/>
    <p:sldId id="16776409" r:id="rId15"/>
    <p:sldId id="16776410" r:id="rId16"/>
    <p:sldId id="16776411" r:id="rId17"/>
    <p:sldId id="16776369" r:id="rId18"/>
    <p:sldId id="16776413" r:id="rId19"/>
    <p:sldId id="16776371" r:id="rId20"/>
    <p:sldId id="16776406" r:id="rId21"/>
    <p:sldId id="16776405" r:id="rId22"/>
    <p:sldId id="16776373" r:id="rId23"/>
    <p:sldId id="16776407" r:id="rId24"/>
    <p:sldId id="16776376" r:id="rId25"/>
    <p:sldId id="16776408" r:id="rId26"/>
    <p:sldId id="16776380" r:id="rId27"/>
    <p:sldId id="16776381" r:id="rId28"/>
    <p:sldId id="16776382" r:id="rId29"/>
    <p:sldId id="16776383" r:id="rId30"/>
    <p:sldId id="16776415" r:id="rId31"/>
    <p:sldId id="16776385" r:id="rId32"/>
    <p:sldId id="16776386" r:id="rId33"/>
    <p:sldId id="16776387" r:id="rId34"/>
    <p:sldId id="16776388" r:id="rId35"/>
    <p:sldId id="16776391" r:id="rId36"/>
  </p:sldIdLst>
  <p:sldSz cx="12192000" cy="6858000"/>
  <p:notesSz cx="6858000" cy="9144000"/>
  <p:custDataLst>
    <p:tags r:id="rId3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409"/>
            <p14:sldId id="16776410"/>
            <p14:sldId id="16776411"/>
            <p14:sldId id="16776369"/>
            <p14:sldId id="16776413"/>
            <p14:sldId id="16776371"/>
            <p14:sldId id="16776406"/>
            <p14:sldId id="16776405"/>
            <p14:sldId id="16776373"/>
            <p14:sldId id="16776407"/>
            <p14:sldId id="16776376"/>
            <p14:sldId id="16776408"/>
            <p14:sldId id="16776380"/>
            <p14:sldId id="16776381"/>
            <p14:sldId id="16776382"/>
            <p14:sldId id="16776383"/>
            <p14:sldId id="16776415"/>
            <p14:sldId id="16776385"/>
            <p14:sldId id="16776386"/>
            <p14:sldId id="16776387"/>
            <p14:sldId id="16776388"/>
            <p14:sldId id="167763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9718" autoAdjust="0"/>
  </p:normalViewPr>
  <p:slideViewPr>
    <p:cSldViewPr snapToGrid="0">
      <p:cViewPr varScale="1">
        <p:scale>
          <a:sx n="129" d="100"/>
          <a:sy n="129" d="100"/>
        </p:scale>
        <p:origin x="106" y="6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tags" Target="tags/tag1.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0" Type="http://schemas.openxmlformats.org/officeDocument/2006/relationships/slide" Target="slides/slide11.xml"/><Relationship Id="rId29" Type="http://schemas.openxmlformats.org/officeDocument/2006/relationships/slide" Target="slides/slide20.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tableStyles" Target="tableStyles.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2025/10/7</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60C2-EF7E-723B-FD74-5CBE546F59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A7CF87-EC32-2ED9-C501-903291220D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037AC-D9A6-D8E9-4FF0-DBCFC9B6E2E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B20D3BE-DA1B-836B-3A38-DBCC771C391A}"/>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754331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fontAlgn="ctr"/>
            <a:r>
              <a:rPr lang="de-DE" altLang="ja-JP" dirty="0"/>
              <a:t>Can view </a:t>
            </a:r>
            <a:r>
              <a:rPr lang="ja-JP" altLang="en-US" dirty="0"/>
              <a:t>⇒　閲覧 </a:t>
            </a:r>
            <a:r>
              <a:rPr lang="en-US" altLang="ja-JP" dirty="0"/>
              <a:t>(</a:t>
            </a:r>
            <a:r>
              <a:rPr lang="de-DE" altLang="ja-JP" dirty="0"/>
              <a:t>Read)</a:t>
            </a:r>
            <a:r>
              <a:rPr lang="ja-JP" altLang="en-US" dirty="0"/>
              <a:t>　⇒　　サイトやドキュメントを</a:t>
            </a:r>
            <a:r>
              <a:rPr lang="ja-JP" altLang="en-US" b="1" dirty="0"/>
              <a:t>表示</a:t>
            </a:r>
            <a:r>
              <a:rPr lang="ja-JP" altLang="en-US" dirty="0"/>
              <a:t>できます。ファイルを開いて読むことはできますが、内容を変更したり、新しいアイテムを追加したりすることはできません。</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download</a:t>
            </a:r>
            <a:r>
              <a:rPr lang="ja-JP" altLang="en-US" dirty="0"/>
              <a:t>　⇒　閲覧 </a:t>
            </a:r>
            <a:r>
              <a:rPr lang="en-US" altLang="ja-JP" dirty="0"/>
              <a:t>(</a:t>
            </a:r>
            <a:r>
              <a:rPr lang="de-DE" altLang="ja-JP" dirty="0"/>
              <a:t>Read)</a:t>
            </a:r>
            <a:r>
              <a:rPr lang="ja-JP" altLang="en-US" dirty="0"/>
              <a:t>　⇒　　「閲覧」権限の一部として、ファイルを開くだけでなく、</a:t>
            </a:r>
            <a:r>
              <a:rPr lang="ja-JP" altLang="en-US" b="1" dirty="0"/>
              <a:t>自分のローカルデバイスにコピーとしてダウンロード</a:t>
            </a:r>
            <a:r>
              <a:rPr lang="ja-JP" altLang="en-US" dirty="0"/>
              <a:t>できます。</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review </a:t>
            </a:r>
            <a:r>
              <a:rPr lang="ja-JP" altLang="en-US" dirty="0"/>
              <a:t>⇒　</a:t>
            </a:r>
            <a:r>
              <a:rPr lang="ja-JP" altLang="en-US" b="1" dirty="0"/>
              <a:t>投稿 </a:t>
            </a:r>
            <a:r>
              <a:rPr lang="en-US" altLang="ja-JP" b="1" dirty="0"/>
              <a:t>(Contribute)</a:t>
            </a:r>
            <a:r>
              <a:rPr lang="ja-JP" altLang="en-US" dirty="0"/>
              <a:t> の拡張、または </a:t>
            </a:r>
            <a:r>
              <a:rPr lang="ja-JP" altLang="en-US" b="1" dirty="0"/>
              <a:t>カスタム　</a:t>
            </a:r>
            <a:r>
              <a:rPr lang="ja-JP" altLang="en-US" dirty="0"/>
              <a:t>⇒　　ファイルを</a:t>
            </a:r>
            <a:r>
              <a:rPr lang="ja-JP" altLang="en-US" b="1" dirty="0"/>
              <a:t>閲覧</a:t>
            </a:r>
            <a:r>
              <a:rPr lang="ja-JP" altLang="en-US" dirty="0"/>
              <a:t>し、</a:t>
            </a:r>
            <a:r>
              <a:rPr lang="ja-JP" altLang="en-US" b="1" dirty="0"/>
              <a:t>コメントを追加</a:t>
            </a:r>
            <a:r>
              <a:rPr lang="ja-JP" altLang="en-US" dirty="0"/>
              <a:t>したり、ドキュメントの</a:t>
            </a:r>
            <a:r>
              <a:rPr lang="ja-JP" altLang="en-US" b="1" dirty="0"/>
              <a:t>承認プロセスに参加</a:t>
            </a:r>
            <a:r>
              <a:rPr lang="ja-JP" altLang="en-US" dirty="0"/>
              <a:t>したりできます。コンテンツの</a:t>
            </a:r>
            <a:r>
              <a:rPr lang="ja-JP" altLang="en-US" b="1" dirty="0"/>
              <a:t>直接的な編集・削除は含まない</a:t>
            </a:r>
            <a:r>
              <a:rPr lang="ja-JP" altLang="en-US" dirty="0"/>
              <a:t>ことが一般的です。</a:t>
            </a:r>
            <a:endParaRPr lang="en-US" altLang="ja-JP" dirty="0"/>
          </a:p>
          <a:p>
            <a:r>
              <a:rPr lang="de-DE" altLang="ja-JP" dirty="0"/>
              <a:t>Can edit</a:t>
            </a:r>
            <a:r>
              <a:rPr lang="ja-JP" altLang="en-US" dirty="0"/>
              <a:t>　⇒　編集 </a:t>
            </a:r>
            <a:r>
              <a:rPr lang="en-US" altLang="ja-JP" dirty="0"/>
              <a:t>(</a:t>
            </a:r>
            <a:r>
              <a:rPr lang="de-DE" altLang="ja-JP" dirty="0"/>
              <a:t>Edit)</a:t>
            </a:r>
            <a:r>
              <a:rPr lang="ja-JP" altLang="en-US" dirty="0"/>
              <a:t>　⇒　　</a:t>
            </a:r>
            <a:r>
              <a:rPr lang="ja-JP" altLang="en-US" b="1" dirty="0"/>
              <a:t>アイテムの追加、編集、削除</a:t>
            </a:r>
            <a:r>
              <a:rPr lang="ja-JP" altLang="en-US" dirty="0"/>
              <a:t>ができます。ドキュメントライブラリ内のファイルを直接修正したり、リストに新しいアイテムを追加したりできます。</a:t>
            </a:r>
            <a:br>
              <a:rPr lang="en-US" altLang="ja-JP" dirty="0"/>
            </a:br>
            <a:br>
              <a:rPr lang="en-US" altLang="ja-JP" dirty="0"/>
            </a:br>
            <a:br>
              <a:rPr lang="en-US" altLang="ja-JP" dirty="0"/>
            </a:br>
            <a:r>
              <a:rPr lang="en-US" altLang="ja-JP" b="1" dirty="0"/>
              <a:t>1. </a:t>
            </a:r>
            <a:r>
              <a:rPr lang="ja-JP" altLang="en-US" b="1" dirty="0"/>
              <a:t>閲覧 </a:t>
            </a:r>
            <a:r>
              <a:rPr lang="en-US" altLang="ja-JP" b="1" dirty="0"/>
              <a:t>(Read) </a:t>
            </a:r>
            <a:r>
              <a:rPr lang="ja-JP" altLang="en-US" b="1" dirty="0"/>
              <a:t>権限：</a:t>
            </a:r>
            <a:r>
              <a:rPr lang="en-US" altLang="ja-JP" b="1" dirty="0"/>
              <a:t>Can view, Can download</a:t>
            </a:r>
          </a:p>
          <a:p>
            <a:r>
              <a:rPr lang="ja-JP" altLang="en-US" dirty="0"/>
              <a:t>これが最も制限された権限レベルです。</a:t>
            </a:r>
          </a:p>
          <a:p>
            <a:r>
              <a:rPr lang="ja-JP" altLang="en-US" b="1" dirty="0"/>
              <a:t>できること</a:t>
            </a:r>
            <a:r>
              <a:rPr lang="en-US" altLang="ja-JP" b="1" dirty="0"/>
              <a:t>:</a:t>
            </a:r>
            <a:endParaRPr lang="ja-JP" altLang="en-US" dirty="0"/>
          </a:p>
          <a:p>
            <a:pPr lvl="1"/>
            <a:r>
              <a:rPr lang="ja-JP" altLang="en-US" b="1" dirty="0"/>
              <a:t>ファイルの表示</a:t>
            </a:r>
            <a:r>
              <a:rPr lang="en-US" altLang="ja-JP" b="1" dirty="0"/>
              <a:t>/</a:t>
            </a:r>
            <a:r>
              <a:rPr lang="ja-JP" altLang="en-US" b="1" dirty="0"/>
              <a:t>プレビュー </a:t>
            </a:r>
            <a:r>
              <a:rPr lang="en-US" altLang="ja-JP" b="1" dirty="0"/>
              <a:t>(Can view):</a:t>
            </a:r>
            <a:r>
              <a:rPr lang="ja-JP" altLang="en-US" dirty="0"/>
              <a:t> ドキュメントやリストアイテムの内容を見ることができます。</a:t>
            </a:r>
          </a:p>
          <a:p>
            <a:pPr lvl="1"/>
            <a:r>
              <a:rPr lang="ja-JP" altLang="en-US" b="1" dirty="0"/>
              <a:t>ダウンロード </a:t>
            </a:r>
            <a:r>
              <a:rPr lang="en-US" altLang="ja-JP" b="1" dirty="0"/>
              <a:t>(Can download):</a:t>
            </a:r>
            <a:r>
              <a:rPr lang="ja-JP" altLang="en-US" dirty="0"/>
              <a:t> ファイルをローカルに保存できます。</a:t>
            </a:r>
          </a:p>
          <a:p>
            <a:pPr lvl="1"/>
            <a:r>
              <a:rPr lang="ja-JP" altLang="en-US" b="1" dirty="0"/>
              <a:t>バージョン履歴の表示</a:t>
            </a:r>
            <a:r>
              <a:rPr lang="en-US" altLang="ja-JP" b="1" dirty="0"/>
              <a:t>:</a:t>
            </a:r>
            <a:r>
              <a:rPr lang="ja-JP" altLang="en-US" dirty="0"/>
              <a:t> アイテムの変更履歴を見ることができます。</a:t>
            </a:r>
          </a:p>
          <a:p>
            <a:r>
              <a:rPr lang="ja-JP" altLang="en-US" b="1" dirty="0"/>
              <a:t>できないこと</a:t>
            </a:r>
            <a:r>
              <a:rPr lang="en-US" altLang="ja-JP" b="1" dirty="0"/>
              <a:t>:</a:t>
            </a:r>
            <a:endParaRPr lang="ja-JP" altLang="en-US" dirty="0"/>
          </a:p>
          <a:p>
            <a:pPr lvl="1"/>
            <a:r>
              <a:rPr lang="ja-JP" altLang="en-US" b="1" dirty="0"/>
              <a:t>ファイルの変更、編集、削除、名前の変更。</a:t>
            </a:r>
            <a:endParaRPr lang="ja-JP" altLang="en-US" dirty="0"/>
          </a:p>
          <a:p>
            <a:pPr lvl="1"/>
            <a:r>
              <a:rPr lang="ja-JP" altLang="en-US" b="1" dirty="0"/>
              <a:t>新しいファイルの追加。</a:t>
            </a:r>
            <a:endParaRPr lang="ja-JP" altLang="en-US" dirty="0"/>
          </a:p>
          <a:p>
            <a:r>
              <a:rPr lang="en-US" altLang="ja-JP" b="1" dirty="0"/>
              <a:t>2. </a:t>
            </a:r>
            <a:r>
              <a:rPr lang="ja-JP" altLang="en-US" b="1" dirty="0"/>
              <a:t>編集 </a:t>
            </a:r>
            <a:r>
              <a:rPr lang="en-US" altLang="ja-JP" b="1" dirty="0"/>
              <a:t>(Edit) </a:t>
            </a:r>
            <a:r>
              <a:rPr lang="ja-JP" altLang="en-US" b="1" dirty="0"/>
              <a:t>権限：</a:t>
            </a:r>
            <a:r>
              <a:rPr lang="en-US" altLang="ja-JP" b="1" dirty="0"/>
              <a:t>Can edit</a:t>
            </a:r>
          </a:p>
          <a:p>
            <a:r>
              <a:rPr lang="ja-JP" altLang="en-US" dirty="0"/>
              <a:t>これはサイトの日常的なコンテンツ管理に最も使われる権限です。</a:t>
            </a:r>
          </a:p>
          <a:p>
            <a:r>
              <a:rPr lang="ja-JP" altLang="en-US" b="1" dirty="0"/>
              <a:t>できること</a:t>
            </a:r>
            <a:r>
              <a:rPr lang="en-US" altLang="ja-JP" b="1" dirty="0"/>
              <a:t>:</a:t>
            </a:r>
            <a:endParaRPr lang="ja-JP" altLang="en-US" dirty="0"/>
          </a:p>
          <a:p>
            <a:pPr lvl="1"/>
            <a:r>
              <a:rPr lang="ja-JP" altLang="en-US" dirty="0"/>
              <a:t>「閲覧」権限のすべて。</a:t>
            </a:r>
          </a:p>
          <a:p>
            <a:pPr lvl="1"/>
            <a:r>
              <a:rPr lang="ja-JP" altLang="en-US" b="1" dirty="0"/>
              <a:t>アイテムの追加、変更、削除 </a:t>
            </a:r>
            <a:r>
              <a:rPr lang="en-US" altLang="ja-JP" b="1" dirty="0"/>
              <a:t>(Can edit):</a:t>
            </a:r>
            <a:r>
              <a:rPr lang="ja-JP" altLang="en-US" dirty="0"/>
              <a:t> ドキュメントの内容を修正したり、ライブラリから削除したり、リストに新しい項目を追加したりできます。</a:t>
            </a:r>
          </a:p>
          <a:p>
            <a:pPr lvl="1"/>
            <a:r>
              <a:rPr lang="ja-JP" altLang="en-US" b="1" dirty="0"/>
              <a:t>自分の</a:t>
            </a:r>
            <a:r>
              <a:rPr lang="ja-JP" altLang="en-US" dirty="0"/>
              <a:t>アイテムを管理（承認プロセスをバイパスして公開など）。</a:t>
            </a:r>
          </a:p>
          <a:p>
            <a:r>
              <a:rPr lang="en-US" altLang="ja-JP" b="1" dirty="0"/>
              <a:t>3. </a:t>
            </a:r>
            <a:r>
              <a:rPr lang="ja-JP" altLang="en-US" b="1" dirty="0"/>
              <a:t>レビュー </a:t>
            </a:r>
            <a:r>
              <a:rPr lang="en-US" altLang="ja-JP" b="1" dirty="0"/>
              <a:t>(Can review) </a:t>
            </a:r>
            <a:r>
              <a:rPr lang="ja-JP" altLang="en-US" b="1" dirty="0"/>
              <a:t>の位置づけ</a:t>
            </a:r>
          </a:p>
          <a:p>
            <a:r>
              <a:rPr lang="ja-JP" altLang="en-US" dirty="0"/>
              <a:t>「</a:t>
            </a:r>
            <a:r>
              <a:rPr lang="en-US" altLang="ja-JP" dirty="0"/>
              <a:t>Can review</a:t>
            </a:r>
            <a:r>
              <a:rPr lang="ja-JP" altLang="en-US" dirty="0"/>
              <a:t>」という権限は標準の </a:t>
            </a:r>
            <a:r>
              <a:rPr lang="en-US" altLang="ja-JP" dirty="0"/>
              <a:t>SharePoint </a:t>
            </a:r>
            <a:r>
              <a:rPr lang="ja-JP" altLang="en-US" dirty="0"/>
              <a:t>権限レベル名にはありませんが、通常、次のいずれかの状態を指します。</a:t>
            </a:r>
          </a:p>
          <a:p>
            <a:r>
              <a:rPr lang="ja-JP" altLang="en-US" b="1" dirty="0"/>
              <a:t>「投稿 </a:t>
            </a:r>
            <a:r>
              <a:rPr lang="en-US" altLang="ja-JP" b="1" dirty="0"/>
              <a:t>(Contribute)</a:t>
            </a:r>
            <a:r>
              <a:rPr lang="ja-JP" altLang="en-US" b="1" dirty="0"/>
              <a:t>」権限</a:t>
            </a:r>
            <a:r>
              <a:rPr lang="en-US" altLang="ja-JP" b="1" dirty="0"/>
              <a:t>:</a:t>
            </a:r>
            <a:r>
              <a:rPr lang="ja-JP" altLang="en-US" dirty="0"/>
              <a:t> 「編集」権限に近く、ファイルの追加・編集はできますが、サイト自体の設定変更はできません。レビューアーが</a:t>
            </a:r>
            <a:r>
              <a:rPr lang="ja-JP" altLang="en-US" b="1" dirty="0"/>
              <a:t>コメント追加や軽微な修正</a:t>
            </a:r>
            <a:r>
              <a:rPr lang="ja-JP" altLang="en-US" dirty="0"/>
              <a:t>を求められる場合に適用されます。</a:t>
            </a:r>
          </a:p>
          <a:p>
            <a:r>
              <a:rPr lang="ja-JP" altLang="en-US" b="1" dirty="0"/>
              <a:t>承認機能の一部</a:t>
            </a:r>
            <a:r>
              <a:rPr lang="en-US" altLang="ja-JP" b="1" dirty="0"/>
              <a:t>:</a:t>
            </a:r>
            <a:r>
              <a:rPr lang="ja-JP" altLang="en-US" dirty="0"/>
              <a:t> ドキュメントライブラリで</a:t>
            </a:r>
            <a:r>
              <a:rPr lang="ja-JP" altLang="en-US" b="1" dirty="0"/>
              <a:t>コンテンツ承認</a:t>
            </a:r>
            <a:r>
              <a:rPr lang="ja-JP" altLang="en-US" dirty="0"/>
              <a:t>が有効になっている場合、ユーザーがファイルにコメントを残し、そのドキュメントを</a:t>
            </a:r>
            <a:r>
              <a:rPr lang="ja-JP" altLang="en-US" b="1" dirty="0"/>
              <a:t>承認または却下</a:t>
            </a:r>
            <a:r>
              <a:rPr lang="ja-JP" altLang="en-US" dirty="0"/>
              <a:t>する役割を担うことを意味します。この場合、ユーザーは必ずしも「編集」権限を持っている必要はありません。</a:t>
            </a:r>
          </a:p>
          <a:p>
            <a:pPr marL="0" marR="0" lvl="0" indent="0" algn="l" defTabSz="914400" rtl="0" eaLnBrk="1" fontAlgn="ctr" latinLnBrk="0" hangingPunct="1">
              <a:lnSpc>
                <a:spcPct val="100000"/>
              </a:lnSpc>
              <a:spcBef>
                <a:spcPts val="0"/>
              </a:spcBef>
              <a:spcAft>
                <a:spcPts val="0"/>
              </a:spcAft>
              <a:buClrTx/>
              <a:buSzTx/>
              <a:buFontTx/>
              <a:buNone/>
              <a:tabLst/>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8B4B0-9C44-9EB0-5384-D60E826E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B430AB3-3FFB-328A-4516-04C0BBA207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D59E68-8CC3-99B0-D6CC-DE1819E4055E}"/>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56444E0C-523B-DD7B-329E-C1F4D4806FA9}"/>
              </a:ext>
            </a:extLst>
          </p:cNvPr>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extLst>
      <p:ext uri="{BB962C8B-B14F-4D97-AF65-F5344CB8AC3E}">
        <p14:creationId xmlns:p14="http://schemas.microsoft.com/office/powerpoint/2010/main" val="31196699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10/7/2025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1.xml"/><Relationship Id="rId1" Type="http://schemas.openxmlformats.org/officeDocument/2006/relationships/slideLayout" Target="../slideLayouts/slideLayout8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2.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learn.microsoft.com/ja-jp/graph/search-concept-overview"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8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ストレージの比較</a:t>
            </a:r>
            <a:endParaRPr lang="en-US" altLang="ja-JP" sz="1600" dirty="0"/>
          </a:p>
          <a:p>
            <a:pPr marL="285750" indent="-285750">
              <a:buFont typeface="Arial" panose="020B0604020202020204" pitchFamily="34" charset="0"/>
              <a:buChar char="•"/>
            </a:pPr>
            <a:r>
              <a:rPr lang="ja-JP" altLang="en-US" sz="1600" dirty="0"/>
              <a:t>ストレージの評価</a:t>
            </a:r>
            <a:endParaRPr lang="en-US" altLang="ja-JP" sz="1600" dirty="0"/>
          </a:p>
          <a:p>
            <a:pPr marL="285750" indent="-285750">
              <a:buFont typeface="Arial" panose="020B0604020202020204" pitchFamily="34" charset="0"/>
              <a:buChar char="•"/>
            </a:pPr>
            <a:r>
              <a:rPr lang="ja-JP" altLang="en-US" sz="1600" dirty="0"/>
              <a:t>ストレージの選定理由</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要件の実現（メイン機能）</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プロジェクト重要検討事項</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60076"/>
            <a:ext cx="9327072" cy="683629"/>
          </a:xfrm>
        </p:spPr>
        <p:txBody>
          <a:bodyPr>
            <a:normAutofit/>
          </a:bodyPr>
          <a:lstStyle/>
          <a:p>
            <a:r>
              <a:rPr lang="ja-JP" altLang="en-US" dirty="0"/>
              <a:t>ストレージの比較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713359367"/>
              </p:ext>
            </p:extLst>
          </p:nvPr>
        </p:nvGraphicFramePr>
        <p:xfrm>
          <a:off x="273718" y="959094"/>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82095"/>
            <a:ext cx="11412096" cy="276999"/>
          </a:xfrm>
          <a:prstGeom prst="rect">
            <a:avLst/>
          </a:prstGeom>
          <a:noFill/>
        </p:spPr>
        <p:txBody>
          <a:bodyPr wrap="square" rtlCol="0">
            <a:spAutoFit/>
          </a:bodyPr>
          <a:lstStyle/>
          <a:p>
            <a:r>
              <a:rPr lang="ja-JP" altLang="en-US" sz="1200" dirty="0">
                <a:solidFill>
                  <a:srgbClr val="FF0000"/>
                </a:solidFill>
              </a:rPr>
              <a:t>本案件でなりえるストレージについて、下記の評価項目について比較を行い、その結果を</a:t>
            </a:r>
            <a:r>
              <a:rPr kumimoji="1" lang="ja-JP" altLang="en-US" sz="1200" dirty="0">
                <a:solidFill>
                  <a:srgbClr val="FF0000"/>
                </a:solidFill>
              </a:rPr>
              <a:t>表にまとめた。</a:t>
            </a:r>
            <a:endParaRPr kumimoji="1" lang="en-US" altLang="ja-JP" sz="1400" b="1" dirty="0">
              <a:solidFill>
                <a:srgbClr val="FF0000"/>
              </a:solidFill>
            </a:endParaRPr>
          </a:p>
        </p:txBody>
      </p:sp>
    </p:spTree>
    <p:extLst>
      <p:ext uri="{BB962C8B-B14F-4D97-AF65-F5344CB8AC3E}">
        <p14:creationId xmlns:p14="http://schemas.microsoft.com/office/powerpoint/2010/main" val="10147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4039698271"/>
              </p:ext>
            </p:extLst>
          </p:nvPr>
        </p:nvGraphicFramePr>
        <p:xfrm>
          <a:off x="294143" y="1833698"/>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234042" y="818409"/>
            <a:ext cx="11723915" cy="954107"/>
          </a:xfrm>
          <a:prstGeom prst="rect">
            <a:avLst/>
          </a:prstGeom>
          <a:noFill/>
        </p:spPr>
        <p:txBody>
          <a:bodyPr wrap="square">
            <a:spAutoFit/>
          </a:bodyPr>
          <a:lstStyle/>
          <a:p>
            <a:r>
              <a:rPr lang="ja-JP" altLang="en-US" sz="1400" dirty="0"/>
              <a:t>ストレージに関して下記表で羅列した項目について評価を行った。評価の基準は下記の以下の</a:t>
            </a:r>
            <a:r>
              <a:rPr lang="en-US" altLang="ja-JP" sz="1400" dirty="0"/>
              <a:t>2</a:t>
            </a:r>
            <a:r>
              <a:rPr lang="ja-JP" altLang="en-US" sz="1400" dirty="0"/>
              <a:t>点である。</a:t>
            </a:r>
            <a:endParaRPr lang="en-US" altLang="ja-JP" sz="1400" dirty="0"/>
          </a:p>
          <a:p>
            <a:pPr marL="342900" indent="-342900">
              <a:buFont typeface="+mj-lt"/>
              <a:buAutoNum type="arabicPeriod"/>
            </a:pPr>
            <a:r>
              <a:rPr lang="ja-JP" altLang="en-US" sz="1400" dirty="0"/>
              <a:t>過去の実績有無。</a:t>
            </a:r>
            <a:endParaRPr lang="en-US" altLang="ja-JP" sz="1400" dirty="0"/>
          </a:p>
          <a:p>
            <a:pPr marL="342900" indent="-342900">
              <a:buFont typeface="+mj-lt"/>
              <a:buAutoNum type="arabicPeriod"/>
            </a:pPr>
            <a:r>
              <a:rPr lang="ja-JP" altLang="en-US" sz="1400" dirty="0"/>
              <a:t>業務機能の実装ロジックの実現複雑さとロジック性能の考慮</a:t>
            </a:r>
            <a:endParaRPr lang="en-US" altLang="ja-JP" sz="1400" dirty="0"/>
          </a:p>
          <a:p>
            <a:r>
              <a:rPr lang="ja-JP" altLang="en-US" sz="1400" dirty="0"/>
              <a:t>評価の結果：ストレージは</a:t>
            </a:r>
            <a:r>
              <a:rPr lang="en-US" altLang="ja-JP" sz="1400" dirty="0" err="1"/>
              <a:t>AzureSQL</a:t>
            </a:r>
            <a:r>
              <a:rPr lang="ja-JP" altLang="en-US" sz="1400" dirty="0"/>
              <a:t>＋</a:t>
            </a:r>
            <a:r>
              <a:rPr lang="en-US" altLang="ja-JP" sz="1400" dirty="0"/>
              <a:t>SPO</a:t>
            </a:r>
            <a:r>
              <a:rPr lang="ja-JP" altLang="en-US" sz="1400" dirty="0"/>
              <a:t>を採用する</a:t>
            </a:r>
            <a:endParaRPr lang="en-US" altLang="ja-JP" sz="1400" dirty="0"/>
          </a:p>
        </p:txBody>
      </p:sp>
    </p:spTree>
    <p:extLst>
      <p:ext uri="{BB962C8B-B14F-4D97-AF65-F5344CB8AC3E}">
        <p14:creationId xmlns:p14="http://schemas.microsoft.com/office/powerpoint/2010/main" val="3028644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836099"/>
            <a:ext cx="11412096" cy="3539430"/>
          </a:xfrm>
          <a:prstGeom prst="rect">
            <a:avLst/>
          </a:prstGeom>
          <a:noFill/>
        </p:spPr>
        <p:txBody>
          <a:bodyPr wrap="square" rtlCol="0">
            <a:spAutoFit/>
          </a:bodyPr>
          <a:lstStyle/>
          <a:p>
            <a:pPr lvl="0"/>
            <a:r>
              <a:rPr kumimoji="1" lang="en-US" altLang="ja-JP" sz="1600" b="1" i="0" u="none" strike="noStrike" kern="1200" cap="none" spc="0" normalizeH="0" baseline="0" noProof="0" dirty="0" err="1">
                <a:ln>
                  <a:noFill/>
                </a:ln>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lvl="0" indent="-285750">
              <a:buFont typeface="Arial" panose="020B0604020202020204" pitchFamily="34" charset="0"/>
              <a:buChar char="•"/>
            </a:pPr>
            <a:r>
              <a:rPr lang="en-US" altLang="ja-JP" sz="1600" dirty="0"/>
              <a:t>On promise Gateway</a:t>
            </a:r>
            <a:r>
              <a:rPr lang="ja-JP" altLang="en-US" sz="1600" dirty="0"/>
              <a:t>のネットワークボトルネックを解消</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が提供している性能保証を考慮して、想定しているユーザ数に対するパフォーマンスへの配慮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が統合した機能を生かして、システムの構成を単純化にし、運用保守コストへの配慮</a:t>
            </a:r>
            <a:endParaRPr lang="en-US" altLang="ja-JP" sz="16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i="0" u="none" strike="noStrike" kern="1200" cap="none" spc="0" normalizeH="0" baseline="0" noProof="0" dirty="0">
                <a:ln>
                  <a:noFill/>
                </a:ln>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のアクセス管理機能を生かして、ソリューションが簡単になり、セキュリティーへの配慮</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が提供しているオンライン編集機能で、ユーザ要件の実現</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latin typeface="Gill Sans MT"/>
                <a:ea typeface="游ゴシック" panose="020B0400000000000000" pitchFamily="50" charset="-128"/>
              </a:rPr>
              <a:t>大量ファイルを扱うによるパフォーマンスへの影響をソリューションで対応が必要であるが、その他の提供機能と比較してデメリットが少ない</a:t>
            </a:r>
            <a:endParaRPr lang="en-US" altLang="ja-JP" sz="1600" dirty="0">
              <a:latin typeface="Gill Sans MT"/>
              <a:ea typeface="游ゴシック" panose="020B0400000000000000" pitchFamily="50" charset="-128"/>
            </a:endParaRPr>
          </a:p>
          <a:p>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8F1A-B802-D149-C82C-94A6C978BB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C5381E-BAE4-4E71-8CA1-50E8C9FB34BE}"/>
              </a:ext>
            </a:extLst>
          </p:cNvPr>
          <p:cNvSpPr>
            <a:spLocks noGrp="1"/>
          </p:cNvSpPr>
          <p:nvPr>
            <p:ph type="title"/>
          </p:nvPr>
        </p:nvSpPr>
        <p:spPr/>
        <p:txBody>
          <a:bodyPr>
            <a:noAutofit/>
          </a:bodyPr>
          <a:lstStyle/>
          <a:p>
            <a:r>
              <a:rPr kumimoji="1" lang="ja-JP" altLang="en-US" dirty="0"/>
              <a:t>要件の実現（メイン機能）</a:t>
            </a:r>
          </a:p>
        </p:txBody>
      </p:sp>
      <p:sp>
        <p:nvSpPr>
          <p:cNvPr id="4" name="テキスト ボックス 3">
            <a:extLst>
              <a:ext uri="{FF2B5EF4-FFF2-40B4-BE49-F238E27FC236}">
                <a16:creationId xmlns:a16="http://schemas.microsoft.com/office/drawing/2014/main" id="{40DC9C1A-9B7D-DA37-7A46-AA52CA38B3F3}"/>
              </a:ext>
            </a:extLst>
          </p:cNvPr>
          <p:cNvSpPr txBox="1"/>
          <p:nvPr/>
        </p:nvSpPr>
        <p:spPr>
          <a:xfrm>
            <a:off x="414336" y="764418"/>
            <a:ext cx="11366184" cy="37871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400" dirty="0"/>
              <a:t>提案したアーキテクチャでは下記の要件（メイン）が実現可能</a:t>
            </a:r>
            <a:endParaRPr lang="en-US" altLang="ja-JP" sz="2000" dirty="0"/>
          </a:p>
        </p:txBody>
      </p:sp>
      <p:sp>
        <p:nvSpPr>
          <p:cNvPr id="5" name="テキスト ボックス 4">
            <a:extLst>
              <a:ext uri="{FF2B5EF4-FFF2-40B4-BE49-F238E27FC236}">
                <a16:creationId xmlns:a16="http://schemas.microsoft.com/office/drawing/2014/main" id="{740DE17A-635C-296D-D582-BD854B6E9AF0}"/>
              </a:ext>
            </a:extLst>
          </p:cNvPr>
          <p:cNvSpPr txBox="1"/>
          <p:nvPr/>
        </p:nvSpPr>
        <p:spPr>
          <a:xfrm>
            <a:off x="284308" y="5562472"/>
            <a:ext cx="11172585"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effectLst/>
                <a:uLnTx/>
                <a:uFillTx/>
                <a:latin typeface="Gill Sans MT"/>
                <a:ea typeface="游ゴシック" panose="020B0400000000000000" pitchFamily="50" charset="-128"/>
                <a:cs typeface="+mn-cs"/>
              </a:rPr>
              <a:t>次ページより詳細について説明します。</a:t>
            </a:r>
            <a:endParaRPr kumimoji="1" lang="en-US" altLang="ja-JP" sz="18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
        <p:nvSpPr>
          <p:cNvPr id="6" name="テキスト ボックス 5">
            <a:extLst>
              <a:ext uri="{FF2B5EF4-FFF2-40B4-BE49-F238E27FC236}">
                <a16:creationId xmlns:a16="http://schemas.microsoft.com/office/drawing/2014/main" id="{A1E8D3B5-6211-F128-163F-FC4D4BA63EA2}"/>
              </a:ext>
            </a:extLst>
          </p:cNvPr>
          <p:cNvSpPr txBox="1"/>
          <p:nvPr/>
        </p:nvSpPr>
        <p:spPr>
          <a:xfrm>
            <a:off x="802765" y="1143128"/>
            <a:ext cx="8794593" cy="42894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000" dirty="0"/>
              <a:t>★添付ファイル管理</a:t>
            </a:r>
            <a:endParaRPr lang="en-US" altLang="ja-JP" sz="2000" dirty="0"/>
          </a:p>
          <a:p>
            <a:r>
              <a:rPr lang="en-US" altLang="ja-JP" sz="2000" dirty="0"/>
              <a:t>	</a:t>
            </a:r>
            <a:r>
              <a:rPr lang="ja-JP" altLang="en-US" sz="2000" dirty="0"/>
              <a:t>・オンライン編集</a:t>
            </a:r>
            <a:endParaRPr lang="en-US" altLang="ja-JP" sz="2000" dirty="0"/>
          </a:p>
          <a:p>
            <a:r>
              <a:rPr lang="en-US" altLang="ja-JP" sz="2000" dirty="0"/>
              <a:t>	</a:t>
            </a:r>
            <a:r>
              <a:rPr lang="ja-JP" altLang="en-US" sz="2000" dirty="0"/>
              <a:t>・一括検索</a:t>
            </a:r>
            <a:endParaRPr lang="en-US" altLang="ja-JP" sz="2000" dirty="0"/>
          </a:p>
          <a:p>
            <a:r>
              <a:rPr lang="en-US" altLang="ja-JP" sz="2000" dirty="0"/>
              <a:t>	</a:t>
            </a:r>
            <a:r>
              <a:rPr lang="ja-JP" altLang="en-US" sz="2000" dirty="0"/>
              <a:t>・一括ダウンロード</a:t>
            </a:r>
            <a:endParaRPr lang="en-US" altLang="ja-JP" sz="2000" dirty="0"/>
          </a:p>
          <a:p>
            <a:r>
              <a:rPr lang="en-US" altLang="ja-JP" sz="2000" dirty="0"/>
              <a:t>	</a:t>
            </a:r>
            <a:r>
              <a:rPr lang="ja-JP" altLang="en-US" sz="2000" dirty="0"/>
              <a:t>・アクセス権限管理</a:t>
            </a:r>
            <a:endParaRPr lang="en-US" altLang="ja-JP" sz="2000" dirty="0"/>
          </a:p>
          <a:p>
            <a:r>
              <a:rPr lang="en-US" altLang="ja-JP" sz="1600" dirty="0"/>
              <a:t>		</a:t>
            </a:r>
            <a:r>
              <a:rPr lang="ja-JP" altLang="en-US" sz="1600" dirty="0"/>
              <a:t>*ソリューション内と</a:t>
            </a:r>
            <a:r>
              <a:rPr lang="en-US" altLang="ja-JP" sz="1600" dirty="0"/>
              <a:t>SPO</a:t>
            </a:r>
            <a:r>
              <a:rPr lang="ja-JP" altLang="en-US" sz="1600" dirty="0"/>
              <a:t>に直接アクセスの双方において</a:t>
            </a:r>
            <a:endParaRPr lang="en-US" altLang="ja-JP" sz="1600" dirty="0"/>
          </a:p>
          <a:p>
            <a:r>
              <a:rPr lang="ja-JP" altLang="en-US" sz="2000" dirty="0"/>
              <a:t>★定型データの権限管理</a:t>
            </a:r>
            <a:endParaRPr lang="en-US" altLang="ja-JP" sz="2000" dirty="0"/>
          </a:p>
          <a:p>
            <a:r>
              <a:rPr lang="en-US" altLang="ja-JP" sz="2000" dirty="0"/>
              <a:t>	</a:t>
            </a:r>
            <a:r>
              <a:rPr lang="ja-JP" altLang="en-US" sz="2000" dirty="0"/>
              <a:t>・定義されたグループ（複数のユーザを管理）で管理</a:t>
            </a:r>
            <a:endParaRPr lang="en-US" altLang="ja-JP" sz="2000" dirty="0"/>
          </a:p>
          <a:p>
            <a:r>
              <a:rPr lang="en-US" altLang="ja-JP" sz="2000" dirty="0"/>
              <a:t>	</a:t>
            </a:r>
            <a:r>
              <a:rPr lang="ja-JP" altLang="en-US" sz="2000" dirty="0"/>
              <a:t>・ユーザ単位・項目別で管理（</a:t>
            </a:r>
            <a:r>
              <a:rPr lang="en-US" altLang="ja-JP" sz="2000" dirty="0"/>
              <a:t>Option</a:t>
            </a:r>
            <a:r>
              <a:rPr lang="ja-JP" altLang="en-US" sz="2000" dirty="0"/>
              <a:t>）</a:t>
            </a:r>
            <a:endParaRPr lang="en-US" altLang="ja-JP" sz="2000" dirty="0"/>
          </a:p>
          <a:p>
            <a:r>
              <a:rPr lang="ja-JP" altLang="en-US" sz="2000" dirty="0"/>
              <a:t>★非機能要件</a:t>
            </a:r>
            <a:endParaRPr lang="en-US" altLang="ja-JP" sz="2000" dirty="0"/>
          </a:p>
          <a:p>
            <a:r>
              <a:rPr lang="en-US" altLang="ja-JP" sz="2000" dirty="0"/>
              <a:t>	</a:t>
            </a:r>
            <a:r>
              <a:rPr lang="ja-JP" altLang="en-US" sz="2000" dirty="0"/>
              <a:t>・パフォーマンスの保証</a:t>
            </a:r>
            <a:endParaRPr lang="en-US" altLang="ja-JP" sz="2000" dirty="0"/>
          </a:p>
          <a:p>
            <a:r>
              <a:rPr lang="en-US" altLang="ja-JP" sz="2000" dirty="0"/>
              <a:t>	</a:t>
            </a:r>
            <a:r>
              <a:rPr lang="ja-JP" altLang="en-US" sz="2000" dirty="0"/>
              <a:t>・</a:t>
            </a:r>
            <a:r>
              <a:rPr lang="en-US" altLang="ja-JP" sz="2000" dirty="0"/>
              <a:t>HA</a:t>
            </a:r>
            <a:r>
              <a:rPr lang="ja-JP" altLang="en-US" sz="2000" dirty="0"/>
              <a:t>の保証</a:t>
            </a:r>
            <a:endParaRPr lang="en-US" altLang="ja-JP" sz="2000" dirty="0"/>
          </a:p>
          <a:p>
            <a:r>
              <a:rPr lang="ja-JP" altLang="en-US" sz="2000" dirty="0"/>
              <a:t>★データ移行</a:t>
            </a:r>
            <a:endParaRPr lang="en-US" altLang="ja-JP" sz="2000" dirty="0"/>
          </a:p>
          <a:p>
            <a:r>
              <a:rPr lang="en-US" altLang="ja-JP" sz="2000" dirty="0"/>
              <a:t>	</a:t>
            </a:r>
            <a:r>
              <a:rPr lang="ja-JP" altLang="en-US" sz="2000" dirty="0"/>
              <a:t>・移行ツールで実施可能</a:t>
            </a:r>
            <a:endParaRPr lang="en-US" altLang="ja-JP" sz="2000" dirty="0"/>
          </a:p>
        </p:txBody>
      </p:sp>
    </p:spTree>
    <p:extLst>
      <p:ext uri="{BB962C8B-B14F-4D97-AF65-F5344CB8AC3E}">
        <p14:creationId xmlns:p14="http://schemas.microsoft.com/office/powerpoint/2010/main" val="28996518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1884515891"/>
              </p:ext>
            </p:extLst>
          </p:nvPr>
        </p:nvGraphicFramePr>
        <p:xfrm>
          <a:off x="453571" y="757391"/>
          <a:ext cx="11284857" cy="5543446"/>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050" dirty="0">
                          <a:solidFill>
                            <a:schemeClr val="tx1"/>
                          </a:solidFill>
                        </a:rPr>
                        <a:t>仕様書管理</a:t>
                      </a:r>
                      <a:r>
                        <a:rPr lang="en-US" altLang="ja-JP" sz="1050" dirty="0">
                          <a:solidFill>
                            <a:schemeClr val="tx1"/>
                          </a:solidFill>
                        </a:rPr>
                        <a:t>TBL</a:t>
                      </a:r>
                      <a:r>
                        <a:rPr lang="ja-JP" altLang="en-US" sz="1050" dirty="0">
                          <a:solidFill>
                            <a:schemeClr val="tx1"/>
                          </a:solidFill>
                        </a:rPr>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仕様書管理</a:t>
                      </a:r>
                      <a:r>
                        <a:rPr lang="en-US" altLang="ja-JP" sz="900" dirty="0">
                          <a:solidFill>
                            <a:schemeClr val="tx1"/>
                          </a:solidFill>
                        </a:rPr>
                        <a:t>TBL</a:t>
                      </a:r>
                      <a:r>
                        <a:rPr lang="ja-JP" altLang="en-US" sz="900" dirty="0">
                          <a:solidFill>
                            <a:schemeClr val="tx1"/>
                          </a:solidFill>
                        </a:rPr>
                        <a:t>に、添付ファイル（複数</a:t>
                      </a:r>
                      <a:r>
                        <a:rPr lang="en-US" altLang="ja-JP" sz="900" dirty="0">
                          <a:solidFill>
                            <a:schemeClr val="tx1"/>
                          </a:solidFill>
                        </a:rPr>
                        <a:t>)</a:t>
                      </a:r>
                      <a:r>
                        <a:rPr lang="ja-JP" altLang="en-US" sz="900" dirty="0">
                          <a:solidFill>
                            <a:schemeClr val="tx1"/>
                          </a:solidFill>
                        </a:rPr>
                        <a:t>のファイル</a:t>
                      </a:r>
                      <a:r>
                        <a:rPr lang="en-US" altLang="ja-JP" sz="900" dirty="0">
                          <a:solidFill>
                            <a:schemeClr val="tx1"/>
                          </a:solidFill>
                        </a:rPr>
                        <a:t>ID</a:t>
                      </a:r>
                      <a:r>
                        <a:rPr lang="ja-JP" altLang="en-US" sz="900" dirty="0">
                          <a:solidFill>
                            <a:schemeClr val="tx1"/>
                          </a:solidFill>
                        </a:rPr>
                        <a:t>、ファイル名情報、</a:t>
                      </a:r>
                      <a:r>
                        <a:rPr lang="en-US" altLang="ja-JP" sz="900" dirty="0" err="1">
                          <a:solidFill>
                            <a:schemeClr val="tx1"/>
                          </a:solidFill>
                        </a:rPr>
                        <a:t>Url</a:t>
                      </a:r>
                      <a:r>
                        <a:rPr lang="ja-JP" altLang="en-US" sz="900" dirty="0">
                          <a:solidFill>
                            <a:schemeClr val="tx1"/>
                          </a:solidFill>
                        </a:rPr>
                        <a:t>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05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Microsoft Search</a:t>
                      </a:r>
                      <a:r>
                        <a:rPr lang="ja-JP" altLang="en-US" sz="900" kern="1200" dirty="0">
                          <a:solidFill>
                            <a:schemeClr val="tx1"/>
                          </a:solidFill>
                          <a:latin typeface="+mn-lt"/>
                          <a:ea typeface="+mn-ea"/>
                          <a:cs typeface="+mn-cs"/>
                        </a:rPr>
                        <a:t>機能を利用</a:t>
                      </a:r>
                      <a:endParaRPr lang="en-US" altLang="ja-JP" sz="9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900" kern="1200" dirty="0">
                          <a:solidFill>
                            <a:schemeClr val="tx1"/>
                          </a:solidFill>
                          <a:latin typeface="+mn-lt"/>
                          <a:ea typeface="+mn-ea"/>
                          <a:cs typeface="+mn-cs"/>
                        </a:rPr>
                        <a:t>実装には、</a:t>
                      </a:r>
                      <a:r>
                        <a:rPr lang="en-US" altLang="ja-JP" sz="900" kern="1200" dirty="0">
                          <a:solidFill>
                            <a:schemeClr val="tx1"/>
                          </a:solidFill>
                          <a:latin typeface="+mn-lt"/>
                          <a:ea typeface="+mn-ea"/>
                          <a:cs typeface="+mn-cs"/>
                        </a:rPr>
                        <a:t>Microsoft</a:t>
                      </a:r>
                      <a:r>
                        <a:rPr lang="ja-JP" altLang="en-US" sz="900" kern="1200" dirty="0">
                          <a:solidFill>
                            <a:schemeClr val="tx1"/>
                          </a:solidFill>
                          <a:latin typeface="+mn-lt"/>
                          <a:ea typeface="+mn-ea"/>
                          <a:cs typeface="+mn-cs"/>
                        </a:rPr>
                        <a:t> </a:t>
                      </a:r>
                      <a:r>
                        <a:rPr lang="en-US" altLang="ja-JP" sz="900" kern="1200" dirty="0" err="1">
                          <a:solidFill>
                            <a:schemeClr val="tx1"/>
                          </a:solidFill>
                          <a:latin typeface="+mn-lt"/>
                          <a:ea typeface="+mn-ea"/>
                          <a:cs typeface="+mn-cs"/>
                        </a:rPr>
                        <a:t>GraphAPI</a:t>
                      </a:r>
                      <a:r>
                        <a:rPr lang="ja-JP" altLang="en-US" sz="900" kern="1200" dirty="0">
                          <a:solidFill>
                            <a:schemeClr val="tx1"/>
                          </a:solidFill>
                          <a:latin typeface="+mn-lt"/>
                          <a:ea typeface="+mn-ea"/>
                          <a:cs typeface="+mn-cs"/>
                        </a:rPr>
                        <a:t>を利用</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00" kern="1200" dirty="0">
                          <a:solidFill>
                            <a:schemeClr val="tx1"/>
                          </a:solidFill>
                          <a:latin typeface="+mn-lt"/>
                          <a:ea typeface="+mn-ea"/>
                          <a:cs typeface="+mn-cs"/>
                        </a:rPr>
                        <a:t>添付ファイルの履歴管理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の履歴管理機能を利用（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89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添付ファイルの権限管理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の権限管理仕組みを利用（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184794">
                <a:tc>
                  <a:txBody>
                    <a:bodyPr/>
                    <a:lstStyle/>
                    <a:p>
                      <a:r>
                        <a:rPr lang="ja-JP" altLang="en-US" sz="1000" kern="1200" dirty="0">
                          <a:solidFill>
                            <a:schemeClr val="tx1"/>
                          </a:solidFill>
                          <a:latin typeface="+mn-lt"/>
                          <a:ea typeface="+mn-ea"/>
                          <a:cs typeface="+mn-cs"/>
                        </a:rPr>
                        <a:t>サポートファイルタイプ（</a:t>
                      </a:r>
                      <a:r>
                        <a:rPr lang="en-US" altLang="ja-JP" sz="1000" kern="1200" dirty="0">
                          <a:solidFill>
                            <a:schemeClr val="tx1"/>
                          </a:solidFill>
                          <a:latin typeface="+mn-lt"/>
                          <a:ea typeface="+mn-ea"/>
                          <a:cs typeface="+mn-cs"/>
                        </a:rPr>
                        <a:t>Office</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Word, Excel, PowerPoint</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PDF</a:t>
                      </a:r>
                      <a:r>
                        <a:rPr lang="ja-JP" altLang="en-US" sz="100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の機能で対応</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00" kern="1200" dirty="0">
                          <a:solidFill>
                            <a:schemeClr val="tx1"/>
                          </a:solidFill>
                          <a:latin typeface="+mn-lt"/>
                          <a:ea typeface="+mn-ea"/>
                          <a:cs typeface="+mn-cs"/>
                        </a:rPr>
                        <a:t>ファイルサイズ</a:t>
                      </a:r>
                      <a:r>
                        <a:rPr lang="en-US" altLang="ja-JP" sz="1000" kern="1200" dirty="0">
                          <a:solidFill>
                            <a:schemeClr val="tx1"/>
                          </a:solidFill>
                          <a:latin typeface="+mn-lt"/>
                          <a:ea typeface="+mn-ea"/>
                          <a:cs typeface="+mn-cs"/>
                        </a:rPr>
                        <a:t>: 50MB/</a:t>
                      </a:r>
                      <a:r>
                        <a:rPr lang="ja-JP" altLang="en-US" sz="100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PowerApps</a:t>
                      </a:r>
                      <a:r>
                        <a:rPr lang="ja-JP" altLang="en-US" sz="900" kern="1200" dirty="0">
                          <a:solidFill>
                            <a:schemeClr val="tx1"/>
                          </a:solidFill>
                          <a:latin typeface="+mn-lt"/>
                          <a:ea typeface="+mn-ea"/>
                          <a:cs typeface="+mn-cs"/>
                        </a:rPr>
                        <a:t>の内蔵</a:t>
                      </a:r>
                      <a:r>
                        <a:rPr lang="en-US" altLang="ja-JP" sz="900" kern="1200" dirty="0">
                          <a:solidFill>
                            <a:schemeClr val="tx1"/>
                          </a:solidFill>
                          <a:latin typeface="+mn-lt"/>
                          <a:ea typeface="+mn-ea"/>
                          <a:cs typeface="+mn-cs"/>
                        </a:rPr>
                        <a:t>File Download/Upload</a:t>
                      </a:r>
                      <a:r>
                        <a:rPr lang="ja-JP" altLang="en-US" sz="900" kern="1200" dirty="0">
                          <a:solidFill>
                            <a:schemeClr val="tx1"/>
                          </a:solidFill>
                          <a:latin typeface="+mn-lt"/>
                          <a:ea typeface="+mn-ea"/>
                          <a:cs typeface="+mn-cs"/>
                        </a:rPr>
                        <a:t>コントロールで対応（</a:t>
                      </a: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0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構造を多階層にし、一つの</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にファイルを</a:t>
                      </a:r>
                      <a:r>
                        <a:rPr lang="en-US" altLang="ja-JP" sz="900" dirty="0">
                          <a:solidFill>
                            <a:schemeClr val="tx1"/>
                          </a:solidFill>
                          <a:latin typeface="Yu Gothic UI" panose="020B0500000000000000" pitchFamily="50" charset="-128"/>
                          <a:ea typeface="Yu Gothic UI" panose="020B0500000000000000" pitchFamily="50" charset="-128"/>
                        </a:rPr>
                        <a:t>1000</a:t>
                      </a:r>
                      <a:r>
                        <a:rPr lang="ja-JP" altLang="en-US" sz="9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Download/</a:t>
                      </a:r>
                      <a:r>
                        <a:rPr lang="ja-JP" altLang="en-US" sz="100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900" kern="1200" dirty="0">
                          <a:solidFill>
                            <a:schemeClr val="tx1"/>
                          </a:solidFill>
                          <a:latin typeface="+mn-lt"/>
                          <a:ea typeface="+mn-ea"/>
                          <a:cs typeface="+mn-cs"/>
                        </a:rPr>
                        <a:t>データベーステーブルから</a:t>
                      </a:r>
                      <a:r>
                        <a:rPr lang="zh-CN" altLang="zh-CN" sz="900" kern="1200" dirty="0">
                          <a:solidFill>
                            <a:schemeClr val="tx1"/>
                          </a:solidFill>
                          <a:latin typeface="+mn-lt"/>
                          <a:ea typeface="+mn-ea"/>
                          <a:cs typeface="+mn-cs"/>
                        </a:rPr>
                        <a:t>選択</a:t>
                      </a:r>
                      <a:r>
                        <a:rPr lang="ja-JP" altLang="en-US" sz="900" kern="1200" dirty="0">
                          <a:solidFill>
                            <a:schemeClr val="tx1"/>
                          </a:solidFill>
                          <a:latin typeface="+mn-lt"/>
                          <a:ea typeface="+mn-ea"/>
                          <a:cs typeface="+mn-cs"/>
                        </a:rPr>
                        <a:t>対象の添付</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Power Apps</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Launch</a:t>
                      </a:r>
                      <a:r>
                        <a:rPr lang="ja-JP" altLang="en-US" sz="900" kern="1200" dirty="0">
                          <a:solidFill>
                            <a:schemeClr val="tx1"/>
                          </a:solidFill>
                          <a:latin typeface="+mn-lt"/>
                          <a:ea typeface="+mn-ea"/>
                          <a:cs typeface="+mn-cs"/>
                        </a:rPr>
                        <a:t>機能を利用し、</a:t>
                      </a:r>
                      <a:r>
                        <a:rPr lang="zh-CN" altLang="zh-CN" sz="900" kern="1200" dirty="0">
                          <a:solidFill>
                            <a:schemeClr val="tx1"/>
                          </a:solidFill>
                          <a:latin typeface="+mn-lt"/>
                          <a:ea typeface="+mn-ea"/>
                          <a:cs typeface="+mn-cs"/>
                        </a:rPr>
                        <a:t>Office Onlineで</a:t>
                      </a:r>
                      <a:r>
                        <a:rPr lang="ja-JP" altLang="en-US" sz="900" kern="1200" dirty="0">
                          <a:solidFill>
                            <a:schemeClr val="tx1"/>
                          </a:solidFill>
                          <a:latin typeface="+mn-lt"/>
                          <a:ea typeface="+mn-ea"/>
                          <a:cs typeface="+mn-cs"/>
                        </a:rPr>
                        <a:t>直接</a:t>
                      </a:r>
                      <a:r>
                        <a:rPr lang="zh-CN" altLang="zh-CN" sz="900" kern="1200" dirty="0">
                          <a:solidFill>
                            <a:schemeClr val="tx1"/>
                          </a:solidFill>
                          <a:latin typeface="+mn-lt"/>
                          <a:ea typeface="+mn-ea"/>
                          <a:cs typeface="+mn-cs"/>
                        </a:rPr>
                        <a:t>開く（例: </a:t>
                      </a:r>
                      <a:r>
                        <a:rPr lang="zh-CN" altLang="zh-CN" sz="9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900" kern="1200" dirty="0">
                          <a:solidFill>
                            <a:schemeClr val="tx1"/>
                          </a:solidFill>
                          <a:latin typeface="+mn-lt"/>
                          <a:ea typeface="+mn-ea"/>
                          <a:cs typeface="+mn-cs"/>
                        </a:rPr>
                        <a:t>]）</a:t>
                      </a:r>
                      <a:r>
                        <a:rPr lang="en-US" altLang="ja-JP" sz="900" kern="1200" dirty="0" err="1">
                          <a:solidFill>
                            <a:schemeClr val="tx1"/>
                          </a:solidFill>
                          <a:latin typeface="+mn-lt"/>
                          <a:ea typeface="+mn-ea"/>
                          <a:cs typeface="+mn-cs"/>
                        </a:rPr>
                        <a:t>ReadOnly</a:t>
                      </a:r>
                      <a:r>
                        <a:rPr lang="en-US" altLang="ja-JP" sz="900" kern="1200" dirty="0">
                          <a:solidFill>
                            <a:schemeClr val="tx1"/>
                          </a:solidFill>
                          <a:latin typeface="+mn-lt"/>
                          <a:ea typeface="+mn-ea"/>
                          <a:cs typeface="+mn-cs"/>
                        </a:rPr>
                        <a:t>/</a:t>
                      </a:r>
                      <a:r>
                        <a:rPr lang="ja-JP" altLang="en-US" sz="900" kern="1200" dirty="0">
                          <a:solidFill>
                            <a:schemeClr val="tx1"/>
                          </a:solidFill>
                          <a:latin typeface="+mn-lt"/>
                          <a:ea typeface="+mn-ea"/>
                          <a:cs typeface="+mn-cs"/>
                        </a:rPr>
                        <a:t>編集モードは仕様に従って定義</a:t>
                      </a: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Upload</a:t>
                      </a:r>
                      <a:endParaRPr lang="ja-JP" altLang="en-US" sz="10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される</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のソリューションで定義した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kern="1200" dirty="0">
                          <a:solidFill>
                            <a:schemeClr val="tx1"/>
                          </a:solidFill>
                          <a:latin typeface="+mn-lt"/>
                          <a:ea typeface="+mn-ea"/>
                          <a:cs typeface="+mn-cs"/>
                        </a:rPr>
                        <a:t>を算出</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900" dirty="0">
                          <a:solidFill>
                            <a:schemeClr val="tx1"/>
                          </a:solidFill>
                        </a:rPr>
                        <a:t>ファイルを算出した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dirty="0">
                          <a:solidFill>
                            <a:schemeClr val="tx1"/>
                          </a:solidFill>
                        </a:rPr>
                        <a:t>に</a:t>
                      </a:r>
                      <a:r>
                        <a:rPr lang="en-US" altLang="ja-JP" sz="900" dirty="0">
                          <a:solidFill>
                            <a:schemeClr val="tx1"/>
                          </a:solidFill>
                        </a:rPr>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ファイルの権限を設定（共有相手個人、組織のみに与える）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仕様書</a:t>
                      </a:r>
                      <a:r>
                        <a:rPr lang="en-US" altLang="ja-JP" sz="900" dirty="0">
                          <a:solidFill>
                            <a:schemeClr val="tx1"/>
                          </a:solidFill>
                        </a:rPr>
                        <a:t>Table</a:t>
                      </a:r>
                      <a:r>
                        <a:rPr lang="ja-JP" altLang="en-US" sz="900" dirty="0">
                          <a:solidFill>
                            <a:schemeClr val="tx1"/>
                          </a:solidFill>
                        </a:rPr>
                        <a:t>に添付ファイル情報を登録する</a:t>
                      </a:r>
                      <a:endParaRPr lang="en-US" altLang="ja-JP" sz="900" dirty="0">
                        <a:solidFill>
                          <a:schemeClr val="tx1"/>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pic>
        <p:nvPicPr>
          <p:cNvPr id="8" name="図 7">
            <a:extLst>
              <a:ext uri="{FF2B5EF4-FFF2-40B4-BE49-F238E27FC236}">
                <a16:creationId xmlns:a16="http://schemas.microsoft.com/office/drawing/2014/main" id="{9579E1CA-8004-710B-ABF4-3CF24476591C}"/>
              </a:ext>
            </a:extLst>
          </p:cNvPr>
          <p:cNvPicPr>
            <a:picLocks noChangeAspect="1"/>
          </p:cNvPicPr>
          <p:nvPr/>
        </p:nvPicPr>
        <p:blipFill>
          <a:blip r:embed="rId5"/>
          <a:stretch>
            <a:fillRect/>
          </a:stretch>
        </p:blipFill>
        <p:spPr>
          <a:xfrm>
            <a:off x="1974080" y="5187218"/>
            <a:ext cx="2348563" cy="839009"/>
          </a:xfrm>
          <a:prstGeom prst="rect">
            <a:avLst/>
          </a:prstGeom>
        </p:spPr>
      </p:pic>
      <p:sp>
        <p:nvSpPr>
          <p:cNvPr id="10" name="矢印: 上カーブ 9">
            <a:extLst>
              <a:ext uri="{FF2B5EF4-FFF2-40B4-BE49-F238E27FC236}">
                <a16:creationId xmlns:a16="http://schemas.microsoft.com/office/drawing/2014/main" id="{EFD53EB5-2DF5-3837-D664-047A23D6F5BB}"/>
              </a:ext>
            </a:extLst>
          </p:cNvPr>
          <p:cNvSpPr/>
          <p:nvPr/>
        </p:nvSpPr>
        <p:spPr>
          <a:xfrm rot="2998930">
            <a:off x="1061115" y="5107853"/>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2396854E-3FA1-0DE9-3B7A-3C45CCDF352D}"/>
              </a:ext>
            </a:extLst>
          </p:cNvPr>
          <p:cNvSpPr txBox="1"/>
          <p:nvPr/>
        </p:nvSpPr>
        <p:spPr>
          <a:xfrm>
            <a:off x="451684" y="5383103"/>
            <a:ext cx="1259980" cy="230832"/>
          </a:xfrm>
          <a:prstGeom prst="rect">
            <a:avLst/>
          </a:prstGeom>
          <a:noFill/>
        </p:spPr>
        <p:txBody>
          <a:bodyPr wrap="square">
            <a:spAutoFit/>
          </a:bodyPr>
          <a:lstStyle/>
          <a:p>
            <a:r>
              <a:rPr lang="ja-JP" altLang="en-US" sz="900" dirty="0"/>
              <a:t>ファイル</a:t>
            </a:r>
            <a:r>
              <a:rPr lang="en-US" altLang="ja-JP" sz="900" dirty="0"/>
              <a:t>ID</a:t>
            </a:r>
            <a:r>
              <a:rPr lang="ja-JP" altLang="en-US" sz="900" dirty="0"/>
              <a:t>で</a:t>
            </a:r>
            <a:r>
              <a:rPr lang="en-US" altLang="ja-JP" sz="900" dirty="0"/>
              <a:t>Link</a:t>
            </a:r>
            <a:endParaRPr lang="ja-JP" altLang="en-US" sz="900" dirty="0"/>
          </a:p>
        </p:txBody>
      </p:sp>
      <p:pic>
        <p:nvPicPr>
          <p:cNvPr id="5" name="図 4">
            <a:extLst>
              <a:ext uri="{FF2B5EF4-FFF2-40B4-BE49-F238E27FC236}">
                <a16:creationId xmlns:a16="http://schemas.microsoft.com/office/drawing/2014/main" id="{1C68BE6A-E4C9-E9C5-C905-F4CCD77F529E}"/>
              </a:ext>
            </a:extLst>
          </p:cNvPr>
          <p:cNvPicPr>
            <a:picLocks noChangeAspect="1"/>
          </p:cNvPicPr>
          <p:nvPr/>
        </p:nvPicPr>
        <p:blipFill>
          <a:blip r:embed="rId6"/>
          <a:stretch>
            <a:fillRect/>
          </a:stretch>
        </p:blipFill>
        <p:spPr>
          <a:xfrm>
            <a:off x="472067" y="3464970"/>
            <a:ext cx="2634712" cy="143601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1486958099"/>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ログインユーザは</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のアクセス可否はコントロール可能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仕様書単位に、仕様書アクセス権限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を設計、開示範囲（＝参照権限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添付ファイルの</a:t>
                      </a:r>
                      <a:r>
                        <a:rPr kumimoji="0" lang="ja-JP" altLang="en-US" sz="900" kern="1200" dirty="0">
                          <a:solidFill>
                            <a:schemeClr val="tx1"/>
                          </a:solidFill>
                          <a:latin typeface="Arial" panose="020B0604020202020204" pitchFamily="34" charset="0"/>
                          <a:ea typeface="+mn-ea"/>
                          <a:cs typeface="+mn-cs"/>
                        </a:rPr>
                        <a:t>アクセス権限は、</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仕様書の</a:t>
                      </a:r>
                      <a:r>
                        <a:rPr kumimoji="0" lang="ja-JP" altLang="en-US" sz="900" kern="1200" dirty="0">
                          <a:solidFill>
                            <a:schemeClr val="tx1"/>
                          </a:solidFill>
                          <a:latin typeface="Arial" panose="020B0604020202020204" pitchFamily="34" charset="0"/>
                          <a:ea typeface="+mn-ea"/>
                          <a:cs typeface="+mn-cs"/>
                        </a:rPr>
                        <a:t>新規作成</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solidFill>
                            <a:schemeClr val="tx1"/>
                          </a:solidFill>
                          <a:latin typeface="Arial" panose="020B0604020202020204" pitchFamily="34" charset="0"/>
                        </a:rPr>
                        <a:t>Azure SQL Table</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仕様書の詳細画面直接開く場合、カレントログインユーザのアクセス可否を再度判断する（直接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ファイルの権限設定）は紐付く仕様書の権限に従う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に保存されている添付ファイルのアクセス権限（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する時に対象添付ファイルに対して仕様書に定義したアクセス権限を設定することで制約します。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rgbClr val="FF0000"/>
                          </a:solidFill>
                          <a:latin typeface="Arial" panose="020B0604020202020204" pitchFamily="34" charset="0"/>
                          <a:ea typeface="+mn-ea"/>
                          <a:cs typeface="+mn-cs"/>
                        </a:rPr>
                        <a:t>Upload</a:t>
                      </a:r>
                      <a:r>
                        <a:rPr kumimoji="0" lang="ja-JP" altLang="en-US" sz="900" kern="1200" dirty="0">
                          <a:solidFill>
                            <a:srgbClr val="FF0000"/>
                          </a:solidFill>
                          <a:latin typeface="Arial" panose="020B0604020202020204" pitchFamily="34" charset="0"/>
                          <a:ea typeface="+mn-ea"/>
                          <a:cs typeface="+mn-cs"/>
                        </a:rPr>
                        <a:t>ファイルに該当する権限を付与する</a:t>
                      </a:r>
                      <a:r>
                        <a:rPr kumimoji="0" lang="ja-JP" altLang="en-US" sz="900" kern="1200" dirty="0">
                          <a:solidFill>
                            <a:schemeClr val="tx1"/>
                          </a:solidFill>
                          <a:latin typeface="Arial" panose="020B0604020202020204" pitchFamily="34" charset="0"/>
                          <a:ea typeface="+mn-ea"/>
                          <a:cs typeface="+mn-cs"/>
                        </a:rPr>
                        <a:t>（ファイル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も編集⇒閲覧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権限</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で管理される権限</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405579" y="2591925"/>
            <a:ext cx="4814316" cy="2459878"/>
          </a:xfrm>
          <a:prstGeom prst="rect">
            <a:avLst/>
          </a:prstGeom>
        </p:spPr>
      </p:pic>
      <p:pic>
        <p:nvPicPr>
          <p:cNvPr id="1026" name="Picture 2" descr="Share SharePoint files or folders - Microsoft Support">
            <a:extLst>
              <a:ext uri="{FF2B5EF4-FFF2-40B4-BE49-F238E27FC236}">
                <a16:creationId xmlns:a16="http://schemas.microsoft.com/office/drawing/2014/main" id="{F06D48CA-BC62-02F8-29DC-D269FD6F3A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8494" y="4417533"/>
            <a:ext cx="1630880" cy="1205977"/>
          </a:xfrm>
          <a:prstGeom prst="rect">
            <a:avLst/>
          </a:prstGeom>
          <a:noFill/>
          <a:extLst>
            <a:ext uri="{909E8E84-426E-40DD-AFC4-6F175D3DCCD1}">
              <a14:hiddenFill xmlns:a14="http://schemas.microsoft.com/office/drawing/2010/main">
                <a:solidFill>
                  <a:srgbClr val="FFFFFF"/>
                </a:solidFill>
              </a14:hiddenFill>
            </a:ext>
          </a:extLst>
        </p:spPr>
      </p:pic>
      <p:sp>
        <p:nvSpPr>
          <p:cNvPr id="18" name="矢印: 下 17">
            <a:extLst>
              <a:ext uri="{FF2B5EF4-FFF2-40B4-BE49-F238E27FC236}">
                <a16:creationId xmlns:a16="http://schemas.microsoft.com/office/drawing/2014/main" id="{949B0A6D-60BC-E983-E991-6B0AC3B687FE}"/>
              </a:ext>
            </a:extLst>
          </p:cNvPr>
          <p:cNvSpPr/>
          <p:nvPr/>
        </p:nvSpPr>
        <p:spPr>
          <a:xfrm>
            <a:off x="1667540" y="3669732"/>
            <a:ext cx="181695" cy="1205977"/>
          </a:xfrm>
          <a:prstGeom prst="down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985B5FA5-1D14-A2BC-C281-E5CC22E4ED5D}"/>
              </a:ext>
            </a:extLst>
          </p:cNvPr>
          <p:cNvSpPr txBox="1"/>
          <p:nvPr/>
        </p:nvSpPr>
        <p:spPr>
          <a:xfrm>
            <a:off x="1758387" y="3923308"/>
            <a:ext cx="2616295" cy="553998"/>
          </a:xfrm>
          <a:prstGeom prst="rect">
            <a:avLst/>
          </a:prstGeom>
          <a:noFill/>
        </p:spPr>
        <p:txBody>
          <a:bodyPr wrap="square">
            <a:spAutoFit/>
          </a:bodyPr>
          <a:lstStyle/>
          <a:p>
            <a:r>
              <a:rPr kumimoji="0" lang="ja-JP" altLang="en-US" sz="900" dirty="0">
                <a:solidFill>
                  <a:srgbClr val="FF0000"/>
                </a:solidFill>
                <a:latin typeface="Arial" panose="020B0604020202020204" pitchFamily="34" charset="0"/>
              </a:rPr>
              <a:t>添付ファイルのアクセス権限は</a:t>
            </a:r>
            <a:endParaRPr kumimoji="0" lang="en-US" altLang="ja-JP" sz="900" dirty="0">
              <a:solidFill>
                <a:srgbClr val="FF0000"/>
              </a:solidFill>
              <a:latin typeface="Arial" panose="020B0604020202020204" pitchFamily="34" charset="0"/>
            </a:endParaRPr>
          </a:p>
          <a:p>
            <a:r>
              <a:rPr kumimoji="0" lang="ja-JP" altLang="en-US" sz="900" dirty="0">
                <a:solidFill>
                  <a:srgbClr val="FF0000"/>
                </a:solidFill>
                <a:latin typeface="Arial" panose="020B0604020202020204" pitchFamily="34" charset="0"/>
              </a:rPr>
              <a:t>紐付く仕様書のアクセス権限に従う</a:t>
            </a:r>
            <a:endParaRPr kumimoji="0" lang="en-US" altLang="ja-JP" sz="900" dirty="0">
              <a:solidFill>
                <a:srgbClr val="FF0000"/>
              </a:solidFill>
              <a:latin typeface="Arial" panose="020B0604020202020204" pitchFamily="34" charset="0"/>
            </a:endParaRPr>
          </a:p>
          <a:p>
            <a:r>
              <a:rPr kumimoji="0" lang="en-US" altLang="ja-JP" sz="600" dirty="0">
                <a:solidFill>
                  <a:srgbClr val="FF0000"/>
                </a:solidFill>
                <a:latin typeface="Arial" panose="020B0604020202020204" pitchFamily="34" charset="0"/>
              </a:rPr>
              <a:t>※ SPO </a:t>
            </a:r>
            <a:r>
              <a:rPr kumimoji="0" lang="ja-JP" altLang="en-US" sz="600" dirty="0">
                <a:solidFill>
                  <a:srgbClr val="FF0000"/>
                </a:solidFill>
                <a:latin typeface="Arial" panose="020B0604020202020204" pitchFamily="34" charset="0"/>
              </a:rPr>
              <a:t>には</a:t>
            </a:r>
            <a:r>
              <a:rPr kumimoji="0" lang="en-US" altLang="ja-JP" sz="600" dirty="0">
                <a:solidFill>
                  <a:srgbClr val="FF0000"/>
                </a:solidFill>
                <a:latin typeface="Arial" panose="020B0604020202020204" pitchFamily="34" charset="0"/>
              </a:rPr>
              <a:t> DB</a:t>
            </a:r>
            <a:r>
              <a:rPr kumimoji="0" lang="ja-JP" altLang="en-US" sz="600" dirty="0">
                <a:solidFill>
                  <a:srgbClr val="FF0000"/>
                </a:solidFill>
                <a:latin typeface="Arial" panose="020B0604020202020204" pitchFamily="34" charset="0"/>
              </a:rPr>
              <a:t>に定義された権限グループにないため、権限グループ所属する</a:t>
            </a:r>
            <a:r>
              <a:rPr kumimoji="0" lang="ja-JP" altLang="en-US" sz="600" b="1" u="sng" dirty="0">
                <a:solidFill>
                  <a:srgbClr val="FF0000"/>
                </a:solidFill>
                <a:latin typeface="Arial" panose="020B0604020202020204" pitchFamily="34" charset="0"/>
              </a:rPr>
              <a:t>すべてのユーザ</a:t>
            </a:r>
            <a:r>
              <a:rPr kumimoji="0" lang="ja-JP" altLang="en-US" sz="600" dirty="0">
                <a:solidFill>
                  <a:srgbClr val="FF0000"/>
                </a:solidFill>
                <a:latin typeface="Arial" panose="020B0604020202020204" pitchFamily="34" charset="0"/>
              </a:rPr>
              <a:t>に対して個別権限を付与する</a:t>
            </a:r>
          </a:p>
        </p:txBody>
      </p:sp>
      <p:pic>
        <p:nvPicPr>
          <p:cNvPr id="5" name="図 4">
            <a:extLst>
              <a:ext uri="{FF2B5EF4-FFF2-40B4-BE49-F238E27FC236}">
                <a16:creationId xmlns:a16="http://schemas.microsoft.com/office/drawing/2014/main" id="{0BFE3A5F-4E33-B81C-E1B2-0CD0F7459078}"/>
              </a:ext>
            </a:extLst>
          </p:cNvPr>
          <p:cNvPicPr>
            <a:picLocks noChangeAspect="1"/>
          </p:cNvPicPr>
          <p:nvPr/>
        </p:nvPicPr>
        <p:blipFill>
          <a:blip r:embed="rId5"/>
          <a:stretch>
            <a:fillRect/>
          </a:stretch>
        </p:blipFill>
        <p:spPr>
          <a:xfrm>
            <a:off x="412951" y="2525826"/>
            <a:ext cx="2383990" cy="1299361"/>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172126949"/>
              </p:ext>
            </p:extLst>
          </p:nvPr>
        </p:nvGraphicFramePr>
        <p:xfrm>
          <a:off x="453572" y="867273"/>
          <a:ext cx="11284856" cy="543126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仕様書の定型データの検索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gridSpan="2">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仕様書の定型データの権限制限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vMerge="1">
                  <a:txBody>
                    <a:bodyPr/>
                    <a:lstStyle/>
                    <a:p>
                      <a:endParaRPr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仕様書の添付ファイルの内容から検索キーワードを含むファイルを検索し、該当添付ファイルの所有仕様書レコードを画面に表示する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アクセス権限ありの仕様書（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）の添付ファイルのみはログインユーザの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画面に表示し、承認状態により、編集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閲覧のみが可能とする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a:t>
                      </a:r>
                      <a:r>
                        <a:rPr kumimoji="0" lang="en-US" altLang="ja-JP" sz="900" b="1" kern="1200" dirty="0">
                          <a:solidFill>
                            <a:srgbClr val="C00000"/>
                          </a:solidFill>
                          <a:latin typeface="Arial" panose="020B0604020202020204" pitchFamily="34" charset="0"/>
                          <a:ea typeface="+mn-ea"/>
                          <a:cs typeface="+mn-cs"/>
                        </a:rPr>
                        <a:t>SPO</a:t>
                      </a:r>
                      <a:r>
                        <a:rPr kumimoji="0" lang="ja-JP" altLang="en-US" sz="900" b="1" kern="1200" dirty="0">
                          <a:solidFill>
                            <a:srgbClr val="C00000"/>
                          </a:solidFill>
                          <a:latin typeface="Arial" panose="020B0604020202020204" pitchFamily="34" charset="0"/>
                          <a:ea typeface="+mn-ea"/>
                          <a:cs typeface="+mn-cs"/>
                        </a:rPr>
                        <a:t>の機能を利用</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時点でファイル毎に設定する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済のファイルに対して、関係添付ファイルを権限見直すこと</a:t>
                      </a:r>
                      <a:r>
                        <a:rPr kumimoji="0" lang="ja-JP" altLang="en-US" sz="900" kern="1200" dirty="0">
                          <a:solidFill>
                            <a:srgbClr val="FF0000"/>
                          </a:solidFill>
                          <a:latin typeface="Arial" panose="020B0604020202020204" pitchFamily="34" charset="0"/>
                          <a:ea typeface="+mn-ea"/>
                          <a:cs typeface="+mn-cs"/>
                        </a:rPr>
                        <a:t>で対応</a:t>
                      </a:r>
                      <a:endParaRPr kumimoji="0" lang="en-US" altLang="ja-JP" sz="900"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7831" y="4241577"/>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2676872575"/>
              </p:ext>
            </p:extLst>
          </p:nvPr>
        </p:nvGraphicFramePr>
        <p:xfrm>
          <a:off x="2324608" y="5147529"/>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dirty="0"/>
                        <a:t>主な役割</a:t>
                      </a:r>
                    </a:p>
                  </a:txBody>
                  <a:tcPr marL="40112" marR="40112" marT="20056" marB="20056" anchor="ctr"/>
                </a:tc>
                <a:tc>
                  <a:txBody>
                    <a:bodyPr/>
                    <a:lstStyle/>
                    <a:p>
                      <a:r>
                        <a:rPr lang="ja-JP" altLang="en-US" sz="600" dirty="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dirty="0"/>
                        <a:t>Office 365 Outlook</a:t>
                      </a:r>
                      <a:endParaRPr lang="de-DE" sz="600" dirty="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dirty="0"/>
                        <a:t>Office 365 Groups</a:t>
                      </a:r>
                      <a:endParaRPr lang="de-DE" sz="600" dirty="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7544523" y="1982070"/>
            <a:ext cx="2187995" cy="598392"/>
          </a:xfrm>
          <a:prstGeom prst="rect">
            <a:avLst/>
          </a:prstGeom>
        </p:spPr>
      </p:pic>
      <p:pic>
        <p:nvPicPr>
          <p:cNvPr id="2050" name="Picture 2" descr="Microsoft Graph を使用してカスタム データを使用して Microsoft Search を拡張する - Microsoft Graph  | Microsoft Learn">
            <a:extLst>
              <a:ext uri="{FF2B5EF4-FFF2-40B4-BE49-F238E27FC236}">
                <a16:creationId xmlns:a16="http://schemas.microsoft.com/office/drawing/2014/main" id="{8D380253-D92F-F37C-C5E8-C19245CF6A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18852" y="1079123"/>
            <a:ext cx="1899739" cy="902947"/>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B3DE47-6330-5419-3AAF-F17BDAA7F5F7}"/>
              </a:ext>
            </a:extLst>
          </p:cNvPr>
          <p:cNvSpPr txBox="1"/>
          <p:nvPr/>
        </p:nvSpPr>
        <p:spPr>
          <a:xfrm>
            <a:off x="8953220" y="2176835"/>
            <a:ext cx="759900" cy="230832"/>
          </a:xfrm>
          <a:prstGeom prst="rect">
            <a:avLst/>
          </a:prstGeom>
          <a:noFill/>
        </p:spPr>
        <p:txBody>
          <a:bodyPr wrap="square" rtlCol="0">
            <a:spAutoFit/>
          </a:bodyPr>
          <a:lstStyle/>
          <a:p>
            <a:r>
              <a:rPr kumimoji="1" lang="en-US" altLang="ja-JP" sz="900" dirty="0">
                <a:solidFill>
                  <a:srgbClr val="0070C0"/>
                </a:solidFill>
              </a:rPr>
              <a:t>Front end</a:t>
            </a:r>
            <a:endParaRPr kumimoji="1" lang="ja-JP" altLang="en-US" sz="900" dirty="0">
              <a:solidFill>
                <a:srgbClr val="0070C0"/>
              </a:solidFill>
            </a:endParaRPr>
          </a:p>
        </p:txBody>
      </p:sp>
      <p:sp>
        <p:nvSpPr>
          <p:cNvPr id="9" name="テキスト ボックス 8">
            <a:extLst>
              <a:ext uri="{FF2B5EF4-FFF2-40B4-BE49-F238E27FC236}">
                <a16:creationId xmlns:a16="http://schemas.microsoft.com/office/drawing/2014/main" id="{2D91E257-6E96-85A9-59E0-FFF85CF63D75}"/>
              </a:ext>
            </a:extLst>
          </p:cNvPr>
          <p:cNvSpPr txBox="1"/>
          <p:nvPr/>
        </p:nvSpPr>
        <p:spPr>
          <a:xfrm>
            <a:off x="10581440" y="1765078"/>
            <a:ext cx="759900" cy="230832"/>
          </a:xfrm>
          <a:prstGeom prst="rect">
            <a:avLst/>
          </a:prstGeom>
          <a:noFill/>
        </p:spPr>
        <p:txBody>
          <a:bodyPr wrap="square" rtlCol="0">
            <a:spAutoFit/>
          </a:bodyPr>
          <a:lstStyle/>
          <a:p>
            <a:r>
              <a:rPr kumimoji="1" lang="en-US" altLang="ja-JP" sz="900" dirty="0">
                <a:solidFill>
                  <a:srgbClr val="0070C0"/>
                </a:solidFill>
              </a:rPr>
              <a:t>Back End</a:t>
            </a:r>
            <a:endParaRPr kumimoji="1" lang="ja-JP" altLang="en-US" sz="900" dirty="0">
              <a:solidFill>
                <a:srgbClr val="0070C0"/>
              </a:solidFill>
            </a:endParaRPr>
          </a:p>
        </p:txBody>
      </p:sp>
      <p:sp>
        <p:nvSpPr>
          <p:cNvPr id="10" name="矢印: 上カーブ 9">
            <a:extLst>
              <a:ext uri="{FF2B5EF4-FFF2-40B4-BE49-F238E27FC236}">
                <a16:creationId xmlns:a16="http://schemas.microsoft.com/office/drawing/2014/main" id="{83EA7370-CCA8-6FED-C1B1-44C0CF79D4A0}"/>
              </a:ext>
            </a:extLst>
          </p:cNvPr>
          <p:cNvSpPr/>
          <p:nvPr/>
        </p:nvSpPr>
        <p:spPr>
          <a:xfrm rot="20002720">
            <a:off x="9776085" y="2075807"/>
            <a:ext cx="690888" cy="269369"/>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925970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302012926"/>
              </p:ext>
            </p:extLst>
          </p:nvPr>
        </p:nvGraphicFramePr>
        <p:xfrm>
          <a:off x="414336" y="1068576"/>
          <a:ext cx="11363328" cy="5255221"/>
        </p:xfrm>
        <a:graphic>
          <a:graphicData uri="http://schemas.openxmlformats.org/drawingml/2006/table">
            <a:tbl>
              <a:tblPr firstRow="1">
                <a:tableStyleId>{2D5ABB26-0587-4C30-8999-92F81FD0307C}</a:tableStyleId>
              </a:tblPr>
              <a:tblGrid>
                <a:gridCol w="1987167">
                  <a:extLst>
                    <a:ext uri="{9D8B030D-6E8A-4147-A177-3AD203B41FA5}">
                      <a16:colId xmlns:a16="http://schemas.microsoft.com/office/drawing/2014/main" val="307087368"/>
                    </a:ext>
                  </a:extLst>
                </a:gridCol>
                <a:gridCol w="4600266">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6133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80315">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a:t>
                      </a:r>
                      <a:r>
                        <a:rPr kumimoji="0" lang="en-US" altLang="ja-JP" sz="900" dirty="0">
                          <a:latin typeface="Arial" panose="020B0604020202020204" pitchFamily="34" charset="0"/>
                        </a:rPr>
                        <a:t>ZIP</a:t>
                      </a:r>
                      <a:r>
                        <a:rPr kumimoji="0" lang="zh-CN" altLang="zh-CN" sz="900" dirty="0">
                          <a:latin typeface="Arial" panose="020B0604020202020204" pitchFamily="34" charset="0"/>
                        </a:rPr>
                        <a:t>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zh-CN" altLang="zh-CN" sz="900" dirty="0">
                          <a:latin typeface="Arial" panose="020B0604020202020204" pitchFamily="34" charset="0"/>
                        </a:rPr>
                        <a:t>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89817">
                <a:tc>
                  <a:txBody>
                    <a:bodyPr/>
                    <a:lstStyle/>
                    <a:p>
                      <a:r>
                        <a:rPr lang="ja-JP" altLang="en-US" sz="1100" dirty="0"/>
                        <a:t>複数添付ファイル纏めて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44557">
                <a:tc>
                  <a:txBody>
                    <a:bodyPr/>
                    <a:lstStyle/>
                    <a:p>
                      <a:r>
                        <a:rPr lang="ja-JP" altLang="en-US" sz="1100" dirty="0"/>
                        <a:t>複数添付ファイル一括個別ファイルとしてダウンロード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33008">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746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4715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45488" y="3439437"/>
            <a:ext cx="2668824" cy="790866"/>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031467536"/>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a:t>
            </a:r>
            <a:r>
              <a:rPr lang="ja-JP" altLang="en-US" sz="1600" dirty="0">
                <a:solidFill>
                  <a:srgbClr val="FF0000"/>
                </a:solidFill>
              </a:rPr>
              <a:t>開発</a:t>
            </a:r>
            <a:r>
              <a:rPr kumimoji="1" lang="ja-JP" altLang="en-US" sz="1600" dirty="0">
                <a:solidFill>
                  <a:srgbClr val="FF0000"/>
                </a:solidFill>
              </a:rPr>
              <a:t>コスト増、ユーザの管理作業増につながる恐れがあり、必須でなければ、推奨しません。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1573392209"/>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en-US" altLang="ja-JP" sz="1050" dirty="0"/>
                        <a:t>HA</a:t>
                      </a:r>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5" name="図 4">
            <a:extLst>
              <a:ext uri="{FF2B5EF4-FFF2-40B4-BE49-F238E27FC236}">
                <a16:creationId xmlns:a16="http://schemas.microsoft.com/office/drawing/2014/main" id="{4151152B-5050-BBAB-7042-32B6D79363B7}"/>
              </a:ext>
            </a:extLst>
          </p:cNvPr>
          <p:cNvPicPr>
            <a:picLocks noChangeAspect="1"/>
          </p:cNvPicPr>
          <p:nvPr/>
        </p:nvPicPr>
        <p:blipFill>
          <a:blip r:embed="rId3"/>
          <a:stretch>
            <a:fillRect/>
          </a:stretch>
        </p:blipFill>
        <p:spPr>
          <a:xfrm>
            <a:off x="4625704" y="3708400"/>
            <a:ext cx="7256330" cy="2142926"/>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64689-F7E0-D2F9-56FF-F8587D583D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9342F-9EFE-C639-81D0-71975EF6ACFC}"/>
              </a:ext>
            </a:extLst>
          </p:cNvPr>
          <p:cNvSpPr>
            <a:spLocks noGrp="1"/>
          </p:cNvSpPr>
          <p:nvPr>
            <p:ph type="title"/>
          </p:nvPr>
        </p:nvSpPr>
        <p:spPr>
          <a:xfrm>
            <a:off x="414336" y="255263"/>
            <a:ext cx="9327072" cy="683629"/>
          </a:xfrm>
        </p:spPr>
        <p:txBody>
          <a:bodyPr>
            <a:normAutofit/>
          </a:bodyPr>
          <a:lstStyle/>
          <a:p>
            <a:r>
              <a:rPr lang="ja-JP" altLang="en-US" dirty="0"/>
              <a:t>プロジェクト重要検討事項</a:t>
            </a:r>
            <a:endParaRPr lang="zh-CN" altLang="en-US" dirty="0"/>
          </a:p>
        </p:txBody>
      </p:sp>
      <p:graphicFrame>
        <p:nvGraphicFramePr>
          <p:cNvPr id="4" name="表 3">
            <a:extLst>
              <a:ext uri="{FF2B5EF4-FFF2-40B4-BE49-F238E27FC236}">
                <a16:creationId xmlns:a16="http://schemas.microsoft.com/office/drawing/2014/main" id="{D1F2B9F7-D95B-1715-0897-B3D4CFA7E58A}"/>
              </a:ext>
            </a:extLst>
          </p:cNvPr>
          <p:cNvGraphicFramePr>
            <a:graphicFrameLocks noGrp="1"/>
          </p:cNvGraphicFramePr>
          <p:nvPr>
            <p:extLst>
              <p:ext uri="{D42A27DB-BD31-4B8C-83A1-F6EECF244321}">
                <p14:modId xmlns:p14="http://schemas.microsoft.com/office/powerpoint/2010/main" val="251365849"/>
              </p:ext>
            </p:extLst>
          </p:nvPr>
        </p:nvGraphicFramePr>
        <p:xfrm>
          <a:off x="532873" y="938893"/>
          <a:ext cx="11126254" cy="5307904"/>
        </p:xfrm>
        <a:graphic>
          <a:graphicData uri="http://schemas.openxmlformats.org/drawingml/2006/table">
            <a:tbl>
              <a:tblPr firstRow="1" bandRow="1">
                <a:tableStyleId>{7DF18680-E054-41AD-8BC1-D1AEF772440D}</a:tableStyleId>
              </a:tblPr>
              <a:tblGrid>
                <a:gridCol w="375261">
                  <a:extLst>
                    <a:ext uri="{9D8B030D-6E8A-4147-A177-3AD203B41FA5}">
                      <a16:colId xmlns:a16="http://schemas.microsoft.com/office/drawing/2014/main" val="2481844383"/>
                    </a:ext>
                  </a:extLst>
                </a:gridCol>
                <a:gridCol w="1878715">
                  <a:extLst>
                    <a:ext uri="{9D8B030D-6E8A-4147-A177-3AD203B41FA5}">
                      <a16:colId xmlns:a16="http://schemas.microsoft.com/office/drawing/2014/main" val="2412485662"/>
                    </a:ext>
                  </a:extLst>
                </a:gridCol>
                <a:gridCol w="846461">
                  <a:extLst>
                    <a:ext uri="{9D8B030D-6E8A-4147-A177-3AD203B41FA5}">
                      <a16:colId xmlns:a16="http://schemas.microsoft.com/office/drawing/2014/main" val="1209637643"/>
                    </a:ext>
                  </a:extLst>
                </a:gridCol>
                <a:gridCol w="846461">
                  <a:extLst>
                    <a:ext uri="{9D8B030D-6E8A-4147-A177-3AD203B41FA5}">
                      <a16:colId xmlns:a16="http://schemas.microsoft.com/office/drawing/2014/main" val="1385327848"/>
                    </a:ext>
                  </a:extLst>
                </a:gridCol>
                <a:gridCol w="747011">
                  <a:extLst>
                    <a:ext uri="{9D8B030D-6E8A-4147-A177-3AD203B41FA5}">
                      <a16:colId xmlns:a16="http://schemas.microsoft.com/office/drawing/2014/main" val="240944020"/>
                    </a:ext>
                  </a:extLst>
                </a:gridCol>
                <a:gridCol w="6432345">
                  <a:extLst>
                    <a:ext uri="{9D8B030D-6E8A-4147-A177-3AD203B41FA5}">
                      <a16:colId xmlns:a16="http://schemas.microsoft.com/office/drawing/2014/main" val="187323411"/>
                    </a:ext>
                  </a:extLst>
                </a:gridCol>
              </a:tblGrid>
              <a:tr h="276624">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リスクあり</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276624">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データ移行時の整合性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移行</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276624">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Office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統合の互換性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File Batch</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 </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Download</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Html Page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JavaScript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Guest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ユーザの対応</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1106495">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各社の具体仕様面（操作面含む）に差異が出る</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具体業務</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8819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00835017"/>
                  </a:ext>
                </a:extLst>
              </a:tr>
              <a:tr h="829871">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添付ファイルの権限制御の性能検証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機能面に実績があるので、</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主に性能観点の確認。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en-US" altLang="ja-JP" sz="1100" kern="1200" dirty="0">
                          <a:solidFill>
                            <a:schemeClr val="tx1"/>
                          </a:solidFill>
                          <a:latin typeface="Arial" panose="020B0604020202020204" pitchFamily="34" charset="0"/>
                          <a:ea typeface="+mn-ea"/>
                          <a:cs typeface="+mn-cs"/>
                        </a:rPr>
                        <a:t>※</a:t>
                      </a:r>
                      <a:r>
                        <a:rPr kumimoji="0" lang="ja-JP" altLang="en-US" sz="1100" kern="1200" dirty="0">
                          <a:solidFill>
                            <a:schemeClr val="tx1"/>
                          </a:solidFill>
                          <a:latin typeface="Arial" panose="020B0604020202020204" pitchFamily="34" charset="0"/>
                          <a:ea typeface="+mn-ea"/>
                          <a:cs typeface="+mn-cs"/>
                        </a:rPr>
                        <a:t>　</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Group(DB</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で管理される論理</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が変更されるときに、すでに登録済みの仕様書の添付ファイルに対して、承認フローの状態に合わせて、</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に保存する添付ファイル毎のユーザ毎の権限再設定</a:t>
                      </a:r>
                    </a:p>
                  </a:txBody>
                  <a:tcPr marL="0" marR="0" marT="0" marB="0" anchor="ctr"/>
                </a:tc>
                <a:extLst>
                  <a:ext uri="{0D108BD9-81ED-4DB2-BD59-A6C34878D82A}">
                    <a16:rowId xmlns:a16="http://schemas.microsoft.com/office/drawing/2014/main" val="2592905887"/>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全体性能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Facility</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Dummy</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データを利用した性能評価、</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年間データ、</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20000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ユーザを想定で、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（一覧、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Export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中心）</a:t>
                      </a:r>
                    </a:p>
                  </a:txBody>
                  <a:tcPr marL="0" marR="0" marT="0" marB="0" anchor="ctr"/>
                </a:tc>
                <a:extLst>
                  <a:ext uri="{0D108BD9-81ED-4DB2-BD59-A6C34878D82A}">
                    <a16:rowId xmlns:a16="http://schemas.microsoft.com/office/drawing/2014/main" val="3562567830"/>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利用者は必要な項目に応じてビューの設定</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要検討</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043138237"/>
                  </a:ext>
                </a:extLst>
              </a:tr>
            </a:tbl>
          </a:graphicData>
        </a:graphic>
      </p:graphicFrame>
    </p:spTree>
    <p:extLst>
      <p:ext uri="{BB962C8B-B14F-4D97-AF65-F5344CB8AC3E}">
        <p14:creationId xmlns:p14="http://schemas.microsoft.com/office/powerpoint/2010/main" val="1325886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移行前後データの比較、差異分析、必要によりの対応、移行報告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a:t>
            </a:r>
            <a:r>
              <a:rPr lang="en-US" altLang="ja-JP" sz="700" dirty="0">
                <a:solidFill>
                  <a:srgbClr val="0070C0"/>
                </a:solidFill>
              </a:rPr>
              <a:t> Round2, Round3</a:t>
            </a:r>
            <a:r>
              <a:rPr lang="ja-JP" altLang="en-US" sz="700" dirty="0">
                <a:solidFill>
                  <a:srgbClr val="0070C0"/>
                </a:solidFill>
              </a:rPr>
              <a:t>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686185065"/>
              </p:ext>
            </p:extLst>
          </p:nvPr>
        </p:nvGraphicFramePr>
        <p:xfrm>
          <a:off x="479552" y="836571"/>
          <a:ext cx="11219955" cy="511667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rgbClr val="FF0000"/>
                          </a:solidFill>
                          <a:effectLst/>
                          <a:latin typeface="+mn-lt"/>
                          <a:ea typeface="+mn-ea"/>
                          <a:cs typeface="+mn-cs"/>
                        </a:rPr>
                        <a:t>仕様などリスク</a:t>
                      </a:r>
                      <a:r>
                        <a:rPr lang="en-US" altLang="ja-JP" sz="1050" b="0" u="none" strike="noStrike" kern="1200" dirty="0">
                          <a:solidFill>
                            <a:srgbClr val="FF0000"/>
                          </a:solidFill>
                          <a:effectLst/>
                          <a:latin typeface="+mn-lt"/>
                          <a:ea typeface="+mn-ea"/>
                          <a:cs typeface="+mn-cs"/>
                        </a:rPr>
                        <a:t>Buffer</a:t>
                      </a:r>
                      <a:endParaRPr lang="ja-JP" altLang="en-US" sz="1050" b="0" u="none" strike="noStrike" kern="1200" dirty="0">
                        <a:solidFill>
                          <a:srgbClr val="FF0000"/>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rgbClr val="FF0000"/>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rgbClr val="FF0000"/>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144.06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a:t>
            </a:r>
            <a:r>
              <a:rPr kumimoji="0" lang="en-US" altLang="ja-JP" dirty="0">
                <a:latin typeface="Arial" panose="020B0604020202020204" pitchFamily="34" charset="0"/>
              </a:rPr>
              <a:t>Power  Platform</a:t>
            </a:r>
            <a:r>
              <a:rPr kumimoji="0" lang="ja-JP" altLang="en-US" dirty="0">
                <a:latin typeface="Arial" panose="020B0604020202020204" pitchFamily="34" charset="0"/>
              </a:rPr>
              <a:t>にて</a:t>
            </a:r>
            <a:r>
              <a:rPr kumimoji="0" lang="zh-CN" altLang="zh-CN" dirty="0">
                <a:latin typeface="Arial" panose="020B0604020202020204" pitchFamily="34" charset="0"/>
              </a:rPr>
              <a:t>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extLst>
                    <a:ext uri="{A12FA001-AC4F-418D-AE19-62706E023703}">
                      <ahyp:hlinkClr xmlns:ahyp="http://schemas.microsoft.com/office/drawing/2018/hyperlinkcolor" val="tx"/>
                    </a:ext>
                  </a:extLst>
                </a:hlinkClick>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この見積は、仕様書定型データを</a:t>
            </a:r>
            <a:r>
              <a:rPr kumimoji="0" lang="en-US" altLang="ja-JP" dirty="0">
                <a:latin typeface="Arial" panose="020B0604020202020204" pitchFamily="34" charset="0"/>
              </a:rPr>
              <a:t>Azure SQL</a:t>
            </a:r>
            <a:r>
              <a:rPr kumimoji="0" lang="ja-JP" altLang="en-US" dirty="0">
                <a:latin typeface="Arial" panose="020B0604020202020204" pitchFamily="34" charset="0"/>
              </a:rPr>
              <a:t>に管理、添付ファイルは</a:t>
            </a:r>
            <a:r>
              <a:rPr kumimoji="0" lang="en-US" altLang="ja-JP" dirty="0">
                <a:latin typeface="Arial" panose="020B0604020202020204" pitchFamily="34" charset="0"/>
              </a:rPr>
              <a:t>SPO</a:t>
            </a:r>
            <a:r>
              <a:rPr kumimoji="0" lang="ja-JP" altLang="en-US" dirty="0">
                <a:latin typeface="Arial" panose="020B0604020202020204" pitchFamily="34" charset="0"/>
              </a:rPr>
              <a:t>に管理の前提とする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作業用</a:t>
            </a:r>
            <a:r>
              <a:rPr kumimoji="0" lang="en-US" altLang="ja-JP" dirty="0">
                <a:latin typeface="Arial" panose="020B0604020202020204" pitchFamily="34" charset="0"/>
              </a:rPr>
              <a:t>Software License/</a:t>
            </a:r>
            <a:r>
              <a:rPr kumimoji="0" lang="ja-JP" altLang="en-US" dirty="0">
                <a:latin typeface="Arial" panose="020B0604020202020204" pitchFamily="34" charset="0"/>
              </a:rPr>
              <a:t>各種開発環境は</a:t>
            </a:r>
            <a:r>
              <a:rPr kumimoji="0" lang="en-US" altLang="ja-JP" dirty="0">
                <a:latin typeface="Arial" panose="020B0604020202020204" pitchFamily="34" charset="0"/>
              </a:rPr>
              <a:t>MCC</a:t>
            </a:r>
            <a:r>
              <a:rPr kumimoji="0" lang="ja-JP" altLang="en-US" dirty="0">
                <a:latin typeface="Arial" panose="020B0604020202020204" pitchFamily="34" charset="0"/>
              </a:rPr>
              <a:t>により提供する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MAX 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6C17B-9ACF-4273-9EF4-F7A543FAF213}">
  <ds:schemaRefs/>
</ds:datastoreItem>
</file>

<file path=customXml/itemProps3.xml><?xml version="1.0" encoding="utf-8"?>
<ds:datastoreItem xmlns:ds="http://schemas.openxmlformats.org/officeDocument/2006/customXml" ds:itemID="{BCB922EE-95E3-497F-8326-C2ABF66A4B77}">
  <ds:schemaRefs/>
</ds:datastoreItem>
</file>

<file path=docProps/app.xml><?xml version="1.0" encoding="utf-8"?>
<Properties xmlns="http://schemas.openxmlformats.org/officeDocument/2006/extended-properties" xmlns:vt="http://schemas.openxmlformats.org/officeDocument/2006/docPropsVTypes">
  <Template>MCG_jp_rev1</Template>
  <TotalTime>6239</TotalTime>
  <Words>13210</Words>
  <Application>Microsoft Office PowerPoint</Application>
  <PresentationFormat>ワイド画面</PresentationFormat>
  <Paragraphs>1595</Paragraphs>
  <Slides>27</Slides>
  <Notes>26</Notes>
  <HiddenSlides>0</HiddenSlides>
  <MMClips>0</MMClips>
  <ScaleCrop>false</ScaleCrop>
  <HeadingPairs>
    <vt:vector size="8" baseType="variant">
      <vt:variant>
        <vt:lpstr>使用されているフォント</vt:lpstr>
      </vt:variant>
      <vt:variant>
        <vt:i4>12</vt:i4>
      </vt:variant>
      <vt:variant>
        <vt:lpstr>テーマ</vt:lpstr>
      </vt:variant>
      <vt:variant>
        <vt:i4>6</vt:i4>
      </vt:variant>
      <vt:variant>
        <vt:lpstr>埋め込まれた OLE サーバー</vt:lpstr>
      </vt:variant>
      <vt:variant>
        <vt:i4>1</vt:i4>
      </vt:variant>
      <vt:variant>
        <vt:lpstr>スライド タイトル</vt:lpstr>
      </vt:variant>
      <vt:variant>
        <vt:i4>27</vt:i4>
      </vt:variant>
    </vt:vector>
  </HeadingPairs>
  <TitlesOfParts>
    <vt:vector size="46" baseType="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ストレージの比較</vt:lpstr>
      <vt:lpstr>ストレージの評価</vt:lpstr>
      <vt:lpstr>ストレージの選定理由（ AzureSQL＋SPO）</vt:lpstr>
      <vt:lpstr>全体アーキテクチャ</vt:lpstr>
      <vt:lpstr>要件の実現（メイン機能）</vt:lpstr>
      <vt:lpstr>要件／ソリューション－添付ファイル管理（編集含む）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プロジェクト重要検討事項</vt:lpstr>
      <vt:lpstr>スケジュール</vt:lpstr>
      <vt:lpstr>見積もり</vt:lpstr>
      <vt:lpstr>結論</vt:lpstr>
      <vt:lpstr>備考</vt:lpstr>
      <vt:lpstr>サポートとメンテナンス－瑕疵範囲、保守提案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65</cp:revision>
  <dcterms:created xsi:type="dcterms:W3CDTF">2023-05-25T05:41:00Z</dcterms:created>
  <dcterms:modified xsi:type="dcterms:W3CDTF">2025-10-07T07:24:08Z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