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49"/>
  </p:notesMasterIdLst>
  <p:handoutMasterIdLst>
    <p:handoutMasterId r:id="rId50"/>
  </p:handoutMasterIdLst>
  <p:sldIdLst>
    <p:sldId id="16772939" r:id="rId10"/>
    <p:sldId id="16776365" r:id="rId11"/>
    <p:sldId id="16776366" r:id="rId12"/>
    <p:sldId id="16776367" r:id="rId13"/>
    <p:sldId id="16776368" r:id="rId14"/>
    <p:sldId id="16776409" r:id="rId15"/>
    <p:sldId id="16776410" r:id="rId16"/>
    <p:sldId id="16776411" r:id="rId17"/>
    <p:sldId id="16776369" r:id="rId18"/>
    <p:sldId id="16776371" r:id="rId19"/>
    <p:sldId id="16776406" r:id="rId20"/>
    <p:sldId id="16776405" r:id="rId21"/>
    <p:sldId id="16776373" r:id="rId22"/>
    <p:sldId id="16776407" r:id="rId23"/>
    <p:sldId id="16776376" r:id="rId24"/>
    <p:sldId id="16776408" r:id="rId25"/>
    <p:sldId id="16776380" r:id="rId26"/>
    <p:sldId id="16776381" r:id="rId27"/>
    <p:sldId id="16776382" r:id="rId28"/>
    <p:sldId id="16776383" r:id="rId29"/>
    <p:sldId id="16776384" r:id="rId30"/>
    <p:sldId id="16776385" r:id="rId31"/>
    <p:sldId id="16776386" r:id="rId32"/>
    <p:sldId id="16776387" r:id="rId33"/>
    <p:sldId id="16776388" r:id="rId34"/>
    <p:sldId id="16776390" r:id="rId35"/>
    <p:sldId id="16776391" r:id="rId36"/>
    <p:sldId id="16776403" r:id="rId37"/>
    <p:sldId id="16776389" r:id="rId38"/>
    <p:sldId id="16776393" r:id="rId39"/>
    <p:sldId id="16776394" r:id="rId40"/>
    <p:sldId id="16776395" r:id="rId41"/>
    <p:sldId id="16776396" r:id="rId42"/>
    <p:sldId id="16776397" r:id="rId43"/>
    <p:sldId id="16776398" r:id="rId44"/>
    <p:sldId id="16776399" r:id="rId45"/>
    <p:sldId id="16776400" r:id="rId46"/>
    <p:sldId id="16776401" r:id="rId47"/>
    <p:sldId id="16776402" r:id="rId48"/>
  </p:sldIdLst>
  <p:sldSz cx="12192000" cy="6858000"/>
  <p:notesSz cx="6858000" cy="9144000"/>
  <p:custDataLst>
    <p:tags r:id="rId5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409"/>
            <p14:sldId id="16776410"/>
            <p14:sldId id="16776411"/>
            <p14:sldId id="16776369"/>
            <p14:sldId id="16776371"/>
            <p14:sldId id="16776406"/>
            <p14:sldId id="16776405"/>
            <p14:sldId id="16776373"/>
            <p14:sldId id="16776407"/>
            <p14:sldId id="16776376"/>
            <p14:sldId id="16776408"/>
            <p14:sldId id="16776380"/>
            <p14:sldId id="16776381"/>
            <p14:sldId id="16776382"/>
            <p14:sldId id="16776383"/>
            <p14:sldId id="16776384"/>
            <p14:sldId id="16776385"/>
            <p14:sldId id="16776386"/>
            <p14:sldId id="16776387"/>
            <p14:sldId id="16776388"/>
            <p14:sldId id="16776390"/>
            <p14:sldId id="16776391"/>
            <p14:sldId id="16776403"/>
            <p14:sldId id="16776389"/>
            <p14:sldId id="16776393"/>
            <p14:sldId id="16776394"/>
            <p14:sldId id="16776395"/>
            <p14:sldId id="16776396"/>
            <p14:sldId id="16776397"/>
            <p14:sldId id="16776398"/>
            <p14:sldId id="16776399"/>
            <p14:sldId id="16776400"/>
            <p14:sldId id="16776401"/>
            <p14:sldId id="167764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6E6A29-D205-443F-B7FB-0CD16AC24EE3}" v="209" dt="2025-10-02T11:12:35.71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18" autoAdjust="0"/>
  </p:normalViewPr>
  <p:slideViewPr>
    <p:cSldViewPr snapToGrid="0">
      <p:cViewPr varScale="1">
        <p:scale>
          <a:sx n="159" d="100"/>
          <a:sy n="159" d="100"/>
        </p:scale>
        <p:origin x="1637" y="11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2025/10/3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2025/10/3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4DB5-9D3E-82B5-99D6-4A89C55493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E0686C-208C-E4DA-964C-9DDDF3383D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D29B4-D5FF-EABE-E37D-16D0AD2B145D}"/>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714522-4EFC-A835-32BF-144C70714889}"/>
              </a:ext>
            </a:extLst>
          </p:cNvPr>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extLst>
      <p:ext uri="{BB962C8B-B14F-4D97-AF65-F5344CB8AC3E}">
        <p14:creationId xmlns:p14="http://schemas.microsoft.com/office/powerpoint/2010/main" val="3928067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6DCA-105F-A480-A7B3-9FE3F59512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C35DB4-3900-98B3-8FAA-D45314B7E0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DFE5AE-E8F5-A1C2-1C69-21B9014D5619}"/>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1F04E894-CDA8-D4D0-2DBB-37554A4913D3}"/>
              </a:ext>
            </a:extLst>
          </p:cNvPr>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extLst>
      <p:ext uri="{BB962C8B-B14F-4D97-AF65-F5344CB8AC3E}">
        <p14:creationId xmlns:p14="http://schemas.microsoft.com/office/powerpoint/2010/main" val="1198931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fontAlgn="ctr"/>
            <a:r>
              <a:rPr lang="de-DE" altLang="ja-JP" dirty="0"/>
              <a:t>Can view </a:t>
            </a:r>
            <a:r>
              <a:rPr lang="ja-JP" altLang="en-US" dirty="0"/>
              <a:t>⇒　閲覧 </a:t>
            </a:r>
            <a:r>
              <a:rPr lang="en-US" altLang="ja-JP" dirty="0"/>
              <a:t>(</a:t>
            </a:r>
            <a:r>
              <a:rPr lang="de-DE" altLang="ja-JP" dirty="0"/>
              <a:t>Read)</a:t>
            </a:r>
            <a:r>
              <a:rPr lang="ja-JP" altLang="en-US" dirty="0"/>
              <a:t>　⇒　　サイトやドキュメントを</a:t>
            </a:r>
            <a:r>
              <a:rPr lang="ja-JP" altLang="en-US" b="1" dirty="0"/>
              <a:t>表示</a:t>
            </a:r>
            <a:r>
              <a:rPr lang="ja-JP" altLang="en-US" dirty="0"/>
              <a:t>できます。ファイルを開いて読むことはできますが、内容を変更したり、新しいアイテムを追加したりすることはできません。</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download</a:t>
            </a:r>
            <a:r>
              <a:rPr lang="ja-JP" altLang="en-US" dirty="0"/>
              <a:t>　⇒　閲覧 </a:t>
            </a:r>
            <a:r>
              <a:rPr lang="en-US" altLang="ja-JP" dirty="0"/>
              <a:t>(</a:t>
            </a:r>
            <a:r>
              <a:rPr lang="de-DE" altLang="ja-JP" dirty="0"/>
              <a:t>Read)</a:t>
            </a:r>
            <a:r>
              <a:rPr lang="ja-JP" altLang="en-US" dirty="0"/>
              <a:t>　⇒　　「閲覧」権限の一部として、ファイルを開くだけでなく、</a:t>
            </a:r>
            <a:r>
              <a:rPr lang="ja-JP" altLang="en-US" b="1" dirty="0"/>
              <a:t>自分のローカルデバイスにコピーとしてダウンロード</a:t>
            </a:r>
            <a:r>
              <a:rPr lang="ja-JP" altLang="en-US" dirty="0"/>
              <a:t>できます。</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review </a:t>
            </a:r>
            <a:r>
              <a:rPr lang="ja-JP" altLang="en-US" dirty="0"/>
              <a:t>⇒　</a:t>
            </a:r>
            <a:r>
              <a:rPr lang="ja-JP" altLang="en-US" b="1" dirty="0"/>
              <a:t>投稿 </a:t>
            </a:r>
            <a:r>
              <a:rPr lang="en-US" altLang="ja-JP" b="1" dirty="0"/>
              <a:t>(Contribute)</a:t>
            </a:r>
            <a:r>
              <a:rPr lang="ja-JP" altLang="en-US" dirty="0"/>
              <a:t> の拡張、または </a:t>
            </a:r>
            <a:r>
              <a:rPr lang="ja-JP" altLang="en-US" b="1" dirty="0"/>
              <a:t>カスタム　</a:t>
            </a:r>
            <a:r>
              <a:rPr lang="ja-JP" altLang="en-US" dirty="0"/>
              <a:t>⇒　　ファイルを</a:t>
            </a:r>
            <a:r>
              <a:rPr lang="ja-JP" altLang="en-US" b="1" dirty="0"/>
              <a:t>閲覧</a:t>
            </a:r>
            <a:r>
              <a:rPr lang="ja-JP" altLang="en-US" dirty="0"/>
              <a:t>し、</a:t>
            </a:r>
            <a:r>
              <a:rPr lang="ja-JP" altLang="en-US" b="1" dirty="0"/>
              <a:t>コメントを追加</a:t>
            </a:r>
            <a:r>
              <a:rPr lang="ja-JP" altLang="en-US" dirty="0"/>
              <a:t>したり、ドキュメントの</a:t>
            </a:r>
            <a:r>
              <a:rPr lang="ja-JP" altLang="en-US" b="1" dirty="0"/>
              <a:t>承認プロセスに参加</a:t>
            </a:r>
            <a:r>
              <a:rPr lang="ja-JP" altLang="en-US" dirty="0"/>
              <a:t>したりできます。コンテンツの</a:t>
            </a:r>
            <a:r>
              <a:rPr lang="ja-JP" altLang="en-US" b="1" dirty="0"/>
              <a:t>直接的な編集・削除は含まない</a:t>
            </a:r>
            <a:r>
              <a:rPr lang="ja-JP" altLang="en-US" dirty="0"/>
              <a:t>ことが一般的です。</a:t>
            </a:r>
            <a:endParaRPr lang="en-US" altLang="ja-JP" dirty="0"/>
          </a:p>
          <a:p>
            <a:r>
              <a:rPr lang="de-DE" altLang="ja-JP" dirty="0"/>
              <a:t>Can edit</a:t>
            </a:r>
            <a:r>
              <a:rPr lang="ja-JP" altLang="en-US" dirty="0"/>
              <a:t>　⇒　編集 </a:t>
            </a:r>
            <a:r>
              <a:rPr lang="en-US" altLang="ja-JP" dirty="0"/>
              <a:t>(</a:t>
            </a:r>
            <a:r>
              <a:rPr lang="de-DE" altLang="ja-JP" dirty="0"/>
              <a:t>Edit)</a:t>
            </a:r>
            <a:r>
              <a:rPr lang="ja-JP" altLang="en-US" dirty="0"/>
              <a:t>　⇒　　</a:t>
            </a:r>
            <a:r>
              <a:rPr lang="ja-JP" altLang="en-US" b="1" dirty="0"/>
              <a:t>アイテムの追加、編集、削除</a:t>
            </a:r>
            <a:r>
              <a:rPr lang="ja-JP" altLang="en-US" dirty="0"/>
              <a:t>ができます。ドキュメントライブラリ内のファイルを直接修正したり、リストに新しいアイテムを追加したりできます。</a:t>
            </a:r>
            <a:br>
              <a:rPr lang="en-US" altLang="ja-JP" dirty="0"/>
            </a:br>
            <a:br>
              <a:rPr lang="en-US" altLang="ja-JP" dirty="0"/>
            </a:br>
            <a:br>
              <a:rPr lang="en-US" altLang="ja-JP" dirty="0"/>
            </a:br>
            <a:r>
              <a:rPr lang="en-US" altLang="ja-JP" b="1" dirty="0"/>
              <a:t>1. </a:t>
            </a:r>
            <a:r>
              <a:rPr lang="ja-JP" altLang="en-US" b="1" dirty="0"/>
              <a:t>閲覧 </a:t>
            </a:r>
            <a:r>
              <a:rPr lang="en-US" altLang="ja-JP" b="1" dirty="0"/>
              <a:t>(Read) </a:t>
            </a:r>
            <a:r>
              <a:rPr lang="ja-JP" altLang="en-US" b="1" dirty="0"/>
              <a:t>権限：</a:t>
            </a:r>
            <a:r>
              <a:rPr lang="en-US" altLang="ja-JP" b="1" dirty="0"/>
              <a:t>Can view, Can download</a:t>
            </a:r>
          </a:p>
          <a:p>
            <a:r>
              <a:rPr lang="ja-JP" altLang="en-US" dirty="0"/>
              <a:t>これが最も制限された権限レベルです。</a:t>
            </a:r>
          </a:p>
          <a:p>
            <a:r>
              <a:rPr lang="ja-JP" altLang="en-US" b="1" dirty="0"/>
              <a:t>できること</a:t>
            </a:r>
            <a:r>
              <a:rPr lang="en-US" altLang="ja-JP" b="1" dirty="0"/>
              <a:t>:</a:t>
            </a:r>
            <a:endParaRPr lang="ja-JP" altLang="en-US" dirty="0"/>
          </a:p>
          <a:p>
            <a:pPr lvl="1"/>
            <a:r>
              <a:rPr lang="ja-JP" altLang="en-US" b="1" dirty="0"/>
              <a:t>ファイルの表示</a:t>
            </a:r>
            <a:r>
              <a:rPr lang="en-US" altLang="ja-JP" b="1" dirty="0"/>
              <a:t>/</a:t>
            </a:r>
            <a:r>
              <a:rPr lang="ja-JP" altLang="en-US" b="1" dirty="0"/>
              <a:t>プレビュー </a:t>
            </a:r>
            <a:r>
              <a:rPr lang="en-US" altLang="ja-JP" b="1" dirty="0"/>
              <a:t>(Can view):</a:t>
            </a:r>
            <a:r>
              <a:rPr lang="ja-JP" altLang="en-US" dirty="0"/>
              <a:t> ドキュメントやリストアイテムの内容を見ることができます。</a:t>
            </a:r>
          </a:p>
          <a:p>
            <a:pPr lvl="1"/>
            <a:r>
              <a:rPr lang="ja-JP" altLang="en-US" b="1" dirty="0"/>
              <a:t>ダウンロード </a:t>
            </a:r>
            <a:r>
              <a:rPr lang="en-US" altLang="ja-JP" b="1" dirty="0"/>
              <a:t>(Can download):</a:t>
            </a:r>
            <a:r>
              <a:rPr lang="ja-JP" altLang="en-US" dirty="0"/>
              <a:t> ファイルをローカルに保存できます。</a:t>
            </a:r>
          </a:p>
          <a:p>
            <a:pPr lvl="1"/>
            <a:r>
              <a:rPr lang="ja-JP" altLang="en-US" b="1" dirty="0"/>
              <a:t>バージョン履歴の表示</a:t>
            </a:r>
            <a:r>
              <a:rPr lang="en-US" altLang="ja-JP" b="1" dirty="0"/>
              <a:t>:</a:t>
            </a:r>
            <a:r>
              <a:rPr lang="ja-JP" altLang="en-US" dirty="0"/>
              <a:t> アイテムの変更履歴を見ることができます。</a:t>
            </a:r>
          </a:p>
          <a:p>
            <a:r>
              <a:rPr lang="ja-JP" altLang="en-US" b="1" dirty="0"/>
              <a:t>できないこと</a:t>
            </a:r>
            <a:r>
              <a:rPr lang="en-US" altLang="ja-JP" b="1" dirty="0"/>
              <a:t>:</a:t>
            </a:r>
            <a:endParaRPr lang="ja-JP" altLang="en-US" dirty="0"/>
          </a:p>
          <a:p>
            <a:pPr lvl="1"/>
            <a:r>
              <a:rPr lang="ja-JP" altLang="en-US" b="1" dirty="0"/>
              <a:t>ファイルの変更、編集、削除、名前の変更。</a:t>
            </a:r>
            <a:endParaRPr lang="ja-JP" altLang="en-US" dirty="0"/>
          </a:p>
          <a:p>
            <a:pPr lvl="1"/>
            <a:r>
              <a:rPr lang="ja-JP" altLang="en-US" b="1" dirty="0"/>
              <a:t>新しいファイルの追加。</a:t>
            </a:r>
            <a:endParaRPr lang="ja-JP" altLang="en-US" dirty="0"/>
          </a:p>
          <a:p>
            <a:r>
              <a:rPr lang="en-US" altLang="ja-JP" b="1" dirty="0"/>
              <a:t>2. </a:t>
            </a:r>
            <a:r>
              <a:rPr lang="ja-JP" altLang="en-US" b="1" dirty="0"/>
              <a:t>編集 </a:t>
            </a:r>
            <a:r>
              <a:rPr lang="en-US" altLang="ja-JP" b="1" dirty="0"/>
              <a:t>(Edit) </a:t>
            </a:r>
            <a:r>
              <a:rPr lang="ja-JP" altLang="en-US" b="1" dirty="0"/>
              <a:t>権限：</a:t>
            </a:r>
            <a:r>
              <a:rPr lang="en-US" altLang="ja-JP" b="1" dirty="0"/>
              <a:t>Can edit</a:t>
            </a:r>
          </a:p>
          <a:p>
            <a:r>
              <a:rPr lang="ja-JP" altLang="en-US" dirty="0"/>
              <a:t>これはサイトの日常的なコンテンツ管理に最も使われる権限です。</a:t>
            </a:r>
          </a:p>
          <a:p>
            <a:r>
              <a:rPr lang="ja-JP" altLang="en-US" b="1" dirty="0"/>
              <a:t>できること</a:t>
            </a:r>
            <a:r>
              <a:rPr lang="en-US" altLang="ja-JP" b="1" dirty="0"/>
              <a:t>:</a:t>
            </a:r>
            <a:endParaRPr lang="ja-JP" altLang="en-US" dirty="0"/>
          </a:p>
          <a:p>
            <a:pPr lvl="1"/>
            <a:r>
              <a:rPr lang="ja-JP" altLang="en-US" dirty="0"/>
              <a:t>「閲覧」権限のすべて。</a:t>
            </a:r>
          </a:p>
          <a:p>
            <a:pPr lvl="1"/>
            <a:r>
              <a:rPr lang="ja-JP" altLang="en-US" b="1" dirty="0"/>
              <a:t>アイテムの追加、変更、削除 </a:t>
            </a:r>
            <a:r>
              <a:rPr lang="en-US" altLang="ja-JP" b="1" dirty="0"/>
              <a:t>(Can edit):</a:t>
            </a:r>
            <a:r>
              <a:rPr lang="ja-JP" altLang="en-US" dirty="0"/>
              <a:t> ドキュメントの内容を修正したり、ライブラリから削除したり、リストに新しい項目を追加したりできます。</a:t>
            </a:r>
          </a:p>
          <a:p>
            <a:pPr lvl="1"/>
            <a:r>
              <a:rPr lang="ja-JP" altLang="en-US" b="1" dirty="0"/>
              <a:t>自分の</a:t>
            </a:r>
            <a:r>
              <a:rPr lang="ja-JP" altLang="en-US" dirty="0"/>
              <a:t>アイテムを管理（承認プロセスをバイパスして公開など）。</a:t>
            </a:r>
          </a:p>
          <a:p>
            <a:r>
              <a:rPr lang="en-US" altLang="ja-JP" b="1" dirty="0"/>
              <a:t>3. </a:t>
            </a:r>
            <a:r>
              <a:rPr lang="ja-JP" altLang="en-US" b="1" dirty="0"/>
              <a:t>レビュー </a:t>
            </a:r>
            <a:r>
              <a:rPr lang="en-US" altLang="ja-JP" b="1" dirty="0"/>
              <a:t>(Can review) </a:t>
            </a:r>
            <a:r>
              <a:rPr lang="ja-JP" altLang="en-US" b="1" dirty="0"/>
              <a:t>の位置づけ</a:t>
            </a:r>
          </a:p>
          <a:p>
            <a:r>
              <a:rPr lang="ja-JP" altLang="en-US" dirty="0"/>
              <a:t>「</a:t>
            </a:r>
            <a:r>
              <a:rPr lang="en-US" altLang="ja-JP" dirty="0"/>
              <a:t>Can review</a:t>
            </a:r>
            <a:r>
              <a:rPr lang="ja-JP" altLang="en-US" dirty="0"/>
              <a:t>」という権限は標準の </a:t>
            </a:r>
            <a:r>
              <a:rPr lang="en-US" altLang="ja-JP" dirty="0"/>
              <a:t>SharePoint </a:t>
            </a:r>
            <a:r>
              <a:rPr lang="ja-JP" altLang="en-US" dirty="0"/>
              <a:t>権限レベル名にはありませんが、通常、次のいずれかの状態を指します。</a:t>
            </a:r>
          </a:p>
          <a:p>
            <a:r>
              <a:rPr lang="ja-JP" altLang="en-US" b="1" dirty="0"/>
              <a:t>「投稿 </a:t>
            </a:r>
            <a:r>
              <a:rPr lang="en-US" altLang="ja-JP" b="1" dirty="0"/>
              <a:t>(Contribute)</a:t>
            </a:r>
            <a:r>
              <a:rPr lang="ja-JP" altLang="en-US" b="1" dirty="0"/>
              <a:t>」権限</a:t>
            </a:r>
            <a:r>
              <a:rPr lang="en-US" altLang="ja-JP" b="1" dirty="0"/>
              <a:t>:</a:t>
            </a:r>
            <a:r>
              <a:rPr lang="ja-JP" altLang="en-US" dirty="0"/>
              <a:t> 「編集」権限に近く、ファイルの追加・編集はできますが、サイト自体の設定変更はできません。レビューアーが</a:t>
            </a:r>
            <a:r>
              <a:rPr lang="ja-JP" altLang="en-US" b="1" dirty="0"/>
              <a:t>コメント追加や軽微な修正</a:t>
            </a:r>
            <a:r>
              <a:rPr lang="ja-JP" altLang="en-US" dirty="0"/>
              <a:t>を求められる場合に適用されます。</a:t>
            </a:r>
          </a:p>
          <a:p>
            <a:r>
              <a:rPr lang="ja-JP" altLang="en-US" b="1" dirty="0"/>
              <a:t>承認機能の一部</a:t>
            </a:r>
            <a:r>
              <a:rPr lang="en-US" altLang="ja-JP" b="1" dirty="0"/>
              <a:t>:</a:t>
            </a:r>
            <a:r>
              <a:rPr lang="ja-JP" altLang="en-US" dirty="0"/>
              <a:t> ドキュメントライブラリで</a:t>
            </a:r>
            <a:r>
              <a:rPr lang="ja-JP" altLang="en-US" b="1" dirty="0"/>
              <a:t>コンテンツ承認</a:t>
            </a:r>
            <a:r>
              <a:rPr lang="ja-JP" altLang="en-US" dirty="0"/>
              <a:t>が有効になっている場合、ユーザーがファイルにコメントを残し、そのドキュメントを</a:t>
            </a:r>
            <a:r>
              <a:rPr lang="ja-JP" altLang="en-US" b="1" dirty="0"/>
              <a:t>承認または却下</a:t>
            </a:r>
            <a:r>
              <a:rPr lang="ja-JP" altLang="en-US" dirty="0"/>
              <a:t>する役割を担うことを意味します。この場合、ユーザーは必ずしも「編集」権限を持っている必要はありません。</a:t>
            </a:r>
          </a:p>
          <a:p>
            <a:pPr marL="0" marR="0" lvl="0" indent="0" algn="l" defTabSz="914400" rtl="0" eaLnBrk="1" fontAlgn="ctr" latinLnBrk="0" hangingPunct="1">
              <a:lnSpc>
                <a:spcPct val="100000"/>
              </a:lnSpc>
              <a:spcBef>
                <a:spcPts val="0"/>
              </a:spcBef>
              <a:spcAft>
                <a:spcPts val="0"/>
              </a:spcAft>
              <a:buClrTx/>
              <a:buSzTx/>
              <a:buFontTx/>
              <a:buNone/>
              <a:tabLst/>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extLst>
      <p:ext uri="{BB962C8B-B14F-4D97-AF65-F5344CB8AC3E}">
        <p14:creationId xmlns:p14="http://schemas.microsoft.com/office/powerpoint/2010/main" val="950143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extLst>
      <p:ext uri="{BB962C8B-B14F-4D97-AF65-F5344CB8AC3E}">
        <p14:creationId xmlns:p14="http://schemas.microsoft.com/office/powerpoint/2010/main" val="2147904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3536337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23</a:t>
            </a:fld>
            <a:endParaRPr kumimoji="1"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2390355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38</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39</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10/3/2025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10.xml"/><Relationship Id="rId1" Type="http://schemas.openxmlformats.org/officeDocument/2006/relationships/slideLayout" Target="../slideLayouts/slideLayout8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1.xml"/><Relationship Id="rId1" Type="http://schemas.openxmlformats.org/officeDocument/2006/relationships/slideLayout" Target="../slideLayouts/slideLayout81.xml"/><Relationship Id="rId5" Type="http://schemas.openxmlformats.org/officeDocument/2006/relationships/image" Target="../media/image29.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8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learn.microsoft.com/ja-jp/graph/search-concept-overview"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81.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40.png"/><Relationship Id="rId12" Type="http://schemas.openxmlformats.org/officeDocument/2006/relationships/image" Target="../media/image22.png"/><Relationship Id="rId2" Type="http://schemas.openxmlformats.org/officeDocument/2006/relationships/notesSlide" Target="../notesSlides/notesSlide27.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43.png"/><Relationship Id="rId4" Type="http://schemas.openxmlformats.org/officeDocument/2006/relationships/image" Target="../media/image39.png"/><Relationship Id="rId9" Type="http://schemas.openxmlformats.org/officeDocument/2006/relationships/image" Target="../media/image42.png"/><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8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5.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39.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81.xml"/><Relationship Id="rId5" Type="http://schemas.openxmlformats.org/officeDocument/2006/relationships/image" Target="../media/image43.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AZURE </a:t>
            </a:r>
            <a:r>
              <a:rPr lang="en-US" altLang="ja-JP" sz="3600" dirty="0" err="1"/>
              <a:t>Sql</a:t>
            </a:r>
            <a:r>
              <a:rPr lang="en-US" altLang="ja-JP" sz="3600" dirty="0"/>
              <a:t>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dirty="0">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dirty="0">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dirty="0">
              <a:latin typeface="Yu Gothic UI" panose="020B0500000000000000" pitchFamily="50" charset="-128"/>
              <a:ea typeface="Yu Gothic UI" panose="020B0500000000000000" pitchFamily="50" charset="-128"/>
            </a:endParaRPr>
          </a:p>
          <a:p>
            <a:r>
              <a:rPr lang="ja-JP" altLang="en-US" dirty="0">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dirty="0">
              <a:latin typeface="Yu Gothic UI" panose="020B0500000000000000" pitchFamily="50" charset="-128"/>
              <a:ea typeface="Yu Gothic UI" panose="020B0500000000000000" pitchFamily="50" charset="-128"/>
            </a:endParaRPr>
          </a:p>
          <a:p>
            <a:r>
              <a:rPr lang="en-US" altLang="ja-JP" dirty="0">
                <a:latin typeface="Yu Gothic UI" panose="020B0500000000000000" pitchFamily="50" charset="-128"/>
                <a:ea typeface="Yu Gothic UI" panose="020B0500000000000000" pitchFamily="50" charset="-128"/>
              </a:rPr>
              <a:t>		</a:t>
            </a:r>
            <a:r>
              <a:rPr lang="en-US" altLang="ja-JP" sz="2800" dirty="0">
                <a:latin typeface="Yu Gothic UI" panose="020B0500000000000000" pitchFamily="50" charset="-128"/>
                <a:ea typeface="Yu Gothic UI" panose="020B0500000000000000" pitchFamily="50" charset="-128"/>
              </a:rPr>
              <a:t>PowerPlatform+Office365+Azure SQL</a:t>
            </a:r>
          </a:p>
          <a:p>
            <a:r>
              <a:rPr lang="ja-JP" altLang="en-US" dirty="0">
                <a:latin typeface="Yu Gothic UI" panose="020B0500000000000000" pitchFamily="50" charset="-128"/>
                <a:ea typeface="Yu Gothic UI" panose="020B0500000000000000" pitchFamily="50" charset="-128"/>
              </a:rPr>
              <a:t>での構築方法を提案させていただきます。</a:t>
            </a:r>
            <a:endParaRPr lang="en-US" altLang="ja-JP"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dirty="0">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t>ストレージの比較</a:t>
            </a:r>
            <a:endParaRPr lang="en-US" altLang="ja-JP" sz="1600" dirty="0"/>
          </a:p>
          <a:p>
            <a:pPr marL="285750" indent="-285750">
              <a:buFont typeface="Arial" panose="020B0604020202020204" pitchFamily="34" charset="0"/>
              <a:buChar char="•"/>
            </a:pPr>
            <a:r>
              <a:rPr lang="ja-JP" altLang="en-US" sz="1600" dirty="0"/>
              <a:t>ストレージの評価</a:t>
            </a:r>
            <a:endParaRPr lang="en-US" altLang="ja-JP" sz="1600" dirty="0"/>
          </a:p>
          <a:p>
            <a:pPr marL="285750" indent="-285750">
              <a:buFont typeface="Arial" panose="020B0604020202020204" pitchFamily="34" charset="0"/>
              <a:buChar char="•"/>
            </a:pPr>
            <a:r>
              <a:rPr lang="ja-JP" altLang="en-US" sz="1600" dirty="0"/>
              <a:t>ストレージの選定</a:t>
            </a:r>
            <a:endParaRPr lang="en-US" altLang="ja-JP" sz="1600" dirty="0"/>
          </a:p>
          <a:p>
            <a:pPr marL="285750" indent="-285750">
              <a:buFont typeface="Arial" panose="020B0604020202020204" pitchFamily="34" charset="0"/>
              <a:buChar char="•"/>
            </a:pPr>
            <a:r>
              <a:rPr lang="ja-JP" altLang="en-US" sz="1600" dirty="0"/>
              <a:t>全体アーキテクチャ（添付ファイルは</a:t>
            </a:r>
            <a:r>
              <a:rPr lang="en-US" altLang="ja-JP" sz="1600" dirty="0"/>
              <a:t>SPO</a:t>
            </a:r>
            <a:r>
              <a:rPr lang="ja-JP" altLang="en-US" sz="1600" dirty="0"/>
              <a:t>へ保存の案）</a:t>
            </a:r>
            <a:endParaRPr lang="en-US" altLang="ja-JP" sz="1600" dirty="0"/>
          </a:p>
          <a:p>
            <a:pPr marL="285750" indent="-285750">
              <a:buFont typeface="Arial" panose="020B0604020202020204" pitchFamily="34" charset="0"/>
              <a:buChar char="•"/>
            </a:pPr>
            <a:r>
              <a:rPr lang="ja-JP" altLang="en-US" sz="1600" dirty="0"/>
              <a:t>要件</a:t>
            </a:r>
            <a:r>
              <a:rPr lang="en-US" altLang="ja-JP" sz="1600" dirty="0"/>
              <a:t>/</a:t>
            </a:r>
            <a:r>
              <a:rPr lang="ja-JP" altLang="en-US" sz="1600" dirty="0"/>
              <a:t>ソリューション</a:t>
            </a:r>
            <a:endParaRPr lang="en-US" altLang="ja-JP" sz="1600" dirty="0"/>
          </a:p>
          <a:p>
            <a:pPr marL="742950" lvl="1" indent="-285750">
              <a:buFont typeface="Arial" panose="020B0604020202020204" pitchFamily="34" charset="0"/>
              <a:buChar char="•"/>
            </a:pPr>
            <a:r>
              <a:rPr lang="ja-JP" altLang="en-US" sz="1400" dirty="0"/>
              <a:t>添付ファイル管理（編集を含む）</a:t>
            </a:r>
            <a:endParaRPr lang="en-US" altLang="ja-JP" sz="1400" dirty="0"/>
          </a:p>
          <a:p>
            <a:pPr marL="742950" lvl="1" indent="-285750">
              <a:buFont typeface="Arial" panose="020B0604020202020204" pitchFamily="34" charset="0"/>
              <a:buChar char="•"/>
            </a:pPr>
            <a:r>
              <a:rPr lang="ja-JP" altLang="en-US" sz="1400" dirty="0"/>
              <a:t>一括ダウンロード機能</a:t>
            </a:r>
            <a:endParaRPr lang="en-US" altLang="ja-JP" sz="1400" dirty="0"/>
          </a:p>
          <a:p>
            <a:pPr marL="742950" lvl="1" indent="-285750">
              <a:buFont typeface="Arial" panose="020B0604020202020204" pitchFamily="34" charset="0"/>
              <a:buChar char="•"/>
            </a:pPr>
            <a:r>
              <a:rPr lang="ja-JP" altLang="en-US" sz="1400" dirty="0"/>
              <a:t>検索機能</a:t>
            </a:r>
            <a:endParaRPr lang="en-US" altLang="ja-JP" sz="1400" dirty="0"/>
          </a:p>
          <a:p>
            <a:pPr marL="742950" lvl="1" indent="-285750">
              <a:buFont typeface="Arial" panose="020B0604020202020204" pitchFamily="34" charset="0"/>
              <a:buChar char="•"/>
            </a:pPr>
            <a:r>
              <a:rPr lang="ja-JP" altLang="en-US" sz="1400" dirty="0"/>
              <a:t>パフォーマンス、</a:t>
            </a:r>
            <a:r>
              <a:rPr lang="en-US" altLang="ja-JP" sz="1400" dirty="0"/>
              <a:t>HA</a:t>
            </a:r>
            <a:r>
              <a:rPr lang="ja-JP" altLang="en-US" sz="1400" dirty="0"/>
              <a:t>など</a:t>
            </a:r>
            <a:endParaRPr lang="en-US" altLang="ja-JP" sz="1400" dirty="0"/>
          </a:p>
          <a:p>
            <a:pPr marL="742950" lvl="1" indent="-285750">
              <a:buFont typeface="Arial" panose="020B0604020202020204" pitchFamily="34" charset="0"/>
              <a:buChar char="•"/>
            </a:pPr>
            <a:r>
              <a:rPr lang="ja-JP" altLang="en-US" sz="1400" dirty="0"/>
              <a:t>権限管理</a:t>
            </a:r>
            <a:endParaRPr lang="en-US" altLang="ja-JP" sz="1400" dirty="0"/>
          </a:p>
          <a:p>
            <a:pPr marL="742950" lvl="1" indent="-285750">
              <a:buFont typeface="Arial" panose="020B0604020202020204" pitchFamily="34" charset="0"/>
              <a:buChar char="•"/>
            </a:pPr>
            <a:r>
              <a:rPr lang="ja-JP" altLang="en-US" sz="1400" dirty="0"/>
              <a:t>ユーザ別の属性管理（</a:t>
            </a:r>
            <a:r>
              <a:rPr lang="en-US" altLang="ja-JP" sz="1400" dirty="0"/>
              <a:t>Option</a:t>
            </a:r>
            <a:r>
              <a:rPr lang="ja-JP" altLang="en-US" sz="1400" dirty="0"/>
              <a:t>）</a:t>
            </a:r>
            <a:endParaRPr lang="en-US" altLang="ja-JP" sz="1400" dirty="0"/>
          </a:p>
          <a:p>
            <a:pPr marL="742950" lvl="1" indent="-285750">
              <a:buFont typeface="Arial" panose="020B0604020202020204" pitchFamily="34" charset="0"/>
              <a:buChar char="•"/>
            </a:pPr>
            <a:r>
              <a:rPr lang="ja-JP" altLang="en-US" sz="1400" dirty="0"/>
              <a:t>データ移行</a:t>
            </a:r>
            <a:endParaRPr lang="en-US" altLang="ja-JP" sz="14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プロジェクトリスク</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en-US" altLang="ja-JP" sz="1400" dirty="0"/>
              <a:t>POC</a:t>
            </a:r>
            <a:r>
              <a:rPr lang="ja-JP" altLang="en-US" sz="1400" dirty="0"/>
              <a:t>範囲</a:t>
            </a:r>
            <a:endParaRPr lang="en-US" altLang="ja-JP" sz="1400" dirty="0"/>
          </a:p>
          <a:p>
            <a:pPr marL="742950" lvl="1" indent="-285750">
              <a:buFont typeface="Arial" panose="020B0604020202020204" pitchFamily="34" charset="0"/>
              <a:buChar char="•"/>
            </a:pPr>
            <a:r>
              <a:rPr lang="ja-JP" altLang="en-US" sz="1400" dirty="0"/>
              <a:t>サポートとメンテナンス－瑕疵範囲、保守提案</a:t>
            </a:r>
            <a:endParaRPr lang="en-US" altLang="ja-JP"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324E-E92D-D5A1-F8CB-DFBA1B4BCD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39F42E-2427-3507-E203-456B4AD6255A}"/>
              </a:ext>
            </a:extLst>
          </p:cNvPr>
          <p:cNvSpPr>
            <a:spLocks noGrp="1"/>
          </p:cNvSpPr>
          <p:nvPr>
            <p:ph type="title"/>
          </p:nvPr>
        </p:nvSpPr>
        <p:spPr>
          <a:xfrm>
            <a:off x="414336" y="255263"/>
            <a:ext cx="9327072" cy="683629"/>
          </a:xfrm>
        </p:spPr>
        <p:txBody>
          <a:bodyPr>
            <a:normAutofit/>
          </a:bodyPr>
          <a:lstStyle/>
          <a:p>
            <a:r>
              <a:rPr lang="ja-JP" altLang="en-US" dirty="0"/>
              <a:t>ストレージの比較</a:t>
            </a:r>
          </a:p>
        </p:txBody>
      </p:sp>
      <p:graphicFrame>
        <p:nvGraphicFramePr>
          <p:cNvPr id="5" name="表 4">
            <a:extLst>
              <a:ext uri="{FF2B5EF4-FFF2-40B4-BE49-F238E27FC236}">
                <a16:creationId xmlns:a16="http://schemas.microsoft.com/office/drawing/2014/main" id="{3A6FBDD2-A439-C0DC-4D69-5232C77809C4}"/>
              </a:ext>
            </a:extLst>
          </p:cNvPr>
          <p:cNvGraphicFramePr>
            <a:graphicFrameLocks noGrp="1"/>
          </p:cNvGraphicFramePr>
          <p:nvPr>
            <p:extLst>
              <p:ext uri="{D42A27DB-BD31-4B8C-83A1-F6EECF244321}">
                <p14:modId xmlns:p14="http://schemas.microsoft.com/office/powerpoint/2010/main" val="2888160463"/>
              </p:ext>
            </p:extLst>
          </p:nvPr>
        </p:nvGraphicFramePr>
        <p:xfrm>
          <a:off x="273718" y="954281"/>
          <a:ext cx="11723915" cy="5359261"/>
        </p:xfrm>
        <a:graphic>
          <a:graphicData uri="http://schemas.openxmlformats.org/drawingml/2006/table">
            <a:tbl>
              <a:tblPr firstRow="1">
                <a:tableStyleId>{2D5ABB26-0587-4C30-8999-92F81FD0307C}</a:tableStyleId>
              </a:tblPr>
              <a:tblGrid>
                <a:gridCol w="686402">
                  <a:extLst>
                    <a:ext uri="{9D8B030D-6E8A-4147-A177-3AD203B41FA5}">
                      <a16:colId xmlns:a16="http://schemas.microsoft.com/office/drawing/2014/main" val="2689841149"/>
                    </a:ext>
                  </a:extLst>
                </a:gridCol>
                <a:gridCol w="1119672">
                  <a:extLst>
                    <a:ext uri="{9D8B030D-6E8A-4147-A177-3AD203B41FA5}">
                      <a16:colId xmlns:a16="http://schemas.microsoft.com/office/drawing/2014/main" val="20000"/>
                    </a:ext>
                  </a:extLst>
                </a:gridCol>
                <a:gridCol w="1806127">
                  <a:extLst>
                    <a:ext uri="{9D8B030D-6E8A-4147-A177-3AD203B41FA5}">
                      <a16:colId xmlns:a16="http://schemas.microsoft.com/office/drawing/2014/main" val="20001"/>
                    </a:ext>
                  </a:extLst>
                </a:gridCol>
                <a:gridCol w="2015359">
                  <a:extLst>
                    <a:ext uri="{9D8B030D-6E8A-4147-A177-3AD203B41FA5}">
                      <a16:colId xmlns:a16="http://schemas.microsoft.com/office/drawing/2014/main" val="2142441908"/>
                    </a:ext>
                  </a:extLst>
                </a:gridCol>
                <a:gridCol w="2044377">
                  <a:extLst>
                    <a:ext uri="{9D8B030D-6E8A-4147-A177-3AD203B41FA5}">
                      <a16:colId xmlns:a16="http://schemas.microsoft.com/office/drawing/2014/main" val="20002"/>
                    </a:ext>
                  </a:extLst>
                </a:gridCol>
                <a:gridCol w="1852863">
                  <a:extLst>
                    <a:ext uri="{9D8B030D-6E8A-4147-A177-3AD203B41FA5}">
                      <a16:colId xmlns:a16="http://schemas.microsoft.com/office/drawing/2014/main" val="20003"/>
                    </a:ext>
                  </a:extLst>
                </a:gridCol>
                <a:gridCol w="2199115">
                  <a:extLst>
                    <a:ext uri="{9D8B030D-6E8A-4147-A177-3AD203B41FA5}">
                      <a16:colId xmlns:a16="http://schemas.microsoft.com/office/drawing/2014/main" val="20004"/>
                    </a:ext>
                  </a:extLst>
                </a:gridCol>
              </a:tblGrid>
              <a:tr h="210866">
                <a:tc>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ja-JP" altLang="en-US" sz="700" dirty="0"/>
                        <a:t>項目</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SQL Server 2022</a:t>
                      </a:r>
                      <a:r>
                        <a:rPr lang="en-US" altLang="ja-JP" sz="700" dirty="0">
                          <a:effectLst/>
                        </a:rPr>
                        <a:t>(</a:t>
                      </a:r>
                      <a:r>
                        <a:rPr lang="ja-JP" altLang="en-US" sz="700" dirty="0">
                          <a:effectLst/>
                        </a:rPr>
                        <a:t>オンプレミス</a:t>
                      </a:r>
                      <a:r>
                        <a:rPr lang="en-US" altLang="ja-JP" sz="700" dirty="0">
                          <a:effectLst/>
                        </a:rPr>
                        <a:t>DB</a:t>
                      </a:r>
                      <a:r>
                        <a:rPr lang="en-US" sz="7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effectLst/>
                        </a:rPr>
                        <a:t>Azure SQL Database (</a:t>
                      </a:r>
                      <a:r>
                        <a:rPr lang="ja-JP" altLang="en-US" sz="700" kern="1200" dirty="0">
                          <a:solidFill>
                            <a:schemeClr val="tx1"/>
                          </a:solidFill>
                          <a:effectLst/>
                          <a:latin typeface="+mn-lt"/>
                          <a:ea typeface="+mn-ea"/>
                          <a:cs typeface="+mn-cs"/>
                        </a:rPr>
                        <a:t>クラウド</a:t>
                      </a:r>
                      <a:r>
                        <a:rPr lang="de-DE" altLang="ja-JP" sz="700" kern="1200" dirty="0">
                          <a:solidFill>
                            <a:schemeClr val="tx1"/>
                          </a:solidFill>
                          <a:effectLst/>
                          <a:latin typeface="+mn-lt"/>
                          <a:ea typeface="+mn-ea"/>
                          <a:cs typeface="+mn-cs"/>
                        </a:rPr>
                        <a:t>PaaS)</a:t>
                      </a:r>
                      <a:r>
                        <a:rPr lang="en-US" altLang="ja-JP" sz="700" kern="1200" dirty="0">
                          <a:solidFill>
                            <a:schemeClr val="tx1"/>
                          </a:solidFill>
                          <a:effectLst/>
                          <a:latin typeface="+mn-lt"/>
                          <a:ea typeface="+mn-ea"/>
                          <a:cs typeface="+mn-cs"/>
                        </a:rPr>
                        <a:t>-</a:t>
                      </a:r>
                      <a:r>
                        <a:rPr lang="ja-JP" altLang="en-US" sz="700" b="1" kern="1200" dirty="0">
                          <a:solidFill>
                            <a:srgbClr val="00B050"/>
                          </a:solidFill>
                          <a:effectLst/>
                          <a:latin typeface="+mn-lt"/>
                          <a:ea typeface="+mn-ea"/>
                          <a:cs typeface="+mn-cs"/>
                        </a:rPr>
                        <a:t>定型データ保存に推奨</a:t>
                      </a:r>
                      <a:endParaRPr lang="de-DE" altLang="ja-JP" sz="7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b="1" dirty="0"/>
                        <a:t>SharePoint Online</a:t>
                      </a:r>
                      <a:r>
                        <a:rPr lang="en-US" altLang="ja-JP" sz="700" kern="1200" dirty="0">
                          <a:solidFill>
                            <a:schemeClr val="tx1"/>
                          </a:solidFill>
                          <a:effectLst/>
                          <a:latin typeface="+mn-lt"/>
                          <a:ea typeface="+mn-ea"/>
                          <a:cs typeface="+mn-cs"/>
                        </a:rPr>
                        <a:t>-</a:t>
                      </a:r>
                      <a:r>
                        <a:rPr lang="ja-JP" altLang="en-US" sz="700" b="1" dirty="0">
                          <a:solidFill>
                            <a:srgbClr val="00B050"/>
                          </a:solidFill>
                        </a:rPr>
                        <a:t>ファイル保存に</a:t>
                      </a:r>
                      <a:r>
                        <a:rPr kumimoji="1" lang="ja-JP" altLang="en-US" sz="700" b="1" dirty="0">
                          <a:solidFill>
                            <a:srgbClr val="00B050"/>
                          </a:solidFill>
                        </a:rPr>
                        <a:t>推奨</a:t>
                      </a:r>
                      <a:endParaRPr lang="de-DE" sz="7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117682">
                <a:tc rowSpan="4">
                  <a:txBody>
                    <a:bodyPr/>
                    <a:lstStyle/>
                    <a:p>
                      <a:r>
                        <a:rPr lang="ja-JP" altLang="en-US" sz="700" b="1" kern="1200" dirty="0">
                          <a:solidFill>
                            <a:schemeClr val="dk1"/>
                          </a:solidFill>
                          <a:latin typeface="+mn-lt"/>
                          <a:ea typeface="+mn-ea"/>
                          <a:cs typeface="+mn-cs"/>
                        </a:rPr>
                        <a:t>機能制限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最大サイズ</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300MB (</a:t>
                      </a:r>
                      <a:r>
                        <a:rPr lang="ja-JP" altLang="en-US" sz="600" dirty="0">
                          <a:solidFill>
                            <a:srgbClr val="00B050"/>
                          </a:solidFill>
                        </a:rPr>
                        <a:t>レコードあたり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a:t>
                      </a:r>
                      <a:r>
                        <a:rPr lang="en-US" altLang="ja-JP" sz="600" dirty="0">
                          <a:solidFill>
                            <a:srgbClr val="00B050"/>
                          </a:solidFill>
                        </a:rPr>
                        <a:t>/</a:t>
                      </a:r>
                      <a:r>
                        <a:rPr lang="ja-JP" altLang="en-US" sz="600" dirty="0">
                          <a:solidFill>
                            <a:srgbClr val="00B050"/>
                          </a:solidFill>
                        </a:rPr>
                        <a:t>サーバー設定に依存 </a:t>
                      </a:r>
                      <a:r>
                        <a:rPr lang="en-US" altLang="ja-JP" sz="600" dirty="0">
                          <a:solidFill>
                            <a:srgbClr val="00B050"/>
                          </a:solidFill>
                        </a:rPr>
                        <a:t>(</a:t>
                      </a:r>
                      <a:r>
                        <a:rPr lang="ja-JP" altLang="en-US" sz="600" dirty="0">
                          <a:solidFill>
                            <a:srgbClr val="00B050"/>
                          </a:solidFill>
                        </a:rPr>
                        <a:t>一般的に大きい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15GB (</a:t>
                      </a:r>
                      <a:r>
                        <a:rPr lang="ja-JP" altLang="en-US" sz="600" dirty="0">
                          <a:solidFill>
                            <a:srgbClr val="00B050"/>
                          </a:solidFill>
                        </a:rPr>
                        <a:t>ファイルあたり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ネイティブ全文検索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altLang="ja-JP" sz="600" dirty="0">
                          <a:solidFill>
                            <a:srgbClr val="00B050"/>
                          </a:solidFill>
                        </a:rPr>
                        <a:t>Full-Text Search</a:t>
                      </a:r>
                      <a:r>
                        <a:rPr lang="ja-JP" altLang="en-US" sz="600" dirty="0">
                          <a:solidFill>
                            <a:srgbClr val="00B050"/>
                          </a:solidFill>
                        </a:rPr>
                        <a:t>機能</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 Server 2022</a:t>
                      </a:r>
                      <a:r>
                        <a:rPr lang="ja-JP" altLang="en-US" sz="600" dirty="0">
                          <a:solidFill>
                            <a:srgbClr val="00B050"/>
                          </a:solidFill>
                          <a:effectLst/>
                        </a:rPr>
                        <a:t>はサードパーティ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やカスタム拡張で柔軟性が高く、大規模</a:t>
                      </a:r>
                      <a:r>
                        <a:rPr lang="en-US" altLang="ja-JP" sz="600" dirty="0">
                          <a:solidFill>
                            <a:srgbClr val="00B050"/>
                          </a:solidFill>
                          <a:effectLst/>
                        </a:rPr>
                        <a:t>/</a:t>
                      </a:r>
                      <a:r>
                        <a:rPr lang="ja-JP" altLang="en-US" sz="600" dirty="0">
                          <a:solidFill>
                            <a:srgbClr val="00B050"/>
                          </a:solidFill>
                          <a:effectLst/>
                        </a:rPr>
                        <a:t>複雑な検索に適。</a:t>
                      </a:r>
                      <a:r>
                        <a:rPr lang="en-US" altLang="ja-JP" sz="600" dirty="0">
                          <a:solidFill>
                            <a:srgbClr val="C00000"/>
                          </a:solidFill>
                          <a:effectLst/>
                        </a:rPr>
                        <a:t>Azure SQL</a:t>
                      </a:r>
                      <a:r>
                        <a:rPr lang="ja-JP" altLang="en-US" sz="600" dirty="0">
                          <a:solidFill>
                            <a:srgbClr val="C00000"/>
                          </a:solidFill>
                          <a:effectLst/>
                        </a:rPr>
                        <a:t>は基本に十分だが、カスタマイズ性に欠ける。</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kern="1200" dirty="0">
                          <a:solidFill>
                            <a:srgbClr val="00B050"/>
                          </a:solidFill>
                          <a:latin typeface="+mn-lt"/>
                          <a:ea typeface="+mn-ea"/>
                          <a:cs typeface="+mn-cs"/>
                        </a:rPr>
                        <a:t>はい</a:t>
                      </a:r>
                      <a:r>
                        <a:rPr lang="ja-JP" altLang="en-US" sz="600" kern="1200" dirty="0">
                          <a:solidFill>
                            <a:schemeClr val="tx1"/>
                          </a:solidFill>
                          <a:latin typeface="+mn-lt"/>
                          <a:ea typeface="+mn-ea"/>
                          <a:cs typeface="+mn-cs"/>
                        </a:rPr>
                        <a:t> </a:t>
                      </a:r>
                      <a:r>
                        <a:rPr lang="en-US" altLang="ja-JP" sz="600" kern="1200" dirty="0">
                          <a:solidFill>
                            <a:schemeClr val="tx1"/>
                          </a:solidFill>
                          <a:latin typeface="+mn-lt"/>
                          <a:ea typeface="+mn-ea"/>
                          <a:cs typeface="+mn-cs"/>
                        </a:rPr>
                        <a:t>(</a:t>
                      </a:r>
                      <a:r>
                        <a:rPr lang="en-US" altLang="ja-JP" sz="600" kern="1200" dirty="0" err="1">
                          <a:solidFill>
                            <a:schemeClr val="tx1"/>
                          </a:solidFill>
                          <a:latin typeface="+mn-lt"/>
                          <a:ea typeface="+mn-ea"/>
                          <a:cs typeface="+mn-cs"/>
                        </a:rPr>
                        <a:t>pg_trgm</a:t>
                      </a:r>
                      <a:r>
                        <a:rPr lang="en-US" altLang="ja-JP" sz="600" kern="1200" dirty="0">
                          <a:solidFill>
                            <a:schemeClr val="tx1"/>
                          </a:solidFill>
                          <a:latin typeface="+mn-lt"/>
                          <a:ea typeface="+mn-ea"/>
                          <a:cs typeface="+mn-cs"/>
                        </a:rPr>
                        <a:t> </a:t>
                      </a:r>
                      <a:r>
                        <a:rPr lang="ja-JP" altLang="en-US" sz="600" kern="1200" dirty="0">
                          <a:solidFill>
                            <a:schemeClr val="tx1"/>
                          </a:solidFill>
                          <a:latin typeface="+mn-lt"/>
                          <a:ea typeface="+mn-ea"/>
                          <a:cs typeface="+mn-cs"/>
                        </a:rPr>
                        <a:t>拡張など</a:t>
                      </a:r>
                      <a:r>
                        <a:rPr lang="en-US" altLang="ja-JP" sz="600" kern="1200" dirty="0">
                          <a:solidFill>
                            <a:schemeClr val="tx1"/>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テキスト抽出機能</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SQL Server </a:t>
                      </a:r>
                      <a:r>
                        <a:rPr lang="ja-JP" altLang="en-US" sz="600" dirty="0">
                          <a:solidFill>
                            <a:srgbClr val="C00000"/>
                          </a:solidFill>
                        </a:rPr>
                        <a:t>の機能に依存</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 SQL</a:t>
                      </a:r>
                      <a:r>
                        <a:rPr lang="ja-JP" altLang="en-US" sz="600" dirty="0">
                          <a:solidFill>
                            <a:srgbClr val="00B050"/>
                          </a:solidFill>
                          <a:effectLst/>
                        </a:rPr>
                        <a:t>はクラウド</a:t>
                      </a:r>
                      <a:r>
                        <a:rPr lang="en-US" altLang="ja-JP" sz="600" dirty="0">
                          <a:solidFill>
                            <a:srgbClr val="00B050"/>
                          </a:solidFill>
                          <a:effectLst/>
                        </a:rPr>
                        <a:t>AI</a:t>
                      </a:r>
                      <a:r>
                        <a:rPr lang="ja-JP" altLang="en-US" sz="600" dirty="0">
                          <a:solidFill>
                            <a:srgbClr val="00B050"/>
                          </a:solidFill>
                          <a:effectLst/>
                        </a:rPr>
                        <a:t>連携で高度な抽出（例</a:t>
                      </a:r>
                      <a:r>
                        <a:rPr lang="en-US" altLang="ja-JP" sz="600" dirty="0">
                          <a:solidFill>
                            <a:srgbClr val="00B050"/>
                          </a:solidFill>
                          <a:effectLst/>
                        </a:rPr>
                        <a:t>: </a:t>
                      </a:r>
                      <a:r>
                        <a:rPr lang="ja-JP" altLang="en-US" sz="600" dirty="0">
                          <a:solidFill>
                            <a:srgbClr val="00B050"/>
                          </a:solidFill>
                          <a:effectLst/>
                        </a:rPr>
                        <a:t>自然言語処理）が可能だ</a:t>
                      </a:r>
                      <a:r>
                        <a:rPr lang="ja-JP" altLang="en-US" sz="600" dirty="0">
                          <a:effectLst/>
                        </a:rPr>
                        <a:t>が、</a:t>
                      </a:r>
                      <a:r>
                        <a:rPr lang="ja-JP" altLang="en-US" sz="600" dirty="0">
                          <a:solidFill>
                            <a:srgbClr val="C0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Dataverse Search </a:t>
                      </a:r>
                      <a:r>
                        <a:rPr lang="ja-JP" altLang="en-US" sz="600" dirty="0">
                          <a:solidFill>
                            <a:srgbClr val="C00000"/>
                          </a:solidFill>
                        </a:rPr>
                        <a:t>が内部で行う</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の検索機能が自動で行う</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非テキスト検索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rPr>
                        <a:t>限定的 </a:t>
                      </a:r>
                      <a:r>
                        <a:rPr lang="en-US" altLang="ja-JP" sz="600" kern="1200" dirty="0">
                          <a:solidFill>
                            <a:srgbClr val="C00000"/>
                          </a:solidFill>
                        </a:rPr>
                        <a:t>(</a:t>
                      </a:r>
                      <a:r>
                        <a:rPr lang="ja-JP" altLang="en-US" sz="600" kern="1200" dirty="0">
                          <a:solidFill>
                            <a:srgbClr val="C00000"/>
                          </a:solidFill>
                        </a:rPr>
                        <a:t>インデックスやクエリによる</a:t>
                      </a:r>
                      <a:r>
                        <a:rPr lang="en-US" altLang="ja-JP" sz="600" kern="1200" dirty="0">
                          <a:solidFill>
                            <a:srgbClr val="C00000"/>
                          </a:solidFill>
                        </a:rPr>
                        <a:t>)</a:t>
                      </a:r>
                      <a:r>
                        <a:rPr lang="ja-JP" altLang="en-US" sz="600" kern="1200" dirty="0">
                          <a:solidFill>
                            <a:srgbClr val="C00000"/>
                          </a:solidFill>
                        </a:rPr>
                        <a:t>　ネイティブでは画像</a:t>
                      </a:r>
                      <a:r>
                        <a:rPr lang="en-US" altLang="ja-JP" sz="600" kern="1200" dirty="0">
                          <a:solidFill>
                            <a:srgbClr val="C00000"/>
                          </a:solidFill>
                        </a:rPr>
                        <a:t>/</a:t>
                      </a:r>
                      <a:r>
                        <a:rPr lang="ja-JP" altLang="en-US" sz="600" kern="1200" dirty="0">
                          <a:solidFill>
                            <a:srgbClr val="C00000"/>
                          </a:solidFill>
                        </a:rPr>
                        <a:t>動画内容の認識非対応。カスタム開発に依存。</a:t>
                      </a:r>
                      <a:endParaRPr lang="ja-JP" altLang="en-US" sz="600" kern="1200" dirty="0">
                        <a:solidFill>
                          <a:srgbClr val="C0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C00000"/>
                          </a:solidFill>
                          <a:effectLst/>
                        </a:rPr>
                        <a:t>Azure SQL</a:t>
                      </a:r>
                      <a:r>
                        <a:rPr lang="ja-JP" altLang="en-US" sz="600" dirty="0">
                          <a:solidFill>
                            <a:srgbClr val="C00000"/>
                          </a:solidFill>
                          <a:effectLst/>
                        </a:rPr>
                        <a:t>は</a:t>
                      </a:r>
                      <a:r>
                        <a:rPr lang="en-US" altLang="ja-JP" sz="600" dirty="0">
                          <a:solidFill>
                            <a:srgbClr val="C00000"/>
                          </a:solidFill>
                          <a:effectLst/>
                        </a:rPr>
                        <a:t>AI Search</a:t>
                      </a:r>
                      <a:r>
                        <a:rPr lang="ja-JP" altLang="en-US" sz="600" dirty="0">
                          <a:solidFill>
                            <a:srgbClr val="C00000"/>
                          </a:solidFill>
                          <a:effectLst/>
                        </a:rPr>
                        <a:t>連携で高度な非テキスト検索（例</a:t>
                      </a:r>
                      <a:r>
                        <a:rPr lang="en-US" altLang="ja-JP" sz="600" dirty="0">
                          <a:solidFill>
                            <a:srgbClr val="C00000"/>
                          </a:solidFill>
                          <a:effectLst/>
                        </a:rPr>
                        <a:t>: </a:t>
                      </a:r>
                      <a:r>
                        <a:rPr lang="ja-JP" altLang="en-US" sz="600" dirty="0">
                          <a:solidFill>
                            <a:srgbClr val="C00000"/>
                          </a:solidFill>
                          <a:effectLst/>
                        </a:rPr>
                        <a:t>画像認識）が容易だが、コスト</a:t>
                      </a:r>
                      <a:r>
                        <a:rPr lang="en-US" altLang="ja-JP" sz="600" dirty="0">
                          <a:solidFill>
                            <a:srgbClr val="C00000"/>
                          </a:solidFill>
                          <a:effectLst/>
                        </a:rPr>
                        <a:t>/</a:t>
                      </a:r>
                      <a:r>
                        <a:rPr lang="ja-JP" altLang="en-US" sz="600" dirty="0">
                          <a:solidFill>
                            <a:srgbClr val="C0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メタデータ検索が中心</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メタデータ検索、ファイルプロパティ検索</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184242">
                <a:tc rowSpan="2">
                  <a:txBody>
                    <a:bodyPr/>
                    <a:lstStyle/>
                    <a:p>
                      <a:r>
                        <a:rPr lang="ja-JP" altLang="en-US" sz="7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Apps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直接接続（</a:t>
                      </a:r>
                      <a:r>
                        <a:rPr lang="en-US" altLang="ja-JP" sz="600" dirty="0">
                          <a:solidFill>
                            <a:srgbClr val="00B050"/>
                          </a:solidFill>
                          <a:effectLst/>
                        </a:rPr>
                        <a:t>Gateway</a:t>
                      </a:r>
                      <a:r>
                        <a:rPr lang="ja-JP" altLang="en-US" sz="600" dirty="0">
                          <a:solidFill>
                            <a:srgbClr val="00B050"/>
                          </a:solidFill>
                          <a:effectLst/>
                        </a:rPr>
                        <a:t>不要）。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ファイル添付</a:t>
                      </a:r>
                      <a:r>
                        <a:rPr lang="en-US" altLang="ja-JP" sz="600" dirty="0">
                          <a:solidFill>
                            <a:srgbClr val="00B050"/>
                          </a:solidFill>
                          <a:effectLst/>
                        </a:rPr>
                        <a:t>: </a:t>
                      </a:r>
                      <a:r>
                        <a:rPr lang="ja-JP" altLang="en-US" sz="600" dirty="0">
                          <a:solidFill>
                            <a:srgbClr val="00B050"/>
                          </a:solidFill>
                          <a:effectLst/>
                        </a:rPr>
                        <a:t>ネイティブサポート、</a:t>
                      </a:r>
                      <a:r>
                        <a:rPr lang="en-US" altLang="ja-JP" sz="600" dirty="0">
                          <a:solidFill>
                            <a:srgbClr val="00B050"/>
                          </a:solidFill>
                          <a:effectLst/>
                        </a:rPr>
                        <a:t>Blob</a:t>
                      </a:r>
                      <a:r>
                        <a:rPr lang="ja-JP" altLang="en-US" sz="6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Automate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a:t>
                      </a:r>
                      <a:r>
                        <a:rPr lang="ja-JP" altLang="en-US" sz="600" dirty="0">
                          <a:solidFill>
                            <a:srgbClr val="00B050"/>
                          </a:solidFill>
                          <a:effectLst/>
                        </a:rPr>
                        <a:t>コネクタ直接使用。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ファイルハンドリング</a:t>
                      </a:r>
                      <a:r>
                        <a:rPr lang="en-US" altLang="ja-JP" sz="600" dirty="0">
                          <a:solidFill>
                            <a:srgbClr val="00B050"/>
                          </a:solidFill>
                          <a:effectLst/>
                        </a:rPr>
                        <a:t>: Blob</a:t>
                      </a:r>
                      <a:r>
                        <a:rPr lang="ja-JP" altLang="en-US" sz="6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43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必要なライセンス</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600" kern="1200" dirty="0">
                          <a:solidFill>
                            <a:srgbClr val="00B050"/>
                          </a:solidFill>
                          <a:effectLst/>
                          <a:latin typeface="+mn-lt"/>
                          <a:ea typeface="+mn-ea"/>
                          <a:cs typeface="+mn-cs"/>
                        </a:rPr>
                        <a:t>SQL Server Enterprise/Standard (Full-Text Search </a:t>
                      </a:r>
                      <a:r>
                        <a:rPr lang="ja-JP" altLang="en-US" sz="600" kern="1200" dirty="0">
                          <a:solidFill>
                            <a:srgbClr val="00B050"/>
                          </a:solidFill>
                          <a:effectLst/>
                          <a:latin typeface="+mn-lt"/>
                          <a:ea typeface="+mn-ea"/>
                          <a:cs typeface="+mn-cs"/>
                        </a:rPr>
                        <a:t>は追加費用なし</a:t>
                      </a:r>
                      <a:r>
                        <a:rPr lang="en-US" altLang="ja-JP" sz="600" kern="1200" dirty="0">
                          <a:solidFill>
                            <a:srgbClr val="00B050"/>
                          </a:solidFill>
                          <a:effectLst/>
                          <a:latin typeface="+mn-lt"/>
                          <a:ea typeface="+mn-ea"/>
                          <a:cs typeface="+mn-cs"/>
                        </a:rPr>
                        <a:t>)</a:t>
                      </a:r>
                      <a:r>
                        <a:rPr lang="ja-JP" altLang="en-US" sz="600" kern="1200" dirty="0">
                          <a:solidFill>
                            <a:srgbClr val="00B050"/>
                          </a:solidFill>
                          <a:effectLst/>
                          <a:latin typeface="+mn-lt"/>
                          <a:ea typeface="+mn-ea"/>
                          <a:cs typeface="+mn-cs"/>
                        </a:rPr>
                        <a:t> 、</a:t>
                      </a:r>
                      <a:r>
                        <a:rPr lang="ja-JP" altLang="en-US" sz="600" kern="1200" dirty="0">
                          <a:solidFill>
                            <a:srgbClr val="C00000"/>
                          </a:solidFill>
                          <a:effectLst/>
                        </a:rPr>
                        <a:t>ライセンスが複雑でコスト高。 </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ファイルの大容量ストレージに不向き（</a:t>
                      </a:r>
                      <a:r>
                        <a:rPr lang="en-US" altLang="ja-JP" sz="600" kern="1200" dirty="0">
                          <a:solidFill>
                            <a:srgbClr val="C00000"/>
                          </a:solidFill>
                          <a:effectLst/>
                        </a:rPr>
                        <a:t>Blob</a:t>
                      </a:r>
                      <a:r>
                        <a:rPr lang="ja-JP" altLang="en-US" sz="600" kern="1200" dirty="0">
                          <a:solidFill>
                            <a:srgbClr val="C00000"/>
                          </a:solidFill>
                          <a:effectLst/>
                        </a:rPr>
                        <a:t>推奨）。 </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従量課金</a:t>
                      </a:r>
                      <a:r>
                        <a:rPr lang="en-US" altLang="ja-JP" sz="600" kern="1200" dirty="0">
                          <a:solidFill>
                            <a:schemeClr val="tx1"/>
                          </a:solidFill>
                          <a:effectLst/>
                        </a:rPr>
                        <a:t>: Basic $5/</a:t>
                      </a:r>
                      <a:r>
                        <a:rPr lang="ja-JP" altLang="en-US" sz="600" kern="1200" dirty="0">
                          <a:solidFill>
                            <a:schemeClr val="tx1"/>
                          </a:solidFill>
                          <a:effectLst/>
                        </a:rPr>
                        <a:t>月</a:t>
                      </a:r>
                      <a:r>
                        <a:rPr lang="en-US" altLang="ja-JP" sz="600" kern="1200" dirty="0">
                          <a:solidFill>
                            <a:schemeClr val="tx1"/>
                          </a:solidFill>
                          <a:effectLst/>
                        </a:rPr>
                        <a:t>〜</a:t>
                      </a:r>
                      <a:r>
                        <a:rPr lang="ja-JP" altLang="en-US" sz="600" kern="1200" dirty="0">
                          <a:solidFill>
                            <a:schemeClr val="tx1"/>
                          </a:solidFill>
                          <a:effectLst/>
                        </a:rPr>
                        <a:t>、</a:t>
                      </a:r>
                      <a:r>
                        <a:rPr lang="en-US" altLang="ja-JP" sz="600" kern="1200" dirty="0" err="1">
                          <a:solidFill>
                            <a:schemeClr val="tx1"/>
                          </a:solidFill>
                          <a:effectLst/>
                        </a:rPr>
                        <a:t>vCore</a:t>
                      </a:r>
                      <a:r>
                        <a:rPr lang="en-US" altLang="ja-JP" sz="600" kern="1200" dirty="0">
                          <a:solidFill>
                            <a:schemeClr val="tx1"/>
                          </a:solidFill>
                          <a:effectLst/>
                        </a:rPr>
                        <a:t> $0.5/</a:t>
                      </a:r>
                      <a:r>
                        <a:rPr lang="ja-JP" altLang="en-US" sz="600" kern="1200" dirty="0">
                          <a:solidFill>
                            <a:schemeClr val="tx1"/>
                          </a:solidFill>
                          <a:effectLst/>
                        </a:rPr>
                        <a:t>時間</a:t>
                      </a:r>
                      <a:r>
                        <a:rPr lang="en-US" altLang="ja-JP" sz="600" kern="1200" dirty="0">
                          <a:solidFill>
                            <a:schemeClr val="tx1"/>
                          </a:solidFill>
                          <a:effectLst/>
                        </a:rPr>
                        <a:t>〜</a:t>
                      </a:r>
                      <a:r>
                        <a:rPr lang="ja-JP" altLang="en-US" sz="600" kern="1200" dirty="0">
                          <a:solidFill>
                            <a:schemeClr val="tx1"/>
                          </a:solidFill>
                          <a:effectLst/>
                        </a:rPr>
                        <a:t>（ストレージ</a:t>
                      </a:r>
                      <a:r>
                        <a:rPr lang="en-US" altLang="ja-JP" sz="600" kern="1200" dirty="0">
                          <a:solidFill>
                            <a:schemeClr val="tx1"/>
                          </a:solidFill>
                          <a:effectLst/>
                        </a:rPr>
                        <a:t>$0.10/GB/</a:t>
                      </a:r>
                      <a:r>
                        <a:rPr lang="ja-JP" altLang="en-US" sz="600" kern="1200" dirty="0">
                          <a:solidFill>
                            <a:schemeClr val="tx1"/>
                          </a:solidFill>
                          <a:effectLst/>
                        </a:rPr>
                        <a:t>月）。 </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ファイル</a:t>
                      </a:r>
                      <a:r>
                        <a:rPr lang="en-US" altLang="ja-JP" sz="600" kern="1200" dirty="0">
                          <a:solidFill>
                            <a:schemeClr val="tx1"/>
                          </a:solidFill>
                          <a:effectLst/>
                        </a:rPr>
                        <a:t>: </a:t>
                      </a:r>
                      <a:r>
                        <a:rPr lang="ja-JP" altLang="en-US" sz="600" kern="1200" dirty="0">
                          <a:solidFill>
                            <a:schemeClr val="tx1"/>
                          </a:solidFill>
                          <a:effectLst/>
                        </a:rPr>
                        <a:t>標準料金内、</a:t>
                      </a:r>
                      <a:r>
                        <a:rPr lang="en-US" altLang="ja-JP" sz="600" kern="1200" dirty="0">
                          <a:solidFill>
                            <a:schemeClr val="tx1"/>
                          </a:solidFill>
                          <a:effectLst/>
                        </a:rPr>
                        <a:t>Blob</a:t>
                      </a:r>
                      <a:r>
                        <a:rPr lang="ja-JP" altLang="en-US" sz="600" kern="1200" dirty="0">
                          <a:solidFill>
                            <a:schemeClr val="tx1"/>
                          </a:solidFill>
                          <a:effectLst/>
                        </a:rPr>
                        <a:t>追加で</a:t>
                      </a:r>
                      <a:r>
                        <a:rPr lang="en-US" altLang="ja-JP" sz="600" kern="1200" dirty="0">
                          <a:solidFill>
                            <a:schemeClr val="tx1"/>
                          </a:solidFill>
                          <a:effectLst/>
                        </a:rPr>
                        <a:t>$0.02/GB/</a:t>
                      </a:r>
                      <a:r>
                        <a:rPr lang="ja-JP" altLang="en-US" sz="600" kern="1200" dirty="0">
                          <a:solidFill>
                            <a:schemeClr val="tx1"/>
                          </a:solidFill>
                          <a:effectLst/>
                        </a:rPr>
                        <a:t>月。</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latin typeface="+mn-lt"/>
                          <a:ea typeface="+mn-ea"/>
                          <a:cs typeface="+mn-cs"/>
                        </a:rPr>
                        <a:t>ファイルの</a:t>
                      </a:r>
                      <a:r>
                        <a:rPr lang="en-US" altLang="ja-JP" sz="600" kern="1200" dirty="0">
                          <a:solidFill>
                            <a:srgbClr val="C00000"/>
                          </a:solidFill>
                          <a:effectLst/>
                          <a:latin typeface="+mn-lt"/>
                          <a:ea typeface="+mn-ea"/>
                          <a:cs typeface="+mn-cs"/>
                        </a:rPr>
                        <a:t>Search</a:t>
                      </a:r>
                      <a:r>
                        <a:rPr lang="ja-JP" altLang="en-US" sz="600" kern="1200" dirty="0">
                          <a:solidFill>
                            <a:srgbClr val="C00000"/>
                          </a:solidFill>
                          <a:effectLst/>
                          <a:latin typeface="+mn-lt"/>
                          <a:ea typeface="+mn-ea"/>
                          <a:cs typeface="+mn-cs"/>
                        </a:rPr>
                        <a:t>には、外部サービス依存</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Microsoft Dataverse </a:t>
                      </a:r>
                      <a:r>
                        <a:rPr lang="ja-JP" altLang="en-US" sz="600" dirty="0">
                          <a:solidFill>
                            <a:srgbClr val="00B050"/>
                          </a:solidFill>
                        </a:rPr>
                        <a:t>ライセンス </a:t>
                      </a:r>
                      <a:r>
                        <a:rPr lang="en-US" altLang="ja-JP" sz="600" dirty="0">
                          <a:solidFill>
                            <a:srgbClr val="00B050"/>
                          </a:solidFill>
                        </a:rPr>
                        <a:t>(Dynamics 365 </a:t>
                      </a:r>
                      <a:r>
                        <a:rPr lang="ja-JP" altLang="en-US" sz="600" dirty="0">
                          <a:solidFill>
                            <a:srgbClr val="00B050"/>
                          </a:solidFill>
                        </a:rPr>
                        <a:t>または </a:t>
                      </a:r>
                      <a:r>
                        <a:rPr lang="en-US" altLang="ja-JP" sz="600" dirty="0">
                          <a:solidFill>
                            <a:srgbClr val="00B050"/>
                          </a:solidFill>
                        </a:rPr>
                        <a:t>Power Apps Premium </a:t>
                      </a:r>
                      <a:r>
                        <a:rPr lang="ja-JP" altLang="en-US" sz="600" dirty="0">
                          <a:solidFill>
                            <a:srgbClr val="00B050"/>
                          </a:solidFill>
                        </a:rPr>
                        <a:t>ライセンスに含まれる場合あり</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容量制限（</a:t>
                      </a:r>
                      <a:r>
                        <a:rPr lang="en-US" altLang="ja-JP" sz="600" dirty="0">
                          <a:solidFill>
                            <a:srgbClr val="C00000"/>
                          </a:solidFill>
                          <a:effectLst/>
                        </a:rPr>
                        <a:t>DB/</a:t>
                      </a:r>
                      <a:r>
                        <a:rPr lang="ja-JP" altLang="en-US" sz="600" dirty="0">
                          <a:solidFill>
                            <a:srgbClr val="C00000"/>
                          </a:solidFill>
                          <a:effectLst/>
                        </a:rPr>
                        <a:t>ファイル</a:t>
                      </a:r>
                      <a:r>
                        <a:rPr lang="en-US" altLang="ja-JP" sz="600" dirty="0">
                          <a:solidFill>
                            <a:srgbClr val="C00000"/>
                          </a:solidFill>
                          <a:effectLst/>
                        </a:rPr>
                        <a:t>/</a:t>
                      </a:r>
                      <a:r>
                        <a:rPr lang="ja-JP" altLang="en-US" sz="600" dirty="0">
                          <a:solidFill>
                            <a:srgbClr val="C00000"/>
                          </a:solidFill>
                          <a:effectLst/>
                        </a:rPr>
                        <a:t>ログ別）と高コスト。 </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kern="1200" dirty="0">
                          <a:solidFill>
                            <a:schemeClr val="tx1"/>
                          </a:solidFill>
                          <a:latin typeface="+mn-lt"/>
                          <a:ea typeface="+mn-ea"/>
                          <a:cs typeface="+mn-cs"/>
                        </a:rPr>
                        <a:t>PostgreSQL </a:t>
                      </a:r>
                      <a:r>
                        <a:rPr lang="ja-JP" altLang="en-US" sz="600" kern="1200" dirty="0">
                          <a:solidFill>
                            <a:schemeClr val="tx1"/>
                          </a:solidFill>
                          <a:latin typeface="+mn-lt"/>
                          <a:ea typeface="+mn-ea"/>
                          <a:cs typeface="+mn-cs"/>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600" kern="1200" dirty="0">
                          <a:solidFill>
                            <a:srgbClr val="00B050"/>
                          </a:solidFill>
                          <a:latin typeface="+mn-lt"/>
                          <a:ea typeface="+mn-ea"/>
                          <a:cs typeface="+mn-cs"/>
                        </a:rPr>
                        <a:t>Microsoft</a:t>
                      </a:r>
                      <a:r>
                        <a:rPr lang="de-DE" sz="600" dirty="0">
                          <a:solidFill>
                            <a:srgbClr val="00B050"/>
                          </a:solidFill>
                        </a:rPr>
                        <a:t> 365 </a:t>
                      </a:r>
                      <a:r>
                        <a:rPr lang="ja-JP" altLang="en-US" sz="600" dirty="0">
                          <a:solidFill>
                            <a:srgbClr val="00B050"/>
                          </a:solidFill>
                        </a:rPr>
                        <a:t>ライセンス </a:t>
                      </a:r>
                      <a:r>
                        <a:rPr lang="en-US" altLang="ja-JP" sz="600" dirty="0">
                          <a:solidFill>
                            <a:srgbClr val="00B050"/>
                          </a:solidFill>
                        </a:rPr>
                        <a:t>(</a:t>
                      </a:r>
                      <a:r>
                        <a:rPr lang="de-DE" sz="600" dirty="0">
                          <a:solidFill>
                            <a:srgbClr val="00B050"/>
                          </a:solidFill>
                        </a:rPr>
                        <a:t>SharePoint Online </a:t>
                      </a:r>
                      <a:r>
                        <a:rPr lang="ja-JP" altLang="en-US" sz="600" dirty="0">
                          <a:solidFill>
                            <a:srgbClr val="00B050"/>
                          </a:solidFill>
                        </a:rPr>
                        <a:t>を含むプラン</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423859">
                <a:tc gridSpan="2">
                  <a:txBody>
                    <a:bodyPr/>
                    <a:lstStyle/>
                    <a:p>
                      <a:r>
                        <a:rPr lang="ja-JP" altLang="en-US" sz="7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latin typeface="+mn-lt"/>
                          <a:ea typeface="+mn-ea"/>
                          <a:cs typeface="+mn-cs"/>
                        </a:rPr>
                        <a:t>完全マネージドで高可用性・自動バックアップ。</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スケーラビリティが高く、ファイルは</a:t>
                      </a:r>
                      <a:r>
                        <a:rPr lang="en-US" altLang="ja-JP" sz="600" dirty="0">
                          <a:solidFill>
                            <a:srgbClr val="00B050"/>
                          </a:solidFill>
                          <a:effectLst/>
                        </a:rPr>
                        <a:t>Blob</a:t>
                      </a:r>
                      <a:r>
                        <a:rPr lang="ja-JP" altLang="en-US" sz="600" dirty="0">
                          <a:solidFill>
                            <a:srgbClr val="00B050"/>
                          </a:solidFill>
                          <a:effectLst/>
                        </a:rPr>
                        <a:t>統合で拡張。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a:t>
                      </a:r>
                      <a:r>
                        <a:rPr lang="ja-JP" altLang="en-US" sz="600" dirty="0">
                          <a:solidFill>
                            <a:srgbClr val="00B050"/>
                          </a:solidFill>
                          <a:effectLst/>
                        </a:rPr>
                        <a:t>エコシステムとの親和性抜群。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セキュリティ・スケーラビリティ高く、</a:t>
                      </a:r>
                      <a:r>
                        <a:rPr lang="en-US" altLang="ja-JP" sz="600" kern="1200" dirty="0">
                          <a:solidFill>
                            <a:srgbClr val="00B050"/>
                          </a:solidFill>
                          <a:effectLst/>
                        </a:rPr>
                        <a:t>Power Apps</a:t>
                      </a:r>
                      <a:r>
                        <a:rPr lang="ja-JP" altLang="en-US" sz="600" kern="1200" dirty="0">
                          <a:solidFill>
                            <a:srgbClr val="00B050"/>
                          </a:solidFill>
                          <a:effectLst/>
                        </a:rPr>
                        <a:t>統合。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ビジネスアプリ向けに最適化。</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セットアップ複雑でメンテナンス負荷。 </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84242">
                <a:tc gridSpan="2">
                  <a:txBody>
                    <a:bodyPr/>
                    <a:lstStyle/>
                    <a:p>
                      <a:r>
                        <a:rPr lang="ja-JP" altLang="en-US" sz="7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Full</a:t>
                      </a:r>
                      <a:r>
                        <a:rPr lang="ja-JP" altLang="en-US" sz="600" kern="1200" dirty="0">
                          <a:solidFill>
                            <a:srgbClr val="C00000"/>
                          </a:solidFill>
                          <a:effectLst/>
                        </a:rPr>
                        <a:t> </a:t>
                      </a:r>
                      <a:r>
                        <a:rPr lang="en-US" altLang="ja-JP" sz="600" kern="1200" dirty="0">
                          <a:solidFill>
                            <a:srgbClr val="C00000"/>
                          </a:solidFill>
                          <a:effectLst/>
                        </a:rPr>
                        <a:t>Text Search</a:t>
                      </a:r>
                      <a:r>
                        <a:rPr lang="ja-JP" altLang="en-US" sz="600" kern="1200" dirty="0">
                          <a:solidFill>
                            <a:srgbClr val="C00000"/>
                          </a:solidFill>
                          <a:effectLst/>
                        </a:rPr>
                        <a:t>バグ報告あり（クエリ結果の不整合）。</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503731">
                <a:tc gridSpan="2">
                  <a:txBody>
                    <a:bodyPr/>
                    <a:lstStyle/>
                    <a:p>
                      <a:pPr marL="0" algn="l" defTabSz="914400" rtl="0" eaLnBrk="1" latinLnBrk="0" hangingPunct="1"/>
                      <a:r>
                        <a:rPr lang="ja-JP" altLang="en-US" sz="7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フルテキスト検索でコンテンツ検索が効率的。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高性能で大規模データに強い。</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kern="1200" dirty="0">
                          <a:solidFill>
                            <a:srgbClr val="C00000"/>
                          </a:solidFill>
                          <a:effectLst/>
                        </a:rPr>
                        <a:t>ネットワークボトルネックが発生しやすい（</a:t>
                      </a:r>
                      <a:r>
                        <a:rPr lang="en-US" altLang="ja-JP" sz="600" b="1" u="sng" kern="1200" dirty="0">
                          <a:solidFill>
                            <a:srgbClr val="C00000"/>
                          </a:solidFill>
                          <a:effectLst/>
                        </a:rPr>
                        <a:t>AWS-Azure</a:t>
                      </a:r>
                      <a:r>
                        <a:rPr lang="ja-JP" altLang="en-US" sz="600" b="1" u="sng" kern="1200" dirty="0">
                          <a:solidFill>
                            <a:srgbClr val="C00000"/>
                          </a:solidFill>
                          <a:effectLst/>
                        </a:rPr>
                        <a:t>間の遅延</a:t>
                      </a:r>
                      <a:r>
                        <a:rPr lang="en-US" altLang="ja-JP" sz="600" b="1" u="sng" kern="1200" dirty="0">
                          <a:solidFill>
                            <a:srgbClr val="C00000"/>
                          </a:solidFill>
                          <a:effectLst/>
                        </a:rPr>
                        <a:t>: 50-200ms</a:t>
                      </a:r>
                      <a:r>
                        <a:rPr lang="ja-JP" altLang="en-US" sz="600" b="1" u="sng" kern="1200" dirty="0">
                          <a:solidFill>
                            <a:srgbClr val="C00000"/>
                          </a:solidFill>
                          <a:effectLst/>
                        </a:rPr>
                        <a:t>程度、データ転送量次第でボトルネック）。大規模クエリで顕著。</a:t>
                      </a:r>
                      <a:endParaRPr lang="ja-JP" altLang="en-US" sz="6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リレーショナルクエリとコンテンツ検索（フルテキスト）がネイティブサポート。 </a:t>
                      </a:r>
                      <a:endParaRPr lang="en-US" altLang="ja-JP" sz="6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6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複雑なクエリでパフォーマンス低下。 </a:t>
                      </a:r>
                      <a:endParaRPr lang="ja-JP" altLang="en-US" sz="6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ACID</a:t>
                      </a:r>
                      <a:r>
                        <a:rPr lang="ja-JP" altLang="en-US" sz="600" dirty="0">
                          <a:solidFill>
                            <a:srgbClr val="00B050"/>
                          </a:solidFill>
                          <a:effectLst/>
                        </a:rPr>
                        <a:t>準拠で信頼性高く、拡張性良好。 </a:t>
                      </a:r>
                      <a:r>
                        <a:rPr lang="en-US" altLang="ja-JP" sz="600" dirty="0">
                          <a:solidFill>
                            <a:srgbClr val="00B050"/>
                          </a:solidFill>
                          <a:effectLst/>
                        </a:rPr>
                        <a:t>- </a:t>
                      </a:r>
                      <a:r>
                        <a:rPr lang="ja-JP" altLang="en-US" sz="600" dirty="0">
                          <a:solidFill>
                            <a:srgbClr val="00B050"/>
                          </a:solidFill>
                          <a:effectLst/>
                        </a:rPr>
                        <a:t>カスタム拡張（</a:t>
                      </a:r>
                      <a:r>
                        <a:rPr lang="en-US" altLang="ja-JP" sz="600" dirty="0" err="1">
                          <a:solidFill>
                            <a:srgbClr val="00B050"/>
                          </a:solidFill>
                          <a:effectLst/>
                        </a:rPr>
                        <a:t>pg_trgm</a:t>
                      </a:r>
                      <a:r>
                        <a:rPr lang="ja-JP" altLang="en-US" sz="600" dirty="0">
                          <a:solidFill>
                            <a:srgbClr val="00B050"/>
                          </a:solidFill>
                          <a:effectLst/>
                        </a:rPr>
                        <a:t>など）でファイル検索強化。</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dirty="0">
                          <a:solidFill>
                            <a:srgbClr val="C00000"/>
                          </a:solidFill>
                          <a:effectLst/>
                        </a:rPr>
                        <a:t>大容量ファイルストレージに不向き（</a:t>
                      </a:r>
                      <a:r>
                        <a:rPr lang="en-US" altLang="ja-JP" sz="600" b="1" u="sng" dirty="0">
                          <a:solidFill>
                            <a:srgbClr val="C00000"/>
                          </a:solidFill>
                          <a:effectLst/>
                        </a:rPr>
                        <a:t>TOAST</a:t>
                      </a:r>
                      <a:r>
                        <a:rPr lang="ja-JP" altLang="en-US" sz="600" b="1" u="sng" dirty="0">
                          <a:solidFill>
                            <a:srgbClr val="C00000"/>
                          </a:solidFill>
                          <a:effectLst/>
                        </a:rPr>
                        <a:t>使用でパフォーマンス低下）</a:t>
                      </a:r>
                      <a:r>
                        <a:rPr lang="ja-JP" altLang="en-US" sz="600" u="sng" dirty="0">
                          <a:solidFill>
                            <a:srgbClr val="C00000"/>
                          </a:solidFill>
                          <a:effectLst/>
                        </a:rPr>
                        <a:t>。 </a:t>
                      </a:r>
                      <a:endParaRPr lang="en-US" altLang="ja-JP" sz="600" u="sng"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商用サポート別途必要。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ファイル中心のストレージでメタデータによる関係性管理。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強力な検索（</a:t>
                      </a:r>
                      <a:r>
                        <a:rPr lang="en-US" altLang="ja-JP" sz="600" dirty="0">
                          <a:solidFill>
                            <a:srgbClr val="00B050"/>
                          </a:solidFill>
                          <a:effectLst/>
                        </a:rPr>
                        <a:t>Microsoft Search</a:t>
                      </a:r>
                      <a:r>
                        <a:rPr lang="ja-JP" altLang="en-US" sz="600" dirty="0">
                          <a:solidFill>
                            <a:srgbClr val="00B050"/>
                          </a:solidFill>
                          <a:effectLst/>
                        </a:rPr>
                        <a:t>）でコンテンツ抽出優秀。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コラボレーション・バージョン管理がネイティブ。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M365</a:t>
                      </a:r>
                      <a:r>
                        <a:rPr lang="ja-JP" altLang="en-US" sz="600" dirty="0">
                          <a:solidFill>
                            <a:srgbClr val="00B050"/>
                          </a:solidFill>
                          <a:effectLst/>
                        </a:rPr>
                        <a:t>統合でユーザー友好。</a:t>
                      </a:r>
                    </a:p>
                    <a:p>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503731">
                <a:tc rowSpan="5">
                  <a:txBody>
                    <a:bodyPr/>
                    <a:lstStyle/>
                    <a:p>
                      <a:pPr marL="0" algn="l" defTabSz="914400" rtl="0" eaLnBrk="1" latinLnBrk="0" hangingPunct="1"/>
                      <a:r>
                        <a:rPr lang="ja-JP" altLang="en-US" sz="7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ltLang="ja-JP" sz="600" kern="1200" dirty="0">
                          <a:solidFill>
                            <a:srgbClr val="C00000"/>
                          </a:solidFill>
                          <a:effectLst/>
                        </a:rPr>
                        <a:t>On-premises data gateway</a:t>
                      </a:r>
                      <a:r>
                        <a:rPr lang="ja-JP" altLang="de-DE" sz="600" kern="1200" dirty="0">
                          <a:solidFill>
                            <a:srgbClr val="C00000"/>
                          </a:solidFill>
                          <a:effectLst/>
                        </a:rPr>
                        <a:t>（</a:t>
                      </a:r>
                      <a:r>
                        <a:rPr lang="ja-JP" altLang="en-US" sz="600" kern="1200" dirty="0">
                          <a:solidFill>
                            <a:srgbClr val="C00000"/>
                          </a:solidFill>
                          <a:effectLst/>
                        </a:rPr>
                        <a:t>以下、</a:t>
                      </a:r>
                      <a:r>
                        <a:rPr lang="de-DE" altLang="ja-JP" sz="600" kern="1200" dirty="0">
                          <a:solidFill>
                            <a:srgbClr val="C00000"/>
                          </a:solidFill>
                          <a:effectLst/>
                        </a:rPr>
                        <a:t>Gateway</a:t>
                      </a:r>
                      <a:r>
                        <a:rPr lang="ja-JP" altLang="de-DE" sz="600" kern="1200" dirty="0">
                          <a:solidFill>
                            <a:srgbClr val="C00000"/>
                          </a:solidFill>
                          <a:effectLst/>
                        </a:rPr>
                        <a:t>）</a:t>
                      </a:r>
                      <a:r>
                        <a:rPr lang="ja-JP" altLang="en-US" sz="600" kern="1200" dirty="0">
                          <a:solidFill>
                            <a:srgbClr val="C00000"/>
                          </a:solidFill>
                          <a:effectLst/>
                        </a:rPr>
                        <a:t>のインストールが必要。</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C00000"/>
                          </a:solidFill>
                          <a:effectLst/>
                        </a:rPr>
                        <a:t>作業量高：サーバー</a:t>
                      </a:r>
                      <a:r>
                        <a:rPr lang="en-US" altLang="ja-JP" sz="600" kern="1200" dirty="0">
                          <a:solidFill>
                            <a:srgbClr val="C00000"/>
                          </a:solidFill>
                          <a:effectLst/>
                        </a:rPr>
                        <a:t>OS</a:t>
                      </a:r>
                      <a:r>
                        <a:rPr lang="ja-JP" altLang="en-US" sz="600" kern="1200" dirty="0">
                          <a:solidFill>
                            <a:srgbClr val="C00000"/>
                          </a:solidFill>
                          <a:effectLst/>
                        </a:rPr>
                        <a:t>インストール、</a:t>
                      </a:r>
                      <a:r>
                        <a:rPr lang="en-US" altLang="ja-JP" sz="600" kern="1200" dirty="0">
                          <a:solidFill>
                            <a:srgbClr val="C00000"/>
                          </a:solidFill>
                          <a:effectLst/>
                        </a:rPr>
                        <a:t>DB</a:t>
                      </a:r>
                      <a:r>
                        <a:rPr lang="ja-JP" altLang="en-US" sz="600" kern="1200" dirty="0">
                          <a:solidFill>
                            <a:srgbClr val="C00000"/>
                          </a:solidFill>
                          <a:effectLst/>
                        </a:rPr>
                        <a:t>セットアップ、セキュリティ設定、バックアップ構成が必要。デバッグでツール（</a:t>
                      </a:r>
                      <a:r>
                        <a:rPr lang="en-US" altLang="ja-JP" sz="600" kern="1200" dirty="0">
                          <a:solidFill>
                            <a:srgbClr val="C00000"/>
                          </a:solidFill>
                          <a:effectLst/>
                        </a:rPr>
                        <a:t>SSMS</a:t>
                      </a:r>
                      <a:r>
                        <a:rPr lang="ja-JP" altLang="en-US" sz="600" kern="1200" dirty="0">
                          <a:solidFill>
                            <a:srgbClr val="C00000"/>
                          </a:solidFill>
                          <a:effectLst/>
                        </a:rPr>
                        <a:t>）導入、テストがすべて必要。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Azure</a:t>
                      </a:r>
                      <a:r>
                        <a:rPr lang="ja-JP" altLang="en-US" sz="600" dirty="0">
                          <a:solidFill>
                            <a:srgbClr val="00B050"/>
                          </a:solidFill>
                          <a:effectLst/>
                        </a:rPr>
                        <a:t>ポータルで数分でデプロイ。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デバッグは</a:t>
                      </a:r>
                      <a:r>
                        <a:rPr lang="en-US" altLang="ja-JP" sz="600" dirty="0">
                          <a:solidFill>
                            <a:srgbClr val="00B050"/>
                          </a:solidFill>
                          <a:effectLst/>
                        </a:rPr>
                        <a:t>Azure</a:t>
                      </a:r>
                      <a:r>
                        <a:rPr lang="ja-JP" altLang="en-US" sz="600" dirty="0">
                          <a:solidFill>
                            <a:srgbClr val="00B050"/>
                          </a:solidFill>
                          <a:effectLst/>
                        </a:rPr>
                        <a:t>ツールで即時、学習曲線短め（数時間）。</a:t>
                      </a:r>
                      <a:endParaRPr lang="en-US" altLang="ja-JP" sz="6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Microsoft 365</a:t>
                      </a:r>
                      <a:r>
                        <a:rPr lang="ja-JP" altLang="en-US" sz="600" dirty="0">
                          <a:solidFill>
                            <a:srgbClr val="00B050"/>
                          </a:solidFill>
                          <a:effectLst/>
                        </a:rPr>
                        <a:t>統合で即時セットアップ。デバッグは</a:t>
                      </a:r>
                      <a:r>
                        <a:rPr lang="en-US" altLang="ja-JP" sz="600" dirty="0">
                          <a:solidFill>
                            <a:srgbClr val="00B050"/>
                          </a:solidFill>
                          <a:effectLst/>
                        </a:rPr>
                        <a:t>Power Platform</a:t>
                      </a:r>
                      <a:r>
                        <a:rPr lang="ja-JP" altLang="en-US" sz="600" dirty="0">
                          <a:solidFill>
                            <a:srgbClr val="00B050"/>
                          </a:solidFill>
                          <a:effectLst/>
                        </a:rPr>
                        <a:t>ツールで簡単</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弊社実績があり、</a:t>
                      </a:r>
                    </a:p>
                    <a:p>
                      <a:pPr marL="0" indent="0">
                        <a:buFont typeface="Arial" panose="020B0604020202020204" pitchFamily="34" charset="0"/>
                        <a:buNone/>
                      </a:pP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作業量中：インストール（</a:t>
                      </a:r>
                      <a:r>
                        <a:rPr lang="en-US" altLang="ja-JP" sz="600" dirty="0">
                          <a:solidFill>
                            <a:srgbClr val="C00000"/>
                          </a:solidFill>
                          <a:effectLst/>
                        </a:rPr>
                        <a:t>Docker</a:t>
                      </a:r>
                      <a:r>
                        <a:rPr lang="ja-JP" altLang="en-US" sz="600" dirty="0">
                          <a:solidFill>
                            <a:srgbClr val="C00000"/>
                          </a:solidFill>
                          <a:effectLst/>
                        </a:rPr>
                        <a:t>推奨）、構成（インデックス</a:t>
                      </a:r>
                      <a:r>
                        <a:rPr lang="en-US" altLang="ja-JP" sz="600" dirty="0">
                          <a:solidFill>
                            <a:srgbClr val="C00000"/>
                          </a:solidFill>
                          <a:effectLst/>
                        </a:rPr>
                        <a:t>/</a:t>
                      </a:r>
                      <a:r>
                        <a:rPr lang="ja-JP" altLang="en-US" sz="600" dirty="0">
                          <a:solidFill>
                            <a:srgbClr val="C00000"/>
                          </a:solidFill>
                          <a:effectLst/>
                        </a:rPr>
                        <a:t>検索設定）で複難。</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デバッグツール（</a:t>
                      </a:r>
                      <a:r>
                        <a:rPr lang="en-US" altLang="ja-JP" sz="600" dirty="0" err="1">
                          <a:solidFill>
                            <a:srgbClr val="C00000"/>
                          </a:solidFill>
                          <a:effectLst/>
                        </a:rPr>
                        <a:t>pgAdmin</a:t>
                      </a:r>
                      <a:r>
                        <a:rPr lang="ja-JP" altLang="en-US" sz="600" dirty="0">
                          <a:solidFill>
                            <a:srgbClr val="C00000"/>
                          </a:solidFill>
                          <a:effectLst/>
                        </a:rPr>
                        <a:t>）で中程度。</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effectLst/>
                        </a:rPr>
                        <a:t>下記以外に個別環境構築不要</a:t>
                      </a:r>
                      <a:endParaRPr lang="en-US" altLang="ja-JP" sz="600" dirty="0">
                        <a:effectLst/>
                      </a:endParaRPr>
                    </a:p>
                    <a:p>
                      <a:pPr marL="0" indent="0">
                        <a:buFont typeface="Arial" panose="020B0604020202020204" pitchFamily="34" charset="0"/>
                        <a:buNone/>
                      </a:pPr>
                      <a:r>
                        <a:rPr lang="en-US" altLang="ja-JP" sz="600" dirty="0">
                          <a:effectLst/>
                        </a:rPr>
                        <a:t>Microsoft Search</a:t>
                      </a:r>
                      <a:r>
                        <a:rPr lang="ja-JP" altLang="en-US" sz="600" dirty="0">
                          <a:effectLst/>
                        </a:rPr>
                        <a:t>の実現には、</a:t>
                      </a:r>
                      <a:endParaRPr lang="en-US" altLang="ja-JP" sz="600" dirty="0">
                        <a:effectLst/>
                      </a:endParaRPr>
                    </a:p>
                    <a:p>
                      <a:pPr marL="228600" indent="-228600">
                        <a:buFont typeface="+mj-lt"/>
                        <a:buAutoNum type="arabicPeriod"/>
                      </a:pPr>
                      <a:r>
                        <a:rPr lang="en-US" altLang="ja-JP" sz="600" dirty="0">
                          <a:solidFill>
                            <a:srgbClr val="C00000"/>
                          </a:solidFill>
                        </a:rPr>
                        <a:t>Azure AD</a:t>
                      </a:r>
                      <a:r>
                        <a:rPr lang="ja-JP" altLang="en-US" sz="600" dirty="0">
                          <a:solidFill>
                            <a:srgbClr val="C00000"/>
                          </a:solidFill>
                        </a:rPr>
                        <a:t>に事前の</a:t>
                      </a:r>
                      <a:r>
                        <a:rPr lang="en-US" altLang="ja-JP" sz="600" dirty="0">
                          <a:solidFill>
                            <a:srgbClr val="C00000"/>
                          </a:solidFill>
                        </a:rPr>
                        <a:t>App</a:t>
                      </a:r>
                      <a:r>
                        <a:rPr lang="ja-JP" altLang="en-US" sz="600" dirty="0">
                          <a:solidFill>
                            <a:srgbClr val="C00000"/>
                          </a:solidFill>
                        </a:rPr>
                        <a:t>登録が必須</a:t>
                      </a:r>
                      <a:endParaRPr lang="en-US" altLang="ja-JP" sz="600" dirty="0">
                        <a:solidFill>
                          <a:srgbClr val="C00000"/>
                        </a:solidFill>
                      </a:endParaRPr>
                    </a:p>
                    <a:p>
                      <a:pPr marL="228600" indent="-228600">
                        <a:buFont typeface="+mj-lt"/>
                        <a:buAutoNum type="arabicPeriod"/>
                      </a:pPr>
                      <a:r>
                        <a:rPr lang="en-US" altLang="zh-CN" sz="600" dirty="0" err="1">
                          <a:solidFill>
                            <a:srgbClr val="C00000"/>
                          </a:solidFill>
                        </a:rPr>
                        <a:t>GraphAPI</a:t>
                      </a:r>
                      <a:r>
                        <a:rPr lang="ja-JP" altLang="en-US" sz="600" dirty="0">
                          <a:solidFill>
                            <a:srgbClr val="C00000"/>
                          </a:solidFill>
                        </a:rPr>
                        <a:t>コールが必要</a:t>
                      </a:r>
                      <a:endParaRPr lang="en-US" altLang="ja-JP" sz="600"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343986">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kern="1200" dirty="0">
                          <a:solidFill>
                            <a:schemeClr val="dk1"/>
                          </a:solidFill>
                          <a:latin typeface="+mn-lt"/>
                          <a:ea typeface="+mn-ea"/>
                          <a:cs typeface="+mn-cs"/>
                        </a:rPr>
                        <a:t>業務ロジックの実装</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強力なリレーショナル機能（</a:t>
                      </a:r>
                      <a:r>
                        <a:rPr lang="en-US" altLang="ja-JP" sz="600" kern="1200" dirty="0">
                          <a:solidFill>
                            <a:srgbClr val="00B050"/>
                          </a:solidFill>
                          <a:effectLst/>
                        </a:rPr>
                        <a:t>FILESTREAM</a:t>
                      </a:r>
                      <a:r>
                        <a:rPr lang="ja-JP" altLang="en-US" sz="600" kern="1200" dirty="0">
                          <a:solidFill>
                            <a:srgbClr val="00B050"/>
                          </a:solidFill>
                          <a:effectLst/>
                        </a:rPr>
                        <a:t>でファイルストレージ対応）。 </a:t>
                      </a:r>
                      <a:endParaRPr lang="en-US" altLang="ja-JP" sz="600" kern="12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低コードでリレーショナルモデル構築容易（テーブル間関係）。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リストよりスケールするが、</a:t>
                      </a:r>
                      <a:r>
                        <a:rPr lang="en-US" altLang="ja-JP" sz="600" kern="1200" dirty="0">
                          <a:solidFill>
                            <a:srgbClr val="C00000"/>
                          </a:solidFill>
                          <a:effectLst/>
                          <a:latin typeface="+mn-lt"/>
                          <a:ea typeface="+mn-ea"/>
                          <a:cs typeface="+mn-cs"/>
                        </a:rPr>
                        <a:t>SQL</a:t>
                      </a:r>
                      <a:r>
                        <a:rPr lang="ja-JP" altLang="en-US" sz="600" kern="1200" dirty="0">
                          <a:solidFill>
                            <a:srgbClr val="C00000"/>
                          </a:solidFill>
                          <a:effectLst/>
                          <a:latin typeface="+mn-lt"/>
                          <a:ea typeface="+mn-ea"/>
                          <a:cs typeface="+mn-cs"/>
                        </a:rPr>
                        <a:t>ほど柔軟でない。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無料で</a:t>
                      </a:r>
                      <a:r>
                        <a:rPr lang="ja-JP" altLang="en-US" sz="600" kern="1200" dirty="0">
                          <a:solidFill>
                            <a:srgbClr val="00B050"/>
                          </a:solidFill>
                          <a:effectLst/>
                        </a:rPr>
                        <a:t>強力な</a:t>
                      </a:r>
                      <a:r>
                        <a:rPr lang="ja-JP" altLang="en-US" sz="600" dirty="0">
                          <a:solidFill>
                            <a:srgbClr val="00B050"/>
                          </a:solidFill>
                          <a:effectLst/>
                        </a:rPr>
                        <a:t>フルリレーショナル（</a:t>
                      </a:r>
                      <a:r>
                        <a:rPr lang="en-US" altLang="ja-JP" sz="600" dirty="0">
                          <a:solidFill>
                            <a:srgbClr val="00B050"/>
                          </a:solidFill>
                          <a:effectLst/>
                        </a:rPr>
                        <a:t>JSON</a:t>
                      </a:r>
                      <a:r>
                        <a:rPr lang="ja-JP" altLang="en-US" sz="600" dirty="0">
                          <a:solidFill>
                            <a:srgbClr val="00B050"/>
                          </a:solidFill>
                          <a:effectLst/>
                        </a:rPr>
                        <a:t>サポートで柔軟）。 </a:t>
                      </a:r>
                      <a:endParaRPr lang="en-US" altLang="ja-JP" sz="6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chemeClr val="tx1"/>
                          </a:solidFill>
                          <a:effectLst/>
                          <a:latin typeface="+mn-lt"/>
                          <a:ea typeface="+mn-ea"/>
                          <a:cs typeface="+mn-cs"/>
                        </a:rPr>
                        <a:t>N/A</a:t>
                      </a:r>
                      <a:r>
                        <a:rPr lang="ja-JP" altLang="en-US" sz="600" kern="1200" dirty="0">
                          <a:solidFill>
                            <a:schemeClr val="tx1"/>
                          </a:solidFill>
                          <a:effectLst/>
                          <a:latin typeface="+mn-lt"/>
                          <a:ea typeface="+mn-ea"/>
                          <a:cs typeface="+mn-cs"/>
                        </a:rPr>
                        <a:t>（定型データは</a:t>
                      </a:r>
                      <a:r>
                        <a:rPr lang="en-US" altLang="ja-JP" sz="600" kern="1200" dirty="0">
                          <a:solidFill>
                            <a:schemeClr val="tx1"/>
                          </a:solidFill>
                          <a:effectLst/>
                          <a:latin typeface="+mn-lt"/>
                          <a:ea typeface="+mn-ea"/>
                          <a:cs typeface="+mn-cs"/>
                        </a:rPr>
                        <a:t>SPO</a:t>
                      </a:r>
                      <a:r>
                        <a:rPr lang="ja-JP" altLang="en-US" sz="600" kern="1200" dirty="0">
                          <a:solidFill>
                            <a:schemeClr val="tx1"/>
                          </a:solidFill>
                          <a:effectLst/>
                          <a:latin typeface="+mn-lt"/>
                          <a:ea typeface="+mn-ea"/>
                          <a:cs typeface="+mn-cs"/>
                        </a:rPr>
                        <a:t>で管理しない）</a:t>
                      </a:r>
                      <a:endParaRPr lang="en-US" altLang="ja-JP" sz="6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343986">
                <a:tc vMerge="1">
                  <a:txBody>
                    <a:bodyPr/>
                    <a:lstStyle/>
                    <a:p>
                      <a:endParaRPr kumimoji="1" lang="ja-JP" altLang="en-US"/>
                    </a:p>
                  </a:txBody>
                  <a:tcPr/>
                </a:tc>
                <a:tc>
                  <a:txBody>
                    <a:bodyPr/>
                    <a:lstStyle/>
                    <a:p>
                      <a:r>
                        <a:rPr lang="ja-JP" altLang="en-US" sz="700" b="1" kern="1200" dirty="0">
                          <a:solidFill>
                            <a:schemeClr val="dk1"/>
                          </a:solidFill>
                          <a:latin typeface="+mn-lt"/>
                          <a:ea typeface="+mn-ea"/>
                          <a:cs typeface="+mn-cs"/>
                        </a:rPr>
                        <a:t>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endParaRPr lang="en-US" altLang="ja-JP" sz="600"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やカスタム拡張で柔軟性が高い</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r>
                        <a:rPr lang="ja-JP" altLang="en-US" sz="600" dirty="0">
                          <a:solidFill>
                            <a:srgbClr val="C00000"/>
                          </a:solidFill>
                          <a:effectLst/>
                        </a:rPr>
                        <a:t>カスタマイズ性に欠ける</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ファイル添付と</a:t>
                      </a:r>
                      <a:r>
                        <a:rPr lang="en-US" altLang="ja-JP" sz="600" kern="1200" dirty="0">
                          <a:solidFill>
                            <a:srgbClr val="00B050"/>
                          </a:solidFill>
                          <a:effectLst/>
                        </a:rPr>
                        <a:t>AI</a:t>
                      </a:r>
                      <a:r>
                        <a:rPr lang="ja-JP" altLang="en-US" sz="600" kern="1200" dirty="0">
                          <a:solidFill>
                            <a:srgbClr val="00B050"/>
                          </a:solidFill>
                          <a:effectLst/>
                        </a:rPr>
                        <a:t>駆動検索（</a:t>
                      </a:r>
                      <a:r>
                        <a:rPr lang="en-US" altLang="ja-JP" sz="600" kern="1200" dirty="0">
                          <a:solidFill>
                            <a:srgbClr val="00B050"/>
                          </a:solidFill>
                          <a:effectLst/>
                        </a:rPr>
                        <a:t>Dataverse Search</a:t>
                      </a:r>
                      <a:r>
                        <a:rPr lang="ja-JP" altLang="en-US" sz="600" kern="1200" dirty="0">
                          <a:solidFill>
                            <a:srgbClr val="00B050"/>
                          </a:solidFill>
                          <a:effectLst/>
                        </a:rPr>
                        <a:t>）が強み。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rPr>
                        <a:t>Power Apps</a:t>
                      </a:r>
                      <a:r>
                        <a:rPr lang="ja-JP" altLang="en-US" sz="600" kern="1200" dirty="0">
                          <a:solidFill>
                            <a:srgbClr val="C00000"/>
                          </a:solidFill>
                          <a:effectLst/>
                        </a:rPr>
                        <a:t>の</a:t>
                      </a:r>
                      <a:r>
                        <a:rPr lang="en-US" altLang="ja-JP" sz="600" kern="1200" dirty="0">
                          <a:solidFill>
                            <a:srgbClr val="C00000"/>
                          </a:solidFill>
                          <a:effectLst/>
                        </a:rPr>
                        <a:t>Delegation</a:t>
                      </a:r>
                      <a:r>
                        <a:rPr lang="ja-JP" altLang="en-US" sz="600" kern="1200" dirty="0">
                          <a:solidFill>
                            <a:srgbClr val="C00000"/>
                          </a:solidFill>
                          <a:effectLst/>
                        </a:rPr>
                        <a:t>機能に制限あり（</a:t>
                      </a:r>
                      <a:r>
                        <a:rPr lang="en-US" altLang="ja-JP" sz="600" kern="1200" dirty="0">
                          <a:solidFill>
                            <a:srgbClr val="C00000"/>
                          </a:solidFill>
                          <a:effectLst/>
                        </a:rPr>
                        <a:t>MAX 2000</a:t>
                      </a:r>
                      <a:r>
                        <a:rPr lang="ja-JP" altLang="en-US" sz="600" kern="1200" dirty="0">
                          <a:solidFill>
                            <a:srgbClr val="C00000"/>
                          </a:solidFill>
                          <a:effectLst/>
                        </a:rPr>
                        <a:t>件</a:t>
                      </a:r>
                      <a:r>
                        <a:rPr lang="en-US" altLang="ja-JP" sz="600" kern="1200" dirty="0">
                          <a:solidFill>
                            <a:srgbClr val="C00000"/>
                          </a:solidFill>
                          <a:effectLst/>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フルテキスト検索（</a:t>
                      </a:r>
                      <a:r>
                        <a:rPr lang="en-US" altLang="ja-JP" sz="600" dirty="0" err="1">
                          <a:solidFill>
                            <a:srgbClr val="00B050"/>
                          </a:solidFill>
                          <a:effectLst/>
                        </a:rPr>
                        <a:t>tsvector</a:t>
                      </a:r>
                      <a:r>
                        <a:rPr lang="ja-JP" altLang="en-US" sz="600" dirty="0">
                          <a:solidFill>
                            <a:srgbClr val="00B050"/>
                          </a:solidFill>
                          <a:effectLst/>
                        </a:rPr>
                        <a:t>）が強力でコンテンツ検索対応。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dirty="0">
                          <a:solidFill>
                            <a:srgbClr val="C00000"/>
                          </a:solidFill>
                          <a:effectLst/>
                        </a:rPr>
                        <a:t>Microsoft Search</a:t>
                      </a:r>
                      <a:r>
                        <a:rPr lang="ja-JP" altLang="en-US" sz="600" dirty="0">
                          <a:solidFill>
                            <a:srgbClr val="C00000"/>
                          </a:solidFill>
                          <a:effectLst/>
                        </a:rPr>
                        <a:t>（</a:t>
                      </a:r>
                      <a:r>
                        <a:rPr lang="en-US" altLang="ja-JP" sz="600" dirty="0" err="1">
                          <a:solidFill>
                            <a:srgbClr val="C00000"/>
                          </a:solidFill>
                          <a:effectLst/>
                        </a:rPr>
                        <a:t>GraphAPI</a:t>
                      </a:r>
                      <a:r>
                        <a:rPr lang="ja-JP" altLang="en-US" sz="600" dirty="0">
                          <a:solidFill>
                            <a:srgbClr val="C00000"/>
                          </a:solidFill>
                          <a:effectLst/>
                        </a:rPr>
                        <a:t>）で実現。</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6411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実績があり</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a:t>
                      </a:r>
                      <a:r>
                        <a:rPr lang="en-US" altLang="ja-JP" sz="600" dirty="0">
                          <a:solidFill>
                            <a:srgbClr val="00B050"/>
                          </a:solidFill>
                          <a:effectLst/>
                        </a:rPr>
                        <a:t>Azure SQL</a:t>
                      </a:r>
                      <a:r>
                        <a:rPr lang="ja-JP" altLang="en-US" sz="600" dirty="0">
                          <a:solidFill>
                            <a:srgbClr val="00B050"/>
                          </a:solidFill>
                          <a:effectLst/>
                        </a:rPr>
                        <a:t>ベースの実案件の実績がないが、検証経緯があり（ファイル以外には</a:t>
                      </a:r>
                      <a:r>
                        <a:rPr lang="en-US" altLang="ja-JP" sz="600" dirty="0" err="1">
                          <a:solidFill>
                            <a:srgbClr val="00B050"/>
                          </a:solidFill>
                          <a:effectLst/>
                        </a:rPr>
                        <a:t>Sqlserver</a:t>
                      </a:r>
                      <a:r>
                        <a:rPr lang="ja-JP" altLang="en-US" sz="600" dirty="0">
                          <a:solidFill>
                            <a:srgbClr val="00B050"/>
                          </a:solidFill>
                          <a:effectLst/>
                        </a:rPr>
                        <a:t>　</a:t>
                      </a:r>
                      <a:r>
                        <a:rPr lang="en-US" altLang="ja-JP" sz="600" dirty="0">
                          <a:solidFill>
                            <a:srgbClr val="00B050"/>
                          </a:solidFill>
                          <a:effectLst/>
                        </a:rPr>
                        <a:t>2022</a:t>
                      </a:r>
                      <a:r>
                        <a:rPr lang="ja-JP" altLang="en-US" sz="600" dirty="0">
                          <a:solidFill>
                            <a:srgbClr val="00B050"/>
                          </a:solidFill>
                          <a:effectLst/>
                        </a:rPr>
                        <a:t>とは差異がない）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solidFill>
                            <a:srgbClr val="00B050"/>
                          </a:solidFill>
                        </a:rPr>
                        <a:t>実績あり</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C00000"/>
                          </a:solidFill>
                          <a:effectLst/>
                        </a:rPr>
                        <a:t>Power</a:t>
                      </a:r>
                      <a:r>
                        <a:rPr lang="ja-JP" altLang="en-US" sz="600" dirty="0">
                          <a:solidFill>
                            <a:srgbClr val="C00000"/>
                          </a:solidFill>
                          <a:effectLst/>
                        </a:rPr>
                        <a:t> </a:t>
                      </a:r>
                      <a:r>
                        <a:rPr lang="en-US" altLang="ja-JP" sz="600" dirty="0">
                          <a:solidFill>
                            <a:srgbClr val="C00000"/>
                          </a:solidFill>
                          <a:effectLst/>
                        </a:rPr>
                        <a:t>Platform</a:t>
                      </a:r>
                      <a:r>
                        <a:rPr lang="ja-JP" altLang="en-US" sz="600" dirty="0">
                          <a:solidFill>
                            <a:srgbClr val="C00000"/>
                          </a:solidFill>
                          <a:effectLst/>
                        </a:rPr>
                        <a:t>との連携には実績がない、</a:t>
                      </a:r>
                      <a:r>
                        <a:rPr lang="en-US" altLang="ja-JP" sz="600" dirty="0">
                          <a:solidFill>
                            <a:srgbClr val="C00000"/>
                          </a:solidFill>
                          <a:effectLst/>
                        </a:rPr>
                        <a:t>POC</a:t>
                      </a:r>
                      <a:r>
                        <a:rPr lang="ja-JP" altLang="en-US" sz="600" dirty="0">
                          <a:solidFill>
                            <a:srgbClr val="C00000"/>
                          </a:solidFill>
                          <a:effectLst/>
                        </a:rPr>
                        <a:t>範囲は拡大。</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00B050"/>
                          </a:solidFill>
                          <a:effectLst/>
                        </a:rPr>
                        <a:t>Microsoft Search(Graph API)</a:t>
                      </a:r>
                      <a:r>
                        <a:rPr lang="ja-JP" altLang="en-US" sz="600" dirty="0">
                          <a:solidFill>
                            <a:srgbClr val="00B050"/>
                          </a:solidFill>
                          <a:effectLst/>
                        </a:rPr>
                        <a:t>の弊社実績があり</a:t>
                      </a:r>
                      <a:endParaRPr lang="en-US" altLang="ja-JP" sz="600" dirty="0">
                        <a:solidFill>
                          <a:srgbClr val="00B050"/>
                        </a:solidFill>
                        <a:effectLst/>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23859">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設計・実装の特別考慮</a:t>
                      </a:r>
                      <a:endParaRPr lang="en-US" altLang="ja-JP" sz="700" b="1" kern="1200" dirty="0">
                        <a:solidFill>
                          <a:schemeClr val="dk1"/>
                        </a:solidFill>
                        <a:latin typeface="+mn-lt"/>
                        <a:ea typeface="+mn-ea"/>
                        <a:cs typeface="+mn-cs"/>
                      </a:endParaRPr>
                    </a:p>
                    <a:p>
                      <a:r>
                        <a:rPr lang="en-US" altLang="ja-JP" sz="700" b="1" kern="1200" dirty="0">
                          <a:solidFill>
                            <a:schemeClr val="dk1"/>
                          </a:solidFill>
                          <a:latin typeface="+mn-lt"/>
                          <a:ea typeface="+mn-ea"/>
                          <a:cs typeface="+mn-cs"/>
                        </a:rPr>
                        <a:t>(</a:t>
                      </a:r>
                      <a:r>
                        <a:rPr lang="ja-JP" altLang="en-US" sz="700" b="1" kern="1200" dirty="0">
                          <a:solidFill>
                            <a:schemeClr val="dk1"/>
                          </a:solidFill>
                          <a:latin typeface="+mn-lt"/>
                          <a:ea typeface="+mn-ea"/>
                          <a:cs typeface="+mn-cs"/>
                        </a:rPr>
                        <a:t>権限</a:t>
                      </a:r>
                      <a:r>
                        <a:rPr lang="en-US" altLang="ja-JP" sz="700" b="1" kern="1200" dirty="0">
                          <a:solidFill>
                            <a:schemeClr val="dk1"/>
                          </a:solidFill>
                          <a:latin typeface="+mn-lt"/>
                          <a:ea typeface="+mn-ea"/>
                          <a:cs typeface="+mn-cs"/>
                        </a:rPr>
                        <a:t>)</a:t>
                      </a:r>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に置いている添付ファイルの権限管理が必要（実績があり）</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r>
                        <a:rPr lang="ja-JP" altLang="en-US" sz="600" kern="1200" dirty="0">
                          <a:solidFill>
                            <a:srgbClr val="C00000"/>
                          </a:solidFill>
                          <a:effectLst/>
                          <a:latin typeface="+mn-lt"/>
                          <a:ea typeface="+mn-ea"/>
                          <a:cs typeface="+mn-cs"/>
                        </a:rPr>
                        <a:t>論理</a:t>
                      </a:r>
                      <a:r>
                        <a:rPr lang="en-US" altLang="ja-JP" sz="600" kern="1200" dirty="0">
                          <a:solidFill>
                            <a:srgbClr val="C00000"/>
                          </a:solidFill>
                          <a:effectLst/>
                          <a:latin typeface="+mn-lt"/>
                          <a:ea typeface="+mn-ea"/>
                          <a:cs typeface="+mn-cs"/>
                        </a:rPr>
                        <a:t>Group</a:t>
                      </a:r>
                      <a:r>
                        <a:rPr lang="ja-JP" altLang="en-US" sz="600" kern="1200" dirty="0">
                          <a:solidFill>
                            <a:srgbClr val="C00000"/>
                          </a:solidFill>
                          <a:effectLst/>
                          <a:latin typeface="+mn-lt"/>
                          <a:ea typeface="+mn-ea"/>
                          <a:cs typeface="+mn-cs"/>
                        </a:rPr>
                        <a:t>が変更された場合、登録済みの仕様書添付ファイルに対して再設定が必要</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6" name="テキスト ボックス 5">
            <a:extLst>
              <a:ext uri="{FF2B5EF4-FFF2-40B4-BE49-F238E27FC236}">
                <a16:creationId xmlns:a16="http://schemas.microsoft.com/office/drawing/2014/main" id="{2ACDC925-AF97-854B-68F7-31FDCC8F04E2}"/>
              </a:ext>
            </a:extLst>
          </p:cNvPr>
          <p:cNvSpPr txBox="1"/>
          <p:nvPr/>
        </p:nvSpPr>
        <p:spPr>
          <a:xfrm>
            <a:off x="273718" y="677282"/>
            <a:ext cx="11412096" cy="276999"/>
          </a:xfrm>
          <a:prstGeom prst="rect">
            <a:avLst/>
          </a:prstGeom>
          <a:noFill/>
        </p:spPr>
        <p:txBody>
          <a:bodyPr wrap="square" rtlCol="0">
            <a:spAutoFit/>
          </a:bodyPr>
          <a:lstStyle/>
          <a:p>
            <a:r>
              <a:rPr kumimoji="1" lang="ja-JP" altLang="en-US" sz="1200" dirty="0"/>
              <a:t>下記表で羅列した評価項目について候補となる保存環境を比較する</a:t>
            </a:r>
            <a:endParaRPr kumimoji="1" lang="en-US" altLang="ja-JP" sz="1400" b="1" dirty="0">
              <a:solidFill>
                <a:srgbClr val="C00000"/>
              </a:solidFill>
            </a:endParaRPr>
          </a:p>
        </p:txBody>
      </p:sp>
      <p:sp>
        <p:nvSpPr>
          <p:cNvPr id="3" name="四角形: 角を丸くする 2">
            <a:extLst>
              <a:ext uri="{FF2B5EF4-FFF2-40B4-BE49-F238E27FC236}">
                <a16:creationId xmlns:a16="http://schemas.microsoft.com/office/drawing/2014/main" id="{84CE0B78-D252-6E72-5190-52E37B162C80}"/>
              </a:ext>
            </a:extLst>
          </p:cNvPr>
          <p:cNvSpPr/>
          <p:nvPr/>
        </p:nvSpPr>
        <p:spPr>
          <a:xfrm>
            <a:off x="8999621" y="597078"/>
            <a:ext cx="3138630" cy="683630"/>
          </a:xfrm>
          <a:prstGeom prst="roundRect">
            <a:avLst>
              <a:gd name="adj" fmla="val 7657"/>
            </a:avLst>
          </a:prstGeom>
          <a:gradFill>
            <a:gsLst>
              <a:gs pos="0">
                <a:schemeClr val="accent5">
                  <a:tint val="54000"/>
                  <a:satMod val="105000"/>
                  <a:lumMod val="110000"/>
                  <a:alpha val="50000"/>
                </a:schemeClr>
              </a:gs>
              <a:gs pos="100000">
                <a:schemeClr val="accent5">
                  <a:tint val="78000"/>
                  <a:alpha val="92000"/>
                  <a:satMod val="109000"/>
                  <a:lumMod val="10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a:t>Category</a:t>
            </a:r>
            <a:r>
              <a:rPr kumimoji="1" lang="ja-JP" altLang="en-US" dirty="0"/>
              <a:t>化</a:t>
            </a:r>
            <a:r>
              <a:rPr lang="ja-JP" altLang="en-US" dirty="0"/>
              <a:t>したが、詳細すぎで、備考へ移動？</a:t>
            </a:r>
            <a:endParaRPr kumimoji="1" lang="ja-JP" altLang="en-US" dirty="0"/>
          </a:p>
        </p:txBody>
      </p:sp>
    </p:spTree>
    <p:extLst>
      <p:ext uri="{BB962C8B-B14F-4D97-AF65-F5344CB8AC3E}">
        <p14:creationId xmlns:p14="http://schemas.microsoft.com/office/powerpoint/2010/main" val="101473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5146-47DF-A6E3-4EFF-D8B92D4820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02FF0C-CED3-3935-A58D-B604EE783CF5}"/>
              </a:ext>
            </a:extLst>
          </p:cNvPr>
          <p:cNvSpPr>
            <a:spLocks noGrp="1"/>
          </p:cNvSpPr>
          <p:nvPr>
            <p:ph type="title"/>
          </p:nvPr>
        </p:nvSpPr>
        <p:spPr>
          <a:xfrm>
            <a:off x="414336" y="255263"/>
            <a:ext cx="9327072" cy="683629"/>
          </a:xfrm>
        </p:spPr>
        <p:txBody>
          <a:bodyPr>
            <a:normAutofit/>
          </a:bodyPr>
          <a:lstStyle/>
          <a:p>
            <a:r>
              <a:rPr lang="ja-JP" altLang="en-US" dirty="0"/>
              <a:t>ストレージの評価</a:t>
            </a:r>
          </a:p>
        </p:txBody>
      </p:sp>
      <p:graphicFrame>
        <p:nvGraphicFramePr>
          <p:cNvPr id="5" name="表 4">
            <a:extLst>
              <a:ext uri="{FF2B5EF4-FFF2-40B4-BE49-F238E27FC236}">
                <a16:creationId xmlns:a16="http://schemas.microsoft.com/office/drawing/2014/main" id="{C0E8CF2F-B9FE-4574-119C-F285BA61248C}"/>
              </a:ext>
            </a:extLst>
          </p:cNvPr>
          <p:cNvGraphicFramePr>
            <a:graphicFrameLocks noGrp="1"/>
          </p:cNvGraphicFramePr>
          <p:nvPr>
            <p:extLst>
              <p:ext uri="{D42A27DB-BD31-4B8C-83A1-F6EECF244321}">
                <p14:modId xmlns:p14="http://schemas.microsoft.com/office/powerpoint/2010/main" val="3421777790"/>
              </p:ext>
            </p:extLst>
          </p:nvPr>
        </p:nvGraphicFramePr>
        <p:xfrm>
          <a:off x="360344" y="811023"/>
          <a:ext cx="11459480" cy="3981976"/>
        </p:xfrm>
        <a:graphic>
          <a:graphicData uri="http://schemas.openxmlformats.org/drawingml/2006/table">
            <a:tbl>
              <a:tblPr firstRow="1">
                <a:tableStyleId>{2D5ABB26-0587-4C30-8999-92F81FD0307C}</a:tableStyleId>
              </a:tblPr>
              <a:tblGrid>
                <a:gridCol w="670920">
                  <a:extLst>
                    <a:ext uri="{9D8B030D-6E8A-4147-A177-3AD203B41FA5}">
                      <a16:colId xmlns:a16="http://schemas.microsoft.com/office/drawing/2014/main" val="2689841149"/>
                    </a:ext>
                  </a:extLst>
                </a:gridCol>
                <a:gridCol w="1094418">
                  <a:extLst>
                    <a:ext uri="{9D8B030D-6E8A-4147-A177-3AD203B41FA5}">
                      <a16:colId xmlns:a16="http://schemas.microsoft.com/office/drawing/2014/main" val="20000"/>
                    </a:ext>
                  </a:extLst>
                </a:gridCol>
                <a:gridCol w="1765389">
                  <a:extLst>
                    <a:ext uri="{9D8B030D-6E8A-4147-A177-3AD203B41FA5}">
                      <a16:colId xmlns:a16="http://schemas.microsoft.com/office/drawing/2014/main" val="20001"/>
                    </a:ext>
                  </a:extLst>
                </a:gridCol>
                <a:gridCol w="1969902">
                  <a:extLst>
                    <a:ext uri="{9D8B030D-6E8A-4147-A177-3AD203B41FA5}">
                      <a16:colId xmlns:a16="http://schemas.microsoft.com/office/drawing/2014/main" val="2142441908"/>
                    </a:ext>
                  </a:extLst>
                </a:gridCol>
                <a:gridCol w="2017082">
                  <a:extLst>
                    <a:ext uri="{9D8B030D-6E8A-4147-A177-3AD203B41FA5}">
                      <a16:colId xmlns:a16="http://schemas.microsoft.com/office/drawing/2014/main" val="20002"/>
                    </a:ext>
                  </a:extLst>
                </a:gridCol>
                <a:gridCol w="1698176">
                  <a:extLst>
                    <a:ext uri="{9D8B030D-6E8A-4147-A177-3AD203B41FA5}">
                      <a16:colId xmlns:a16="http://schemas.microsoft.com/office/drawing/2014/main" val="20003"/>
                    </a:ext>
                  </a:extLst>
                </a:gridCol>
                <a:gridCol w="2243593">
                  <a:extLst>
                    <a:ext uri="{9D8B030D-6E8A-4147-A177-3AD203B41FA5}">
                      <a16:colId xmlns:a16="http://schemas.microsoft.com/office/drawing/2014/main" val="20004"/>
                    </a:ext>
                  </a:extLst>
                </a:gridCol>
              </a:tblGrid>
              <a:tr h="211254">
                <a:tc gridSpan="2">
                  <a:txBody>
                    <a:bodyPr/>
                    <a:lstStyle/>
                    <a:p>
                      <a:r>
                        <a:rPr lang="ja-JP" altLang="en-US" sz="9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SQL Server 2022</a:t>
                      </a:r>
                      <a:r>
                        <a:rPr lang="en-US" altLang="ja-JP" sz="900" dirty="0">
                          <a:effectLst/>
                        </a:rPr>
                        <a:t>(</a:t>
                      </a:r>
                      <a:r>
                        <a:rPr lang="ja-JP" altLang="en-US" sz="900" dirty="0">
                          <a:effectLst/>
                        </a:rPr>
                        <a:t>オンプレミス</a:t>
                      </a:r>
                      <a:r>
                        <a:rPr lang="en-US" altLang="ja-JP" sz="900" dirty="0">
                          <a:effectLst/>
                        </a:rPr>
                        <a:t>DB</a:t>
                      </a:r>
                      <a:r>
                        <a:rPr lang="en-US" sz="9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900" dirty="0">
                          <a:effectLst/>
                        </a:rPr>
                        <a:t>Azure SQL Database (</a:t>
                      </a:r>
                      <a:r>
                        <a:rPr lang="ja-JP" altLang="en-US" sz="900" kern="1200" dirty="0">
                          <a:solidFill>
                            <a:schemeClr val="tx1"/>
                          </a:solidFill>
                          <a:effectLst/>
                          <a:latin typeface="+mn-lt"/>
                          <a:ea typeface="+mn-ea"/>
                          <a:cs typeface="+mn-cs"/>
                        </a:rPr>
                        <a:t>クラウド</a:t>
                      </a:r>
                      <a:r>
                        <a:rPr lang="de-DE" altLang="ja-JP" sz="900" kern="1200" dirty="0">
                          <a:solidFill>
                            <a:schemeClr val="tx1"/>
                          </a:solidFill>
                          <a:effectLst/>
                          <a:latin typeface="+mn-lt"/>
                          <a:ea typeface="+mn-ea"/>
                          <a:cs typeface="+mn-cs"/>
                        </a:rPr>
                        <a:t>PaaS)</a:t>
                      </a:r>
                      <a:r>
                        <a:rPr lang="en-US" altLang="ja-JP" sz="900" kern="1200" dirty="0">
                          <a:solidFill>
                            <a:schemeClr val="tx1"/>
                          </a:solidFill>
                          <a:effectLst/>
                          <a:latin typeface="+mn-lt"/>
                          <a:ea typeface="+mn-ea"/>
                          <a:cs typeface="+mn-cs"/>
                        </a:rPr>
                        <a:t>-</a:t>
                      </a:r>
                      <a:r>
                        <a:rPr lang="ja-JP" altLang="en-US" sz="900" b="1" kern="1200" dirty="0">
                          <a:solidFill>
                            <a:srgbClr val="00B050"/>
                          </a:solidFill>
                          <a:effectLst/>
                          <a:latin typeface="+mn-lt"/>
                          <a:ea typeface="+mn-ea"/>
                          <a:cs typeface="+mn-cs"/>
                        </a:rPr>
                        <a:t>定型データ保存に推奨</a:t>
                      </a:r>
                      <a:endParaRPr lang="de-DE" altLang="ja-JP" sz="9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b="1" dirty="0"/>
                        <a:t>SharePoint Online</a:t>
                      </a:r>
                      <a:r>
                        <a:rPr lang="en-US" altLang="ja-JP" sz="900" kern="1200" dirty="0">
                          <a:solidFill>
                            <a:schemeClr val="tx1"/>
                          </a:solidFill>
                          <a:effectLst/>
                          <a:latin typeface="+mn-lt"/>
                          <a:ea typeface="+mn-ea"/>
                          <a:cs typeface="+mn-cs"/>
                        </a:rPr>
                        <a:t>-</a:t>
                      </a:r>
                      <a:r>
                        <a:rPr lang="ja-JP" altLang="en-US" sz="900" b="1" dirty="0">
                          <a:solidFill>
                            <a:srgbClr val="00B050"/>
                          </a:solidFill>
                        </a:rPr>
                        <a:t>ファイル保存に</a:t>
                      </a:r>
                      <a:r>
                        <a:rPr kumimoji="1" lang="ja-JP" altLang="en-US" sz="900" b="1" dirty="0">
                          <a:solidFill>
                            <a:srgbClr val="00B050"/>
                          </a:solidFill>
                        </a:rPr>
                        <a:t>推奨</a:t>
                      </a:r>
                      <a:endParaRPr lang="de-DE" sz="9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307083">
                <a:tc>
                  <a:txBody>
                    <a:bodyPr/>
                    <a:lstStyle/>
                    <a:p>
                      <a:r>
                        <a:rPr lang="ja-JP" altLang="en-US" sz="8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900" b="1" dirty="0"/>
                        <a:t>Power Apps/</a:t>
                      </a:r>
                      <a:r>
                        <a:rPr lang="de-DE" altLang="ja-JP" sz="900" b="1" dirty="0"/>
                        <a:t>Automate</a:t>
                      </a:r>
                      <a:r>
                        <a:rPr lang="de-DE" sz="900" b="1" dirty="0"/>
                        <a:t> </a:t>
                      </a:r>
                      <a:r>
                        <a:rPr lang="ja-JP" altLang="en-US" sz="900" b="1" dirty="0"/>
                        <a:t>統合</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800" b="1" dirty="0">
                          <a:solidFill>
                            <a:srgbClr val="C00000"/>
                          </a:solidFill>
                        </a:rPr>
                        <a:t>×</a:t>
                      </a:r>
                      <a:r>
                        <a:rPr lang="ja-JP" altLang="en-US" sz="800" dirty="0">
                          <a:solidFill>
                            <a:srgbClr val="C00000"/>
                          </a:solidFill>
                        </a:rPr>
                        <a:t>　カスタムコネクタの作成は一気に技術リスクを高める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rPr>
                        <a:t>〇</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15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必要なライセンス</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en-US" altLang="ja-JP" sz="800" b="1"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2330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添付ファイル以外</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ー</a:t>
                      </a:r>
                      <a:endParaRPr lang="en-US" altLang="zh-CN" sz="800" b="1"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1542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tx1"/>
                          </a:solidFill>
                          <a:latin typeface="+mn-lt"/>
                          <a:ea typeface="+mn-ea"/>
                          <a:cs typeface="+mn-cs"/>
                        </a:rPr>
                        <a:t>添付ファイル</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latin typeface="+mn-lt"/>
                          <a:ea typeface="+mn-ea"/>
                          <a:cs typeface="+mn-cs"/>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49484509"/>
                  </a:ext>
                </a:extLst>
              </a:tr>
              <a:tr h="189958">
                <a:tc gridSpan="2">
                  <a:txBody>
                    <a:bodyPr/>
                    <a:lstStyle/>
                    <a:p>
                      <a:r>
                        <a:rPr lang="ja-JP" altLang="en-US" sz="9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kern="1200" dirty="0">
                          <a:solidFill>
                            <a:schemeClr val="tx1"/>
                          </a:solidFill>
                          <a:effectLst/>
                        </a:rPr>
                        <a:t>△ </a:t>
                      </a:r>
                      <a:r>
                        <a:rPr lang="ja-JP" altLang="en-US" sz="800" kern="1200" dirty="0">
                          <a:solidFill>
                            <a:srgbClr val="C00000"/>
                          </a:solidFill>
                          <a:effectLst/>
                        </a:rPr>
                        <a:t> </a:t>
                      </a:r>
                      <a:r>
                        <a:rPr lang="en-US" altLang="ja-JP" sz="800" kern="1200" dirty="0">
                          <a:solidFill>
                            <a:srgbClr val="C00000"/>
                          </a:solidFill>
                          <a:effectLst/>
                        </a:rPr>
                        <a:t>Full</a:t>
                      </a:r>
                      <a:r>
                        <a:rPr lang="ja-JP" altLang="en-US" sz="800" kern="1200" dirty="0">
                          <a:solidFill>
                            <a:srgbClr val="C00000"/>
                          </a:solidFill>
                          <a:effectLst/>
                        </a:rPr>
                        <a:t> </a:t>
                      </a:r>
                      <a:r>
                        <a:rPr lang="en-US" altLang="ja-JP" sz="800" kern="1200" dirty="0">
                          <a:solidFill>
                            <a:srgbClr val="C00000"/>
                          </a:solidFill>
                          <a:effectLst/>
                        </a:rPr>
                        <a:t>Text Search</a:t>
                      </a:r>
                      <a:r>
                        <a:rPr lang="ja-JP" altLang="en-US" sz="800" kern="1200" dirty="0">
                          <a:solidFill>
                            <a:srgbClr val="C00000"/>
                          </a:solidFill>
                          <a:effectLst/>
                        </a:rPr>
                        <a:t>バグ報告あり（クエリ結果の不整合）。</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360322">
                <a:tc gridSpan="2">
                  <a:txBody>
                    <a:bodyPr/>
                    <a:lstStyle/>
                    <a:p>
                      <a:pPr marL="0" algn="l" defTabSz="914400" rtl="0" eaLnBrk="1" latinLnBrk="0" hangingPunct="1"/>
                      <a:r>
                        <a:rPr lang="ja-JP" altLang="en-US" sz="9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u="sng" kern="1200" dirty="0">
                          <a:solidFill>
                            <a:srgbClr val="C00000"/>
                          </a:solidFill>
                          <a:effectLst/>
                        </a:rPr>
                        <a:t>×</a:t>
                      </a:r>
                      <a:r>
                        <a:rPr lang="ja-JP" altLang="en-US" sz="800" b="1" u="sng" kern="1200" dirty="0">
                          <a:solidFill>
                            <a:srgbClr val="C00000"/>
                          </a:solidFill>
                          <a:effectLst/>
                        </a:rPr>
                        <a:t> </a:t>
                      </a:r>
                      <a:r>
                        <a:rPr lang="en-US" altLang="ja-JP" sz="800" b="1" u="sng" kern="1200" dirty="0">
                          <a:solidFill>
                            <a:srgbClr val="C00000"/>
                          </a:solidFill>
                          <a:effectLst/>
                        </a:rPr>
                        <a:t>On</a:t>
                      </a:r>
                      <a:r>
                        <a:rPr lang="ja-JP" altLang="en-US" sz="800" b="1" u="sng" kern="1200" dirty="0">
                          <a:solidFill>
                            <a:srgbClr val="C00000"/>
                          </a:solidFill>
                          <a:effectLst/>
                        </a:rPr>
                        <a:t> </a:t>
                      </a:r>
                      <a:r>
                        <a:rPr lang="en-US" altLang="ja-JP" sz="800" b="1" u="sng" kern="1200" dirty="0" err="1">
                          <a:solidFill>
                            <a:srgbClr val="C00000"/>
                          </a:solidFill>
                          <a:effectLst/>
                        </a:rPr>
                        <a:t>promsise</a:t>
                      </a:r>
                      <a:r>
                        <a:rPr lang="en-US" altLang="ja-JP" sz="800" b="1" u="sng" kern="1200" dirty="0">
                          <a:solidFill>
                            <a:srgbClr val="C00000"/>
                          </a:solidFill>
                          <a:effectLst/>
                        </a:rPr>
                        <a:t> Gateway</a:t>
                      </a:r>
                      <a:r>
                        <a:rPr lang="ja-JP" altLang="en-US" sz="800" b="1" u="sng" kern="1200" dirty="0">
                          <a:solidFill>
                            <a:srgbClr val="C00000"/>
                          </a:solidFill>
                          <a:effectLst/>
                        </a:rPr>
                        <a:t>のネットワークボトルネックが発生しやすい。大規模クエリで顕著。</a:t>
                      </a:r>
                      <a:endParaRPr lang="ja-JP" altLang="en-US" sz="8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dirty="0">
                          <a:solidFill>
                            <a:srgbClr val="C00000"/>
                          </a:solidFill>
                          <a:effectLst/>
                        </a:rPr>
                        <a:t>×</a:t>
                      </a:r>
                      <a:r>
                        <a:rPr lang="ja-JP" altLang="en-US" sz="800" b="1" dirty="0">
                          <a:solidFill>
                            <a:srgbClr val="C00000"/>
                          </a:solidFill>
                          <a:effectLst/>
                        </a:rPr>
                        <a:t> </a:t>
                      </a:r>
                      <a:r>
                        <a:rPr lang="ja-JP" altLang="en-US" sz="800" dirty="0">
                          <a:solidFill>
                            <a:srgbClr val="C00000"/>
                          </a:solidFill>
                          <a:effectLst/>
                        </a:rPr>
                        <a:t>複雑なクエリでパフォーマンス低下。 </a:t>
                      </a:r>
                      <a:endParaRPr lang="ja-JP" altLang="en-US" sz="8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C00000"/>
                          </a:solidFill>
                          <a:effectLst/>
                        </a:rPr>
                        <a:t>×</a:t>
                      </a:r>
                      <a:r>
                        <a:rPr lang="ja-JP" altLang="en-US" sz="800" dirty="0">
                          <a:solidFill>
                            <a:srgbClr val="C00000"/>
                          </a:solidFill>
                          <a:effectLst/>
                        </a:rPr>
                        <a:t> </a:t>
                      </a:r>
                      <a:r>
                        <a:rPr lang="ja-JP" altLang="en-US" sz="800" b="0" dirty="0">
                          <a:solidFill>
                            <a:srgbClr val="C00000"/>
                          </a:solidFill>
                          <a:effectLst/>
                        </a:rPr>
                        <a:t>大容量ファイルストレージに不向き（</a:t>
                      </a:r>
                      <a:r>
                        <a:rPr lang="en-US" altLang="ja-JP" sz="800" b="0" dirty="0">
                          <a:solidFill>
                            <a:srgbClr val="C00000"/>
                          </a:solidFill>
                          <a:effectLst/>
                        </a:rPr>
                        <a:t>TOAST</a:t>
                      </a:r>
                      <a:r>
                        <a:rPr lang="ja-JP" altLang="en-US" sz="800" b="0" dirty="0">
                          <a:solidFill>
                            <a:srgbClr val="C00000"/>
                          </a:solidFill>
                          <a:effectLst/>
                        </a:rPr>
                        <a:t>使用でパフォーマンス低下）</a:t>
                      </a:r>
                      <a:r>
                        <a:rPr lang="ja-JP" altLang="en-US" sz="800" dirty="0">
                          <a:solidFill>
                            <a:srgbClr val="C00000"/>
                          </a:solidFill>
                          <a:effectLst/>
                        </a:rPr>
                        <a:t>。 </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dirty="0">
                          <a:solidFill>
                            <a:srgbClr val="00B050"/>
                          </a:solidFill>
                          <a:effectLst/>
                        </a:rPr>
                        <a:t>〇</a:t>
                      </a:r>
                      <a:endParaRPr lang="en-US" altLang="zh-CN"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115424">
                <a:tc rowSpan="6">
                  <a:txBody>
                    <a:bodyPr/>
                    <a:lstStyle/>
                    <a:p>
                      <a:pPr marL="0" algn="l" defTabSz="914400" rtl="0" eaLnBrk="1" latinLnBrk="0" hangingPunct="1"/>
                      <a:r>
                        <a:rPr lang="ja-JP" altLang="en-US" sz="8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rPr>
                        <a:t>△</a:t>
                      </a:r>
                      <a:r>
                        <a:rPr lang="ja-JP" altLang="en-US" sz="800" kern="1200" dirty="0">
                          <a:solidFill>
                            <a:srgbClr val="C00000"/>
                          </a:solidFill>
                          <a:effectLst/>
                        </a:rPr>
                        <a:t>　独自構築</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rgbClr val="00B050"/>
                          </a:solidFill>
                          <a:effectLst/>
                        </a:rPr>
                        <a:t>〇</a:t>
                      </a:r>
                      <a:endParaRPr lang="en-US" altLang="ja-JP"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a:t>
                      </a:r>
                      <a:r>
                        <a:rPr lang="ja-JP" altLang="en-US" sz="800" dirty="0">
                          <a:solidFill>
                            <a:srgbClr val="C00000"/>
                          </a:solidFill>
                          <a:effectLst/>
                        </a:rPr>
                        <a:t>　</a:t>
                      </a:r>
                      <a:r>
                        <a:rPr lang="ja-JP" altLang="en-US" sz="800" kern="1200" dirty="0">
                          <a:solidFill>
                            <a:srgbClr val="C00000"/>
                          </a:solidFill>
                          <a:effectLst/>
                        </a:rPr>
                        <a:t>独自構築</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11542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dk1"/>
                          </a:solidFill>
                          <a:latin typeface="+mn-lt"/>
                          <a:ea typeface="+mn-ea"/>
                          <a:cs typeface="+mn-cs"/>
                        </a:rPr>
                        <a:t>業務機能実現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r>
                        <a:rPr lang="en-US" altLang="ja-JP" sz="800" kern="1200" dirty="0">
                          <a:solidFill>
                            <a:srgbClr val="C00000"/>
                          </a:solidFill>
                          <a:effectLst/>
                          <a:latin typeface="+mn-lt"/>
                          <a:ea typeface="+mn-ea"/>
                          <a:cs typeface="+mn-cs"/>
                        </a:rPr>
                        <a:t>SQL</a:t>
                      </a:r>
                      <a:r>
                        <a:rPr lang="ja-JP" altLang="en-US" sz="800" kern="1200" dirty="0">
                          <a:solidFill>
                            <a:srgbClr val="C00000"/>
                          </a:solidFill>
                          <a:effectLst/>
                          <a:latin typeface="+mn-lt"/>
                          <a:ea typeface="+mn-ea"/>
                          <a:cs typeface="+mn-cs"/>
                        </a:rPr>
                        <a:t>ほど柔軟でない</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C00000"/>
                          </a:solidFill>
                          <a:effectLst/>
                          <a:latin typeface="+mn-lt"/>
                          <a:ea typeface="+mn-ea"/>
                          <a:cs typeface="+mn-cs"/>
                        </a:rPr>
                        <a:t>定型データの検索に</a:t>
                      </a:r>
                      <a:r>
                        <a:rPr lang="en-US" altLang="ja-JP" sz="800" kern="1200" dirty="0">
                          <a:solidFill>
                            <a:srgbClr val="C00000"/>
                          </a:solidFill>
                          <a:effectLst/>
                          <a:latin typeface="+mn-lt"/>
                          <a:ea typeface="+mn-ea"/>
                          <a:cs typeface="+mn-cs"/>
                        </a:rPr>
                        <a:t>Power Apps</a:t>
                      </a:r>
                      <a:r>
                        <a:rPr lang="ja-JP" altLang="en-US" sz="800" kern="1200" dirty="0">
                          <a:solidFill>
                            <a:srgbClr val="C00000"/>
                          </a:solidFill>
                          <a:effectLst/>
                          <a:latin typeface="+mn-lt"/>
                          <a:ea typeface="+mn-ea"/>
                          <a:cs typeface="+mn-cs"/>
                        </a:rPr>
                        <a:t>の</a:t>
                      </a:r>
                      <a:r>
                        <a:rPr lang="en-US" altLang="ja-JP" sz="800" kern="1200" dirty="0">
                          <a:solidFill>
                            <a:srgbClr val="C00000"/>
                          </a:solidFill>
                          <a:effectLst/>
                          <a:latin typeface="+mn-lt"/>
                          <a:ea typeface="+mn-ea"/>
                          <a:cs typeface="+mn-cs"/>
                        </a:rPr>
                        <a:t>Delegation</a:t>
                      </a:r>
                      <a:r>
                        <a:rPr lang="ja-JP" altLang="en-US" sz="800" kern="1200" dirty="0">
                          <a:solidFill>
                            <a:srgbClr val="C00000"/>
                          </a:solidFill>
                          <a:effectLst/>
                          <a:latin typeface="+mn-lt"/>
                          <a:ea typeface="+mn-ea"/>
                          <a:cs typeface="+mn-cs"/>
                        </a:rPr>
                        <a:t>機能に制限あり（</a:t>
                      </a:r>
                      <a:r>
                        <a:rPr lang="en-US" altLang="ja-JP" sz="800" kern="1200" dirty="0">
                          <a:solidFill>
                            <a:srgbClr val="C00000"/>
                          </a:solidFill>
                          <a:effectLst/>
                          <a:latin typeface="+mn-lt"/>
                          <a:ea typeface="+mn-ea"/>
                          <a:cs typeface="+mn-cs"/>
                        </a:rPr>
                        <a:t>MAX 2000</a:t>
                      </a:r>
                      <a:r>
                        <a:rPr lang="ja-JP" altLang="en-US" sz="800" kern="1200" dirty="0">
                          <a:solidFill>
                            <a:srgbClr val="C00000"/>
                          </a:solidFill>
                          <a:effectLst/>
                          <a:latin typeface="+mn-lt"/>
                          <a:ea typeface="+mn-ea"/>
                          <a:cs typeface="+mn-cs"/>
                        </a:rPr>
                        <a:t>件</a:t>
                      </a:r>
                      <a:r>
                        <a:rPr lang="en-US" altLang="ja-JP" sz="800" kern="1200" dirty="0">
                          <a:solidFill>
                            <a:srgbClr val="C00000"/>
                          </a:solidFill>
                          <a:effectLst/>
                          <a:latin typeface="+mn-lt"/>
                          <a:ea typeface="+mn-ea"/>
                          <a:cs typeface="+mn-cs"/>
                        </a:rPr>
                        <a:t>)</a:t>
                      </a:r>
                      <a:endParaRPr lang="ja-JP" altLang="en-US"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216424">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定型検索機能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60454792"/>
                  </a:ext>
                </a:extLst>
              </a:tr>
              <a:tr h="275140">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添付ファイルの検索機能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latin typeface="+mn-lt"/>
                          <a:ea typeface="+mn-ea"/>
                          <a:cs typeface="+mn-cs"/>
                        </a:rPr>
                        <a:t>添付ファイルの検索：△</a:t>
                      </a:r>
                      <a:r>
                        <a:rPr lang="ja-JP" altLang="en-US" sz="800" kern="1200" dirty="0">
                          <a:solidFill>
                            <a:srgbClr val="C00000"/>
                          </a:solidFill>
                          <a:effectLst/>
                          <a:latin typeface="+mn-lt"/>
                          <a:ea typeface="+mn-ea"/>
                          <a:cs typeface="+mn-cs"/>
                        </a:rPr>
                        <a:t>（</a:t>
                      </a:r>
                      <a:r>
                        <a:rPr lang="en-US" altLang="ja-JP" sz="800" kern="1200" dirty="0">
                          <a:solidFill>
                            <a:srgbClr val="C00000"/>
                          </a:solidFill>
                          <a:effectLst/>
                          <a:latin typeface="+mn-lt"/>
                          <a:ea typeface="+mn-ea"/>
                          <a:cs typeface="+mn-cs"/>
                        </a:rPr>
                        <a:t>Bug</a:t>
                      </a:r>
                      <a:r>
                        <a:rPr lang="ja-JP" altLang="en-US" sz="800" kern="1200" dirty="0">
                          <a:solidFill>
                            <a:srgbClr val="C00000"/>
                          </a:solidFill>
                          <a:effectLst/>
                          <a:latin typeface="+mn-lt"/>
                          <a:ea typeface="+mn-ea"/>
                          <a:cs typeface="+mn-cs"/>
                        </a:rPr>
                        <a:t>リポートあり）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 </a:t>
                      </a:r>
                      <a:r>
                        <a:rPr lang="ja-JP" altLang="en-US" sz="800" kern="1200" dirty="0">
                          <a:solidFill>
                            <a:srgbClr val="00B050"/>
                          </a:solidFill>
                          <a:effectLst/>
                          <a:latin typeface="+mn-lt"/>
                          <a:ea typeface="+mn-ea"/>
                          <a:cs typeface="+mn-cs"/>
                        </a:rPr>
                        <a:t>基本機能はできているが、</a:t>
                      </a:r>
                      <a:r>
                        <a:rPr lang="ja-JP" altLang="en-US" sz="800" dirty="0">
                          <a:solidFill>
                            <a:srgbClr val="C00000"/>
                          </a:solidFill>
                          <a:effectLst/>
                        </a:rPr>
                        <a:t>カスタマイズ性に欠ける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rgbClr val="C00000"/>
                          </a:solidFill>
                          <a:effectLst/>
                          <a:latin typeface="+mn-lt"/>
                          <a:ea typeface="+mn-ea"/>
                          <a:cs typeface="+mn-cs"/>
                        </a:rPr>
                        <a:t>×</a:t>
                      </a:r>
                      <a:r>
                        <a:rPr lang="ja-JP" altLang="en-US" sz="800" b="1" kern="1200" dirty="0">
                          <a:solidFill>
                            <a:srgbClr val="00B050"/>
                          </a:solidFill>
                          <a:effectLst/>
                          <a:latin typeface="+mn-lt"/>
                          <a:ea typeface="+mn-ea"/>
                          <a:cs typeface="+mn-cs"/>
                        </a:rPr>
                        <a:t>　</a:t>
                      </a:r>
                      <a:r>
                        <a:rPr lang="ja-JP" altLang="en-US" sz="800" kern="1200" dirty="0">
                          <a:solidFill>
                            <a:srgbClr val="C00000"/>
                          </a:solidFill>
                          <a:effectLst/>
                          <a:latin typeface="+mn-lt"/>
                          <a:ea typeface="+mn-ea"/>
                          <a:cs typeface="+mn-cs"/>
                        </a:rPr>
                        <a:t>テキスト抽出機能、非テキスト検索のサポートが限定的</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chemeClr val="tx1"/>
                          </a:solidFill>
                          <a:effectLst/>
                        </a:rPr>
                        <a:t>△</a:t>
                      </a:r>
                      <a:r>
                        <a:rPr lang="en-US" altLang="ja-JP" sz="800" b="1" kern="1200" dirty="0">
                          <a:solidFill>
                            <a:schemeClr val="tx1"/>
                          </a:solidFill>
                          <a:effectLst/>
                          <a:latin typeface="+mn-lt"/>
                          <a:ea typeface="+mn-ea"/>
                          <a:cs typeface="+mn-cs"/>
                        </a:rPr>
                        <a:t> </a:t>
                      </a:r>
                      <a:r>
                        <a:rPr lang="ja-JP" altLang="en-US" sz="800" kern="1200" dirty="0">
                          <a:solidFill>
                            <a:schemeClr val="tx1"/>
                          </a:solidFill>
                          <a:effectLst/>
                          <a:latin typeface="+mn-lt"/>
                          <a:ea typeface="+mn-ea"/>
                          <a:cs typeface="+mn-cs"/>
                        </a:rPr>
                        <a:t>独自対応が必要</a:t>
                      </a:r>
                      <a:r>
                        <a:rPr lang="ja-JP" altLang="en-US" sz="800" dirty="0">
                          <a:solidFill>
                            <a:schemeClr val="tx1"/>
                          </a:solidFill>
                          <a:effectLst/>
                        </a:rPr>
                        <a:t> </a:t>
                      </a:r>
                      <a:endParaRPr lang="en-US" altLang="ja-JP" sz="8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b="1" dirty="0">
                          <a:solidFill>
                            <a:srgbClr val="00B050"/>
                          </a:solidFill>
                          <a:effectLst/>
                        </a:rPr>
                        <a:t>〇</a:t>
                      </a:r>
                      <a:r>
                        <a:rPr lang="ja-JP" altLang="en-US" sz="800" dirty="0">
                          <a:solidFill>
                            <a:srgbClr val="C00000"/>
                          </a:solidFill>
                          <a:effectLst/>
                        </a:rPr>
                        <a:t> </a:t>
                      </a:r>
                      <a:r>
                        <a:rPr lang="en-US" altLang="ja-JP" sz="800" dirty="0">
                          <a:solidFill>
                            <a:schemeClr val="tx1"/>
                          </a:solidFill>
                          <a:effectLst/>
                        </a:rPr>
                        <a:t>Microsoft Search</a:t>
                      </a:r>
                      <a:r>
                        <a:rPr lang="ja-JP" altLang="en-US" sz="800" dirty="0">
                          <a:solidFill>
                            <a:schemeClr val="tx1"/>
                          </a:solidFill>
                          <a:effectLst/>
                        </a:rPr>
                        <a:t>（</a:t>
                      </a:r>
                      <a:r>
                        <a:rPr lang="en-US" altLang="ja-JP" sz="800" dirty="0">
                          <a:solidFill>
                            <a:schemeClr val="tx1"/>
                          </a:solidFill>
                          <a:effectLst/>
                        </a:rPr>
                        <a:t>Graph</a:t>
                      </a:r>
                      <a:r>
                        <a:rPr lang="ja-JP" altLang="en-US" sz="800" dirty="0">
                          <a:solidFill>
                            <a:schemeClr val="tx1"/>
                          </a:solidFill>
                          <a:effectLst/>
                        </a:rPr>
                        <a:t> </a:t>
                      </a:r>
                      <a:r>
                        <a:rPr lang="en-US" altLang="ja-JP" sz="800" dirty="0">
                          <a:solidFill>
                            <a:schemeClr val="tx1"/>
                          </a:solidFill>
                          <a:effectLst/>
                        </a:rPr>
                        <a:t>API</a:t>
                      </a:r>
                      <a:r>
                        <a:rPr lang="ja-JP" altLang="en-US" sz="800" dirty="0">
                          <a:solidFill>
                            <a:schemeClr val="tx1"/>
                          </a:solidFill>
                          <a:effectLst/>
                        </a:rPr>
                        <a:t>）で実現。</a:t>
                      </a:r>
                      <a:endParaRPr lang="en-US" altLang="ja-JP" sz="8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75140">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△（評価のみだが、</a:t>
                      </a:r>
                      <a:r>
                        <a:rPr lang="en-US" altLang="ja-JP" sz="800" dirty="0">
                          <a:solidFill>
                            <a:schemeClr val="tx1"/>
                          </a:solidFill>
                          <a:effectLst/>
                        </a:rPr>
                        <a:t>Azure SQL</a:t>
                      </a:r>
                      <a:r>
                        <a:rPr lang="ja-JP" altLang="en-US" sz="800" dirty="0">
                          <a:solidFill>
                            <a:schemeClr val="tx1"/>
                          </a:solidFill>
                          <a:effectLst/>
                        </a:rPr>
                        <a:t>と</a:t>
                      </a:r>
                      <a:r>
                        <a:rPr lang="en-US" altLang="ja-JP" sz="800" dirty="0">
                          <a:solidFill>
                            <a:schemeClr val="tx1"/>
                          </a:solidFill>
                          <a:effectLst/>
                        </a:rPr>
                        <a:t>SQL</a:t>
                      </a:r>
                      <a:r>
                        <a:rPr lang="ja-JP" altLang="en-US" sz="800" dirty="0">
                          <a:solidFill>
                            <a:schemeClr val="tx1"/>
                          </a:solidFill>
                          <a:effectLst/>
                        </a:rPr>
                        <a:t> </a:t>
                      </a:r>
                      <a:r>
                        <a:rPr lang="en-US" altLang="ja-JP" sz="800" dirty="0">
                          <a:solidFill>
                            <a:schemeClr val="tx1"/>
                          </a:solidFill>
                          <a:effectLst/>
                        </a:rPr>
                        <a:t>Server</a:t>
                      </a:r>
                      <a:r>
                        <a:rPr lang="ja-JP" altLang="en-US" sz="800" dirty="0">
                          <a:solidFill>
                            <a:schemeClr val="tx1"/>
                          </a:solidFill>
                          <a:effectLst/>
                        </a:rPr>
                        <a:t> </a:t>
                      </a:r>
                      <a:r>
                        <a:rPr lang="en-US" altLang="ja-JP" sz="800" dirty="0">
                          <a:solidFill>
                            <a:schemeClr val="tx1"/>
                          </a:solidFill>
                          <a:effectLst/>
                        </a:rPr>
                        <a:t>2022</a:t>
                      </a:r>
                      <a:r>
                        <a:rPr lang="ja-JP" altLang="en-US" sz="800" dirty="0">
                          <a:solidFill>
                            <a:schemeClr val="tx1"/>
                          </a:solidFill>
                          <a:effectLst/>
                        </a:rPr>
                        <a:t>の定型データ管理には差異がないため、リスクがないと認識）</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rPr>
                        <a:t>〇</a:t>
                      </a:r>
                      <a:endParaRPr lang="ja-JP" altLang="en-US"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dirty="0">
                          <a:solidFill>
                            <a:srgbClr val="C00000"/>
                          </a:solidFill>
                          <a:effectLst/>
                        </a:rPr>
                        <a:t>×</a:t>
                      </a:r>
                      <a:r>
                        <a:rPr lang="ja-JP" altLang="en-US" sz="800" dirty="0">
                          <a:solidFill>
                            <a:srgbClr val="C00000"/>
                          </a:solidFill>
                          <a:effectLst/>
                        </a:rPr>
                        <a:t>　</a:t>
                      </a:r>
                      <a:r>
                        <a:rPr lang="en-US" altLang="ja-JP" sz="800" dirty="0">
                          <a:solidFill>
                            <a:srgbClr val="C00000"/>
                          </a:solidFill>
                          <a:effectLst/>
                        </a:rPr>
                        <a:t>Power</a:t>
                      </a:r>
                      <a:r>
                        <a:rPr lang="ja-JP" altLang="en-US" sz="800" dirty="0">
                          <a:solidFill>
                            <a:srgbClr val="C00000"/>
                          </a:solidFill>
                          <a:effectLst/>
                        </a:rPr>
                        <a:t> </a:t>
                      </a:r>
                      <a:r>
                        <a:rPr lang="en-US" altLang="ja-JP" sz="800" dirty="0">
                          <a:solidFill>
                            <a:srgbClr val="C00000"/>
                          </a:solidFill>
                          <a:effectLst/>
                        </a:rPr>
                        <a:t>Platform</a:t>
                      </a:r>
                      <a:r>
                        <a:rPr lang="ja-JP" altLang="en-US" sz="800" dirty="0">
                          <a:solidFill>
                            <a:srgbClr val="C00000"/>
                          </a:solidFill>
                          <a:effectLst/>
                        </a:rPr>
                        <a:t>連携に実績ない</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rgbClr val="00B050"/>
                          </a:solidFill>
                          <a:effectLst/>
                        </a:rPr>
                        <a:t>〇</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45503">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設計・実装の特別考慮</a:t>
                      </a:r>
                      <a:endParaRPr lang="en-US" altLang="ja-JP" sz="900" b="1" kern="1200" dirty="0">
                        <a:solidFill>
                          <a:schemeClr val="dk1"/>
                        </a:solidFill>
                        <a:latin typeface="+mn-lt"/>
                        <a:ea typeface="+mn-ea"/>
                        <a:cs typeface="+mn-cs"/>
                      </a:endParaRPr>
                    </a:p>
                    <a:p>
                      <a:r>
                        <a:rPr lang="en-US" altLang="ja-JP" sz="900" b="1" kern="1200" dirty="0">
                          <a:solidFill>
                            <a:schemeClr val="dk1"/>
                          </a:solidFill>
                          <a:latin typeface="+mn-lt"/>
                          <a:ea typeface="+mn-ea"/>
                          <a:cs typeface="+mn-cs"/>
                        </a:rPr>
                        <a:t>(</a:t>
                      </a:r>
                      <a:r>
                        <a:rPr lang="ja-JP" altLang="en-US" sz="900" b="1" kern="1200" dirty="0">
                          <a:solidFill>
                            <a:schemeClr val="dk1"/>
                          </a:solidFill>
                          <a:latin typeface="+mn-lt"/>
                          <a:ea typeface="+mn-ea"/>
                          <a:cs typeface="+mn-cs"/>
                        </a:rPr>
                        <a:t>権限</a:t>
                      </a:r>
                      <a:r>
                        <a:rPr lang="en-US" altLang="ja-JP" sz="900" b="1" kern="1200" dirty="0">
                          <a:solidFill>
                            <a:schemeClr val="dk1"/>
                          </a:solidFill>
                          <a:latin typeface="+mn-lt"/>
                          <a:ea typeface="+mn-ea"/>
                          <a:cs typeface="+mn-cs"/>
                        </a:rPr>
                        <a:t>)</a:t>
                      </a:r>
                      <a:endParaRPr lang="ja-JP" altLang="en-US" sz="9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800" b="1" kern="1200" dirty="0">
                          <a:solidFill>
                            <a:schemeClr val="dk1"/>
                          </a:solidFill>
                          <a:latin typeface="+mn-lt"/>
                          <a:ea typeface="+mn-ea"/>
                          <a:cs typeface="+mn-cs"/>
                        </a:rPr>
                        <a:t>ー</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ja-JP" altLang="en-US" sz="8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ja-JP" altLang="en-US" sz="800" b="1" kern="1200" dirty="0">
                          <a:solidFill>
                            <a:schemeClr val="dk1"/>
                          </a:solidFill>
                          <a:latin typeface="+mn-lt"/>
                          <a:ea typeface="+mn-ea"/>
                          <a:cs typeface="+mn-cs"/>
                        </a:rPr>
                        <a:t>ー</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kern="1200" dirty="0">
                          <a:solidFill>
                            <a:schemeClr val="tx1"/>
                          </a:solidFill>
                          <a:effectLst/>
                          <a:latin typeface="+mn-lt"/>
                          <a:ea typeface="+mn-ea"/>
                          <a:cs typeface="+mn-cs"/>
                        </a:rPr>
                        <a:t>△　</a:t>
                      </a:r>
                      <a:endParaRPr lang="en-US" altLang="ja-JP" sz="800" kern="1200" dirty="0">
                        <a:solidFill>
                          <a:schemeClr val="tx1"/>
                        </a:solidFill>
                        <a:effectLst/>
                        <a:latin typeface="+mn-lt"/>
                        <a:ea typeface="+mn-ea"/>
                        <a:cs typeface="+mn-cs"/>
                      </a:endParaRPr>
                    </a:p>
                    <a:p>
                      <a:pPr marL="0" indent="0" algn="l" defTabSz="914400" rtl="0" eaLnBrk="1" latinLnBrk="0" hangingPunct="1">
                        <a:buFont typeface="Arial" panose="020B0604020202020204" pitchFamily="34" charset="0"/>
                        <a:buNone/>
                      </a:pPr>
                      <a:r>
                        <a:rPr lang="en-US" altLang="ja-JP" sz="800" kern="1200" dirty="0">
                          <a:solidFill>
                            <a:srgbClr val="C00000"/>
                          </a:solidFill>
                          <a:effectLst/>
                          <a:latin typeface="+mn-lt"/>
                          <a:ea typeface="+mn-ea"/>
                          <a:cs typeface="+mn-cs"/>
                        </a:rPr>
                        <a:t>SharePoint</a:t>
                      </a:r>
                      <a:r>
                        <a:rPr lang="ja-JP" altLang="en-US" sz="800" kern="1200" dirty="0">
                          <a:solidFill>
                            <a:srgbClr val="C00000"/>
                          </a:solidFill>
                          <a:effectLst/>
                          <a:latin typeface="+mn-lt"/>
                          <a:ea typeface="+mn-ea"/>
                          <a:cs typeface="+mn-cs"/>
                        </a:rPr>
                        <a:t>に置いている添付ファイルは</a:t>
                      </a:r>
                      <a:r>
                        <a:rPr lang="en-US" altLang="ja-JP" sz="800" kern="1200" dirty="0">
                          <a:solidFill>
                            <a:srgbClr val="C00000"/>
                          </a:solidFill>
                          <a:effectLst/>
                          <a:latin typeface="+mn-lt"/>
                          <a:ea typeface="+mn-ea"/>
                          <a:cs typeface="+mn-cs"/>
                        </a:rPr>
                        <a:t>Direct</a:t>
                      </a:r>
                      <a:r>
                        <a:rPr lang="ja-JP" altLang="en-US" sz="800" kern="1200" dirty="0">
                          <a:solidFill>
                            <a:srgbClr val="C00000"/>
                          </a:solidFill>
                          <a:effectLst/>
                          <a:latin typeface="+mn-lt"/>
                          <a:ea typeface="+mn-ea"/>
                          <a:cs typeface="+mn-cs"/>
                        </a:rPr>
                        <a:t>あ</a:t>
                      </a:r>
                      <a:r>
                        <a:rPr lang="en-US" altLang="ja-JP" sz="800" kern="1200" dirty="0">
                          <a:solidFill>
                            <a:srgbClr val="C00000"/>
                          </a:solidFill>
                          <a:effectLst/>
                          <a:latin typeface="+mn-lt"/>
                          <a:ea typeface="+mn-ea"/>
                          <a:cs typeface="+mn-cs"/>
                        </a:rPr>
                        <a:t>Access</a:t>
                      </a:r>
                      <a:r>
                        <a:rPr lang="ja-JP" altLang="en-US" sz="800" kern="1200" dirty="0">
                          <a:solidFill>
                            <a:srgbClr val="C00000"/>
                          </a:solidFill>
                          <a:effectLst/>
                          <a:latin typeface="+mn-lt"/>
                          <a:ea typeface="+mn-ea"/>
                          <a:cs typeface="+mn-cs"/>
                        </a:rPr>
                        <a:t>のため、個別ファイルレベルの権限付与が必須</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4" name="テキスト ボックス 3">
            <a:extLst>
              <a:ext uri="{FF2B5EF4-FFF2-40B4-BE49-F238E27FC236}">
                <a16:creationId xmlns:a16="http://schemas.microsoft.com/office/drawing/2014/main" id="{03B5C205-C213-AC35-BFF9-8FA23463B000}"/>
              </a:ext>
            </a:extLst>
          </p:cNvPr>
          <p:cNvSpPr txBox="1"/>
          <p:nvPr/>
        </p:nvSpPr>
        <p:spPr>
          <a:xfrm>
            <a:off x="360344" y="4886932"/>
            <a:ext cx="11723915" cy="523220"/>
          </a:xfrm>
          <a:prstGeom prst="rect">
            <a:avLst/>
          </a:prstGeom>
          <a:noFill/>
        </p:spPr>
        <p:txBody>
          <a:bodyPr wrap="square">
            <a:spAutoFit/>
          </a:bodyPr>
          <a:lstStyle/>
          <a:p>
            <a:pPr marL="342900" indent="-342900">
              <a:buFont typeface="+mj-lt"/>
              <a:buAutoNum type="arabicPeriod"/>
            </a:pPr>
            <a:r>
              <a:rPr lang="ja-JP" altLang="en-US" sz="1400" dirty="0">
                <a:solidFill>
                  <a:schemeClr val="dk1"/>
                </a:solidFill>
              </a:rPr>
              <a:t>過去の実績有無により、</a:t>
            </a:r>
            <a:r>
              <a:rPr lang="de-DE" altLang="ja-JP" sz="1400" dirty="0">
                <a:solidFill>
                  <a:schemeClr val="dk1"/>
                </a:solidFill>
              </a:rPr>
              <a:t>PostgreSQL (with extensions)</a:t>
            </a:r>
            <a:r>
              <a:rPr lang="ja-JP" altLang="en-US" sz="1400" dirty="0">
                <a:solidFill>
                  <a:schemeClr val="dk1"/>
                </a:solidFill>
              </a:rPr>
              <a:t>を外す。</a:t>
            </a:r>
            <a:endParaRPr lang="en-US" altLang="ja-JP" sz="1400" dirty="0">
              <a:solidFill>
                <a:schemeClr val="dk1"/>
              </a:solidFill>
            </a:endParaRPr>
          </a:p>
          <a:p>
            <a:pPr marL="342900" indent="-342900">
              <a:buFont typeface="+mj-lt"/>
              <a:buAutoNum type="arabicPeriod"/>
            </a:pPr>
            <a:r>
              <a:rPr lang="ja-JP" altLang="en-US" sz="1400" dirty="0">
                <a:solidFill>
                  <a:schemeClr val="dk1"/>
                </a:solidFill>
              </a:rPr>
              <a:t>業務機能の実装ロジックの実現複雑さとロジック性能考慮により、</a:t>
            </a:r>
            <a:r>
              <a:rPr lang="en-US" altLang="ja-JP" sz="1400" dirty="0">
                <a:solidFill>
                  <a:schemeClr val="dk1"/>
                </a:solidFill>
              </a:rPr>
              <a:t>SQL Server 2022</a:t>
            </a:r>
            <a:r>
              <a:rPr lang="ja-JP" altLang="en-US" sz="1400" dirty="0">
                <a:solidFill>
                  <a:schemeClr val="dk1"/>
                </a:solidFill>
              </a:rPr>
              <a:t>と</a:t>
            </a:r>
            <a:r>
              <a:rPr lang="en-US" altLang="ja-JP" sz="1400" dirty="0">
                <a:solidFill>
                  <a:schemeClr val="dk1"/>
                </a:solidFill>
              </a:rPr>
              <a:t>Azure SQL</a:t>
            </a:r>
            <a:r>
              <a:rPr lang="ja-JP" altLang="en-US" sz="1400" dirty="0">
                <a:solidFill>
                  <a:schemeClr val="dk1"/>
                </a:solidFill>
              </a:rPr>
              <a:t> に限ること</a:t>
            </a:r>
            <a:endParaRPr lang="en-US" altLang="ja-JP" sz="1400" dirty="0">
              <a:solidFill>
                <a:schemeClr val="dk1"/>
              </a:solidFill>
            </a:endParaRPr>
          </a:p>
        </p:txBody>
      </p:sp>
    </p:spTree>
    <p:extLst>
      <p:ext uri="{BB962C8B-B14F-4D97-AF65-F5344CB8AC3E}">
        <p14:creationId xmlns:p14="http://schemas.microsoft.com/office/powerpoint/2010/main" val="3028644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kumimoji="1" lang="en-US" altLang="ja-JP" b="1" cap="none" dirty="0" err="1">
                <a:ea typeface="游ゴシック" panose="020B0400000000000000" pitchFamily="50" charset="-128"/>
              </a:rPr>
              <a:t>AzureSQL</a:t>
            </a:r>
            <a:r>
              <a:rPr kumimoji="1" lang="ja-JP" altLang="en-US" b="1" cap="none" dirty="0">
                <a:ea typeface="游ゴシック" panose="020B0400000000000000" pitchFamily="50" charset="-128"/>
              </a:rPr>
              <a:t>＋</a:t>
            </a:r>
            <a:r>
              <a:rPr kumimoji="1" lang="en-US" altLang="ja-JP" b="1" cap="none" dirty="0">
                <a:ea typeface="游ゴシック" panose="020B0400000000000000" pitchFamily="50" charset="-128"/>
              </a:rPr>
              <a:t>SPO</a:t>
            </a:r>
            <a:r>
              <a:rPr lang="ja-JP" altLang="en-US" dirty="0"/>
              <a:t>の選定理由</a:t>
            </a:r>
          </a:p>
        </p:txBody>
      </p:sp>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836099"/>
            <a:ext cx="11412096" cy="4031873"/>
          </a:xfrm>
          <a:prstGeom prst="rect">
            <a:avLst/>
          </a:prstGeom>
          <a:noFill/>
        </p:spPr>
        <p:txBody>
          <a:bodyPr wrap="square" rtlCol="0">
            <a:spAutoFit/>
          </a:bodyPr>
          <a:lstStyle/>
          <a:p>
            <a:pPr lvl="0"/>
            <a:r>
              <a:rPr kumimoji="1" lang="en-US" altLang="ja-JP" sz="1600" b="1" i="0" u="none" strike="noStrike" kern="1200" cap="none" spc="0" normalizeH="0" baseline="0" noProof="0" dirty="0" err="1">
                <a:ln>
                  <a:noFill/>
                </a:ln>
                <a:effectLst/>
                <a:uLnTx/>
                <a:uFillTx/>
                <a:latin typeface="Gill Sans MT"/>
                <a:ea typeface="游ゴシック" panose="020B0400000000000000" pitchFamily="50" charset="-128"/>
                <a:cs typeface="+mn-cs"/>
              </a:rPr>
              <a:t>AzureSQL</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lvl="0" indent="-285750">
              <a:buFont typeface="Arial" panose="020B0604020202020204" pitchFamily="34" charset="0"/>
              <a:buChar char="•"/>
            </a:pPr>
            <a:r>
              <a:rPr lang="en-US" altLang="ja-JP" sz="1600" dirty="0"/>
              <a:t>On promise Gateway</a:t>
            </a:r>
            <a:r>
              <a:rPr lang="ja-JP" altLang="en-US" sz="1600" dirty="0"/>
              <a:t>のネットワークボトルネックを解消</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が提供している性能保証を考慮して、想定しているユーザ数に対するパフォーマンスへの配慮</a:t>
            </a:r>
            <a:endParaRPr lang="en-US" altLang="ja-JP"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が統合した機能を生かして、システムの構成を単純化にし、運用保守コストへの配慮</a:t>
            </a:r>
            <a:endParaRPr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i="0" u="none" strike="noStrike" kern="1200" cap="none" spc="0" normalizeH="0" baseline="0" noProof="0" dirty="0">
                <a:ln>
                  <a:noFill/>
                </a:ln>
                <a:effectLst/>
                <a:uLnTx/>
                <a:uFillTx/>
                <a:latin typeface="Gill Sans MT"/>
                <a:ea typeface="游ゴシック" panose="020B0400000000000000" pitchFamily="50" charset="-128"/>
                <a:cs typeface="+mn-cs"/>
              </a:rPr>
              <a:t>が提供している検索機能を生かすことで、ソリューションが簡単になり、性能の保証と構築・保守コストへの配慮</a:t>
            </a:r>
            <a:endPar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のアクセス管理機能を生かして、ソリューションが簡単になり、セキュリティーへの配慮</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が提供しているオンライン編集機能で、ユーザ要件の実現</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ja-JP" altLang="en-US" sz="1600" dirty="0">
                <a:latin typeface="Gill Sans MT"/>
                <a:ea typeface="游ゴシック" panose="020B0400000000000000" pitchFamily="50" charset="-128"/>
              </a:rPr>
              <a:t>大量ファイルを扱うによるパフォーマンスへの影響をソリューションで対応が必要であるが、その他の提供機能と比較してデメリットが少ない</a:t>
            </a:r>
            <a:endParaRPr lang="en-US" altLang="ja-JP" sz="1600" dirty="0">
              <a:latin typeface="Gill Sans MT"/>
              <a:ea typeface="游ゴシック" panose="020B0400000000000000" pitchFamily="50" charset="-128"/>
            </a:endParaRPr>
          </a:p>
          <a:p>
            <a:endParaRPr lang="en-US" altLang="ja-JP" dirty="0"/>
          </a:p>
          <a:p>
            <a:r>
              <a:rPr lang="ja-JP" altLang="en-US" dirty="0"/>
              <a:t>前頁に羅列した評価項目評価し、掲題の推奨結果に至りました。次ページより推奨環境について説明します。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0098" y="1365503"/>
            <a:ext cx="5667794" cy="530915"/>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p>
          <a:p>
            <a:r>
              <a:rPr lang="en-US" altLang="ja-JP" sz="900" dirty="0">
                <a:solidFill>
                  <a:srgbClr val="FF0000"/>
                </a:solidFill>
              </a:rPr>
              <a:t>SPO</a:t>
            </a:r>
            <a:r>
              <a:rPr lang="ja-JP" altLang="en-US" sz="900" dirty="0">
                <a:solidFill>
                  <a:srgbClr val="FF0000"/>
                </a:solidFill>
              </a:rPr>
              <a:t>に保存されているファイルのアクセス権限（</a:t>
            </a:r>
            <a:r>
              <a:rPr lang="en-US" altLang="ja-JP" sz="900" dirty="0">
                <a:solidFill>
                  <a:srgbClr val="FF0000"/>
                </a:solidFill>
              </a:rPr>
              <a:t>Read/Edit/</a:t>
            </a:r>
            <a:r>
              <a:rPr lang="en-US" altLang="ja-JP" sz="900" dirty="0" err="1">
                <a:solidFill>
                  <a:srgbClr val="FF0000"/>
                </a:solidFill>
              </a:rPr>
              <a:t>Downoad</a:t>
            </a:r>
            <a:r>
              <a:rPr lang="ja-JP" altLang="en-US" sz="900" dirty="0">
                <a:solidFill>
                  <a:srgbClr val="FF0000"/>
                </a:solidFill>
              </a:rPr>
              <a:t>）は、</a:t>
            </a:r>
            <a:r>
              <a:rPr lang="en-US" altLang="ja-JP" sz="900" dirty="0">
                <a:solidFill>
                  <a:srgbClr val="FF0000"/>
                </a:solidFill>
              </a:rPr>
              <a:t>SPO</a:t>
            </a:r>
            <a:r>
              <a:rPr lang="ja-JP" altLang="en-US" sz="900" dirty="0">
                <a:solidFill>
                  <a:srgbClr val="FF0000"/>
                </a:solidFill>
              </a:rPr>
              <a:t>に直接にアクセスするときも有効にすることで、添付ファイル</a:t>
            </a:r>
            <a:r>
              <a:rPr lang="en-US" altLang="ja-JP" sz="900" dirty="0">
                <a:solidFill>
                  <a:srgbClr val="FF0000"/>
                </a:solidFill>
              </a:rPr>
              <a:t>Upload</a:t>
            </a:r>
            <a:r>
              <a:rPr lang="ja-JP" altLang="en-US" sz="900" dirty="0">
                <a:solidFill>
                  <a:srgbClr val="FF0000"/>
                </a:solidFill>
              </a:rPr>
              <a:t>する時に定義したアクセス権限を設定することで制約します。</a:t>
            </a:r>
            <a:endParaRPr kumimoji="1" lang="ja-JP" altLang="en-US" sz="900" dirty="0">
              <a:solidFill>
                <a:srgbClr val="FF0000"/>
              </a:solidFill>
            </a:endParaRP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6" name="テキスト ボックス 1065">
            <a:extLst>
              <a:ext uri="{FF2B5EF4-FFF2-40B4-BE49-F238E27FC236}">
                <a16:creationId xmlns:a16="http://schemas.microsoft.com/office/drawing/2014/main" id="{355B5D54-E6A0-4CB5-1D34-7914B026E31F}"/>
              </a:ext>
            </a:extLst>
          </p:cNvPr>
          <p:cNvSpPr txBox="1"/>
          <p:nvPr/>
        </p:nvSpPr>
        <p:spPr>
          <a:xfrm>
            <a:off x="252278" y="5906063"/>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solidFill>
                  <a:srgbClr val="C00000"/>
                </a:solidFill>
              </a:rPr>
              <a:t>On promise Gateway</a:t>
            </a:r>
            <a:r>
              <a:rPr lang="ja-JP" altLang="en-US" sz="1400" dirty="0">
                <a:solidFill>
                  <a:srgbClr val="C00000"/>
                </a:solidFill>
              </a:rPr>
              <a:t>の可能の</a:t>
            </a:r>
            <a:r>
              <a:rPr lang="en-US" altLang="ja-JP" sz="1400" dirty="0">
                <a:solidFill>
                  <a:srgbClr val="C00000"/>
                </a:solidFill>
              </a:rPr>
              <a:t>Bottle Neck</a:t>
            </a:r>
            <a:r>
              <a:rPr lang="ja-JP" altLang="en-US" sz="1400" dirty="0">
                <a:solidFill>
                  <a:srgbClr val="C00000"/>
                </a:solidFill>
              </a:rPr>
              <a:t>を解除するため</a:t>
            </a:r>
            <a:endParaRPr kumimoji="1" lang="ja-JP" altLang="en-US" sz="1400" dirty="0">
              <a:solidFill>
                <a:srgbClr val="C00000"/>
              </a:solidFill>
            </a:endParaRP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10373826" cy="683629"/>
          </a:xfrm>
        </p:spPr>
        <p:txBody>
          <a:bodyPr>
            <a:noAutofit/>
          </a:bodyPr>
          <a:lstStyle/>
          <a:p>
            <a:r>
              <a:rPr lang="ja-JP" altLang="en-US" dirty="0"/>
              <a:t>要件／ソリューション－添付ファイル管理（編集含む）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1605595628"/>
              </p:ext>
            </p:extLst>
          </p:nvPr>
        </p:nvGraphicFramePr>
        <p:xfrm>
          <a:off x="453571" y="757391"/>
          <a:ext cx="11284857" cy="5543446"/>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050" dirty="0">
                          <a:solidFill>
                            <a:schemeClr val="tx1"/>
                          </a:solidFill>
                        </a:rPr>
                        <a:t>仕様書管理</a:t>
                      </a:r>
                      <a:r>
                        <a:rPr lang="en-US" altLang="ja-JP" sz="1050" dirty="0">
                          <a:solidFill>
                            <a:schemeClr val="tx1"/>
                          </a:solidFill>
                        </a:rPr>
                        <a:t>TBL</a:t>
                      </a:r>
                      <a:r>
                        <a:rPr lang="ja-JP" altLang="en-US" sz="1050" dirty="0">
                          <a:solidFill>
                            <a:schemeClr val="tx1"/>
                          </a:solidFill>
                        </a:rPr>
                        <a:t>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solidFill>
                            <a:schemeClr val="tx1"/>
                          </a:solidFill>
                        </a:rPr>
                        <a:t>仕様書管理</a:t>
                      </a:r>
                      <a:r>
                        <a:rPr lang="en-US" altLang="ja-JP" sz="900" dirty="0">
                          <a:solidFill>
                            <a:schemeClr val="tx1"/>
                          </a:solidFill>
                        </a:rPr>
                        <a:t>TBL</a:t>
                      </a:r>
                      <a:r>
                        <a:rPr lang="ja-JP" altLang="en-US" sz="900" dirty="0">
                          <a:solidFill>
                            <a:schemeClr val="tx1"/>
                          </a:solidFill>
                        </a:rPr>
                        <a:t>に、添付ファイル（複数</a:t>
                      </a:r>
                      <a:r>
                        <a:rPr lang="en-US" altLang="ja-JP" sz="900" dirty="0">
                          <a:solidFill>
                            <a:schemeClr val="tx1"/>
                          </a:solidFill>
                        </a:rPr>
                        <a:t>)</a:t>
                      </a:r>
                      <a:r>
                        <a:rPr lang="ja-JP" altLang="en-US" sz="900" dirty="0">
                          <a:solidFill>
                            <a:schemeClr val="tx1"/>
                          </a:solidFill>
                        </a:rPr>
                        <a:t>のファイル</a:t>
                      </a:r>
                      <a:r>
                        <a:rPr lang="en-US" altLang="ja-JP" sz="900" dirty="0">
                          <a:solidFill>
                            <a:schemeClr val="tx1"/>
                          </a:solidFill>
                        </a:rPr>
                        <a:t>ID</a:t>
                      </a:r>
                      <a:r>
                        <a:rPr lang="ja-JP" altLang="en-US" sz="900" dirty="0">
                          <a:solidFill>
                            <a:schemeClr val="tx1"/>
                          </a:solidFill>
                        </a:rPr>
                        <a:t>、ファイル名情報、</a:t>
                      </a:r>
                      <a:r>
                        <a:rPr lang="en-US" altLang="ja-JP" sz="900" dirty="0" err="1">
                          <a:solidFill>
                            <a:schemeClr val="tx1"/>
                          </a:solidFill>
                        </a:rPr>
                        <a:t>Url</a:t>
                      </a:r>
                      <a:r>
                        <a:rPr lang="ja-JP" altLang="en-US" sz="900" dirty="0">
                          <a:solidFill>
                            <a:schemeClr val="tx1"/>
                          </a:solidFill>
                        </a:rPr>
                        <a:t>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05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Microsoft Search</a:t>
                      </a:r>
                      <a:r>
                        <a:rPr lang="ja-JP" altLang="en-US" sz="900" kern="1200" dirty="0">
                          <a:solidFill>
                            <a:schemeClr val="tx1"/>
                          </a:solidFill>
                          <a:latin typeface="+mn-lt"/>
                          <a:ea typeface="+mn-ea"/>
                          <a:cs typeface="+mn-cs"/>
                        </a:rPr>
                        <a:t>機能を利用する実現</a:t>
                      </a:r>
                      <a:endParaRPr lang="en-US" altLang="ja-JP" sz="9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900" kern="1200" dirty="0">
                          <a:solidFill>
                            <a:schemeClr val="tx1"/>
                          </a:solidFill>
                          <a:latin typeface="+mn-lt"/>
                          <a:ea typeface="+mn-ea"/>
                          <a:cs typeface="+mn-cs"/>
                        </a:rPr>
                        <a:t>実装面、</a:t>
                      </a:r>
                      <a:r>
                        <a:rPr lang="en-US" altLang="ja-JP" sz="900" kern="1200" dirty="0">
                          <a:solidFill>
                            <a:schemeClr val="tx1"/>
                          </a:solidFill>
                          <a:latin typeface="+mn-lt"/>
                          <a:ea typeface="+mn-ea"/>
                          <a:cs typeface="+mn-cs"/>
                        </a:rPr>
                        <a:t>Microsoft</a:t>
                      </a:r>
                      <a:r>
                        <a:rPr lang="ja-JP" altLang="en-US" sz="900" kern="1200" dirty="0">
                          <a:solidFill>
                            <a:schemeClr val="tx1"/>
                          </a:solidFill>
                          <a:latin typeface="+mn-lt"/>
                          <a:ea typeface="+mn-ea"/>
                          <a:cs typeface="+mn-cs"/>
                        </a:rPr>
                        <a:t> </a:t>
                      </a:r>
                      <a:r>
                        <a:rPr lang="en-US" altLang="ja-JP" sz="900" kern="1200" dirty="0" err="1">
                          <a:solidFill>
                            <a:schemeClr val="tx1"/>
                          </a:solidFill>
                          <a:latin typeface="+mn-lt"/>
                          <a:ea typeface="+mn-ea"/>
                          <a:cs typeface="+mn-cs"/>
                        </a:rPr>
                        <a:t>GraphAPI</a:t>
                      </a:r>
                      <a:r>
                        <a:rPr lang="ja-JP" altLang="en-US" sz="900" kern="1200" dirty="0">
                          <a:solidFill>
                            <a:schemeClr val="tx1"/>
                          </a:solidFill>
                          <a:latin typeface="+mn-lt"/>
                          <a:ea typeface="+mn-ea"/>
                          <a:cs typeface="+mn-cs"/>
                        </a:rPr>
                        <a:t>を利用する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00" kern="1200" dirty="0">
                          <a:solidFill>
                            <a:schemeClr val="tx1"/>
                          </a:solidFill>
                          <a:latin typeface="+mn-lt"/>
                          <a:ea typeface="+mn-ea"/>
                          <a:cs typeface="+mn-cs"/>
                        </a:rPr>
                        <a:t>添付ファイルの履歴管理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の履歴管理機能を利用（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8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添付ファイルの権限管理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の権限管理仕組みをそのまま利用（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22909428"/>
                  </a:ext>
                </a:extLst>
              </a:tr>
              <a:tr h="184794">
                <a:tc>
                  <a:txBody>
                    <a:bodyPr/>
                    <a:lstStyle/>
                    <a:p>
                      <a:r>
                        <a:rPr lang="ja-JP" altLang="en-US" sz="1000" kern="1200" dirty="0">
                          <a:solidFill>
                            <a:schemeClr val="tx1"/>
                          </a:solidFill>
                          <a:latin typeface="+mn-lt"/>
                          <a:ea typeface="+mn-ea"/>
                          <a:cs typeface="+mn-cs"/>
                        </a:rPr>
                        <a:t>サポートファイルタイプ（</a:t>
                      </a:r>
                      <a:r>
                        <a:rPr lang="en-US" altLang="ja-JP" sz="1000" kern="1200" dirty="0">
                          <a:solidFill>
                            <a:schemeClr val="tx1"/>
                          </a:solidFill>
                          <a:latin typeface="+mn-lt"/>
                          <a:ea typeface="+mn-ea"/>
                          <a:cs typeface="+mn-cs"/>
                        </a:rPr>
                        <a:t>Office</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Word, Excel, PowerPoint</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PDF</a:t>
                      </a:r>
                      <a:r>
                        <a:rPr lang="ja-JP" altLang="en-US" sz="100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の内蔵機能</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00" kern="1200" dirty="0">
                          <a:solidFill>
                            <a:schemeClr val="tx1"/>
                          </a:solidFill>
                          <a:latin typeface="+mn-lt"/>
                          <a:ea typeface="+mn-ea"/>
                          <a:cs typeface="+mn-cs"/>
                        </a:rPr>
                        <a:t>ファイルサイズ</a:t>
                      </a:r>
                      <a:r>
                        <a:rPr lang="en-US" altLang="ja-JP" sz="1000" kern="1200" dirty="0">
                          <a:solidFill>
                            <a:schemeClr val="tx1"/>
                          </a:solidFill>
                          <a:latin typeface="+mn-lt"/>
                          <a:ea typeface="+mn-ea"/>
                          <a:cs typeface="+mn-cs"/>
                        </a:rPr>
                        <a:t>: 50MB/</a:t>
                      </a:r>
                      <a:r>
                        <a:rPr lang="ja-JP" altLang="en-US" sz="100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PowerApps</a:t>
                      </a:r>
                      <a:r>
                        <a:rPr lang="ja-JP" altLang="en-US" sz="900" kern="1200" dirty="0">
                          <a:solidFill>
                            <a:schemeClr val="tx1"/>
                          </a:solidFill>
                          <a:latin typeface="+mn-lt"/>
                          <a:ea typeface="+mn-ea"/>
                          <a:cs typeface="+mn-cs"/>
                        </a:rPr>
                        <a:t>の内蔵</a:t>
                      </a:r>
                      <a:r>
                        <a:rPr lang="en-US" altLang="ja-JP" sz="900" kern="1200" dirty="0">
                          <a:solidFill>
                            <a:schemeClr val="tx1"/>
                          </a:solidFill>
                          <a:latin typeface="+mn-lt"/>
                          <a:ea typeface="+mn-ea"/>
                          <a:cs typeface="+mn-cs"/>
                        </a:rPr>
                        <a:t>File Download/Upload</a:t>
                      </a:r>
                      <a:r>
                        <a:rPr lang="ja-JP" altLang="en-US" sz="900" kern="1200" dirty="0">
                          <a:solidFill>
                            <a:schemeClr val="tx1"/>
                          </a:solidFill>
                          <a:latin typeface="+mn-lt"/>
                          <a:ea typeface="+mn-ea"/>
                          <a:cs typeface="+mn-cs"/>
                        </a:rPr>
                        <a:t>コントロールで対応（</a:t>
                      </a: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0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dirty="0">
                          <a:solidFill>
                            <a:schemeClr val="tx1"/>
                          </a:solidFill>
                          <a:latin typeface="Yu Gothic UI" panose="020B0500000000000000" pitchFamily="50" charset="-128"/>
                          <a:ea typeface="Yu Gothic UI" panose="020B0500000000000000" pitchFamily="50" charset="-128"/>
                        </a:rPr>
                        <a:t>多階層</a:t>
                      </a: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構造にし、一つの</a:t>
                      </a: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にファイルを</a:t>
                      </a:r>
                      <a:r>
                        <a:rPr lang="en-US" altLang="ja-JP" sz="900" dirty="0">
                          <a:solidFill>
                            <a:schemeClr val="tx1"/>
                          </a:solidFill>
                          <a:latin typeface="Yu Gothic UI" panose="020B0500000000000000" pitchFamily="50" charset="-128"/>
                          <a:ea typeface="Yu Gothic UI" panose="020B0500000000000000" pitchFamily="50" charset="-128"/>
                        </a:rPr>
                        <a:t>1000</a:t>
                      </a:r>
                      <a:r>
                        <a:rPr lang="ja-JP" altLang="en-US" sz="900" dirty="0">
                          <a:solidFill>
                            <a:schemeClr val="tx1"/>
                          </a:solidFill>
                          <a:latin typeface="Yu Gothic UI" panose="020B0500000000000000" pitchFamily="50" charset="-128"/>
                          <a:ea typeface="Yu Gothic UI" panose="020B0500000000000000" pitchFamily="50" charset="-128"/>
                        </a:rPr>
                        <a:t>以内に抑えることでパフォーマンスを確保</a:t>
                      </a:r>
                      <a:endParaRPr lang="en-US" altLang="ja-JP" sz="900" dirty="0">
                        <a:solidFill>
                          <a:schemeClr val="tx1"/>
                        </a:solidFill>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Download/</a:t>
                      </a:r>
                      <a:r>
                        <a:rPr lang="ja-JP" altLang="en-US" sz="100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900" kern="1200" dirty="0">
                          <a:solidFill>
                            <a:schemeClr val="tx1"/>
                          </a:solidFill>
                          <a:latin typeface="+mn-lt"/>
                          <a:ea typeface="+mn-ea"/>
                          <a:cs typeface="+mn-cs"/>
                        </a:rPr>
                        <a:t>データベーステーブルから</a:t>
                      </a:r>
                      <a:r>
                        <a:rPr lang="zh-CN" altLang="zh-CN" sz="900" kern="1200" dirty="0">
                          <a:solidFill>
                            <a:schemeClr val="tx1"/>
                          </a:solidFill>
                          <a:latin typeface="+mn-lt"/>
                          <a:ea typeface="+mn-ea"/>
                          <a:cs typeface="+mn-cs"/>
                        </a:rPr>
                        <a:t>選択</a:t>
                      </a:r>
                      <a:r>
                        <a:rPr lang="ja-JP" altLang="en-US" sz="900" kern="1200" dirty="0">
                          <a:solidFill>
                            <a:schemeClr val="tx1"/>
                          </a:solidFill>
                          <a:latin typeface="+mn-lt"/>
                          <a:ea typeface="+mn-ea"/>
                          <a:cs typeface="+mn-cs"/>
                        </a:rPr>
                        <a:t>対象の添付</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URLを取得。 </a:t>
                      </a:r>
                    </a:p>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Power Apps</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Launch</a:t>
                      </a:r>
                      <a:r>
                        <a:rPr lang="ja-JP" altLang="en-US" sz="900" kern="1200" dirty="0">
                          <a:solidFill>
                            <a:schemeClr val="tx1"/>
                          </a:solidFill>
                          <a:latin typeface="+mn-lt"/>
                          <a:ea typeface="+mn-ea"/>
                          <a:cs typeface="+mn-cs"/>
                        </a:rPr>
                        <a:t>機能を利用し、</a:t>
                      </a:r>
                      <a:r>
                        <a:rPr lang="zh-CN" altLang="zh-CN" sz="900" kern="1200" dirty="0">
                          <a:solidFill>
                            <a:schemeClr val="tx1"/>
                          </a:solidFill>
                          <a:latin typeface="+mn-lt"/>
                          <a:ea typeface="+mn-ea"/>
                          <a:cs typeface="+mn-cs"/>
                        </a:rPr>
                        <a:t>Office Onlineで</a:t>
                      </a:r>
                      <a:r>
                        <a:rPr lang="ja-JP" altLang="en-US" sz="900" kern="1200" dirty="0">
                          <a:solidFill>
                            <a:schemeClr val="tx1"/>
                          </a:solidFill>
                          <a:latin typeface="+mn-lt"/>
                          <a:ea typeface="+mn-ea"/>
                          <a:cs typeface="+mn-cs"/>
                        </a:rPr>
                        <a:t>直接</a:t>
                      </a:r>
                      <a:r>
                        <a:rPr lang="zh-CN" altLang="zh-CN" sz="900" kern="1200" dirty="0">
                          <a:solidFill>
                            <a:schemeClr val="tx1"/>
                          </a:solidFill>
                          <a:latin typeface="+mn-lt"/>
                          <a:ea typeface="+mn-ea"/>
                          <a:cs typeface="+mn-cs"/>
                        </a:rPr>
                        <a:t>開く（例: </a:t>
                      </a:r>
                      <a:r>
                        <a:rPr lang="zh-CN" altLang="zh-CN" sz="9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900" kern="1200" dirty="0">
                          <a:solidFill>
                            <a:schemeClr val="tx1"/>
                          </a:solidFill>
                          <a:latin typeface="+mn-lt"/>
                          <a:ea typeface="+mn-ea"/>
                          <a:cs typeface="+mn-cs"/>
                        </a:rPr>
                        <a:t>]）</a:t>
                      </a:r>
                      <a:r>
                        <a:rPr lang="en-US" altLang="ja-JP" sz="900" kern="1200" dirty="0" err="1">
                          <a:solidFill>
                            <a:schemeClr val="tx1"/>
                          </a:solidFill>
                          <a:latin typeface="+mn-lt"/>
                          <a:ea typeface="+mn-ea"/>
                          <a:cs typeface="+mn-cs"/>
                        </a:rPr>
                        <a:t>ReadOnly</a:t>
                      </a:r>
                      <a:r>
                        <a:rPr lang="en-US" altLang="ja-JP" sz="900" kern="1200" dirty="0">
                          <a:solidFill>
                            <a:schemeClr val="tx1"/>
                          </a:solidFill>
                          <a:latin typeface="+mn-lt"/>
                          <a:ea typeface="+mn-ea"/>
                          <a:cs typeface="+mn-cs"/>
                        </a:rPr>
                        <a:t>/</a:t>
                      </a:r>
                      <a:r>
                        <a:rPr lang="ja-JP" altLang="en-US" sz="900" kern="1200" dirty="0">
                          <a:solidFill>
                            <a:schemeClr val="tx1"/>
                          </a:solidFill>
                          <a:latin typeface="+mn-lt"/>
                          <a:ea typeface="+mn-ea"/>
                          <a:cs typeface="+mn-cs"/>
                        </a:rPr>
                        <a:t>編集モードは仕様に従って定義</a:t>
                      </a:r>
                      <a:endParaRPr lang="en-US" altLang="zh-CN"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Upload</a:t>
                      </a:r>
                      <a:endParaRPr lang="ja-JP" altLang="en-US" sz="10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された</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URLを</a:t>
                      </a:r>
                      <a:r>
                        <a:rPr lang="ja-JP" altLang="en-US" sz="900" kern="1200" dirty="0">
                          <a:solidFill>
                            <a:schemeClr val="tx1"/>
                          </a:solidFill>
                          <a:latin typeface="+mn-lt"/>
                          <a:ea typeface="+mn-ea"/>
                          <a:cs typeface="+mn-cs"/>
                        </a:rPr>
                        <a:t>算出</a:t>
                      </a:r>
                      <a:r>
                        <a:rPr lang="zh-CN" altLang="zh-CN" sz="9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900" dirty="0"/>
                        <a:t>ファイルを</a:t>
                      </a:r>
                      <a:r>
                        <a:rPr lang="en-US" altLang="ja-JP" sz="900" dirty="0"/>
                        <a:t>SPO</a:t>
                      </a:r>
                      <a:r>
                        <a:rPr lang="ja-JP" altLang="en-US" sz="900" dirty="0"/>
                        <a:t>の場所に</a:t>
                      </a:r>
                      <a:r>
                        <a:rPr lang="en-US" altLang="ja-JP" sz="900" dirty="0"/>
                        <a:t>Upload</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t>ファイルの権限を設定（共有相手個人、組織のみに与える）</a:t>
                      </a:r>
                      <a:endParaRPr lang="en-US" altLang="ja-JP" sz="90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t>仕様書</a:t>
                      </a:r>
                      <a:r>
                        <a:rPr lang="en-US" altLang="ja-JP" sz="900" dirty="0"/>
                        <a:t>Table</a:t>
                      </a:r>
                      <a:r>
                        <a:rPr lang="ja-JP" altLang="en-US" sz="900" dirty="0"/>
                        <a:t>に添付ファイル情報を登録する</a:t>
                      </a:r>
                      <a:endParaRPr lang="en-US" altLang="ja-JP" sz="9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kern="1200" dirty="0">
                          <a:solidFill>
                            <a:schemeClr val="tx1"/>
                          </a:solidFill>
                          <a:latin typeface="+mn-lt"/>
                          <a:ea typeface="+mn-ea"/>
                          <a:cs typeface="+mn-cs"/>
                        </a:rPr>
                        <a:t>ソリューションデータフロー</a:t>
                      </a:r>
                      <a:endParaRPr lang="en-US" altLang="ja-JP" sz="1050" b="1"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3" name="図 2">
            <a:extLst>
              <a:ext uri="{FF2B5EF4-FFF2-40B4-BE49-F238E27FC236}">
                <a16:creationId xmlns:a16="http://schemas.microsoft.com/office/drawing/2014/main" id="{66F8C394-8B67-198B-AD67-9AE5BA7B7BA5}"/>
              </a:ext>
            </a:extLst>
          </p:cNvPr>
          <p:cNvPicPr>
            <a:picLocks noChangeAspect="1"/>
          </p:cNvPicPr>
          <p:nvPr/>
        </p:nvPicPr>
        <p:blipFill>
          <a:blip r:embed="rId4"/>
          <a:stretch>
            <a:fillRect/>
          </a:stretch>
        </p:blipFill>
        <p:spPr>
          <a:xfrm>
            <a:off x="5030003" y="3306279"/>
            <a:ext cx="6573926" cy="3149392"/>
          </a:xfrm>
          <a:prstGeom prst="rect">
            <a:avLst/>
          </a:prstGeom>
        </p:spPr>
      </p:pic>
      <p:pic>
        <p:nvPicPr>
          <p:cNvPr id="8" name="図 7">
            <a:extLst>
              <a:ext uri="{FF2B5EF4-FFF2-40B4-BE49-F238E27FC236}">
                <a16:creationId xmlns:a16="http://schemas.microsoft.com/office/drawing/2014/main" id="{9579E1CA-8004-710B-ABF4-3CF24476591C}"/>
              </a:ext>
            </a:extLst>
          </p:cNvPr>
          <p:cNvPicPr>
            <a:picLocks noChangeAspect="1"/>
          </p:cNvPicPr>
          <p:nvPr/>
        </p:nvPicPr>
        <p:blipFill>
          <a:blip r:embed="rId5"/>
          <a:stretch>
            <a:fillRect/>
          </a:stretch>
        </p:blipFill>
        <p:spPr>
          <a:xfrm>
            <a:off x="1974080" y="5187218"/>
            <a:ext cx="2348563" cy="839009"/>
          </a:xfrm>
          <a:prstGeom prst="rect">
            <a:avLst/>
          </a:prstGeom>
        </p:spPr>
      </p:pic>
      <p:sp>
        <p:nvSpPr>
          <p:cNvPr id="10" name="矢印: 上カーブ 9">
            <a:extLst>
              <a:ext uri="{FF2B5EF4-FFF2-40B4-BE49-F238E27FC236}">
                <a16:creationId xmlns:a16="http://schemas.microsoft.com/office/drawing/2014/main" id="{EFD53EB5-2DF5-3837-D664-047A23D6F5BB}"/>
              </a:ext>
            </a:extLst>
          </p:cNvPr>
          <p:cNvSpPr/>
          <p:nvPr/>
        </p:nvSpPr>
        <p:spPr>
          <a:xfrm rot="2998930">
            <a:off x="1061115" y="5107853"/>
            <a:ext cx="953141" cy="339355"/>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pic>
        <p:nvPicPr>
          <p:cNvPr id="12" name="図 11">
            <a:extLst>
              <a:ext uri="{FF2B5EF4-FFF2-40B4-BE49-F238E27FC236}">
                <a16:creationId xmlns:a16="http://schemas.microsoft.com/office/drawing/2014/main" id="{39778A4D-13F4-9585-DBC5-08376223F809}"/>
              </a:ext>
            </a:extLst>
          </p:cNvPr>
          <p:cNvPicPr>
            <a:picLocks noChangeAspect="1"/>
          </p:cNvPicPr>
          <p:nvPr/>
        </p:nvPicPr>
        <p:blipFill>
          <a:blip r:embed="rId6"/>
          <a:stretch>
            <a:fillRect/>
          </a:stretch>
        </p:blipFill>
        <p:spPr>
          <a:xfrm>
            <a:off x="506928" y="3342960"/>
            <a:ext cx="2821859" cy="1538015"/>
          </a:xfrm>
          <a:prstGeom prst="rect">
            <a:avLst/>
          </a:prstGeom>
        </p:spPr>
      </p:pic>
      <p:sp>
        <p:nvSpPr>
          <p:cNvPr id="6" name="テキスト ボックス 5">
            <a:extLst>
              <a:ext uri="{FF2B5EF4-FFF2-40B4-BE49-F238E27FC236}">
                <a16:creationId xmlns:a16="http://schemas.microsoft.com/office/drawing/2014/main" id="{2396854E-3FA1-0DE9-3B7A-3C45CCDF352D}"/>
              </a:ext>
            </a:extLst>
          </p:cNvPr>
          <p:cNvSpPr txBox="1"/>
          <p:nvPr/>
        </p:nvSpPr>
        <p:spPr>
          <a:xfrm>
            <a:off x="451684" y="5383103"/>
            <a:ext cx="1259980" cy="230832"/>
          </a:xfrm>
          <a:prstGeom prst="rect">
            <a:avLst/>
          </a:prstGeom>
          <a:noFill/>
        </p:spPr>
        <p:txBody>
          <a:bodyPr wrap="square">
            <a:spAutoFit/>
          </a:bodyPr>
          <a:lstStyle/>
          <a:p>
            <a:r>
              <a:rPr lang="ja-JP" altLang="en-US" sz="900" dirty="0"/>
              <a:t>ファイル</a:t>
            </a:r>
            <a:r>
              <a:rPr lang="en-US" altLang="ja-JP" sz="900" dirty="0"/>
              <a:t>ID</a:t>
            </a:r>
            <a:r>
              <a:rPr lang="ja-JP" altLang="en-US" sz="900" dirty="0"/>
              <a:t>で</a:t>
            </a:r>
            <a:r>
              <a:rPr lang="en-US" altLang="ja-JP" sz="900" dirty="0"/>
              <a:t>Link</a:t>
            </a:r>
            <a:endParaRPr lang="ja-JP" alt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要件／ソリューション－権限管理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extLst>
              <p:ext uri="{D42A27DB-BD31-4B8C-83A1-F6EECF244321}">
                <p14:modId xmlns:p14="http://schemas.microsoft.com/office/powerpoint/2010/main" val="2717004833"/>
              </p:ext>
            </p:extLst>
          </p:nvPr>
        </p:nvGraphicFramePr>
        <p:xfrm>
          <a:off x="453572" y="804707"/>
          <a:ext cx="11284856" cy="564430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1669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39330">
                <a:tc>
                  <a:txBody>
                    <a:bodyPr/>
                    <a:lstStyle/>
                    <a:p>
                      <a:r>
                        <a:rPr kumimoji="0" lang="ja-JP" altLang="en-US" sz="900" kern="1200" dirty="0">
                          <a:solidFill>
                            <a:schemeClr val="tx1"/>
                          </a:solidFill>
                          <a:latin typeface="Arial" panose="020B0604020202020204" pitchFamily="34" charset="0"/>
                          <a:ea typeface="+mn-ea"/>
                          <a:cs typeface="+mn-cs"/>
                        </a:rPr>
                        <a:t>ログインユーザは</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のアクセス可否はコントロール可能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30764">
                <a:tc rowSpan="4">
                  <a:txBody>
                    <a:bodyPr/>
                    <a:lstStyle/>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rgbClr val="C00000"/>
                          </a:solidFill>
                          <a:latin typeface="Arial" panose="020B0604020202020204" pitchFamily="34" charset="0"/>
                          <a:ea typeface="+mn-ea"/>
                          <a:cs typeface="+mn-cs"/>
                        </a:rPr>
                        <a:t>仕様書</a:t>
                      </a:r>
                      <a:r>
                        <a:rPr kumimoji="0" lang="ja-JP" altLang="en-US" sz="900" kern="1200" dirty="0">
                          <a:solidFill>
                            <a:schemeClr val="tx1"/>
                          </a:solidFill>
                          <a:latin typeface="Arial" panose="020B0604020202020204" pitchFamily="34" charset="0"/>
                          <a:ea typeface="+mn-ea"/>
                          <a:cs typeface="+mn-cs"/>
                        </a:rPr>
                        <a:t>（仕様書アクセス権限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）単位の権限管理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仕様書単位に、仕様書アクセス権限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を設計、開示範囲（＝参照権限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添付ファイルの</a:t>
                      </a:r>
                      <a:r>
                        <a:rPr kumimoji="0" lang="ja-JP" altLang="en-US" sz="900" kern="1200" dirty="0">
                          <a:solidFill>
                            <a:schemeClr val="tx1"/>
                          </a:solidFill>
                          <a:latin typeface="Arial" panose="020B0604020202020204" pitchFamily="34" charset="0"/>
                          <a:ea typeface="+mn-ea"/>
                          <a:cs typeface="+mn-cs"/>
                        </a:rPr>
                        <a:t>アクセス権限は、</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仕様書の</a:t>
                      </a:r>
                      <a:r>
                        <a:rPr kumimoji="0" lang="ja-JP" altLang="en-US" sz="900" kern="1200" dirty="0">
                          <a:solidFill>
                            <a:schemeClr val="tx1"/>
                          </a:solidFill>
                          <a:latin typeface="Arial" panose="020B0604020202020204" pitchFamily="34" charset="0"/>
                          <a:ea typeface="+mn-ea"/>
                          <a:cs typeface="+mn-cs"/>
                        </a:rPr>
                        <a:t>新規作成</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編集機能と連携、</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solidFill>
                            <a:schemeClr val="tx1"/>
                          </a:solidFill>
                          <a:latin typeface="Arial" panose="020B0604020202020204" pitchFamily="34" charset="0"/>
                        </a:rPr>
                        <a:t>Azure SQL Table</a:t>
                      </a:r>
                      <a:r>
                        <a:rPr kumimoji="0" lang="ja-JP" altLang="en-US" sz="900" dirty="0">
                          <a:solidFill>
                            <a:schemeClr val="tx1"/>
                          </a:solidFill>
                          <a:latin typeface="Arial" panose="020B0604020202020204" pitchFamily="34" charset="0"/>
                        </a:rPr>
                        <a:t>の</a:t>
                      </a:r>
                      <a:r>
                        <a:rPr kumimoji="0" lang="en-US" altLang="ja-JP" sz="900" dirty="0">
                          <a:solidFill>
                            <a:schemeClr val="tx1"/>
                          </a:solidFill>
                          <a:latin typeface="Arial" panose="020B0604020202020204" pitchFamily="34" charset="0"/>
                        </a:rPr>
                        <a:t>Where</a:t>
                      </a:r>
                      <a:r>
                        <a:rPr kumimoji="0" lang="ja-JP" altLang="en-US" sz="900" dirty="0">
                          <a:solidFill>
                            <a:schemeClr val="tx1"/>
                          </a:solidFill>
                          <a:latin typeface="Arial" panose="020B0604020202020204" pitchFamily="34" charset="0"/>
                        </a:rPr>
                        <a:t>条件で</a:t>
                      </a:r>
                      <a:r>
                        <a:rPr kumimoji="0" lang="en-US" altLang="ja-JP" sz="900" dirty="0">
                          <a:solidFill>
                            <a:schemeClr val="tx1"/>
                          </a:solidFill>
                          <a:latin typeface="Arial" panose="020B0604020202020204" pitchFamily="34" charset="0"/>
                        </a:rPr>
                        <a:t>Filter</a:t>
                      </a:r>
                      <a:r>
                        <a:rPr kumimoji="0" lang="ja-JP" altLang="en-US" sz="900" dirty="0">
                          <a:solidFill>
                            <a:schemeClr val="tx1"/>
                          </a:solidFill>
                          <a:latin typeface="Arial" panose="020B0604020202020204" pitchFamily="34" charset="0"/>
                        </a:rPr>
                        <a:t>する</a:t>
                      </a:r>
                      <a:endParaRPr kumimoji="0" lang="en-US" altLang="ja-JP" sz="900" dirty="0">
                        <a:solidFill>
                          <a:schemeClr val="tx1"/>
                        </a:solidFill>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一覧系（検索結果）は、</a:t>
                      </a:r>
                      <a:r>
                        <a:rPr kumimoji="0" lang="en-US" altLang="ja-JP" sz="900" dirty="0" err="1">
                          <a:latin typeface="Arial" panose="020B0604020202020204" pitchFamily="34" charset="0"/>
                        </a:rPr>
                        <a:t>Sql</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条件でアクセス可能の文書のみで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仕様書の詳細画面直接開く場合、カレントログインユーザのアクセス可否を再度判断する（直接</a:t>
                      </a:r>
                      <a:r>
                        <a:rPr kumimoji="0" lang="en-US" altLang="ja-JP" sz="900" dirty="0" err="1">
                          <a:latin typeface="Arial" panose="020B0604020202020204" pitchFamily="34" charset="0"/>
                        </a:rPr>
                        <a:t>Url</a:t>
                      </a:r>
                      <a:r>
                        <a:rPr kumimoji="0" lang="ja-JP" altLang="en-US" sz="900" dirty="0">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実現案の一例であり、今回案件の組織定義・権限管理粒度に合わせて設計フェーズに、詳細化する予定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30764">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3933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2669735">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3933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添付ファイルのアクセス権限は紐付く仕様書と同じアクセス権限とする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solidFill>
                            <a:srgbClr val="0070C0"/>
                          </a:solidFill>
                        </a:rPr>
                        <a:t>SPO</a:t>
                      </a:r>
                      <a:r>
                        <a:rPr lang="ja-JP" altLang="en-US" sz="900" b="1" dirty="0">
                          <a:solidFill>
                            <a:srgbClr val="0070C0"/>
                          </a:solidFill>
                        </a:rPr>
                        <a:t>に保存されている添付ファイルのアクセス権限（</a:t>
                      </a:r>
                      <a:r>
                        <a:rPr lang="en-US" altLang="ja-JP" sz="900" b="1" dirty="0">
                          <a:solidFill>
                            <a:srgbClr val="0070C0"/>
                          </a:solidFill>
                        </a:rPr>
                        <a:t>Read/Edit/</a:t>
                      </a:r>
                      <a:r>
                        <a:rPr lang="en-US" altLang="ja-JP" sz="900" b="1" dirty="0" err="1">
                          <a:solidFill>
                            <a:srgbClr val="0070C0"/>
                          </a:solidFill>
                        </a:rPr>
                        <a:t>Downoad</a:t>
                      </a:r>
                      <a:r>
                        <a:rPr lang="ja-JP" altLang="en-US" sz="900" b="1" dirty="0">
                          <a:solidFill>
                            <a:srgbClr val="0070C0"/>
                          </a:solidFill>
                        </a:rPr>
                        <a:t>）は、</a:t>
                      </a:r>
                      <a:r>
                        <a:rPr lang="en-US" altLang="ja-JP" sz="900" b="1" dirty="0">
                          <a:solidFill>
                            <a:srgbClr val="0070C0"/>
                          </a:solidFill>
                        </a:rPr>
                        <a:t>SPO</a:t>
                      </a:r>
                      <a:r>
                        <a:rPr lang="ja-JP" altLang="en-US" sz="900" b="1" dirty="0">
                          <a:solidFill>
                            <a:srgbClr val="0070C0"/>
                          </a:solidFill>
                        </a:rPr>
                        <a:t>に直接にアクセスするときも有効にすることで、添付ファイル</a:t>
                      </a:r>
                      <a:r>
                        <a:rPr lang="en-US" altLang="ja-JP" sz="900" b="1" dirty="0">
                          <a:solidFill>
                            <a:srgbClr val="0070C0"/>
                          </a:solidFill>
                        </a:rPr>
                        <a:t>Upload</a:t>
                      </a:r>
                      <a:r>
                        <a:rPr lang="ja-JP" altLang="en-US" sz="900" b="1" dirty="0">
                          <a:solidFill>
                            <a:srgbClr val="0070C0"/>
                          </a:solidFill>
                        </a:rPr>
                        <a:t>する時に</a:t>
                      </a:r>
                      <a:r>
                        <a:rPr lang="en-US" altLang="ja-JP" sz="900" b="1" dirty="0">
                          <a:solidFill>
                            <a:srgbClr val="0070C0"/>
                          </a:solidFill>
                        </a:rPr>
                        <a:t>Upload</a:t>
                      </a:r>
                      <a:r>
                        <a:rPr lang="ja-JP" altLang="en-US" sz="900" b="1" dirty="0">
                          <a:solidFill>
                            <a:srgbClr val="0070C0"/>
                          </a:solidFill>
                        </a:rPr>
                        <a:t>された添付ファイルに対して仕様書に定義したアクセス権限を設定することで制約します。</a:t>
                      </a:r>
                      <a:endParaRPr lang="en-US" altLang="ja-JP" sz="900" b="1" dirty="0">
                        <a:solidFill>
                          <a:srgbClr val="0070C0"/>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ファイルに該当する権限を付与する（ファイル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仕様書が承認完了の場合、該当する添付ファイルの作成者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論理</a:t>
                      </a:r>
                      <a:r>
                        <a:rPr kumimoji="0" lang="en-US" altLang="ja-JP" sz="900" kern="1200" dirty="0">
                          <a:solidFill>
                            <a:schemeClr val="tx1"/>
                          </a:solidFill>
                          <a:latin typeface="Arial" panose="020B0604020202020204" pitchFamily="34" charset="0"/>
                          <a:ea typeface="+mn-ea"/>
                          <a:cs typeface="+mn-cs"/>
                        </a:rPr>
                        <a:t>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rgbClr val="FF0000"/>
                          </a:solidFill>
                          <a:latin typeface="Arial" panose="020B0604020202020204" pitchFamily="34" charset="0"/>
                          <a:ea typeface="+mn-ea"/>
                          <a:cs typeface="+mn-cs"/>
                        </a:rPr>
                        <a:t>（ここは重いため、非同期で動作させる）</a:t>
                      </a:r>
                      <a:endParaRPr kumimoji="0" lang="en-US" altLang="ja-JP" sz="900" b="1" kern="1200" dirty="0">
                        <a:solidFill>
                          <a:srgbClr val="FF0000"/>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26795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27487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405579" y="2591925"/>
            <a:ext cx="4814316" cy="2459878"/>
          </a:xfrm>
          <a:prstGeom prst="rect">
            <a:avLst/>
          </a:prstGeom>
        </p:spPr>
      </p:pic>
      <p:pic>
        <p:nvPicPr>
          <p:cNvPr id="1026" name="Picture 2" descr="Share SharePoint files or folders - Microsoft Support">
            <a:extLst>
              <a:ext uri="{FF2B5EF4-FFF2-40B4-BE49-F238E27FC236}">
                <a16:creationId xmlns:a16="http://schemas.microsoft.com/office/drawing/2014/main" id="{F06D48CA-BC62-02F8-29DC-D269FD6F3A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94" y="4417533"/>
            <a:ext cx="1630880" cy="1205977"/>
          </a:xfrm>
          <a:prstGeom prst="rect">
            <a:avLst/>
          </a:prstGeom>
          <a:noFill/>
          <a:extLst>
            <a:ext uri="{909E8E84-426E-40DD-AFC4-6F175D3DCCD1}">
              <a14:hiddenFill xmlns:a14="http://schemas.microsoft.com/office/drawing/2010/main">
                <a:solidFill>
                  <a:srgbClr val="FFFFFF"/>
                </a:solidFill>
              </a14:hiddenFill>
            </a:ext>
          </a:extLst>
        </p:spPr>
      </p:pic>
      <p:sp>
        <p:nvSpPr>
          <p:cNvPr id="18" name="矢印: 下 17">
            <a:extLst>
              <a:ext uri="{FF2B5EF4-FFF2-40B4-BE49-F238E27FC236}">
                <a16:creationId xmlns:a16="http://schemas.microsoft.com/office/drawing/2014/main" id="{949B0A6D-60BC-E983-E991-6B0AC3B687FE}"/>
              </a:ext>
            </a:extLst>
          </p:cNvPr>
          <p:cNvSpPr/>
          <p:nvPr/>
        </p:nvSpPr>
        <p:spPr>
          <a:xfrm>
            <a:off x="1667540" y="3669732"/>
            <a:ext cx="181695" cy="1205977"/>
          </a:xfrm>
          <a:prstGeom prst="down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pic>
        <p:nvPicPr>
          <p:cNvPr id="21" name="図 20">
            <a:extLst>
              <a:ext uri="{FF2B5EF4-FFF2-40B4-BE49-F238E27FC236}">
                <a16:creationId xmlns:a16="http://schemas.microsoft.com/office/drawing/2014/main" id="{BC350588-3290-A0FA-DE4C-F16E88BF3378}"/>
              </a:ext>
            </a:extLst>
          </p:cNvPr>
          <p:cNvPicPr>
            <a:picLocks noChangeAspect="1"/>
          </p:cNvPicPr>
          <p:nvPr/>
        </p:nvPicPr>
        <p:blipFill>
          <a:blip r:embed="rId5"/>
          <a:stretch>
            <a:fillRect/>
          </a:stretch>
        </p:blipFill>
        <p:spPr>
          <a:xfrm>
            <a:off x="203671" y="2321955"/>
            <a:ext cx="2821859" cy="1538015"/>
          </a:xfrm>
          <a:prstGeom prst="rect">
            <a:avLst/>
          </a:prstGeom>
        </p:spPr>
      </p:pic>
      <p:sp>
        <p:nvSpPr>
          <p:cNvPr id="6" name="テキスト ボックス 5">
            <a:extLst>
              <a:ext uri="{FF2B5EF4-FFF2-40B4-BE49-F238E27FC236}">
                <a16:creationId xmlns:a16="http://schemas.microsoft.com/office/drawing/2014/main" id="{985B5FA5-1D14-A2BC-C281-E5CC22E4ED5D}"/>
              </a:ext>
            </a:extLst>
          </p:cNvPr>
          <p:cNvSpPr txBox="1"/>
          <p:nvPr/>
        </p:nvSpPr>
        <p:spPr>
          <a:xfrm>
            <a:off x="1758387" y="3923308"/>
            <a:ext cx="2616295" cy="369332"/>
          </a:xfrm>
          <a:prstGeom prst="rect">
            <a:avLst/>
          </a:prstGeom>
          <a:noFill/>
        </p:spPr>
        <p:txBody>
          <a:bodyPr wrap="square">
            <a:spAutoFit/>
          </a:bodyPr>
          <a:lstStyle/>
          <a:p>
            <a:r>
              <a:rPr kumimoji="0" lang="ja-JP" altLang="en-US" sz="900" dirty="0">
                <a:latin typeface="Arial" panose="020B0604020202020204" pitchFamily="34" charset="0"/>
              </a:rPr>
              <a:t>添付ファイルのアクセス権限は</a:t>
            </a:r>
            <a:endParaRPr kumimoji="0" lang="en-US" altLang="ja-JP" sz="900" dirty="0">
              <a:latin typeface="Arial" panose="020B0604020202020204" pitchFamily="34" charset="0"/>
            </a:endParaRPr>
          </a:p>
          <a:p>
            <a:r>
              <a:rPr kumimoji="0" lang="ja-JP" altLang="en-US" sz="900" dirty="0">
                <a:latin typeface="Arial" panose="020B0604020202020204" pitchFamily="34" charset="0"/>
              </a:rPr>
              <a:t>紐付く仕様書のアクセス権限に従う</a:t>
            </a:r>
          </a:p>
        </p:txBody>
      </p:sp>
    </p:spTree>
    <p:extLst>
      <p:ext uri="{BB962C8B-B14F-4D97-AF65-F5344CB8AC3E}">
        <p14:creationId xmlns:p14="http://schemas.microsoft.com/office/powerpoint/2010/main" val="765173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要件／ソリューション－検索機能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1238045106"/>
              </p:ext>
            </p:extLst>
          </p:nvPr>
        </p:nvGraphicFramePr>
        <p:xfrm>
          <a:off x="453572" y="867273"/>
          <a:ext cx="11284856" cy="526362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313944">
                  <a:extLst>
                    <a:ext uri="{9D8B030D-6E8A-4147-A177-3AD203B41FA5}">
                      <a16:colId xmlns:a16="http://schemas.microsoft.com/office/drawing/2014/main" val="1007415991"/>
                    </a:ext>
                  </a:extLst>
                </a:gridCol>
                <a:gridCol w="137777">
                  <a:extLst>
                    <a:ext uri="{9D8B030D-6E8A-4147-A177-3AD203B41FA5}">
                      <a16:colId xmlns:a16="http://schemas.microsoft.com/office/drawing/2014/main" val="78186435"/>
                    </a:ext>
                  </a:extLst>
                </a:gridCol>
                <a:gridCol w="6093931">
                  <a:extLst>
                    <a:ext uri="{9D8B030D-6E8A-4147-A177-3AD203B41FA5}">
                      <a16:colId xmlns:a16="http://schemas.microsoft.com/office/drawing/2014/main" val="467773725"/>
                    </a:ext>
                  </a:extLst>
                </a:gridCol>
              </a:tblGrid>
              <a:tr h="158935">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47451">
                <a:tc>
                  <a:txBody>
                    <a:bodyPr/>
                    <a:lstStyle/>
                    <a:p>
                      <a:r>
                        <a:rPr lang="ja-JP" altLang="en-US" sz="1100" dirty="0"/>
                        <a:t>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lang="ja-JP" altLang="en-US" sz="1000" dirty="0"/>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47451">
                <a:tc>
                  <a:txBody>
                    <a:bodyPr/>
                    <a:lstStyle/>
                    <a:p>
                      <a:r>
                        <a:rPr lang="ja-JP" altLang="en-US" sz="1100" dirty="0"/>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468050">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仕様書の添付ファイルの内容から検索キーワードを含むファイルを検索し、該当ファイルの所有仕様書レコードを画面に表示する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64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アクセス権限ありの仕様書（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C00000"/>
                          </a:solidFill>
                          <a:latin typeface="Arial" panose="020B0604020202020204" pitchFamily="34" charset="0"/>
                          <a:ea typeface="+mn-ea"/>
                          <a:cs typeface="+mn-cs"/>
                        </a:rPr>
                        <a:t>ログインユーザ</a:t>
                      </a:r>
                      <a:r>
                        <a:rPr kumimoji="0" lang="en-US" altLang="ja-JP" sz="900" kern="1200" dirty="0">
                          <a:solidFill>
                            <a:srgbClr val="C00000"/>
                          </a:solidFill>
                          <a:latin typeface="Arial" panose="020B0604020202020204" pitchFamily="34" charset="0"/>
                          <a:ea typeface="+mn-ea"/>
                          <a:cs typeface="+mn-cs"/>
                        </a:rPr>
                        <a:t>SPO</a:t>
                      </a:r>
                      <a:r>
                        <a:rPr kumimoji="0" lang="ja-JP" altLang="en-US" sz="900" kern="1200" dirty="0">
                          <a:solidFill>
                            <a:srgbClr val="C00000"/>
                          </a:solidFill>
                          <a:latin typeface="Arial" panose="020B0604020202020204" pitchFamily="34" charset="0"/>
                          <a:ea typeface="+mn-ea"/>
                          <a:cs typeface="+mn-cs"/>
                        </a:rPr>
                        <a:t>に読込可能のファイルのみが検索対象（検索時も同様、これは</a:t>
                      </a:r>
                      <a:r>
                        <a:rPr kumimoji="0" lang="en-US" altLang="ja-JP" sz="900" b="1" kern="1200" dirty="0">
                          <a:solidFill>
                            <a:srgbClr val="C00000"/>
                          </a:solidFill>
                          <a:latin typeface="Arial" panose="020B0604020202020204" pitchFamily="34" charset="0"/>
                          <a:ea typeface="+mn-ea"/>
                          <a:cs typeface="+mn-cs"/>
                        </a:rPr>
                        <a:t>MS</a:t>
                      </a:r>
                      <a:r>
                        <a:rPr kumimoji="0" lang="ja-JP" altLang="en-US" sz="900" b="1" kern="1200" dirty="0">
                          <a:solidFill>
                            <a:srgbClr val="C00000"/>
                          </a:solidFill>
                          <a:latin typeface="Arial" panose="020B0604020202020204" pitchFamily="34" charset="0"/>
                          <a:ea typeface="+mn-ea"/>
                          <a:cs typeface="+mn-cs"/>
                        </a:rPr>
                        <a:t>の仕様</a:t>
                      </a:r>
                      <a:r>
                        <a:rPr kumimoji="0" lang="ja-JP" altLang="en-US" sz="900" kern="1200" dirty="0">
                          <a:solidFill>
                            <a:srgbClr val="C00000"/>
                          </a:solidFill>
                          <a:latin typeface="Arial" panose="020B0604020202020204" pitchFamily="34" charset="0"/>
                          <a:ea typeface="+mn-ea"/>
                          <a:cs typeface="+mn-cs"/>
                        </a:rPr>
                        <a:t>）</a:t>
                      </a:r>
                      <a:endParaRPr kumimoji="0" lang="en-US" altLang="ja-JP" sz="900" kern="1200" dirty="0">
                        <a:solidFill>
                          <a:srgbClr val="C0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）に公開権限が変更された場合、或いは公開グループにユーザが増減された場合、すでに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済のファイルに対して、関係添付ファイルの権限見直すが必要（複雑）</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1687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b="1" dirty="0"/>
                        <a:t>Office 365 </a:t>
                      </a:r>
                      <a:r>
                        <a:rPr lang="ja-JP" altLang="en-US" sz="900" b="1" dirty="0"/>
                        <a:t>シリーズのデータオブジェクト（コネクタ）</a:t>
                      </a:r>
                      <a:r>
                        <a:rPr lang="ja-JP" altLang="en-US" sz="900" dirty="0"/>
                        <a:t>は、</a:t>
                      </a:r>
                      <a:endParaRPr lang="en-US" altLang="ja-JP" sz="900" dirty="0"/>
                    </a:p>
                    <a:p>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solidFill>
                            <a:srgbClr val="FF0000"/>
                          </a:solidFill>
                        </a:rPr>
                        <a:t>Microsoft</a:t>
                      </a:r>
                      <a:r>
                        <a:rPr lang="ja-JP" altLang="en-US" sz="900" b="1" dirty="0">
                          <a:solidFill>
                            <a:srgbClr val="FF0000"/>
                          </a:solidFill>
                        </a:rPr>
                        <a:t> </a:t>
                      </a:r>
                      <a:r>
                        <a:rPr lang="en-US" altLang="ja-JP" sz="900" b="1" dirty="0">
                          <a:solidFill>
                            <a:srgbClr val="FF0000"/>
                          </a:solidFill>
                        </a:rPr>
                        <a:t>Search</a:t>
                      </a:r>
                      <a:r>
                        <a:rPr lang="ja-JP" altLang="en-US" sz="900" b="1" dirty="0">
                          <a:solidFill>
                            <a:srgbClr val="FF0000"/>
                          </a:solidFill>
                        </a:rPr>
                        <a:t>のコネクタが提供されていないため、</a:t>
                      </a:r>
                      <a:r>
                        <a:rPr lang="en-US" altLang="ja-JP" sz="900" b="1" dirty="0">
                          <a:solidFill>
                            <a:srgbClr val="FF0000"/>
                          </a:solidFill>
                        </a:rPr>
                        <a:t>Power Apps</a:t>
                      </a:r>
                      <a:r>
                        <a:rPr lang="ja-JP" altLang="en-US" sz="900" b="1" dirty="0">
                          <a:solidFill>
                            <a:srgbClr val="FF0000"/>
                          </a:solidFill>
                        </a:rPr>
                        <a:t>から直接利用するのは必須。</a:t>
                      </a:r>
                      <a:endParaRPr kumimoji="0" lang="en-US" altLang="ja-JP" sz="900" b="1" kern="1200" dirty="0">
                        <a:solidFill>
                          <a:srgbClr val="FF0000"/>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141709">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5980" y="4178824"/>
            <a:ext cx="3653509" cy="1811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extLst>
              <p:ext uri="{D42A27DB-BD31-4B8C-83A1-F6EECF244321}">
                <p14:modId xmlns:p14="http://schemas.microsoft.com/office/powerpoint/2010/main" val="1973787379"/>
              </p:ext>
            </p:extLst>
          </p:nvPr>
        </p:nvGraphicFramePr>
        <p:xfrm>
          <a:off x="2324608" y="5017588"/>
          <a:ext cx="5161281" cy="983408"/>
        </p:xfrm>
        <a:graphic>
          <a:graphicData uri="http://schemas.openxmlformats.org/drawingml/2006/table">
            <a:tbl>
              <a:tblPr firstRow="1">
                <a:tableStyleId>{35758FB7-9AC5-4552-8A53-C91805E547FA}</a:tableStyleId>
              </a:tblPr>
              <a:tblGrid>
                <a:gridCol w="652467">
                  <a:extLst>
                    <a:ext uri="{9D8B030D-6E8A-4147-A177-3AD203B41FA5}">
                      <a16:colId xmlns:a16="http://schemas.microsoft.com/office/drawing/2014/main" val="2071358957"/>
                    </a:ext>
                  </a:extLst>
                </a:gridCol>
                <a:gridCol w="1579901">
                  <a:extLst>
                    <a:ext uri="{9D8B030D-6E8A-4147-A177-3AD203B41FA5}">
                      <a16:colId xmlns:a16="http://schemas.microsoft.com/office/drawing/2014/main" val="3815825157"/>
                    </a:ext>
                  </a:extLst>
                </a:gridCol>
                <a:gridCol w="960059">
                  <a:extLst>
                    <a:ext uri="{9D8B030D-6E8A-4147-A177-3AD203B41FA5}">
                      <a16:colId xmlns:a16="http://schemas.microsoft.com/office/drawing/2014/main" val="3610100658"/>
                    </a:ext>
                  </a:extLst>
                </a:gridCol>
                <a:gridCol w="1968854">
                  <a:extLst>
                    <a:ext uri="{9D8B030D-6E8A-4147-A177-3AD203B41FA5}">
                      <a16:colId xmlns:a16="http://schemas.microsoft.com/office/drawing/2014/main" val="2805758698"/>
                    </a:ext>
                  </a:extLst>
                </a:gridCol>
              </a:tblGrid>
              <a:tr h="69075">
                <a:tc>
                  <a:txBody>
                    <a:bodyPr/>
                    <a:lstStyle/>
                    <a:p>
                      <a:r>
                        <a:rPr lang="ja-JP" altLang="en-US" sz="600" dirty="0"/>
                        <a:t>コネクタ名</a:t>
                      </a:r>
                    </a:p>
                  </a:txBody>
                  <a:tcPr marL="40112" marR="40112" marT="20056" marB="20056" anchor="ctr"/>
                </a:tc>
                <a:tc>
                  <a:txBody>
                    <a:bodyPr/>
                    <a:lstStyle/>
                    <a:p>
                      <a:r>
                        <a:rPr lang="ja-JP" altLang="en-US" sz="600"/>
                        <a:t>主な役割</a:t>
                      </a:r>
                    </a:p>
                  </a:txBody>
                  <a:tcPr marL="40112" marR="40112" marT="20056" marB="20056" anchor="ctr"/>
                </a:tc>
                <a:tc>
                  <a:txBody>
                    <a:bodyPr/>
                    <a:lstStyle/>
                    <a:p>
                      <a:r>
                        <a:rPr lang="ja-JP" altLang="en-US" sz="600"/>
                        <a:t>データソース</a:t>
                      </a:r>
                    </a:p>
                  </a:txBody>
                  <a:tcPr marL="40112" marR="40112" marT="20056" marB="20056" anchor="ctr"/>
                </a:tc>
                <a:tc>
                  <a:txBody>
                    <a:bodyPr/>
                    <a:lstStyle/>
                    <a:p>
                      <a:r>
                        <a:rPr lang="ja-JP" altLang="en-US" sz="600"/>
                        <a:t>関係性</a:t>
                      </a:r>
                      <a:r>
                        <a:rPr lang="en-US" altLang="ja-JP" sz="600"/>
                        <a:t>/</a:t>
                      </a:r>
                      <a:r>
                        <a:rPr lang="ja-JP" altLang="en-US" sz="600"/>
                        <a:t>共通点</a:t>
                      </a:r>
                    </a:p>
                  </a:txBody>
                  <a:tcPr marL="40112" marR="40112" marT="20056" marB="20056" anchor="ctr"/>
                </a:tc>
                <a:extLst>
                  <a:ext uri="{0D108BD9-81ED-4DB2-BD59-A6C34878D82A}">
                    <a16:rowId xmlns:a16="http://schemas.microsoft.com/office/drawing/2014/main" val="1925658862"/>
                  </a:ext>
                </a:extLst>
              </a:tr>
              <a:tr h="202054">
                <a:tc>
                  <a:txBody>
                    <a:bodyPr/>
                    <a:lstStyle/>
                    <a:p>
                      <a:r>
                        <a:rPr lang="de-DE" sz="600" b="1" dirty="0"/>
                        <a:t>Office 365 Users</a:t>
                      </a:r>
                      <a:endParaRPr lang="de-DE" sz="600" dirty="0"/>
                    </a:p>
                  </a:txBody>
                  <a:tcPr marL="40112" marR="40112" marT="20056" marB="20056" anchor="ctr"/>
                </a:tc>
                <a:tc>
                  <a:txBody>
                    <a:bodyPr/>
                    <a:lstStyle/>
                    <a:p>
                      <a:r>
                        <a:rPr lang="ja-JP" altLang="en-US" sz="600" dirty="0"/>
                        <a:t>組織内のユーザー（名前、メールアドレス、部署など）の</a:t>
                      </a:r>
                      <a:r>
                        <a:rPr lang="ja-JP" altLang="en-US" sz="600" b="1" dirty="0"/>
                        <a:t>読み取り</a:t>
                      </a:r>
                      <a:r>
                        <a:rPr lang="ja-JP" altLang="en-US" sz="600" dirty="0"/>
                        <a:t>。</a:t>
                      </a:r>
                    </a:p>
                  </a:txBody>
                  <a:tcPr marL="40112" marR="40112" marT="20056" marB="20056" anchor="ctr"/>
                </a:tc>
                <a:tc>
                  <a:txBody>
                    <a:bodyPr/>
                    <a:lstStyle/>
                    <a:p>
                      <a:r>
                        <a:rPr lang="de-DE" sz="600" dirty="0"/>
                        <a:t>Microsoft Graph (Azure AD)</a:t>
                      </a:r>
                    </a:p>
                  </a:txBody>
                  <a:tcPr marL="40112" marR="40112" marT="20056" marB="20056" anchor="ctr"/>
                </a:tc>
                <a:tc>
                  <a:txBody>
                    <a:bodyPr/>
                    <a:lstStyle/>
                    <a:p>
                      <a:r>
                        <a:rPr lang="ja-JP" altLang="en-US" sz="600"/>
                        <a:t>ユーザー情報を取得する最も基本的なコネクタ。他の多くのサービスと共通の認証基盤（</a:t>
                      </a:r>
                      <a:r>
                        <a:rPr lang="en-US" altLang="ja-JP" sz="600"/>
                        <a:t>Azure AD</a:t>
                      </a:r>
                      <a:r>
                        <a:rPr lang="ja-JP" altLang="en-US" sz="600"/>
                        <a:t>）を使用します。</a:t>
                      </a:r>
                    </a:p>
                  </a:txBody>
                  <a:tcPr marL="40112" marR="40112" marT="20056" marB="20056" anchor="ctr"/>
                </a:tc>
                <a:extLst>
                  <a:ext uri="{0D108BD9-81ED-4DB2-BD59-A6C34878D82A}">
                    <a16:rowId xmlns:a16="http://schemas.microsoft.com/office/drawing/2014/main" val="3837482820"/>
                  </a:ext>
                </a:extLst>
              </a:tr>
              <a:tr h="202054">
                <a:tc>
                  <a:txBody>
                    <a:bodyPr/>
                    <a:lstStyle/>
                    <a:p>
                      <a:r>
                        <a:rPr lang="de-DE" sz="600" b="1"/>
                        <a:t>Office 365 Outlook</a:t>
                      </a:r>
                      <a:endParaRPr lang="de-DE" sz="600"/>
                    </a:p>
                  </a:txBody>
                  <a:tcPr marL="40112" marR="40112" marT="20056" marB="20056" anchor="ctr"/>
                </a:tc>
                <a:tc>
                  <a:txBody>
                    <a:bodyPr/>
                    <a:lstStyle/>
                    <a:p>
                      <a:r>
                        <a:rPr lang="ja-JP" altLang="en-US" sz="600" dirty="0"/>
                        <a:t>ユーザーの</a:t>
                      </a:r>
                      <a:r>
                        <a:rPr lang="ja-JP" altLang="en-US" sz="600" b="1" dirty="0"/>
                        <a:t>メールボックス、カレンダー</a:t>
                      </a:r>
                      <a:r>
                        <a:rPr lang="ja-JP" altLang="en-US" sz="600" dirty="0"/>
                        <a:t>へのアクセス（メール送信、イベントの読み書き）。</a:t>
                      </a:r>
                    </a:p>
                  </a:txBody>
                  <a:tcPr marL="40112" marR="40112" marT="20056" marB="20056" anchor="ctr"/>
                </a:tc>
                <a:tc>
                  <a:txBody>
                    <a:bodyPr/>
                    <a:lstStyle/>
                    <a:p>
                      <a:r>
                        <a:rPr lang="de-DE" sz="600" dirty="0"/>
                        <a:t>Exchange Online / Microsoft Graph</a:t>
                      </a:r>
                    </a:p>
                  </a:txBody>
                  <a:tcPr marL="40112" marR="40112" marT="20056" marB="20056" anchor="ctr"/>
                </a:tc>
                <a:tc>
                  <a:txBody>
                    <a:bodyPr/>
                    <a:lstStyle/>
                    <a:p>
                      <a:r>
                        <a:rPr lang="ja-JP" altLang="en-US" sz="600" dirty="0"/>
                        <a:t>ユーザー固有のメールやカレンダー操作に特化しています。認証は </a:t>
                      </a:r>
                      <a:r>
                        <a:rPr lang="en-US" altLang="ja-JP" sz="600" dirty="0"/>
                        <a:t>Users </a:t>
                      </a:r>
                      <a:r>
                        <a:rPr lang="ja-JP" altLang="en-US" sz="600" dirty="0"/>
                        <a:t>と同じく </a:t>
                      </a:r>
                      <a:r>
                        <a:rPr lang="en-US" altLang="ja-JP" sz="600" dirty="0"/>
                        <a:t>Microsoft 365 </a:t>
                      </a:r>
                      <a:r>
                        <a:rPr lang="ja-JP" altLang="en-US" sz="600" dirty="0"/>
                        <a:t>ユーザー認証です。</a:t>
                      </a:r>
                    </a:p>
                  </a:txBody>
                  <a:tcPr marL="40112" marR="40112" marT="20056" marB="20056" anchor="ctr"/>
                </a:tc>
                <a:extLst>
                  <a:ext uri="{0D108BD9-81ED-4DB2-BD59-A6C34878D82A}">
                    <a16:rowId xmlns:a16="http://schemas.microsoft.com/office/drawing/2014/main" val="1069455160"/>
                  </a:ext>
                </a:extLst>
              </a:tr>
              <a:tr h="202054">
                <a:tc>
                  <a:txBody>
                    <a:bodyPr/>
                    <a:lstStyle/>
                    <a:p>
                      <a:r>
                        <a:rPr lang="de-DE" sz="600" b="1"/>
                        <a:t>Office 365 Groups</a:t>
                      </a:r>
                      <a:endParaRPr lang="de-DE" sz="600"/>
                    </a:p>
                  </a:txBody>
                  <a:tcPr marL="40112" marR="40112" marT="20056" marB="20056" anchor="ctr"/>
                </a:tc>
                <a:tc>
                  <a:txBody>
                    <a:bodyPr/>
                    <a:lstStyle/>
                    <a:p>
                      <a:r>
                        <a:rPr lang="ja-JP" altLang="en-US" sz="600" dirty="0"/>
                        <a:t>組織内の </a:t>
                      </a:r>
                      <a:r>
                        <a:rPr lang="en-US" altLang="ja-JP" sz="600" b="1" dirty="0"/>
                        <a:t>Microsoft 365 </a:t>
                      </a:r>
                      <a:r>
                        <a:rPr lang="ja-JP" altLang="en-US" sz="600" b="1" dirty="0"/>
                        <a:t>グループ</a:t>
                      </a:r>
                      <a:r>
                        <a:rPr lang="ja-JP" altLang="en-US" sz="600" dirty="0"/>
                        <a:t>の情報取得と管理。</a:t>
                      </a:r>
                    </a:p>
                  </a:txBody>
                  <a:tcPr marL="40112" marR="40112" marT="20056" marB="20056" anchor="ctr"/>
                </a:tc>
                <a:tc>
                  <a:txBody>
                    <a:bodyPr/>
                    <a:lstStyle/>
                    <a:p>
                      <a:r>
                        <a:rPr lang="de-DE" sz="600" dirty="0"/>
                        <a:t>Microsoft Graph</a:t>
                      </a:r>
                    </a:p>
                  </a:txBody>
                  <a:tcPr marL="40112" marR="40112" marT="20056" marB="20056" anchor="ctr"/>
                </a:tc>
                <a:tc>
                  <a:txBody>
                    <a:bodyPr/>
                    <a:lstStyle/>
                    <a:p>
                      <a:r>
                        <a:rPr lang="ja-JP" altLang="en-US" sz="600" dirty="0"/>
                        <a:t>組織構造（グループ単位）の情報にアクセスします。</a:t>
                      </a:r>
                      <a:r>
                        <a:rPr lang="en-US" altLang="ja-JP" sz="600" dirty="0"/>
                        <a:t>Users </a:t>
                      </a:r>
                      <a:r>
                        <a:rPr lang="ja-JP" altLang="en-US" sz="600" dirty="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bl>
          </a:graphicData>
        </a:graphic>
      </p:graphicFrame>
      <p:pic>
        <p:nvPicPr>
          <p:cNvPr id="8" name="図 7">
            <a:extLst>
              <a:ext uri="{FF2B5EF4-FFF2-40B4-BE49-F238E27FC236}">
                <a16:creationId xmlns:a16="http://schemas.microsoft.com/office/drawing/2014/main" id="{AD73975E-A25D-320F-AE73-774135CFE90A}"/>
              </a:ext>
            </a:extLst>
          </p:cNvPr>
          <p:cNvPicPr>
            <a:picLocks noChangeAspect="1"/>
          </p:cNvPicPr>
          <p:nvPr/>
        </p:nvPicPr>
        <p:blipFill>
          <a:blip r:embed="rId6"/>
          <a:stretch>
            <a:fillRect/>
          </a:stretch>
        </p:blipFill>
        <p:spPr>
          <a:xfrm>
            <a:off x="7485889" y="1769969"/>
            <a:ext cx="2187995" cy="598392"/>
          </a:xfrm>
          <a:prstGeom prst="rect">
            <a:avLst/>
          </a:prstGeom>
        </p:spPr>
      </p:pic>
      <p:pic>
        <p:nvPicPr>
          <p:cNvPr id="2050" name="Picture 2" descr="Microsoft Graph を使用してカスタム データを使用して Microsoft Search を拡張する - Microsoft Graph  | Microsoft Learn">
            <a:extLst>
              <a:ext uri="{FF2B5EF4-FFF2-40B4-BE49-F238E27FC236}">
                <a16:creationId xmlns:a16="http://schemas.microsoft.com/office/drawing/2014/main" id="{8D380253-D92F-F37C-C5E8-C19245CF6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8852" y="1079123"/>
            <a:ext cx="1899739" cy="902947"/>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0B3DE47-6330-5419-3AAF-F17BDAA7F5F7}"/>
              </a:ext>
            </a:extLst>
          </p:cNvPr>
          <p:cNvSpPr txBox="1"/>
          <p:nvPr/>
        </p:nvSpPr>
        <p:spPr>
          <a:xfrm>
            <a:off x="8953220" y="2176835"/>
            <a:ext cx="759900" cy="230832"/>
          </a:xfrm>
          <a:prstGeom prst="rect">
            <a:avLst/>
          </a:prstGeom>
          <a:noFill/>
        </p:spPr>
        <p:txBody>
          <a:bodyPr wrap="square" rtlCol="0">
            <a:spAutoFit/>
          </a:bodyPr>
          <a:lstStyle/>
          <a:p>
            <a:r>
              <a:rPr kumimoji="1" lang="en-US" altLang="ja-JP" sz="900" dirty="0">
                <a:solidFill>
                  <a:srgbClr val="0070C0"/>
                </a:solidFill>
              </a:rPr>
              <a:t>Front end</a:t>
            </a:r>
            <a:endParaRPr kumimoji="1" lang="ja-JP" altLang="en-US" sz="900" dirty="0">
              <a:solidFill>
                <a:srgbClr val="0070C0"/>
              </a:solidFill>
            </a:endParaRPr>
          </a:p>
        </p:txBody>
      </p:sp>
      <p:sp>
        <p:nvSpPr>
          <p:cNvPr id="9" name="テキスト ボックス 8">
            <a:extLst>
              <a:ext uri="{FF2B5EF4-FFF2-40B4-BE49-F238E27FC236}">
                <a16:creationId xmlns:a16="http://schemas.microsoft.com/office/drawing/2014/main" id="{2D91E257-6E96-85A9-59E0-FFF85CF63D75}"/>
              </a:ext>
            </a:extLst>
          </p:cNvPr>
          <p:cNvSpPr txBox="1"/>
          <p:nvPr/>
        </p:nvSpPr>
        <p:spPr>
          <a:xfrm>
            <a:off x="10581440" y="1765078"/>
            <a:ext cx="759900" cy="230832"/>
          </a:xfrm>
          <a:prstGeom prst="rect">
            <a:avLst/>
          </a:prstGeom>
          <a:noFill/>
        </p:spPr>
        <p:txBody>
          <a:bodyPr wrap="square" rtlCol="0">
            <a:spAutoFit/>
          </a:bodyPr>
          <a:lstStyle/>
          <a:p>
            <a:r>
              <a:rPr kumimoji="1" lang="en-US" altLang="ja-JP" sz="900" dirty="0">
                <a:solidFill>
                  <a:srgbClr val="0070C0"/>
                </a:solidFill>
              </a:rPr>
              <a:t>Back End</a:t>
            </a:r>
            <a:endParaRPr kumimoji="1" lang="ja-JP" altLang="en-US" sz="900" dirty="0">
              <a:solidFill>
                <a:srgbClr val="0070C0"/>
              </a:solidFill>
            </a:endParaRPr>
          </a:p>
        </p:txBody>
      </p:sp>
      <p:sp>
        <p:nvSpPr>
          <p:cNvPr id="10" name="矢印: 上カーブ 9">
            <a:extLst>
              <a:ext uri="{FF2B5EF4-FFF2-40B4-BE49-F238E27FC236}">
                <a16:creationId xmlns:a16="http://schemas.microsoft.com/office/drawing/2014/main" id="{83EA7370-CCA8-6FED-C1B1-44C0CF79D4A0}"/>
              </a:ext>
            </a:extLst>
          </p:cNvPr>
          <p:cNvSpPr/>
          <p:nvPr/>
        </p:nvSpPr>
        <p:spPr>
          <a:xfrm rot="20002720">
            <a:off x="9776085" y="2075807"/>
            <a:ext cx="690888" cy="269369"/>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925970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302012926"/>
              </p:ext>
            </p:extLst>
          </p:nvPr>
        </p:nvGraphicFramePr>
        <p:xfrm>
          <a:off x="414336" y="1068576"/>
          <a:ext cx="11363328" cy="5255221"/>
        </p:xfrm>
        <a:graphic>
          <a:graphicData uri="http://schemas.openxmlformats.org/drawingml/2006/table">
            <a:tbl>
              <a:tblPr firstRow="1">
                <a:tableStyleId>{2D5ABB26-0587-4C30-8999-92F81FD0307C}</a:tableStyleId>
              </a:tblPr>
              <a:tblGrid>
                <a:gridCol w="1987167">
                  <a:extLst>
                    <a:ext uri="{9D8B030D-6E8A-4147-A177-3AD203B41FA5}">
                      <a16:colId xmlns:a16="http://schemas.microsoft.com/office/drawing/2014/main" val="307087368"/>
                    </a:ext>
                  </a:extLst>
                </a:gridCol>
                <a:gridCol w="4600266">
                  <a:extLst>
                    <a:ext uri="{9D8B030D-6E8A-4147-A177-3AD203B41FA5}">
                      <a16:colId xmlns:a16="http://schemas.microsoft.com/office/drawing/2014/main" val="1007415991"/>
                    </a:ext>
                  </a:extLst>
                </a:gridCol>
                <a:gridCol w="4775895">
                  <a:extLst>
                    <a:ext uri="{9D8B030D-6E8A-4147-A177-3AD203B41FA5}">
                      <a16:colId xmlns:a16="http://schemas.microsoft.com/office/drawing/2014/main" val="467773725"/>
                    </a:ext>
                  </a:extLst>
                </a:gridCol>
              </a:tblGrid>
              <a:tr h="26133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980315">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t>で実現</a:t>
                      </a:r>
                      <a:endParaRPr lang="en-US" altLang="ja-JP" sz="1000" b="1"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Trigger: PowerAppsから呼び出し（PowerApps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a:t>
                      </a:r>
                      <a:r>
                        <a:rPr kumimoji="0" lang="en-US" altLang="ja-JP" sz="900" dirty="0">
                          <a:latin typeface="Arial" panose="020B0604020202020204" pitchFamily="34" charset="0"/>
                        </a:rPr>
                        <a:t>ZIP</a:t>
                      </a:r>
                      <a:r>
                        <a:rPr kumimoji="0" lang="zh-CN" altLang="zh-CN" sz="900" dirty="0">
                          <a:latin typeface="Arial" panose="020B0604020202020204" pitchFamily="34" charset="0"/>
                        </a:rPr>
                        <a:t>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zh-CN" altLang="zh-CN" sz="900" dirty="0">
                          <a:latin typeface="Arial" panose="020B0604020202020204" pitchFamily="34" charset="0"/>
                        </a:rPr>
                        <a:t>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PowerApps</a:t>
                      </a:r>
                      <a:r>
                        <a:rPr lang="ja-JP" altLang="en-US" sz="1000" b="1" dirty="0"/>
                        <a:t> にて実現</a:t>
                      </a:r>
                      <a:r>
                        <a:rPr lang="ja-JP" altLang="en-US" sz="1000" dirty="0"/>
                        <a:t>。詳細は下記：</a:t>
                      </a:r>
                      <a:endParaRPr lang="en-US" altLang="ja-JP" sz="1000" dirty="0"/>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latin typeface="Yu Gothic UI" panose="020B0500000000000000" pitchFamily="50" charset="-128"/>
                          <a:ea typeface="Yu Gothic UI" panose="020B0500000000000000" pitchFamily="50" charset="-128"/>
                        </a:rPr>
                        <a:t>Web </a:t>
                      </a:r>
                      <a:r>
                        <a:rPr lang="ja-JP" altLang="en-US" sz="900" dirty="0">
                          <a:latin typeface="Yu Gothic UI" panose="020B0500000000000000" pitchFamily="50" charset="-128"/>
                          <a:ea typeface="Yu Gothic UI" panose="020B0500000000000000" pitchFamily="50" charset="-128"/>
                        </a:rPr>
                        <a:t>ページを埋め込むの</a:t>
                      </a:r>
                      <a:r>
                        <a:rPr lang="en-US" altLang="ja-JP" sz="900" dirty="0">
                          <a:latin typeface="Yu Gothic UI" panose="020B0500000000000000" pitchFamily="50" charset="-128"/>
                          <a:ea typeface="Yu Gothic UI" panose="020B0500000000000000" pitchFamily="50" charset="-128"/>
                        </a:rPr>
                        <a:t>HTML text </a:t>
                      </a:r>
                      <a:r>
                        <a:rPr lang="ja-JP" altLang="en-US" sz="900" dirty="0">
                          <a:latin typeface="Yu Gothic UI" panose="020B0500000000000000" pitchFamily="50" charset="-128"/>
                          <a:ea typeface="Yu Gothic UI" panose="020B0500000000000000" pitchFamily="50" charset="-128"/>
                        </a:rPr>
                        <a:t>コントロール（または </a:t>
                      </a:r>
                      <a:r>
                        <a:rPr lang="en-US" altLang="ja-JP" sz="900" dirty="0">
                          <a:latin typeface="Yu Gothic UI" panose="020B0500000000000000" pitchFamily="50" charset="-128"/>
                          <a:ea typeface="Yu Gothic UI" panose="020B0500000000000000" pitchFamily="50" charset="-128"/>
                        </a:rPr>
                        <a:t>WebView </a:t>
                      </a:r>
                      <a:r>
                        <a:rPr lang="ja-JP" altLang="en-US" sz="900" dirty="0">
                          <a:latin typeface="Yu Gothic UI" panose="020B0500000000000000" pitchFamily="50" charset="-128"/>
                          <a:ea typeface="Yu Gothic UI" panose="020B0500000000000000" pitchFamily="50" charset="-128"/>
                        </a:rPr>
                        <a:t>コントロール）により</a:t>
                      </a:r>
                      <a:r>
                        <a:rPr lang="en-US" altLang="ja-JP" sz="900" dirty="0">
                          <a:latin typeface="Yu Gothic UI" panose="020B0500000000000000" pitchFamily="50" charset="-128"/>
                          <a:ea typeface="Yu Gothic UI" panose="020B0500000000000000" pitchFamily="50" charset="-128"/>
                        </a:rPr>
                        <a:t>Java Script</a:t>
                      </a:r>
                      <a:r>
                        <a:rPr lang="ja-JP" altLang="en-US" sz="900" dirty="0">
                          <a:latin typeface="Yu Gothic UI" panose="020B0500000000000000" pitchFamily="50" charset="-128"/>
                          <a:ea typeface="Yu Gothic UI" panose="020B0500000000000000" pitchFamily="50" charset="-128"/>
                        </a:rPr>
                        <a:t>を導入</a:t>
                      </a:r>
                      <a:endParaRPr lang="en-US" altLang="ja-JP" sz="900" dirty="0">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latin typeface="Arial" panose="020B0604020202020204" pitchFamily="34" charset="0"/>
                        </a:rPr>
                        <a:t>上記</a:t>
                      </a:r>
                      <a:r>
                        <a:rPr kumimoji="0" lang="en-US" altLang="ja-JP" sz="900" dirty="0">
                          <a:latin typeface="Arial" panose="020B0604020202020204" pitchFamily="34" charset="0"/>
                        </a:rPr>
                        <a:t>No.3</a:t>
                      </a:r>
                      <a:r>
                        <a:rPr kumimoji="0" lang="ja-JP" altLang="en-US" sz="900" dirty="0">
                          <a:latin typeface="Arial" panose="020B0604020202020204" pitchFamily="34" charset="0"/>
                        </a:rPr>
                        <a:t>で導入された</a:t>
                      </a:r>
                      <a:r>
                        <a:rPr kumimoji="0" lang="en-US" altLang="ja-JP" sz="900" dirty="0">
                          <a:latin typeface="Arial" panose="020B0604020202020204" pitchFamily="34" charset="0"/>
                        </a:rPr>
                        <a:t>JavaScript</a:t>
                      </a:r>
                      <a:r>
                        <a:rPr kumimoji="0" lang="ja-JP" altLang="en-US" sz="900" dirty="0">
                          <a:latin typeface="Arial" panose="020B0604020202020204" pitchFamily="34" charset="0"/>
                        </a:rPr>
                        <a:t>を利用し、</a:t>
                      </a:r>
                      <a:r>
                        <a:rPr kumimoji="0" lang="en-US" altLang="ja-JP" sz="900" dirty="0">
                          <a:latin typeface="Arial" panose="020B0604020202020204" pitchFamily="34" charset="0"/>
                        </a:rPr>
                        <a:t>No.1</a:t>
                      </a:r>
                      <a:r>
                        <a:rPr kumimoji="0" lang="ja-JP" altLang="en-US" sz="900" dirty="0">
                          <a:latin typeface="Arial" panose="020B0604020202020204" pitchFamily="34" charset="0"/>
                        </a:rPr>
                        <a:t>の添付添付ファイルを</a:t>
                      </a:r>
                      <a:r>
                        <a:rPr kumimoji="0" lang="en-US" altLang="ja-JP" sz="900" dirty="0">
                          <a:latin typeface="Arial" panose="020B0604020202020204" pitchFamily="34" charset="0"/>
                        </a:rPr>
                        <a:t>Local Directory</a:t>
                      </a:r>
                      <a:r>
                        <a:rPr kumimoji="0" lang="ja-JP" altLang="en-US" sz="900" dirty="0">
                          <a:latin typeface="Arial" panose="020B0604020202020204" pitchFamily="34" charset="0"/>
                        </a:rPr>
                        <a:t>に保存する（</a:t>
                      </a:r>
                      <a:r>
                        <a:rPr kumimoji="0" lang="en-US" altLang="ja-JP" sz="900" dirty="0">
                          <a:latin typeface="Arial" panose="020B0604020202020204" pitchFamily="34" charset="0"/>
                        </a:rPr>
                        <a:t>JavaScript </a:t>
                      </a:r>
                      <a:r>
                        <a:rPr kumimoji="0" lang="ja-JP" altLang="en-US" sz="900" dirty="0">
                          <a:latin typeface="Arial" panose="020B0604020202020204" pitchFamily="34" charset="0"/>
                        </a:rPr>
                        <a:t>によりの</a:t>
                      </a:r>
                      <a:r>
                        <a:rPr kumimoji="0" lang="en-US" altLang="ja-JP" sz="900" dirty="0">
                          <a:latin typeface="Arial" panose="020B0604020202020204" pitchFamily="34" charset="0"/>
                        </a:rPr>
                        <a:t>Local File System</a:t>
                      </a:r>
                      <a:r>
                        <a:rPr kumimoji="0" lang="ja-JP" altLang="en-US" sz="900" dirty="0">
                          <a:latin typeface="Arial" panose="020B0604020202020204" pitchFamily="34" charset="0"/>
                        </a:rPr>
                        <a:t>アクセスすための</a:t>
                      </a:r>
                      <a:r>
                        <a:rPr kumimoji="0" lang="en-US" altLang="ja-JP" sz="900" dirty="0">
                          <a:latin typeface="Arial" panose="020B0604020202020204" pitchFamily="34" charset="0"/>
                        </a:rPr>
                        <a:t>Security</a:t>
                      </a:r>
                      <a:r>
                        <a:rPr kumimoji="0" lang="ja-JP" altLang="en-US" sz="900" dirty="0">
                          <a:latin typeface="Arial" panose="020B0604020202020204" pitchFamily="34" charset="0"/>
                        </a:rPr>
                        <a:t>設定が必要）</a:t>
                      </a:r>
                      <a:endParaRPr kumimoji="0" lang="en-US" altLang="zh-CN" sz="900" dirty="0">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latin typeface="Arial" panose="020B0604020202020204" pitchFamily="34" charset="0"/>
                        </a:rPr>
                        <a:t>※</a:t>
                      </a:r>
                      <a:r>
                        <a:rPr kumimoji="0" lang="ja-JP" altLang="en-US" sz="900" dirty="0">
                          <a:latin typeface="Arial" panose="020B0604020202020204" pitchFamily="34" charset="0"/>
                        </a:rPr>
                        <a:t>　</a:t>
                      </a:r>
                      <a:r>
                        <a:rPr kumimoji="0" lang="en-US" altLang="ja-JP" sz="900" dirty="0">
                          <a:latin typeface="Arial" panose="020B0604020202020204" pitchFamily="34" charset="0"/>
                        </a:rPr>
                        <a:t>No.4</a:t>
                      </a:r>
                      <a:r>
                        <a:rPr kumimoji="0" lang="ja-JP" altLang="en-US" sz="900" dirty="0">
                          <a:latin typeface="Arial" panose="020B0604020202020204" pitchFamily="34" charset="0"/>
                        </a:rPr>
                        <a:t>のファイルの</a:t>
                      </a:r>
                      <a:r>
                        <a:rPr kumimoji="0" lang="zh-CN" altLang="zh-CN" sz="900" dirty="0">
                          <a:latin typeface="Arial" panose="020B0604020202020204" pitchFamily="34" charset="0"/>
                        </a:rPr>
                        <a:t>保存先</a:t>
                      </a:r>
                      <a:r>
                        <a:rPr kumimoji="0" lang="ja-JP" altLang="en-US" sz="900" dirty="0">
                          <a:latin typeface="Arial" panose="020B0604020202020204" pitchFamily="34" charset="0"/>
                        </a:rPr>
                        <a:t>取得は複数ファイルでも一回のみ</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社内標準ブラウザ</a:t>
                      </a:r>
                      <a:r>
                        <a:rPr kumimoji="0" lang="en-US" altLang="zh-CN" sz="900" dirty="0">
                          <a:latin typeface="Arial" panose="020B0604020202020204" pitchFamily="34" charset="0"/>
                        </a:rPr>
                        <a:t>Chrome</a:t>
                      </a:r>
                      <a:r>
                        <a:rPr kumimoji="0" lang="ja-JP" altLang="en-US" sz="900" dirty="0">
                          <a:latin typeface="Arial" panose="020B0604020202020204" pitchFamily="34" charset="0"/>
                        </a:rPr>
                        <a:t>に、</a:t>
                      </a:r>
                      <a:r>
                        <a:rPr kumimoji="0" lang="en-US" altLang="ja-JP" sz="900" dirty="0">
                          <a:latin typeface="Arial" panose="020B0604020202020204" pitchFamily="34" charset="0"/>
                        </a:rPr>
                        <a:t>Java Script</a:t>
                      </a:r>
                      <a:r>
                        <a:rPr kumimoji="0" lang="ja-JP" altLang="en-US" sz="900" dirty="0">
                          <a:latin typeface="Arial" panose="020B0604020202020204" pitchFamily="34" charset="0"/>
                        </a:rPr>
                        <a:t>はローカルディレクトリに</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書出す、読込権限を付与する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89817">
                <a:tc>
                  <a:txBody>
                    <a:bodyPr/>
                    <a:lstStyle/>
                    <a:p>
                      <a:r>
                        <a:rPr lang="ja-JP" altLang="en-US" sz="1100" dirty="0"/>
                        <a:t>複数添付ファイル纏めて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44557">
                <a:tc>
                  <a:txBody>
                    <a:bodyPr/>
                    <a:lstStyle/>
                    <a:p>
                      <a:r>
                        <a:rPr lang="ja-JP" altLang="en-US" sz="1100" dirty="0"/>
                        <a:t>複数添付ファイル一括個別ファイルとしてダウンロード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下記が論理的に可能（</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33008">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746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確実実現可能（実績あり）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471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時、複数</a:t>
                      </a:r>
                      <a:r>
                        <a:rPr kumimoji="0" lang="en-US" altLang="ja-JP" sz="900" kern="1200" dirty="0">
                          <a:solidFill>
                            <a:schemeClr val="tx1"/>
                          </a:solidFill>
                          <a:latin typeface="Arial" panose="020B0604020202020204" pitchFamily="34" charset="0"/>
                          <a:ea typeface="+mn-ea"/>
                          <a:cs typeface="+mn-cs"/>
                        </a:rPr>
                        <a:t>Office/Pdf</a:t>
                      </a:r>
                      <a:r>
                        <a:rPr kumimoji="0" lang="ja-JP" altLang="en-US" sz="900" kern="1200" dirty="0">
                          <a:solidFill>
                            <a:schemeClr val="tx1"/>
                          </a:solidFill>
                          <a:latin typeface="Arial" panose="020B0604020202020204" pitchFamily="34" charset="0"/>
                          <a:ea typeface="+mn-ea"/>
                          <a:cs typeface="+mn-cs"/>
                        </a:rPr>
                        <a:t>ファイルを</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したが、ダウンロード時、一つ</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ファイルとする。ユーザは添付ファイルを</a:t>
                      </a:r>
                      <a:r>
                        <a:rPr kumimoji="0" lang="en-US" altLang="ja-JP" sz="900" kern="1200" dirty="0">
                          <a:solidFill>
                            <a:schemeClr val="tx1"/>
                          </a:solidFill>
                          <a:latin typeface="Arial" panose="020B0604020202020204" pitchFamily="34" charset="0"/>
                          <a:ea typeface="+mn-ea"/>
                          <a:cs typeface="+mn-cs"/>
                        </a:rPr>
                        <a:t>Local</a:t>
                      </a:r>
                      <a:r>
                        <a:rPr kumimoji="0" lang="ja-JP" altLang="en-US" sz="900" kern="1200" dirty="0">
                          <a:solidFill>
                            <a:schemeClr val="tx1"/>
                          </a:solidFill>
                          <a:latin typeface="Arial" panose="020B0604020202020204" pitchFamily="34" charset="0"/>
                          <a:ea typeface="+mn-ea"/>
                          <a:cs typeface="+mn-cs"/>
                        </a:rPr>
                        <a:t>で確認するときに、</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を展開してから確認しないといけない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245488" y="3439437"/>
            <a:ext cx="2668824" cy="790866"/>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t>一括ダウンロード機能の要件のポイントは複数ファイル対応であり、前回の提案より、向上案も併せて提示します。</a:t>
            </a:r>
          </a:p>
        </p:txBody>
      </p:sp>
      <p:pic>
        <p:nvPicPr>
          <p:cNvPr id="5" name="図 4">
            <a:extLst>
              <a:ext uri="{FF2B5EF4-FFF2-40B4-BE49-F238E27FC236}">
                <a16:creationId xmlns:a16="http://schemas.microsoft.com/office/drawing/2014/main" id="{1789387A-77C1-1A06-2D60-A7A9E32FA611}"/>
              </a:ext>
            </a:extLst>
          </p:cNvPr>
          <p:cNvPicPr>
            <a:picLocks noChangeAspect="1"/>
          </p:cNvPicPr>
          <p:nvPr/>
        </p:nvPicPr>
        <p:blipFill>
          <a:blip r:embed="rId4"/>
          <a:stretch>
            <a:fillRect/>
          </a:stretch>
        </p:blipFill>
        <p:spPr>
          <a:xfrm>
            <a:off x="10774680" y="2343708"/>
            <a:ext cx="786830" cy="2026459"/>
          </a:xfrm>
          <a:prstGeom prst="rect">
            <a:avLst/>
          </a:prstGeom>
        </p:spPr>
      </p:pic>
      <p:sp>
        <p:nvSpPr>
          <p:cNvPr id="6" name="四角形: 角を丸くする 5">
            <a:extLst>
              <a:ext uri="{FF2B5EF4-FFF2-40B4-BE49-F238E27FC236}">
                <a16:creationId xmlns:a16="http://schemas.microsoft.com/office/drawing/2014/main" id="{08F1ABC6-D6DE-2BA1-DFB8-3DB9CFEA88CF}"/>
              </a:ext>
            </a:extLst>
          </p:cNvPr>
          <p:cNvSpPr/>
          <p:nvPr/>
        </p:nvSpPr>
        <p:spPr>
          <a:xfrm>
            <a:off x="10744200" y="3439437"/>
            <a:ext cx="846034" cy="128186"/>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018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要件／ソリューション－ユーザ別の属性管理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3754042589"/>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t>Grid</a:t>
                      </a:r>
                      <a:r>
                        <a:rPr lang="ja-JP" altLang="en-US" sz="900" dirty="0"/>
                        <a:t>形式の列の表示／非表示</a:t>
                      </a:r>
                      <a:r>
                        <a:rPr lang="zh-CN" altLang="en-US" sz="900" dirty="0"/>
                        <a:t>，</a:t>
                      </a:r>
                      <a:r>
                        <a:rPr lang="ja-JP" altLang="en-US" sz="900" dirty="0"/>
                        <a:t>表示順、幅情報が設定すること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endParaRPr lang="en-US" altLang="ja-JP" sz="900" dirty="0"/>
                    </a:p>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t>ユーザは画面</a:t>
                      </a:r>
                      <a:r>
                        <a:rPr lang="en-US" altLang="ja-JP" sz="900" dirty="0"/>
                        <a:t>Grid</a:t>
                      </a:r>
                      <a:r>
                        <a:rPr lang="ja-JP" altLang="en-US" sz="900" dirty="0"/>
                        <a:t>毎に独自設定すること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が膨大化し、永続化データの膨大化だけではなく、該当データをサクセスするによりのパフォーマンス低下恐れがある。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398206" y="2306320"/>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01931" y="682546"/>
            <a:ext cx="10868248" cy="584775"/>
          </a:xfrm>
          <a:prstGeom prst="rect">
            <a:avLst/>
          </a:prstGeom>
          <a:noFill/>
        </p:spPr>
        <p:txBody>
          <a:bodyPr wrap="square" rtlCol="0">
            <a:spAutoFit/>
          </a:bodyPr>
          <a:lstStyle/>
          <a:p>
            <a:r>
              <a:rPr kumimoji="1" lang="ja-JP" altLang="en-US" sz="1600" dirty="0">
                <a:solidFill>
                  <a:srgbClr val="FF0000"/>
                </a:solidFill>
              </a:rPr>
              <a:t>ユーザ別の属性管理は実現可能であり、パフォーマンス低下及び管理コスト増につながる恐れがあり、</a:t>
            </a:r>
            <a:endParaRPr kumimoji="1" lang="en-US" altLang="ja-JP" sz="1600" dirty="0">
              <a:solidFill>
                <a:srgbClr val="FF0000"/>
              </a:solidFill>
            </a:endParaRPr>
          </a:p>
          <a:p>
            <a:r>
              <a:rPr kumimoji="1" lang="ja-JP" altLang="en-US" sz="1600" dirty="0">
                <a:solidFill>
                  <a:srgbClr val="FF0000"/>
                </a:solidFill>
              </a:rPr>
              <a:t>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要件／ソリューション－非機能要件</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981022892"/>
              </p:ext>
            </p:extLst>
          </p:nvPr>
        </p:nvGraphicFramePr>
        <p:xfrm>
          <a:off x="414336" y="890751"/>
          <a:ext cx="11284857" cy="5428233"/>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288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2273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54312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0408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660022">
                <a:tc>
                  <a:txBody>
                    <a:bodyPr/>
                    <a:lstStyle/>
                    <a:p>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データはすべてのレプリカに同時にコミットされるため、**非常に低いレイテンシー（待ち時間）**で高い可用性を実現します。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0408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0408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361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負荷分散</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kern="1200" dirty="0">
                        <a:solidFill>
                          <a:schemeClr val="tx1"/>
                        </a:solidFill>
                        <a:latin typeface="+mn-lt"/>
                        <a:ea typeface="+mn-ea"/>
                        <a:cs typeface="+mn-cs"/>
                      </a:endParaRPr>
                    </a:p>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a:t>
                      </a:r>
                      <a:r>
                        <a:rPr kumimoji="0" lang="ja-JP" altLang="en-US" sz="1000" dirty="0">
                          <a:latin typeface="Arial" panose="020B0604020202020204" pitchFamily="34" charset="0"/>
                        </a:rPr>
                        <a:t>は事前に</a:t>
                      </a:r>
                      <a:r>
                        <a:rPr kumimoji="0" lang="en-US" altLang="ja-JP" sz="1000" dirty="0">
                          <a:latin typeface="Arial" panose="020B0604020202020204" pitchFamily="34" charset="0"/>
                        </a:rPr>
                        <a:t>Facility</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spTree>
    <p:extLst>
      <p:ext uri="{BB962C8B-B14F-4D97-AF65-F5344CB8AC3E}">
        <p14:creationId xmlns:p14="http://schemas.microsoft.com/office/powerpoint/2010/main" val="3321202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要件／ソリューションーデータ移行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extLst>
              <p:ext uri="{D42A27DB-BD31-4B8C-83A1-F6EECF244321}">
                <p14:modId xmlns:p14="http://schemas.microsoft.com/office/powerpoint/2010/main" val="1594632960"/>
              </p:ext>
            </p:extLst>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endParaRPr kumimoji="0" lang="en-US" altLang="ja-JP" sz="900" b="1"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extLst>
              <p:ext uri="{D42A27DB-BD31-4B8C-83A1-F6EECF244321}">
                <p14:modId xmlns:p14="http://schemas.microsoft.com/office/powerpoint/2010/main" val="955944901"/>
              </p:ext>
            </p:extLst>
          </p:nvPr>
        </p:nvGraphicFramePr>
        <p:xfrm>
          <a:off x="4734560" y="1513800"/>
          <a:ext cx="6659880" cy="1635801"/>
        </p:xfrm>
        <a:graphic>
          <a:graphicData uri="http://schemas.openxmlformats.org/drawingml/2006/table">
            <a:tbl>
              <a:tblPr firstRow="1" bandRow="1">
                <a:tableStyleId>{7DF18680-E054-41AD-8BC1-D1AEF772440D}</a:tableStyleId>
              </a:tblPr>
              <a:tblGrid>
                <a:gridCol w="2015229">
                  <a:extLst>
                    <a:ext uri="{9D8B030D-6E8A-4147-A177-3AD203B41FA5}">
                      <a16:colId xmlns:a16="http://schemas.microsoft.com/office/drawing/2014/main" val="2649257964"/>
                    </a:ext>
                  </a:extLst>
                </a:gridCol>
                <a:gridCol w="694056">
                  <a:extLst>
                    <a:ext uri="{9D8B030D-6E8A-4147-A177-3AD203B41FA5}">
                      <a16:colId xmlns:a16="http://schemas.microsoft.com/office/drawing/2014/main" val="3843299209"/>
                    </a:ext>
                  </a:extLst>
                </a:gridCol>
                <a:gridCol w="3950595">
                  <a:extLst>
                    <a:ext uri="{9D8B030D-6E8A-4147-A177-3AD203B41FA5}">
                      <a16:colId xmlns:a16="http://schemas.microsoft.com/office/drawing/2014/main" val="3345850908"/>
                    </a:ext>
                  </a:extLst>
                </a:gridCol>
              </a:tblGrid>
              <a:tr h="251662">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40895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723527">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251662">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7" name="図 6">
            <a:extLst>
              <a:ext uri="{FF2B5EF4-FFF2-40B4-BE49-F238E27FC236}">
                <a16:creationId xmlns:a16="http://schemas.microsoft.com/office/drawing/2014/main" id="{60DB80E2-85B5-E613-9FF8-A35C8A1D3DD3}"/>
              </a:ext>
            </a:extLst>
          </p:cNvPr>
          <p:cNvPicPr>
            <a:picLocks noChangeAspect="1"/>
          </p:cNvPicPr>
          <p:nvPr/>
        </p:nvPicPr>
        <p:blipFill>
          <a:blip r:embed="rId3"/>
          <a:stretch>
            <a:fillRect/>
          </a:stretch>
        </p:blipFill>
        <p:spPr>
          <a:xfrm>
            <a:off x="4562272" y="3488986"/>
            <a:ext cx="7281265" cy="2088853"/>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1802707388"/>
              </p:ext>
            </p:extLst>
          </p:nvPr>
        </p:nvGraphicFramePr>
        <p:xfrm>
          <a:off x="532873" y="938892"/>
          <a:ext cx="11126254" cy="5172346"/>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は段階的に移行を実施（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Notes</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歴史データが閲覧可能ように）、個別要望対応、検収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chemeClr val="tx1"/>
                          </a:solidFill>
                          <a:effectLst/>
                          <a:latin typeface="+mn-lt"/>
                          <a:ea typeface="+mn-ea"/>
                          <a:cs typeface="+mn-cs"/>
                        </a:rPr>
                        <a:t>SharePoint</a:t>
                      </a:r>
                      <a:r>
                        <a:rPr lang="ja-JP" altLang="en-US" sz="1100" b="0" u="none" strike="noStrike" kern="1200" dirty="0">
                          <a:solidFill>
                            <a:schemeClr val="tx1"/>
                          </a:solidFill>
                          <a:effectLst/>
                          <a:latin typeface="+mn-lt"/>
                          <a:ea typeface="+mn-ea"/>
                          <a:cs typeface="+mn-cs"/>
                        </a:rPr>
                        <a:t>ファイルの権限</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実績がある下記の処理が思いため、性能観点の確認。</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ja-JP" altLang="en-US" sz="1100" kern="1200" dirty="0">
                          <a:solidFill>
                            <a:schemeClr val="tx1"/>
                          </a:solidFill>
                          <a:latin typeface="Arial" panose="020B0604020202020204" pitchFamily="34" charset="0"/>
                          <a:ea typeface="+mn-ea"/>
                          <a:cs typeface="+mn-cs"/>
                        </a:rPr>
                        <a:t>論理</a:t>
                      </a:r>
                      <a:r>
                        <a:rPr kumimoji="0" lang="en-US" altLang="ja-JP" sz="1100" kern="1200" dirty="0">
                          <a:solidFill>
                            <a:schemeClr val="tx1"/>
                          </a:solidFill>
                          <a:latin typeface="Arial" panose="020B0604020202020204" pitchFamily="34" charset="0"/>
                          <a:ea typeface="+mn-ea"/>
                          <a:cs typeface="+mn-cs"/>
                        </a:rPr>
                        <a:t>Security Group(DB</a:t>
                      </a:r>
                      <a:r>
                        <a:rPr kumimoji="0" lang="ja-JP" altLang="en-US" sz="1100" kern="1200" dirty="0">
                          <a:solidFill>
                            <a:schemeClr val="tx1"/>
                          </a:solidFill>
                          <a:latin typeface="Arial" panose="020B0604020202020204" pitchFamily="34" charset="0"/>
                          <a:ea typeface="+mn-ea"/>
                          <a:cs typeface="+mn-cs"/>
                        </a:rPr>
                        <a:t>で管理される</a:t>
                      </a:r>
                      <a:r>
                        <a:rPr kumimoji="0" lang="en-US" altLang="ja-JP" sz="1100" kern="1200" dirty="0">
                          <a:solidFill>
                            <a:schemeClr val="tx1"/>
                          </a:solidFill>
                          <a:latin typeface="Arial" panose="020B0604020202020204" pitchFamily="34" charset="0"/>
                          <a:ea typeface="+mn-ea"/>
                          <a:cs typeface="+mn-cs"/>
                        </a:rPr>
                        <a:t>Group)</a:t>
                      </a:r>
                      <a:r>
                        <a:rPr kumimoji="0" lang="ja-JP" altLang="en-US" sz="1100" kern="1200" dirty="0">
                          <a:solidFill>
                            <a:schemeClr val="tx1"/>
                          </a:solidFill>
                          <a:latin typeface="Arial" panose="020B0604020202020204" pitchFamily="34" charset="0"/>
                          <a:ea typeface="+mn-ea"/>
                          <a:cs typeface="+mn-cs"/>
                        </a:rPr>
                        <a:t>が変更されるときに、すでに登録済みの仕様書の添付ファイルに対して、承認フローの状態に合わせて、添付ファイルの再設定</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solidFill>
              <a:srgbClr val="0070C0"/>
            </a:solidFill>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a:t>
            </a:r>
            <a:r>
              <a:rPr kumimoji="0" lang="ja-JP" altLang="en-US" sz="1200" kern="0" dirty="0">
                <a:solidFill>
                  <a:prstClr val="black"/>
                </a:solidFill>
                <a:latin typeface="Arial"/>
                <a:ea typeface="Yu Gothic UI"/>
                <a:cs typeface="Arial" panose="020B0604020202020204" pitchFamily="34" charset="0"/>
              </a:rPr>
              <a:t>社程度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2845949"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latin typeface="Arial"/>
                <a:ea typeface="Yu Gothic UI"/>
                <a:cs typeface="Arial" panose="020B0604020202020204" pitchFamily="34" charset="0"/>
              </a:rPr>
              <a:t>・</a:t>
            </a:r>
            <a:r>
              <a:rPr lang="en-US" altLang="ja-JP" sz="1200" b="1" kern="0" dirty="0">
                <a:latin typeface="Arial"/>
                <a:ea typeface="Yu Gothic UI"/>
                <a:cs typeface="Arial" panose="020B0604020202020204" pitchFamily="34" charset="0"/>
              </a:rPr>
              <a:t>POC</a:t>
            </a:r>
            <a:r>
              <a:rPr lang="ja-JP" altLang="en-US" sz="1200" b="1" kern="0" dirty="0">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effectLst/>
                <a:uLnTx/>
                <a:uFillTx/>
                <a:latin typeface="Arial"/>
                <a:ea typeface="Yu Gothic UI"/>
                <a:cs typeface="Arial" panose="020B0604020202020204" pitchFamily="34" charset="0"/>
              </a:rPr>
              <a:t>・製造工程の概算見積</a:t>
            </a:r>
            <a:r>
              <a:rPr lang="ja-JP" altLang="en-US" sz="1200" b="1" kern="0" dirty="0">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6956848" y="3864809"/>
            <a:ext cx="1321801"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dirty="0">
                <a:solidFill>
                  <a:prstClr val="black"/>
                </a:solidFill>
                <a:latin typeface="Arial"/>
                <a:ea typeface="Yu Gothic UI"/>
                <a:cs typeface="Arial" panose="020B0604020202020204" pitchFamily="34" charset="0"/>
              </a:rPr>
              <a:t>Round1 </a:t>
            </a:r>
            <a:r>
              <a:rPr kumimoji="0" lang="ja-JP" altLang="en-US" sz="1200" kern="0" dirty="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Round</a:t>
            </a:r>
            <a:r>
              <a:rPr lang="ja-JP" altLang="en-US" sz="1200" dirty="0">
                <a:solidFill>
                  <a:schemeClr val="tx1"/>
                </a:solidFill>
              </a:rPr>
              <a:t>２展開</a:t>
            </a:r>
            <a:endParaRPr lang="en-US" altLang="ja-JP" sz="1200" dirty="0">
              <a:solidFill>
                <a:schemeClr val="tx1"/>
              </a:solidFill>
            </a:endParaRPr>
          </a:p>
          <a:p>
            <a:pPr algn="ctr"/>
            <a:r>
              <a:rPr lang="ja-JP" altLang="en-US" sz="1050" dirty="0">
                <a:solidFill>
                  <a:schemeClr val="tx1"/>
                </a:solidFill>
              </a:rPr>
              <a:t>（</a:t>
            </a:r>
            <a:r>
              <a:rPr kumimoji="0" lang="ja-JP" altLang="en-US" sz="1050" kern="0" dirty="0">
                <a:solidFill>
                  <a:prstClr val="black"/>
                </a:solidFill>
                <a:latin typeface="Arial"/>
                <a:ea typeface="Yu Gothic UI"/>
                <a:cs typeface="Arial" panose="020B0604020202020204" pitchFamily="34" charset="0"/>
              </a:rPr>
              <a:t>データ移行と受入</a:t>
            </a:r>
            <a:r>
              <a:rPr kumimoji="0" lang="en-US" altLang="ja-JP" sz="1050" kern="0" dirty="0">
                <a:solidFill>
                  <a:prstClr val="black"/>
                </a:solidFill>
                <a:latin typeface="Arial"/>
                <a:ea typeface="Yu Gothic UI"/>
                <a:cs typeface="Arial" panose="020B0604020202020204" pitchFamily="34" charset="0"/>
              </a:rPr>
              <a:t>/</a:t>
            </a:r>
            <a:r>
              <a:rPr kumimoji="0" lang="ja-JP" altLang="en-US" sz="1050" kern="0" dirty="0">
                <a:solidFill>
                  <a:prstClr val="black"/>
                </a:solidFill>
                <a:latin typeface="Arial"/>
                <a:ea typeface="Yu Gothic UI"/>
                <a:cs typeface="Arial" panose="020B0604020202020204" pitchFamily="34" charset="0"/>
              </a:rPr>
              <a:t>対応</a:t>
            </a:r>
            <a:r>
              <a:rPr kumimoji="0" lang="en-US" altLang="ja-JP" sz="1050" kern="0" dirty="0">
                <a:solidFill>
                  <a:prstClr val="black"/>
                </a:solidFill>
                <a:latin typeface="Arial"/>
                <a:ea typeface="Yu Gothic UI"/>
                <a:cs typeface="Arial" panose="020B0604020202020204" pitchFamily="34" charset="0"/>
              </a:rPr>
              <a:t> </a:t>
            </a:r>
            <a:r>
              <a:rPr kumimoji="0" lang="ja-JP" altLang="en-US" sz="1050" kern="0" dirty="0">
                <a:solidFill>
                  <a:schemeClr val="tx1"/>
                </a:solidFill>
                <a:latin typeface="Arial"/>
                <a:ea typeface="Yu Gothic UI"/>
                <a:cs typeface="Arial" panose="020B0604020202020204" pitchFamily="34" charset="0"/>
              </a:rPr>
              <a:t>）</a:t>
            </a:r>
            <a:endParaRPr lang="ja-JP" altLang="en-US" sz="1050" dirty="0">
              <a:solidFill>
                <a:schemeClr val="tx1"/>
              </a:solidFill>
            </a:endParaRP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Round3</a:t>
            </a:r>
            <a:r>
              <a:rPr lang="ja-JP" altLang="en-US" sz="1200" dirty="0">
                <a:solidFill>
                  <a:schemeClr val="tx1"/>
                </a:solidFill>
              </a:rPr>
              <a:t>展開</a:t>
            </a:r>
            <a:endParaRPr lang="en-US" altLang="ja-JP" sz="1200" dirty="0">
              <a:solidFill>
                <a:schemeClr val="tx1"/>
              </a:solidFill>
            </a:endParaRPr>
          </a:p>
          <a:p>
            <a:pPr algn="ctr"/>
            <a:r>
              <a:rPr kumimoji="0" lang="ja-JP" altLang="en-US" sz="1050" kern="0" dirty="0">
                <a:solidFill>
                  <a:schemeClr val="tx1"/>
                </a:solidFill>
                <a:latin typeface="Arial"/>
                <a:ea typeface="Yu Gothic UI"/>
                <a:cs typeface="Arial" panose="020B0604020202020204" pitchFamily="34" charset="0"/>
              </a:rPr>
              <a:t>（</a:t>
            </a:r>
            <a:r>
              <a:rPr kumimoji="0" lang="ja-JP" altLang="en-US" sz="1050" kern="0" dirty="0">
                <a:solidFill>
                  <a:prstClr val="black"/>
                </a:solidFill>
                <a:latin typeface="Arial"/>
                <a:ea typeface="Yu Gothic UI"/>
                <a:cs typeface="Arial" panose="020B0604020202020204" pitchFamily="34" charset="0"/>
              </a:rPr>
              <a:t>データ移行と受入</a:t>
            </a:r>
            <a:r>
              <a:rPr kumimoji="0" lang="en-US" altLang="ja-JP" sz="1050" kern="0" dirty="0">
                <a:solidFill>
                  <a:prstClr val="black"/>
                </a:solidFill>
                <a:latin typeface="Arial"/>
                <a:ea typeface="Yu Gothic UI"/>
                <a:cs typeface="Arial" panose="020B0604020202020204" pitchFamily="34" charset="0"/>
              </a:rPr>
              <a:t>/</a:t>
            </a:r>
            <a:r>
              <a:rPr kumimoji="0" lang="ja-JP" altLang="en-US" sz="1050" kern="0" dirty="0">
                <a:solidFill>
                  <a:prstClr val="black"/>
                </a:solidFill>
                <a:latin typeface="Arial"/>
                <a:ea typeface="Yu Gothic UI"/>
                <a:cs typeface="Arial" panose="020B0604020202020204" pitchFamily="34" charset="0"/>
              </a:rPr>
              <a:t>対応</a:t>
            </a:r>
            <a:r>
              <a:rPr kumimoji="0" lang="en-US" altLang="ja-JP" sz="1050" kern="0" dirty="0">
                <a:solidFill>
                  <a:prstClr val="black"/>
                </a:solidFill>
                <a:latin typeface="Arial"/>
                <a:ea typeface="Yu Gothic UI"/>
                <a:cs typeface="Arial" panose="020B0604020202020204" pitchFamily="34" charset="0"/>
              </a:rPr>
              <a:t> </a:t>
            </a:r>
            <a:r>
              <a:rPr kumimoji="0" lang="ja-JP" altLang="en-US" sz="1050" kern="0" dirty="0">
                <a:solidFill>
                  <a:schemeClr val="tx1"/>
                </a:solidFill>
                <a:latin typeface="Arial"/>
                <a:ea typeface="Yu Gothic UI"/>
                <a:cs typeface="Arial" panose="020B0604020202020204" pitchFamily="34" charset="0"/>
              </a:rPr>
              <a:t>）</a:t>
            </a:r>
            <a:endParaRPr lang="ja-JP" altLang="en-US" sz="1050" dirty="0">
              <a:solidFill>
                <a:schemeClr val="tx1"/>
              </a:solidFill>
            </a:endParaRP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6679939" y="3108382"/>
            <a:ext cx="2085351" cy="1068931"/>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
        <p:nvSpPr>
          <p:cNvPr id="4" name="四角形: 角を丸くする 3">
            <a:extLst>
              <a:ext uri="{FF2B5EF4-FFF2-40B4-BE49-F238E27FC236}">
                <a16:creationId xmlns:a16="http://schemas.microsoft.com/office/drawing/2014/main" id="{A7C6345D-3477-FB36-E6A6-58153600133E}"/>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rgbClr val="0070C0"/>
                </a:solidFill>
              </a:rPr>
              <a:t>Round2, Round3</a:t>
            </a:r>
            <a:r>
              <a:rPr kumimoji="1" lang="ja-JP" altLang="en-US" sz="1000" dirty="0">
                <a:solidFill>
                  <a:srgbClr val="0070C0"/>
                </a:solidFill>
              </a:rPr>
              <a:t>に関する説明：</a:t>
            </a:r>
            <a:endParaRPr kumimoji="1" lang="en-US" altLang="ja-JP" sz="1000" dirty="0">
              <a:solidFill>
                <a:srgbClr val="0070C0"/>
              </a:solidFill>
            </a:endParaRPr>
          </a:p>
          <a:p>
            <a:r>
              <a:rPr lang="ja-JP" altLang="en-US" sz="800" dirty="0">
                <a:solidFill>
                  <a:srgbClr val="0070C0"/>
                </a:solidFill>
              </a:rPr>
              <a:t>システム全体は一つ</a:t>
            </a:r>
            <a:r>
              <a:rPr lang="en-US" altLang="ja-JP" sz="800" dirty="0">
                <a:solidFill>
                  <a:srgbClr val="0070C0"/>
                </a:solidFill>
              </a:rPr>
              <a:t>App</a:t>
            </a:r>
            <a:r>
              <a:rPr lang="ja-JP" altLang="en-US" sz="800" dirty="0">
                <a:solidFill>
                  <a:srgbClr val="0070C0"/>
                </a:solidFill>
              </a:rPr>
              <a:t>になるため、</a:t>
            </a:r>
            <a:r>
              <a:rPr lang="en-US" altLang="ja-JP" sz="800" dirty="0">
                <a:solidFill>
                  <a:srgbClr val="0070C0"/>
                </a:solidFill>
              </a:rPr>
              <a:t>Round2,3</a:t>
            </a:r>
            <a:r>
              <a:rPr lang="ja-JP" altLang="en-US" sz="800" dirty="0">
                <a:solidFill>
                  <a:srgbClr val="0070C0"/>
                </a:solidFill>
              </a:rPr>
              <a:t>の主作業は移行作業</a:t>
            </a:r>
            <a:endParaRPr lang="en-US" altLang="ja-JP" sz="8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移行ツールの入力となる</a:t>
            </a:r>
            <a:r>
              <a:rPr lang="en-US" altLang="ja-JP" sz="700" dirty="0">
                <a:solidFill>
                  <a:srgbClr val="0070C0"/>
                </a:solidFill>
              </a:rPr>
              <a:t>DB</a:t>
            </a:r>
            <a:r>
              <a:rPr lang="ja-JP" altLang="en-US" sz="700" dirty="0">
                <a:solidFill>
                  <a:srgbClr val="0070C0"/>
                </a:solidFill>
              </a:rPr>
              <a:t>ファイルの差異の対応</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入力データの差異によりの</a:t>
            </a:r>
            <a:r>
              <a:rPr lang="en-US" altLang="ja-JP" sz="700" dirty="0">
                <a:solidFill>
                  <a:srgbClr val="0070C0"/>
                </a:solidFill>
              </a:rPr>
              <a:t>Data mapping</a:t>
            </a:r>
            <a:r>
              <a:rPr lang="ja-JP" altLang="en-US" sz="700" dirty="0">
                <a:solidFill>
                  <a:srgbClr val="0070C0"/>
                </a:solidFill>
              </a:rPr>
              <a:t>の見直す</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ツール実行</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移行前後データの比較、差異分析、必要により対応、報告</a:t>
            </a:r>
            <a:endParaRPr lang="en-US" altLang="ja-JP" sz="700" dirty="0">
              <a:solidFill>
                <a:srgbClr val="0070C0"/>
              </a:solidFill>
            </a:endParaRPr>
          </a:p>
          <a:p>
            <a:endParaRPr lang="en-US" altLang="ja-JP" sz="800" dirty="0">
              <a:solidFill>
                <a:srgbClr val="0070C0"/>
              </a:solidFill>
            </a:endParaRPr>
          </a:p>
          <a:p>
            <a:r>
              <a:rPr lang="ja-JP" altLang="en-US" sz="800" dirty="0">
                <a:solidFill>
                  <a:srgbClr val="0070C0"/>
                </a:solidFill>
              </a:rPr>
              <a:t>会社・組織の業務差異</a:t>
            </a:r>
            <a:r>
              <a:rPr lang="en-US" altLang="ja-JP" sz="800" dirty="0">
                <a:solidFill>
                  <a:srgbClr val="0070C0"/>
                </a:solidFill>
              </a:rPr>
              <a:t>/</a:t>
            </a:r>
            <a:r>
              <a:rPr lang="ja-JP" altLang="en-US" sz="800" dirty="0">
                <a:solidFill>
                  <a:srgbClr val="0070C0"/>
                </a:solidFill>
              </a:rPr>
              <a:t>表現差異対応、エンハンス要件がない限り、</a:t>
            </a:r>
            <a:r>
              <a:rPr lang="en-US" altLang="ja-JP" sz="800" dirty="0">
                <a:solidFill>
                  <a:srgbClr val="0070C0"/>
                </a:solidFill>
              </a:rPr>
              <a:t>Round2, Round3</a:t>
            </a:r>
            <a:r>
              <a:rPr lang="ja-JP" altLang="en-US" sz="800" dirty="0">
                <a:solidFill>
                  <a:srgbClr val="0070C0"/>
                </a:solidFill>
              </a:rPr>
              <a:t>のリリース自体は不要</a:t>
            </a:r>
            <a:endParaRPr lang="en-US" altLang="ja-JP" sz="800" dirty="0">
              <a:solidFill>
                <a:srgbClr val="0070C0"/>
              </a:solidFill>
            </a:endParaRPr>
          </a:p>
          <a:p>
            <a:r>
              <a:rPr lang="en-US" altLang="ja-JP" sz="700" dirty="0">
                <a:solidFill>
                  <a:srgbClr val="0070C0"/>
                </a:solidFill>
              </a:rPr>
              <a:t>※ round2, Round3</a:t>
            </a:r>
            <a:r>
              <a:rPr lang="ja-JP" altLang="en-US" sz="700" dirty="0">
                <a:solidFill>
                  <a:srgbClr val="0070C0"/>
                </a:solidFill>
              </a:rPr>
              <a:t>の本質は：対象会社の履歴が利用可能時期のみ</a:t>
            </a:r>
            <a:endParaRPr lang="en-US" altLang="ja-JP" sz="700" dirty="0">
              <a:solidFill>
                <a:srgbClr val="0070C0"/>
              </a:solidFill>
            </a:endParaRPr>
          </a:p>
        </p:txBody>
      </p:sp>
      <p:sp>
        <p:nvSpPr>
          <p:cNvPr id="5" name="テキスト ボックス 4">
            <a:extLst>
              <a:ext uri="{FF2B5EF4-FFF2-40B4-BE49-F238E27FC236}">
                <a16:creationId xmlns:a16="http://schemas.microsoft.com/office/drawing/2014/main" id="{E9A32077-426D-AFF7-BFD8-ED0953D495CC}"/>
              </a:ext>
            </a:extLst>
          </p:cNvPr>
          <p:cNvSpPr txBox="1"/>
          <p:nvPr/>
        </p:nvSpPr>
        <p:spPr>
          <a:xfrm>
            <a:off x="414336" y="735600"/>
            <a:ext cx="11469807" cy="338554"/>
          </a:xfrm>
          <a:prstGeom prst="rect">
            <a:avLst/>
          </a:prstGeom>
          <a:noFill/>
        </p:spPr>
        <p:txBody>
          <a:bodyPr wrap="none" rtlCol="0">
            <a:spAutoFit/>
          </a:bodyPr>
          <a:lstStyle/>
          <a:p>
            <a:r>
              <a:rPr kumimoji="1" lang="ja-JP" altLang="en-US" sz="1600" dirty="0"/>
              <a:t>下記スケジュールは弊社の想定で、ご要望に合わせて開始時間について、調整することが可能で</a:t>
            </a:r>
            <a:r>
              <a:rPr lang="ja-JP" altLang="en-US" sz="1600" dirty="0"/>
              <a:t>、相談させてください。</a:t>
            </a:r>
            <a:endParaRPr kumimoji="1" lang="ja-JP" alt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3" name="表 2">
            <a:extLst>
              <a:ext uri="{FF2B5EF4-FFF2-40B4-BE49-F238E27FC236}">
                <a16:creationId xmlns:a16="http://schemas.microsoft.com/office/drawing/2014/main" id="{ABC0272A-5628-F02B-15C0-A06177151599}"/>
              </a:ext>
            </a:extLst>
          </p:cNvPr>
          <p:cNvGraphicFramePr>
            <a:graphicFrameLocks noGrp="1"/>
          </p:cNvGraphicFramePr>
          <p:nvPr>
            <p:extLst>
              <p:ext uri="{D42A27DB-BD31-4B8C-83A1-F6EECF244321}">
                <p14:modId xmlns:p14="http://schemas.microsoft.com/office/powerpoint/2010/main" val="1203445648"/>
              </p:ext>
            </p:extLst>
          </p:nvPr>
        </p:nvGraphicFramePr>
        <p:xfrm>
          <a:off x="479552" y="836570"/>
          <a:ext cx="11121173" cy="5076547"/>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81305">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38385">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780089">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4" name="テキスト ボックス 3">
            <a:extLst>
              <a:ext uri="{FF2B5EF4-FFF2-40B4-BE49-F238E27FC236}">
                <a16:creationId xmlns:a16="http://schemas.microsoft.com/office/drawing/2014/main" id="{991409EF-EEE4-E1DA-3385-64239FFC8CC8}"/>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175.06MM</a:t>
            </a:r>
            <a:r>
              <a:rPr kumimoji="1" lang="ja-JP" altLang="en-US" sz="1600" dirty="0"/>
              <a:t>、</a:t>
            </a:r>
            <a:r>
              <a:rPr lang="ja-JP" altLang="en-US" sz="1600" dirty="0"/>
              <a:t>費用： </a:t>
            </a:r>
            <a:r>
              <a:rPr kumimoji="1" lang="en-US" altLang="ja-JP" sz="1600" dirty="0"/>
              <a:t>1.26</a:t>
            </a:r>
            <a:r>
              <a:rPr kumimoji="1" lang="ja-JP" altLang="en-US" sz="1600" dirty="0"/>
              <a:t>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ミーティングの日程調整（必要に応じてセッティング）</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834738927"/>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主に性能観点の評価、性能評価次第、該当機能の本番機能対象にする・にしない（実装面の技術リスクがない）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normAutofit/>
          </a:bodyPr>
          <a:lstStyle/>
          <a:p>
            <a:r>
              <a:rPr lang="ja-JP" altLang="en-US" dirty="0"/>
              <a:t>前回の資料</a:t>
            </a:r>
            <a:br>
              <a:rPr lang="en-US" altLang="ja-JP" dirty="0"/>
            </a:br>
            <a:r>
              <a:rPr lang="en-US" altLang="ja-JP" sz="5300" dirty="0"/>
              <a:t>(9/22</a:t>
            </a:r>
            <a:r>
              <a:rPr lang="ja-JP" altLang="en-US" sz="5300" dirty="0"/>
              <a:t> ソリューションのみ</a:t>
            </a:r>
            <a:r>
              <a:rPr lang="en-US" altLang="ja-JP" sz="5300" dirty="0"/>
              <a:t>)</a:t>
            </a:r>
            <a:endParaRPr lang="ja-JP" altLang="en-US" sz="5300" dirty="0"/>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dirty="0"/>
              <a:t>ファイル</a:t>
            </a:r>
            <a:r>
              <a:rPr lang="en-US" altLang="ja-JP" sz="1200" dirty="0"/>
              <a:t>ID</a:t>
            </a:r>
            <a:r>
              <a:rPr lang="ja-JP" altLang="en-US" sz="1200" dirty="0"/>
              <a:t>で</a:t>
            </a:r>
            <a:r>
              <a:rPr lang="en-US" altLang="ja-JP" sz="1200" dirty="0" err="1"/>
              <a:t>Sqlserver</a:t>
            </a:r>
            <a:r>
              <a:rPr lang="en-US" altLang="ja-JP" sz="1200" dirty="0"/>
              <a:t> </a:t>
            </a:r>
            <a:r>
              <a:rPr lang="ja-JP" altLang="en-US" sz="1200" dirty="0"/>
              <a:t>と</a:t>
            </a:r>
            <a:r>
              <a:rPr lang="en-US" altLang="ja-JP" sz="1200" dirty="0"/>
              <a:t>Dataverse</a:t>
            </a:r>
            <a:r>
              <a:rPr lang="ja-JP" altLang="en-US" sz="1200" dirty="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dirty="0">
                <a:solidFill>
                  <a:srgbClr val="0070C0"/>
                </a:solidFill>
              </a:rPr>
              <a:t>Power Apps/Power Automate flow/Power BI</a:t>
            </a:r>
            <a:r>
              <a:rPr kumimoji="1" lang="ja-JP" altLang="en-US" sz="1000" dirty="0">
                <a:solidFill>
                  <a:srgbClr val="0070C0"/>
                </a:solidFill>
              </a:rPr>
              <a:t>は</a:t>
            </a:r>
            <a:r>
              <a:rPr kumimoji="1" lang="en-US" altLang="ja-JP" sz="1000" dirty="0" err="1">
                <a:solidFill>
                  <a:srgbClr val="0070C0"/>
                </a:solidFill>
              </a:rPr>
              <a:t>Sqlserver</a:t>
            </a:r>
            <a:r>
              <a:rPr kumimoji="1" lang="ja-JP" altLang="en-US" sz="1000" dirty="0">
                <a:solidFill>
                  <a:srgbClr val="0070C0"/>
                </a:solidFill>
              </a:rPr>
              <a:t>にアクセス時の実際の</a:t>
            </a:r>
            <a:r>
              <a:rPr kumimoji="1" lang="en-US" altLang="ja-JP" sz="1000" dirty="0">
                <a:solidFill>
                  <a:srgbClr val="0070C0"/>
                </a:solidFill>
              </a:rPr>
              <a:t>Data Flow</a:t>
            </a:r>
            <a:r>
              <a:rPr kumimoji="1" lang="ja-JP" altLang="en-US" sz="1000" dirty="0">
                <a:solidFill>
                  <a:srgbClr val="0070C0"/>
                </a:solidFill>
              </a:rPr>
              <a:t>（</a:t>
            </a:r>
            <a:r>
              <a:rPr kumimoji="1" lang="en-US" altLang="ja-JP" sz="1000" dirty="0">
                <a:solidFill>
                  <a:srgbClr val="0070C0"/>
                </a:solidFill>
              </a:rPr>
              <a:t>Architecture</a:t>
            </a:r>
            <a:r>
              <a:rPr kumimoji="1" lang="ja-JP" altLang="en-US" sz="1000" dirty="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dirty="0">
                <a:solidFill>
                  <a:srgbClr val="0070C0"/>
                </a:solidFill>
              </a:rPr>
              <a:t>Power Apps/Power Automate flow/Power BI</a:t>
            </a:r>
            <a:r>
              <a:rPr lang="ja-JP" altLang="en-US" dirty="0">
                <a:solidFill>
                  <a:srgbClr val="0070C0"/>
                </a:solidFill>
              </a:rPr>
              <a:t>は</a:t>
            </a:r>
            <a:r>
              <a:rPr lang="en-US" altLang="ja-JP" dirty="0" err="1">
                <a:solidFill>
                  <a:srgbClr val="0070C0"/>
                </a:solidFill>
              </a:rPr>
              <a:t>Sqlserver</a:t>
            </a:r>
            <a:r>
              <a:rPr lang="ja-JP" altLang="en-US" dirty="0">
                <a:solidFill>
                  <a:srgbClr val="0070C0"/>
                </a:solidFill>
              </a:rPr>
              <a:t>にアクセス時のが論理</a:t>
            </a:r>
            <a:r>
              <a:rPr lang="en-US" altLang="ja-JP" dirty="0">
                <a:solidFill>
                  <a:srgbClr val="0070C0"/>
                </a:solidFill>
              </a:rPr>
              <a:t>Flow</a:t>
            </a:r>
            <a:r>
              <a:rPr lang="ja-JP" altLang="en-US" dirty="0">
                <a:solidFill>
                  <a:srgbClr val="0070C0"/>
                </a:solidFill>
              </a:rPr>
              <a:t>（業務視点）</a:t>
            </a:r>
          </a:p>
        </p:txBody>
      </p:sp>
    </p:spTree>
    <p:extLst>
      <p:ext uri="{BB962C8B-B14F-4D97-AF65-F5344CB8AC3E}">
        <p14:creationId xmlns:p14="http://schemas.microsoft.com/office/powerpoint/2010/main" val="3511245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16C17B-9ACF-4273-9EF4-F7A543FAF213}">
  <ds:schemaRefs/>
</ds:datastoreItem>
</file>

<file path=customXml/itemProps2.xml><?xml version="1.0" encoding="utf-8"?>
<ds:datastoreItem xmlns:ds="http://schemas.openxmlformats.org/officeDocument/2006/customXml" ds:itemID="{BCB922EE-95E3-497F-8326-C2ABF66A4B77}">
  <ds:schemaRefs/>
</ds:datastoreItem>
</file>

<file path=customXml/itemProps3.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MCG_jp_rev1</Template>
  <TotalTime>5787</TotalTime>
  <Words>15891</Words>
  <Application>Microsoft Office PowerPoint</Application>
  <PresentationFormat>ワイド画面</PresentationFormat>
  <Paragraphs>1876</Paragraphs>
  <Slides>39</Slides>
  <Notes>37</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39</vt:i4>
      </vt:variant>
    </vt:vector>
  </HeadingPairs>
  <TitlesOfParts>
    <vt:vector size="60"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AZURE Sql 提案と見積</vt:lpstr>
      <vt:lpstr>前書き</vt:lpstr>
      <vt:lpstr>目次</vt:lpstr>
      <vt:lpstr>提案の背景</vt:lpstr>
      <vt:lpstr>システム概要</vt:lpstr>
      <vt:lpstr>ストレージの比較</vt:lpstr>
      <vt:lpstr>ストレージの評価</vt:lpstr>
      <vt:lpstr>AzureSQL＋SPOの選定理由</vt:lpstr>
      <vt:lpstr>全体アーキテクチャ</vt:lpstr>
      <vt:lpstr>要件／ソリューション－添付ファイル管理（編集含む）</vt:lpstr>
      <vt:lpstr>要件／ソリューション－権限管理</vt:lpstr>
      <vt:lpstr>要件／ソリューション－検索機能</vt:lpstr>
      <vt:lpstr>要件／ソリューション－一括ダウンロード機能</vt:lpstr>
      <vt:lpstr>要件／ソリューション－ユーザ別の属性管理</vt:lpstr>
      <vt:lpstr>要件／ソリューション－非機能要件</vt:lpstr>
      <vt:lpstr>要件／ソリューションーデータ移行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vt:lpstr>
      <vt:lpstr>見積もり</vt:lpstr>
      <vt:lpstr>結論</vt:lpstr>
      <vt:lpstr>備考</vt:lpstr>
      <vt:lpstr>POC範囲</vt:lpstr>
      <vt:lpstr>サポートとメンテナンス－瑕疵範囲、保守提案</vt:lpstr>
      <vt:lpstr>前回の資料 (9/22 ソリューションのみ)</vt:lpstr>
      <vt:lpstr>アーキテクチャ全体 添付ファイルはDaTAVERSE保存（案B）</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55</cp:revision>
  <dcterms:created xsi:type="dcterms:W3CDTF">2023-05-25T05:41:00Z</dcterms:created>
  <dcterms:modified xsi:type="dcterms:W3CDTF">2025-10-03T08:15:06Z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