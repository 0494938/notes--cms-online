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47"/>
  </p:notesMasterIdLst>
  <p:handoutMasterIdLst>
    <p:handoutMasterId r:id="rId48"/>
  </p:handoutMasterIdLst>
  <p:sldIdLst>
    <p:sldId id="16772939" r:id="rId10"/>
    <p:sldId id="16776365" r:id="rId11"/>
    <p:sldId id="16776366" r:id="rId12"/>
    <p:sldId id="16776367" r:id="rId13"/>
    <p:sldId id="16776368" r:id="rId14"/>
    <p:sldId id="16776370" r:id="rId15"/>
    <p:sldId id="16776369" r:id="rId16"/>
    <p:sldId id="16776371" r:id="rId17"/>
    <p:sldId id="16776373" r:id="rId18"/>
    <p:sldId id="16776405" r:id="rId19"/>
    <p:sldId id="16776376" r:id="rId20"/>
    <p:sldId id="16776406" r:id="rId21"/>
    <p:sldId id="16776407" r:id="rId22"/>
    <p:sldId id="16776408" r:id="rId23"/>
    <p:sldId id="16776380" r:id="rId24"/>
    <p:sldId id="16776381" r:id="rId25"/>
    <p:sldId id="16776382" r:id="rId26"/>
    <p:sldId id="16776383" r:id="rId27"/>
    <p:sldId id="16776384" r:id="rId28"/>
    <p:sldId id="16776385" r:id="rId29"/>
    <p:sldId id="16776386" r:id="rId30"/>
    <p:sldId id="16776387" r:id="rId31"/>
    <p:sldId id="16776388" r:id="rId32"/>
    <p:sldId id="16776390" r:id="rId33"/>
    <p:sldId id="16776391" r:id="rId34"/>
    <p:sldId id="16776403" r:id="rId35"/>
    <p:sldId id="16776389" r:id="rId36"/>
    <p:sldId id="16776393" r:id="rId37"/>
    <p:sldId id="16776394" r:id="rId38"/>
    <p:sldId id="16776395" r:id="rId39"/>
    <p:sldId id="16776396" r:id="rId40"/>
    <p:sldId id="16776397" r:id="rId41"/>
    <p:sldId id="16776398" r:id="rId42"/>
    <p:sldId id="16776399" r:id="rId43"/>
    <p:sldId id="16776400" r:id="rId44"/>
    <p:sldId id="16776401" r:id="rId45"/>
    <p:sldId id="16776402" r:id="rId46"/>
  </p:sldIdLst>
  <p:sldSz cx="12192000" cy="6858000"/>
  <p:notesSz cx="6858000" cy="9144000"/>
  <p:custDataLst>
    <p:tags r:id="rId49"/>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370"/>
            <p14:sldId id="16776369"/>
            <p14:sldId id="16776371"/>
            <p14:sldId id="16776373"/>
            <p14:sldId id="16776405"/>
            <p14:sldId id="16776376"/>
            <p14:sldId id="16776406"/>
            <p14:sldId id="16776407"/>
            <p14:sldId id="16776408"/>
            <p14:sldId id="16776380"/>
            <p14:sldId id="16776381"/>
            <p14:sldId id="16776382"/>
            <p14:sldId id="16776383"/>
            <p14:sldId id="16776384"/>
            <p14:sldId id="16776385"/>
            <p14:sldId id="16776386"/>
            <p14:sldId id="16776387"/>
            <p14:sldId id="16776388"/>
            <p14:sldId id="16776390"/>
            <p14:sldId id="16776391"/>
            <p14:sldId id="16776403"/>
            <p14:sldId id="16776389"/>
            <p14:sldId id="16776393"/>
            <p14:sldId id="16776394"/>
            <p14:sldId id="16776395"/>
            <p14:sldId id="16776396"/>
            <p14:sldId id="16776397"/>
            <p14:sldId id="16776398"/>
            <p14:sldId id="16776399"/>
            <p14:sldId id="16776400"/>
            <p14:sldId id="16776401"/>
            <p14:sldId id="1677640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718" autoAdjust="0"/>
  </p:normalViewPr>
  <p:slideViewPr>
    <p:cSldViewPr snapToGrid="0">
      <p:cViewPr varScale="1">
        <p:scale>
          <a:sx n="159" d="100"/>
          <a:sy n="159" d="100"/>
        </p:scale>
        <p:origin x="1637" y="110"/>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notesMaster" Target="notesMasters/notesMaster1.xml"/><Relationship Id="rId50" Type="http://schemas.openxmlformats.org/officeDocument/2006/relationships/presProps" Target="presProp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slide" Target="slides/slide36.xml"/><Relationship Id="rId53" Type="http://schemas.openxmlformats.org/officeDocument/2006/relationships/tableStyles" Target="tableStyles.xml"/><Relationship Id="rId5" Type="http://schemas.openxmlformats.org/officeDocument/2006/relationships/slideMaster" Target="slideMasters/slideMaster2.xml"/><Relationship Id="rId10" Type="http://schemas.openxmlformats.org/officeDocument/2006/relationships/slide" Target="slides/slide1.xml"/><Relationship Id="rId19" Type="http://schemas.openxmlformats.org/officeDocument/2006/relationships/slide" Target="slides/slide10.xml"/><Relationship Id="rId31" Type="http://schemas.openxmlformats.org/officeDocument/2006/relationships/slide" Target="slides/slide22.xml"/><Relationship Id="rId44" Type="http://schemas.openxmlformats.org/officeDocument/2006/relationships/slide" Target="slides/slide35.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handoutMaster" Target="handoutMasters/handoutMaster1.xml"/><Relationship Id="rId8" Type="http://schemas.openxmlformats.org/officeDocument/2006/relationships/slideMaster" Target="slideMasters/slideMaster5.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slide" Target="slides/slide37.xml"/><Relationship Id="rId20" Type="http://schemas.openxmlformats.org/officeDocument/2006/relationships/slide" Target="slides/slide11.xml"/><Relationship Id="rId41" Type="http://schemas.openxmlformats.org/officeDocument/2006/relationships/slide" Target="slides/slide32.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tags" Target="tags/tag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2025/10/2</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2025/10/2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8</a:t>
            </a:fld>
            <a:endParaRPr kumimoji="1"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extLst>
      <p:ext uri="{BB962C8B-B14F-4D97-AF65-F5344CB8AC3E}">
        <p14:creationId xmlns:p14="http://schemas.microsoft.com/office/powerpoint/2010/main" val="1754736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extLst>
      <p:ext uri="{BB962C8B-B14F-4D97-AF65-F5344CB8AC3E}">
        <p14:creationId xmlns:p14="http://schemas.microsoft.com/office/powerpoint/2010/main" val="8930628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extLst>
      <p:ext uri="{BB962C8B-B14F-4D97-AF65-F5344CB8AC3E}">
        <p14:creationId xmlns:p14="http://schemas.microsoft.com/office/powerpoint/2010/main" val="23903556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F42B9-7C8C-DA96-F45B-07132E4CB2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0E1872-356F-77A7-D991-9D4A0A70D6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54E4875-54FD-DC25-CECE-422EF828A6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9C1D6-6594-6F85-9B3B-6C55DA521FAA}"/>
              </a:ext>
            </a:extLst>
          </p:cNvPr>
          <p:cNvSpPr>
            <a:spLocks noGrp="1"/>
          </p:cNvSpPr>
          <p:nvPr>
            <p:ph type="sldNum" sz="quarter" idx="5"/>
          </p:nvPr>
        </p:nvSpPr>
        <p:spPr/>
        <p:txBody>
          <a:bodyPr/>
          <a:lstStyle/>
          <a:p>
            <a:fld id="{C3E9B8F7-F11D-7247-854D-760B01224C6A}" type="slidenum">
              <a:rPr kumimoji="1" lang="ja-JP" altLang="en-US" smtClean="0"/>
              <a:t>28</a:t>
            </a:fld>
            <a:endParaRPr kumimoji="1" lang="ja-JP" altLang="en-US"/>
          </a:p>
        </p:txBody>
      </p:sp>
    </p:spTree>
    <p:extLst>
      <p:ext uri="{BB962C8B-B14F-4D97-AF65-F5344CB8AC3E}">
        <p14:creationId xmlns:p14="http://schemas.microsoft.com/office/powerpoint/2010/main" val="9632957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362E5-4871-7464-E76E-7EBBD249C3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3064D67-DEB4-2391-EB01-3D2A079324B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7F9907-5BFD-1DB3-76A8-78330D1EA4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72D7A7E-BE9F-1988-8883-8126098DE607}"/>
              </a:ext>
            </a:extLst>
          </p:cNvPr>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extLst>
      <p:ext uri="{BB962C8B-B14F-4D97-AF65-F5344CB8AC3E}">
        <p14:creationId xmlns:p14="http://schemas.microsoft.com/office/powerpoint/2010/main" val="17797590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14940-466A-11D8-218A-C6657DAB0E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B41076-8E73-249E-ABDB-FBE7C3E0FFA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20DD9E5-5AD0-1F1F-D305-8F8E5DA4C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F4685A3-20D4-9B05-53A4-2D257F3FEC25}"/>
              </a:ext>
            </a:extLst>
          </p:cNvPr>
          <p:cNvSpPr>
            <a:spLocks noGrp="1"/>
          </p:cNvSpPr>
          <p:nvPr>
            <p:ph type="sldNum" sz="quarter" idx="5"/>
          </p:nvPr>
        </p:nvSpPr>
        <p:spPr/>
        <p:txBody>
          <a:bodyPr/>
          <a:lstStyle/>
          <a:p>
            <a:fld id="{C3E9B8F7-F11D-7247-854D-760B01224C6A}" type="slidenum">
              <a:rPr kumimoji="1" lang="ja-JP" altLang="en-US" smtClean="0"/>
              <a:t>30</a:t>
            </a:fld>
            <a:endParaRPr kumimoji="1" lang="ja-JP" altLang="en-US"/>
          </a:p>
        </p:txBody>
      </p:sp>
    </p:spTree>
    <p:extLst>
      <p:ext uri="{BB962C8B-B14F-4D97-AF65-F5344CB8AC3E}">
        <p14:creationId xmlns:p14="http://schemas.microsoft.com/office/powerpoint/2010/main" val="35937497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4240-8CA6-86C3-8942-6EBC170CF5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753FEA-BE07-31C7-074A-E4B3F78112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B7DF9-F30E-6CBC-B622-6B25C6FA5D1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0B701767-6879-95AC-9312-13A76FCF7227}"/>
              </a:ext>
            </a:extLst>
          </p:cNvPr>
          <p:cNvSpPr>
            <a:spLocks noGrp="1"/>
          </p:cNvSpPr>
          <p:nvPr>
            <p:ph type="sldNum" sz="quarter" idx="5"/>
          </p:nvPr>
        </p:nvSpPr>
        <p:spPr/>
        <p:txBody>
          <a:bodyPr/>
          <a:lstStyle/>
          <a:p>
            <a:fld id="{C3E9B8F7-F11D-7247-854D-760B01224C6A}" type="slidenum">
              <a:rPr kumimoji="1" lang="ja-JP" altLang="en-US" smtClean="0"/>
              <a:t>31</a:t>
            </a:fld>
            <a:endParaRPr kumimoji="1" lang="ja-JP" altLang="en-US"/>
          </a:p>
        </p:txBody>
      </p:sp>
    </p:spTree>
    <p:extLst>
      <p:ext uri="{BB962C8B-B14F-4D97-AF65-F5344CB8AC3E}">
        <p14:creationId xmlns:p14="http://schemas.microsoft.com/office/powerpoint/2010/main" val="243874580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96A8D-14B0-C798-DA08-6D476153A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258D0-936E-8FF3-0D07-8AA5F529E82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94882F-46C0-8C0B-791A-4E63CE4458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9AE44012-F0A5-434F-1C13-C2109E402383}"/>
              </a:ext>
            </a:extLst>
          </p:cNvPr>
          <p:cNvSpPr>
            <a:spLocks noGrp="1"/>
          </p:cNvSpPr>
          <p:nvPr>
            <p:ph type="sldNum" sz="quarter" idx="5"/>
          </p:nvPr>
        </p:nvSpPr>
        <p:spPr/>
        <p:txBody>
          <a:bodyPr/>
          <a:lstStyle/>
          <a:p>
            <a:fld id="{C3E9B8F7-F11D-7247-854D-760B01224C6A}" type="slidenum">
              <a:rPr kumimoji="1" lang="ja-JP" altLang="en-US" smtClean="0"/>
              <a:t>32</a:t>
            </a:fld>
            <a:endParaRPr kumimoji="1" lang="ja-JP" altLang="en-US"/>
          </a:p>
        </p:txBody>
      </p:sp>
    </p:spTree>
    <p:extLst>
      <p:ext uri="{BB962C8B-B14F-4D97-AF65-F5344CB8AC3E}">
        <p14:creationId xmlns:p14="http://schemas.microsoft.com/office/powerpoint/2010/main" val="16120079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22DEF-6B2A-24BC-0DF9-E741C82934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93B81C-4F80-BACC-D0FC-005D522CF75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3E690B8-C38A-F85C-9E64-A9348D4F4D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ja-JP" dirty="0" err="1">
                <a:latin typeface="Yu Gothic UI" panose="020B0500000000000000" pitchFamily="50" charset="-128"/>
                <a:ea typeface="Yu Gothic UI" panose="020B0500000000000000" pitchFamily="50" charset="-128"/>
              </a:rPr>
              <a:t>SharePont</a:t>
            </a:r>
            <a:r>
              <a:rPr kumimoji="1" lang="ja-JP" altLang="en-US" dirty="0">
                <a:latin typeface="Yu Gothic UI" panose="020B0500000000000000" pitchFamily="50" charset="-128"/>
                <a:ea typeface="Yu Gothic UI" panose="020B0500000000000000" pitchFamily="50" charset="-128"/>
              </a:rPr>
              <a:t>の権限</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D82D4A-100C-02EA-90B2-0F17465E86DB}"/>
              </a:ext>
            </a:extLst>
          </p:cNvPr>
          <p:cNvSpPr>
            <a:spLocks noGrp="1"/>
          </p:cNvSpPr>
          <p:nvPr>
            <p:ph type="sldNum" sz="quarter" idx="5"/>
          </p:nvPr>
        </p:nvSpPr>
        <p:spPr/>
        <p:txBody>
          <a:bodyPr/>
          <a:lstStyle/>
          <a:p>
            <a:fld id="{C3E9B8F7-F11D-7247-854D-760B01224C6A}" type="slidenum">
              <a:rPr kumimoji="1" lang="ja-JP" altLang="en-US" smtClean="0"/>
              <a:t>33</a:t>
            </a:fld>
            <a:endParaRPr kumimoji="1" lang="ja-JP" altLang="en-US"/>
          </a:p>
        </p:txBody>
      </p:sp>
    </p:spTree>
    <p:extLst>
      <p:ext uri="{BB962C8B-B14F-4D97-AF65-F5344CB8AC3E}">
        <p14:creationId xmlns:p14="http://schemas.microsoft.com/office/powerpoint/2010/main" val="23478408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C2F0-DB98-8850-D7B8-2B10C5AF46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16B8738-439E-BF4B-C4EA-C26A30073F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D58C4D-63B9-0D5B-9AB1-58ECD0A9C0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FC7D84-3E58-37E1-553A-CB56DA191924}"/>
              </a:ext>
            </a:extLst>
          </p:cNvPr>
          <p:cNvSpPr>
            <a:spLocks noGrp="1"/>
          </p:cNvSpPr>
          <p:nvPr>
            <p:ph type="sldNum" sz="quarter" idx="5"/>
          </p:nvPr>
        </p:nvSpPr>
        <p:spPr/>
        <p:txBody>
          <a:bodyPr/>
          <a:lstStyle/>
          <a:p>
            <a:fld id="{C3E9B8F7-F11D-7247-854D-760B01224C6A}" type="slidenum">
              <a:rPr kumimoji="1" lang="ja-JP" altLang="en-US" smtClean="0"/>
              <a:t>34</a:t>
            </a:fld>
            <a:endParaRPr kumimoji="1" lang="ja-JP" altLang="en-US"/>
          </a:p>
        </p:txBody>
      </p:sp>
    </p:spTree>
    <p:extLst>
      <p:ext uri="{BB962C8B-B14F-4D97-AF65-F5344CB8AC3E}">
        <p14:creationId xmlns:p14="http://schemas.microsoft.com/office/powerpoint/2010/main" val="293688886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F1F27-8204-D00B-96CB-3B463C4138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F4DFF3-5113-931D-B4B6-D217D8728B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FE867B-3586-4F08-D552-314C77903D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A6B741F5-0052-7977-A1DD-DCC941A5891D}"/>
              </a:ext>
            </a:extLst>
          </p:cNvPr>
          <p:cNvSpPr>
            <a:spLocks noGrp="1"/>
          </p:cNvSpPr>
          <p:nvPr>
            <p:ph type="sldNum" sz="quarter" idx="5"/>
          </p:nvPr>
        </p:nvSpPr>
        <p:spPr/>
        <p:txBody>
          <a:bodyPr/>
          <a:lstStyle/>
          <a:p>
            <a:fld id="{C3E9B8F7-F11D-7247-854D-760B01224C6A}" type="slidenum">
              <a:rPr kumimoji="1" lang="ja-JP" altLang="en-US" smtClean="0"/>
              <a:t>35</a:t>
            </a:fld>
            <a:endParaRPr kumimoji="1" lang="ja-JP" altLang="en-US"/>
          </a:p>
        </p:txBody>
      </p:sp>
    </p:spTree>
    <p:extLst>
      <p:ext uri="{BB962C8B-B14F-4D97-AF65-F5344CB8AC3E}">
        <p14:creationId xmlns:p14="http://schemas.microsoft.com/office/powerpoint/2010/main" val="174872720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CDAE-8A20-B4A8-7F82-532E6504A86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B507A45-E7BE-7DDA-7653-3DFF9CA33F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E845254-1FEB-C636-55BC-D96F85A9E83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ECC65-C19B-790F-AF32-79453886436C}"/>
              </a:ext>
            </a:extLst>
          </p:cNvPr>
          <p:cNvSpPr>
            <a:spLocks noGrp="1"/>
          </p:cNvSpPr>
          <p:nvPr>
            <p:ph type="sldNum" sz="quarter" idx="5"/>
          </p:nvPr>
        </p:nvSpPr>
        <p:spPr/>
        <p:txBody>
          <a:bodyPr/>
          <a:lstStyle/>
          <a:p>
            <a:fld id="{C3E9B8F7-F11D-7247-854D-760B01224C6A}" type="slidenum">
              <a:rPr kumimoji="1" lang="ja-JP" altLang="en-US" smtClean="0"/>
              <a:t>36</a:t>
            </a:fld>
            <a:endParaRPr kumimoji="1" lang="ja-JP" altLang="en-US"/>
          </a:p>
        </p:txBody>
      </p:sp>
    </p:spTree>
    <p:extLst>
      <p:ext uri="{BB962C8B-B14F-4D97-AF65-F5344CB8AC3E}">
        <p14:creationId xmlns:p14="http://schemas.microsoft.com/office/powerpoint/2010/main" val="16056198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37</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10/2/2025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10/2/2025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10/2/2025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10/2/2025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10/2/2025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10/2/2025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10/2/2025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8.xml"/><Relationship Id="rId1" Type="http://schemas.openxmlformats.org/officeDocument/2006/relationships/slideLayout" Target="../slideLayouts/slideLayout81.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81.xml"/><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2" Type="http://schemas.openxmlformats.org/officeDocument/2006/relationships/notesSlide" Target="../notesSlides/notesSlide10.xml"/><Relationship Id="rId1" Type="http://schemas.openxmlformats.org/officeDocument/2006/relationships/slideLayout" Target="../slideLayouts/slideLayout8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learn.microsoft.com/ja-jp/graph/search-concept-overview"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12.xml"/><Relationship Id="rId1" Type="http://schemas.openxmlformats.org/officeDocument/2006/relationships/slideLayout" Target="../slideLayouts/slideLayout81.xml"/></Relationships>
</file>

<file path=ppt/slides/_rels/slide13.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3.xml"/><Relationship Id="rId1" Type="http://schemas.openxmlformats.org/officeDocument/2006/relationships/slideLayout" Target="../slideLayouts/slideLayout81.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7.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5.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_rels/slide2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7.xml"/><Relationship Id="rId1" Type="http://schemas.openxmlformats.org/officeDocument/2006/relationships/slideLayout" Target="../slideLayouts/slideLayout81.xml"/><Relationship Id="rId4" Type="http://schemas.openxmlformats.org/officeDocument/2006/relationships/image" Target="../media/image41.png"/></Relationships>
</file>

<file path=ppt/slides/_rels/slide30.xml.rels><?xml version="1.0" encoding="UTF-8" standalone="yes"?>
<Relationships xmlns="http://schemas.openxmlformats.org/package/2006/relationships"><Relationship Id="rId3" Type="http://schemas.openxmlformats.org/officeDocument/2006/relationships/hyperlink" Target="https://office.com/edit?url=%5Bfile_url%5D%EF%BC%89%E3%80%82" TargetMode="External"/><Relationship Id="rId2" Type="http://schemas.openxmlformats.org/officeDocument/2006/relationships/notesSlide" Target="../notesSlides/notesSlide28.xml"/><Relationship Id="rId1" Type="http://schemas.openxmlformats.org/officeDocument/2006/relationships/slideLayout" Target="../slideLayouts/slideLayout81.xml"/><Relationship Id="rId4" Type="http://schemas.openxmlformats.org/officeDocument/2006/relationships/hyperlink" Target="https://office.com/edit?url=%5bfile_url" TargetMode="External"/></Relationships>
</file>

<file path=ppt/slides/_rels/slide31.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8.png"/><Relationship Id="rId7"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81.xml"/><Relationship Id="rId6" Type="http://schemas.openxmlformats.org/officeDocument/2006/relationships/image" Target="../media/image35.png"/><Relationship Id="rId5" Type="http://schemas.openxmlformats.org/officeDocument/2006/relationships/image" Target="../media/image23.png"/><Relationship Id="rId4" Type="http://schemas.openxmlformats.org/officeDocument/2006/relationships/image" Target="../media/image19.jpe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81.xml"/></Relationships>
</file>

<file path=ppt/slides/_rels/slide3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1.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19.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81.xml"/></Relationships>
</file>

<file path=ppt/slides/_rels/slide3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81.xml"/></Relationships>
</file>

<file path=ppt/slides/_rels/slide3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5.xml"/><Relationship Id="rId1" Type="http://schemas.openxmlformats.org/officeDocument/2006/relationships/slideLayout" Target="../slideLayouts/slideLayout81.xml"/><Relationship Id="rId5" Type="http://schemas.openxmlformats.org/officeDocument/2006/relationships/image" Target="../media/image39.png"/><Relationship Id="rId4"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ストレージの選定</a:t>
            </a:r>
            <a:endParaRPr lang="en-US" altLang="ja-JP" sz="1600" dirty="0"/>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パフォーマンス、</a:t>
            </a:r>
            <a:r>
              <a:rPr lang="en-US" altLang="ja-JP" sz="1400" dirty="0"/>
              <a:t>HA</a:t>
            </a:r>
            <a:r>
              <a:rPr lang="ja-JP" altLang="en-US" sz="1400" dirty="0"/>
              <a:t>など</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プロジェクトリスク</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en-US" altLang="ja-JP" sz="1400" dirty="0"/>
              <a:t>POC</a:t>
            </a:r>
            <a:r>
              <a:rPr lang="ja-JP" altLang="en-US" sz="1400" dirty="0"/>
              <a:t>範囲</a:t>
            </a:r>
            <a:endParaRPr lang="en-US" altLang="ja-JP" sz="14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a:t>
            </a:r>
          </a:p>
        </p:txBody>
      </p:sp>
      <p:graphicFrame>
        <p:nvGraphicFramePr>
          <p:cNvPr id="5" name="表 4">
            <a:extLst>
              <a:ext uri="{FF2B5EF4-FFF2-40B4-BE49-F238E27FC236}">
                <a16:creationId xmlns:a16="http://schemas.microsoft.com/office/drawing/2014/main" id="{483A961F-1847-5E94-91D2-039256550354}"/>
              </a:ext>
            </a:extLst>
          </p:cNvPr>
          <p:cNvGraphicFramePr>
            <a:graphicFrameLocks noGrp="1"/>
          </p:cNvGraphicFramePr>
          <p:nvPr>
            <p:extLst>
              <p:ext uri="{D42A27DB-BD31-4B8C-83A1-F6EECF244321}">
                <p14:modId xmlns:p14="http://schemas.microsoft.com/office/powerpoint/2010/main" val="3678926588"/>
              </p:ext>
            </p:extLst>
          </p:nvPr>
        </p:nvGraphicFramePr>
        <p:xfrm>
          <a:off x="273718" y="1169725"/>
          <a:ext cx="11723914" cy="5276746"/>
        </p:xfrm>
        <a:graphic>
          <a:graphicData uri="http://schemas.openxmlformats.org/drawingml/2006/table">
            <a:tbl>
              <a:tblPr firstRow="1">
                <a:tableStyleId>{2D5ABB26-0587-4C30-8999-92F81FD0307C}</a:tableStyleId>
              </a:tblPr>
              <a:tblGrid>
                <a:gridCol w="978398">
                  <a:extLst>
                    <a:ext uri="{9D8B030D-6E8A-4147-A177-3AD203B41FA5}">
                      <a16:colId xmlns:a16="http://schemas.microsoft.com/office/drawing/2014/main" val="20000"/>
                    </a:ext>
                  </a:extLst>
                </a:gridCol>
                <a:gridCol w="1956854">
                  <a:extLst>
                    <a:ext uri="{9D8B030D-6E8A-4147-A177-3AD203B41FA5}">
                      <a16:colId xmlns:a16="http://schemas.microsoft.com/office/drawing/2014/main" val="20001"/>
                    </a:ext>
                  </a:extLst>
                </a:gridCol>
                <a:gridCol w="2183547">
                  <a:extLst>
                    <a:ext uri="{9D8B030D-6E8A-4147-A177-3AD203B41FA5}">
                      <a16:colId xmlns:a16="http://schemas.microsoft.com/office/drawing/2014/main" val="2142441908"/>
                    </a:ext>
                  </a:extLst>
                </a:gridCol>
                <a:gridCol w="1912169">
                  <a:extLst>
                    <a:ext uri="{9D8B030D-6E8A-4147-A177-3AD203B41FA5}">
                      <a16:colId xmlns:a16="http://schemas.microsoft.com/office/drawing/2014/main" val="20002"/>
                    </a:ext>
                  </a:extLst>
                </a:gridCol>
                <a:gridCol w="2312974">
                  <a:extLst>
                    <a:ext uri="{9D8B030D-6E8A-4147-A177-3AD203B41FA5}">
                      <a16:colId xmlns:a16="http://schemas.microsoft.com/office/drawing/2014/main" val="20003"/>
                    </a:ext>
                  </a:extLst>
                </a:gridCol>
                <a:gridCol w="2379972">
                  <a:extLst>
                    <a:ext uri="{9D8B030D-6E8A-4147-A177-3AD203B41FA5}">
                      <a16:colId xmlns:a16="http://schemas.microsoft.com/office/drawing/2014/main" val="20004"/>
                    </a:ext>
                  </a:extLst>
                </a:gridCol>
              </a:tblGrid>
              <a:tr h="254663">
                <a:tc>
                  <a:txBody>
                    <a:bodyPr/>
                    <a:lstStyle/>
                    <a:p>
                      <a:r>
                        <a:rPr lang="ja-JP" altLang="en-US" sz="8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SQL Server 2022</a:t>
                      </a:r>
                      <a:r>
                        <a:rPr lang="en-US" altLang="ja-JP" sz="800" dirty="0">
                          <a:effectLst/>
                        </a:rPr>
                        <a:t>(</a:t>
                      </a:r>
                      <a:r>
                        <a:rPr lang="ja-JP" altLang="en-US" sz="800" dirty="0">
                          <a:effectLst/>
                        </a:rPr>
                        <a:t>オンプレミス</a:t>
                      </a:r>
                      <a:r>
                        <a:rPr lang="en-US" altLang="ja-JP" sz="800" dirty="0">
                          <a:effectLst/>
                        </a:rPr>
                        <a:t>DB</a:t>
                      </a:r>
                      <a:r>
                        <a:rPr lang="en-US" sz="8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800" dirty="0">
                          <a:effectLst/>
                        </a:rPr>
                        <a:t>Azure SQL Database (</a:t>
                      </a:r>
                      <a:r>
                        <a:rPr lang="ja-JP" altLang="en-US" sz="800" kern="1200" dirty="0">
                          <a:solidFill>
                            <a:schemeClr val="tx1"/>
                          </a:solidFill>
                          <a:effectLst/>
                          <a:latin typeface="+mn-lt"/>
                          <a:ea typeface="+mn-ea"/>
                          <a:cs typeface="+mn-cs"/>
                        </a:rPr>
                        <a:t>クラウド</a:t>
                      </a:r>
                      <a:r>
                        <a:rPr lang="de-DE" altLang="ja-JP" sz="800" kern="1200" dirty="0">
                          <a:solidFill>
                            <a:schemeClr val="tx1"/>
                          </a:solidFill>
                          <a:effectLst/>
                          <a:latin typeface="+mn-lt"/>
                          <a:ea typeface="+mn-ea"/>
                          <a:cs typeface="+mn-cs"/>
                        </a:rPr>
                        <a:t>PaaS)</a:t>
                      </a:r>
                      <a:r>
                        <a:rPr lang="en-US" altLang="ja-JP" sz="800"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定型データ保存に推奨</a:t>
                      </a:r>
                      <a:endParaRPr lang="de-DE" altLang="ja-JP" sz="8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b="1" dirty="0"/>
                        <a:t>SharePoint Online</a:t>
                      </a:r>
                      <a:r>
                        <a:rPr lang="en-US" altLang="ja-JP" sz="800" kern="1200" dirty="0">
                          <a:solidFill>
                            <a:schemeClr val="tx1"/>
                          </a:solidFill>
                          <a:effectLst/>
                          <a:latin typeface="+mn-lt"/>
                          <a:ea typeface="+mn-ea"/>
                          <a:cs typeface="+mn-cs"/>
                        </a:rPr>
                        <a:t>-</a:t>
                      </a:r>
                      <a:r>
                        <a:rPr lang="ja-JP" altLang="en-US" sz="800" b="1" dirty="0">
                          <a:solidFill>
                            <a:srgbClr val="00B050"/>
                          </a:solidFill>
                        </a:rPr>
                        <a:t>ファイル保存に</a:t>
                      </a:r>
                      <a:r>
                        <a:rPr kumimoji="1" lang="ja-JP" altLang="en-US" sz="800" b="1" dirty="0">
                          <a:solidFill>
                            <a:srgbClr val="00B050"/>
                          </a:solidFill>
                        </a:rPr>
                        <a:t>推奨</a:t>
                      </a:r>
                      <a:endParaRPr lang="de-DE" sz="8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254663">
                <a:tc>
                  <a:txBody>
                    <a:bodyPr/>
                    <a:lstStyle/>
                    <a:p>
                      <a:r>
                        <a:rPr lang="ja-JP" altLang="en-US" sz="800" b="1" dirty="0"/>
                        <a:t>ファイル保存データ型</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ファイル </a:t>
                      </a:r>
                      <a:r>
                        <a:rPr lang="en-US" altLang="ja-JP" sz="700" dirty="0"/>
                        <a:t>(File) </a:t>
                      </a:r>
                      <a:r>
                        <a:rPr lang="ja-JP" altLang="en-US" sz="700" dirty="0"/>
                        <a:t>データ型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bytea</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バイナリ </a:t>
                      </a:r>
                      <a:r>
                        <a:rPr lang="en-US" altLang="ja-JP" sz="700" dirty="0"/>
                        <a:t>(Binary) </a:t>
                      </a:r>
                      <a:r>
                        <a:rPr lang="ja-JP" altLang="en-US" sz="700" dirty="0"/>
                        <a:t>またはドキュメントライブラリのファイル</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1"/>
                  </a:ext>
                </a:extLst>
              </a:tr>
              <a:tr h="226114">
                <a:tc>
                  <a:txBody>
                    <a:bodyPr/>
                    <a:lstStyle/>
                    <a:p>
                      <a:r>
                        <a:rPr lang="ja-JP" altLang="en-US" sz="800" b="1" dirty="0"/>
                        <a:t>最大サイズ</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300MB (</a:t>
                      </a:r>
                      <a:r>
                        <a:rPr lang="ja-JP" altLang="en-US" sz="700" dirty="0">
                          <a:solidFill>
                            <a:srgbClr val="00B050"/>
                          </a:solidFill>
                        </a:rPr>
                        <a:t>レコードあたり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a:t>
                      </a:r>
                      <a:r>
                        <a:rPr lang="en-US" altLang="ja-JP" sz="700" dirty="0">
                          <a:solidFill>
                            <a:srgbClr val="00B050"/>
                          </a:solidFill>
                        </a:rPr>
                        <a:t>/</a:t>
                      </a:r>
                      <a:r>
                        <a:rPr lang="ja-JP" altLang="en-US" sz="700" dirty="0">
                          <a:solidFill>
                            <a:srgbClr val="00B050"/>
                          </a:solidFill>
                        </a:rPr>
                        <a:t>サーバー設定に依存 </a:t>
                      </a:r>
                      <a:r>
                        <a:rPr lang="en-US" altLang="ja-JP" sz="700" dirty="0">
                          <a:solidFill>
                            <a:srgbClr val="00B050"/>
                          </a:solidFill>
                        </a:rPr>
                        <a:t>(</a:t>
                      </a:r>
                      <a:r>
                        <a:rPr lang="ja-JP" altLang="en-US" sz="700" dirty="0">
                          <a:solidFill>
                            <a:srgbClr val="00B050"/>
                          </a:solidFill>
                        </a:rPr>
                        <a:t>一般的に大きい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15GB (</a:t>
                      </a:r>
                      <a:r>
                        <a:rPr lang="ja-JP" altLang="en-US" sz="700" dirty="0">
                          <a:solidFill>
                            <a:srgbClr val="00B050"/>
                          </a:solidFill>
                        </a:rPr>
                        <a:t>ファイルあたり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334730">
                <a:tc>
                  <a:txBody>
                    <a:bodyPr/>
                    <a:lstStyle/>
                    <a:p>
                      <a:r>
                        <a:rPr lang="ja-JP" altLang="en-US" sz="800" b="1"/>
                        <a:t>ネイティブ全文検索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altLang="ja-JP" sz="700" dirty="0">
                          <a:solidFill>
                            <a:srgbClr val="00B050"/>
                          </a:solidFill>
                        </a:rPr>
                        <a:t>Full-Text Search</a:t>
                      </a:r>
                      <a:r>
                        <a:rPr lang="ja-JP" altLang="en-US" sz="700" dirty="0">
                          <a:solidFill>
                            <a:srgbClr val="00B050"/>
                          </a:solidFill>
                        </a:rPr>
                        <a:t>機能</a:t>
                      </a:r>
                      <a:r>
                        <a:rPr lang="en-US" altLang="ja-JP" sz="7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SQL Server 2022</a:t>
                      </a:r>
                      <a:r>
                        <a:rPr lang="ja-JP" altLang="en-US" sz="700" dirty="0">
                          <a:solidFill>
                            <a:srgbClr val="00B050"/>
                          </a:solidFill>
                          <a:effectLst/>
                        </a:rPr>
                        <a:t>はサードパーティ</a:t>
                      </a:r>
                      <a:r>
                        <a:rPr lang="en-US" altLang="ja-JP" sz="700" dirty="0" err="1">
                          <a:solidFill>
                            <a:srgbClr val="00B050"/>
                          </a:solidFill>
                          <a:effectLst/>
                        </a:rPr>
                        <a:t>IFilter</a:t>
                      </a:r>
                      <a:r>
                        <a:rPr lang="ja-JP" altLang="en-US" sz="700" dirty="0">
                          <a:solidFill>
                            <a:srgbClr val="00B050"/>
                          </a:solidFill>
                          <a:effectLst/>
                        </a:rPr>
                        <a:t>やカスタム拡張で柔軟性が高く、大規模</a:t>
                      </a:r>
                      <a:r>
                        <a:rPr lang="en-US" altLang="ja-JP" sz="700" dirty="0">
                          <a:solidFill>
                            <a:srgbClr val="00B050"/>
                          </a:solidFill>
                          <a:effectLst/>
                        </a:rPr>
                        <a:t>/</a:t>
                      </a:r>
                      <a:r>
                        <a:rPr lang="ja-JP" altLang="en-US" sz="700" dirty="0">
                          <a:solidFill>
                            <a:srgbClr val="00B050"/>
                          </a:solidFill>
                          <a:effectLst/>
                        </a:rPr>
                        <a:t>複雑な検索に適。</a:t>
                      </a:r>
                      <a:r>
                        <a:rPr lang="en-US" altLang="ja-JP" sz="700" dirty="0">
                          <a:solidFill>
                            <a:srgbClr val="C00000"/>
                          </a:solidFill>
                          <a:effectLst/>
                        </a:rPr>
                        <a:t>Azure SQL</a:t>
                      </a:r>
                      <a:r>
                        <a:rPr lang="ja-JP" altLang="en-US" sz="700" dirty="0">
                          <a:solidFill>
                            <a:srgbClr val="C00000"/>
                          </a:solidFill>
                          <a:effectLst/>
                        </a:rPr>
                        <a:t>は基本に十分だが、カスタマイズ性に欠ける。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kern="1200" dirty="0">
                          <a:solidFill>
                            <a:srgbClr val="00B050"/>
                          </a:solidFill>
                          <a:latin typeface="+mn-lt"/>
                          <a:ea typeface="+mn-ea"/>
                          <a:cs typeface="+mn-cs"/>
                        </a:rPr>
                        <a:t>はい</a:t>
                      </a:r>
                      <a:r>
                        <a:rPr lang="ja-JP" altLang="en-US" sz="700" kern="1200" dirty="0">
                          <a:solidFill>
                            <a:schemeClr val="tx1"/>
                          </a:solidFill>
                          <a:latin typeface="+mn-lt"/>
                          <a:ea typeface="+mn-ea"/>
                          <a:cs typeface="+mn-cs"/>
                        </a:rPr>
                        <a:t> </a:t>
                      </a:r>
                      <a:r>
                        <a:rPr lang="en-US" altLang="ja-JP" sz="700" kern="1200" dirty="0">
                          <a:solidFill>
                            <a:schemeClr val="tx1"/>
                          </a:solidFill>
                          <a:latin typeface="+mn-lt"/>
                          <a:ea typeface="+mn-ea"/>
                          <a:cs typeface="+mn-cs"/>
                        </a:rPr>
                        <a:t>(</a:t>
                      </a:r>
                      <a:r>
                        <a:rPr lang="en-US" altLang="ja-JP" sz="700" kern="1200" dirty="0" err="1">
                          <a:solidFill>
                            <a:schemeClr val="tx1"/>
                          </a:solidFill>
                          <a:latin typeface="+mn-lt"/>
                          <a:ea typeface="+mn-ea"/>
                          <a:cs typeface="+mn-cs"/>
                        </a:rPr>
                        <a:t>pg_trgm</a:t>
                      </a:r>
                      <a:r>
                        <a:rPr lang="en-US" altLang="ja-JP" sz="700" kern="1200" dirty="0">
                          <a:solidFill>
                            <a:schemeClr val="tx1"/>
                          </a:solidFill>
                          <a:latin typeface="+mn-lt"/>
                          <a:ea typeface="+mn-ea"/>
                          <a:cs typeface="+mn-cs"/>
                        </a:rPr>
                        <a:t> </a:t>
                      </a:r>
                      <a:r>
                        <a:rPr lang="ja-JP" altLang="en-US" sz="700" kern="1200" dirty="0">
                          <a:solidFill>
                            <a:schemeClr val="tx1"/>
                          </a:solidFill>
                          <a:latin typeface="+mn-lt"/>
                          <a:ea typeface="+mn-ea"/>
                          <a:cs typeface="+mn-cs"/>
                        </a:rPr>
                        <a:t>拡張など</a:t>
                      </a:r>
                      <a:r>
                        <a:rPr lang="en-US" altLang="ja-JP" sz="7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326036">
                <a:tc>
                  <a:txBody>
                    <a:bodyPr/>
                    <a:lstStyle/>
                    <a:p>
                      <a:r>
                        <a:rPr lang="ja-JP" altLang="en-US" sz="800" b="1" dirty="0"/>
                        <a:t>テキスト抽出機能</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SQL Server </a:t>
                      </a:r>
                      <a:r>
                        <a:rPr lang="ja-JP" altLang="en-US" sz="700" dirty="0">
                          <a:solidFill>
                            <a:srgbClr val="C00000"/>
                          </a:solidFill>
                        </a:rPr>
                        <a:t>の機能に依存</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Azure SQL</a:t>
                      </a:r>
                      <a:r>
                        <a:rPr lang="ja-JP" altLang="en-US" sz="700" dirty="0">
                          <a:solidFill>
                            <a:srgbClr val="00B050"/>
                          </a:solidFill>
                          <a:effectLst/>
                        </a:rPr>
                        <a:t>はクラウド</a:t>
                      </a:r>
                      <a:r>
                        <a:rPr lang="en-US" altLang="ja-JP" sz="700" dirty="0">
                          <a:solidFill>
                            <a:srgbClr val="00B050"/>
                          </a:solidFill>
                          <a:effectLst/>
                        </a:rPr>
                        <a:t>AI</a:t>
                      </a:r>
                      <a:r>
                        <a:rPr lang="ja-JP" altLang="en-US" sz="700" dirty="0">
                          <a:solidFill>
                            <a:srgbClr val="00B050"/>
                          </a:solidFill>
                          <a:effectLst/>
                        </a:rPr>
                        <a:t>連携で高度な抽出（例</a:t>
                      </a:r>
                      <a:r>
                        <a:rPr lang="en-US" altLang="ja-JP" sz="700" dirty="0">
                          <a:solidFill>
                            <a:srgbClr val="00B050"/>
                          </a:solidFill>
                          <a:effectLst/>
                        </a:rPr>
                        <a:t>: </a:t>
                      </a:r>
                      <a:r>
                        <a:rPr lang="ja-JP" altLang="en-US" sz="700" dirty="0">
                          <a:solidFill>
                            <a:srgbClr val="00B050"/>
                          </a:solidFill>
                          <a:effectLst/>
                        </a:rPr>
                        <a:t>自然言語処理）が可能だ</a:t>
                      </a:r>
                      <a:r>
                        <a:rPr lang="ja-JP" altLang="en-US" sz="700" dirty="0">
                          <a:effectLst/>
                        </a:rPr>
                        <a:t>が、</a:t>
                      </a:r>
                      <a:r>
                        <a:rPr lang="ja-JP" altLang="en-US" sz="7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Dataverse Search </a:t>
                      </a:r>
                      <a:r>
                        <a:rPr lang="ja-JP" altLang="en-US" sz="700" dirty="0">
                          <a:solidFill>
                            <a:srgbClr val="C00000"/>
                          </a:solidFill>
                        </a:rPr>
                        <a:t>が内部で行う</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の検索機能が自動で行う</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326036">
                <a:tc>
                  <a:txBody>
                    <a:bodyPr/>
                    <a:lstStyle/>
                    <a:p>
                      <a:r>
                        <a:rPr lang="ja-JP" altLang="en-US" sz="800" b="1" dirty="0"/>
                        <a:t>非テキスト検索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kern="1200" dirty="0">
                          <a:solidFill>
                            <a:srgbClr val="C00000"/>
                          </a:solidFill>
                        </a:rPr>
                        <a:t>限定的 </a:t>
                      </a:r>
                      <a:r>
                        <a:rPr lang="en-US" altLang="ja-JP" sz="700" kern="1200" dirty="0">
                          <a:solidFill>
                            <a:srgbClr val="C00000"/>
                          </a:solidFill>
                        </a:rPr>
                        <a:t>(</a:t>
                      </a:r>
                      <a:r>
                        <a:rPr lang="ja-JP" altLang="en-US" sz="700" kern="1200" dirty="0">
                          <a:solidFill>
                            <a:srgbClr val="C00000"/>
                          </a:solidFill>
                        </a:rPr>
                        <a:t>インデックスやクエリによる</a:t>
                      </a:r>
                      <a:r>
                        <a:rPr lang="en-US" altLang="ja-JP" sz="700" kern="1200" dirty="0">
                          <a:solidFill>
                            <a:srgbClr val="C00000"/>
                          </a:solidFill>
                        </a:rPr>
                        <a:t>)</a:t>
                      </a:r>
                      <a:r>
                        <a:rPr lang="ja-JP" altLang="en-US" sz="700" kern="1200" dirty="0">
                          <a:solidFill>
                            <a:srgbClr val="C00000"/>
                          </a:solidFill>
                        </a:rPr>
                        <a:t>　ネイティブでは画像</a:t>
                      </a:r>
                      <a:r>
                        <a:rPr lang="en-US" altLang="ja-JP" sz="700" kern="1200" dirty="0">
                          <a:solidFill>
                            <a:srgbClr val="C00000"/>
                          </a:solidFill>
                        </a:rPr>
                        <a:t>/</a:t>
                      </a:r>
                      <a:r>
                        <a:rPr lang="ja-JP" altLang="en-US" sz="700" kern="1200" dirty="0">
                          <a:solidFill>
                            <a:srgbClr val="C00000"/>
                          </a:solidFill>
                        </a:rPr>
                        <a:t>動画内容の認識非対応。カスタム開発に依存。</a:t>
                      </a:r>
                      <a:endParaRPr lang="ja-JP" altLang="en-US" sz="7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C00000"/>
                          </a:solidFill>
                          <a:effectLst/>
                        </a:rPr>
                        <a:t>Azure SQL</a:t>
                      </a:r>
                      <a:r>
                        <a:rPr lang="ja-JP" altLang="en-US" sz="700" dirty="0">
                          <a:solidFill>
                            <a:srgbClr val="C00000"/>
                          </a:solidFill>
                          <a:effectLst/>
                        </a:rPr>
                        <a:t>は</a:t>
                      </a:r>
                      <a:r>
                        <a:rPr lang="en-US" altLang="ja-JP" sz="700" dirty="0">
                          <a:solidFill>
                            <a:srgbClr val="C00000"/>
                          </a:solidFill>
                          <a:effectLst/>
                        </a:rPr>
                        <a:t>AI Search</a:t>
                      </a:r>
                      <a:r>
                        <a:rPr lang="ja-JP" altLang="en-US" sz="700" dirty="0">
                          <a:solidFill>
                            <a:srgbClr val="C00000"/>
                          </a:solidFill>
                          <a:effectLst/>
                        </a:rPr>
                        <a:t>連携で高度な非テキスト検索（例</a:t>
                      </a:r>
                      <a:r>
                        <a:rPr lang="en-US" altLang="ja-JP" sz="700" dirty="0">
                          <a:solidFill>
                            <a:srgbClr val="C00000"/>
                          </a:solidFill>
                          <a:effectLst/>
                        </a:rPr>
                        <a:t>: </a:t>
                      </a:r>
                      <a:r>
                        <a:rPr lang="ja-JP" altLang="en-US" sz="700" dirty="0">
                          <a:solidFill>
                            <a:srgbClr val="C00000"/>
                          </a:solidFill>
                          <a:effectLst/>
                        </a:rPr>
                        <a:t>画像認識）が容易だが、コスト</a:t>
                      </a:r>
                      <a:r>
                        <a:rPr lang="en-US" altLang="ja-JP" sz="700" dirty="0">
                          <a:solidFill>
                            <a:srgbClr val="C00000"/>
                          </a:solidFill>
                          <a:effectLst/>
                        </a:rPr>
                        <a:t>/</a:t>
                      </a:r>
                      <a:r>
                        <a:rPr lang="ja-JP" altLang="en-US" sz="7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メタデータ検索が中心</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メタデータ検索、ファイルプロパティ検索</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326036">
                <a:tc>
                  <a:txBody>
                    <a:bodyPr/>
                    <a:lstStyle/>
                    <a:p>
                      <a:r>
                        <a:rPr lang="de-DE" sz="800" b="1" dirty="0"/>
                        <a:t>Power Apps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直接接続（</a:t>
                      </a:r>
                      <a:r>
                        <a:rPr lang="en-US" altLang="ja-JP" sz="700" dirty="0">
                          <a:solidFill>
                            <a:srgbClr val="00B050"/>
                          </a:solidFill>
                          <a:effectLst/>
                        </a:rPr>
                        <a:t>Gateway</a:t>
                      </a:r>
                      <a:r>
                        <a:rPr lang="ja-JP" altLang="en-US" sz="700" dirty="0">
                          <a:solidFill>
                            <a:srgbClr val="00B050"/>
                          </a:solidFill>
                          <a:effectLst/>
                        </a:rPr>
                        <a:t>不要）。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ファイル添付</a:t>
                      </a:r>
                      <a:r>
                        <a:rPr lang="en-US" altLang="ja-JP" sz="700" dirty="0">
                          <a:solidFill>
                            <a:srgbClr val="00B050"/>
                          </a:solidFill>
                          <a:effectLst/>
                        </a:rPr>
                        <a:t>: </a:t>
                      </a:r>
                      <a:r>
                        <a:rPr lang="ja-JP" altLang="en-US" sz="700" dirty="0">
                          <a:solidFill>
                            <a:srgbClr val="00B050"/>
                          </a:solidFill>
                          <a:effectLst/>
                        </a:rPr>
                        <a:t>ネイティブサポート、</a:t>
                      </a:r>
                      <a:r>
                        <a:rPr lang="en-US" altLang="ja-JP" sz="700" dirty="0">
                          <a:solidFill>
                            <a:srgbClr val="00B050"/>
                          </a:solidFill>
                          <a:effectLst/>
                        </a:rPr>
                        <a:t>Blob</a:t>
                      </a:r>
                      <a:r>
                        <a:rPr lang="ja-JP" altLang="en-US" sz="7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326036">
                <a:tc>
                  <a:txBody>
                    <a:bodyPr/>
                    <a:lstStyle/>
                    <a:p>
                      <a:r>
                        <a:rPr lang="de-DE" sz="800" b="1" dirty="0"/>
                        <a:t>Power Automate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SQL</a:t>
                      </a:r>
                      <a:r>
                        <a:rPr lang="ja-JP" altLang="en-US" sz="700" dirty="0">
                          <a:solidFill>
                            <a:srgbClr val="00B050"/>
                          </a:solidFill>
                          <a:effectLst/>
                        </a:rPr>
                        <a:t>コネクタ直接使用。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ファイルハンドリング</a:t>
                      </a:r>
                      <a:r>
                        <a:rPr lang="en-US" altLang="ja-JP" sz="700" dirty="0">
                          <a:solidFill>
                            <a:srgbClr val="00B050"/>
                          </a:solidFill>
                          <a:effectLst/>
                        </a:rPr>
                        <a:t>: Blob</a:t>
                      </a:r>
                      <a:r>
                        <a:rPr lang="ja-JP" altLang="en-US" sz="7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34730">
                <a:tc>
                  <a:txBody>
                    <a:bodyPr/>
                    <a:lstStyle/>
                    <a:p>
                      <a:r>
                        <a:rPr lang="ja-JP" altLang="en-US" sz="800" b="1" dirty="0"/>
                        <a:t>必要なライセンス</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kern="1200" dirty="0">
                          <a:solidFill>
                            <a:srgbClr val="00B050"/>
                          </a:solidFill>
                          <a:effectLst/>
                        </a:rPr>
                        <a:t>SQL Server Enterprise/Standard (Full-Text Search </a:t>
                      </a:r>
                      <a:r>
                        <a:rPr lang="ja-JP" altLang="en-US" sz="700" kern="1200" dirty="0">
                          <a:solidFill>
                            <a:srgbClr val="00B050"/>
                          </a:solidFill>
                          <a:effectLst/>
                        </a:rPr>
                        <a:t>は追加費用なし</a:t>
                      </a:r>
                      <a:r>
                        <a:rPr lang="en-US" altLang="ja-JP" sz="700" kern="1200" dirty="0">
                          <a:solidFill>
                            <a:srgbClr val="00B050"/>
                          </a:solidFill>
                          <a:effectLst/>
                        </a:rPr>
                        <a:t>)</a:t>
                      </a:r>
                      <a:endParaRPr lang="en-US" altLang="ja-JP"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従量課金</a:t>
                      </a:r>
                      <a:r>
                        <a:rPr lang="en-US" altLang="ja-JP" sz="700" kern="1200" dirty="0">
                          <a:solidFill>
                            <a:schemeClr val="tx1"/>
                          </a:solidFill>
                          <a:effectLst/>
                        </a:rPr>
                        <a:t>: Basic $5/</a:t>
                      </a:r>
                      <a:r>
                        <a:rPr lang="ja-JP" altLang="en-US" sz="700" kern="1200" dirty="0">
                          <a:solidFill>
                            <a:schemeClr val="tx1"/>
                          </a:solidFill>
                          <a:effectLst/>
                        </a:rPr>
                        <a:t>月</a:t>
                      </a:r>
                      <a:r>
                        <a:rPr lang="en-US" altLang="ja-JP" sz="700" kern="1200" dirty="0">
                          <a:solidFill>
                            <a:schemeClr val="tx1"/>
                          </a:solidFill>
                          <a:effectLst/>
                        </a:rPr>
                        <a:t>〜</a:t>
                      </a:r>
                      <a:r>
                        <a:rPr lang="ja-JP" altLang="en-US" sz="700" kern="1200" dirty="0">
                          <a:solidFill>
                            <a:schemeClr val="tx1"/>
                          </a:solidFill>
                          <a:effectLst/>
                        </a:rPr>
                        <a:t>、</a:t>
                      </a:r>
                      <a:r>
                        <a:rPr lang="en-US" altLang="ja-JP" sz="700" kern="1200" dirty="0" err="1">
                          <a:solidFill>
                            <a:schemeClr val="tx1"/>
                          </a:solidFill>
                          <a:effectLst/>
                        </a:rPr>
                        <a:t>vCore</a:t>
                      </a:r>
                      <a:r>
                        <a:rPr lang="en-US" altLang="ja-JP" sz="700" kern="1200" dirty="0">
                          <a:solidFill>
                            <a:schemeClr val="tx1"/>
                          </a:solidFill>
                          <a:effectLst/>
                        </a:rPr>
                        <a:t> $0.5/</a:t>
                      </a:r>
                      <a:r>
                        <a:rPr lang="ja-JP" altLang="en-US" sz="700" kern="1200" dirty="0">
                          <a:solidFill>
                            <a:schemeClr val="tx1"/>
                          </a:solidFill>
                          <a:effectLst/>
                        </a:rPr>
                        <a:t>時間</a:t>
                      </a:r>
                      <a:r>
                        <a:rPr lang="en-US" altLang="ja-JP" sz="700" kern="1200" dirty="0">
                          <a:solidFill>
                            <a:schemeClr val="tx1"/>
                          </a:solidFill>
                          <a:effectLst/>
                        </a:rPr>
                        <a:t>〜</a:t>
                      </a:r>
                      <a:r>
                        <a:rPr lang="ja-JP" altLang="en-US" sz="700" kern="1200" dirty="0">
                          <a:solidFill>
                            <a:schemeClr val="tx1"/>
                          </a:solidFill>
                          <a:effectLst/>
                        </a:rPr>
                        <a:t>（ストレージ</a:t>
                      </a:r>
                      <a:r>
                        <a:rPr lang="en-US" altLang="ja-JP" sz="700" kern="1200" dirty="0">
                          <a:solidFill>
                            <a:schemeClr val="tx1"/>
                          </a:solidFill>
                          <a:effectLst/>
                        </a:rPr>
                        <a:t>$0.10/GB/</a:t>
                      </a:r>
                      <a:r>
                        <a:rPr lang="ja-JP" altLang="en-US" sz="700" kern="1200" dirty="0">
                          <a:solidFill>
                            <a:schemeClr val="tx1"/>
                          </a:solidFill>
                          <a:effectLst/>
                        </a:rPr>
                        <a:t>月）。 </a:t>
                      </a:r>
                      <a:endParaRPr lang="en-US" altLang="ja-JP" sz="700" kern="1200" dirty="0">
                        <a:solidFill>
                          <a:schemeClr val="tx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ファイル</a:t>
                      </a:r>
                      <a:r>
                        <a:rPr lang="en-US" altLang="ja-JP" sz="700" kern="1200" dirty="0">
                          <a:solidFill>
                            <a:schemeClr val="tx1"/>
                          </a:solidFill>
                          <a:effectLst/>
                        </a:rPr>
                        <a:t>: </a:t>
                      </a:r>
                      <a:r>
                        <a:rPr lang="ja-JP" altLang="en-US" sz="700" kern="1200" dirty="0">
                          <a:solidFill>
                            <a:schemeClr val="tx1"/>
                          </a:solidFill>
                          <a:effectLst/>
                        </a:rPr>
                        <a:t>標準料金内、</a:t>
                      </a:r>
                      <a:r>
                        <a:rPr lang="en-US" altLang="ja-JP" sz="700" kern="1200" dirty="0">
                          <a:solidFill>
                            <a:schemeClr val="tx1"/>
                          </a:solidFill>
                          <a:effectLst/>
                        </a:rPr>
                        <a:t>Blob</a:t>
                      </a:r>
                      <a:r>
                        <a:rPr lang="ja-JP" altLang="en-US" sz="700" kern="1200" dirty="0">
                          <a:solidFill>
                            <a:schemeClr val="tx1"/>
                          </a:solidFill>
                          <a:effectLst/>
                        </a:rPr>
                        <a:t>追加で</a:t>
                      </a:r>
                      <a:r>
                        <a:rPr lang="en-US" altLang="ja-JP" sz="700" kern="1200" dirty="0">
                          <a:solidFill>
                            <a:schemeClr val="tx1"/>
                          </a:solidFill>
                          <a:effectLst/>
                        </a:rPr>
                        <a:t>$0.02/GB/</a:t>
                      </a:r>
                      <a:r>
                        <a:rPr lang="ja-JP" altLang="en-US" sz="700" kern="1200" dirty="0">
                          <a:solidFill>
                            <a:schemeClr val="tx1"/>
                          </a:solidFill>
                          <a:effectLst/>
                        </a:rPr>
                        <a:t>月。</a:t>
                      </a:r>
                      <a:endParaRPr lang="en-US" altLang="ja-JP" sz="7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Microsoft Dataverse </a:t>
                      </a:r>
                      <a:r>
                        <a:rPr lang="ja-JP" altLang="en-US" sz="700" dirty="0">
                          <a:solidFill>
                            <a:srgbClr val="00B050"/>
                          </a:solidFill>
                        </a:rPr>
                        <a:t>ライセンス </a:t>
                      </a:r>
                      <a:r>
                        <a:rPr lang="en-US" altLang="ja-JP" sz="700" dirty="0">
                          <a:solidFill>
                            <a:srgbClr val="00B050"/>
                          </a:solidFill>
                        </a:rPr>
                        <a:t>(Dynamics 365 </a:t>
                      </a:r>
                      <a:r>
                        <a:rPr lang="ja-JP" altLang="en-US" sz="700" dirty="0">
                          <a:solidFill>
                            <a:srgbClr val="00B050"/>
                          </a:solidFill>
                        </a:rPr>
                        <a:t>または </a:t>
                      </a:r>
                      <a:r>
                        <a:rPr lang="en-US" altLang="ja-JP" sz="700" dirty="0">
                          <a:solidFill>
                            <a:srgbClr val="00B050"/>
                          </a:solidFill>
                        </a:rPr>
                        <a:t>Power Apps Premium </a:t>
                      </a:r>
                      <a:r>
                        <a:rPr lang="ja-JP" altLang="en-US" sz="700" dirty="0">
                          <a:solidFill>
                            <a:srgbClr val="00B050"/>
                          </a:solidFill>
                        </a:rPr>
                        <a:t>ライセンスに含まれる場合あり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kern="1200" dirty="0">
                          <a:solidFill>
                            <a:schemeClr val="tx1"/>
                          </a:solidFill>
                          <a:latin typeface="+mn-lt"/>
                          <a:ea typeface="+mn-ea"/>
                          <a:cs typeface="+mn-cs"/>
                        </a:rPr>
                        <a:t>PostgreSQL </a:t>
                      </a:r>
                      <a:r>
                        <a:rPr lang="ja-JP" altLang="en-US" sz="7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solidFill>
                            <a:srgbClr val="00B050"/>
                          </a:solidFill>
                        </a:rPr>
                        <a:t>Microsoft 365 </a:t>
                      </a:r>
                      <a:r>
                        <a:rPr lang="ja-JP" altLang="en-US" sz="700" dirty="0">
                          <a:solidFill>
                            <a:srgbClr val="00B050"/>
                          </a:solidFill>
                        </a:rPr>
                        <a:t>ライセンス </a:t>
                      </a:r>
                      <a:r>
                        <a:rPr lang="en-US" altLang="ja-JP" sz="700" dirty="0">
                          <a:solidFill>
                            <a:srgbClr val="00B050"/>
                          </a:solidFill>
                        </a:rPr>
                        <a:t>(</a:t>
                      </a:r>
                      <a:r>
                        <a:rPr lang="de-DE" sz="700" dirty="0">
                          <a:solidFill>
                            <a:srgbClr val="00B050"/>
                          </a:solidFill>
                        </a:rPr>
                        <a:t>SharePoint Online </a:t>
                      </a:r>
                      <a:r>
                        <a:rPr lang="ja-JP" altLang="en-US" sz="700" dirty="0">
                          <a:solidFill>
                            <a:srgbClr val="00B050"/>
                          </a:solidFill>
                        </a:rPr>
                        <a:t>を含むプラン</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425179">
                <a:tc>
                  <a:txBody>
                    <a:bodyPr/>
                    <a:lstStyle/>
                    <a:p>
                      <a:r>
                        <a:rPr lang="ja-JP" altLang="en-US" sz="800" b="1" kern="1200" dirty="0">
                          <a:solidFill>
                            <a:schemeClr val="dk1"/>
                          </a:solidFill>
                        </a:rPr>
                        <a:t>ソリューションの評価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強力なリレーショナル機能（</a:t>
                      </a:r>
                      <a:r>
                        <a:rPr lang="en-US" altLang="ja-JP" sz="700" kern="1200" dirty="0">
                          <a:solidFill>
                            <a:srgbClr val="00B050"/>
                          </a:solidFill>
                          <a:effectLst/>
                        </a:rPr>
                        <a:t>FILESTREAM</a:t>
                      </a:r>
                      <a:r>
                        <a:rPr lang="ja-JP" altLang="en-US" sz="700" kern="1200" dirty="0">
                          <a:solidFill>
                            <a:srgbClr val="00B050"/>
                          </a:solidFill>
                          <a:effectLst/>
                        </a:rPr>
                        <a:t>でファイルストレージ対応）。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フルテキスト検索でコンテンツ検索が効率的。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高性能で大規模データに強い。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ライセンスが複雑でコスト高。 </a:t>
                      </a:r>
                      <a:r>
                        <a:rPr lang="en-US" altLang="ja-JP" sz="700" kern="1200" dirty="0">
                          <a:solidFill>
                            <a:srgbClr val="C00000"/>
                          </a:solidFill>
                          <a:effectLst/>
                        </a:rPr>
                        <a:t>- </a:t>
                      </a:r>
                      <a:r>
                        <a:rPr lang="ja-JP" altLang="en-US" sz="700" kern="1200" dirty="0">
                          <a:solidFill>
                            <a:srgbClr val="C00000"/>
                          </a:solidFill>
                          <a:effectLst/>
                        </a:rPr>
                        <a:t>ファイルの大容量ストレージに不向き（</a:t>
                      </a:r>
                      <a:r>
                        <a:rPr lang="en-US" altLang="ja-JP" sz="700" kern="1200" dirty="0">
                          <a:solidFill>
                            <a:srgbClr val="C00000"/>
                          </a:solidFill>
                          <a:effectLst/>
                        </a:rPr>
                        <a:t>Blob</a:t>
                      </a:r>
                      <a:r>
                        <a:rPr lang="ja-JP" altLang="en-US" sz="700" kern="1200" dirty="0">
                          <a:solidFill>
                            <a:srgbClr val="C00000"/>
                          </a:solidFill>
                          <a:effectLst/>
                        </a:rPr>
                        <a:t>推奨）。 </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バグ報告あり（クエリ結果の不整合）。</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kern="1200" dirty="0">
                          <a:solidFill>
                            <a:srgbClr val="C00000"/>
                          </a:solidFill>
                          <a:effectLst/>
                        </a:rPr>
                        <a:t>ネットワークボトルネックが発生しやすい（</a:t>
                      </a:r>
                      <a:r>
                        <a:rPr lang="en-US" altLang="ja-JP" sz="700" b="1" kern="1200" dirty="0">
                          <a:solidFill>
                            <a:srgbClr val="C00000"/>
                          </a:solidFill>
                          <a:effectLst/>
                        </a:rPr>
                        <a:t>AWS-Azure</a:t>
                      </a:r>
                      <a:r>
                        <a:rPr lang="ja-JP" altLang="en-US" sz="700" b="1" kern="1200" dirty="0">
                          <a:solidFill>
                            <a:srgbClr val="C00000"/>
                          </a:solidFill>
                          <a:effectLst/>
                        </a:rPr>
                        <a:t>間の遅延</a:t>
                      </a:r>
                      <a:r>
                        <a:rPr lang="en-US" altLang="ja-JP" sz="700" b="1" kern="1200" dirty="0">
                          <a:solidFill>
                            <a:srgbClr val="C00000"/>
                          </a:solidFill>
                          <a:effectLst/>
                        </a:rPr>
                        <a:t>: 50-200ms</a:t>
                      </a:r>
                      <a:r>
                        <a:rPr lang="ja-JP" altLang="en-US" sz="700" b="1" kern="1200" dirty="0">
                          <a:solidFill>
                            <a:srgbClr val="C00000"/>
                          </a:solidFill>
                          <a:effectLst/>
                        </a:rPr>
                        <a:t>程度、データ転送量次第でボトルネック）。大規模クエリで顕著。</a:t>
                      </a:r>
                      <a:endParaRPr lang="ja-JP" altLang="en-US" sz="700" b="1"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完全マネージドで高可用性・自動バックアップ。 </a:t>
                      </a:r>
                      <a:r>
                        <a:rPr lang="en-US" altLang="ja-JP" sz="700" dirty="0">
                          <a:solidFill>
                            <a:srgbClr val="00B050"/>
                          </a:solidFill>
                          <a:effectLst/>
                        </a:rPr>
                        <a:t>- </a:t>
                      </a:r>
                      <a:r>
                        <a:rPr lang="ja-JP" altLang="en-US" sz="700" dirty="0">
                          <a:solidFill>
                            <a:srgbClr val="00B050"/>
                          </a:solidFill>
                          <a:effectLst/>
                        </a:rPr>
                        <a:t>リレーショナルクエリとコンテンツ検索（フルテキスト）がネイティブサポート。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スケーラビリティが高く、ファイルは</a:t>
                      </a:r>
                      <a:r>
                        <a:rPr lang="en-US" altLang="ja-JP" sz="700" dirty="0">
                          <a:solidFill>
                            <a:srgbClr val="00B050"/>
                          </a:solidFill>
                          <a:effectLst/>
                        </a:rPr>
                        <a:t>Blob</a:t>
                      </a:r>
                      <a:r>
                        <a:rPr lang="ja-JP" altLang="en-US" sz="700" dirty="0">
                          <a:solidFill>
                            <a:srgbClr val="00B050"/>
                          </a:solidFill>
                          <a:effectLst/>
                        </a:rPr>
                        <a:t>統合で拡張。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Azure</a:t>
                      </a:r>
                      <a:r>
                        <a:rPr lang="ja-JP" altLang="en-US" sz="700" dirty="0">
                          <a:solidFill>
                            <a:srgbClr val="00B050"/>
                          </a:solidFill>
                          <a:effectLst/>
                        </a:rPr>
                        <a:t>エコシステムとの親和性抜群。</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kern="1200" dirty="0">
                          <a:solidFill>
                            <a:srgbClr val="C00000"/>
                          </a:solidFill>
                          <a:effectLst/>
                        </a:rPr>
                        <a:t>SQL Server 2022</a:t>
                      </a:r>
                      <a:r>
                        <a:rPr lang="ja-JP" altLang="en-US" sz="700" kern="1200" dirty="0">
                          <a:solidFill>
                            <a:srgbClr val="C00000"/>
                          </a:solidFill>
                          <a:effectLst/>
                        </a:rPr>
                        <a:t>はサードパーティ</a:t>
                      </a:r>
                      <a:r>
                        <a:rPr lang="en-US" altLang="ja-JP" sz="700" kern="1200" dirty="0" err="1">
                          <a:solidFill>
                            <a:srgbClr val="C00000"/>
                          </a:solidFill>
                          <a:effectLst/>
                        </a:rPr>
                        <a:t>IFilter</a:t>
                      </a:r>
                      <a:r>
                        <a:rPr lang="ja-JP" altLang="en-US" sz="700" kern="1200" dirty="0">
                          <a:solidFill>
                            <a:srgbClr val="C00000"/>
                          </a:solidFill>
                          <a:effectLst/>
                        </a:rPr>
                        <a:t>やカスタム拡張で柔軟性が高く、大規模</a:t>
                      </a:r>
                      <a:r>
                        <a:rPr lang="en-US" altLang="ja-JP" sz="700" kern="1200" dirty="0">
                          <a:solidFill>
                            <a:srgbClr val="C00000"/>
                          </a:solidFill>
                          <a:effectLst/>
                        </a:rPr>
                        <a:t>/</a:t>
                      </a:r>
                      <a:r>
                        <a:rPr lang="ja-JP" altLang="en-US" sz="700" kern="1200" dirty="0">
                          <a:solidFill>
                            <a:srgbClr val="C00000"/>
                          </a:solidFill>
                          <a:effectLst/>
                        </a:rPr>
                        <a:t>複雑な検索に適。</a:t>
                      </a:r>
                      <a:r>
                        <a:rPr lang="en-US" altLang="ja-JP" sz="700" kern="1200" dirty="0">
                          <a:solidFill>
                            <a:srgbClr val="C00000"/>
                          </a:solidFill>
                          <a:effectLst/>
                        </a:rPr>
                        <a:t>Azure SQL</a:t>
                      </a:r>
                      <a:r>
                        <a:rPr lang="ja-JP" altLang="en-US" sz="700" kern="1200" dirty="0">
                          <a:solidFill>
                            <a:srgbClr val="C00000"/>
                          </a:solidFill>
                          <a:effectLst/>
                        </a:rPr>
                        <a:t>は基本</a:t>
                      </a:r>
                      <a:r>
                        <a:rPr lang="en-US" altLang="ja-JP" sz="700" kern="1200" dirty="0">
                          <a:solidFill>
                            <a:srgbClr val="C00000"/>
                          </a:solidFill>
                          <a:effectLst/>
                        </a:rPr>
                        <a:t>FTS</a:t>
                      </a:r>
                      <a:r>
                        <a:rPr lang="ja-JP" altLang="en-US" sz="700" kern="1200" dirty="0">
                          <a:solidFill>
                            <a:srgbClr val="C00000"/>
                          </a:solidFill>
                          <a:effectLst/>
                        </a:rPr>
                        <a:t>で十分だが、カスタマイズ性に欠ける。</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altLang="ja-JP" sz="7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低コードでリレーショナルモデル構築容易（テーブル間関係）。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ファイル添付と</a:t>
                      </a:r>
                      <a:r>
                        <a:rPr lang="en-US" altLang="ja-JP" sz="700" kern="1200" dirty="0">
                          <a:solidFill>
                            <a:srgbClr val="00B050"/>
                          </a:solidFill>
                          <a:effectLst/>
                        </a:rPr>
                        <a:t>AI</a:t>
                      </a:r>
                      <a:r>
                        <a:rPr lang="ja-JP" altLang="en-US" sz="700" kern="1200" dirty="0">
                          <a:solidFill>
                            <a:srgbClr val="00B050"/>
                          </a:solidFill>
                          <a:effectLst/>
                        </a:rPr>
                        <a:t>駆動検索（</a:t>
                      </a:r>
                      <a:r>
                        <a:rPr lang="en-US" altLang="ja-JP" sz="700" kern="1200" dirty="0">
                          <a:solidFill>
                            <a:srgbClr val="00B050"/>
                          </a:solidFill>
                          <a:effectLst/>
                        </a:rPr>
                        <a:t>Dataverse Search</a:t>
                      </a:r>
                      <a:r>
                        <a:rPr lang="ja-JP" altLang="en-US" sz="700" kern="1200" dirty="0">
                          <a:solidFill>
                            <a:srgbClr val="00B050"/>
                          </a:solidFill>
                          <a:effectLst/>
                        </a:rPr>
                        <a:t>）が強み。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セキュリティ・スケーラビリティ高く、</a:t>
                      </a:r>
                      <a:r>
                        <a:rPr lang="en-US" altLang="ja-JP" sz="700" kern="1200" dirty="0">
                          <a:solidFill>
                            <a:srgbClr val="00B050"/>
                          </a:solidFill>
                          <a:effectLst/>
                        </a:rPr>
                        <a:t>Power Apps</a:t>
                      </a:r>
                      <a:r>
                        <a:rPr lang="ja-JP" altLang="en-US" sz="700" kern="1200" dirty="0">
                          <a:solidFill>
                            <a:srgbClr val="00B050"/>
                          </a:solidFill>
                          <a:effectLst/>
                        </a:rPr>
                        <a:t>統合。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ビジネスアプリ向けに最適化。</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容量制限（</a:t>
                      </a:r>
                      <a:r>
                        <a:rPr lang="en-US" altLang="ja-JP" sz="700" dirty="0">
                          <a:solidFill>
                            <a:srgbClr val="C00000"/>
                          </a:solidFill>
                          <a:effectLst/>
                        </a:rPr>
                        <a:t>DB/</a:t>
                      </a:r>
                      <a:r>
                        <a:rPr lang="ja-JP" altLang="en-US" sz="700" dirty="0">
                          <a:solidFill>
                            <a:srgbClr val="C00000"/>
                          </a:solidFill>
                          <a:effectLst/>
                        </a:rPr>
                        <a:t>ファイル</a:t>
                      </a:r>
                      <a:r>
                        <a:rPr lang="en-US" altLang="ja-JP" sz="700" dirty="0">
                          <a:solidFill>
                            <a:srgbClr val="C00000"/>
                          </a:solidFill>
                          <a:effectLst/>
                        </a:rPr>
                        <a:t>/</a:t>
                      </a:r>
                      <a:r>
                        <a:rPr lang="ja-JP" altLang="en-US" sz="700" dirty="0">
                          <a:solidFill>
                            <a:srgbClr val="C00000"/>
                          </a:solidFill>
                          <a:effectLst/>
                        </a:rPr>
                        <a:t>ログ別）と高コスト。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複雑なクエリでパフォーマンス低下。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C00000"/>
                          </a:solidFill>
                          <a:effectLst/>
                        </a:rPr>
                        <a:t>SharePoint</a:t>
                      </a:r>
                      <a:r>
                        <a:rPr lang="ja-JP" altLang="en-US" sz="700" dirty="0">
                          <a:solidFill>
                            <a:srgbClr val="C00000"/>
                          </a:solidFill>
                          <a:effectLst/>
                        </a:rPr>
                        <a:t>リストよりスケールするが、</a:t>
                      </a:r>
                      <a:r>
                        <a:rPr lang="en-US" altLang="ja-JP" sz="700" dirty="0">
                          <a:solidFill>
                            <a:srgbClr val="C00000"/>
                          </a:solidFill>
                          <a:effectLst/>
                        </a:rPr>
                        <a:t>SQL</a:t>
                      </a:r>
                      <a:r>
                        <a:rPr lang="ja-JP" altLang="en-US" sz="700" dirty="0">
                          <a:solidFill>
                            <a:srgbClr val="C00000"/>
                          </a:solidFill>
                          <a:effectLst/>
                        </a:rPr>
                        <a:t>ほど柔軟でない。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kern="1200" dirty="0">
                        <a:solidFill>
                          <a:schemeClr val="dk1"/>
                        </a:solidFill>
                        <a:effectLst/>
                      </a:endParaRPr>
                    </a:p>
                    <a:p>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無料でフルリレーショナル（</a:t>
                      </a:r>
                      <a:r>
                        <a:rPr lang="en-US" altLang="ja-JP" sz="700" dirty="0">
                          <a:solidFill>
                            <a:srgbClr val="00B050"/>
                          </a:solidFill>
                          <a:effectLst/>
                        </a:rPr>
                        <a:t>JSON</a:t>
                      </a:r>
                      <a:r>
                        <a:rPr lang="ja-JP" altLang="en-US" sz="700" dirty="0">
                          <a:solidFill>
                            <a:srgbClr val="00B050"/>
                          </a:solidFill>
                          <a:effectLst/>
                        </a:rPr>
                        <a:t>サポートで柔軟）。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フルテキスト検索（</a:t>
                      </a:r>
                      <a:r>
                        <a:rPr lang="en-US" altLang="ja-JP" sz="700" dirty="0" err="1">
                          <a:solidFill>
                            <a:srgbClr val="00B050"/>
                          </a:solidFill>
                          <a:effectLst/>
                        </a:rPr>
                        <a:t>tsvector</a:t>
                      </a:r>
                      <a:r>
                        <a:rPr lang="ja-JP" altLang="en-US" sz="700" dirty="0">
                          <a:solidFill>
                            <a:srgbClr val="00B050"/>
                          </a:solidFill>
                          <a:effectLst/>
                        </a:rPr>
                        <a:t>）が強力でコンテンツ検索対応。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ACID</a:t>
                      </a:r>
                      <a:r>
                        <a:rPr lang="ja-JP" altLang="en-US" sz="700" dirty="0">
                          <a:solidFill>
                            <a:srgbClr val="00B050"/>
                          </a:solidFill>
                          <a:effectLst/>
                        </a:rPr>
                        <a:t>準拠で信頼性高く、拡張性良好。 </a:t>
                      </a:r>
                      <a:r>
                        <a:rPr lang="en-US" altLang="ja-JP" sz="700" dirty="0">
                          <a:solidFill>
                            <a:srgbClr val="00B050"/>
                          </a:solidFill>
                          <a:effectLst/>
                        </a:rPr>
                        <a:t>- </a:t>
                      </a:r>
                      <a:r>
                        <a:rPr lang="ja-JP" altLang="en-US" sz="700" dirty="0">
                          <a:solidFill>
                            <a:srgbClr val="00B050"/>
                          </a:solidFill>
                          <a:effectLst/>
                        </a:rPr>
                        <a:t>カスタム拡張（</a:t>
                      </a:r>
                      <a:r>
                        <a:rPr lang="en-US" altLang="ja-JP" sz="700" dirty="0" err="1">
                          <a:solidFill>
                            <a:srgbClr val="00B050"/>
                          </a:solidFill>
                          <a:effectLst/>
                        </a:rPr>
                        <a:t>pg_trgm</a:t>
                      </a:r>
                      <a:r>
                        <a:rPr lang="ja-JP" altLang="en-US" sz="700" dirty="0">
                          <a:solidFill>
                            <a:srgbClr val="00B050"/>
                          </a:solidFill>
                          <a:effectLst/>
                        </a:rPr>
                        <a:t>など）でファイル検索強化。</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dirty="0">
                          <a:solidFill>
                            <a:srgbClr val="C00000"/>
                          </a:solidFill>
                          <a:effectLst/>
                        </a:rPr>
                        <a:t>大容量ファイルストレージに不向き（</a:t>
                      </a:r>
                      <a:r>
                        <a:rPr lang="en-US" altLang="ja-JP" sz="700" b="1" dirty="0">
                          <a:solidFill>
                            <a:srgbClr val="C00000"/>
                          </a:solidFill>
                          <a:effectLst/>
                        </a:rPr>
                        <a:t>TOAST</a:t>
                      </a:r>
                      <a:r>
                        <a:rPr lang="ja-JP" altLang="en-US" sz="700" b="1" dirty="0">
                          <a:solidFill>
                            <a:srgbClr val="C00000"/>
                          </a:solidFill>
                          <a:effectLst/>
                        </a:rPr>
                        <a:t>使用でパフォーマンス低下）</a:t>
                      </a:r>
                      <a:r>
                        <a:rPr lang="ja-JP" altLang="en-US" sz="700" dirty="0">
                          <a:solidFill>
                            <a:srgbClr val="C00000"/>
                          </a:solidFill>
                          <a:effectLst/>
                        </a:rPr>
                        <a:t>。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セットアップ複雑でメンテナンス負荷。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商用サポート別途必要。</a:t>
                      </a:r>
                    </a:p>
                    <a:p>
                      <a:endParaRPr lang="ja-JP" altLang="en-US"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ファイル中心のストレージでメタデータによる関係性管理。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強力な検索（</a:t>
                      </a:r>
                      <a:r>
                        <a:rPr lang="en-US" altLang="ja-JP" sz="700" dirty="0">
                          <a:solidFill>
                            <a:srgbClr val="00B050"/>
                          </a:solidFill>
                          <a:effectLst/>
                        </a:rPr>
                        <a:t>Microsoft Search</a:t>
                      </a:r>
                      <a:r>
                        <a:rPr lang="ja-JP" altLang="en-US" sz="700" dirty="0">
                          <a:solidFill>
                            <a:srgbClr val="00B050"/>
                          </a:solidFill>
                          <a:effectLst/>
                        </a:rPr>
                        <a:t>）でコンテンツ抽出優秀。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コラボレーション・バージョン管理がネイティブ。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M365</a:t>
                      </a:r>
                      <a:r>
                        <a:rPr lang="ja-JP" altLang="en-US" sz="700" dirty="0">
                          <a:solidFill>
                            <a:srgbClr val="00B050"/>
                          </a:solidFill>
                          <a:effectLst/>
                        </a:rPr>
                        <a:t>統合でユーザー友好。</a:t>
                      </a:r>
                    </a:p>
                    <a:p>
                      <a:endParaRPr lang="en-US" altLang="zh-CN"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825647">
                <a:tc>
                  <a:txBody>
                    <a:bodyPr/>
                    <a:lstStyle/>
                    <a:p>
                      <a:r>
                        <a:rPr lang="ja-JP" altLang="en-US" sz="800" b="1" kern="1200" dirty="0">
                          <a:solidFill>
                            <a:schemeClr val="dk1"/>
                          </a:solidFill>
                        </a:rPr>
                        <a:t>ディリバリー面の評価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ltLang="ja-JP" sz="700" kern="1200" dirty="0">
                          <a:solidFill>
                            <a:srgbClr val="C00000"/>
                          </a:solidFill>
                          <a:effectLst/>
                        </a:rPr>
                        <a:t>On-premises data gateway</a:t>
                      </a:r>
                      <a:r>
                        <a:rPr lang="ja-JP" altLang="de-DE" sz="700" kern="1200" dirty="0">
                          <a:solidFill>
                            <a:srgbClr val="C00000"/>
                          </a:solidFill>
                          <a:effectLst/>
                        </a:rPr>
                        <a:t>（</a:t>
                      </a:r>
                      <a:r>
                        <a:rPr lang="ja-JP" altLang="en-US" sz="700" kern="1200" dirty="0">
                          <a:solidFill>
                            <a:srgbClr val="C00000"/>
                          </a:solidFill>
                          <a:effectLst/>
                        </a:rPr>
                        <a:t>以下、</a:t>
                      </a:r>
                      <a:r>
                        <a:rPr lang="de-DE" altLang="ja-JP" sz="700" kern="1200" dirty="0">
                          <a:solidFill>
                            <a:srgbClr val="C00000"/>
                          </a:solidFill>
                          <a:effectLst/>
                        </a:rPr>
                        <a:t>Gateway</a:t>
                      </a:r>
                      <a:r>
                        <a:rPr lang="ja-JP" altLang="de-DE" sz="700" kern="1200" dirty="0">
                          <a:solidFill>
                            <a:srgbClr val="C00000"/>
                          </a:solidFill>
                          <a:effectLst/>
                        </a:rPr>
                        <a:t>）</a:t>
                      </a:r>
                      <a:r>
                        <a:rPr lang="ja-JP" altLang="en-US" sz="700" kern="1200" dirty="0">
                          <a:solidFill>
                            <a:srgbClr val="C00000"/>
                          </a:solidFill>
                          <a:effectLst/>
                        </a:rPr>
                        <a:t>のインストールが必要。</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C00000"/>
                          </a:solidFill>
                          <a:effectLst/>
                        </a:rPr>
                        <a:t>作業量高：サーバー</a:t>
                      </a:r>
                      <a:r>
                        <a:rPr lang="en-US" altLang="ja-JP" sz="700" kern="1200" dirty="0">
                          <a:solidFill>
                            <a:srgbClr val="C00000"/>
                          </a:solidFill>
                          <a:effectLst/>
                        </a:rPr>
                        <a:t>OS</a:t>
                      </a:r>
                      <a:r>
                        <a:rPr lang="ja-JP" altLang="en-US" sz="700" kern="1200" dirty="0">
                          <a:solidFill>
                            <a:srgbClr val="C00000"/>
                          </a:solidFill>
                          <a:effectLst/>
                        </a:rPr>
                        <a:t>インストール、</a:t>
                      </a:r>
                      <a:r>
                        <a:rPr lang="en-US" altLang="ja-JP" sz="700" kern="1200" dirty="0">
                          <a:solidFill>
                            <a:srgbClr val="C00000"/>
                          </a:solidFill>
                          <a:effectLst/>
                        </a:rPr>
                        <a:t>DB</a:t>
                      </a:r>
                      <a:r>
                        <a:rPr lang="ja-JP" altLang="en-US" sz="700" kern="1200" dirty="0">
                          <a:solidFill>
                            <a:srgbClr val="C00000"/>
                          </a:solidFill>
                          <a:effectLst/>
                        </a:rPr>
                        <a:t>セットアップ、セキュリティ設定、バックアップ構成が必要。デバッグでツール（</a:t>
                      </a:r>
                      <a:r>
                        <a:rPr lang="en-US" altLang="ja-JP" sz="700" kern="1200" dirty="0">
                          <a:solidFill>
                            <a:srgbClr val="C00000"/>
                          </a:solidFill>
                          <a:effectLst/>
                        </a:rPr>
                        <a:t>SSMS</a:t>
                      </a:r>
                      <a:r>
                        <a:rPr lang="ja-JP" altLang="en-US" sz="700" kern="1200" dirty="0">
                          <a:solidFill>
                            <a:srgbClr val="C00000"/>
                          </a:solidFill>
                          <a:effectLst/>
                        </a:rPr>
                        <a:t>）導入、テストがすべて必要。</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00B050"/>
                          </a:solidFill>
                          <a:effectLst/>
                        </a:rPr>
                        <a:t>実績があり</a:t>
                      </a:r>
                      <a:endParaRPr lang="ja-JP" altLang="en-US"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Azure</a:t>
                      </a:r>
                      <a:r>
                        <a:rPr lang="ja-JP" altLang="en-US" sz="700" dirty="0">
                          <a:solidFill>
                            <a:srgbClr val="00B050"/>
                          </a:solidFill>
                          <a:effectLst/>
                        </a:rPr>
                        <a:t>ポータルで数分でデプロイ。デバッグは</a:t>
                      </a:r>
                      <a:r>
                        <a:rPr lang="en-US" altLang="ja-JP" sz="700" dirty="0">
                          <a:solidFill>
                            <a:srgbClr val="00B050"/>
                          </a:solidFill>
                          <a:effectLst/>
                        </a:rPr>
                        <a:t>Azure</a:t>
                      </a:r>
                      <a:r>
                        <a:rPr lang="ja-JP" altLang="en-US" sz="700" dirty="0">
                          <a:solidFill>
                            <a:srgbClr val="00B050"/>
                          </a:solidFill>
                          <a:effectLst/>
                        </a:rPr>
                        <a:t>ツールで即時、学習曲線短め（数時間）。</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実績がないが、添付ファイル以外には</a:t>
                      </a:r>
                      <a:r>
                        <a:rPr lang="en-US" altLang="ja-JP" sz="700" dirty="0" err="1">
                          <a:solidFill>
                            <a:srgbClr val="00B050"/>
                          </a:solidFill>
                          <a:effectLst/>
                        </a:rPr>
                        <a:t>Sqlserver</a:t>
                      </a:r>
                      <a:r>
                        <a:rPr lang="ja-JP" altLang="en-US" sz="700" dirty="0">
                          <a:solidFill>
                            <a:srgbClr val="00B050"/>
                          </a:solidFill>
                          <a:effectLst/>
                        </a:rPr>
                        <a:t>　</a:t>
                      </a:r>
                      <a:r>
                        <a:rPr lang="en-US" altLang="ja-JP" sz="700" dirty="0">
                          <a:solidFill>
                            <a:srgbClr val="00B050"/>
                          </a:solidFill>
                          <a:effectLst/>
                        </a:rPr>
                        <a:t>2022</a:t>
                      </a:r>
                      <a:r>
                        <a:rPr lang="ja-JP" altLang="en-US" sz="700" dirty="0">
                          <a:solidFill>
                            <a:srgbClr val="00B050"/>
                          </a:solidFill>
                          <a:effectLst/>
                        </a:rPr>
                        <a:t>とは差異がない</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Microsoft 365</a:t>
                      </a:r>
                      <a:r>
                        <a:rPr lang="ja-JP" altLang="en-US" sz="700" dirty="0">
                          <a:solidFill>
                            <a:srgbClr val="00B050"/>
                          </a:solidFill>
                          <a:effectLst/>
                        </a:rPr>
                        <a:t>統合で即時セットアップ。デバッグは</a:t>
                      </a:r>
                      <a:r>
                        <a:rPr lang="en-US" altLang="ja-JP" sz="700" dirty="0">
                          <a:solidFill>
                            <a:srgbClr val="00B050"/>
                          </a:solidFill>
                          <a:effectLst/>
                        </a:rPr>
                        <a:t>Power Platform</a:t>
                      </a:r>
                      <a:r>
                        <a:rPr lang="ja-JP" altLang="en-US" sz="700" dirty="0">
                          <a:solidFill>
                            <a:srgbClr val="00B050"/>
                          </a:solidFill>
                          <a:effectLst/>
                        </a:rPr>
                        <a:t>ツールで簡単</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弊社実績があり、</a:t>
                      </a:r>
                    </a:p>
                    <a:p>
                      <a:pPr marL="171450" indent="-171450">
                        <a:buFont typeface="Arial" panose="020B0604020202020204" pitchFamily="34" charset="0"/>
                        <a:buChar char="•"/>
                      </a:pPr>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作業量中：インストール（</a:t>
                      </a:r>
                      <a:r>
                        <a:rPr lang="en-US" altLang="ja-JP" sz="700" dirty="0">
                          <a:solidFill>
                            <a:srgbClr val="C00000"/>
                          </a:solidFill>
                          <a:effectLst/>
                        </a:rPr>
                        <a:t>Docker</a:t>
                      </a:r>
                      <a:r>
                        <a:rPr lang="ja-JP" altLang="en-US" sz="700" dirty="0">
                          <a:solidFill>
                            <a:srgbClr val="C00000"/>
                          </a:solidFill>
                          <a:effectLst/>
                        </a:rPr>
                        <a:t>推奨）、構成（インデックス</a:t>
                      </a:r>
                      <a:r>
                        <a:rPr lang="en-US" altLang="ja-JP" sz="700" dirty="0">
                          <a:solidFill>
                            <a:srgbClr val="C00000"/>
                          </a:solidFill>
                          <a:effectLst/>
                        </a:rPr>
                        <a:t>/</a:t>
                      </a:r>
                      <a:r>
                        <a:rPr lang="ja-JP" altLang="en-US" sz="700" dirty="0">
                          <a:solidFill>
                            <a:srgbClr val="C00000"/>
                          </a:solidFill>
                          <a:effectLst/>
                        </a:rPr>
                        <a:t>検索設定）で複難。</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デバッグツール（</a:t>
                      </a:r>
                      <a:r>
                        <a:rPr lang="en-US" altLang="ja-JP" sz="700" dirty="0" err="1">
                          <a:solidFill>
                            <a:srgbClr val="C00000"/>
                          </a:solidFill>
                          <a:effectLst/>
                        </a:rPr>
                        <a:t>pgAdmin</a:t>
                      </a:r>
                      <a:r>
                        <a:rPr lang="ja-JP" altLang="en-US" sz="700" dirty="0">
                          <a:solidFill>
                            <a:srgbClr val="C00000"/>
                          </a:solidFill>
                          <a:effectLst/>
                        </a:rPr>
                        <a:t>）で中程度。</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700" dirty="0">
                          <a:solidFill>
                            <a:srgbClr val="C00000"/>
                          </a:solidFill>
                          <a:effectLst/>
                        </a:rPr>
                        <a:t>Power</a:t>
                      </a:r>
                      <a:r>
                        <a:rPr lang="ja-JP" altLang="en-US" sz="700" dirty="0">
                          <a:solidFill>
                            <a:srgbClr val="C00000"/>
                          </a:solidFill>
                          <a:effectLst/>
                        </a:rPr>
                        <a:t> </a:t>
                      </a:r>
                      <a:r>
                        <a:rPr lang="en-US" altLang="ja-JP" sz="700" dirty="0">
                          <a:solidFill>
                            <a:srgbClr val="C00000"/>
                          </a:solidFill>
                          <a:effectLst/>
                        </a:rPr>
                        <a:t>Platform</a:t>
                      </a:r>
                      <a:r>
                        <a:rPr lang="ja-JP" altLang="en-US" sz="700" dirty="0">
                          <a:solidFill>
                            <a:srgbClr val="C00000"/>
                          </a:solidFill>
                          <a:effectLst/>
                        </a:rPr>
                        <a:t>との連携には実績がない、</a:t>
                      </a:r>
                      <a:r>
                        <a:rPr lang="en-US" altLang="ja-JP" sz="700" dirty="0">
                          <a:solidFill>
                            <a:srgbClr val="C00000"/>
                          </a:solidFill>
                          <a:effectLst/>
                        </a:rPr>
                        <a:t>POC</a:t>
                      </a:r>
                      <a:r>
                        <a:rPr lang="ja-JP" altLang="en-US" sz="700" dirty="0">
                          <a:solidFill>
                            <a:srgbClr val="C00000"/>
                          </a:solidFill>
                          <a:effectLst/>
                        </a:rPr>
                        <a:t>範囲は拡大。</a:t>
                      </a:r>
                      <a:endParaRPr lang="en-US" altLang="ja-JP" sz="7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ja-JP" altLang="en-US" sz="700" dirty="0">
                          <a:solidFill>
                            <a:srgbClr val="00B050"/>
                          </a:solidFill>
                          <a:effectLst/>
                        </a:rPr>
                        <a:t>作業量低（弊社実績があり）</a:t>
                      </a:r>
                      <a:endParaRPr lang="en-US" altLang="ja-JP" sz="700" dirty="0">
                        <a:solidFill>
                          <a:srgbClr val="00B050"/>
                        </a:solidFill>
                        <a:effectLst/>
                      </a:endParaRPr>
                    </a:p>
                    <a:p>
                      <a:pPr marL="171450" indent="-171450">
                        <a:buFont typeface="Arial" panose="020B0604020202020204" pitchFamily="34" charset="0"/>
                        <a:buChar char="•"/>
                      </a:pPr>
                      <a:r>
                        <a:rPr lang="en-US" altLang="ja-JP" sz="700" dirty="0">
                          <a:effectLst/>
                        </a:rPr>
                        <a:t>Microsoft Search</a:t>
                      </a:r>
                      <a:r>
                        <a:rPr lang="ja-JP" altLang="en-US" sz="700" dirty="0">
                          <a:effectLst/>
                        </a:rPr>
                        <a:t>の実現には、</a:t>
                      </a:r>
                      <a:endParaRPr lang="en-US" altLang="ja-JP" sz="700" dirty="0">
                        <a:effectLst/>
                      </a:endParaRPr>
                    </a:p>
                    <a:p>
                      <a:pPr marL="228600" indent="-228600">
                        <a:buFont typeface="+mj-lt"/>
                        <a:buAutoNum type="arabicPeriod"/>
                      </a:pPr>
                      <a:r>
                        <a:rPr lang="en-US" altLang="ja-JP" sz="700" dirty="0">
                          <a:solidFill>
                            <a:srgbClr val="C00000"/>
                          </a:solidFill>
                        </a:rPr>
                        <a:t>Azure AD</a:t>
                      </a:r>
                      <a:r>
                        <a:rPr lang="ja-JP" altLang="en-US" sz="700" dirty="0">
                          <a:solidFill>
                            <a:srgbClr val="C00000"/>
                          </a:solidFill>
                        </a:rPr>
                        <a:t>に事前の</a:t>
                      </a:r>
                      <a:r>
                        <a:rPr lang="en-US" altLang="ja-JP" sz="700" dirty="0">
                          <a:solidFill>
                            <a:srgbClr val="C00000"/>
                          </a:solidFill>
                        </a:rPr>
                        <a:t>App</a:t>
                      </a:r>
                      <a:r>
                        <a:rPr lang="ja-JP" altLang="en-US" sz="700" dirty="0">
                          <a:solidFill>
                            <a:srgbClr val="C00000"/>
                          </a:solidFill>
                        </a:rPr>
                        <a:t>登録が必須</a:t>
                      </a:r>
                      <a:endParaRPr lang="en-US" altLang="ja-JP" sz="700" dirty="0">
                        <a:solidFill>
                          <a:srgbClr val="C00000"/>
                        </a:solidFill>
                      </a:endParaRPr>
                    </a:p>
                    <a:p>
                      <a:pPr marL="228600" indent="-228600">
                        <a:buFont typeface="+mj-lt"/>
                        <a:buAutoNum type="arabicPeriod"/>
                      </a:pPr>
                      <a:r>
                        <a:rPr lang="en-US" altLang="zh-CN" sz="700" dirty="0" err="1">
                          <a:solidFill>
                            <a:srgbClr val="C00000"/>
                          </a:solidFill>
                        </a:rPr>
                        <a:t>GraphAPI</a:t>
                      </a:r>
                      <a:r>
                        <a:rPr lang="ja-JP" altLang="en-US" sz="700" dirty="0">
                          <a:solidFill>
                            <a:srgbClr val="C00000"/>
                          </a:solidFill>
                        </a:rPr>
                        <a:t>コールが必要</a:t>
                      </a:r>
                      <a:endParaRPr lang="en-US" altLang="ja-JP" sz="700" dirty="0">
                        <a:solidFill>
                          <a:srgbClr val="C00000"/>
                        </a:solidFill>
                      </a:endParaRPr>
                    </a:p>
                    <a:p>
                      <a:pPr marL="171450" indent="-171450" algn="l" defTabSz="914400" rtl="0" eaLnBrk="1" latinLnBrk="0" hangingPunct="1">
                        <a:buFont typeface="Arial" panose="020B0604020202020204" pitchFamily="34" charset="0"/>
                        <a:buChar char="•"/>
                      </a:pPr>
                      <a:r>
                        <a:rPr lang="en-US" altLang="ja-JP" sz="700" kern="1200" dirty="0">
                          <a:solidFill>
                            <a:srgbClr val="C00000"/>
                          </a:solidFill>
                          <a:effectLst/>
                          <a:latin typeface="+mn-lt"/>
                          <a:ea typeface="+mn-ea"/>
                          <a:cs typeface="+mn-cs"/>
                        </a:rPr>
                        <a:t>SharePoint</a:t>
                      </a:r>
                      <a:r>
                        <a:rPr lang="ja-JP" altLang="en-US" sz="700" kern="1200" dirty="0">
                          <a:solidFill>
                            <a:srgbClr val="C00000"/>
                          </a:solidFill>
                          <a:effectLst/>
                          <a:latin typeface="+mn-lt"/>
                          <a:ea typeface="+mn-ea"/>
                          <a:cs typeface="+mn-cs"/>
                        </a:rPr>
                        <a:t>に置いている添付ファイルの権限管理が必要（実績があり）</a:t>
                      </a:r>
                      <a:endParaRPr lang="en-US" altLang="ja-JP" sz="700" kern="1200" dirty="0">
                        <a:solidFill>
                          <a:srgbClr val="C00000"/>
                        </a:solidFill>
                        <a:effectLst/>
                        <a:latin typeface="+mn-lt"/>
                        <a:ea typeface="+mn-ea"/>
                        <a:cs typeface="+mn-cs"/>
                      </a:endParaRPr>
                    </a:p>
                    <a:p>
                      <a:pPr marL="171450" indent="-171450" algn="l" defTabSz="914400" rtl="0" eaLnBrk="1" latinLnBrk="0" hangingPunct="1">
                        <a:buFont typeface="Arial" panose="020B0604020202020204" pitchFamily="34" charset="0"/>
                        <a:buChar char="•"/>
                      </a:pPr>
                      <a:r>
                        <a:rPr lang="ja-JP" altLang="en-US" sz="700" kern="1200" dirty="0">
                          <a:solidFill>
                            <a:srgbClr val="C00000"/>
                          </a:solidFill>
                          <a:effectLst/>
                          <a:latin typeface="+mn-lt"/>
                          <a:ea typeface="+mn-ea"/>
                          <a:cs typeface="+mn-cs"/>
                        </a:rPr>
                        <a:t>論理</a:t>
                      </a:r>
                      <a:r>
                        <a:rPr lang="en-US" altLang="ja-JP" sz="700" kern="1200" dirty="0">
                          <a:solidFill>
                            <a:srgbClr val="C00000"/>
                          </a:solidFill>
                          <a:effectLst/>
                          <a:latin typeface="+mn-lt"/>
                          <a:ea typeface="+mn-ea"/>
                          <a:cs typeface="+mn-cs"/>
                        </a:rPr>
                        <a:t>Group</a:t>
                      </a:r>
                      <a:r>
                        <a:rPr lang="ja-JP" altLang="en-US" sz="700" kern="1200" dirty="0">
                          <a:solidFill>
                            <a:srgbClr val="C00000"/>
                          </a:solidFill>
                          <a:effectLst/>
                          <a:latin typeface="+mn-lt"/>
                          <a:ea typeface="+mn-ea"/>
                          <a:cs typeface="+mn-cs"/>
                        </a:rPr>
                        <a:t>が変更された場合、登録済みの仕様書添付ファイルに対して再設定が必要</a:t>
                      </a:r>
                      <a:endParaRPr lang="en-US" altLang="ja-JP" sz="7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198767"/>
                  </a:ext>
                </a:extLst>
              </a:tr>
            </a:tbl>
          </a:graphicData>
        </a:graphic>
      </p:graphicFrame>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677282"/>
            <a:ext cx="11412096" cy="492443"/>
          </a:xfrm>
          <a:prstGeom prst="rect">
            <a:avLst/>
          </a:prstGeom>
          <a:noFill/>
        </p:spPr>
        <p:txBody>
          <a:bodyPr wrap="square" rtlCol="0">
            <a:spAutoFit/>
          </a:bodyPr>
          <a:lstStyle/>
          <a:p>
            <a:r>
              <a:rPr kumimoji="1" lang="ja-JP" altLang="en-US" sz="1200" dirty="0"/>
              <a:t>下記表で羅列した評価項目について候補となる保存環境を評価し、以下の推奨結果に至りました。次ページより推奨環境について説明します。</a:t>
            </a:r>
            <a:endParaRPr kumimoji="1" lang="en-US" altLang="ja-JP" sz="1200" dirty="0"/>
          </a:p>
          <a:p>
            <a:r>
              <a:rPr kumimoji="1" lang="ja-JP" altLang="en-US" sz="1400" b="1" dirty="0">
                <a:solidFill>
                  <a:srgbClr val="C00000"/>
                </a:solidFill>
              </a:rPr>
              <a:t>推奨：仕様書の定型データ保存先</a:t>
            </a:r>
            <a:r>
              <a:rPr lang="ja-JP" altLang="en-US" sz="1400" b="1" dirty="0">
                <a:solidFill>
                  <a:srgbClr val="C00000"/>
                </a:solidFill>
              </a:rPr>
              <a:t>：</a:t>
            </a:r>
            <a:r>
              <a:rPr lang="de-DE" altLang="ja-JP" sz="1400" b="1" dirty="0">
                <a:solidFill>
                  <a:srgbClr val="C00000"/>
                </a:solidFill>
              </a:rPr>
              <a:t>Azure SQL</a:t>
            </a:r>
            <a:r>
              <a:rPr lang="ja-JP" altLang="en-US" sz="1400" b="1" dirty="0">
                <a:solidFill>
                  <a:srgbClr val="C00000"/>
                </a:solidFill>
              </a:rPr>
              <a:t>、</a:t>
            </a:r>
            <a:r>
              <a:rPr kumimoji="1" lang="ja-JP" altLang="en-US" sz="1400" b="1" dirty="0">
                <a:solidFill>
                  <a:srgbClr val="C00000"/>
                </a:solidFill>
              </a:rPr>
              <a:t>添付ファイル保存先：</a:t>
            </a:r>
            <a:r>
              <a:rPr kumimoji="1" lang="en-US" altLang="ja-JP" sz="1400" b="1" dirty="0">
                <a:solidFill>
                  <a:srgbClr val="C00000"/>
                </a:solidFill>
              </a:rPr>
              <a:t>SharePoint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0098" y="1365503"/>
            <a:ext cx="5667794" cy="530915"/>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p>
          <a:p>
            <a:r>
              <a:rPr lang="en-US" altLang="ja-JP" sz="900" dirty="0">
                <a:solidFill>
                  <a:srgbClr val="FF0000"/>
                </a:solidFill>
              </a:rPr>
              <a:t>SPO</a:t>
            </a:r>
            <a:r>
              <a:rPr lang="ja-JP" altLang="en-US" sz="900" dirty="0">
                <a:solidFill>
                  <a:srgbClr val="FF0000"/>
                </a:solidFill>
              </a:rPr>
              <a:t>に保存されているファイルには</a:t>
            </a:r>
            <a:r>
              <a:rPr lang="en-US" altLang="ja-JP" sz="900" dirty="0">
                <a:solidFill>
                  <a:srgbClr val="FF0000"/>
                </a:solidFill>
              </a:rPr>
              <a:t>Upload</a:t>
            </a:r>
            <a:r>
              <a:rPr lang="ja-JP" altLang="en-US" sz="900" dirty="0">
                <a:solidFill>
                  <a:srgbClr val="FF0000"/>
                </a:solidFill>
              </a:rPr>
              <a:t>する時に定義したアクセス権限（</a:t>
            </a:r>
            <a:r>
              <a:rPr lang="en-US" altLang="ja-JP" sz="900" dirty="0">
                <a:solidFill>
                  <a:srgbClr val="FF0000"/>
                </a:solidFill>
              </a:rPr>
              <a:t>Read/Edit/</a:t>
            </a:r>
            <a:r>
              <a:rPr lang="en-US" altLang="ja-JP" sz="900" dirty="0" err="1">
                <a:solidFill>
                  <a:srgbClr val="FF0000"/>
                </a:solidFill>
              </a:rPr>
              <a:t>Downoad</a:t>
            </a:r>
            <a:r>
              <a:rPr lang="ja-JP" altLang="en-US" sz="900" dirty="0">
                <a:solidFill>
                  <a:srgbClr val="FF0000"/>
                </a:solidFill>
              </a:rPr>
              <a:t>）は、</a:t>
            </a:r>
            <a:r>
              <a:rPr lang="en-US" altLang="ja-JP" sz="900" dirty="0">
                <a:solidFill>
                  <a:srgbClr val="FF0000"/>
                </a:solidFill>
              </a:rPr>
              <a:t>SPO</a:t>
            </a:r>
            <a:r>
              <a:rPr lang="ja-JP" altLang="en-US" sz="900" dirty="0">
                <a:solidFill>
                  <a:srgbClr val="FF0000"/>
                </a:solidFill>
              </a:rPr>
              <a:t>に直接にアクセスするときも有効にすることで、直接にアクセスすることを制約します。</a:t>
            </a:r>
            <a:endParaRPr kumimoji="1" lang="ja-JP" altLang="en-US" sz="900" dirty="0">
              <a:solidFill>
                <a:srgbClr val="FF0000"/>
              </a:solidFill>
            </a:endParaRPr>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6" name="テキスト ボックス 1065">
            <a:extLst>
              <a:ext uri="{FF2B5EF4-FFF2-40B4-BE49-F238E27FC236}">
                <a16:creationId xmlns:a16="http://schemas.microsoft.com/office/drawing/2014/main" id="{355B5D54-E6A0-4CB5-1D34-7914B026E31F}"/>
              </a:ext>
            </a:extLst>
          </p:cNvPr>
          <p:cNvSpPr txBox="1"/>
          <p:nvPr/>
        </p:nvSpPr>
        <p:spPr>
          <a:xfrm>
            <a:off x="252278" y="5906063"/>
            <a:ext cx="6927673" cy="553998"/>
          </a:xfrm>
          <a:prstGeom prst="rect">
            <a:avLst/>
          </a:prstGeom>
          <a:noFill/>
        </p:spPr>
        <p:txBody>
          <a:bodyPr wrap="square" rtlCol="0">
            <a:spAutoFit/>
          </a:bodyPr>
          <a:lstStyle/>
          <a:p>
            <a:r>
              <a:rPr kumimoji="1" lang="ja-JP" altLang="en-US" sz="1600" b="1" dirty="0"/>
              <a:t>前回の提案</a:t>
            </a:r>
            <a:r>
              <a:rPr lang="ja-JP" altLang="en-US" sz="1600" b="1" dirty="0"/>
              <a:t>との変更</a:t>
            </a:r>
            <a:r>
              <a:rPr kumimoji="1" lang="ja-JP" altLang="en-US" sz="1600" b="1" dirty="0"/>
              <a:t>、</a:t>
            </a:r>
            <a:r>
              <a:rPr kumimoji="1" lang="en-US" altLang="ja-JP" sz="1600" b="1" dirty="0"/>
              <a:t>On promise</a:t>
            </a:r>
            <a:r>
              <a:rPr lang="ja-JP" altLang="en-US" sz="1600" b="1" dirty="0"/>
              <a:t> </a:t>
            </a:r>
            <a:r>
              <a:rPr kumimoji="1" lang="en-US" altLang="ja-JP" sz="1600" b="1" dirty="0" err="1"/>
              <a:t>Sqlserver</a:t>
            </a:r>
            <a:r>
              <a:rPr lang="ja-JP" altLang="en-US" sz="1600" b="1" dirty="0"/>
              <a:t> </a:t>
            </a:r>
            <a:r>
              <a:rPr kumimoji="1" lang="en-US" altLang="ja-JP" sz="1600" b="1" dirty="0"/>
              <a:t>2022</a:t>
            </a:r>
            <a:r>
              <a:rPr kumimoji="1" lang="ja-JP" altLang="en-US" sz="1600" b="1" dirty="0"/>
              <a:t>⇒</a:t>
            </a:r>
            <a:r>
              <a:rPr kumimoji="1" lang="en-US" altLang="ja-JP" sz="1600" b="1" dirty="0"/>
              <a:t>Azure SQL</a:t>
            </a:r>
          </a:p>
          <a:p>
            <a:r>
              <a:rPr lang="en-US" altLang="ja-JP" sz="1400" dirty="0">
                <a:solidFill>
                  <a:srgbClr val="C00000"/>
                </a:solidFill>
              </a:rPr>
              <a:t>On promise Gateway</a:t>
            </a:r>
            <a:r>
              <a:rPr lang="ja-JP" altLang="en-US" sz="1400" dirty="0">
                <a:solidFill>
                  <a:srgbClr val="C00000"/>
                </a:solidFill>
              </a:rPr>
              <a:t>の可能の</a:t>
            </a:r>
            <a:r>
              <a:rPr lang="en-US" altLang="ja-JP" sz="1400" dirty="0">
                <a:solidFill>
                  <a:srgbClr val="C00000"/>
                </a:solidFill>
              </a:rPr>
              <a:t>Bottle Neck</a:t>
            </a:r>
            <a:r>
              <a:rPr lang="ja-JP" altLang="en-US" sz="1400" dirty="0">
                <a:solidFill>
                  <a:srgbClr val="C00000"/>
                </a:solidFill>
              </a:rPr>
              <a:t>を解除するため</a:t>
            </a:r>
            <a:endParaRPr kumimoji="1" lang="ja-JP" altLang="en-US" sz="1400" dirty="0">
              <a:solidFill>
                <a:srgbClr val="C00000"/>
              </a:solidFill>
            </a:endParaRP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0373826" cy="683629"/>
          </a:xfrm>
        </p:spPr>
        <p:txBody>
          <a:bodyPr>
            <a:noAutofit/>
          </a:bodyPr>
          <a:lstStyle/>
          <a:p>
            <a:r>
              <a:rPr lang="ja-JP" altLang="en-US" dirty="0"/>
              <a:t>要件／ソリューション－添付ファイル管理（編集含む）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2829873544"/>
              </p:ext>
            </p:extLst>
          </p:nvPr>
        </p:nvGraphicFramePr>
        <p:xfrm>
          <a:off x="414335" y="757390"/>
          <a:ext cx="11284857" cy="5530640"/>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100" dirty="0"/>
                        <a:t>仕様書と添付ファイルの紐付け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仕様書の管理</a:t>
                      </a:r>
                      <a:r>
                        <a:rPr lang="en-US" altLang="ja-JP" sz="1000" dirty="0"/>
                        <a:t>DB</a:t>
                      </a:r>
                      <a:r>
                        <a:rPr lang="ja-JP" altLang="en-US" sz="1000" dirty="0"/>
                        <a:t>に、添付ファイル（複数</a:t>
                      </a:r>
                      <a:r>
                        <a:rPr lang="en-US" altLang="ja-JP" sz="1000" dirty="0"/>
                        <a:t>)</a:t>
                      </a:r>
                      <a:r>
                        <a:rPr lang="ja-JP" altLang="en-US" sz="1000" dirty="0"/>
                        <a:t>のファイル</a:t>
                      </a:r>
                      <a:r>
                        <a:rPr lang="en-US" altLang="ja-JP" sz="1000" dirty="0"/>
                        <a:t>ID</a:t>
                      </a:r>
                      <a:r>
                        <a:rPr lang="ja-JP" altLang="en-US" sz="1000" dirty="0"/>
                        <a:t>、ファイル名情報を保存、管理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10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Microsoft Search</a:t>
                      </a:r>
                      <a:r>
                        <a:rPr lang="ja-JP" altLang="en-US" sz="1000" kern="1200" dirty="0">
                          <a:solidFill>
                            <a:schemeClr val="tx1"/>
                          </a:solidFill>
                          <a:latin typeface="+mn-lt"/>
                          <a:ea typeface="+mn-ea"/>
                          <a:cs typeface="+mn-cs"/>
                        </a:rPr>
                        <a:t>機能を利用する実現</a:t>
                      </a:r>
                      <a:endParaRPr lang="en-US" altLang="ja-JP" sz="10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1000" kern="1200" dirty="0">
                          <a:solidFill>
                            <a:schemeClr val="tx1"/>
                          </a:solidFill>
                          <a:latin typeface="+mn-lt"/>
                          <a:ea typeface="+mn-ea"/>
                          <a:cs typeface="+mn-cs"/>
                        </a:rPr>
                        <a:t>実装面、</a:t>
                      </a:r>
                      <a:r>
                        <a:rPr lang="en-US" altLang="ja-JP" sz="1000" kern="1200" dirty="0">
                          <a:solidFill>
                            <a:schemeClr val="tx1"/>
                          </a:solidFill>
                          <a:latin typeface="+mn-lt"/>
                          <a:ea typeface="+mn-ea"/>
                          <a:cs typeface="+mn-cs"/>
                        </a:rPr>
                        <a:t>Microsoft</a:t>
                      </a:r>
                      <a:r>
                        <a:rPr lang="ja-JP" altLang="en-US" sz="1000" kern="1200" dirty="0">
                          <a:solidFill>
                            <a:schemeClr val="tx1"/>
                          </a:solidFill>
                          <a:latin typeface="+mn-lt"/>
                          <a:ea typeface="+mn-ea"/>
                          <a:cs typeface="+mn-cs"/>
                        </a:rPr>
                        <a:t> </a:t>
                      </a:r>
                      <a:r>
                        <a:rPr lang="en-US" altLang="ja-JP" sz="1000" kern="1200" dirty="0" err="1">
                          <a:solidFill>
                            <a:schemeClr val="tx1"/>
                          </a:solidFill>
                          <a:latin typeface="+mn-lt"/>
                          <a:ea typeface="+mn-ea"/>
                          <a:cs typeface="+mn-cs"/>
                        </a:rPr>
                        <a:t>GraphAPI</a:t>
                      </a:r>
                      <a:r>
                        <a:rPr lang="ja-JP" altLang="en-US" sz="1000" kern="1200" dirty="0">
                          <a:solidFill>
                            <a:schemeClr val="tx1"/>
                          </a:solidFill>
                          <a:latin typeface="+mn-lt"/>
                          <a:ea typeface="+mn-ea"/>
                          <a:cs typeface="+mn-cs"/>
                        </a:rPr>
                        <a:t>を利用する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50" kern="1200" dirty="0">
                          <a:solidFill>
                            <a:schemeClr val="tx1"/>
                          </a:solidFill>
                          <a:latin typeface="+mn-lt"/>
                          <a:ea typeface="+mn-ea"/>
                          <a:cs typeface="+mn-cs"/>
                        </a:rPr>
                        <a:t>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の履歴管理機能を利用（</a:t>
                      </a:r>
                      <a:r>
                        <a:rPr lang="en-US" altLang="ja-JP" sz="1000" kern="1200" dirty="0">
                          <a:solidFill>
                            <a:schemeClr val="tx1"/>
                          </a:solidFill>
                          <a:latin typeface="+mn-lt"/>
                          <a:ea typeface="+mn-ea"/>
                          <a:cs typeface="+mn-cs"/>
                        </a:rPr>
                        <a:t>Power Automate Flow</a:t>
                      </a:r>
                      <a:r>
                        <a:rPr lang="ja-JP" altLang="en-US" sz="1000" kern="1200" dirty="0">
                          <a:solidFill>
                            <a:schemeClr val="tx1"/>
                          </a:solidFill>
                          <a:latin typeface="+mn-lt"/>
                          <a:ea typeface="+mn-ea"/>
                          <a:cs typeface="+mn-cs"/>
                        </a:rPr>
                        <a:t>サポート）</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84794">
                <a:tc>
                  <a:txBody>
                    <a:bodyPr/>
                    <a:lstStyle/>
                    <a:p>
                      <a:r>
                        <a:rPr lang="ja-JP" altLang="en-US" sz="1050" kern="1200" dirty="0">
                          <a:solidFill>
                            <a:schemeClr val="tx1"/>
                          </a:solidFill>
                          <a:latin typeface="+mn-lt"/>
                          <a:ea typeface="+mn-ea"/>
                          <a:cs typeface="+mn-cs"/>
                        </a:rPr>
                        <a:t>サポートファイルタイプ（</a:t>
                      </a:r>
                      <a:r>
                        <a:rPr lang="en-US" altLang="ja-JP" sz="1050" kern="1200" dirty="0">
                          <a:solidFill>
                            <a:schemeClr val="tx1"/>
                          </a:solidFill>
                          <a:latin typeface="+mn-lt"/>
                          <a:ea typeface="+mn-ea"/>
                          <a:cs typeface="+mn-cs"/>
                        </a:rPr>
                        <a:t>Office</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Word, Excel, PowerPoint</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PDF</a:t>
                      </a:r>
                      <a:r>
                        <a:rPr lang="ja-JP" altLang="en-US" sz="105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の内蔵機能</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50" kern="1200" dirty="0">
                          <a:solidFill>
                            <a:schemeClr val="tx1"/>
                          </a:solidFill>
                          <a:latin typeface="+mn-lt"/>
                          <a:ea typeface="+mn-ea"/>
                          <a:cs typeface="+mn-cs"/>
                        </a:rPr>
                        <a:t>ファイルサイズ</a:t>
                      </a:r>
                      <a:r>
                        <a:rPr lang="en-US" altLang="ja-JP" sz="1050" kern="1200" dirty="0">
                          <a:solidFill>
                            <a:schemeClr val="tx1"/>
                          </a:solidFill>
                          <a:latin typeface="+mn-lt"/>
                          <a:ea typeface="+mn-ea"/>
                          <a:cs typeface="+mn-cs"/>
                        </a:rPr>
                        <a:t>: 50MB/</a:t>
                      </a:r>
                      <a:r>
                        <a:rPr lang="ja-JP" altLang="en-US" sz="105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PowerApps</a:t>
                      </a:r>
                      <a:r>
                        <a:rPr lang="ja-JP" altLang="en-US" sz="1000" kern="1200" dirty="0">
                          <a:solidFill>
                            <a:schemeClr val="tx1"/>
                          </a:solidFill>
                          <a:latin typeface="+mn-lt"/>
                          <a:ea typeface="+mn-ea"/>
                          <a:cs typeface="+mn-cs"/>
                        </a:rPr>
                        <a:t>の内蔵</a:t>
                      </a:r>
                      <a:r>
                        <a:rPr lang="en-US" altLang="ja-JP" sz="1000" kern="1200" dirty="0">
                          <a:solidFill>
                            <a:schemeClr val="tx1"/>
                          </a:solidFill>
                          <a:latin typeface="+mn-lt"/>
                          <a:ea typeface="+mn-ea"/>
                          <a:cs typeface="+mn-cs"/>
                        </a:rPr>
                        <a:t>File Download/Upload</a:t>
                      </a:r>
                      <a:r>
                        <a:rPr lang="ja-JP" altLang="en-US" sz="1000" kern="1200" dirty="0">
                          <a:solidFill>
                            <a:schemeClr val="tx1"/>
                          </a:solidFill>
                          <a:latin typeface="+mn-lt"/>
                          <a:ea typeface="+mn-ea"/>
                          <a:cs typeface="+mn-cs"/>
                        </a:rPr>
                        <a:t>コントロールで対応（</a:t>
                      </a: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5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solidFill>
                            <a:schemeClr val="tx1"/>
                          </a:solidFill>
                          <a:latin typeface="Yu Gothic UI" panose="020B0500000000000000" pitchFamily="50" charset="-128"/>
                          <a:ea typeface="Yu Gothic UI" panose="020B0500000000000000" pitchFamily="50" charset="-128"/>
                        </a:rPr>
                        <a:t>多階層</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構造にし、一つの</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にファイルを</a:t>
                      </a:r>
                      <a:r>
                        <a:rPr lang="en-US" altLang="ja-JP" sz="1000" dirty="0">
                          <a:solidFill>
                            <a:schemeClr val="tx1"/>
                          </a:solidFill>
                          <a:latin typeface="Yu Gothic UI" panose="020B0500000000000000" pitchFamily="50" charset="-128"/>
                          <a:ea typeface="Yu Gothic UI" panose="020B0500000000000000" pitchFamily="50" charset="-128"/>
                        </a:rPr>
                        <a:t>1000</a:t>
                      </a:r>
                      <a:r>
                        <a:rPr lang="ja-JP" altLang="en-US" sz="1000" dirty="0">
                          <a:solidFill>
                            <a:schemeClr val="tx1"/>
                          </a:solidFill>
                          <a:latin typeface="Yu Gothic UI" panose="020B0500000000000000" pitchFamily="50" charset="-128"/>
                          <a:ea typeface="Yu Gothic UI" panose="020B0500000000000000" pitchFamily="50" charset="-128"/>
                        </a:rPr>
                        <a:t>以内に抑えることでパフォーマンスを確保</a:t>
                      </a:r>
                      <a:endParaRPr lang="en-US" altLang="ja-JP" sz="10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Download/</a:t>
                      </a:r>
                      <a:r>
                        <a:rPr lang="ja-JP" altLang="en-US" sz="105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1000" kern="1200" dirty="0">
                          <a:solidFill>
                            <a:schemeClr val="tx1"/>
                          </a:solidFill>
                          <a:latin typeface="+mn-lt"/>
                          <a:ea typeface="+mn-ea"/>
                          <a:cs typeface="+mn-cs"/>
                        </a:rPr>
                        <a:t>データベーステーブルから</a:t>
                      </a:r>
                      <a:r>
                        <a:rPr lang="zh-CN" altLang="zh-CN" sz="1000" kern="1200" dirty="0">
                          <a:solidFill>
                            <a:schemeClr val="tx1"/>
                          </a:solidFill>
                          <a:latin typeface="+mn-lt"/>
                          <a:ea typeface="+mn-ea"/>
                          <a:cs typeface="+mn-cs"/>
                        </a:rPr>
                        <a:t>選択</a:t>
                      </a:r>
                      <a:r>
                        <a:rPr lang="ja-JP" altLang="en-US" sz="1000" kern="1200" dirty="0">
                          <a:solidFill>
                            <a:schemeClr val="tx1"/>
                          </a:solidFill>
                          <a:latin typeface="+mn-lt"/>
                          <a:ea typeface="+mn-ea"/>
                          <a:cs typeface="+mn-cs"/>
                        </a:rPr>
                        <a:t>対象の添付</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Power Apps</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Launch</a:t>
                      </a:r>
                      <a:r>
                        <a:rPr lang="ja-JP" altLang="en-US" sz="1000" kern="1200" dirty="0">
                          <a:solidFill>
                            <a:schemeClr val="tx1"/>
                          </a:solidFill>
                          <a:latin typeface="+mn-lt"/>
                          <a:ea typeface="+mn-ea"/>
                          <a:cs typeface="+mn-cs"/>
                        </a:rPr>
                        <a:t>機能を利用し、</a:t>
                      </a:r>
                      <a:r>
                        <a:rPr lang="zh-CN" altLang="zh-CN" sz="1000" kern="1200" dirty="0">
                          <a:solidFill>
                            <a:schemeClr val="tx1"/>
                          </a:solidFill>
                          <a:latin typeface="+mn-lt"/>
                          <a:ea typeface="+mn-ea"/>
                          <a:cs typeface="+mn-cs"/>
                        </a:rPr>
                        <a:t>Office Onlineで</a:t>
                      </a:r>
                      <a:r>
                        <a:rPr lang="ja-JP" altLang="en-US" sz="1000" kern="1200" dirty="0">
                          <a:solidFill>
                            <a:schemeClr val="tx1"/>
                          </a:solidFill>
                          <a:latin typeface="+mn-lt"/>
                          <a:ea typeface="+mn-ea"/>
                          <a:cs typeface="+mn-cs"/>
                        </a:rPr>
                        <a:t>直接</a:t>
                      </a:r>
                      <a:r>
                        <a:rPr lang="zh-CN" altLang="zh-CN" sz="1000" kern="1200" dirty="0">
                          <a:solidFill>
                            <a:schemeClr val="tx1"/>
                          </a:solidFill>
                          <a:latin typeface="+mn-lt"/>
                          <a:ea typeface="+mn-ea"/>
                          <a:cs typeface="+mn-cs"/>
                        </a:rPr>
                        <a:t>開く（例: </a:t>
                      </a:r>
                      <a:r>
                        <a:rPr lang="zh-CN" altLang="zh-CN" sz="10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1000" kern="1200" dirty="0">
                          <a:solidFill>
                            <a:schemeClr val="tx1"/>
                          </a:solidFill>
                          <a:latin typeface="+mn-lt"/>
                          <a:ea typeface="+mn-ea"/>
                          <a:cs typeface="+mn-cs"/>
                        </a:rPr>
                        <a:t>]）</a:t>
                      </a:r>
                      <a:r>
                        <a:rPr lang="en-US" altLang="ja-JP" sz="1000" kern="1200" dirty="0" err="1">
                          <a:solidFill>
                            <a:schemeClr val="tx1"/>
                          </a:solidFill>
                          <a:latin typeface="+mn-lt"/>
                          <a:ea typeface="+mn-ea"/>
                          <a:cs typeface="+mn-cs"/>
                        </a:rPr>
                        <a:t>ReadOnly</a:t>
                      </a:r>
                      <a:r>
                        <a:rPr lang="en-US" altLang="ja-JP" sz="1000" kern="1200" dirty="0">
                          <a:solidFill>
                            <a:schemeClr val="tx1"/>
                          </a:solidFill>
                          <a:latin typeface="+mn-lt"/>
                          <a:ea typeface="+mn-ea"/>
                          <a:cs typeface="+mn-cs"/>
                        </a:rPr>
                        <a:t>/</a:t>
                      </a:r>
                      <a:r>
                        <a:rPr lang="ja-JP" altLang="en-US" sz="1000" kern="1200" dirty="0">
                          <a:solidFill>
                            <a:schemeClr val="tx1"/>
                          </a:solidFill>
                          <a:latin typeface="+mn-lt"/>
                          <a:ea typeface="+mn-ea"/>
                          <a:cs typeface="+mn-cs"/>
                        </a:rPr>
                        <a:t>編集モードは仕様に従って定義</a:t>
                      </a:r>
                      <a:endParaRPr lang="en-US" altLang="zh-CN"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Upload</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された</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a:t>
                      </a:r>
                      <a:r>
                        <a:rPr lang="ja-JP" altLang="en-US" sz="1000" kern="1200" dirty="0">
                          <a:solidFill>
                            <a:schemeClr val="tx1"/>
                          </a:solidFill>
                          <a:latin typeface="+mn-lt"/>
                          <a:ea typeface="+mn-ea"/>
                          <a:cs typeface="+mn-cs"/>
                        </a:rPr>
                        <a:t>算出</a:t>
                      </a:r>
                      <a:r>
                        <a:rPr lang="zh-CN" altLang="zh-CN" sz="10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1000" dirty="0"/>
                        <a:t>ファイルを</a:t>
                      </a:r>
                      <a:r>
                        <a:rPr lang="en-US" altLang="ja-JP" sz="1000" dirty="0"/>
                        <a:t>SPO</a:t>
                      </a:r>
                      <a:r>
                        <a:rPr lang="ja-JP" altLang="en-US" sz="1000" dirty="0"/>
                        <a:t>の場所に</a:t>
                      </a:r>
                      <a:r>
                        <a:rPr lang="en-US" altLang="ja-JP" sz="1000" dirty="0"/>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ファイルの権限を設定（共有相手個人、組織のみに与える）</a:t>
                      </a:r>
                      <a:endParaRPr lang="en-US" altLang="ja-JP" sz="1000" dirty="0"/>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仕様書</a:t>
                      </a:r>
                      <a:r>
                        <a:rPr lang="en-US" altLang="ja-JP" sz="1000" dirty="0"/>
                        <a:t>Table</a:t>
                      </a:r>
                      <a:r>
                        <a:rPr lang="ja-JP" altLang="en-US" sz="1000" dirty="0"/>
                        <a:t>に添付ファイル情報を登録する</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8D8B1919-9D04-D60A-C40F-E0663E5D1CA0}"/>
              </a:ext>
            </a:extLst>
          </p:cNvPr>
          <p:cNvPicPr>
            <a:picLocks noChangeAspect="1"/>
          </p:cNvPicPr>
          <p:nvPr/>
        </p:nvPicPr>
        <p:blipFill>
          <a:blip r:embed="rId4"/>
          <a:stretch>
            <a:fillRect/>
          </a:stretch>
        </p:blipFill>
        <p:spPr>
          <a:xfrm>
            <a:off x="5621497" y="3187581"/>
            <a:ext cx="5925026" cy="304566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3893006779"/>
              </p:ext>
            </p:extLst>
          </p:nvPr>
        </p:nvGraphicFramePr>
        <p:xfrm>
          <a:off x="414336" y="1068577"/>
          <a:ext cx="11284856" cy="5169117"/>
        </p:xfrm>
        <a:graphic>
          <a:graphicData uri="http://schemas.openxmlformats.org/drawingml/2006/table">
            <a:tbl>
              <a:tblPr firstRow="1">
                <a:tableStyleId>{2D5ABB26-0587-4C30-8999-92F81FD0307C}</a:tableStyleId>
              </a:tblPr>
              <a:tblGrid>
                <a:gridCol w="1739205">
                  <a:extLst>
                    <a:ext uri="{9D8B030D-6E8A-4147-A177-3AD203B41FA5}">
                      <a16:colId xmlns:a16="http://schemas.microsoft.com/office/drawing/2014/main" val="307087368"/>
                    </a:ext>
                  </a:extLst>
                </a:gridCol>
                <a:gridCol w="4802737">
                  <a:extLst>
                    <a:ext uri="{9D8B030D-6E8A-4147-A177-3AD203B41FA5}">
                      <a16:colId xmlns:a16="http://schemas.microsoft.com/office/drawing/2014/main" val="1007415991"/>
                    </a:ext>
                  </a:extLst>
                </a:gridCol>
                <a:gridCol w="4742914">
                  <a:extLst>
                    <a:ext uri="{9D8B030D-6E8A-4147-A177-3AD203B41FA5}">
                      <a16:colId xmlns:a16="http://schemas.microsoft.com/office/drawing/2014/main" val="467773725"/>
                    </a:ext>
                  </a:extLst>
                </a:gridCol>
              </a:tblGrid>
              <a:tr h="24357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777777">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ja-JP" altLang="en-US" sz="900" dirty="0">
                          <a:latin typeface="Arial" panose="020B0604020202020204" pitchFamily="34" charset="0"/>
                        </a:rPr>
                        <a:t>で</a:t>
                      </a:r>
                      <a:r>
                        <a:rPr kumimoji="0" lang="zh-CN" altLang="zh-CN" sz="900" dirty="0">
                          <a:latin typeface="Arial" panose="020B0604020202020204" pitchFamily="34" charset="0"/>
                        </a:rPr>
                        <a:t>モバイル/デスクトップ対応のため、PowerAppsのDownload関数を使用。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ページを埋め込むの</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）により</a:t>
                      </a:r>
                      <a:r>
                        <a:rPr lang="en-US" altLang="ja-JP" sz="900" dirty="0">
                          <a:latin typeface="Yu Gothic UI" panose="020B0500000000000000" pitchFamily="50" charset="-128"/>
                          <a:ea typeface="Yu Gothic UI" panose="020B0500000000000000" pitchFamily="50" charset="-128"/>
                        </a:rPr>
                        <a:t>Java Script</a:t>
                      </a:r>
                      <a:r>
                        <a:rPr lang="ja-JP" altLang="en-US" sz="900" dirty="0">
                          <a:latin typeface="Yu Gothic UI" panose="020B0500000000000000" pitchFamily="50" charset="-128"/>
                          <a:ea typeface="Yu Gothic UI" panose="020B0500000000000000" pitchFamily="50" charset="-128"/>
                        </a:rPr>
                        <a:t>を導入</a:t>
                      </a:r>
                      <a:endParaRPr lang="en-US" altLang="ja-JP" sz="900" dirty="0">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No.3</a:t>
                      </a:r>
                      <a:r>
                        <a:rPr kumimoji="0" lang="ja-JP" altLang="en-US" sz="900" dirty="0">
                          <a:latin typeface="Arial" panose="020B0604020202020204" pitchFamily="34" charset="0"/>
                        </a:rPr>
                        <a:t>で導入された</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latin typeface="Arial" panose="020B0604020202020204" pitchFamily="34" charset="0"/>
                        </a:rPr>
                        <a:t>※</a:t>
                      </a:r>
                      <a:r>
                        <a:rPr kumimoji="0" lang="ja-JP" altLang="en-US" sz="900" dirty="0">
                          <a:latin typeface="Arial" panose="020B0604020202020204" pitchFamily="34" charset="0"/>
                        </a:rPr>
                        <a:t>　</a:t>
                      </a:r>
                      <a:r>
                        <a:rPr kumimoji="0" lang="en-US" altLang="ja-JP" sz="900" dirty="0">
                          <a:latin typeface="Arial" panose="020B0604020202020204" pitchFamily="34" charset="0"/>
                        </a:rPr>
                        <a:t>No.4</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社内標準ブラウザ</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49162">
                <a:tc>
                  <a:txBody>
                    <a:bodyPr/>
                    <a:lstStyle/>
                    <a:p>
                      <a:r>
                        <a:rPr lang="ja-JP" altLang="en-US" sz="1100" dirty="0"/>
                        <a:t>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07550">
                <a:tc>
                  <a:txBody>
                    <a:bodyPr/>
                    <a:lstStyle/>
                    <a:p>
                      <a:r>
                        <a:rPr lang="ja-JP" altLang="en-US" sz="1100" dirty="0"/>
                        <a:t>複数添付ファイルそれぞれダウンロード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17173">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49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確実実現可能（実績あり）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5075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21717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83494" y="3292354"/>
            <a:ext cx="2434950" cy="721561"/>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2410915134"/>
              </p:ext>
            </p:extLst>
          </p:nvPr>
        </p:nvGraphicFramePr>
        <p:xfrm>
          <a:off x="453572" y="867273"/>
          <a:ext cx="11284856" cy="526362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lang="ja-JP" altLang="en-US" sz="1000"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添付ファイルの内容から検索キーワードを含むファイルを検索し、該当ファイルの所有仕様書レコードを画面に表示する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済のファイルに対して、再度添付ファイルの権限処理が必要（複雑）</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Microsoft</a:t>
                      </a:r>
                      <a:r>
                        <a:rPr lang="ja-JP" altLang="en-US" sz="900" b="1" dirty="0">
                          <a:solidFill>
                            <a:srgbClr val="FF0000"/>
                          </a:solidFill>
                        </a:rPr>
                        <a:t> </a:t>
                      </a:r>
                      <a:r>
                        <a:rPr lang="en-US" altLang="ja-JP" sz="900" b="1" dirty="0">
                          <a:solidFill>
                            <a:srgbClr val="FF0000"/>
                          </a:solidFill>
                        </a:rPr>
                        <a:t>Search</a:t>
                      </a:r>
                      <a:r>
                        <a:rPr lang="ja-JP" altLang="en-US" sz="900" b="1" dirty="0">
                          <a:solidFill>
                            <a:srgbClr val="FF0000"/>
                          </a:solidFill>
                        </a:rPr>
                        <a:t>のコネクタが提供されていないため、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5980" y="4178824"/>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1973787379"/>
              </p:ext>
            </p:extLst>
          </p:nvPr>
        </p:nvGraphicFramePr>
        <p:xfrm>
          <a:off x="2324608" y="5017588"/>
          <a:ext cx="5161281" cy="983408"/>
        </p:xfrm>
        <a:graphic>
          <a:graphicData uri="http://schemas.openxmlformats.org/drawingml/2006/table">
            <a:tbl>
              <a:tblPr firstRow="1">
                <a:tableStyleId>{35758FB7-9AC5-4552-8A53-C91805E547FA}</a:tableStyleId>
              </a:tblPr>
              <a:tblGrid>
                <a:gridCol w="652467">
                  <a:extLst>
                    <a:ext uri="{9D8B030D-6E8A-4147-A177-3AD203B41FA5}">
                      <a16:colId xmlns:a16="http://schemas.microsoft.com/office/drawing/2014/main" val="2071358957"/>
                    </a:ext>
                  </a:extLst>
                </a:gridCol>
                <a:gridCol w="1579901">
                  <a:extLst>
                    <a:ext uri="{9D8B030D-6E8A-4147-A177-3AD203B41FA5}">
                      <a16:colId xmlns:a16="http://schemas.microsoft.com/office/drawing/2014/main" val="3815825157"/>
                    </a:ext>
                  </a:extLst>
                </a:gridCol>
                <a:gridCol w="960059">
                  <a:extLst>
                    <a:ext uri="{9D8B030D-6E8A-4147-A177-3AD203B41FA5}">
                      <a16:colId xmlns:a16="http://schemas.microsoft.com/office/drawing/2014/main" val="3610100658"/>
                    </a:ext>
                  </a:extLst>
                </a:gridCol>
                <a:gridCol w="1968854">
                  <a:extLst>
                    <a:ext uri="{9D8B030D-6E8A-4147-A177-3AD203B41FA5}">
                      <a16:colId xmlns:a16="http://schemas.microsoft.com/office/drawing/2014/main" val="2805758698"/>
                    </a:ext>
                  </a:extLst>
                </a:gridCol>
              </a:tblGrid>
              <a:tr h="69075">
                <a:tc>
                  <a:txBody>
                    <a:bodyPr/>
                    <a:lstStyle/>
                    <a:p>
                      <a:r>
                        <a:rPr lang="ja-JP" altLang="en-US" sz="600" dirty="0"/>
                        <a:t>コネクタ名</a:t>
                      </a:r>
                    </a:p>
                  </a:txBody>
                  <a:tcPr marL="40112" marR="40112" marT="20056" marB="20056" anchor="ctr"/>
                </a:tc>
                <a:tc>
                  <a:txBody>
                    <a:bodyPr/>
                    <a:lstStyle/>
                    <a:p>
                      <a:r>
                        <a:rPr lang="ja-JP" altLang="en-US" sz="600"/>
                        <a:t>主な役割</a:t>
                      </a:r>
                    </a:p>
                  </a:txBody>
                  <a:tcPr marL="40112" marR="40112" marT="20056" marB="20056" anchor="ctr"/>
                </a:tc>
                <a:tc>
                  <a:txBody>
                    <a:bodyPr/>
                    <a:lstStyle/>
                    <a:p>
                      <a:r>
                        <a:rPr lang="ja-JP" altLang="en-US" sz="600"/>
                        <a:t>データソース</a:t>
                      </a:r>
                    </a:p>
                  </a:txBody>
                  <a:tcPr marL="40112" marR="40112" marT="20056" marB="20056" anchor="ctr"/>
                </a:tc>
                <a:tc>
                  <a:txBody>
                    <a:bodyPr/>
                    <a:lstStyle/>
                    <a:p>
                      <a:r>
                        <a:rPr lang="ja-JP" altLang="en-US" sz="600"/>
                        <a:t>関係性</a:t>
                      </a:r>
                      <a:r>
                        <a:rPr lang="en-US" altLang="ja-JP" sz="600"/>
                        <a:t>/</a:t>
                      </a:r>
                      <a:r>
                        <a:rPr lang="ja-JP" altLang="en-US" sz="6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600" b="1" dirty="0"/>
                        <a:t>Office 365 Users</a:t>
                      </a:r>
                      <a:endParaRPr lang="de-DE" sz="600" dirty="0"/>
                    </a:p>
                  </a:txBody>
                  <a:tcPr marL="40112" marR="40112" marT="20056" marB="20056" anchor="ctr"/>
                </a:tc>
                <a:tc>
                  <a:txBody>
                    <a:bodyPr/>
                    <a:lstStyle/>
                    <a:p>
                      <a:r>
                        <a:rPr lang="ja-JP" altLang="en-US" sz="600" dirty="0"/>
                        <a:t>組織内のユーザー（名前、メールアドレス、部署など）の</a:t>
                      </a:r>
                      <a:r>
                        <a:rPr lang="ja-JP" altLang="en-US" sz="600" b="1" dirty="0"/>
                        <a:t>読み取り</a:t>
                      </a:r>
                      <a:r>
                        <a:rPr lang="ja-JP" altLang="en-US" sz="600" dirty="0"/>
                        <a:t>。</a:t>
                      </a:r>
                    </a:p>
                  </a:txBody>
                  <a:tcPr marL="40112" marR="40112" marT="20056" marB="20056" anchor="ctr"/>
                </a:tc>
                <a:tc>
                  <a:txBody>
                    <a:bodyPr/>
                    <a:lstStyle/>
                    <a:p>
                      <a:r>
                        <a:rPr lang="de-DE" sz="600" dirty="0"/>
                        <a:t>Microsoft Graph (Azure AD)</a:t>
                      </a:r>
                    </a:p>
                  </a:txBody>
                  <a:tcPr marL="40112" marR="40112" marT="20056" marB="20056" anchor="ctr"/>
                </a:tc>
                <a:tc>
                  <a:txBody>
                    <a:bodyPr/>
                    <a:lstStyle/>
                    <a:p>
                      <a:r>
                        <a:rPr lang="ja-JP" altLang="en-US" sz="600"/>
                        <a:t>ユーザー情報を取得する最も基本的なコネクタ。他の多くのサービスと共通の認証基盤（</a:t>
                      </a:r>
                      <a:r>
                        <a:rPr lang="en-US" altLang="ja-JP" sz="600"/>
                        <a:t>Azure AD</a:t>
                      </a:r>
                      <a:r>
                        <a:rPr lang="ja-JP" altLang="en-US" sz="6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600" b="1"/>
                        <a:t>Office 365 Outlook</a:t>
                      </a:r>
                      <a:endParaRPr lang="de-DE" sz="600"/>
                    </a:p>
                  </a:txBody>
                  <a:tcPr marL="40112" marR="40112" marT="20056" marB="20056" anchor="ctr"/>
                </a:tc>
                <a:tc>
                  <a:txBody>
                    <a:bodyPr/>
                    <a:lstStyle/>
                    <a:p>
                      <a:r>
                        <a:rPr lang="ja-JP" altLang="en-US" sz="600" dirty="0"/>
                        <a:t>ユーザーの</a:t>
                      </a:r>
                      <a:r>
                        <a:rPr lang="ja-JP" altLang="en-US" sz="600" b="1" dirty="0"/>
                        <a:t>メールボックス、カレンダー</a:t>
                      </a:r>
                      <a:r>
                        <a:rPr lang="ja-JP" altLang="en-US" sz="600" dirty="0"/>
                        <a:t>へのアクセス（メール送信、イベントの読み書き）。</a:t>
                      </a:r>
                    </a:p>
                  </a:txBody>
                  <a:tcPr marL="40112" marR="40112" marT="20056" marB="20056" anchor="ctr"/>
                </a:tc>
                <a:tc>
                  <a:txBody>
                    <a:bodyPr/>
                    <a:lstStyle/>
                    <a:p>
                      <a:r>
                        <a:rPr lang="de-DE" sz="600" dirty="0"/>
                        <a:t>Exchange Online / Microsoft Graph</a:t>
                      </a:r>
                    </a:p>
                  </a:txBody>
                  <a:tcPr marL="40112" marR="40112" marT="20056" marB="20056" anchor="ctr"/>
                </a:tc>
                <a:tc>
                  <a:txBody>
                    <a:bodyPr/>
                    <a:lstStyle/>
                    <a:p>
                      <a:r>
                        <a:rPr lang="ja-JP" altLang="en-US" sz="600" dirty="0"/>
                        <a:t>ユーザー固有のメールやカレンダー操作に特化しています。認証は </a:t>
                      </a:r>
                      <a:r>
                        <a:rPr lang="en-US" altLang="ja-JP" sz="600" dirty="0"/>
                        <a:t>Users </a:t>
                      </a:r>
                      <a:r>
                        <a:rPr lang="ja-JP" altLang="en-US" sz="600" dirty="0"/>
                        <a:t>と同じく </a:t>
                      </a:r>
                      <a:r>
                        <a:rPr lang="en-US" altLang="ja-JP" sz="600" dirty="0"/>
                        <a:t>Microsoft 365 </a:t>
                      </a:r>
                      <a:r>
                        <a:rPr lang="ja-JP" altLang="en-US" sz="6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600" b="1"/>
                        <a:t>Office 365 Groups</a:t>
                      </a:r>
                      <a:endParaRPr lang="de-DE" sz="600"/>
                    </a:p>
                  </a:txBody>
                  <a:tcPr marL="40112" marR="40112" marT="20056" marB="20056" anchor="ctr"/>
                </a:tc>
                <a:tc>
                  <a:txBody>
                    <a:bodyPr/>
                    <a:lstStyle/>
                    <a:p>
                      <a:r>
                        <a:rPr lang="ja-JP" altLang="en-US" sz="600" dirty="0"/>
                        <a:t>組織内の </a:t>
                      </a:r>
                      <a:r>
                        <a:rPr lang="en-US" altLang="ja-JP" sz="600" b="1" dirty="0"/>
                        <a:t>Microsoft 365 </a:t>
                      </a:r>
                      <a:r>
                        <a:rPr lang="ja-JP" altLang="en-US" sz="600" b="1" dirty="0"/>
                        <a:t>グループ</a:t>
                      </a:r>
                      <a:r>
                        <a:rPr lang="ja-JP" altLang="en-US" sz="600" dirty="0"/>
                        <a:t>の情報取得と管理。</a:t>
                      </a:r>
                    </a:p>
                  </a:txBody>
                  <a:tcPr marL="40112" marR="40112" marT="20056" marB="20056" anchor="ctr"/>
                </a:tc>
                <a:tc>
                  <a:txBody>
                    <a:bodyPr/>
                    <a:lstStyle/>
                    <a:p>
                      <a:r>
                        <a:rPr lang="de-DE" sz="600" dirty="0"/>
                        <a:t>Microsoft Graph</a:t>
                      </a:r>
                    </a:p>
                  </a:txBody>
                  <a:tcPr marL="40112" marR="40112" marT="20056" marB="20056" anchor="ctr"/>
                </a:tc>
                <a:tc>
                  <a:txBody>
                    <a:bodyPr/>
                    <a:lstStyle/>
                    <a:p>
                      <a:r>
                        <a:rPr lang="ja-JP" altLang="en-US" sz="600" dirty="0"/>
                        <a:t>組織構造（グループ単位）の情報にアクセスします。</a:t>
                      </a:r>
                      <a:r>
                        <a:rPr lang="en-US" altLang="ja-JP" sz="600" dirty="0"/>
                        <a:t>Users </a:t>
                      </a:r>
                      <a:r>
                        <a:rPr lang="ja-JP" altLang="en-US" sz="600" dirty="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8412805" y="1495582"/>
            <a:ext cx="3278733" cy="896697"/>
          </a:xfrm>
          <a:prstGeom prst="rect">
            <a:avLst/>
          </a:prstGeom>
        </p:spPr>
      </p:pic>
    </p:spTree>
    <p:extLst>
      <p:ext uri="{BB962C8B-B14F-4D97-AF65-F5344CB8AC3E}">
        <p14:creationId xmlns:p14="http://schemas.microsoft.com/office/powerpoint/2010/main" val="29259702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要件／ソリューション－パフォーマンス、</a:t>
            </a:r>
            <a:r>
              <a:rPr lang="en-US" altLang="ja-JP" dirty="0"/>
              <a:t>HA</a:t>
            </a:r>
            <a:r>
              <a:rPr lang="ja-JP" altLang="en-US" dirty="0"/>
              <a:t>など</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2263487765"/>
              </p:ext>
            </p:extLst>
          </p:nvPr>
        </p:nvGraphicFramePr>
        <p:xfrm>
          <a:off x="414336" y="895564"/>
          <a:ext cx="11284857" cy="5430715"/>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3868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66477">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221439">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a:t>
                      </a:r>
                      <a:endParaRPr kumimoji="0" lang="en-US" altLang="zh-CN" sz="1000" dirty="0">
                        <a:latin typeface="Arial" panose="020B0604020202020204" pitchFamily="34" charset="0"/>
                      </a:endParaRPr>
                    </a:p>
                    <a:p>
                      <a:r>
                        <a:rPr kumimoji="0" lang="zh-CN" altLang="zh-CN" sz="1000" dirty="0">
                          <a:latin typeface="Arial" panose="020B0604020202020204" pitchFamily="34" charset="0"/>
                        </a:rPr>
                        <a:t>大容量ファイル時はストリーミング</a:t>
                      </a:r>
                      <a:r>
                        <a:rPr kumimoji="0" lang="zh-CN" altLang="zh-CN" sz="1050" dirty="0">
                          <a:latin typeface="Arial" panose="020B0604020202020204" pitchFamily="34" charset="0"/>
                        </a:rPr>
                        <a:t>。</a:t>
                      </a:r>
                      <a:endParaRPr kumimoji="0" lang="en-US" altLang="zh-CN" sz="1050" dirty="0">
                        <a:latin typeface="Arial" panose="020B0604020202020204" pitchFamily="34" charset="0"/>
                      </a:endParaRPr>
                    </a:p>
                    <a:p>
                      <a:r>
                        <a:rPr kumimoji="0" lang="en-US" altLang="ja-JP" sz="1050" kern="1200" dirty="0">
                          <a:solidFill>
                            <a:schemeClr val="tx1"/>
                          </a:solidFill>
                          <a:latin typeface="Arial" panose="020B0604020202020204" pitchFamily="34" charset="0"/>
                          <a:ea typeface="+mn-ea"/>
                          <a:cs typeface="+mn-cs"/>
                        </a:rPr>
                        <a:t>SPO</a:t>
                      </a:r>
                      <a:r>
                        <a:rPr kumimoji="0" lang="ja-JP" altLang="en-US" sz="1050" kern="1200" dirty="0">
                          <a:solidFill>
                            <a:schemeClr val="tx1"/>
                          </a:solidFill>
                          <a:latin typeface="Arial" panose="020B0604020202020204" pitchFamily="34" charset="0"/>
                          <a:ea typeface="+mn-ea"/>
                          <a:cs typeface="+mn-cs"/>
                        </a:rPr>
                        <a:t>に置く添付ファイルは多階層設計することで、フォルダ毎のサブフォルダ、ファイルの数を抑える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1281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773799">
                <a:tc>
                  <a:txBody>
                    <a:bodyPr/>
                    <a:lstStyle/>
                    <a:p>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1281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1281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2128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負荷テスト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）を</a:t>
                      </a:r>
                      <a:r>
                        <a:rPr kumimoji="0" lang="ja-JP" altLang="en-US" sz="1000" dirty="0">
                          <a:latin typeface="Arial" panose="020B0604020202020204" pitchFamily="34" charset="0"/>
                        </a:rPr>
                        <a:t>事前に</a:t>
                      </a:r>
                      <a:r>
                        <a:rPr kumimoji="0" lang="en-US" altLang="ja-JP" sz="1000" dirty="0">
                          <a:latin typeface="Arial" panose="020B0604020202020204" pitchFamily="34" charset="0"/>
                        </a:rPr>
                        <a:t>Facility</a:t>
                      </a:r>
                      <a:r>
                        <a:rPr kumimoji="0" lang="ja-JP" altLang="en-US" sz="1000" dirty="0">
                          <a:latin typeface="Arial" panose="020B0604020202020204" pitchFamily="34" charset="0"/>
                        </a:rPr>
                        <a:t>を</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4080560629"/>
              </p:ext>
            </p:extLst>
          </p:nvPr>
        </p:nvGraphicFramePr>
        <p:xfrm>
          <a:off x="453572" y="867271"/>
          <a:ext cx="11284856" cy="564430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にアクセス可否がコントロール可能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レコード）単位の権限管理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レコード）単位に、権限アクセス</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を設計、仕様書（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仕様書新規作成機能、仕様書新規作成編集機能と連携、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文書の詳細画面直接開く場合、カレントログインユーザのアクセス可否を再度判断する（直接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実現案の一例であり、今回案件の組織定義・権限管理粒度に合わせて設計フェーズに、詳細化する予定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添付ファイルのアクセス権限は紐付く仕様書と同じアクセス権限とする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solidFill>
                            <a:srgbClr val="0070C0"/>
                          </a:solidFill>
                        </a:rPr>
                        <a:t>SPO</a:t>
                      </a:r>
                      <a:r>
                        <a:rPr lang="ja-JP" altLang="en-US" sz="900" b="1" dirty="0">
                          <a:solidFill>
                            <a:srgbClr val="0070C0"/>
                          </a:solidFill>
                        </a:rPr>
                        <a:t>に保存されているファイルには</a:t>
                      </a:r>
                      <a:r>
                        <a:rPr lang="en-US" altLang="ja-JP" sz="900" b="1" dirty="0">
                          <a:solidFill>
                            <a:srgbClr val="0070C0"/>
                          </a:solidFill>
                        </a:rPr>
                        <a:t>Upload</a:t>
                      </a:r>
                      <a:r>
                        <a:rPr lang="ja-JP" altLang="en-US" sz="900" b="1" dirty="0">
                          <a:solidFill>
                            <a:srgbClr val="0070C0"/>
                          </a:solidFill>
                        </a:rPr>
                        <a:t>する時に定義したアクセス権限（</a:t>
                      </a:r>
                      <a:r>
                        <a:rPr lang="en-US" altLang="ja-JP" sz="900" b="1" dirty="0">
                          <a:solidFill>
                            <a:srgbClr val="0070C0"/>
                          </a:solidFill>
                        </a:rPr>
                        <a:t>Read/Edit/</a:t>
                      </a:r>
                      <a:r>
                        <a:rPr lang="en-US" altLang="ja-JP" sz="900" b="1" dirty="0" err="1">
                          <a:solidFill>
                            <a:srgbClr val="0070C0"/>
                          </a:solidFill>
                        </a:rPr>
                        <a:t>Downoad</a:t>
                      </a:r>
                      <a:r>
                        <a:rPr lang="ja-JP" altLang="en-US" sz="900" b="1" dirty="0">
                          <a:solidFill>
                            <a:srgbClr val="0070C0"/>
                          </a:solidFill>
                        </a:rPr>
                        <a:t>）は、</a:t>
                      </a:r>
                      <a:r>
                        <a:rPr lang="en-US" altLang="ja-JP" sz="900" b="1" dirty="0">
                          <a:solidFill>
                            <a:srgbClr val="0070C0"/>
                          </a:solidFill>
                        </a:rPr>
                        <a:t>SPO</a:t>
                      </a:r>
                      <a:r>
                        <a:rPr lang="ja-JP" altLang="en-US" sz="900" b="1" dirty="0">
                          <a:solidFill>
                            <a:srgbClr val="0070C0"/>
                          </a:solidFill>
                        </a:rPr>
                        <a:t>に直接にアクセスするときも有効にすることで、直接にアクセスすることを制約します。</a:t>
                      </a:r>
                      <a:endParaRPr kumimoji="0" lang="en-US" altLang="ja-JP" sz="900" b="1" kern="1200" dirty="0">
                        <a:solidFill>
                          <a:srgbClr val="0070C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ファイルに該当する権限を付与する（ファイル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承認完了の場合、作成者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論理</a:t>
                      </a:r>
                      <a:r>
                        <a:rPr kumimoji="0" lang="en-US" altLang="ja-JP" sz="900" kern="1200" dirty="0">
                          <a:solidFill>
                            <a:schemeClr val="tx1"/>
                          </a:solidFill>
                          <a:latin typeface="Arial" panose="020B0604020202020204" pitchFamily="34" charset="0"/>
                          <a:ea typeface="+mn-ea"/>
                          <a:cs typeface="+mn-cs"/>
                        </a:rPr>
                        <a:t>Security 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a:t>
                      </a:r>
                      <a:r>
                        <a:rPr kumimoji="0" lang="en-US" altLang="ja-JP" sz="900" b="1" kern="1200" dirty="0">
                          <a:solidFill>
                            <a:srgbClr val="FF0000"/>
                          </a:solidFill>
                          <a:latin typeface="Arial" panose="020B0604020202020204" pitchFamily="34" charset="0"/>
                          <a:ea typeface="+mn-ea"/>
                          <a:cs typeface="+mn-cs"/>
                        </a:rPr>
                        <a:t>Batch</a:t>
                      </a:r>
                      <a:r>
                        <a:rPr kumimoji="0" lang="ja-JP" altLang="en-US" sz="900" b="1" kern="1200" dirty="0">
                          <a:solidFill>
                            <a:srgbClr val="FF0000"/>
                          </a:solidFill>
                          <a:latin typeface="Arial" panose="020B0604020202020204" pitchFamily="34" charset="0"/>
                          <a:ea typeface="+mn-ea"/>
                          <a:cs typeface="+mn-cs"/>
                        </a:rPr>
                        <a:t>あるいは非同期で動作させる）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155322" y="2765198"/>
            <a:ext cx="4814316" cy="2459878"/>
          </a:xfrm>
          <a:prstGeom prst="rect">
            <a:avLst/>
          </a:prstGeom>
        </p:spPr>
      </p:pic>
    </p:spTree>
    <p:extLst>
      <p:ext uri="{BB962C8B-B14F-4D97-AF65-F5344CB8AC3E}">
        <p14:creationId xmlns:p14="http://schemas.microsoft.com/office/powerpoint/2010/main" val="3815098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754042589"/>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ユーザ別の属性管理は実現可能であり、パフォーマンス低下及び管理コスト増につながる恐れがあり、</a:t>
            </a:r>
            <a:endParaRPr kumimoji="1" lang="en-US" altLang="ja-JP" sz="1600" dirty="0">
              <a:solidFill>
                <a:srgbClr val="FF0000"/>
              </a:solidFill>
            </a:endParaRPr>
          </a:p>
          <a:p>
            <a:r>
              <a:rPr kumimoji="1" lang="ja-JP" altLang="en-US" sz="1600" dirty="0">
                <a:solidFill>
                  <a:srgbClr val="FF0000"/>
                </a:solidFill>
              </a:rPr>
              <a:t>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6" name="図 5">
            <a:extLst>
              <a:ext uri="{FF2B5EF4-FFF2-40B4-BE49-F238E27FC236}">
                <a16:creationId xmlns:a16="http://schemas.microsoft.com/office/drawing/2014/main" id="{FA0DC263-56D1-12D3-7947-6BAFF85D4E5D}"/>
              </a:ext>
            </a:extLst>
          </p:cNvPr>
          <p:cNvPicPr>
            <a:picLocks noChangeAspect="1"/>
          </p:cNvPicPr>
          <p:nvPr/>
        </p:nvPicPr>
        <p:blipFill>
          <a:blip r:embed="rId3"/>
          <a:stretch>
            <a:fillRect/>
          </a:stretch>
        </p:blipFill>
        <p:spPr>
          <a:xfrm>
            <a:off x="4632959" y="3543487"/>
            <a:ext cx="7309053" cy="1942913"/>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プロジェクトリスク</a:t>
            </a:r>
            <a:endParaRPr lang="zh-CN" altLang="en-US" dirty="0"/>
          </a:p>
        </p:txBody>
      </p:sp>
      <p:graphicFrame>
        <p:nvGraphicFramePr>
          <p:cNvPr id="4" name="表 3">
            <a:extLst>
              <a:ext uri="{FF2B5EF4-FFF2-40B4-BE49-F238E27FC236}">
                <a16:creationId xmlns:a16="http://schemas.microsoft.com/office/drawing/2014/main" id="{9364F8F7-8993-8F9F-93B4-950689A63292}"/>
              </a:ext>
            </a:extLst>
          </p:cNvPr>
          <p:cNvGraphicFramePr>
            <a:graphicFrameLocks noGrp="1"/>
          </p:cNvGraphicFramePr>
          <p:nvPr>
            <p:extLst>
              <p:ext uri="{D42A27DB-BD31-4B8C-83A1-F6EECF244321}">
                <p14:modId xmlns:p14="http://schemas.microsoft.com/office/powerpoint/2010/main" val="1802707388"/>
              </p:ext>
            </p:extLst>
          </p:nvPr>
        </p:nvGraphicFramePr>
        <p:xfrm>
          <a:off x="532873" y="938892"/>
          <a:ext cx="11126254" cy="5172346"/>
        </p:xfrm>
        <a:graphic>
          <a:graphicData uri="http://schemas.openxmlformats.org/drawingml/2006/table">
            <a:tbl>
              <a:tblPr firstRow="1" bandRow="1">
                <a:tableStyleId>{7DF18680-E054-41AD-8BC1-D1AEF772440D}</a:tableStyleId>
              </a:tblPr>
              <a:tblGrid>
                <a:gridCol w="467456">
                  <a:extLst>
                    <a:ext uri="{9D8B030D-6E8A-4147-A177-3AD203B41FA5}">
                      <a16:colId xmlns:a16="http://schemas.microsoft.com/office/drawing/2014/main" val="2481844383"/>
                    </a:ext>
                  </a:extLst>
                </a:gridCol>
                <a:gridCol w="2340279">
                  <a:extLst>
                    <a:ext uri="{9D8B030D-6E8A-4147-A177-3AD203B41FA5}">
                      <a16:colId xmlns:a16="http://schemas.microsoft.com/office/drawing/2014/main" val="2412485662"/>
                    </a:ext>
                  </a:extLst>
                </a:gridCol>
                <a:gridCol w="1679091">
                  <a:extLst>
                    <a:ext uri="{9D8B030D-6E8A-4147-A177-3AD203B41FA5}">
                      <a16:colId xmlns:a16="http://schemas.microsoft.com/office/drawing/2014/main" val="1209637643"/>
                    </a:ext>
                  </a:extLst>
                </a:gridCol>
                <a:gridCol w="6639428">
                  <a:extLst>
                    <a:ext uri="{9D8B030D-6E8A-4147-A177-3AD203B41FA5}">
                      <a16:colId xmlns:a16="http://schemas.microsoft.com/office/drawing/2014/main" val="187323411"/>
                    </a:ext>
                  </a:extLst>
                </a:gridCol>
              </a:tblGrid>
              <a:tr h="305092">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424333">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dirty="0"/>
                        <a:t>データ移行時の整合性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データ</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UAT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を契約、実施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305092">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dirty="0"/>
                        <a:t>Office</a:t>
                      </a:r>
                      <a:r>
                        <a:rPr lang="ja-JP" altLang="en-US" sz="1100" dirty="0"/>
                        <a:t>統合の互換性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1220365">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各社の具体操作面に差異が出る</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具体業務</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07901240"/>
                  </a:ext>
                </a:extLst>
              </a:tr>
              <a:tr h="305092">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Guest</a:t>
                      </a:r>
                      <a:r>
                        <a:rPr lang="ja-JP" altLang="en-US" sz="1100" b="0" u="none" strike="noStrike" kern="1200">
                          <a:solidFill>
                            <a:schemeClr val="tx1"/>
                          </a:solidFill>
                          <a:effectLst/>
                          <a:latin typeface="+mn-lt"/>
                          <a:ea typeface="+mn-ea"/>
                          <a:cs typeface="+mn-cs"/>
                        </a:rPr>
                        <a:t>ユーザの対応</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3123786813"/>
                  </a:ext>
                </a:extLst>
              </a:tr>
              <a:tr h="1194176">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添付ファイルの保存</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様全体費用でカバーされるもので、</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内蔵の検索機能を活用すれば、運用保守へ影響がなく、開発にもリスクも限定（弊社は他社案件で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Dotnet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クライアントから</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の利用経験があり）</a:t>
                      </a:r>
                    </a:p>
                  </a:txBody>
                  <a:tcPr marL="0" marR="0" marT="0" marB="0" anchor="ctr"/>
                </a:tc>
                <a:extLst>
                  <a:ext uri="{0D108BD9-81ED-4DB2-BD59-A6C34878D82A}">
                    <a16:rowId xmlns:a16="http://schemas.microsoft.com/office/drawing/2014/main" val="2872179259"/>
                  </a:ext>
                </a:extLst>
              </a:tr>
              <a:tr h="305092">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dirty="0">
                          <a:solidFill>
                            <a:schemeClr val="tx1"/>
                          </a:solidFill>
                          <a:effectLst/>
                          <a:latin typeface="+mn-lt"/>
                          <a:ea typeface="+mn-ea"/>
                          <a:cs typeface="+mn-cs"/>
                        </a:rPr>
                        <a:t>SharePoint</a:t>
                      </a:r>
                      <a:r>
                        <a:rPr lang="ja-JP" altLang="en-US" sz="1100" b="0" u="none" strike="noStrike" kern="1200" dirty="0">
                          <a:solidFill>
                            <a:schemeClr val="tx1"/>
                          </a:solidFill>
                          <a:effectLst/>
                          <a:latin typeface="+mn-lt"/>
                          <a:ea typeface="+mn-ea"/>
                          <a:cs typeface="+mn-cs"/>
                        </a:rPr>
                        <a:t>ファイルの権限</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実績がある下記の処理が思いため、性能観点の確認。</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ja-JP" altLang="en-US" sz="1100" kern="1200" dirty="0">
                          <a:solidFill>
                            <a:schemeClr val="tx1"/>
                          </a:solidFill>
                          <a:latin typeface="Arial" panose="020B0604020202020204" pitchFamily="34" charset="0"/>
                          <a:ea typeface="+mn-ea"/>
                          <a:cs typeface="+mn-cs"/>
                        </a:rPr>
                        <a:t>論理</a:t>
                      </a:r>
                      <a:r>
                        <a:rPr kumimoji="0" lang="en-US" altLang="ja-JP" sz="1100" kern="1200" dirty="0">
                          <a:solidFill>
                            <a:schemeClr val="tx1"/>
                          </a:solidFill>
                          <a:latin typeface="Arial" panose="020B0604020202020204" pitchFamily="34" charset="0"/>
                          <a:ea typeface="+mn-ea"/>
                          <a:cs typeface="+mn-cs"/>
                        </a:rPr>
                        <a:t>Security Group(DB</a:t>
                      </a:r>
                      <a:r>
                        <a:rPr kumimoji="0" lang="ja-JP" altLang="en-US" sz="1100" kern="1200" dirty="0">
                          <a:solidFill>
                            <a:schemeClr val="tx1"/>
                          </a:solidFill>
                          <a:latin typeface="Arial" panose="020B0604020202020204" pitchFamily="34" charset="0"/>
                          <a:ea typeface="+mn-ea"/>
                          <a:cs typeface="+mn-cs"/>
                        </a:rPr>
                        <a:t>で管理される</a:t>
                      </a:r>
                      <a:r>
                        <a:rPr kumimoji="0" lang="en-US" altLang="ja-JP" sz="1100" kern="1200" dirty="0">
                          <a:solidFill>
                            <a:schemeClr val="tx1"/>
                          </a:solidFill>
                          <a:latin typeface="Arial" panose="020B0604020202020204" pitchFamily="34" charset="0"/>
                          <a:ea typeface="+mn-ea"/>
                          <a:cs typeface="+mn-cs"/>
                        </a:rPr>
                        <a:t>Group)</a:t>
                      </a:r>
                      <a:r>
                        <a:rPr kumimoji="0" lang="ja-JP" altLang="en-US" sz="1100" kern="1200" dirty="0">
                          <a:solidFill>
                            <a:schemeClr val="tx1"/>
                          </a:solidFill>
                          <a:latin typeface="Arial" panose="020B0604020202020204" pitchFamily="34" charset="0"/>
                          <a:ea typeface="+mn-ea"/>
                          <a:cs typeface="+mn-cs"/>
                        </a:rPr>
                        <a:t>が変更されるときに、すでに登録済みの仕様書の添付ファイルに対して、承認フローの状態に合わせて、添付ファイルの再設定</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36244276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61228384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562567830"/>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1406826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solidFill>
              <a:srgbClr val="0070C0"/>
            </a:solidFill>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a:t>
            </a:r>
            <a:r>
              <a:rPr kumimoji="0" lang="ja-JP" altLang="en-US" sz="1200" kern="0" dirty="0">
                <a:solidFill>
                  <a:prstClr val="black"/>
                </a:solidFill>
                <a:latin typeface="Arial"/>
                <a:ea typeface="Yu Gothic UI"/>
                <a:cs typeface="Arial" panose="020B0604020202020204" pitchFamily="34" charset="0"/>
              </a:rPr>
              <a:t>社程度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2845949"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6956848" y="3864809"/>
            <a:ext cx="1321801"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dirty="0">
                <a:solidFill>
                  <a:prstClr val="black"/>
                </a:solidFill>
                <a:latin typeface="Arial"/>
                <a:ea typeface="Yu Gothic UI"/>
                <a:cs typeface="Arial" panose="020B0604020202020204" pitchFamily="34" charset="0"/>
              </a:rPr>
              <a:t>Round1 </a:t>
            </a:r>
            <a:r>
              <a:rPr kumimoji="0" lang="ja-JP" altLang="en-US" sz="1200" kern="0" dirty="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a:t>
            </a:r>
            <a:r>
              <a:rPr lang="ja-JP" altLang="en-US" sz="1200" dirty="0">
                <a:solidFill>
                  <a:schemeClr val="tx1"/>
                </a:solidFill>
              </a:rPr>
              <a:t>２展開</a:t>
            </a:r>
            <a:endParaRPr lang="en-US" altLang="ja-JP" sz="1200" dirty="0">
              <a:solidFill>
                <a:schemeClr val="tx1"/>
              </a:solidFill>
            </a:endParaRPr>
          </a:p>
          <a:p>
            <a:pPr algn="ctr"/>
            <a:r>
              <a:rPr lang="ja-JP" altLang="en-US" sz="1050" dirty="0">
                <a:solidFill>
                  <a:schemeClr val="tx1"/>
                </a:solidFill>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Round3</a:t>
            </a:r>
            <a:r>
              <a:rPr lang="ja-JP" altLang="en-US" sz="1200" dirty="0">
                <a:solidFill>
                  <a:schemeClr val="tx1"/>
                </a:solidFill>
              </a:rPr>
              <a:t>展開</a:t>
            </a:r>
            <a:endParaRPr lang="en-US" altLang="ja-JP" sz="1200" dirty="0">
              <a:solidFill>
                <a:schemeClr val="tx1"/>
              </a:solidFill>
            </a:endParaRPr>
          </a:p>
          <a:p>
            <a:pPr algn="ctr"/>
            <a:r>
              <a:rPr kumimoji="0" lang="ja-JP" altLang="en-US" sz="1050" kern="0" dirty="0">
                <a:solidFill>
                  <a:schemeClr val="tx1"/>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6679939" y="3108382"/>
            <a:ext cx="2085351" cy="1068931"/>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移行前後データの比較、差異分析、必要により対応、報告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a:t>
            </a:r>
            <a:r>
              <a:rPr lang="en-US" altLang="ja-JP" sz="800" dirty="0">
                <a:solidFill>
                  <a:srgbClr val="0070C0"/>
                </a:solidFill>
              </a:rPr>
              <a:t>/</a:t>
            </a:r>
            <a:r>
              <a:rPr lang="ja-JP" altLang="en-US" sz="800" dirty="0">
                <a:solidFill>
                  <a:srgbClr val="0070C0"/>
                </a:solidFill>
              </a:rPr>
              <a:t>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の本質は：対象会社の履歴が利用可能時期のみ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203445648"/>
              </p:ext>
            </p:extLst>
          </p:nvPr>
        </p:nvGraphicFramePr>
        <p:xfrm>
          <a:off x="479552" y="836570"/>
          <a:ext cx="11121173" cy="5076547"/>
        </p:xfrm>
        <a:graphic>
          <a:graphicData uri="http://schemas.openxmlformats.org/drawingml/2006/table">
            <a:tbl>
              <a:tblPr firstRow="1" bandRow="1">
                <a:tableStyleId>{7DF18680-E054-41AD-8BC1-D1AEF772440D}</a:tableStyleId>
              </a:tblPr>
              <a:tblGrid>
                <a:gridCol w="1964235">
                  <a:extLst>
                    <a:ext uri="{9D8B030D-6E8A-4147-A177-3AD203B41FA5}">
                      <a16:colId xmlns:a16="http://schemas.microsoft.com/office/drawing/2014/main" val="1822749168"/>
                    </a:ext>
                  </a:extLst>
                </a:gridCol>
                <a:gridCol w="1053894">
                  <a:extLst>
                    <a:ext uri="{9D8B030D-6E8A-4147-A177-3AD203B41FA5}">
                      <a16:colId xmlns:a16="http://schemas.microsoft.com/office/drawing/2014/main" val="1141317570"/>
                    </a:ext>
                  </a:extLst>
                </a:gridCol>
                <a:gridCol w="8103044">
                  <a:extLst>
                    <a:ext uri="{9D8B030D-6E8A-4147-A177-3AD203B41FA5}">
                      <a16:colId xmlns:a16="http://schemas.microsoft.com/office/drawing/2014/main" val="371397195"/>
                    </a:ext>
                  </a:extLst>
                </a:gridCol>
              </a:tblGrid>
              <a:tr h="181305">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1038385">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780089">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en-US" altLang="ja-JP"/>
              <a:t>POC</a:t>
            </a:r>
            <a:r>
              <a:rPr lang="ja-JP" altLang="en-US"/>
              <a:t>範囲</a:t>
            </a:r>
            <a:endParaRPr lang="ja-JP" altLang="en-US">
              <a:effectLst/>
            </a:endParaRPr>
          </a:p>
        </p:txBody>
      </p:sp>
      <p:graphicFrame>
        <p:nvGraphicFramePr>
          <p:cNvPr id="4" name="表 3">
            <a:extLst>
              <a:ext uri="{FF2B5EF4-FFF2-40B4-BE49-F238E27FC236}">
                <a16:creationId xmlns:a16="http://schemas.microsoft.com/office/drawing/2014/main" id="{7A494E27-83EC-A0A3-2082-E9A9D75C64D6}"/>
              </a:ext>
            </a:extLst>
          </p:cNvPr>
          <p:cNvGraphicFramePr>
            <a:graphicFrameLocks noGrp="1"/>
          </p:cNvGraphicFramePr>
          <p:nvPr>
            <p:extLst>
              <p:ext uri="{D42A27DB-BD31-4B8C-83A1-F6EECF244321}">
                <p14:modId xmlns:p14="http://schemas.microsoft.com/office/powerpoint/2010/main" val="834738927"/>
              </p:ext>
            </p:extLst>
          </p:nvPr>
        </p:nvGraphicFramePr>
        <p:xfrm>
          <a:off x="414336" y="809538"/>
          <a:ext cx="11363327" cy="3097441"/>
        </p:xfrm>
        <a:graphic>
          <a:graphicData uri="http://schemas.openxmlformats.org/drawingml/2006/table">
            <a:tbl>
              <a:tblPr firstRow="1" bandRow="1">
                <a:tableStyleId>{7DF18680-E054-41AD-8BC1-D1AEF772440D}</a:tableStyleId>
              </a:tblPr>
              <a:tblGrid>
                <a:gridCol w="359026">
                  <a:extLst>
                    <a:ext uri="{9D8B030D-6E8A-4147-A177-3AD203B41FA5}">
                      <a16:colId xmlns:a16="http://schemas.microsoft.com/office/drawing/2014/main" val="1822749168"/>
                    </a:ext>
                  </a:extLst>
                </a:gridCol>
                <a:gridCol w="2728600">
                  <a:extLst>
                    <a:ext uri="{9D8B030D-6E8A-4147-A177-3AD203B41FA5}">
                      <a16:colId xmlns:a16="http://schemas.microsoft.com/office/drawing/2014/main" val="1141317570"/>
                    </a:ext>
                  </a:extLst>
                </a:gridCol>
                <a:gridCol w="8275701">
                  <a:extLst>
                    <a:ext uri="{9D8B030D-6E8A-4147-A177-3AD203B41FA5}">
                      <a16:colId xmlns:a16="http://schemas.microsoft.com/office/drawing/2014/main" val="371397195"/>
                    </a:ext>
                  </a:extLst>
                </a:gridCol>
              </a:tblGrid>
              <a:tr h="309744">
                <a:tc>
                  <a:txBody>
                    <a:bodyPr/>
                    <a:lstStyle/>
                    <a:p>
                      <a:pPr marL="0" algn="l" defTabSz="914400" rtl="0" eaLnBrk="1" fontAlgn="b" latinLnBrk="0" hangingPunct="1"/>
                      <a:r>
                        <a:rPr lang="ja-JP" altLang="en-US" sz="1100" b="0" u="none" strike="noStrike" kern="1200">
                          <a:solidFill>
                            <a:schemeClr val="bg1"/>
                          </a:solidFill>
                          <a:effectLst/>
                        </a:rPr>
                        <a:t>番号</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機能</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309744">
                <a:tc>
                  <a:txBody>
                    <a:bodyPr/>
                    <a:lstStyle/>
                    <a:p>
                      <a:pPr marL="0" algn="l" defTabSz="914400" rtl="0" eaLnBrk="1" fontAlgn="b" latinLnBrk="0" hangingPunct="1"/>
                      <a:r>
                        <a:rPr lang="en-US" altLang="ja-JP" sz="1100" b="0" u="none" strike="noStrike" kern="1200">
                          <a:solidFill>
                            <a:schemeClr val="tx1"/>
                          </a:solidFill>
                          <a:effectLst/>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a:latin typeface="Arial" panose="020B0604020202020204" pitchFamily="34" charset="0"/>
                        </a:rPr>
                        <a:t>File Batch</a:t>
                      </a:r>
                      <a:r>
                        <a:rPr kumimoji="0" lang="ja-JP" altLang="en-US" sz="1100" dirty="0">
                          <a:latin typeface="Arial" panose="020B0604020202020204" pitchFamily="34" charset="0"/>
                        </a:rPr>
                        <a:t> </a:t>
                      </a:r>
                      <a:r>
                        <a:rPr kumimoji="0" lang="en-US" altLang="ja-JP" sz="1100" dirty="0">
                          <a:latin typeface="Arial" panose="020B0604020202020204" pitchFamily="34" charset="0"/>
                        </a:rPr>
                        <a:t>Download</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000" dirty="0">
                          <a:latin typeface="Arial" panose="020B0604020202020204" pitchFamily="34" charset="0"/>
                        </a:rPr>
                        <a:t>Html Page</a:t>
                      </a:r>
                      <a:r>
                        <a:rPr kumimoji="0" lang="ja-JP" altLang="en-US" sz="1000" dirty="0">
                          <a:latin typeface="Arial" panose="020B0604020202020204" pitchFamily="34" charset="0"/>
                        </a:rPr>
                        <a:t>の</a:t>
                      </a:r>
                      <a:r>
                        <a:rPr kumimoji="0" lang="en-US" altLang="ja-JP" sz="1000" dirty="0">
                          <a:latin typeface="Arial" panose="020B0604020202020204" pitchFamily="34" charset="0"/>
                        </a:rPr>
                        <a:t>JavaScript</a:t>
                      </a:r>
                      <a:r>
                        <a:rPr kumimoji="0" lang="ja-JP" altLang="en-US" sz="1000" dirty="0">
                          <a:latin typeface="Arial" panose="020B0604020202020204" pitchFamily="34" charset="0"/>
                        </a:rPr>
                        <a:t>で複数ファイルを指定場所にそれぞれ保存</a:t>
                      </a:r>
                      <a:endParaRPr lang="en-US" altLang="ja-JP" sz="10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929233">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err="1">
                          <a:latin typeface="Arial" panose="020B0604020202020204" pitchFamily="34" charset="0"/>
                          <a:ea typeface="Yu Gothic UI" panose="020B0500000000000000" pitchFamily="50" charset="-128"/>
                        </a:rPr>
                        <a:t>GraphAPI</a:t>
                      </a:r>
                      <a:r>
                        <a:rPr kumimoji="0" lang="ja-JP" altLang="en-US" sz="1100" dirty="0">
                          <a:latin typeface="Arial" panose="020B0604020202020204" pitchFamily="34" charset="0"/>
                          <a:ea typeface="Yu Gothic UI" panose="020B0500000000000000" pitchFamily="50" charset="-128"/>
                        </a:rPr>
                        <a:t>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添付ファイル検索の実機検証（性能、制限含む）</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１．ファイル名検索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２．ファイル内容含む検索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849158256"/>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kumimoji="0" lang="ja-JP" altLang="en-US" sz="1100" dirty="0">
                          <a:latin typeface="Arial" panose="020B0604020202020204" pitchFamily="34" charset="0"/>
                          <a:ea typeface="Yu Gothic UI" panose="020B0500000000000000" pitchFamily="50" charset="-128"/>
                        </a:rPr>
                        <a:t>性能</a:t>
                      </a:r>
                      <a:r>
                        <a:rPr kumimoji="0" lang="en-US" altLang="ja-JP" sz="1100" dirty="0">
                          <a:latin typeface="Arial" panose="020B0604020202020204" pitchFamily="34" charset="0"/>
                          <a:ea typeface="Yu Gothic UI" panose="020B0500000000000000" pitchFamily="50" charset="-128"/>
                        </a:rPr>
                        <a:t>Facility</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kern="1200" dirty="0">
                          <a:solidFill>
                            <a:schemeClr val="dk1"/>
                          </a:solidFill>
                          <a:latin typeface="Arial" panose="020B0604020202020204" pitchFamily="34" charset="0"/>
                          <a:ea typeface="Yu Gothic UI" panose="020B0500000000000000" pitchFamily="50" charset="-128"/>
                          <a:cs typeface="+mn-cs"/>
                        </a:rPr>
                        <a:t>Dummy</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データを利用した性能評価、</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10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年間データ、</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20000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ユーザを想定で、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Sizing</a:t>
                      </a:r>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4961108"/>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オンライン編集の検証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ユーザに安心させるためのデモ（実装技術リスクがない）</a:t>
                      </a:r>
                    </a:p>
                  </a:txBody>
                  <a:tcPr marL="0" marR="0" marT="0" marB="0" anchor="ctr"/>
                </a:tc>
                <a:extLst>
                  <a:ext uri="{0D108BD9-81ED-4DB2-BD59-A6C34878D82A}">
                    <a16:rowId xmlns:a16="http://schemas.microsoft.com/office/drawing/2014/main" val="366353059"/>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dirty="0"/>
                        <a:t>利用者は必要な項目に応じてビューの設定</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462443356"/>
                  </a:ext>
                </a:extLst>
              </a:tr>
              <a:tr h="309744">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0403059"/>
                  </a:ext>
                </a:extLst>
              </a:tr>
              <a:tr h="309744">
                <a:tc>
                  <a:txBody>
                    <a:bodyPr/>
                    <a:lstStyle/>
                    <a:p>
                      <a:pPr marL="0" algn="l" defTabSz="914400" rtl="0" eaLnBrk="1" fontAlgn="b" latinLnBrk="0" hangingPunct="1"/>
                      <a:endParaRPr lang="ja-JP" altLang="en-US" sz="105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05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728759274"/>
                  </a:ext>
                </a:extLst>
              </a:tr>
            </a:tbl>
          </a:graphicData>
        </a:graphic>
      </p:graphicFrame>
    </p:spTree>
    <p:extLst>
      <p:ext uri="{BB962C8B-B14F-4D97-AF65-F5344CB8AC3E}">
        <p14:creationId xmlns:p14="http://schemas.microsoft.com/office/powerpoint/2010/main" val="30847209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F1CE-7E1C-B332-48A7-EF6372A525D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31D521E-E4D5-EBFC-A1E0-48D47893DAB3}"/>
              </a:ext>
            </a:extLst>
          </p:cNvPr>
          <p:cNvSpPr>
            <a:spLocks noGrp="1"/>
          </p:cNvSpPr>
          <p:nvPr>
            <p:ph type="ctrTitle"/>
          </p:nvPr>
        </p:nvSpPr>
        <p:spPr/>
        <p:txBody>
          <a:bodyPr>
            <a:normAutofit/>
          </a:bodyPr>
          <a:lstStyle/>
          <a:p>
            <a:r>
              <a:rPr lang="ja-JP" altLang="en-US" dirty="0"/>
              <a:t>前回の資料</a:t>
            </a:r>
            <a:br>
              <a:rPr lang="en-US" altLang="ja-JP" dirty="0"/>
            </a:br>
            <a:r>
              <a:rPr lang="en-US" altLang="ja-JP" sz="5300" dirty="0"/>
              <a:t>(9/22</a:t>
            </a:r>
            <a:r>
              <a:rPr lang="ja-JP" altLang="en-US" sz="5300" dirty="0"/>
              <a:t> ソリューションのみ</a:t>
            </a:r>
            <a:r>
              <a:rPr lang="en-US" altLang="ja-JP" sz="5300" dirty="0"/>
              <a:t>)</a:t>
            </a:r>
            <a:endParaRPr lang="ja-JP" altLang="en-US" sz="5300" dirty="0"/>
          </a:p>
        </p:txBody>
      </p:sp>
      <p:sp>
        <p:nvSpPr>
          <p:cNvPr id="2" name="字幕 1">
            <a:extLst>
              <a:ext uri="{FF2B5EF4-FFF2-40B4-BE49-F238E27FC236}">
                <a16:creationId xmlns:a16="http://schemas.microsoft.com/office/drawing/2014/main" id="{373EDA42-0118-C5A8-4B63-E23A72BB6536}"/>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42434739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DA57A1BE-A81A-15A1-5623-828891414FED}"/>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a:xfrm>
            <a:off x="414336" y="255264"/>
            <a:ext cx="9327072" cy="765272"/>
          </a:xfrm>
        </p:spPr>
        <p:txBody>
          <a:bodyPr>
            <a:normAutofit fontScale="90000"/>
          </a:bodyPr>
          <a:lstStyle/>
          <a:p>
            <a:r>
              <a:rPr lang="ja-JP" altLang="en-US" sz="3600"/>
              <a:t>アーキテクチャ全体</a:t>
            </a:r>
            <a:br>
              <a:rPr lang="en-US" altLang="ja-JP"/>
            </a:br>
            <a:r>
              <a:rPr lang="ja-JP" altLang="en-US" sz="2200"/>
              <a:t>添付ファイルは</a:t>
            </a:r>
            <a:r>
              <a:rPr lang="en-US" altLang="ja-JP" sz="2200" err="1"/>
              <a:t>DaTAVERSE</a:t>
            </a:r>
            <a:r>
              <a:rPr lang="ja-JP" altLang="en-US" sz="2200"/>
              <a:t>保存（案</a:t>
            </a:r>
            <a:r>
              <a:rPr lang="en-US" altLang="ja-JP" sz="2200"/>
              <a:t>B</a:t>
            </a:r>
            <a:r>
              <a:rPr lang="ja-JP" altLang="en-US" sz="2200"/>
              <a:t>）</a:t>
            </a:r>
            <a:endParaRPr lang="ja-JP" altLang="en-US" sz="2200">
              <a:effectLst/>
            </a:endParaRPr>
          </a:p>
        </p:txBody>
      </p:sp>
      <p:sp>
        <p:nvSpPr>
          <p:cNvPr id="15" name="テキスト ボックス 14"/>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3EE76576-7530-007C-3EA6-C844A457D3C9}"/>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439EC6D-5DAD-6CB3-44F3-23B9279EE7C4}"/>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FDE75B3-37C3-D7F1-41A5-221C881019DB}"/>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6270319E-F948-AB6B-8706-0EE67AC4684A}"/>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spTree>
    <p:extLst>
      <p:ext uri="{BB962C8B-B14F-4D97-AF65-F5344CB8AC3E}">
        <p14:creationId xmlns:p14="http://schemas.microsoft.com/office/powerpoint/2010/main" val="35112457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3965A-7B27-B118-1544-013C0942D5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EC9001-3533-2206-45EC-52E9C7CED68C}"/>
              </a:ext>
            </a:extLst>
          </p:cNvPr>
          <p:cNvSpPr>
            <a:spLocks noGrp="1"/>
          </p:cNvSpPr>
          <p:nvPr>
            <p:ph type="title"/>
          </p:nvPr>
        </p:nvSpPr>
        <p:spPr>
          <a:xfrm>
            <a:off x="414336" y="255263"/>
            <a:ext cx="9327072" cy="683629"/>
          </a:xfrm>
        </p:spPr>
        <p:txBody>
          <a:bodyPr>
            <a:normAutofit/>
          </a:bodyPr>
          <a:lstStyle/>
          <a:p>
            <a:r>
              <a:rPr lang="ja-JP" altLang="en-US"/>
              <a:t>実現方法－文書管理機能</a:t>
            </a:r>
          </a:p>
        </p:txBody>
      </p:sp>
      <p:sp>
        <p:nvSpPr>
          <p:cNvPr id="15" name="テキスト ボックス 14">
            <a:extLst>
              <a:ext uri="{FF2B5EF4-FFF2-40B4-BE49-F238E27FC236}">
                <a16:creationId xmlns:a16="http://schemas.microsoft.com/office/drawing/2014/main" id="{515C49BE-5AE6-A688-3599-1B74CB458F67}"/>
              </a:ext>
            </a:extLst>
          </p:cNvPr>
          <p:cNvSpPr txBox="1"/>
          <p:nvPr/>
        </p:nvSpPr>
        <p:spPr>
          <a:xfrm>
            <a:off x="350603" y="789860"/>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で</a:t>
            </a:r>
            <a:r>
              <a:rPr lang="ja-JP" altLang="en-US" dirty="0"/>
              <a:t>文書</a:t>
            </a:r>
            <a:r>
              <a:rPr kumimoji="1" lang="ja-JP" altLang="en-US" dirty="0">
                <a:latin typeface="Yu Gothic UI" panose="020B0500000000000000" pitchFamily="50" charset="-128"/>
                <a:ea typeface="Yu Gothic UI" panose="020B0500000000000000" pitchFamily="50" charset="-128"/>
              </a:rPr>
              <a:t>フォームを</a:t>
            </a:r>
            <a:r>
              <a:rPr kumimoji="1" lang="zh-CN" altLang="en-US" dirty="0">
                <a:latin typeface="Yu Gothic UI" panose="020B0500000000000000" pitchFamily="50" charset="-128"/>
                <a:ea typeface="Yu Gothic UI" panose="020B0500000000000000" pitchFamily="50" charset="-128"/>
              </a:rPr>
              <a:t>作成。</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SQL Server</a:t>
            </a:r>
            <a:r>
              <a:rPr kumimoji="1" lang="ja-JP" altLang="en-US" dirty="0">
                <a:latin typeface="Yu Gothic UI" panose="020B0500000000000000" pitchFamily="50" charset="-128"/>
                <a:ea typeface="Yu Gothic UI" panose="020B0500000000000000" pitchFamily="50" charset="-128"/>
              </a:rPr>
              <a:t>のテーブル（</a:t>
            </a:r>
            <a:r>
              <a:rPr kumimoji="1" lang="zh-CN" altLang="en-US" dirty="0">
                <a:latin typeface="Yu Gothic UI" panose="020B0500000000000000" pitchFamily="50" charset="-128"/>
                <a:ea typeface="Yu Gothic UI" panose="020B0500000000000000" pitchFamily="50" charset="-128"/>
              </a:rPr>
              <a:t>例</a:t>
            </a:r>
            <a:r>
              <a:rPr kumimoji="1" lang="en-US" altLang="zh-CN" dirty="0">
                <a:latin typeface="Yu Gothic UI" panose="020B0500000000000000" pitchFamily="50" charset="-128"/>
                <a:ea typeface="Yu Gothic UI" panose="020B0500000000000000" pitchFamily="50" charset="-128"/>
              </a:rPr>
              <a:t>: </a:t>
            </a:r>
            <a:r>
              <a:rPr kumimoji="1" lang="en-US" altLang="zh-CN" dirty="0" err="1">
                <a:latin typeface="Yu Gothic UI" panose="020B0500000000000000" pitchFamily="50" charset="-128"/>
                <a:ea typeface="Yu Gothic UI" panose="020B0500000000000000" pitchFamily="50" charset="-128"/>
              </a:rPr>
              <a:t>Document</a:t>
            </a:r>
            <a:r>
              <a:rPr kumimoji="1" lang="en-US" altLang="ja-JP" dirty="0" err="1">
                <a:latin typeface="Yu Gothic UI" panose="020B0500000000000000" pitchFamily="50" charset="-128"/>
                <a:ea typeface="Yu Gothic UI" panose="020B0500000000000000" pitchFamily="50" charset="-128"/>
              </a:rPr>
              <a:t>Table</a:t>
            </a:r>
            <a:r>
              <a:rPr kumimoji="1" lang="en-US" altLang="ja-JP" dirty="0">
                <a:latin typeface="Yu Gothic UI" panose="020B0500000000000000" pitchFamily="50" charset="-128"/>
                <a:ea typeface="Yu Gothic UI" panose="020B0500000000000000" pitchFamily="50" charset="-128"/>
              </a:rPr>
              <a:t>: ID, Date, Status</a:t>
            </a:r>
            <a:r>
              <a:rPr kumimoji="1" lang="ja-JP" altLang="en-US" dirty="0">
                <a:latin typeface="Yu Gothic UI" panose="020B0500000000000000" pitchFamily="50" charset="-128"/>
                <a:ea typeface="Yu Gothic UI" panose="020B0500000000000000" pitchFamily="50" charset="-128"/>
              </a:rPr>
              <a:t>）と</a:t>
            </a:r>
            <a:r>
              <a:rPr kumimoji="1" lang="zh-CN" altLang="en-US" dirty="0">
                <a:latin typeface="Yu Gothic UI" panose="020B0500000000000000" pitchFamily="50" charset="-128"/>
                <a:ea typeface="Yu Gothic UI" panose="020B0500000000000000" pitchFamily="50" charset="-128"/>
              </a:rPr>
              <a:t>連携。</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文書の</a:t>
            </a:r>
            <a:r>
              <a:rPr kumimoji="1" lang="en-US" altLang="ja-JP" dirty="0">
                <a:latin typeface="Yu Gothic UI" panose="020B0500000000000000" pitchFamily="50" charset="-128"/>
                <a:ea typeface="Yu Gothic UI" panose="020B0500000000000000" pitchFamily="50" charset="-128"/>
              </a:rPr>
              <a:t>CRUD</a:t>
            </a:r>
            <a:r>
              <a:rPr kumimoji="1" lang="zh-CN" altLang="en-US" dirty="0">
                <a:latin typeface="Yu Gothic UI" panose="020B0500000000000000" pitchFamily="50" charset="-128"/>
                <a:ea typeface="Yu Gothic UI" panose="020B0500000000000000" pitchFamily="50" charset="-128"/>
              </a:rPr>
              <a:t>操作（</a:t>
            </a:r>
            <a:r>
              <a:rPr kumimoji="1" lang="en-US" altLang="ja-JP" dirty="0">
                <a:latin typeface="Yu Gothic UI" panose="020B0500000000000000" pitchFamily="50" charset="-128"/>
                <a:ea typeface="Yu Gothic UI" panose="020B0500000000000000" pitchFamily="50" charset="-128"/>
              </a:rPr>
              <a:t>Create, Read, Update, Delete</a:t>
            </a:r>
            <a:r>
              <a:rPr kumimoji="1" lang="ja-JP" altLang="en-US" dirty="0">
                <a:latin typeface="Yu Gothic UI" panose="020B0500000000000000" pitchFamily="50" charset="-128"/>
                <a:ea typeface="Yu Gothic UI" panose="020B0500000000000000" pitchFamily="50" charset="-128"/>
              </a:rPr>
              <a:t>）をサポート。</a:t>
            </a:r>
            <a:endParaRPr kumimoji="1"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のデータソースとして</a:t>
            </a:r>
            <a:r>
              <a:rPr kumimoji="1" lang="en-US" altLang="ja-JP" dirty="0">
                <a:latin typeface="Yu Gothic UI" panose="020B0500000000000000" pitchFamily="50" charset="-128"/>
                <a:ea typeface="Yu Gothic UI" panose="020B0500000000000000" pitchFamily="50" charset="-128"/>
              </a:rPr>
              <a:t>SQL Server Connector</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使用。複数</a:t>
            </a:r>
            <a:r>
              <a:rPr kumimoji="1" lang="ja-JP" altLang="en-US" dirty="0">
                <a:latin typeface="Yu Gothic UI" panose="020B0500000000000000" pitchFamily="50" charset="-128"/>
                <a:ea typeface="Yu Gothic UI" panose="020B0500000000000000" pitchFamily="50" charset="-128"/>
              </a:rPr>
              <a:t>文書のバッチ</a:t>
            </a:r>
            <a:r>
              <a:rPr kumimoji="1" lang="zh-CN" altLang="en-US" dirty="0">
                <a:latin typeface="Yu Gothic UI" panose="020B0500000000000000" pitchFamily="50" charset="-128"/>
                <a:ea typeface="Yu Gothic UI" panose="020B0500000000000000" pitchFamily="50" charset="-128"/>
              </a:rPr>
              <a:t>処理</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考慮</a:t>
            </a:r>
            <a:r>
              <a:rPr kumimoji="1" lang="ja-JP" altLang="en-US" dirty="0">
                <a:latin typeface="Yu Gothic UI" panose="020B0500000000000000" pitchFamily="50" charset="-128"/>
                <a:ea typeface="Yu Gothic UI" panose="020B0500000000000000" pitchFamily="50" charset="-128"/>
              </a:rPr>
              <a:t>し、</a:t>
            </a:r>
            <a:r>
              <a:rPr kumimoji="1" lang="en-US" altLang="ja-JP" dirty="0">
                <a:latin typeface="Yu Gothic UI" panose="020B0500000000000000" pitchFamily="50" charset="-128"/>
                <a:ea typeface="Yu Gothic UI" panose="020B0500000000000000" pitchFamily="50" charset="-128"/>
              </a:rPr>
              <a:t>Gallery</a:t>
            </a:r>
            <a:r>
              <a:rPr kumimoji="1" lang="ja-JP" altLang="en-US" dirty="0">
                <a:latin typeface="Yu Gothic UI" panose="020B0500000000000000" pitchFamily="50" charset="-128"/>
                <a:ea typeface="Yu Gothic UI" panose="020B0500000000000000" pitchFamily="50" charset="-128"/>
              </a:rPr>
              <a:t>コントロールでリスト</a:t>
            </a:r>
            <a:r>
              <a:rPr kumimoji="1" lang="zh-CN" altLang="en-US" dirty="0">
                <a:latin typeface="Yu Gothic UI" panose="020B0500000000000000" pitchFamily="50" charset="-128"/>
                <a:ea typeface="Yu Gothic UI" panose="020B0500000000000000" pitchFamily="50" charset="-128"/>
              </a:rPr>
              <a:t>表示。</a:t>
            </a:r>
            <a:endParaRPr kumimoji="1" lang="en-US" altLang="zh-CN"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これは業務画面のメインの部分であり、詳細は機能一覧参照</a:t>
            </a:r>
            <a:endParaRPr kumimoji="1" lang="en-US" altLang="zh-CN"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6551960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37C1B-B56C-D544-A4DF-838D705E1F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6A4067D-4A39-E3C0-B229-E38F413B708B}"/>
              </a:ext>
            </a:extLst>
          </p:cNvPr>
          <p:cNvSpPr>
            <a:spLocks noGrp="1"/>
          </p:cNvSpPr>
          <p:nvPr>
            <p:ph type="title"/>
          </p:nvPr>
        </p:nvSpPr>
        <p:spPr>
          <a:xfrm>
            <a:off x="414336" y="255263"/>
            <a:ext cx="9327072" cy="683629"/>
          </a:xfrm>
        </p:spPr>
        <p:txBody>
          <a:bodyPr>
            <a:normAutofit/>
          </a:bodyPr>
          <a:lstStyle/>
          <a:p>
            <a:r>
              <a:rPr lang="ja-JP" altLang="en-US"/>
              <a:t>実現方法－添付ファイル管理</a:t>
            </a:r>
            <a:endParaRPr lang="ja-JP" altLang="en-US">
              <a:effectLst/>
            </a:endParaRPr>
          </a:p>
        </p:txBody>
      </p:sp>
      <p:sp>
        <p:nvSpPr>
          <p:cNvPr id="15" name="テキスト ボックス 14">
            <a:extLst>
              <a:ext uri="{FF2B5EF4-FFF2-40B4-BE49-F238E27FC236}">
                <a16:creationId xmlns:a16="http://schemas.microsoft.com/office/drawing/2014/main" id="{8E6720A2-D915-781D-EC82-F43DFAB970A2}"/>
              </a:ext>
            </a:extLst>
          </p:cNvPr>
          <p:cNvSpPr txBox="1"/>
          <p:nvPr/>
        </p:nvSpPr>
        <p:spPr>
          <a:xfrm>
            <a:off x="414336" y="902266"/>
            <a:ext cx="6669215" cy="53095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ストレージオプション</a:t>
            </a:r>
            <a:r>
              <a:rPr kumimoji="1" lang="en-US" altLang="ja-JP"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Dataverse: </a:t>
            </a:r>
            <a:r>
              <a:rPr kumimoji="1" lang="ja-JP" altLang="en-US" sz="1600" dirty="0">
                <a:latin typeface="Yu Gothic UI" panose="020B0500000000000000" pitchFamily="50" charset="-128"/>
                <a:ea typeface="Yu Gothic UI" panose="020B0500000000000000" pitchFamily="50" charset="-128"/>
              </a:rPr>
              <a:t>ファイル列（</a:t>
            </a:r>
            <a:r>
              <a:rPr kumimoji="1" lang="en-US" altLang="ja-JP" sz="1600" dirty="0">
                <a:latin typeface="Yu Gothic UI" panose="020B0500000000000000" pitchFamily="50" charset="-128"/>
                <a:ea typeface="Yu Gothic UI" panose="020B0500000000000000" pitchFamily="50" charset="-128"/>
              </a:rPr>
              <a:t>File</a:t>
            </a:r>
            <a:r>
              <a:rPr kumimoji="1" lang="ja-JP" altLang="en-US" sz="1600" dirty="0">
                <a:latin typeface="Yu Gothic UI" panose="020B0500000000000000" pitchFamily="50" charset="-128"/>
                <a:ea typeface="Yu Gothic UI" panose="020B0500000000000000" pitchFamily="50" charset="-128"/>
              </a:rPr>
              <a:t>型）を使用。容量制限（標準</a:t>
            </a:r>
            <a:r>
              <a:rPr kumimoji="1" lang="en-US" altLang="ja-JP" sz="1600" dirty="0">
                <a:latin typeface="Yu Gothic UI" panose="020B0500000000000000" pitchFamily="50" charset="-128"/>
                <a:ea typeface="Yu Gothic UI" panose="020B0500000000000000" pitchFamily="50" charset="-128"/>
              </a:rPr>
              <a:t>4GB/</a:t>
            </a:r>
            <a:r>
              <a:rPr kumimoji="1" lang="ja-JP" altLang="en-US" sz="1600" dirty="0">
                <a:latin typeface="Yu Gothic UI" panose="020B0500000000000000" pitchFamily="50" charset="-128"/>
                <a:ea typeface="Yu Gothic UI" panose="020B0500000000000000" pitchFamily="50" charset="-128"/>
              </a:rPr>
              <a:t>ユーザー）を考慮。添付時は</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の</a:t>
            </a:r>
            <a:r>
              <a:rPr kumimoji="1" lang="en-US" altLang="ja-JP" sz="1600" dirty="0">
                <a:latin typeface="Yu Gothic UI" panose="020B0500000000000000" pitchFamily="50" charset="-128"/>
                <a:ea typeface="Yu Gothic UI" panose="020B0500000000000000" pitchFamily="50" charset="-128"/>
              </a:rPr>
              <a:t>Attachment</a:t>
            </a:r>
            <a:r>
              <a:rPr kumimoji="1" lang="ja-JP" altLang="en-US" sz="1600" dirty="0">
                <a:latin typeface="Yu Gothic UI" panose="020B0500000000000000" pitchFamily="50" charset="-128"/>
                <a:ea typeface="Yu Gothic UI" panose="020B0500000000000000" pitchFamily="50" charset="-128"/>
              </a:rPr>
              <a:t>コントロールでアップロード。</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 Document Library</a:t>
            </a:r>
            <a:r>
              <a:rPr kumimoji="1" lang="ja-JP" altLang="en-US" sz="1600" dirty="0">
                <a:latin typeface="Yu Gothic UI" panose="020B0500000000000000" pitchFamily="50" charset="-128"/>
                <a:ea typeface="Yu Gothic UI" panose="020B0500000000000000" pitchFamily="50" charset="-128"/>
              </a:rPr>
              <a:t>を使用。</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から</a:t>
            </a:r>
            <a:r>
              <a:rPr kumimoji="1" lang="en-US" altLang="ja-JP" sz="1600" dirty="0">
                <a:latin typeface="Yu Gothic UI" panose="020B0500000000000000" pitchFamily="50" charset="-128"/>
                <a:ea typeface="Yu Gothic UI" panose="020B0500000000000000" pitchFamily="50" charset="-128"/>
              </a:rPr>
              <a:t>SharePoint Connector</a:t>
            </a:r>
            <a:r>
              <a:rPr kumimoji="1" lang="ja-JP" altLang="en-US" sz="1600" dirty="0">
                <a:latin typeface="Yu Gothic UI" panose="020B0500000000000000" pitchFamily="50" charset="-128"/>
                <a:ea typeface="Yu Gothic UI" panose="020B0500000000000000" pitchFamily="50" charset="-128"/>
              </a:rPr>
              <a:t>でアクセス。ファイル</a:t>
            </a:r>
            <a:r>
              <a:rPr kumimoji="1" lang="en-US" altLang="ja-JP" sz="1600" dirty="0">
                <a:latin typeface="Yu Gothic UI" panose="020B0500000000000000" pitchFamily="50" charset="-128"/>
                <a:ea typeface="Yu Gothic UI" panose="020B0500000000000000" pitchFamily="50" charset="-128"/>
              </a:rPr>
              <a:t>URL</a:t>
            </a:r>
            <a:r>
              <a:rPr kumimoji="1" lang="ja-JP" altLang="en-US" sz="1600" dirty="0">
                <a:latin typeface="Yu Gothic UI" panose="020B0500000000000000" pitchFamily="50" charset="-128"/>
                <a:ea typeface="Yu Gothic UI" panose="020B0500000000000000" pitchFamily="50" charset="-128"/>
              </a:rPr>
              <a:t>を</a:t>
            </a:r>
            <a:r>
              <a:rPr kumimoji="1" lang="en-US" altLang="ja-JP" sz="1600" dirty="0">
                <a:latin typeface="Yu Gothic UI" panose="020B0500000000000000" pitchFamily="50" charset="-128"/>
                <a:ea typeface="Yu Gothic UI" panose="020B0500000000000000" pitchFamily="50" charset="-128"/>
              </a:rPr>
              <a:t>SQL Server</a:t>
            </a:r>
            <a:r>
              <a:rPr kumimoji="1" lang="ja-JP" altLang="en-US" sz="1600" dirty="0">
                <a:latin typeface="Yu Gothic UI" panose="020B0500000000000000" pitchFamily="50" charset="-128"/>
                <a:ea typeface="Yu Gothic UI" panose="020B0500000000000000" pitchFamily="50" charset="-128"/>
              </a:rPr>
              <a:t>に保存。</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err="1">
                <a:latin typeface="Yu Gothic UI" panose="020B0500000000000000" pitchFamily="50" charset="-128"/>
                <a:ea typeface="Yu Gothic UI" panose="020B0500000000000000" pitchFamily="50" charset="-128"/>
              </a:rPr>
              <a:t>SqlServer</a:t>
            </a:r>
            <a:r>
              <a:rPr lang="ja-JP" altLang="en-US" sz="1600" dirty="0">
                <a:latin typeface="Yu Gothic UI" panose="020B0500000000000000" pitchFamily="50" charset="-128"/>
                <a:ea typeface="Yu Gothic UI" panose="020B0500000000000000" pitchFamily="50" charset="-128"/>
              </a:rPr>
              <a:t>の</a:t>
            </a:r>
            <a:r>
              <a:rPr lang="en-US" altLang="ja-JP" sz="1600" dirty="0">
                <a:latin typeface="Yu Gothic UI" panose="020B0500000000000000" pitchFamily="50" charset="-128"/>
                <a:ea typeface="Yu Gothic UI" panose="020B0500000000000000" pitchFamily="50" charset="-128"/>
              </a:rPr>
              <a:t>Blob</a:t>
            </a:r>
            <a:r>
              <a:rPr lang="ja-JP" altLang="en-US" sz="1600" dirty="0">
                <a:latin typeface="Yu Gothic UI" panose="020B0500000000000000" pitchFamily="50" charset="-128"/>
                <a:ea typeface="Yu Gothic UI" panose="020B0500000000000000" pitchFamily="50" charset="-128"/>
              </a:rPr>
              <a:t>列に保存</a:t>
            </a:r>
            <a:r>
              <a:rPr lang="ja-JP" altLang="en-US" sz="1600" dirty="0">
                <a:solidFill>
                  <a:srgbClr val="FF0000"/>
                </a:solidFill>
                <a:latin typeface="Yu Gothic UI" panose="020B0500000000000000" pitchFamily="50" charset="-128"/>
                <a:ea typeface="Yu Gothic UI" panose="020B0500000000000000" pitchFamily="50" charset="-128"/>
              </a:rPr>
              <a:t>（独自の</a:t>
            </a:r>
            <a:r>
              <a:rPr lang="en-US" altLang="ja-JP" sz="1600" dirty="0">
                <a:solidFill>
                  <a:srgbClr val="FF0000"/>
                </a:solidFill>
                <a:latin typeface="Yu Gothic UI" panose="020B0500000000000000" pitchFamily="50" charset="-128"/>
                <a:ea typeface="Yu Gothic UI" panose="020B0500000000000000" pitchFamily="50" charset="-128"/>
              </a:rPr>
              <a:t>Storage</a:t>
            </a:r>
            <a:r>
              <a:rPr lang="ja-JP" altLang="en-US" sz="1600" dirty="0">
                <a:solidFill>
                  <a:srgbClr val="FF0000"/>
                </a:solidFill>
                <a:latin typeface="Yu Gothic UI" panose="020B0500000000000000" pitchFamily="50" charset="-128"/>
                <a:ea typeface="Yu Gothic UI" panose="020B0500000000000000" pitchFamily="50" charset="-128"/>
              </a:rPr>
              <a:t>管理、バックアップ負荷などを考慮し、推奨しません）</a:t>
            </a:r>
            <a:endParaRPr kumimoji="1" lang="en-US" altLang="ja-JP" sz="1600" dirty="0">
              <a:solidFill>
                <a:srgbClr val="FF0000"/>
              </a:solidFill>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推奨</a:t>
            </a:r>
            <a:r>
              <a:rPr kumimoji="1" lang="en-US" altLang="ja-JP" dirty="0">
                <a:solidFill>
                  <a:srgbClr val="0070C0"/>
                </a:solidFill>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600" dirty="0">
                <a:solidFill>
                  <a:srgbClr val="00B050"/>
                </a:solidFill>
                <a:latin typeface="Yu Gothic UI" panose="020B0500000000000000" pitchFamily="50" charset="-128"/>
                <a:ea typeface="Yu Gothic UI" panose="020B0500000000000000" pitchFamily="50" charset="-128"/>
              </a:rPr>
              <a:t>SharePoint</a:t>
            </a:r>
            <a:r>
              <a:rPr lang="ja-JP" altLang="en-US" sz="1600" dirty="0">
                <a:solidFill>
                  <a:srgbClr val="00B050"/>
                </a:solidFill>
                <a:latin typeface="Yu Gothic UI" panose="020B0500000000000000" pitchFamily="50" charset="-128"/>
                <a:ea typeface="Yu Gothic UI" panose="020B0500000000000000" pitchFamily="50" charset="-128"/>
              </a:rPr>
              <a:t>を添付ファイルのストレージとし、</a:t>
            </a:r>
            <a:r>
              <a:rPr lang="en-US" altLang="zh-CN" sz="1600" dirty="0" err="1">
                <a:solidFill>
                  <a:srgbClr val="00B050"/>
                </a:solidFill>
                <a:latin typeface="Yu Gothic UI" panose="020B0500000000000000" pitchFamily="50" charset="-128"/>
                <a:ea typeface="Yu Gothic UI" panose="020B0500000000000000" pitchFamily="50" charset="-128"/>
              </a:rPr>
              <a:t>Sql</a:t>
            </a:r>
            <a:r>
              <a:rPr lang="en-US" altLang="zh-CN" sz="1600" dirty="0">
                <a:solidFill>
                  <a:srgbClr val="00B050"/>
                </a:solidFill>
                <a:latin typeface="Yu Gothic UI" panose="020B0500000000000000" pitchFamily="50" charset="-128"/>
                <a:ea typeface="Yu Gothic UI" panose="020B0500000000000000" pitchFamily="50" charset="-128"/>
              </a:rPr>
              <a:t> Server 2022</a:t>
            </a:r>
            <a:r>
              <a:rPr lang="ja-JP" altLang="en-US" sz="1600" dirty="0">
                <a:solidFill>
                  <a:srgbClr val="00B050"/>
                </a:solidFill>
                <a:latin typeface="Yu Gothic UI" panose="020B0500000000000000" pitchFamily="50" charset="-128"/>
                <a:ea typeface="Yu Gothic UI" panose="020B0500000000000000" pitchFamily="50" charset="-128"/>
              </a:rPr>
              <a:t>はメタデータ管理に使用。</a:t>
            </a:r>
            <a:endParaRPr lang="en-US" altLang="ja-JP" sz="1600" dirty="0">
              <a:solidFill>
                <a:srgbClr val="00B050"/>
              </a:solidFill>
              <a:latin typeface="Yu Gothic UI" panose="020B0500000000000000" pitchFamily="50" charset="-128"/>
              <a:ea typeface="Yu Gothic UI" panose="020B0500000000000000" pitchFamily="50" charset="-128"/>
            </a:endParaRPr>
          </a:p>
          <a:p>
            <a:pPr marL="285750" indent="-285750">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理由</a:t>
            </a:r>
            <a:r>
              <a:rPr kumimoji="1" lang="en-US" altLang="ja-JP"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a:t>
            </a:r>
            <a:r>
              <a:rPr kumimoji="1" lang="ja-JP" altLang="en-US" sz="1600" dirty="0">
                <a:latin typeface="Yu Gothic UI" panose="020B0500000000000000" pitchFamily="50" charset="-128"/>
                <a:ea typeface="Yu Gothic UI" panose="020B0500000000000000" pitchFamily="50" charset="-128"/>
              </a:rPr>
              <a:t>の方が大容量ファイルに適し、バージョン管理が容易。</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SharePoint</a:t>
            </a:r>
            <a:r>
              <a:rPr lang="ja-JP" altLang="en-US" sz="1600" dirty="0">
                <a:latin typeface="Yu Gothic UI" panose="020B0500000000000000" pitchFamily="50" charset="-128"/>
                <a:ea typeface="Yu Gothic UI" panose="020B0500000000000000" pitchFamily="50" charset="-128"/>
              </a:rPr>
              <a:t>の検索機能をそのまま利用、検索機能のサポートは容易</a:t>
            </a:r>
            <a:endParaRPr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Online</a:t>
            </a:r>
            <a:r>
              <a:rPr kumimoji="1" lang="ja-JP" altLang="en-US" sz="1600" dirty="0">
                <a:latin typeface="Yu Gothic UI" panose="020B0500000000000000" pitchFamily="50" charset="-128"/>
                <a:ea typeface="Yu Gothic UI" panose="020B0500000000000000" pitchFamily="50" charset="-128"/>
              </a:rPr>
              <a:t>編集機能の実現はより簡単。</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ファイルタイプ</a:t>
            </a:r>
            <a:r>
              <a:rPr kumimoji="1" lang="en-US" altLang="ja-JP" dirty="0">
                <a:latin typeface="Yu Gothic UI" panose="020B0500000000000000" pitchFamily="50" charset="-128"/>
                <a:ea typeface="Yu Gothic UI" panose="020B0500000000000000" pitchFamily="50" charset="-128"/>
              </a:rPr>
              <a:t>: </a:t>
            </a:r>
            <a:r>
              <a:rPr kumimoji="1" lang="en-US" altLang="ja-JP" sz="1600" dirty="0">
                <a:latin typeface="Yu Gothic UI" panose="020B0500000000000000" pitchFamily="50" charset="-128"/>
                <a:ea typeface="Yu Gothic UI" panose="020B0500000000000000" pitchFamily="50" charset="-128"/>
              </a:rPr>
              <a:t>Office</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Word, Excel, PowerPoint</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PDF</a:t>
            </a:r>
            <a:r>
              <a:rPr kumimoji="1" lang="ja-JP" altLang="en-US" sz="1600" dirty="0">
                <a:latin typeface="Yu Gothic UI" panose="020B0500000000000000" pitchFamily="50" charset="-128"/>
                <a:ea typeface="Yu Gothic UI" panose="020B0500000000000000" pitchFamily="50" charset="-128"/>
              </a:rPr>
              <a:t>をサポート。最大ファイルサイズ</a:t>
            </a:r>
            <a:r>
              <a:rPr kumimoji="1" lang="en-US" altLang="ja-JP" sz="1600" dirty="0">
                <a:latin typeface="Yu Gothic UI" panose="020B0500000000000000" pitchFamily="50" charset="-128"/>
                <a:ea typeface="Yu Gothic UI" panose="020B0500000000000000" pitchFamily="50" charset="-128"/>
              </a:rPr>
              <a:t>: 50MB/</a:t>
            </a:r>
            <a:r>
              <a:rPr kumimoji="1" lang="ja-JP" altLang="en-US" sz="1600" dirty="0">
                <a:latin typeface="Yu Gothic UI" panose="020B0500000000000000" pitchFamily="50" charset="-128"/>
                <a:ea typeface="Yu Gothic UI" panose="020B0500000000000000" pitchFamily="50" charset="-128"/>
              </a:rPr>
              <a:t>ファイル（カスタマイズ可能）。</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lang="ja-JP" altLang="en-US" dirty="0">
                <a:latin typeface="Yu Gothic UI" panose="020B0500000000000000" pitchFamily="50" charset="-128"/>
                <a:ea typeface="Yu Gothic UI" panose="020B0500000000000000" pitchFamily="50" charset="-128"/>
              </a:rPr>
              <a:t>注意事項：</a:t>
            </a:r>
            <a:endParaRPr lang="en-US" altLang="ja-JP"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SPO</a:t>
            </a:r>
            <a:r>
              <a:rPr lang="ja-JP" altLang="en-US" sz="1600" dirty="0">
                <a:latin typeface="Yu Gothic UI" panose="020B0500000000000000" pitchFamily="50" charset="-128"/>
                <a:ea typeface="Yu Gothic UI" panose="020B0500000000000000" pitchFamily="50" charset="-128"/>
              </a:rPr>
              <a:t>に保存する場合、多階層</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構造にし、一つの</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にファイルを</a:t>
            </a:r>
            <a:r>
              <a:rPr lang="en-US" altLang="ja-JP" sz="1600" dirty="0">
                <a:latin typeface="Yu Gothic UI" panose="020B0500000000000000" pitchFamily="50" charset="-128"/>
                <a:ea typeface="Yu Gothic UI" panose="020B0500000000000000" pitchFamily="50" charset="-128"/>
              </a:rPr>
              <a:t>1000</a:t>
            </a:r>
            <a:r>
              <a:rPr lang="ja-JP" altLang="en-US" sz="1600" dirty="0">
                <a:latin typeface="Yu Gothic UI" panose="020B0500000000000000" pitchFamily="50" charset="-128"/>
                <a:ea typeface="Yu Gothic UI" panose="020B0500000000000000" pitchFamily="50" charset="-128"/>
              </a:rPr>
              <a:t>以内に抑える</a:t>
            </a:r>
            <a:endParaRPr lang="en-US" altLang="ja-JP" sz="1600" dirty="0">
              <a:latin typeface="Yu Gothic UI" panose="020B0500000000000000" pitchFamily="50" charset="-128"/>
              <a:ea typeface="Yu Gothic UI" panose="020B0500000000000000" pitchFamily="50" charset="-128"/>
            </a:endParaRPr>
          </a:p>
        </p:txBody>
      </p:sp>
      <p:pic>
        <p:nvPicPr>
          <p:cNvPr id="3" name="図 2">
            <a:extLst>
              <a:ext uri="{FF2B5EF4-FFF2-40B4-BE49-F238E27FC236}">
                <a16:creationId xmlns:a16="http://schemas.microsoft.com/office/drawing/2014/main" id="{21B97726-3DEA-7970-7F10-416D81A28E6E}"/>
              </a:ext>
            </a:extLst>
          </p:cNvPr>
          <p:cNvPicPr>
            <a:picLocks noChangeAspect="1"/>
          </p:cNvPicPr>
          <p:nvPr/>
        </p:nvPicPr>
        <p:blipFill>
          <a:blip r:embed="rId3"/>
          <a:stretch>
            <a:fillRect/>
          </a:stretch>
        </p:blipFill>
        <p:spPr>
          <a:xfrm>
            <a:off x="7376351" y="985579"/>
            <a:ext cx="4504944" cy="3162226"/>
          </a:xfrm>
          <a:prstGeom prst="rect">
            <a:avLst/>
          </a:prstGeom>
        </p:spPr>
      </p:pic>
      <p:pic>
        <p:nvPicPr>
          <p:cNvPr id="29" name="図 28">
            <a:extLst>
              <a:ext uri="{FF2B5EF4-FFF2-40B4-BE49-F238E27FC236}">
                <a16:creationId xmlns:a16="http://schemas.microsoft.com/office/drawing/2014/main" id="{19064DCB-929C-B3F6-A3DF-DCEF285AD281}"/>
              </a:ext>
            </a:extLst>
          </p:cNvPr>
          <p:cNvPicPr>
            <a:picLocks noChangeAspect="1"/>
          </p:cNvPicPr>
          <p:nvPr/>
        </p:nvPicPr>
        <p:blipFill>
          <a:blip r:embed="rId4"/>
          <a:stretch>
            <a:fillRect/>
          </a:stretch>
        </p:blipFill>
        <p:spPr>
          <a:xfrm>
            <a:off x="7489608" y="4193835"/>
            <a:ext cx="4503600" cy="2408902"/>
          </a:xfrm>
          <a:prstGeom prst="rect">
            <a:avLst/>
          </a:prstGeom>
        </p:spPr>
      </p:pic>
      <p:sp>
        <p:nvSpPr>
          <p:cNvPr id="30" name="テキスト ボックス 29">
            <a:extLst>
              <a:ext uri="{FF2B5EF4-FFF2-40B4-BE49-F238E27FC236}">
                <a16:creationId xmlns:a16="http://schemas.microsoft.com/office/drawing/2014/main" id="{C1BE0C0F-7810-BC59-D36C-EC7D1C80494D}"/>
              </a:ext>
            </a:extLst>
          </p:cNvPr>
          <p:cNvSpPr txBox="1"/>
          <p:nvPr/>
        </p:nvSpPr>
        <p:spPr>
          <a:xfrm>
            <a:off x="7083552" y="831033"/>
            <a:ext cx="3413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Dataverse</a:t>
            </a:r>
            <a:r>
              <a:rPr lang="ja-JP" altLang="en-US" sz="1400" b="1" u="sng" dirty="0">
                <a:solidFill>
                  <a:srgbClr val="0070C0"/>
                </a:solidFill>
              </a:rPr>
              <a:t>に保存の場合</a:t>
            </a:r>
            <a:endParaRPr kumimoji="1" lang="ja-JP" altLang="en-US" sz="1400" b="1" u="sng" dirty="0">
              <a:solidFill>
                <a:srgbClr val="0070C0"/>
              </a:solidFill>
            </a:endParaRPr>
          </a:p>
        </p:txBody>
      </p:sp>
      <p:sp>
        <p:nvSpPr>
          <p:cNvPr id="31" name="テキスト ボックス 30">
            <a:extLst>
              <a:ext uri="{FF2B5EF4-FFF2-40B4-BE49-F238E27FC236}">
                <a16:creationId xmlns:a16="http://schemas.microsoft.com/office/drawing/2014/main" id="{CF2ECCAC-FA8D-9BF9-74D9-995EDD678D29}"/>
              </a:ext>
            </a:extLst>
          </p:cNvPr>
          <p:cNvSpPr txBox="1"/>
          <p:nvPr/>
        </p:nvSpPr>
        <p:spPr>
          <a:xfrm>
            <a:off x="7083552" y="4070426"/>
            <a:ext cx="4175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SPO</a:t>
            </a:r>
            <a:r>
              <a:rPr lang="ja-JP" altLang="en-US" sz="1400" b="1" u="sng" dirty="0">
                <a:solidFill>
                  <a:srgbClr val="0070C0"/>
                </a:solidFill>
              </a:rPr>
              <a:t>に保存の場合（お薦め）</a:t>
            </a:r>
            <a:endParaRPr kumimoji="1" lang="ja-JP" altLang="en-US" sz="1400" b="1" u="sng" dirty="0">
              <a:solidFill>
                <a:srgbClr val="0070C0"/>
              </a:solidFill>
            </a:endParaRPr>
          </a:p>
        </p:txBody>
      </p:sp>
    </p:spTree>
    <p:extLst>
      <p:ext uri="{BB962C8B-B14F-4D97-AF65-F5344CB8AC3E}">
        <p14:creationId xmlns:p14="http://schemas.microsoft.com/office/powerpoint/2010/main" val="30953908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8186D-7CB8-B425-3BDC-349543460AD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79CE8C-A486-77AD-7522-3E2BA1629641}"/>
              </a:ext>
            </a:extLst>
          </p:cNvPr>
          <p:cNvSpPr>
            <a:spLocks noGrp="1"/>
          </p:cNvSpPr>
          <p:nvPr>
            <p:ph type="title"/>
          </p:nvPr>
        </p:nvSpPr>
        <p:spPr>
          <a:xfrm>
            <a:off x="414336" y="255263"/>
            <a:ext cx="9327072" cy="683629"/>
          </a:xfrm>
        </p:spPr>
        <p:txBody>
          <a:bodyPr>
            <a:normAutofit/>
          </a:bodyPr>
          <a:lstStyle/>
          <a:p>
            <a:r>
              <a:rPr lang="ja-JP" altLang="en-US"/>
              <a:t>実現方法－オンライン編集機能</a:t>
            </a:r>
            <a:endParaRPr lang="ja-JP" altLang="en-US">
              <a:effectLst/>
            </a:endParaRPr>
          </a:p>
        </p:txBody>
      </p:sp>
      <p:sp>
        <p:nvSpPr>
          <p:cNvPr id="15" name="テキスト ボックス 14">
            <a:extLst>
              <a:ext uri="{FF2B5EF4-FFF2-40B4-BE49-F238E27FC236}">
                <a16:creationId xmlns:a16="http://schemas.microsoft.com/office/drawing/2014/main" id="{4487A878-4E6E-4FC6-FAF5-1846844831A7}"/>
              </a:ext>
            </a:extLst>
          </p:cNvPr>
          <p:cNvSpPr txBox="1"/>
          <p:nvPr/>
        </p:nvSpPr>
        <p:spPr>
          <a:xfrm>
            <a:off x="414337" y="872591"/>
            <a:ext cx="11363328"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Dataverseストレージの場合: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中継としてSharePointを使用。</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Power AutomateのFlowを作成: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Trigger: Dataverseファイルの変更検知（When a record is updated）。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Action: ファイルをSharePointにコピー → Office 365で編集 → 編集後、TriggerでDataverseに同期。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編集ツール: </a:t>
            </a:r>
            <a:endParaRPr kumimoji="0" lang="en-US" altLang="zh-CN">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Office 365 Web版（ブラウザ経由）またはDesktop App。PowerAppsから「Edit in Office」ボタンを実装（Launch関数でURLを開く）。 </a:t>
            </a:r>
            <a:endParaRPr kumimoji="0" lang="en-US" altLang="zh-CN" sz="1600">
              <a:latin typeface="Arial" panose="020B0604020202020204" pitchFamily="34" charset="0"/>
            </a:endParaRPr>
          </a:p>
          <a:p>
            <a:pPr lvl="2" eaLnBrk="0" fontAlgn="base" hangingPunct="0">
              <a:spcBef>
                <a:spcPct val="0"/>
              </a:spcBef>
              <a:spcAft>
                <a:spcPct val="0"/>
              </a:spcAft>
            </a:pPr>
            <a:r>
              <a:rPr kumimoji="0" lang="zh-CN" altLang="zh-CN">
                <a:latin typeface="Arial" panose="020B0604020202020204" pitchFamily="34" charset="0"/>
              </a:rPr>
              <a:t>フロー詳細: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ステップ1: ユーザー選択の</a:t>
            </a:r>
            <a:r>
              <a:rPr kumimoji="0" lang="ja-JP" altLang="en-US" sz="1600">
                <a:latin typeface="Arial" panose="020B0604020202020204" pitchFamily="34" charset="0"/>
              </a:rPr>
              <a:t>ファイルを</a:t>
            </a:r>
            <a:r>
              <a:rPr kumimoji="0" lang="en-US" altLang="ja-JP" sz="1600">
                <a:latin typeface="Arial" panose="020B0604020202020204" pitchFamily="34" charset="0"/>
              </a:rPr>
              <a:t>SPO</a:t>
            </a:r>
            <a:r>
              <a:rPr kumimoji="0" lang="ja-JP" altLang="en-US" sz="1600">
                <a:latin typeface="Arial" panose="020B0604020202020204" pitchFamily="34" charset="0"/>
              </a:rPr>
              <a:t>に一時保存</a:t>
            </a:r>
            <a:r>
              <a:rPr kumimoji="0" lang="zh-CN" altLang="zh-CN" sz="1600">
                <a:latin typeface="Arial" panose="020B0604020202020204" pitchFamily="34" charset="0"/>
              </a:rPr>
              <a:t>ファイルURLを取得。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ステップ2: Office Onlineで開く（例: </a:t>
            </a:r>
            <a:r>
              <a:rPr kumimoji="0" lang="zh-CN" altLang="zh-CN" sz="1600">
                <a:latin typeface="Arial" panose="020B0604020202020204" pitchFamily="34" charset="0"/>
                <a:hlinkClick r:id="rId3"/>
              </a:rPr>
              <a:t>https://office.com/edit?url=[file_url]）</a:t>
            </a:r>
            <a:endParaRPr kumimoji="0" lang="zh-CN" altLang="zh-CN" sz="1600">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ステップ3: 保存後、Power Automateでバージョン更新をトリガーし、Dataverse/SQL Serverのメタデータを同期。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注意点: 同時編集時の競合</a:t>
            </a:r>
          </a:p>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SharePointストレージの場合:</a:t>
            </a:r>
            <a:r>
              <a:rPr kumimoji="0" lang="ja-JP" altLang="en-US">
                <a:solidFill>
                  <a:srgbClr val="00B050"/>
                </a:solidFill>
                <a:latin typeface="Arial" panose="020B0604020202020204" pitchFamily="34" charset="0"/>
              </a:rPr>
              <a:t>（お薦め）</a:t>
            </a:r>
            <a:r>
              <a:rPr kumimoji="0" lang="zh-CN" altLang="zh-CN">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直接Office 365統合。PowerAppsからSharePointファイルを開き、共同編集をサポート。 </a:t>
            </a:r>
          </a:p>
          <a:p>
            <a:pPr lvl="1" eaLnBrk="0" fontAlgn="base" hangingPunct="0">
              <a:spcBef>
                <a:spcPct val="0"/>
              </a:spcBef>
              <a:spcAft>
                <a:spcPct val="0"/>
              </a:spcAft>
            </a:pPr>
            <a:r>
              <a:rPr kumimoji="0" lang="zh-CN" altLang="zh-CN">
                <a:latin typeface="Arial" panose="020B0604020202020204" pitchFamily="34" charset="0"/>
              </a:rPr>
              <a:t>フロー詳細: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ステップ1: ユーザー選択のファイル</a:t>
            </a:r>
            <a:r>
              <a:rPr lang="ja-JP" altLang="en-US" sz="1600"/>
              <a:t>の</a:t>
            </a:r>
            <a:r>
              <a:rPr lang="en-US" altLang="ja-JP" sz="1600"/>
              <a:t>SPO</a:t>
            </a:r>
            <a:r>
              <a:rPr lang="ja-JP" altLang="en-US" sz="1600"/>
              <a:t>　</a:t>
            </a:r>
            <a:r>
              <a:rPr lang="zh-CN" altLang="zh-CN" sz="1600"/>
              <a:t>URLを取得。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ステップ2: Office Onlineで開く（例: </a:t>
            </a:r>
            <a:r>
              <a:rPr lang="zh-CN" altLang="zh-CN" sz="1600">
                <a:hlinkClick r:id="rId4"/>
              </a:rPr>
              <a:t>https://office.com/edit?url=[file_url</a:t>
            </a:r>
            <a:r>
              <a:rPr lang="zh-CN" altLang="zh-CN" sz="1600"/>
              <a:t>]）</a:t>
            </a:r>
            <a:endParaRPr lang="en-US" altLang="zh-CN" sz="1600"/>
          </a:p>
          <a:p>
            <a:pPr marL="742950" lvl="1" indent="-285750" eaLnBrk="0" fontAlgn="base" hangingPunct="0">
              <a:spcBef>
                <a:spcPct val="0"/>
              </a:spcBef>
              <a:spcAft>
                <a:spcPct val="0"/>
              </a:spcAft>
              <a:buFont typeface="Arial" panose="020B0604020202020204" pitchFamily="34" charset="0"/>
              <a:buChar char="•"/>
            </a:pPr>
            <a:r>
              <a:rPr lang="ja-JP" altLang="en-US" sz="1600"/>
              <a:t>競合編集の問題はありません。</a:t>
            </a:r>
            <a:endParaRPr lang="en-US" altLang="zh-CN" sz="1600"/>
          </a:p>
          <a:p>
            <a:pPr marL="285750" indent="-285750" eaLnBrk="0" fontAlgn="base" hangingPunct="0">
              <a:spcBef>
                <a:spcPct val="0"/>
              </a:spcBef>
              <a:spcAft>
                <a:spcPct val="0"/>
              </a:spcAft>
              <a:buFont typeface="Arial" panose="020B0604020202020204" pitchFamily="34" charset="0"/>
              <a:buChar char="•"/>
            </a:pPr>
            <a:r>
              <a:rPr kumimoji="0" lang="en-US" altLang="ja-JP">
                <a:latin typeface="Arial" panose="020B0604020202020204" pitchFamily="34" charset="0"/>
              </a:rPr>
              <a:t>SharePoint</a:t>
            </a:r>
            <a:r>
              <a:rPr kumimoji="0" lang="zh-CN" altLang="zh-CN">
                <a:latin typeface="Arial" panose="020B0604020202020204" pitchFamily="34" charset="0"/>
              </a:rPr>
              <a:t>ストレージの</a:t>
            </a:r>
            <a:r>
              <a:rPr kumimoji="0" lang="ja-JP" altLang="en-US">
                <a:latin typeface="Arial" panose="020B0604020202020204" pitchFamily="34" charset="0"/>
              </a:rPr>
              <a:t>場合、オンライン編集とユーザにより</a:t>
            </a:r>
            <a:r>
              <a:rPr kumimoji="0" lang="en-US" altLang="ja-JP">
                <a:latin typeface="Arial" panose="020B0604020202020204" pitchFamily="34" charset="0"/>
              </a:rPr>
              <a:t>Download/Upload</a:t>
            </a:r>
            <a:r>
              <a:rPr kumimoji="0" lang="ja-JP" altLang="en-US">
                <a:latin typeface="Arial" panose="020B0604020202020204" pitchFamily="34" charset="0"/>
              </a:rPr>
              <a:t>の差異もありません。</a:t>
            </a:r>
            <a:endParaRPr kumimoji="0" lang="zh-CN" altLang="zh-CN">
              <a:latin typeface="Arial" panose="020B0604020202020204" pitchFamily="34" charset="0"/>
            </a:endParaRPr>
          </a:p>
        </p:txBody>
      </p:sp>
    </p:spTree>
    <p:extLst>
      <p:ext uri="{BB962C8B-B14F-4D97-AF65-F5344CB8AC3E}">
        <p14:creationId xmlns:p14="http://schemas.microsoft.com/office/powerpoint/2010/main" val="3265391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A546-1FBC-2B24-0CE2-31A27EEDB9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583CCD-AAF8-3EC3-A6B0-A7FCC30C5F7E}"/>
              </a:ext>
            </a:extLst>
          </p:cNvPr>
          <p:cNvSpPr>
            <a:spLocks noGrp="1"/>
          </p:cNvSpPr>
          <p:nvPr>
            <p:ph type="title"/>
          </p:nvPr>
        </p:nvSpPr>
        <p:spPr>
          <a:xfrm>
            <a:off x="414336" y="255263"/>
            <a:ext cx="9327072" cy="683629"/>
          </a:xfrm>
        </p:spPr>
        <p:txBody>
          <a:bodyPr>
            <a:normAutofit/>
          </a:bodyPr>
          <a:lstStyle/>
          <a:p>
            <a:r>
              <a:rPr lang="ja-JP" altLang="en-US"/>
              <a:t>実現方法－一括ダウンロード機能</a:t>
            </a:r>
            <a:endParaRPr lang="ja-JP" altLang="en-US">
              <a:effectLst/>
            </a:endParaRPr>
          </a:p>
        </p:txBody>
      </p:sp>
      <p:sp>
        <p:nvSpPr>
          <p:cNvPr id="15" name="テキスト ボックス 14">
            <a:extLst>
              <a:ext uri="{FF2B5EF4-FFF2-40B4-BE49-F238E27FC236}">
                <a16:creationId xmlns:a16="http://schemas.microsoft.com/office/drawing/2014/main" id="{B6BC6843-6AFA-66AD-800E-1610C6ECC828}"/>
              </a:ext>
            </a:extLst>
          </p:cNvPr>
          <p:cNvSpPr txBox="1"/>
          <p:nvPr/>
        </p:nvSpPr>
        <p:spPr>
          <a:xfrm>
            <a:off x="281874" y="938892"/>
            <a:ext cx="6707431" cy="5181491"/>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ja-JP" altLang="en-US" sz="1600" dirty="0">
                <a:latin typeface="Arial" panose="020B0604020202020204" pitchFamily="34" charset="0"/>
              </a:rPr>
              <a:t>既定案：</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PowerAppsで選択機能を実装（Checkbox付きGallery）。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ダウンロード処理: Power Automate Flowをトリガー。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Flow詳細: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Trigger: PowerAppsから呼び出し（PowerApps V2 Trigger）。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Action: 選択ファイルのURLリストを取得 → ZIPファイル作成（OneDrive/SharePointのCreate fileアクション使用） → ダウンロードリンク生成。 </a:t>
            </a:r>
          </a:p>
          <a:p>
            <a:pPr marL="742950" lvl="1" indent="-285750" eaLnBrk="0" fontAlgn="base" hangingPunct="0">
              <a:spcBef>
                <a:spcPct val="0"/>
              </a:spcBef>
              <a:spcAft>
                <a:spcPct val="0"/>
              </a:spcAft>
              <a:buFont typeface="Arial" panose="020B0604020202020204" pitchFamily="34" charset="0"/>
              <a:buChar char="•"/>
            </a:pPr>
            <a:r>
              <a:rPr kumimoji="0" lang="en-US" altLang="ja-JP" sz="1200" dirty="0">
                <a:latin typeface="Arial" panose="020B0604020202020204" pitchFamily="34" charset="0"/>
              </a:rPr>
              <a:t>PowerApps</a:t>
            </a:r>
            <a:r>
              <a:rPr kumimoji="0" lang="ja-JP" altLang="en-US" sz="1200" dirty="0">
                <a:latin typeface="Arial" panose="020B0604020202020204" pitchFamily="34" charset="0"/>
              </a:rPr>
              <a:t>で</a:t>
            </a:r>
            <a:r>
              <a:rPr kumimoji="0" lang="zh-CN" altLang="zh-CN" sz="1200" dirty="0">
                <a:latin typeface="Arial" panose="020B0604020202020204" pitchFamily="34" charset="0"/>
              </a:rPr>
              <a:t>モバイル/デスクトップ対応のため、PowerAppsのDownload関数を使用。</a:t>
            </a:r>
            <a:endParaRPr kumimoji="0" lang="en-US" altLang="zh-CN"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sz="1200" dirty="0">
                <a:latin typeface="Arial" panose="020B0604020202020204" pitchFamily="34" charset="0"/>
              </a:rPr>
              <a:t>ファイルの</a:t>
            </a:r>
            <a:r>
              <a:rPr kumimoji="0" lang="zh-CN" altLang="zh-CN" sz="1200" dirty="0">
                <a:latin typeface="Arial" panose="020B0604020202020204" pitchFamily="34" charset="0"/>
              </a:rPr>
              <a:t>保存先: ユーザーが指定したディレクトリ（ブラウザダウンロード</a:t>
            </a:r>
            <a:r>
              <a:rPr kumimoji="0" lang="ja-JP" altLang="en-US" sz="1200" dirty="0">
                <a:latin typeface="Arial" panose="020B0604020202020204" pitchFamily="34" charset="0"/>
              </a:rPr>
              <a:t>オプションを毎回確認にし、</a:t>
            </a:r>
            <a:r>
              <a:rPr kumimoji="0" lang="zh-CN" altLang="zh-CN" sz="1200" dirty="0">
                <a:latin typeface="Arial" panose="020B0604020202020204" pitchFamily="34" charset="0"/>
              </a:rPr>
              <a:t>ユーザーが</a:t>
            </a:r>
            <a:r>
              <a:rPr kumimoji="0" lang="ja-JP" altLang="en-US" sz="1200" dirty="0">
                <a:latin typeface="Arial" panose="020B0604020202020204" pitchFamily="34" charset="0"/>
              </a:rPr>
              <a:t>保存先</a:t>
            </a:r>
            <a:r>
              <a:rPr kumimoji="0" lang="zh-CN" altLang="zh-CN" sz="1200" dirty="0">
                <a:latin typeface="Arial" panose="020B0604020202020204" pitchFamily="34" charset="0"/>
              </a:rPr>
              <a:t>選択）。</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制限: 最大100ファイル/回、合計サイズ500MB（パフォーマンス考慮）。 </a:t>
            </a:r>
          </a:p>
          <a:p>
            <a:pPr algn="l"/>
            <a:endParaRPr lang="en-US" altLang="ja-JP" sz="1600" dirty="0">
              <a:latin typeface="Yu Gothic UI" panose="020B0500000000000000" pitchFamily="50" charset="-128"/>
              <a:ea typeface="Yu Gothic UI" panose="020B0500000000000000" pitchFamily="50" charset="-128"/>
            </a:endParaRPr>
          </a:p>
          <a:p>
            <a:pPr algn="l"/>
            <a:r>
              <a:rPr lang="ja-JP" altLang="en-US" sz="1600" dirty="0">
                <a:solidFill>
                  <a:srgbClr val="C00000"/>
                </a:solidFill>
                <a:latin typeface="Yu Gothic UI" panose="020B0500000000000000" pitchFamily="50" charset="-128"/>
                <a:ea typeface="Yu Gothic UI" panose="020B0500000000000000" pitchFamily="50" charset="-128"/>
              </a:rPr>
              <a:t>向上案：</a:t>
            </a:r>
            <a:endParaRPr lang="en-US" altLang="ja-JP" sz="1600" dirty="0">
              <a:solidFill>
                <a:srgbClr val="C00000"/>
              </a:solidFill>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Apps </a:t>
            </a:r>
            <a:r>
              <a:rPr lang="ja-JP" altLang="en-US" sz="1200" dirty="0">
                <a:latin typeface="Yu Gothic UI" panose="020B0500000000000000" pitchFamily="50" charset="-128"/>
                <a:ea typeface="Yu Gothic UI" panose="020B0500000000000000" pitchFamily="50" charset="-128"/>
              </a:rPr>
              <a:t>では、</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ページを埋め込むための </a:t>
            </a:r>
            <a:r>
              <a:rPr lang="en-US" altLang="ja-JP" sz="1200" dirty="0">
                <a:latin typeface="Yu Gothic UI" panose="020B0500000000000000" pitchFamily="50" charset="-128"/>
                <a:ea typeface="Yu Gothic UI" panose="020B0500000000000000" pitchFamily="50" charset="-128"/>
              </a:rPr>
              <a:t>WebView </a:t>
            </a:r>
            <a:r>
              <a:rPr lang="ja-JP" altLang="en-US" sz="1200" dirty="0">
                <a:latin typeface="Yu Gothic UI" panose="020B0500000000000000" pitchFamily="50" charset="-128"/>
                <a:ea typeface="Yu Gothic UI" panose="020B0500000000000000" pitchFamily="50" charset="-128"/>
              </a:rPr>
              <a:t>コントロール（または </a:t>
            </a:r>
            <a:r>
              <a:rPr lang="en-US" altLang="ja-JP" sz="1200" dirty="0">
                <a:latin typeface="Yu Gothic UI" panose="020B0500000000000000" pitchFamily="50" charset="-128"/>
                <a:ea typeface="Yu Gothic UI" panose="020B0500000000000000" pitchFamily="50" charset="-128"/>
              </a:rPr>
              <a:t>HTML text </a:t>
            </a:r>
            <a:r>
              <a:rPr lang="ja-JP" altLang="en-US" sz="1200" dirty="0">
                <a:latin typeface="Yu Gothic UI" panose="020B0500000000000000" pitchFamily="50" charset="-128"/>
                <a:ea typeface="Yu Gothic UI" panose="020B0500000000000000" pitchFamily="50" charset="-128"/>
              </a:rPr>
              <a:t>コントロールを介して </a:t>
            </a:r>
            <a:r>
              <a:rPr lang="en-US" altLang="ja-JP" sz="1200" dirty="0">
                <a:latin typeface="Yu Gothic UI" panose="020B0500000000000000" pitchFamily="50" charset="-128"/>
                <a:ea typeface="Yu Gothic UI" panose="020B0500000000000000" pitchFamily="50" charset="-128"/>
              </a:rPr>
              <a:t>HTML </a:t>
            </a:r>
            <a:r>
              <a:rPr lang="ja-JP" altLang="en-US" sz="1200" dirty="0">
                <a:latin typeface="Yu Gothic UI" panose="020B0500000000000000" pitchFamily="50" charset="-128"/>
                <a:ea typeface="Yu Gothic UI" panose="020B0500000000000000" pitchFamily="50" charset="-128"/>
              </a:rPr>
              <a:t>コンテンツを表示する）を使用して、外部の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ページをアプリ内に表示することは可能です。この埋め込まれた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ページ内で、</a:t>
            </a:r>
            <a:r>
              <a:rPr lang="en-US" altLang="ja-JP" sz="1200" dirty="0">
                <a:latin typeface="Yu Gothic UI" panose="020B0500000000000000" pitchFamily="50" charset="-128"/>
                <a:ea typeface="Yu Gothic UI" panose="020B0500000000000000" pitchFamily="50" charset="-128"/>
              </a:rPr>
              <a:t>JavaScript </a:t>
            </a:r>
            <a:r>
              <a:rPr lang="ja-JP" altLang="en-US" sz="1200" dirty="0">
                <a:latin typeface="Yu Gothic UI" panose="020B0500000000000000" pitchFamily="50" charset="-128"/>
                <a:ea typeface="Yu Gothic UI" panose="020B0500000000000000" pitchFamily="50" charset="-128"/>
              </a:rPr>
              <a:t>を使用して </a:t>
            </a:r>
            <a:r>
              <a:rPr lang="en-US" altLang="ja-JP" sz="1200" dirty="0">
                <a:latin typeface="Yu Gothic UI" panose="020B0500000000000000" pitchFamily="50" charset="-128"/>
                <a:ea typeface="Yu Gothic UI" panose="020B0500000000000000" pitchFamily="50" charset="-128"/>
              </a:rPr>
              <a:t>DOM </a:t>
            </a:r>
            <a:r>
              <a:rPr lang="ja-JP" altLang="en-US" sz="1200" dirty="0">
                <a:latin typeface="Yu Gothic UI" panose="020B0500000000000000" pitchFamily="50" charset="-128"/>
                <a:ea typeface="Yu Gothic UI" panose="020B0500000000000000" pitchFamily="50" charset="-128"/>
              </a:rPr>
              <a:t>操作や </a:t>
            </a:r>
            <a:r>
              <a:rPr lang="en-US" altLang="ja-JP" sz="1200" dirty="0">
                <a:latin typeface="Yu Gothic UI" panose="020B0500000000000000" pitchFamily="50" charset="-128"/>
                <a:ea typeface="Yu Gothic UI" panose="020B0500000000000000" pitchFamily="50" charset="-128"/>
              </a:rPr>
              <a:t>Web API </a:t>
            </a:r>
            <a:r>
              <a:rPr lang="ja-JP" altLang="en-US" sz="1200" dirty="0">
                <a:latin typeface="Yu Gothic UI" panose="020B0500000000000000" pitchFamily="50" charset="-128"/>
                <a:ea typeface="Yu Gothic UI" panose="020B0500000000000000" pitchFamily="50" charset="-128"/>
              </a:rPr>
              <a:t>へのアクセスを行うことはできます。</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外部ページの</a:t>
            </a:r>
            <a:r>
              <a:rPr lang="en-US" altLang="ja-JP" sz="1200" dirty="0">
                <a:latin typeface="Yu Gothic UI" panose="020B0500000000000000" pitchFamily="50" charset="-128"/>
                <a:ea typeface="Yu Gothic UI" panose="020B0500000000000000" pitchFamily="50" charset="-128"/>
              </a:rPr>
              <a:t>JavaScript</a:t>
            </a:r>
            <a:r>
              <a:rPr lang="ja-JP" altLang="en-US" sz="1200" dirty="0">
                <a:latin typeface="Yu Gothic UI" panose="020B0500000000000000" pitchFamily="50" charset="-128"/>
                <a:ea typeface="Yu Gothic UI" panose="020B0500000000000000" pitchFamily="50" charset="-128"/>
              </a:rPr>
              <a:t>を経由し、複数ファイルを指定場所に一定規則で個別保存するのは可能と認識していますが、</a:t>
            </a:r>
            <a:r>
              <a:rPr lang="en-US" altLang="ja-JP" sz="1200" dirty="0">
                <a:latin typeface="Yu Gothic UI" panose="020B0500000000000000" pitchFamily="50" charset="-128"/>
                <a:ea typeface="Yu Gothic UI" panose="020B0500000000000000" pitchFamily="50" charset="-128"/>
              </a:rPr>
              <a:t>POC</a:t>
            </a:r>
            <a:r>
              <a:rPr lang="ja-JP" altLang="en-US" sz="1200" dirty="0">
                <a:latin typeface="Yu Gothic UI" panose="020B0500000000000000" pitchFamily="50" charset="-128"/>
                <a:ea typeface="Yu Gothic UI" panose="020B0500000000000000" pitchFamily="50" charset="-128"/>
              </a:rPr>
              <a:t>が必要。</a:t>
            </a:r>
            <a:endParaRPr lang="en-US" altLang="ja-JP" sz="1200" dirty="0">
              <a:latin typeface="Yu Gothic UI" panose="020B0500000000000000" pitchFamily="50" charset="-128"/>
              <a:ea typeface="Yu Gothic UI" panose="020B0500000000000000" pitchFamily="50" charset="-128"/>
            </a:endParaRPr>
          </a:p>
        </p:txBody>
      </p:sp>
      <p:pic>
        <p:nvPicPr>
          <p:cNvPr id="4" name="図 3">
            <a:extLst>
              <a:ext uri="{FF2B5EF4-FFF2-40B4-BE49-F238E27FC236}">
                <a16:creationId xmlns:a16="http://schemas.microsoft.com/office/drawing/2014/main" id="{E05B735C-ABEF-6B37-7914-50BCD16A9805}"/>
              </a:ext>
            </a:extLst>
          </p:cNvPr>
          <p:cNvPicPr>
            <a:picLocks noChangeAspect="1"/>
          </p:cNvPicPr>
          <p:nvPr/>
        </p:nvPicPr>
        <p:blipFill>
          <a:blip r:embed="rId3"/>
          <a:stretch>
            <a:fillRect/>
          </a:stretch>
        </p:blipFill>
        <p:spPr>
          <a:xfrm>
            <a:off x="7135273" y="2615572"/>
            <a:ext cx="1673447" cy="495901"/>
          </a:xfrm>
          <a:prstGeom prst="rect">
            <a:avLst/>
          </a:prstGeom>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B6488693-DA60-061D-50C5-F20CFA4E440E}"/>
              </a:ext>
            </a:extLst>
          </p:cNvPr>
          <p:cNvPicPr>
            <a:picLocks noGrp="1" noRot="1" noChangeAspect="1" noMove="1" noResize="1" noEditPoints="1" noAdjustHandles="1" noChangeArrowheads="1" noChangeShapeType="1" noCrop="1"/>
          </p:cNvPicPr>
          <p:nvPr>
            <p:ph sz="quarter" idx="10"/>
          </p:nvPr>
        </p:nvPicPr>
        <p:blipFill>
          <a:blip r:embed="rId4"/>
          <a:stretch>
            <a:fillRect/>
          </a:stretch>
        </p:blipFill>
        <p:spPr>
          <a:xfrm>
            <a:off x="7225256" y="1746213"/>
            <a:ext cx="1084608" cy="623650"/>
          </a:xfrm>
        </p:spPr>
      </p:pic>
      <p:pic>
        <p:nvPicPr>
          <p:cNvPr id="5" name="図 4"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34A660EE-39EA-032C-6321-551EBE1C629A}"/>
              </a:ext>
            </a:extLst>
          </p:cNvPr>
          <p:cNvPicPr>
            <a:picLocks noGrp="1" noRot="1" noChangeAspect="1" noMove="1" noResize="1" noEditPoints="1" noAdjustHandles="1" noChangeArrowheads="1" noChangeShapeType="1" noCrop="1"/>
          </p:cNvPicPr>
          <p:nvPr/>
        </p:nvPicPr>
        <p:blipFill>
          <a:blip r:embed="rId5"/>
          <a:stretch>
            <a:fillRect/>
          </a:stretch>
        </p:blipFill>
        <p:spPr>
          <a:xfrm>
            <a:off x="9036550" y="1664184"/>
            <a:ext cx="911875" cy="786151"/>
          </a:xfrm>
          <a:prstGeom prst="rect">
            <a:avLst/>
          </a:prstGeom>
        </p:spPr>
      </p:pic>
      <p:pic>
        <p:nvPicPr>
          <p:cNvPr id="8" name="図 7" descr="部屋, 賭博場 が含まれている画像&#10;&#10;AI によって生成されたコンテンツは間違っている可能性があります。">
            <a:extLst>
              <a:ext uri="{FF2B5EF4-FFF2-40B4-BE49-F238E27FC236}">
                <a16:creationId xmlns:a16="http://schemas.microsoft.com/office/drawing/2014/main" id="{F88D0C93-D0A6-3727-F195-5CE35ACDA255}"/>
              </a:ext>
            </a:extLst>
          </p:cNvPr>
          <p:cNvPicPr>
            <a:picLocks noGrp="1" noRot="1" noChangeAspect="1" noMove="1" noResize="1" noEditPoints="1" noAdjustHandles="1" noChangeArrowheads="1" noChangeShapeType="1" noCrop="1"/>
          </p:cNvPicPr>
          <p:nvPr/>
        </p:nvPicPr>
        <p:blipFill>
          <a:blip r:embed="rId6"/>
          <a:stretch>
            <a:fillRect/>
          </a:stretch>
        </p:blipFill>
        <p:spPr>
          <a:xfrm>
            <a:off x="10675111" y="1031258"/>
            <a:ext cx="1158274" cy="683630"/>
          </a:xfrm>
          <a:prstGeom prst="rect">
            <a:avLst/>
          </a:prstGeom>
        </p:spPr>
      </p:pic>
      <p:pic>
        <p:nvPicPr>
          <p:cNvPr id="9" name="図 8" descr="ロゴ, アイコン&#10;&#10;AI によって生成されたコンテンツは間違っている可能性があります。">
            <a:extLst>
              <a:ext uri="{FF2B5EF4-FFF2-40B4-BE49-F238E27FC236}">
                <a16:creationId xmlns:a16="http://schemas.microsoft.com/office/drawing/2014/main" id="{470E3946-6B9A-9FAC-2ED8-48F80C79BCAD}"/>
              </a:ext>
            </a:extLst>
          </p:cNvPr>
          <p:cNvPicPr>
            <a:picLocks noGrp="1" noRot="1" noChangeAspect="1" noMove="1" noResize="1" noEditPoints="1" noAdjustHandles="1" noChangeArrowheads="1" noChangeShapeType="1" noCrop="1"/>
          </p:cNvPicPr>
          <p:nvPr/>
        </p:nvPicPr>
        <p:blipFill>
          <a:blip r:embed="rId7"/>
          <a:stretch>
            <a:fillRect/>
          </a:stretch>
        </p:blipFill>
        <p:spPr>
          <a:xfrm>
            <a:off x="10932449" y="2369863"/>
            <a:ext cx="643597" cy="629116"/>
          </a:xfrm>
          <a:prstGeom prst="rect">
            <a:avLst/>
          </a:prstGeom>
        </p:spPr>
      </p:pic>
      <p:sp>
        <p:nvSpPr>
          <p:cNvPr id="10" name="テキスト ボックス 9">
            <a:extLst>
              <a:ext uri="{FF2B5EF4-FFF2-40B4-BE49-F238E27FC236}">
                <a16:creationId xmlns:a16="http://schemas.microsoft.com/office/drawing/2014/main" id="{44167681-D3DA-719A-FC11-5584A784F367}"/>
              </a:ext>
            </a:extLst>
          </p:cNvPr>
          <p:cNvSpPr txBox="1">
            <a:spLocks noGrp="1" noRot="1" noMove="1" noResize="1" noEditPoints="1" noAdjustHandles="1" noChangeArrowheads="1" noChangeShapeType="1"/>
          </p:cNvSpPr>
          <p:nvPr/>
        </p:nvSpPr>
        <p:spPr>
          <a:xfrm>
            <a:off x="8148659" y="1519204"/>
            <a:ext cx="1049097" cy="400110"/>
          </a:xfrm>
          <a:prstGeom prst="rect">
            <a:avLst/>
          </a:prstGeom>
          <a:noFill/>
        </p:spPr>
        <p:txBody>
          <a:bodyPr wrap="square" rtlCol="0">
            <a:spAutoFit/>
          </a:bodyPr>
          <a:lstStyle/>
          <a:p>
            <a:pPr algn="ctr"/>
            <a:r>
              <a:rPr lang="en-US" altLang="ja-JP" sz="1000"/>
              <a:t>Download</a:t>
            </a:r>
            <a:r>
              <a:rPr lang="ja-JP" altLang="en-US" sz="1000"/>
              <a:t> </a:t>
            </a:r>
            <a:endParaRPr lang="en-US" altLang="ja-JP" sz="1000"/>
          </a:p>
          <a:p>
            <a:pPr algn="ctr"/>
            <a:r>
              <a:rPr lang="en-US" altLang="ja-JP" sz="1000"/>
              <a:t>request</a:t>
            </a:r>
            <a:endParaRPr kumimoji="1" lang="ja-JP" altLang="en-US" sz="600"/>
          </a:p>
        </p:txBody>
      </p:sp>
      <p:sp>
        <p:nvSpPr>
          <p:cNvPr id="11" name="ひし形 10">
            <a:extLst>
              <a:ext uri="{FF2B5EF4-FFF2-40B4-BE49-F238E27FC236}">
                <a16:creationId xmlns:a16="http://schemas.microsoft.com/office/drawing/2014/main" id="{392BA5C1-AE7D-F3F7-8822-5BFA9FB93002}"/>
              </a:ext>
            </a:extLst>
          </p:cNvPr>
          <p:cNvSpPr>
            <a:spLocks noGrp="1" noRot="1" noMove="1" noResize="1" noEditPoints="1" noAdjustHandles="1" noChangeArrowheads="1" noChangeShapeType="1"/>
          </p:cNvSpPr>
          <p:nvPr/>
        </p:nvSpPr>
        <p:spPr>
          <a:xfrm>
            <a:off x="8962312" y="185091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2" name="コネクタ: カギ線 11">
            <a:extLst>
              <a:ext uri="{FF2B5EF4-FFF2-40B4-BE49-F238E27FC236}">
                <a16:creationId xmlns:a16="http://schemas.microsoft.com/office/drawing/2014/main" id="{1DF9C08F-F6D4-2706-0444-F346C5603AFF}"/>
              </a:ext>
            </a:extLst>
          </p:cNvPr>
          <p:cNvCxnSpPr>
            <a:cxnSpLocks noGrp="1" noRot="1" noMove="1" noResize="1" noEditPoints="1" noAdjustHandles="1" noChangeArrowheads="1" noChangeShapeType="1"/>
            <a:stCxn id="11" idx="1"/>
            <a:endCxn id="3" idx="3"/>
          </p:cNvCxnSpPr>
          <p:nvPr/>
        </p:nvCxnSpPr>
        <p:spPr>
          <a:xfrm rot="10800000" flipV="1">
            <a:off x="8309864" y="1885114"/>
            <a:ext cx="652448" cy="17292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ひし形 16">
            <a:extLst>
              <a:ext uri="{FF2B5EF4-FFF2-40B4-BE49-F238E27FC236}">
                <a16:creationId xmlns:a16="http://schemas.microsoft.com/office/drawing/2014/main" id="{326051C3-BFD8-503F-FE67-364A11D5C766}"/>
              </a:ext>
            </a:extLst>
          </p:cNvPr>
          <p:cNvSpPr>
            <a:spLocks noGrp="1" noRot="1" noMove="1" noResize="1" noEditPoints="1" noAdjustHandles="1" noChangeArrowheads="1" noChangeShapeType="1"/>
          </p:cNvSpPr>
          <p:nvPr/>
        </p:nvSpPr>
        <p:spPr>
          <a:xfrm>
            <a:off x="8971081" y="224284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9" name="コネクタ: カギ線 18">
            <a:extLst>
              <a:ext uri="{FF2B5EF4-FFF2-40B4-BE49-F238E27FC236}">
                <a16:creationId xmlns:a16="http://schemas.microsoft.com/office/drawing/2014/main" id="{3466D02A-3E7B-8139-EDFD-48C9B5CBDB95}"/>
              </a:ext>
            </a:extLst>
          </p:cNvPr>
          <p:cNvCxnSpPr>
            <a:cxnSpLocks noGrp="1" noRot="1" noMove="1" noResize="1" noEditPoints="1" noAdjustHandles="1" noChangeArrowheads="1" noChangeShapeType="1"/>
            <a:stCxn id="9" idx="1"/>
            <a:endCxn id="5" idx="3"/>
          </p:cNvCxnSpPr>
          <p:nvPr/>
        </p:nvCxnSpPr>
        <p:spPr>
          <a:xfrm rot="10800000">
            <a:off x="9948425" y="2057261"/>
            <a:ext cx="984024" cy="627161"/>
          </a:xfrm>
          <a:prstGeom prst="bentConnector3">
            <a:avLst>
              <a:gd name="adj1" fmla="val 50000"/>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22" name="ひし形 21">
            <a:extLst>
              <a:ext uri="{FF2B5EF4-FFF2-40B4-BE49-F238E27FC236}">
                <a16:creationId xmlns:a16="http://schemas.microsoft.com/office/drawing/2014/main" id="{D5E39300-8D5A-D013-79E6-C80968716175}"/>
              </a:ext>
            </a:extLst>
          </p:cNvPr>
          <p:cNvSpPr>
            <a:spLocks noGrp="1" noRot="1" noMove="1" noResize="1" noEditPoints="1" noAdjustHandles="1" noChangeArrowheads="1" noChangeShapeType="1"/>
          </p:cNvSpPr>
          <p:nvPr/>
        </p:nvSpPr>
        <p:spPr>
          <a:xfrm>
            <a:off x="8283539" y="213977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3" name="コネクタ: カギ線 22">
            <a:extLst>
              <a:ext uri="{FF2B5EF4-FFF2-40B4-BE49-F238E27FC236}">
                <a16:creationId xmlns:a16="http://schemas.microsoft.com/office/drawing/2014/main" id="{2A0FDD1E-FC35-97BC-67DE-29C02B45719B}"/>
              </a:ext>
            </a:extLst>
          </p:cNvPr>
          <p:cNvCxnSpPr>
            <a:cxnSpLocks noGrp="1" noRot="1" noMove="1" noResize="1" noEditPoints="1" noAdjustHandles="1" noChangeArrowheads="1" noChangeShapeType="1"/>
            <a:stCxn id="22" idx="3"/>
            <a:endCxn id="17" idx="1"/>
          </p:cNvCxnSpPr>
          <p:nvPr/>
        </p:nvCxnSpPr>
        <p:spPr>
          <a:xfrm>
            <a:off x="8353281" y="2173970"/>
            <a:ext cx="617800" cy="10307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D1CE5CFF-E4EB-372F-4E74-E06AC73ED159}"/>
              </a:ext>
            </a:extLst>
          </p:cNvPr>
          <p:cNvSpPr txBox="1">
            <a:spLocks noGrp="1" noRot="1" noMove="1" noResize="1" noEditPoints="1" noAdjustHandles="1" noChangeArrowheads="1" noChangeShapeType="1"/>
          </p:cNvSpPr>
          <p:nvPr/>
        </p:nvSpPr>
        <p:spPr>
          <a:xfrm>
            <a:off x="8097944" y="2311244"/>
            <a:ext cx="1475883" cy="400110"/>
          </a:xfrm>
          <a:prstGeom prst="rect">
            <a:avLst/>
          </a:prstGeom>
          <a:noFill/>
        </p:spPr>
        <p:txBody>
          <a:bodyPr wrap="square" rtlCol="0">
            <a:spAutoFit/>
          </a:bodyPr>
          <a:lstStyle>
            <a:defPPr>
              <a:defRPr lang="ja-JP"/>
            </a:defPPr>
            <a:lvl1pPr algn="ctr">
              <a:defRPr sz="1000"/>
            </a:lvl1pPr>
          </a:lstStyle>
          <a:p>
            <a:r>
              <a:rPr lang="en-US" altLang="ja-JP"/>
              <a:t>Zip </a:t>
            </a:r>
          </a:p>
          <a:p>
            <a:r>
              <a:rPr lang="en-US" altLang="ja-JP"/>
              <a:t>Download</a:t>
            </a:r>
            <a:endParaRPr lang="ja-JP" altLang="en-US"/>
          </a:p>
        </p:txBody>
      </p:sp>
      <p:sp>
        <p:nvSpPr>
          <p:cNvPr id="27" name="テキスト ボックス 26">
            <a:extLst>
              <a:ext uri="{FF2B5EF4-FFF2-40B4-BE49-F238E27FC236}">
                <a16:creationId xmlns:a16="http://schemas.microsoft.com/office/drawing/2014/main" id="{19B2B667-4BD8-71BD-48C1-D3E3923C1295}"/>
              </a:ext>
            </a:extLst>
          </p:cNvPr>
          <p:cNvSpPr txBox="1">
            <a:spLocks noGrp="1" noRot="1" noMove="1" noResize="1" noEditPoints="1" noAdjustHandles="1" noChangeArrowheads="1" noChangeShapeType="1"/>
          </p:cNvSpPr>
          <p:nvPr/>
        </p:nvSpPr>
        <p:spPr>
          <a:xfrm>
            <a:off x="10256039" y="1842320"/>
            <a:ext cx="1049097" cy="400110"/>
          </a:xfrm>
          <a:prstGeom prst="rect">
            <a:avLst/>
          </a:prstGeom>
          <a:noFill/>
        </p:spPr>
        <p:txBody>
          <a:bodyPr wrap="square" rtlCol="0">
            <a:spAutoFit/>
          </a:bodyPr>
          <a:lstStyle/>
          <a:p>
            <a:pPr algn="ctr"/>
            <a:r>
              <a:rPr lang="ja-JP" altLang="en-US" sz="1000"/>
              <a:t>添付ファイル取得</a:t>
            </a:r>
            <a:endParaRPr kumimoji="1" lang="ja-JP" altLang="en-US" sz="600"/>
          </a:p>
        </p:txBody>
      </p:sp>
      <p:sp>
        <p:nvSpPr>
          <p:cNvPr id="28" name="ひし形 27">
            <a:extLst>
              <a:ext uri="{FF2B5EF4-FFF2-40B4-BE49-F238E27FC236}">
                <a16:creationId xmlns:a16="http://schemas.microsoft.com/office/drawing/2014/main" id="{41DD2BFD-F3BD-83E5-2AF2-964BEE57136F}"/>
              </a:ext>
            </a:extLst>
          </p:cNvPr>
          <p:cNvSpPr>
            <a:spLocks noGrp="1" noRot="1" noMove="1" noResize="1" noEditPoints="1" noAdjustHandles="1" noChangeArrowheads="1" noChangeShapeType="1"/>
          </p:cNvSpPr>
          <p:nvPr/>
        </p:nvSpPr>
        <p:spPr>
          <a:xfrm>
            <a:off x="9935789" y="1880431"/>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0" name="コネクタ: カギ線 29">
            <a:extLst>
              <a:ext uri="{FF2B5EF4-FFF2-40B4-BE49-F238E27FC236}">
                <a16:creationId xmlns:a16="http://schemas.microsoft.com/office/drawing/2014/main" id="{59F3C52D-9D09-82D1-15AC-4328E1776DE2}"/>
              </a:ext>
            </a:extLst>
          </p:cNvPr>
          <p:cNvCxnSpPr>
            <a:cxnSpLocks noGrp="1" noRot="1" noMove="1" noResize="1" noEditPoints="1" noAdjustHandles="1" noChangeArrowheads="1" noChangeShapeType="1"/>
            <a:stCxn id="8" idx="1"/>
            <a:endCxn id="28" idx="3"/>
          </p:cNvCxnSpPr>
          <p:nvPr/>
        </p:nvCxnSpPr>
        <p:spPr>
          <a:xfrm rot="10800000" flipV="1">
            <a:off x="10005531" y="1373073"/>
            <a:ext cx="669580" cy="541558"/>
          </a:xfrm>
          <a:prstGeom prst="bentConnector3">
            <a:avLst>
              <a:gd name="adj1" fmla="val 50000"/>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95E9AE6-98D2-5FB5-B5D9-408A7DAC0B4C}"/>
              </a:ext>
            </a:extLst>
          </p:cNvPr>
          <p:cNvSpPr txBox="1">
            <a:spLocks noGrp="1" noRot="1" noMove="1" noResize="1" noEditPoints="1" noAdjustHandles="1" noChangeArrowheads="1" noChangeShapeType="1"/>
          </p:cNvSpPr>
          <p:nvPr/>
        </p:nvSpPr>
        <p:spPr>
          <a:xfrm>
            <a:off x="9946510" y="266527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34" name="テキスト ボックス 33">
            <a:extLst>
              <a:ext uri="{FF2B5EF4-FFF2-40B4-BE49-F238E27FC236}">
                <a16:creationId xmlns:a16="http://schemas.microsoft.com/office/drawing/2014/main" id="{845B540C-A3E0-2531-70CB-A26CC24CD460}"/>
              </a:ext>
            </a:extLst>
          </p:cNvPr>
          <p:cNvSpPr txBox="1">
            <a:spLocks noGrp="1" noRot="1" noMove="1" noResize="1" noEditPoints="1" noAdjustHandles="1" noChangeArrowheads="1" noChangeShapeType="1"/>
          </p:cNvSpPr>
          <p:nvPr/>
        </p:nvSpPr>
        <p:spPr>
          <a:xfrm>
            <a:off x="9492487" y="1026587"/>
            <a:ext cx="1310574" cy="461665"/>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35" name="テキスト ボックス 34">
            <a:extLst>
              <a:ext uri="{FF2B5EF4-FFF2-40B4-BE49-F238E27FC236}">
                <a16:creationId xmlns:a16="http://schemas.microsoft.com/office/drawing/2014/main" id="{D10B4D07-D167-7411-8B6E-5157B773A998}"/>
              </a:ext>
            </a:extLst>
          </p:cNvPr>
          <p:cNvSpPr txBox="1">
            <a:spLocks noGrp="1" noRot="1" noMove="1" noResize="1" noEditPoints="1" noAdjustHandles="1" noChangeArrowheads="1" noChangeShapeType="1"/>
          </p:cNvSpPr>
          <p:nvPr/>
        </p:nvSpPr>
        <p:spPr>
          <a:xfrm>
            <a:off x="9082846" y="2470646"/>
            <a:ext cx="1093047" cy="338554"/>
          </a:xfrm>
          <a:prstGeom prst="rect">
            <a:avLst/>
          </a:prstGeom>
          <a:noFill/>
        </p:spPr>
        <p:txBody>
          <a:bodyPr wrap="square" rtlCol="0">
            <a:spAutoFit/>
          </a:bodyPr>
          <a:lstStyle/>
          <a:p>
            <a:pPr algn="ctr"/>
            <a:r>
              <a:rPr lang="ja-JP" altLang="en-US" sz="800" b="1"/>
              <a:t>複数ファイルを取得し、</a:t>
            </a:r>
            <a:r>
              <a:rPr lang="en-US" altLang="ja-JP" sz="800" b="1"/>
              <a:t>Zip</a:t>
            </a:r>
            <a:r>
              <a:rPr lang="ja-JP" altLang="en-US" sz="800" b="1"/>
              <a:t>にする</a:t>
            </a:r>
            <a:endParaRPr kumimoji="1" lang="ja-JP" altLang="en-US" sz="400" b="1"/>
          </a:p>
        </p:txBody>
      </p:sp>
      <p:sp>
        <p:nvSpPr>
          <p:cNvPr id="36" name="四角形: 角を丸くする 35">
            <a:extLst>
              <a:ext uri="{FF2B5EF4-FFF2-40B4-BE49-F238E27FC236}">
                <a16:creationId xmlns:a16="http://schemas.microsoft.com/office/drawing/2014/main" id="{064EACDC-580A-B3FC-C550-8331A60A2706}"/>
              </a:ext>
            </a:extLst>
          </p:cNvPr>
          <p:cNvSpPr>
            <a:spLocks/>
          </p:cNvSpPr>
          <p:nvPr/>
        </p:nvSpPr>
        <p:spPr>
          <a:xfrm>
            <a:off x="7023551" y="746211"/>
            <a:ext cx="4919529" cy="2420005"/>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05DD32D5-1BDE-3E56-04CB-FC94D09CFA96}"/>
              </a:ext>
            </a:extLst>
          </p:cNvPr>
          <p:cNvSpPr/>
          <p:nvPr/>
        </p:nvSpPr>
        <p:spPr>
          <a:xfrm>
            <a:off x="7032722" y="3415801"/>
            <a:ext cx="4919529" cy="2552854"/>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12B18B98-9B8D-B364-472C-F865455F39E8}"/>
              </a:ext>
            </a:extLst>
          </p:cNvPr>
          <p:cNvPicPr>
            <a:picLocks/>
          </p:cNvPicPr>
          <p:nvPr/>
        </p:nvPicPr>
        <p:blipFill>
          <a:blip r:embed="rId4"/>
          <a:stretch>
            <a:fillRect/>
          </a:stretch>
        </p:blipFill>
        <p:spPr>
          <a:xfrm>
            <a:off x="7143976" y="3731248"/>
            <a:ext cx="1466624" cy="859119"/>
          </a:xfrm>
          <a:prstGeom prst="rect">
            <a:avLst/>
          </a:prstGeom>
        </p:spPr>
      </p:pic>
      <p:pic>
        <p:nvPicPr>
          <p:cNvPr id="1026" name="Picture 2" descr="WebView2APISample アプリの実行">
            <a:extLst>
              <a:ext uri="{FF2B5EF4-FFF2-40B4-BE49-F238E27FC236}">
                <a16:creationId xmlns:a16="http://schemas.microsoft.com/office/drawing/2014/main" id="{8FC98BF9-FF05-59B0-D2A2-393B39026EB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72156" y="4311581"/>
            <a:ext cx="686572" cy="39784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部屋, 賭博場 が含まれている画像&#10;&#10;AI によって生成されたコンテンツは間違っている可能性があります。">
            <a:extLst>
              <a:ext uri="{FF2B5EF4-FFF2-40B4-BE49-F238E27FC236}">
                <a16:creationId xmlns:a16="http://schemas.microsoft.com/office/drawing/2014/main" id="{048605FE-927E-1B21-4A66-86468D4C6523}"/>
              </a:ext>
            </a:extLst>
          </p:cNvPr>
          <p:cNvPicPr/>
          <p:nvPr/>
        </p:nvPicPr>
        <p:blipFill>
          <a:blip r:embed="rId6"/>
          <a:stretch>
            <a:fillRect/>
          </a:stretch>
        </p:blipFill>
        <p:spPr>
          <a:xfrm>
            <a:off x="10691256" y="4058777"/>
            <a:ext cx="1158274" cy="683630"/>
          </a:xfrm>
          <a:prstGeom prst="rect">
            <a:avLst/>
          </a:prstGeom>
        </p:spPr>
      </p:pic>
      <p:pic>
        <p:nvPicPr>
          <p:cNvPr id="42" name="図 41" descr="ロゴ, アイコン&#10;&#10;AI によって生成されたコンテンツは間違っている可能性があります。">
            <a:extLst>
              <a:ext uri="{FF2B5EF4-FFF2-40B4-BE49-F238E27FC236}">
                <a16:creationId xmlns:a16="http://schemas.microsoft.com/office/drawing/2014/main" id="{1EB3B8AD-7F47-AB7D-99F8-006B2B105732}"/>
              </a:ext>
            </a:extLst>
          </p:cNvPr>
          <p:cNvPicPr/>
          <p:nvPr/>
        </p:nvPicPr>
        <p:blipFill>
          <a:blip r:embed="rId7"/>
          <a:stretch>
            <a:fillRect/>
          </a:stretch>
        </p:blipFill>
        <p:spPr>
          <a:xfrm>
            <a:off x="10932449" y="5087943"/>
            <a:ext cx="643597" cy="629116"/>
          </a:xfrm>
          <a:prstGeom prst="rect">
            <a:avLst/>
          </a:prstGeom>
        </p:spPr>
      </p:pic>
      <p:sp>
        <p:nvSpPr>
          <p:cNvPr id="45" name="ひし形 44">
            <a:extLst>
              <a:ext uri="{FF2B5EF4-FFF2-40B4-BE49-F238E27FC236}">
                <a16:creationId xmlns:a16="http://schemas.microsoft.com/office/drawing/2014/main" id="{BB6CD4F8-4DE0-76F3-1D0D-7913041730D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46" name="コネクタ: カギ線 45">
            <a:extLst>
              <a:ext uri="{FF2B5EF4-FFF2-40B4-BE49-F238E27FC236}">
                <a16:creationId xmlns:a16="http://schemas.microsoft.com/office/drawing/2014/main" id="{926F2486-4592-03E8-E8B8-9A566DB7A44D}"/>
              </a:ext>
            </a:extLst>
          </p:cNvPr>
          <p:cNvCxnSpPr>
            <a:cxnSpLocks/>
            <a:endCxn id="1025" idx="3"/>
          </p:cNvCxnSpPr>
          <p:nvPr/>
        </p:nvCxnSpPr>
        <p:spPr>
          <a:xfrm rot="10800000">
            <a:off x="8673207" y="4373437"/>
            <a:ext cx="2259244" cy="1029066"/>
          </a:xfrm>
          <a:prstGeom prst="bentConnector3">
            <a:avLst>
              <a:gd name="adj1" fmla="val 24816"/>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968659B2-76D2-B937-EA9D-AC60A1FA2E87}"/>
              </a:ext>
            </a:extLst>
          </p:cNvPr>
          <p:cNvSpPr txBox="1"/>
          <p:nvPr/>
        </p:nvSpPr>
        <p:spPr>
          <a:xfrm>
            <a:off x="9097507" y="4077426"/>
            <a:ext cx="1049097" cy="215444"/>
          </a:xfrm>
          <a:prstGeom prst="rect">
            <a:avLst/>
          </a:prstGeom>
          <a:noFill/>
        </p:spPr>
        <p:txBody>
          <a:bodyPr wrap="square" rtlCol="0">
            <a:spAutoFit/>
          </a:bodyPr>
          <a:lstStyle/>
          <a:p>
            <a:pPr algn="ctr"/>
            <a:r>
              <a:rPr lang="ja-JP" altLang="en-US" sz="800" b="1"/>
              <a:t>添付ファイル取得</a:t>
            </a:r>
            <a:endParaRPr kumimoji="1" lang="ja-JP" altLang="en-US" sz="400" b="1"/>
          </a:p>
        </p:txBody>
      </p:sp>
      <p:sp>
        <p:nvSpPr>
          <p:cNvPr id="50" name="ひし形 49">
            <a:extLst>
              <a:ext uri="{FF2B5EF4-FFF2-40B4-BE49-F238E27FC236}">
                <a16:creationId xmlns:a16="http://schemas.microsoft.com/office/drawing/2014/main" id="{738F567A-A244-5CD1-00C0-9C843232004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51" name="コネクタ: カギ線 50">
            <a:extLst>
              <a:ext uri="{FF2B5EF4-FFF2-40B4-BE49-F238E27FC236}">
                <a16:creationId xmlns:a16="http://schemas.microsoft.com/office/drawing/2014/main" id="{DBE3B989-17C9-F5C6-C8FD-957D3712AC06}"/>
              </a:ext>
            </a:extLst>
          </p:cNvPr>
          <p:cNvCxnSpPr>
            <a:cxnSpLocks/>
            <a:stCxn id="41" idx="0"/>
            <a:endCxn id="50" idx="3"/>
          </p:cNvCxnSpPr>
          <p:nvPr/>
        </p:nvCxnSpPr>
        <p:spPr>
          <a:xfrm rot="16200000" flipV="1">
            <a:off x="9909527" y="2697910"/>
            <a:ext cx="131683" cy="2590051"/>
          </a:xfrm>
          <a:prstGeom prst="bentConnector2">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36732A5-B289-5102-6DF9-938D0823F096}"/>
              </a:ext>
            </a:extLst>
          </p:cNvPr>
          <p:cNvSpPr txBox="1"/>
          <p:nvPr/>
        </p:nvSpPr>
        <p:spPr>
          <a:xfrm>
            <a:off x="9946510" y="538335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53" name="テキスト ボックス 52">
            <a:extLst>
              <a:ext uri="{FF2B5EF4-FFF2-40B4-BE49-F238E27FC236}">
                <a16:creationId xmlns:a16="http://schemas.microsoft.com/office/drawing/2014/main" id="{9EBA4CA8-E3AD-1ABA-BF5B-AF8687D19644}"/>
              </a:ext>
            </a:extLst>
          </p:cNvPr>
          <p:cNvSpPr txBox="1"/>
          <p:nvPr/>
        </p:nvSpPr>
        <p:spPr>
          <a:xfrm>
            <a:off x="9741408" y="3623980"/>
            <a:ext cx="1396882" cy="338554"/>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endParaRPr lang="en-US" altLang="ja-JP" sz="800">
              <a:solidFill>
                <a:schemeClr val="accent1">
                  <a:lumMod val="60000"/>
                  <a:lumOff val="40000"/>
                </a:schemeClr>
              </a:solidFill>
            </a:endParaRPr>
          </a:p>
          <a:p>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59" name="テキスト ボックス 58">
            <a:extLst>
              <a:ext uri="{FF2B5EF4-FFF2-40B4-BE49-F238E27FC236}">
                <a16:creationId xmlns:a16="http://schemas.microsoft.com/office/drawing/2014/main" id="{032B2152-9C4D-D480-7542-56B9A573E73C}"/>
              </a:ext>
            </a:extLst>
          </p:cNvPr>
          <p:cNvSpPr txBox="1"/>
          <p:nvPr/>
        </p:nvSpPr>
        <p:spPr>
          <a:xfrm>
            <a:off x="7111744" y="4944435"/>
            <a:ext cx="2691085" cy="954107"/>
          </a:xfrm>
          <a:prstGeom prst="rect">
            <a:avLst/>
          </a:prstGeom>
          <a:noFill/>
        </p:spPr>
        <p:txBody>
          <a:bodyPr wrap="square" rtlCol="0">
            <a:spAutoFit/>
          </a:bodyPr>
          <a:lstStyle/>
          <a:p>
            <a:pPr marL="228600" indent="-228600">
              <a:buFont typeface="+mj-lt"/>
              <a:buAutoNum type="arabicPeriod"/>
            </a:pPr>
            <a:r>
              <a:rPr kumimoji="1" lang="en-US" altLang="ja-JP" sz="700"/>
              <a:t>Power</a:t>
            </a:r>
            <a:r>
              <a:rPr lang="ja-JP" altLang="en-US" sz="700"/>
              <a:t> </a:t>
            </a:r>
            <a:r>
              <a:rPr lang="en-US" altLang="ja-JP" sz="700"/>
              <a:t>Apps</a:t>
            </a:r>
            <a:r>
              <a:rPr lang="ja-JP" altLang="en-US" sz="700"/>
              <a:t>　は直接</a:t>
            </a:r>
            <a:r>
              <a:rPr lang="en-US" altLang="ja-JP" sz="700"/>
              <a:t>Dataverse</a:t>
            </a:r>
            <a:r>
              <a:rPr lang="ja-JP" altLang="en-US" sz="700"/>
              <a:t>あるいは</a:t>
            </a:r>
            <a:r>
              <a:rPr lang="en-US" altLang="ja-JP" sz="700"/>
              <a:t>SPO</a:t>
            </a:r>
            <a:r>
              <a:rPr lang="ja-JP" altLang="en-US" sz="700"/>
              <a:t>からファイル内容を取得し、画面に保存</a:t>
            </a:r>
            <a:endParaRPr lang="en-US" altLang="ja-JP" sz="700"/>
          </a:p>
          <a:p>
            <a:pPr marL="228600" indent="-228600">
              <a:buFont typeface="+mj-lt"/>
              <a:buAutoNum type="arabicPeriod"/>
            </a:pPr>
            <a:r>
              <a:rPr kumimoji="1" lang="ja-JP" altLang="en-US" sz="700"/>
              <a:t>埋め込みの</a:t>
            </a:r>
            <a:r>
              <a:rPr kumimoji="1" lang="en-US" altLang="ja-JP" sz="700" err="1"/>
              <a:t>WebControl</a:t>
            </a:r>
            <a:r>
              <a:rPr kumimoji="1" lang="ja-JP" altLang="en-US" sz="700"/>
              <a:t>に</a:t>
            </a:r>
            <a:r>
              <a:rPr kumimoji="1" lang="en-US" altLang="ja-JP" sz="700"/>
              <a:t>JavaScript</a:t>
            </a:r>
            <a:r>
              <a:rPr kumimoji="1" lang="ja-JP" altLang="en-US" sz="700"/>
              <a:t>を</a:t>
            </a:r>
            <a:r>
              <a:rPr kumimoji="1" lang="en-US" altLang="ja-JP" sz="700"/>
              <a:t>Trigger</a:t>
            </a:r>
            <a:r>
              <a:rPr kumimoji="1" lang="ja-JP" altLang="en-US" sz="700"/>
              <a:t>、</a:t>
            </a:r>
            <a:r>
              <a:rPr kumimoji="1" lang="en-US" altLang="ja-JP" sz="700"/>
              <a:t>JavaScript</a:t>
            </a:r>
            <a:r>
              <a:rPr kumimoji="1" lang="ja-JP" altLang="en-US" sz="700"/>
              <a:t>を利用し、</a:t>
            </a:r>
            <a:r>
              <a:rPr kumimoji="1" lang="en-US" altLang="ja-JP" sz="700"/>
              <a:t>DOM Interface</a:t>
            </a:r>
            <a:r>
              <a:rPr lang="ja-JP" altLang="en-US" sz="700"/>
              <a:t>と</a:t>
            </a:r>
            <a:r>
              <a:rPr lang="en-US" altLang="ja-JP" sz="700" err="1"/>
              <a:t>FileObject</a:t>
            </a:r>
            <a:r>
              <a:rPr lang="ja-JP" altLang="en-US" sz="700"/>
              <a:t>を利用し、</a:t>
            </a:r>
            <a:r>
              <a:rPr lang="en-US" altLang="ja-JP" sz="700"/>
              <a:t>JavaScript</a:t>
            </a:r>
            <a:r>
              <a:rPr lang="ja-JP" altLang="en-US" sz="700"/>
              <a:t>により指定場所（一定のルールあるいは事前設定）にファイル毎に</a:t>
            </a:r>
            <a:r>
              <a:rPr lang="en-US" altLang="ja-JP" sz="700"/>
              <a:t>Download</a:t>
            </a:r>
            <a:r>
              <a:rPr lang="ja-JP" altLang="en-US" sz="700"/>
              <a:t>する</a:t>
            </a:r>
            <a:endParaRPr lang="en-US" altLang="ja-JP" sz="700"/>
          </a:p>
          <a:p>
            <a:r>
              <a:rPr kumimoji="1" lang="en-US" altLang="ja-JP" sz="700"/>
              <a:t>※</a:t>
            </a:r>
            <a:r>
              <a:rPr kumimoji="1" lang="ja-JP" altLang="en-US" sz="700"/>
              <a:t>　ファイル</a:t>
            </a:r>
            <a:r>
              <a:rPr kumimoji="1" lang="en-US" altLang="ja-JP" sz="700"/>
              <a:t>Upload</a:t>
            </a:r>
            <a:r>
              <a:rPr kumimoji="1" lang="ja-JP" altLang="en-US" sz="700"/>
              <a:t>自体は、</a:t>
            </a:r>
            <a:r>
              <a:rPr kumimoji="1" lang="en-US" altLang="ja-JP" sz="700"/>
              <a:t>PowerApps</a:t>
            </a:r>
            <a:r>
              <a:rPr kumimoji="1" lang="ja-JP" altLang="en-US" sz="700"/>
              <a:t>の内容</a:t>
            </a:r>
            <a:r>
              <a:rPr kumimoji="1" lang="en-US" altLang="ja-JP" sz="700" err="1"/>
              <a:t>FileUpload</a:t>
            </a:r>
            <a:r>
              <a:rPr lang="ja-JP" altLang="en-US" sz="700"/>
              <a:t> </a:t>
            </a:r>
            <a:r>
              <a:rPr lang="en-US" altLang="ja-JP" sz="700"/>
              <a:t>Control</a:t>
            </a:r>
            <a:r>
              <a:rPr lang="ja-JP" altLang="en-US" sz="700"/>
              <a:t>を利用し、そのまま対応可能</a:t>
            </a:r>
            <a:endParaRPr kumimoji="1" lang="ja-JP" altLang="en-US" sz="700"/>
          </a:p>
        </p:txBody>
      </p:sp>
      <p:sp>
        <p:nvSpPr>
          <p:cNvPr id="1025" name="ひし形 1024">
            <a:extLst>
              <a:ext uri="{FF2B5EF4-FFF2-40B4-BE49-F238E27FC236}">
                <a16:creationId xmlns:a16="http://schemas.microsoft.com/office/drawing/2014/main" id="{CDAA0F70-EC37-160E-B15D-AAD755E76C47}"/>
              </a:ext>
            </a:extLst>
          </p:cNvPr>
          <p:cNvSpPr/>
          <p:nvPr/>
        </p:nvSpPr>
        <p:spPr>
          <a:xfrm>
            <a:off x="8603465" y="433923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032" name="テキスト ボックス 1031">
            <a:extLst>
              <a:ext uri="{FF2B5EF4-FFF2-40B4-BE49-F238E27FC236}">
                <a16:creationId xmlns:a16="http://schemas.microsoft.com/office/drawing/2014/main" id="{0B2DFE34-DCEF-76B2-4F00-957193ABAF9C}"/>
              </a:ext>
            </a:extLst>
          </p:cNvPr>
          <p:cNvSpPr txBox="1"/>
          <p:nvPr/>
        </p:nvSpPr>
        <p:spPr>
          <a:xfrm>
            <a:off x="7106590" y="781772"/>
            <a:ext cx="1595228" cy="307777"/>
          </a:xfrm>
          <a:prstGeom prst="rect">
            <a:avLst/>
          </a:prstGeom>
          <a:noFill/>
        </p:spPr>
        <p:txBody>
          <a:bodyPr wrap="square">
            <a:spAutoFit/>
          </a:bodyPr>
          <a:lstStyle/>
          <a:p>
            <a:r>
              <a:rPr kumimoji="0" lang="ja-JP" altLang="en-US" sz="1400">
                <a:latin typeface="Arial" panose="020B0604020202020204" pitchFamily="34" charset="0"/>
              </a:rPr>
              <a:t>既定案</a:t>
            </a:r>
            <a:endParaRPr lang="ja-JP" altLang="en-US" sz="1400"/>
          </a:p>
        </p:txBody>
      </p:sp>
      <p:sp>
        <p:nvSpPr>
          <p:cNvPr id="1033" name="テキスト ボックス 1032">
            <a:extLst>
              <a:ext uri="{FF2B5EF4-FFF2-40B4-BE49-F238E27FC236}">
                <a16:creationId xmlns:a16="http://schemas.microsoft.com/office/drawing/2014/main" id="{5D3FBF62-4325-F4DA-9533-87EFAC3F56A4}"/>
              </a:ext>
            </a:extLst>
          </p:cNvPr>
          <p:cNvSpPr txBox="1"/>
          <p:nvPr/>
        </p:nvSpPr>
        <p:spPr>
          <a:xfrm>
            <a:off x="7055415" y="3453109"/>
            <a:ext cx="1979778" cy="307777"/>
          </a:xfrm>
          <a:prstGeom prst="rect">
            <a:avLst/>
          </a:prstGeom>
          <a:noFill/>
        </p:spPr>
        <p:txBody>
          <a:bodyPr wrap="square">
            <a:spAutoFit/>
          </a:bodyPr>
          <a:lstStyle/>
          <a:p>
            <a:r>
              <a:rPr kumimoji="0" lang="ja-JP" altLang="en-US" sz="1400">
                <a:solidFill>
                  <a:srgbClr val="C00000"/>
                </a:solidFill>
                <a:latin typeface="Arial" panose="020B0604020202020204" pitchFamily="34" charset="0"/>
              </a:rPr>
              <a:t>向上案（</a:t>
            </a:r>
            <a:r>
              <a:rPr kumimoji="0" lang="en-US" altLang="ja-JP" sz="1400">
                <a:solidFill>
                  <a:srgbClr val="C00000"/>
                </a:solidFill>
                <a:latin typeface="Arial" panose="020B0604020202020204" pitchFamily="34" charset="0"/>
              </a:rPr>
              <a:t>POC</a:t>
            </a:r>
            <a:r>
              <a:rPr kumimoji="0" lang="ja-JP" altLang="en-US" sz="1400">
                <a:solidFill>
                  <a:srgbClr val="C00000"/>
                </a:solidFill>
                <a:latin typeface="Arial" panose="020B0604020202020204" pitchFamily="34" charset="0"/>
              </a:rPr>
              <a:t>）</a:t>
            </a:r>
            <a:endParaRPr lang="ja-JP" altLang="en-US" sz="1400">
              <a:solidFill>
                <a:srgbClr val="C00000"/>
              </a:solidFill>
            </a:endParaRPr>
          </a:p>
        </p:txBody>
      </p:sp>
      <p:sp>
        <p:nvSpPr>
          <p:cNvPr id="6" name="テキスト ボックス 5">
            <a:extLst>
              <a:ext uri="{FF2B5EF4-FFF2-40B4-BE49-F238E27FC236}">
                <a16:creationId xmlns:a16="http://schemas.microsoft.com/office/drawing/2014/main" id="{4D9960EC-52FD-4C79-C1E1-E05A2921A5F7}"/>
              </a:ext>
            </a:extLst>
          </p:cNvPr>
          <p:cNvSpPr txBox="1"/>
          <p:nvPr/>
        </p:nvSpPr>
        <p:spPr>
          <a:xfrm>
            <a:off x="215392" y="5563616"/>
            <a:ext cx="4746930" cy="369332"/>
          </a:xfrm>
          <a:prstGeom prst="rect">
            <a:avLst/>
          </a:prstGeom>
          <a:noFill/>
        </p:spPr>
        <p:txBody>
          <a:bodyPr wrap="square" rtlCol="0">
            <a:spAutoFit/>
          </a:bodyPr>
          <a:lstStyle/>
          <a:p>
            <a:r>
              <a:rPr kumimoji="1" lang="ja-JP" altLang="en-US" dirty="0"/>
              <a:t>より細かい資料を作ります。</a:t>
            </a:r>
          </a:p>
        </p:txBody>
      </p:sp>
    </p:spTree>
    <p:extLst>
      <p:ext uri="{BB962C8B-B14F-4D97-AF65-F5344CB8AC3E}">
        <p14:creationId xmlns:p14="http://schemas.microsoft.com/office/powerpoint/2010/main" val="16461887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42D9B-0CA4-8CB2-90CD-FD2A4588C4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087C88-7EE0-01C6-9B1D-D52CF1453786}"/>
              </a:ext>
            </a:extLst>
          </p:cNvPr>
          <p:cNvSpPr>
            <a:spLocks noGrp="1"/>
          </p:cNvSpPr>
          <p:nvPr>
            <p:ph type="title"/>
          </p:nvPr>
        </p:nvSpPr>
        <p:spPr>
          <a:xfrm>
            <a:off x="414336" y="255263"/>
            <a:ext cx="9327072" cy="683629"/>
          </a:xfrm>
        </p:spPr>
        <p:txBody>
          <a:bodyPr>
            <a:normAutofit/>
          </a:bodyPr>
          <a:lstStyle/>
          <a:p>
            <a:r>
              <a:rPr lang="ja-JP" altLang="en-US"/>
              <a:t>実現方法－検索機能１</a:t>
            </a:r>
          </a:p>
        </p:txBody>
      </p:sp>
      <p:sp>
        <p:nvSpPr>
          <p:cNvPr id="15" name="テキスト ボックス 14">
            <a:extLst>
              <a:ext uri="{FF2B5EF4-FFF2-40B4-BE49-F238E27FC236}">
                <a16:creationId xmlns:a16="http://schemas.microsoft.com/office/drawing/2014/main" id="{42921077-D640-A089-3BDB-FFB65AE4E6CB}"/>
              </a:ext>
            </a:extLst>
          </p:cNvPr>
          <p:cNvSpPr txBox="1"/>
          <p:nvPr/>
        </p:nvSpPr>
        <p:spPr>
          <a:xfrm>
            <a:off x="414336" y="875851"/>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dirty="0">
                <a:latin typeface="Arial" panose="020B0604020202020204" pitchFamily="34" charset="0"/>
              </a:rPr>
              <a:t>添付ファイル向け検索: SharePointの検索機能またはDataverseのフィルタリングを使用。 </a:t>
            </a:r>
          </a:p>
          <a:p>
            <a:pPr lvl="0" eaLnBrk="0" fontAlgn="base" hangingPunct="0">
              <a:spcBef>
                <a:spcPct val="0"/>
              </a:spcBef>
              <a:spcAft>
                <a:spcPct val="0"/>
              </a:spcAft>
            </a:pPr>
            <a:r>
              <a:rPr kumimoji="0" lang="zh-CN" altLang="zh-CN" dirty="0">
                <a:latin typeface="Arial" panose="020B0604020202020204" pitchFamily="34" charset="0"/>
              </a:rPr>
              <a:t>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PowerAppsのSearchボックスでキーワード入力</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SQL Server側: 全文検索（Full-Text Search）インデックスを作成（PDF/Officeの内容抽出のため、iFilterインストール）</a:t>
            </a:r>
          </a:p>
          <a:p>
            <a:pPr marL="742950" lvl="1" indent="-285750" eaLnBrk="0" fontAlgn="base" hangingPunct="0">
              <a:spcBef>
                <a:spcPct val="0"/>
              </a:spcBef>
              <a:spcAft>
                <a:spcPct val="0"/>
              </a:spcAft>
              <a:buFont typeface="Arial" panose="020B0604020202020204" pitchFamily="34" charset="0"/>
              <a:buChar char="•"/>
            </a:pPr>
            <a:r>
              <a:rPr kumimoji="0" lang="zh-CN" altLang="zh-CN" sz="1400" b="1" dirty="0">
                <a:solidFill>
                  <a:srgbClr val="00B050"/>
                </a:solidFill>
                <a:latin typeface="Arial" panose="020B0604020202020204" pitchFamily="34" charset="0"/>
              </a:rPr>
              <a:t>SharePointの場合: Microsoft Graph Search APIをPower Automateで呼び出し、</a:t>
            </a:r>
            <a:r>
              <a:rPr kumimoji="0" lang="ja-JP" altLang="en-US" sz="1400" b="1" dirty="0">
                <a:solidFill>
                  <a:srgbClr val="00B050"/>
                </a:solidFill>
                <a:latin typeface="Arial" panose="020B0604020202020204" pitchFamily="34" charset="0"/>
              </a:rPr>
              <a:t>保存</a:t>
            </a:r>
            <a:r>
              <a:rPr kumimoji="0" lang="en-US" altLang="ja-JP" sz="1400" b="1" dirty="0">
                <a:solidFill>
                  <a:srgbClr val="00B050"/>
                </a:solidFill>
                <a:latin typeface="Arial" panose="020B0604020202020204" pitchFamily="34" charset="0"/>
              </a:rPr>
              <a:t>Document Library</a:t>
            </a:r>
            <a:r>
              <a:rPr kumimoji="0" lang="ja-JP" altLang="en-US" sz="1400" b="1" dirty="0">
                <a:solidFill>
                  <a:srgbClr val="00B050"/>
                </a:solidFill>
                <a:latin typeface="Arial" panose="020B0604020202020204" pitchFamily="34" charset="0"/>
              </a:rPr>
              <a:t>であるかどうかでさらにフィルタ後、</a:t>
            </a:r>
            <a:r>
              <a:rPr kumimoji="0" lang="zh-CN" altLang="zh-CN" sz="1400" b="1" dirty="0">
                <a:solidFill>
                  <a:srgbClr val="00B050"/>
                </a:solidFill>
                <a:latin typeface="Arial" panose="020B0604020202020204" pitchFamily="34" charset="0"/>
              </a:rPr>
              <a:t>結果をPowerAppsに返</a:t>
            </a:r>
            <a:r>
              <a:rPr kumimoji="0" lang="ja-JP" altLang="en-US" sz="1400" b="1" dirty="0">
                <a:solidFill>
                  <a:srgbClr val="00B050"/>
                </a:solidFill>
                <a:latin typeface="Arial" panose="020B0604020202020204" pitchFamily="34" charset="0"/>
              </a:rPr>
              <a:t>す</a:t>
            </a:r>
            <a:r>
              <a:rPr kumimoji="0" lang="ja-JP" altLang="en-US" sz="1400" dirty="0">
                <a:solidFill>
                  <a:srgbClr val="00B050"/>
                </a:solidFill>
                <a:latin typeface="Arial" panose="020B0604020202020204" pitchFamily="34" charset="0"/>
              </a:rPr>
              <a:t>（お薦め）</a:t>
            </a:r>
            <a:endParaRPr kumimoji="0" lang="zh-CN" altLang="zh-CN" sz="1400" dirty="0">
              <a:solidFill>
                <a:srgbClr val="00B050"/>
              </a:solidFill>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高度検索: ファイルタイプ、日付、キーワードの組み合わせ。PowerAppsのFilter関数で実装。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パフォーマンス: インデックス化により高速化。キャッシュ使用（PowerAppsのCollection）。 </a:t>
            </a:r>
          </a:p>
          <a:p>
            <a:pPr algn="l"/>
            <a:endParaRPr lang="en-US" altLang="ja-JP" dirty="0">
              <a:latin typeface="Yu Gothic UI" panose="020B0500000000000000" pitchFamily="50" charset="-128"/>
              <a:ea typeface="Yu Gothic UI" panose="020B0500000000000000" pitchFamily="50" charset="-128"/>
            </a:endParaRPr>
          </a:p>
        </p:txBody>
      </p:sp>
      <p:sp>
        <p:nvSpPr>
          <p:cNvPr id="5" name="Rectangle 1">
            <a:extLst>
              <a:ext uri="{FF2B5EF4-FFF2-40B4-BE49-F238E27FC236}">
                <a16:creationId xmlns:a16="http://schemas.microsoft.com/office/drawing/2014/main" id="{86DE711B-EE39-9007-0F58-494232167876}"/>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6" name="表 5">
            <a:extLst>
              <a:ext uri="{FF2B5EF4-FFF2-40B4-BE49-F238E27FC236}">
                <a16:creationId xmlns:a16="http://schemas.microsoft.com/office/drawing/2014/main" id="{B1A4103A-7C26-0021-C874-63A7A10337B4}"/>
              </a:ext>
            </a:extLst>
          </p:cNvPr>
          <p:cNvGraphicFramePr>
            <a:graphicFrameLocks noGrp="1"/>
          </p:cNvGraphicFramePr>
          <p:nvPr/>
        </p:nvGraphicFramePr>
        <p:xfrm>
          <a:off x="738481" y="3030466"/>
          <a:ext cx="10948606" cy="3527681"/>
        </p:xfrm>
        <a:graphic>
          <a:graphicData uri="http://schemas.openxmlformats.org/drawingml/2006/table">
            <a:tbl>
              <a:tblPr firstRow="1" bandRow="1">
                <a:tableStyleId>{35758FB7-9AC5-4552-8A53-C91805E547FA}</a:tableStyleId>
              </a:tblPr>
              <a:tblGrid>
                <a:gridCol w="1061761">
                  <a:extLst>
                    <a:ext uri="{9D8B030D-6E8A-4147-A177-3AD203B41FA5}">
                      <a16:colId xmlns:a16="http://schemas.microsoft.com/office/drawing/2014/main" val="20000"/>
                    </a:ext>
                  </a:extLst>
                </a:gridCol>
                <a:gridCol w="1774235">
                  <a:extLst>
                    <a:ext uri="{9D8B030D-6E8A-4147-A177-3AD203B41FA5}">
                      <a16:colId xmlns:a16="http://schemas.microsoft.com/office/drawing/2014/main" val="20001"/>
                    </a:ext>
                  </a:extLst>
                </a:gridCol>
                <a:gridCol w="2535382">
                  <a:extLst>
                    <a:ext uri="{9D8B030D-6E8A-4147-A177-3AD203B41FA5}">
                      <a16:colId xmlns:a16="http://schemas.microsoft.com/office/drawing/2014/main" val="20002"/>
                    </a:ext>
                  </a:extLst>
                </a:gridCol>
                <a:gridCol w="2815549">
                  <a:extLst>
                    <a:ext uri="{9D8B030D-6E8A-4147-A177-3AD203B41FA5}">
                      <a16:colId xmlns:a16="http://schemas.microsoft.com/office/drawing/2014/main" val="20003"/>
                    </a:ext>
                  </a:extLst>
                </a:gridCol>
                <a:gridCol w="2761679">
                  <a:extLst>
                    <a:ext uri="{9D8B030D-6E8A-4147-A177-3AD203B41FA5}">
                      <a16:colId xmlns:a16="http://schemas.microsoft.com/office/drawing/2014/main" val="20004"/>
                    </a:ext>
                  </a:extLst>
                </a:gridCol>
              </a:tblGrid>
              <a:tr h="277984">
                <a:tc>
                  <a:txBody>
                    <a:bodyPr/>
                    <a:lstStyle/>
                    <a:p>
                      <a:r>
                        <a:rPr lang="ja-JP" altLang="en-US" sz="900"/>
                        <a:t>項目</a:t>
                      </a:r>
                    </a:p>
                  </a:txBody>
                  <a:tcPr marL="28046" marR="28046" marT="14023" marB="14023" anchor="ctr"/>
                </a:tc>
                <a:tc>
                  <a:txBody>
                    <a:bodyPr/>
                    <a:lstStyle/>
                    <a:p>
                      <a:r>
                        <a:rPr lang="en-US" sz="900"/>
                        <a:t>SQL Server 2022 (with Full-Text Search)</a:t>
                      </a:r>
                    </a:p>
                  </a:txBody>
                  <a:tcPr marL="28046" marR="28046" marT="14023" marB="14023" anchor="ctr"/>
                </a:tc>
                <a:tc>
                  <a:txBody>
                    <a:bodyPr/>
                    <a:lstStyle/>
                    <a:p>
                      <a:r>
                        <a:rPr lang="de-DE" sz="900"/>
                        <a:t>Dataverse (with relevant features)</a:t>
                      </a:r>
                    </a:p>
                  </a:txBody>
                  <a:tcPr marL="28046" marR="28046" marT="14023" marB="14023" anchor="ctr"/>
                </a:tc>
                <a:tc>
                  <a:txBody>
                    <a:bodyPr/>
                    <a:lstStyle/>
                    <a:p>
                      <a:r>
                        <a:rPr lang="de-DE" sz="900"/>
                        <a:t>PostgreSQL (with extensions)</a:t>
                      </a:r>
                    </a:p>
                  </a:txBody>
                  <a:tcPr marL="28046" marR="28046" marT="14023" marB="14023" anchor="ctr"/>
                </a:tc>
                <a:tc>
                  <a:txBody>
                    <a:bodyPr/>
                    <a:lstStyle/>
                    <a:p>
                      <a:r>
                        <a:rPr lang="de-DE" sz="900" dirty="0"/>
                        <a:t>SharePoint Online</a:t>
                      </a:r>
                      <a:r>
                        <a:rPr lang="ja-JP" altLang="en-US" sz="900" dirty="0"/>
                        <a:t>（お薦め）</a:t>
                      </a:r>
                      <a:endParaRPr lang="de-DE" sz="900" dirty="0"/>
                    </a:p>
                  </a:txBody>
                  <a:tcPr marL="28046" marR="28046" marT="14023" marB="14023" anchor="ctr"/>
                </a:tc>
                <a:extLst>
                  <a:ext uri="{0D108BD9-81ED-4DB2-BD59-A6C34878D82A}">
                    <a16:rowId xmlns:a16="http://schemas.microsoft.com/office/drawing/2014/main" val="10000"/>
                  </a:ext>
                </a:extLst>
              </a:tr>
              <a:tr h="404084">
                <a:tc>
                  <a:txBody>
                    <a:bodyPr/>
                    <a:lstStyle/>
                    <a:p>
                      <a:r>
                        <a:rPr lang="ja-JP" altLang="en-US" sz="900" b="1"/>
                        <a:t>ファイル保存データ型</a:t>
                      </a:r>
                      <a:endParaRPr lang="ja-JP" altLang="en-US" sz="900"/>
                    </a:p>
                  </a:txBody>
                  <a:tcPr marL="28046" marR="28046" marT="14023" marB="14023" anchor="ctr"/>
                </a:tc>
                <a:tc>
                  <a:txBody>
                    <a:bodyPr/>
                    <a:lstStyle/>
                    <a:p>
                      <a:r>
                        <a:rPr lang="de-DE" sz="900"/>
                        <a:t>varbinary(max), varbinary, image, blob, nvarchar(max), varchar(max) </a:t>
                      </a:r>
                      <a:r>
                        <a:rPr lang="ja-JP" altLang="en-US" sz="900"/>
                        <a:t>など</a:t>
                      </a:r>
                    </a:p>
                  </a:txBody>
                  <a:tcPr marL="28046" marR="28046" marT="14023" marB="14023" anchor="ctr"/>
                </a:tc>
                <a:tc>
                  <a:txBody>
                    <a:bodyPr/>
                    <a:lstStyle/>
                    <a:p>
                      <a:r>
                        <a:rPr lang="ja-JP" altLang="en-US" sz="900"/>
                        <a:t>ファイル </a:t>
                      </a:r>
                      <a:r>
                        <a:rPr lang="en-US" altLang="ja-JP" sz="900"/>
                        <a:t>(File) </a:t>
                      </a:r>
                      <a:r>
                        <a:rPr lang="ja-JP" altLang="en-US" sz="900"/>
                        <a:t>データ型</a:t>
                      </a:r>
                    </a:p>
                  </a:txBody>
                  <a:tcPr marL="28046" marR="28046" marT="14023" marB="14023" anchor="ctr"/>
                </a:tc>
                <a:tc>
                  <a:txBody>
                    <a:bodyPr/>
                    <a:lstStyle/>
                    <a:p>
                      <a:r>
                        <a:rPr lang="de-DE" sz="900" dirty="0"/>
                        <a:t>bytea</a:t>
                      </a:r>
                    </a:p>
                  </a:txBody>
                  <a:tcPr marL="28046" marR="28046" marT="14023" marB="14023" anchor="ctr"/>
                </a:tc>
                <a:tc>
                  <a:txBody>
                    <a:bodyPr/>
                    <a:lstStyle/>
                    <a:p>
                      <a:r>
                        <a:rPr lang="ja-JP" altLang="en-US" sz="900"/>
                        <a:t>バイナリ </a:t>
                      </a:r>
                      <a:r>
                        <a:rPr lang="en-US" altLang="ja-JP" sz="900"/>
                        <a:t>(Binary) </a:t>
                      </a:r>
                      <a:r>
                        <a:rPr lang="ja-JP" altLang="en-US" sz="900"/>
                        <a:t>またはドキュメントライブラリのファイル</a:t>
                      </a:r>
                    </a:p>
                  </a:txBody>
                  <a:tcPr marL="28046" marR="28046" marT="14023" marB="14023" anchor="ctr"/>
                </a:tc>
                <a:extLst>
                  <a:ext uri="{0D108BD9-81ED-4DB2-BD59-A6C34878D82A}">
                    <a16:rowId xmlns:a16="http://schemas.microsoft.com/office/drawing/2014/main" val="10001"/>
                  </a:ext>
                </a:extLst>
              </a:tr>
              <a:tr h="277984">
                <a:tc>
                  <a:txBody>
                    <a:bodyPr/>
                    <a:lstStyle/>
                    <a:p>
                      <a:r>
                        <a:rPr lang="ja-JP" altLang="en-US" sz="900" b="1"/>
                        <a:t>最大サイズ</a:t>
                      </a:r>
                      <a:endParaRPr lang="ja-JP" altLang="en-US" sz="900"/>
                    </a:p>
                  </a:txBody>
                  <a:tcPr marL="28046" marR="28046" marT="14023" marB="14023" anchor="ctr"/>
                </a:tc>
                <a:tc>
                  <a:txBody>
                    <a:bodyPr/>
                    <a:lstStyle/>
                    <a:p>
                      <a:r>
                        <a:rPr lang="ja-JP" altLang="en-US" sz="900"/>
                        <a:t>データベースサイズに依存 </a:t>
                      </a:r>
                      <a:r>
                        <a:rPr lang="en-US" altLang="ja-JP" sz="900"/>
                        <a:t>(</a:t>
                      </a:r>
                      <a:r>
                        <a:rPr lang="ja-JP" altLang="en-US" sz="900"/>
                        <a:t>一般的に非常に大きい</a:t>
                      </a:r>
                      <a:r>
                        <a:rPr lang="en-US" altLang="ja-JP" sz="900"/>
                        <a:t>)</a:t>
                      </a:r>
                    </a:p>
                  </a:txBody>
                  <a:tcPr marL="28046" marR="28046" marT="14023" marB="14023" anchor="ctr"/>
                </a:tc>
                <a:tc>
                  <a:txBody>
                    <a:bodyPr/>
                    <a:lstStyle/>
                    <a:p>
                      <a:r>
                        <a:rPr lang="en-US" altLang="ja-JP" sz="900" dirty="0"/>
                        <a:t>300MB (</a:t>
                      </a:r>
                      <a:r>
                        <a:rPr lang="ja-JP" altLang="en-US" sz="900" dirty="0"/>
                        <a:t>レコードあたり</a:t>
                      </a:r>
                      <a:r>
                        <a:rPr lang="en-US" altLang="ja-JP" sz="900" dirty="0"/>
                        <a:t>)</a:t>
                      </a:r>
                    </a:p>
                  </a:txBody>
                  <a:tcPr marL="28046" marR="28046" marT="14023" marB="14023" anchor="ctr"/>
                </a:tc>
                <a:tc>
                  <a:txBody>
                    <a:bodyPr/>
                    <a:lstStyle/>
                    <a:p>
                      <a:r>
                        <a:rPr lang="ja-JP" altLang="en-US" sz="900" dirty="0"/>
                        <a:t>データベース</a:t>
                      </a:r>
                      <a:r>
                        <a:rPr lang="en-US" altLang="ja-JP" sz="900" dirty="0"/>
                        <a:t>/</a:t>
                      </a:r>
                      <a:r>
                        <a:rPr lang="ja-JP" altLang="en-US" sz="900" dirty="0"/>
                        <a:t>サーバー設定に依存 </a:t>
                      </a:r>
                      <a:r>
                        <a:rPr lang="en-US" altLang="ja-JP" sz="900" dirty="0"/>
                        <a:t>(</a:t>
                      </a:r>
                      <a:r>
                        <a:rPr lang="ja-JP" altLang="en-US" sz="900" dirty="0"/>
                        <a:t>一般的に大きい</a:t>
                      </a:r>
                      <a:r>
                        <a:rPr lang="en-US" altLang="ja-JP" sz="900" dirty="0"/>
                        <a:t>)</a:t>
                      </a:r>
                    </a:p>
                  </a:txBody>
                  <a:tcPr marL="28046" marR="28046" marT="14023" marB="14023" anchor="ctr"/>
                </a:tc>
                <a:tc>
                  <a:txBody>
                    <a:bodyPr/>
                    <a:lstStyle/>
                    <a:p>
                      <a:r>
                        <a:rPr lang="en-US" altLang="ja-JP" sz="900"/>
                        <a:t>15GB (</a:t>
                      </a:r>
                      <a:r>
                        <a:rPr lang="ja-JP" altLang="en-US" sz="900"/>
                        <a:t>ファイルあたり</a:t>
                      </a:r>
                      <a:r>
                        <a:rPr lang="en-US" altLang="ja-JP" sz="900"/>
                        <a:t>)</a:t>
                      </a:r>
                    </a:p>
                  </a:txBody>
                  <a:tcPr marL="28046" marR="28046" marT="14023" marB="14023" anchor="ctr"/>
                </a:tc>
                <a:extLst>
                  <a:ext uri="{0D108BD9-81ED-4DB2-BD59-A6C34878D82A}">
                    <a16:rowId xmlns:a16="http://schemas.microsoft.com/office/drawing/2014/main" val="10002"/>
                  </a:ext>
                </a:extLst>
              </a:tr>
              <a:tr h="277984">
                <a:tc>
                  <a:txBody>
                    <a:bodyPr/>
                    <a:lstStyle/>
                    <a:p>
                      <a:r>
                        <a:rPr lang="ja-JP" altLang="en-US" sz="900" b="1"/>
                        <a:t>ネイティブ全文検索</a:t>
                      </a:r>
                      <a:endParaRPr lang="ja-JP" altLang="en-US" sz="900"/>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Full-Text Search</a:t>
                      </a:r>
                      <a:r>
                        <a:rPr lang="ja-JP" altLang="en-US" sz="900" dirty="0"/>
                        <a:t>機能</a:t>
                      </a:r>
                      <a:r>
                        <a:rPr lang="en-US" altLang="ja-JP" sz="900" dirty="0"/>
                        <a:t>)</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Dataverse Search)</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en-US" altLang="ja-JP" sz="900" dirty="0" err="1">
                          <a:solidFill>
                            <a:srgbClr val="FF0000"/>
                          </a:solidFill>
                        </a:rPr>
                        <a:t>pg_trgm</a:t>
                      </a:r>
                      <a:r>
                        <a:rPr lang="en-US" altLang="ja-JP" sz="900" dirty="0">
                          <a:solidFill>
                            <a:srgbClr val="FF0000"/>
                          </a:solidFill>
                        </a:rPr>
                        <a:t> </a:t>
                      </a:r>
                      <a:r>
                        <a:rPr lang="ja-JP" altLang="en-US" sz="900" dirty="0">
                          <a:solidFill>
                            <a:srgbClr val="FF0000"/>
                          </a:solidFill>
                        </a:rPr>
                        <a:t>拡張など</a:t>
                      </a:r>
                      <a:r>
                        <a:rPr lang="en-US" altLang="ja-JP" sz="900" dirty="0"/>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a:t>
                      </a:r>
                      <a:r>
                        <a:rPr lang="en-US" altLang="ja-JP" sz="900"/>
                        <a:t>)</a:t>
                      </a:r>
                    </a:p>
                  </a:txBody>
                  <a:tcPr marL="28046" marR="28046" marT="14023" marB="14023" anchor="ctr"/>
                </a:tc>
                <a:extLst>
                  <a:ext uri="{0D108BD9-81ED-4DB2-BD59-A6C34878D82A}">
                    <a16:rowId xmlns:a16="http://schemas.microsoft.com/office/drawing/2014/main" val="10003"/>
                  </a:ext>
                </a:extLst>
              </a:tr>
              <a:tr h="269105">
                <a:tc>
                  <a:txBody>
                    <a:bodyPr/>
                    <a:lstStyle/>
                    <a:p>
                      <a:r>
                        <a:rPr lang="ja-JP" altLang="en-US" sz="900" b="1"/>
                        <a:t>テキスト抽出機能</a:t>
                      </a:r>
                      <a:endParaRPr lang="ja-JP" altLang="en-US" sz="900"/>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SQL Server </a:t>
                      </a:r>
                      <a:r>
                        <a:rPr lang="ja-JP" altLang="en-US" sz="900" dirty="0">
                          <a:solidFill>
                            <a:srgbClr val="FF0000"/>
                          </a:solidFill>
                        </a:rPr>
                        <a:t>の機能に依存</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Dataverse Search </a:t>
                      </a:r>
                      <a:r>
                        <a:rPr lang="ja-JP" altLang="en-US" sz="900" dirty="0">
                          <a:solidFill>
                            <a:srgbClr val="FF0000"/>
                          </a:solidFill>
                        </a:rPr>
                        <a:t>が内部で行う</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の検索機能が自動で行う</a:t>
                      </a:r>
                      <a:r>
                        <a:rPr lang="en-US" altLang="ja-JP" sz="900"/>
                        <a:t>)</a:t>
                      </a:r>
                    </a:p>
                  </a:txBody>
                  <a:tcPr marL="28046" marR="28046" marT="14023" marB="14023" anchor="ctr"/>
                </a:tc>
                <a:extLst>
                  <a:ext uri="{0D108BD9-81ED-4DB2-BD59-A6C34878D82A}">
                    <a16:rowId xmlns:a16="http://schemas.microsoft.com/office/drawing/2014/main" val="10004"/>
                  </a:ext>
                </a:extLst>
              </a:tr>
              <a:tr h="277984">
                <a:tc>
                  <a:txBody>
                    <a:bodyPr/>
                    <a:lstStyle/>
                    <a:p>
                      <a:r>
                        <a:rPr lang="ja-JP" altLang="en-US" sz="900" b="1"/>
                        <a:t>非テキスト検索</a:t>
                      </a:r>
                      <a:endParaRPr lang="ja-JP" altLang="en-US" sz="900"/>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インデックスやクエリによる</a:t>
                      </a:r>
                      <a:r>
                        <a:rPr lang="en-US" altLang="ja-JP" sz="900">
                          <a:solidFill>
                            <a:srgbClr val="FF0000"/>
                          </a:solidFill>
                        </a:rPr>
                        <a:t>)</a:t>
                      </a:r>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メタデータ検索が中心</a:t>
                      </a:r>
                      <a:r>
                        <a:rPr lang="en-US" altLang="ja-JP" sz="90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ja-JP" altLang="en-US" sz="900"/>
                        <a:t>メタデータ検索、ファイルプロパティ検索</a:t>
                      </a:r>
                      <a:r>
                        <a:rPr lang="en-US" altLang="ja-JP" sz="900"/>
                        <a:t>)</a:t>
                      </a:r>
                    </a:p>
                  </a:txBody>
                  <a:tcPr marL="28046" marR="28046" marT="14023" marB="14023" anchor="ctr"/>
                </a:tc>
                <a:extLst>
                  <a:ext uri="{0D108BD9-81ED-4DB2-BD59-A6C34878D82A}">
                    <a16:rowId xmlns:a16="http://schemas.microsoft.com/office/drawing/2014/main" val="10005"/>
                  </a:ext>
                </a:extLst>
              </a:tr>
              <a:tr h="277984">
                <a:tc>
                  <a:txBody>
                    <a:bodyPr/>
                    <a:lstStyle/>
                    <a:p>
                      <a:r>
                        <a:rPr lang="de-DE" sz="900" b="1"/>
                        <a:t>Power Apps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6"/>
                  </a:ext>
                </a:extLst>
              </a:tr>
              <a:tr h="277984">
                <a:tc>
                  <a:txBody>
                    <a:bodyPr/>
                    <a:lstStyle/>
                    <a:p>
                      <a:r>
                        <a:rPr lang="de-DE" sz="900" b="1"/>
                        <a:t>Power Automate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7"/>
                  </a:ext>
                </a:extLst>
              </a:tr>
              <a:tr h="502427">
                <a:tc>
                  <a:txBody>
                    <a:bodyPr/>
                    <a:lstStyle/>
                    <a:p>
                      <a:r>
                        <a:rPr lang="ja-JP" altLang="en-US" sz="900" b="1" dirty="0"/>
                        <a:t>必要なライセンス</a:t>
                      </a:r>
                      <a:endParaRPr lang="ja-JP" altLang="en-US" sz="900" dirty="0"/>
                    </a:p>
                  </a:txBody>
                  <a:tcPr marL="28046" marR="28046" marT="14023" marB="14023" anchor="ctr"/>
                </a:tc>
                <a:tc>
                  <a:txBody>
                    <a:bodyPr/>
                    <a:lstStyle/>
                    <a:p>
                      <a:r>
                        <a:rPr lang="de-DE" sz="900" dirty="0"/>
                        <a:t>SQL Server Enterprise/Standard (Full-Text Search </a:t>
                      </a:r>
                      <a:r>
                        <a:rPr lang="ja-JP" altLang="en-US" sz="900" dirty="0"/>
                        <a:t>は追加費用なし</a:t>
                      </a:r>
                      <a:r>
                        <a:rPr lang="en-US" altLang="ja-JP" sz="900" dirty="0"/>
                        <a:t>)</a:t>
                      </a:r>
                    </a:p>
                  </a:txBody>
                  <a:tcPr marL="28046" marR="28046" marT="14023" marB="14023" anchor="ctr"/>
                </a:tc>
                <a:tc>
                  <a:txBody>
                    <a:bodyPr/>
                    <a:lstStyle/>
                    <a:p>
                      <a:r>
                        <a:rPr lang="en-US" altLang="ja-JP" sz="900" dirty="0"/>
                        <a:t>Microsoft Dataverse </a:t>
                      </a:r>
                      <a:r>
                        <a:rPr lang="ja-JP" altLang="en-US" sz="900" dirty="0"/>
                        <a:t>ライセンス </a:t>
                      </a:r>
                      <a:r>
                        <a:rPr lang="en-US" altLang="ja-JP" sz="900" dirty="0"/>
                        <a:t>(Dynamics 365 </a:t>
                      </a:r>
                      <a:r>
                        <a:rPr lang="ja-JP" altLang="en-US" sz="900" dirty="0"/>
                        <a:t>または </a:t>
                      </a:r>
                      <a:r>
                        <a:rPr lang="en-US" altLang="ja-JP" sz="900" dirty="0"/>
                        <a:t>Power Apps Premium </a:t>
                      </a:r>
                      <a:r>
                        <a:rPr lang="ja-JP" altLang="en-US" sz="900" dirty="0"/>
                        <a:t>ライセンスに含まれる場合あり</a:t>
                      </a:r>
                      <a:r>
                        <a:rPr lang="en-US" altLang="ja-JP" sz="900" dirty="0"/>
                        <a:t>)</a:t>
                      </a:r>
                    </a:p>
                  </a:txBody>
                  <a:tcPr marL="28046" marR="28046" marT="14023" marB="14023" anchor="ctr"/>
                </a:tc>
                <a:tc>
                  <a:txBody>
                    <a:bodyPr/>
                    <a:lstStyle/>
                    <a:p>
                      <a:r>
                        <a:rPr lang="en-US" altLang="ja-JP" sz="900" dirty="0"/>
                        <a:t>PostgreSQL </a:t>
                      </a:r>
                      <a:r>
                        <a:rPr lang="ja-JP" altLang="en-US" sz="900" dirty="0"/>
                        <a:t>自体はオープンソース。拡張機能は追加の構成が必要。</a:t>
                      </a:r>
                    </a:p>
                  </a:txBody>
                  <a:tcPr marL="28046" marR="28046" marT="14023" marB="14023" anchor="ctr"/>
                </a:tc>
                <a:tc>
                  <a:txBody>
                    <a:bodyPr/>
                    <a:lstStyle/>
                    <a:p>
                      <a:r>
                        <a:rPr lang="de-DE" sz="900" dirty="0"/>
                        <a:t>Microsoft 365 </a:t>
                      </a:r>
                      <a:r>
                        <a:rPr lang="ja-JP" altLang="en-US" sz="900" dirty="0"/>
                        <a:t>ライセンス </a:t>
                      </a:r>
                      <a:r>
                        <a:rPr lang="en-US" altLang="ja-JP" sz="900" dirty="0"/>
                        <a:t>(</a:t>
                      </a:r>
                      <a:r>
                        <a:rPr lang="de-DE" sz="900" dirty="0"/>
                        <a:t>SharePoint Online </a:t>
                      </a:r>
                      <a:r>
                        <a:rPr lang="ja-JP" altLang="en-US" sz="900" dirty="0"/>
                        <a:t>を含むプラン</a:t>
                      </a:r>
                      <a:r>
                        <a:rPr lang="en-US" altLang="ja-JP" sz="900" dirty="0"/>
                        <a:t>)</a:t>
                      </a:r>
                    </a:p>
                  </a:txBody>
                  <a:tcPr marL="28046" marR="28046" marT="14023" marB="14023" anchor="ctr"/>
                </a:tc>
                <a:extLst>
                  <a:ext uri="{0D108BD9-81ED-4DB2-BD59-A6C34878D82A}">
                    <a16:rowId xmlns:a16="http://schemas.microsoft.com/office/drawing/2014/main" val="10008"/>
                  </a:ext>
                </a:extLst>
              </a:tr>
              <a:tr h="502427">
                <a:tc>
                  <a:txBody>
                    <a:bodyPr/>
                    <a:lstStyle/>
                    <a:p>
                      <a:endParaRPr lang="ja-JP" altLang="en-US"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ja-JP" altLang="en-US" sz="900" dirty="0">
                        <a:solidFill>
                          <a:srgbClr val="FF0000"/>
                        </a:solidFill>
                      </a:endParaRPr>
                    </a:p>
                  </a:txBody>
                  <a:tcPr marL="28046" marR="28046" marT="14023" marB="14023" anchor="ctr"/>
                </a:tc>
                <a:tc>
                  <a:txBody>
                    <a:bodyPr/>
                    <a:lstStyle/>
                    <a:p>
                      <a:r>
                        <a:rPr lang="ja-JP" altLang="en-US" sz="900" dirty="0">
                          <a:solidFill>
                            <a:srgbClr val="FF0000"/>
                          </a:solidFill>
                        </a:rPr>
                        <a:t>特別</a:t>
                      </a:r>
                      <a:r>
                        <a:rPr lang="en-US" altLang="ja-JP" sz="900" dirty="0">
                          <a:solidFill>
                            <a:srgbClr val="FF0000"/>
                          </a:solidFill>
                        </a:rPr>
                        <a:t>API</a:t>
                      </a:r>
                      <a:r>
                        <a:rPr lang="ja-JP" altLang="en-US" sz="900" dirty="0">
                          <a:solidFill>
                            <a:srgbClr val="FF0000"/>
                          </a:solidFill>
                        </a:rPr>
                        <a:t>コールが必要</a:t>
                      </a:r>
                      <a:endParaRPr lang="en-US" altLang="ja-JP" sz="900" dirty="0">
                        <a:solidFill>
                          <a:srgbClr val="FF0000"/>
                        </a:solidFill>
                      </a:endParaRPr>
                    </a:p>
                    <a:p>
                      <a:r>
                        <a:rPr lang="ja-JP" altLang="en-US" sz="900" dirty="0">
                          <a:solidFill>
                            <a:srgbClr val="FF0000"/>
                          </a:solidFill>
                        </a:rPr>
                        <a:t>事前の</a:t>
                      </a:r>
                      <a:r>
                        <a:rPr lang="en-US" altLang="ja-JP" sz="900" dirty="0">
                          <a:solidFill>
                            <a:srgbClr val="FF0000"/>
                          </a:solidFill>
                        </a:rPr>
                        <a:t>App</a:t>
                      </a:r>
                      <a:r>
                        <a:rPr lang="ja-JP" altLang="en-US" sz="900" dirty="0">
                          <a:solidFill>
                            <a:srgbClr val="FF0000"/>
                          </a:solidFill>
                        </a:rPr>
                        <a:t>登録が必須</a:t>
                      </a:r>
                      <a:endParaRPr lang="en-US" altLang="ja-JP" sz="900" dirty="0">
                        <a:solidFill>
                          <a:srgbClr val="FF0000"/>
                        </a:solidFill>
                      </a:endParaRPr>
                    </a:p>
                    <a:p>
                      <a:r>
                        <a:rPr lang="en-US" altLang="ja-JP" sz="900" dirty="0">
                          <a:solidFill>
                            <a:srgbClr val="FF0000"/>
                          </a:solidFill>
                        </a:rPr>
                        <a:t>SharePoint</a:t>
                      </a:r>
                      <a:r>
                        <a:rPr lang="ja-JP" altLang="en-US" sz="900" dirty="0">
                          <a:solidFill>
                            <a:srgbClr val="FF0000"/>
                          </a:solidFill>
                        </a:rPr>
                        <a:t>に置いている添付ファイルの管理が必要</a:t>
                      </a:r>
                      <a:endParaRPr lang="en-US" altLang="ja-JP" sz="900" dirty="0">
                        <a:solidFill>
                          <a:srgbClr val="FF0000"/>
                        </a:solidFill>
                      </a:endParaRPr>
                    </a:p>
                  </a:txBody>
                  <a:tcPr marL="28046" marR="28046" marT="14023" marB="14023" anchor="ctr"/>
                </a:tc>
                <a:extLst>
                  <a:ext uri="{0D108BD9-81ED-4DB2-BD59-A6C34878D82A}">
                    <a16:rowId xmlns:a16="http://schemas.microsoft.com/office/drawing/2014/main" val="291555614"/>
                  </a:ext>
                </a:extLst>
              </a:tr>
            </a:tbl>
          </a:graphicData>
        </a:graphic>
      </p:graphicFrame>
    </p:spTree>
    <p:extLst>
      <p:ext uri="{BB962C8B-B14F-4D97-AF65-F5344CB8AC3E}">
        <p14:creationId xmlns:p14="http://schemas.microsoft.com/office/powerpoint/2010/main" val="25444297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44331-4BEF-F2FC-48A6-BF12AE3703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B85A4E-12CE-5942-ACC0-31AA3B63F200}"/>
              </a:ext>
            </a:extLst>
          </p:cNvPr>
          <p:cNvSpPr>
            <a:spLocks noGrp="1"/>
          </p:cNvSpPr>
          <p:nvPr>
            <p:ph type="title"/>
          </p:nvPr>
        </p:nvSpPr>
        <p:spPr>
          <a:xfrm>
            <a:off x="414336" y="255263"/>
            <a:ext cx="9327072" cy="683629"/>
          </a:xfrm>
        </p:spPr>
        <p:txBody>
          <a:bodyPr>
            <a:noAutofit/>
          </a:bodyPr>
          <a:lstStyle/>
          <a:p>
            <a:r>
              <a:rPr lang="ja-JP" altLang="en-US"/>
              <a:t>実現方法－ 検索機能２</a:t>
            </a:r>
          </a:p>
        </p:txBody>
      </p:sp>
      <p:sp>
        <p:nvSpPr>
          <p:cNvPr id="15" name="テキスト ボックス 14">
            <a:extLst>
              <a:ext uri="{FF2B5EF4-FFF2-40B4-BE49-F238E27FC236}">
                <a16:creationId xmlns:a16="http://schemas.microsoft.com/office/drawing/2014/main" id="{0EC3F4ED-93EE-E22C-93BB-7B4C475C55B7}"/>
              </a:ext>
            </a:extLst>
          </p:cNvPr>
          <p:cNvSpPr txBox="1"/>
          <p:nvPr/>
        </p:nvSpPr>
        <p:spPr>
          <a:xfrm>
            <a:off x="414337" y="814891"/>
            <a:ext cx="7764464" cy="562496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sz="1400" dirty="0">
                <a:latin typeface="DengXian 本文"/>
              </a:rPr>
              <a:t>添付ファイル向け検索: SharePointの検索機能</a:t>
            </a:r>
            <a:r>
              <a:rPr kumimoji="0" lang="ja-JP" altLang="en-US" sz="1400" dirty="0">
                <a:latin typeface="DengXian 本文"/>
              </a:rPr>
              <a:t>を利用。</a:t>
            </a:r>
            <a:endParaRPr kumimoji="0" lang="en-US" altLang="ja-JP" sz="1400" dirty="0">
              <a:latin typeface="DengXian 本文"/>
            </a:endParaRPr>
          </a:p>
          <a:p>
            <a:pPr marL="342900" indent="-342900">
              <a:buFont typeface="+mj-lt"/>
              <a:buAutoNum type="arabicPeriod"/>
            </a:pPr>
            <a:r>
              <a:rPr lang="en-US" altLang="ja-JP" sz="1200" b="1" dirty="0"/>
              <a:t>Azure AD </a:t>
            </a:r>
            <a:r>
              <a:rPr lang="ja-JP" altLang="en-US" sz="1200" b="1" dirty="0"/>
              <a:t>アプリケーションの登録と権限設定</a:t>
            </a:r>
            <a:r>
              <a:rPr lang="en-US" altLang="ja-JP" sz="1200" b="1" dirty="0"/>
              <a:t>:</a:t>
            </a:r>
            <a:endParaRPr lang="ja-JP" altLang="en-US" sz="1200" dirty="0"/>
          </a:p>
          <a:p>
            <a:pPr lvl="1"/>
            <a:r>
              <a:rPr lang="en-US" altLang="ja-JP" sz="1050" dirty="0"/>
              <a:t>Azure AD </a:t>
            </a:r>
            <a:r>
              <a:rPr lang="ja-JP" altLang="en-US" sz="1050" dirty="0"/>
              <a:t>にアプリケーションを登録し、必要な </a:t>
            </a:r>
            <a:r>
              <a:rPr lang="en-US" altLang="ja-JP" sz="1050" dirty="0"/>
              <a:t>Graph API </a:t>
            </a:r>
            <a:r>
              <a:rPr lang="ja-JP" altLang="en-US" sz="1050" dirty="0"/>
              <a:t>のアクセス許可を付与します。</a:t>
            </a:r>
          </a:p>
          <a:p>
            <a:pPr lvl="1"/>
            <a:r>
              <a:rPr lang="ja-JP" altLang="en-US" sz="1050" dirty="0"/>
              <a:t>アプリケーション </a:t>
            </a:r>
            <a:r>
              <a:rPr lang="en-US" altLang="ja-JP" sz="1050" dirty="0"/>
              <a:t>ID (</a:t>
            </a:r>
            <a:r>
              <a:rPr lang="ja-JP" altLang="en-US" sz="1050" dirty="0"/>
              <a:t>クライアント </a:t>
            </a:r>
            <a:r>
              <a:rPr lang="en-US" altLang="ja-JP" sz="1050" dirty="0"/>
              <a:t>ID) </a:t>
            </a:r>
            <a:r>
              <a:rPr lang="ja-JP" altLang="en-US" sz="1050" dirty="0"/>
              <a:t>と、</a:t>
            </a:r>
            <a:r>
              <a:rPr lang="ja-JP" altLang="en-US" sz="1050" b="1" dirty="0"/>
              <a:t>クライアントシークレット</a:t>
            </a:r>
            <a:r>
              <a:rPr lang="ja-JP" altLang="en-US" sz="1050" dirty="0"/>
              <a:t> または </a:t>
            </a:r>
            <a:r>
              <a:rPr lang="ja-JP" altLang="en-US" sz="1050" b="1" dirty="0"/>
              <a:t>証明書</a:t>
            </a:r>
            <a:r>
              <a:rPr lang="ja-JP" altLang="en-US" sz="1050" dirty="0"/>
              <a:t> を取得します。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必要な Graph API 権限</a:t>
            </a:r>
          </a:p>
          <a:p>
            <a:pPr lvl="1" eaLnBrk="0" fontAlgn="base" hangingPunct="0">
              <a:spcBef>
                <a:spcPct val="0"/>
              </a:spcBef>
              <a:spcAft>
                <a:spcPct val="0"/>
              </a:spcAft>
            </a:pPr>
            <a:r>
              <a:rPr kumimoji="0" lang="ja-JP" altLang="ja-JP" sz="1050" dirty="0">
                <a:latin typeface="Arial" panose="020B0604020202020204" pitchFamily="34" charset="0"/>
              </a:rPr>
              <a:t>Graph API を使用して SharePoint のドキュメントライブラリを検索するには、主に以下の権限が必要です。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Files.Read.All</a:t>
            </a:r>
            <a:r>
              <a:rPr kumimoji="0" lang="ja-JP" altLang="ja-JP" sz="1050" dirty="0"/>
              <a:t>: SharePoint Online 内のすべてのファイルコンテンツを読み取る権限です。これにより、ドキュメントライブラリ内のファイルを検索し、そのメタデータやコンテンツを取得できます。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Sites.Read.All</a:t>
            </a:r>
            <a:r>
              <a:rPr kumimoji="0" lang="ja-JP" altLang="ja-JP" sz="1050" dirty="0"/>
              <a:t>: SharePoint Online 内のすべてのサイトコレクションとサイトのメタデータを読み取る権限です。これにより、検索対象となるドキュメントライブラリが存在するサイトを特定できます。</a:t>
            </a:r>
            <a:endParaRPr kumimoji="0" lang="ja-JP" altLang="ja-JP" sz="1050" dirty="0">
              <a:latin typeface="Arial" panose="020B0604020202020204" pitchFamily="34" charset="0"/>
            </a:endParaRPr>
          </a:p>
          <a:p>
            <a:pPr lvl="1" eaLnBrk="0" fontAlgn="base" hangingPunct="0">
              <a:spcBef>
                <a:spcPct val="0"/>
              </a:spcBef>
              <a:spcAft>
                <a:spcPct val="0"/>
              </a:spcAft>
            </a:pPr>
            <a:r>
              <a:rPr kumimoji="0" lang="ja-JP" altLang="ja-JP" sz="1050" dirty="0">
                <a:latin typeface="Arial" panose="020B0604020202020204" pitchFamily="34" charset="0"/>
              </a:rPr>
              <a:t>これらの権限は、アプリケーションの登録時に Azure Active Directory (現 Microsoft Entra ID) で設定します。Power Apps や Power Automate から Graph API を呼び出す際には、これらの権限が付与されたサービスプリンシパルまたは委任された権限を持つユーザーアカウントを使用することになります。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Power Apps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では、</a:t>
            </a:r>
            <a:r>
              <a:rPr kumimoji="0" lang="ja-JP" altLang="ja-JP" sz="1050" b="1" dirty="0">
                <a:latin typeface="Arial" panose="020B0604020202020204" pitchFamily="34" charset="0"/>
              </a:rPr>
              <a:t>カスタムコネクタ</a:t>
            </a:r>
            <a:r>
              <a:rPr kumimoji="0" lang="ja-JP" altLang="ja-JP" sz="1050" dirty="0">
                <a:latin typeface="Arial" panose="020B0604020202020204" pitchFamily="34" charset="0"/>
              </a:rPr>
              <a:t> を作成して Graph API エンドポイントを定義するのが一般的です。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カスタムコネクタの設定で、上記で説明した必要な Graph API 権限を要求するように設定します。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Graph API の検索エンドポイント（例: </a:t>
            </a:r>
            <a:r>
              <a:rPr kumimoji="0" lang="ja-JP" altLang="ja-JP" sz="1050" dirty="0">
                <a:latin typeface="Arial Unicode MS"/>
              </a:rPr>
              <a:t>https://graph.microsoft.com/v1.0/sites/{site-id}/drive/root/search(q='{search-query}')</a:t>
            </a:r>
            <a:r>
              <a:rPr kumimoji="0" lang="ja-JP" altLang="ja-JP" sz="1050" dirty="0"/>
              <a:t>）を呼び出すアクションを定義します。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特定のドキュメントライブラリを限定するには、</a:t>
            </a:r>
            <a:r>
              <a:rPr kumimoji="0" lang="ja-JP" altLang="ja-JP" sz="1050" dirty="0">
                <a:latin typeface="Arial Unicode MS"/>
              </a:rPr>
              <a:t>site-id</a:t>
            </a:r>
            <a:r>
              <a:rPr kumimoji="0" lang="ja-JP" altLang="ja-JP" sz="1050" dirty="0"/>
              <a:t> を指定するか、検索クエリ (</a:t>
            </a:r>
            <a:r>
              <a:rPr kumimoji="0" lang="ja-JP" altLang="ja-JP" sz="1050" dirty="0">
                <a:latin typeface="Arial Unicode MS"/>
              </a:rPr>
              <a:t>q</a:t>
            </a:r>
            <a:r>
              <a:rPr kumimoji="0" lang="ja-JP" altLang="ja-JP" sz="1050" dirty="0"/>
              <a:t>) にドキュメントライブラリ名やパスを含めるなどの工夫が必要になります。Graph API の検索機能は、</a:t>
            </a:r>
            <a:r>
              <a:rPr kumimoji="0" lang="ja-JP" altLang="ja-JP" sz="1050" dirty="0">
                <a:latin typeface="Arial Unicode MS"/>
              </a:rPr>
              <a:t>search</a:t>
            </a:r>
            <a:r>
              <a:rPr kumimoji="0" lang="ja-JP" altLang="ja-JP" sz="1050" dirty="0"/>
              <a:t> クエリパラメータで詳細なフィルタリングをサポートしています。例えば、</a:t>
            </a:r>
            <a:r>
              <a:rPr kumimoji="0" lang="ja-JP" altLang="ja-JP" sz="1050" dirty="0">
                <a:latin typeface="Arial Unicode MS"/>
              </a:rPr>
              <a:t>search(q='keyword in:Shared Documents')</a:t>
            </a:r>
            <a:r>
              <a:rPr kumimoji="0" lang="ja-JP" altLang="ja-JP" sz="1050" dirty="0"/>
              <a:t> のように、特定のフォルダを指定できます。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のキャンバスアプリ内で、このカスタムコネクタのアクションを呼び出し、取得した検索結果を表示します。</a:t>
            </a:r>
            <a:endParaRPr kumimoji="0" lang="ja-JP" altLang="ja-JP" sz="1200" dirty="0">
              <a:latin typeface="Arial" panose="020B0604020202020204" pitchFamily="34" charset="0"/>
            </a:endParaRPr>
          </a:p>
          <a:p>
            <a:pPr marL="342900" lvl="0" indent="-342900" eaLnBrk="0" fontAlgn="base" hangingPunct="0">
              <a:spcBef>
                <a:spcPct val="0"/>
              </a:spcBef>
              <a:spcAft>
                <a:spcPct val="0"/>
              </a:spcAft>
              <a:buFont typeface="Arial" panose="020B0604020202020204" pitchFamily="34" charset="0"/>
              <a:buChar char="•"/>
            </a:pPr>
            <a:r>
              <a:rPr kumimoji="0" lang="ja-JP" altLang="ja-JP" sz="1200" b="1" dirty="0">
                <a:latin typeface="Arial" panose="020B0604020202020204" pitchFamily="34" charset="0"/>
              </a:rPr>
              <a:t>Power Automate Flow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Automate では、</a:t>
            </a:r>
            <a:r>
              <a:rPr kumimoji="0" lang="ja-JP" altLang="ja-JP" sz="1050" b="1" dirty="0">
                <a:latin typeface="Arial" panose="020B0604020202020204" pitchFamily="34" charset="0"/>
              </a:rPr>
              <a:t>HTTP アクション</a:t>
            </a:r>
            <a:r>
              <a:rPr kumimoji="0" lang="ja-JP" altLang="ja-JP" sz="1050" dirty="0">
                <a:latin typeface="Arial" panose="020B0604020202020204" pitchFamily="34" charset="0"/>
              </a:rPr>
              <a:t> を使用して Graph API を直接呼び出すことができます。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HTTP アクションの設定で、HTTP メソッドを </a:t>
            </a:r>
            <a:r>
              <a:rPr kumimoji="0" lang="ja-JP" altLang="ja-JP" sz="1050" dirty="0">
                <a:latin typeface="Arial Unicode MS"/>
              </a:rPr>
              <a:t>GET</a:t>
            </a:r>
            <a:r>
              <a:rPr kumimoji="0" lang="ja-JP" altLang="ja-JP" sz="1050" dirty="0"/>
              <a:t> または </a:t>
            </a:r>
            <a:r>
              <a:rPr kumimoji="0" lang="ja-JP" altLang="ja-JP" sz="1050" dirty="0">
                <a:latin typeface="Arial Unicode MS"/>
              </a:rPr>
              <a:t>POST</a:t>
            </a:r>
            <a:r>
              <a:rPr kumimoji="0" lang="ja-JP" altLang="ja-JP" sz="1050" dirty="0"/>
              <a:t> に設定し、Graph API のエンドポイント URL を指定します。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認証には、HTTP アクションの「認証」設定で「Active Directory OAuth」を選択し、必要な権限を持つ Azure AD アプリケーションのテナント ID、クライアント ID、クライアントシークレット（または証明書）を設定します。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ヘッダーには </a:t>
            </a:r>
            <a:r>
              <a:rPr kumimoji="0" lang="ja-JP" altLang="ja-JP" sz="1050" dirty="0">
                <a:latin typeface="Arial Unicode MS"/>
              </a:rPr>
              <a:t>Content-Type: application/json</a:t>
            </a:r>
            <a:r>
              <a:rPr kumimoji="0" lang="ja-JP" altLang="ja-JP" sz="1050" dirty="0"/>
              <a:t> などを設定します。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Unicode MS"/>
              </a:rPr>
              <a:t>uri</a:t>
            </a:r>
            <a:r>
              <a:rPr kumimoji="0" lang="ja-JP" altLang="ja-JP" sz="1050" dirty="0"/>
              <a:t> パラメータで検索クエリを指定し、ドキュメントライブラリを限定するための </a:t>
            </a:r>
            <a:r>
              <a:rPr kumimoji="0" lang="ja-JP" altLang="ja-JP" sz="1050" dirty="0">
                <a:latin typeface="Arial Unicode MS"/>
              </a:rPr>
              <a:t>in:</a:t>
            </a:r>
            <a:r>
              <a:rPr kumimoji="0" lang="ja-JP" altLang="ja-JP" sz="1050" dirty="0"/>
              <a:t> 演算子などを活用します。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取得した JSON レスポンスを解析し、必要に応じて後続のアクション（例: メール送信、SharePoint リストへの記録など）を実行します。</a:t>
            </a:r>
          </a:p>
        </p:txBody>
      </p:sp>
      <p:pic>
        <p:nvPicPr>
          <p:cNvPr id="2050" name="Picture 2" descr="Microsoft Graph API - Cyderes Documentation">
            <a:extLst>
              <a:ext uri="{FF2B5EF4-FFF2-40B4-BE49-F238E27FC236}">
                <a16:creationId xmlns:a16="http://schemas.microsoft.com/office/drawing/2014/main" id="{BBCC0D22-76B9-A051-8B58-50259E1DD6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7559" y="2879621"/>
            <a:ext cx="1437641" cy="718821"/>
          </a:xfrm>
          <a:prstGeom prst="rect">
            <a:avLst/>
          </a:prstGeom>
          <a:noFill/>
          <a:extLst>
            <a:ext uri="{909E8E84-426E-40DD-AFC4-6F175D3DCCD1}">
              <a14:hiddenFill xmlns:a14="http://schemas.microsoft.com/office/drawing/2010/main">
                <a:solidFill>
                  <a:srgbClr val="FFFFFF"/>
                </a:solidFill>
              </a14:hiddenFill>
            </a:ext>
          </a:extLst>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CB68834-A897-CE74-A512-5FD3ED5EF5E5}"/>
              </a:ext>
            </a:extLst>
          </p:cNvPr>
          <p:cNvPicPr>
            <a:picLocks noGrp="1"/>
          </p:cNvPicPr>
          <p:nvPr>
            <p:ph sz="quarter" idx="10"/>
          </p:nvPr>
        </p:nvPicPr>
        <p:blipFill>
          <a:blip r:embed="rId4"/>
          <a:stretch>
            <a:fillRect/>
          </a:stretch>
        </p:blipFill>
        <p:spPr>
          <a:xfrm>
            <a:off x="9090656" y="941625"/>
            <a:ext cx="1084608" cy="623650"/>
          </a:xfrm>
        </p:spPr>
      </p:pic>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B6A62F45-8902-2559-F5A3-F2D88D2259C0}"/>
              </a:ext>
            </a:extLst>
          </p:cNvPr>
          <p:cNvPicPr/>
          <p:nvPr/>
        </p:nvPicPr>
        <p:blipFill>
          <a:blip r:embed="rId5"/>
          <a:stretch>
            <a:fillRect/>
          </a:stretch>
        </p:blipFill>
        <p:spPr>
          <a:xfrm>
            <a:off x="10791180" y="828069"/>
            <a:ext cx="934788" cy="737206"/>
          </a:xfrm>
          <a:prstGeom prst="rect">
            <a:avLst/>
          </a:prstGeom>
        </p:spPr>
      </p:pic>
      <p:pic>
        <p:nvPicPr>
          <p:cNvPr id="5" name="図 4" descr="ロゴ, アイコン&#10;&#10;AI によって生成されたコンテンツは間違っている可能性があります。">
            <a:extLst>
              <a:ext uri="{FF2B5EF4-FFF2-40B4-BE49-F238E27FC236}">
                <a16:creationId xmlns:a16="http://schemas.microsoft.com/office/drawing/2014/main" id="{95B1F3E8-ADFA-6F77-03F0-A996FD410BC5}"/>
              </a:ext>
            </a:extLst>
          </p:cNvPr>
          <p:cNvPicPr/>
          <p:nvPr/>
        </p:nvPicPr>
        <p:blipFill>
          <a:blip r:embed="rId6"/>
          <a:stretch>
            <a:fillRect/>
          </a:stretch>
        </p:blipFill>
        <p:spPr>
          <a:xfrm>
            <a:off x="8336472" y="2928006"/>
            <a:ext cx="643597" cy="629116"/>
          </a:xfrm>
          <a:prstGeom prst="rect">
            <a:avLst/>
          </a:prstGeom>
        </p:spPr>
      </p:pic>
      <p:sp>
        <p:nvSpPr>
          <p:cNvPr id="6" name="正方形/長方形 5">
            <a:extLst>
              <a:ext uri="{FF2B5EF4-FFF2-40B4-BE49-F238E27FC236}">
                <a16:creationId xmlns:a16="http://schemas.microsoft.com/office/drawing/2014/main" id="{98C14583-0FF3-291C-E698-F3669A76D901}"/>
              </a:ext>
            </a:extLst>
          </p:cNvPr>
          <p:cNvSpPr/>
          <p:nvPr/>
        </p:nvSpPr>
        <p:spPr>
          <a:xfrm>
            <a:off x="9632959" y="2007933"/>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a:t>検索条件整備</a:t>
            </a:r>
          </a:p>
        </p:txBody>
      </p:sp>
      <p:cxnSp>
        <p:nvCxnSpPr>
          <p:cNvPr id="9" name="直線矢印コネクタ 8">
            <a:extLst>
              <a:ext uri="{FF2B5EF4-FFF2-40B4-BE49-F238E27FC236}">
                <a16:creationId xmlns:a16="http://schemas.microsoft.com/office/drawing/2014/main" id="{50328C86-20B2-14B6-CC7F-66AB08CDAFEB}"/>
              </a:ext>
            </a:extLst>
          </p:cNvPr>
          <p:cNvCxnSpPr>
            <a:cxnSpLocks/>
            <a:stCxn id="6" idx="2"/>
            <a:endCxn id="2050" idx="0"/>
          </p:cNvCxnSpPr>
          <p:nvPr/>
        </p:nvCxnSpPr>
        <p:spPr>
          <a:xfrm>
            <a:off x="10326379" y="2526093"/>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1380BE2B-520C-4697-E14B-2DCF4C9A12EA}"/>
              </a:ext>
            </a:extLst>
          </p:cNvPr>
          <p:cNvSpPr/>
          <p:nvPr/>
        </p:nvSpPr>
        <p:spPr>
          <a:xfrm>
            <a:off x="9632959" y="3951970"/>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dirty="0"/>
              <a:t>保存</a:t>
            </a:r>
            <a:r>
              <a:rPr kumimoji="1" lang="en-US" altLang="ja-JP" sz="1100" dirty="0"/>
              <a:t>Site</a:t>
            </a:r>
            <a:r>
              <a:rPr kumimoji="1" lang="ja-JP" altLang="en-US" sz="1100" dirty="0"/>
              <a:t>であるかどうかで</a:t>
            </a:r>
            <a:r>
              <a:rPr kumimoji="1" lang="en-US" altLang="ja-JP" sz="1100" dirty="0"/>
              <a:t>Filter</a:t>
            </a:r>
            <a:endParaRPr kumimoji="1" lang="ja-JP" altLang="en-US" sz="1100" dirty="0"/>
          </a:p>
        </p:txBody>
      </p:sp>
      <p:cxnSp>
        <p:nvCxnSpPr>
          <p:cNvPr id="12" name="直線矢印コネクタ 11">
            <a:extLst>
              <a:ext uri="{FF2B5EF4-FFF2-40B4-BE49-F238E27FC236}">
                <a16:creationId xmlns:a16="http://schemas.microsoft.com/office/drawing/2014/main" id="{8810969E-8179-BD4C-EC5E-5D51A91615FB}"/>
              </a:ext>
            </a:extLst>
          </p:cNvPr>
          <p:cNvCxnSpPr>
            <a:cxnSpLocks/>
            <a:stCxn id="5" idx="3"/>
          </p:cNvCxnSpPr>
          <p:nvPr/>
        </p:nvCxnSpPr>
        <p:spPr>
          <a:xfrm>
            <a:off x="8980069" y="3242564"/>
            <a:ext cx="62559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7675FEFC-654E-D73B-658F-BA476ADFC735}"/>
              </a:ext>
            </a:extLst>
          </p:cNvPr>
          <p:cNvSpPr/>
          <p:nvPr/>
        </p:nvSpPr>
        <p:spPr>
          <a:xfrm>
            <a:off x="9632959" y="4823658"/>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1100"/>
              <a:t>PowerApps</a:t>
            </a:r>
            <a:r>
              <a:rPr lang="ja-JP" altLang="en-US" sz="1100"/>
              <a:t>へ表示</a:t>
            </a:r>
          </a:p>
        </p:txBody>
      </p:sp>
      <p:pic>
        <p:nvPicPr>
          <p:cNvPr id="2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216AC98-C4AD-A915-4837-EAF9CC71F366}"/>
              </a:ext>
            </a:extLst>
          </p:cNvPr>
          <p:cNvPicPr>
            <a:picLocks/>
          </p:cNvPicPr>
          <p:nvPr/>
        </p:nvPicPr>
        <p:blipFill>
          <a:blip r:embed="rId4"/>
          <a:stretch>
            <a:fillRect/>
          </a:stretch>
        </p:blipFill>
        <p:spPr>
          <a:xfrm>
            <a:off x="9784075" y="5695346"/>
            <a:ext cx="1084608" cy="623650"/>
          </a:xfrm>
          <a:prstGeom prst="rect">
            <a:avLst/>
          </a:prstGeom>
        </p:spPr>
      </p:pic>
      <p:cxnSp>
        <p:nvCxnSpPr>
          <p:cNvPr id="22" name="コネクタ: カギ線 21">
            <a:extLst>
              <a:ext uri="{FF2B5EF4-FFF2-40B4-BE49-F238E27FC236}">
                <a16:creationId xmlns:a16="http://schemas.microsoft.com/office/drawing/2014/main" id="{F48DB493-97CF-8783-B827-83A40551939E}"/>
              </a:ext>
            </a:extLst>
          </p:cNvPr>
          <p:cNvCxnSpPr>
            <a:stCxn id="4" idx="2"/>
            <a:endCxn id="6" idx="0"/>
          </p:cNvCxnSpPr>
          <p:nvPr/>
        </p:nvCxnSpPr>
        <p:spPr>
          <a:xfrm rot="5400000">
            <a:off x="10571148" y="1320507"/>
            <a:ext cx="442658" cy="93219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B299363E-D321-A370-EB37-05993CE9F5F7}"/>
              </a:ext>
            </a:extLst>
          </p:cNvPr>
          <p:cNvCxnSpPr>
            <a:cxnSpLocks/>
            <a:stCxn id="2050" idx="2"/>
            <a:endCxn id="11" idx="0"/>
          </p:cNvCxnSpPr>
          <p:nvPr/>
        </p:nvCxnSpPr>
        <p:spPr>
          <a:xfrm flipH="1">
            <a:off x="10326379" y="3598442"/>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4F96A356-A086-CB10-6D72-DCCF5EB5B19D}"/>
              </a:ext>
            </a:extLst>
          </p:cNvPr>
          <p:cNvCxnSpPr>
            <a:cxnSpLocks/>
            <a:stCxn id="11" idx="2"/>
          </p:cNvCxnSpPr>
          <p:nvPr/>
        </p:nvCxnSpPr>
        <p:spPr>
          <a:xfrm>
            <a:off x="10326379" y="4470130"/>
            <a:ext cx="0" cy="353528"/>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82E4080-4DAF-2D21-6665-6BC02ED8EF13}"/>
              </a:ext>
            </a:extLst>
          </p:cNvPr>
          <p:cNvCxnSpPr>
            <a:cxnSpLocks/>
            <a:stCxn id="3" idx="2"/>
            <a:endCxn id="6" idx="0"/>
          </p:cNvCxnSpPr>
          <p:nvPr/>
        </p:nvCxnSpPr>
        <p:spPr>
          <a:xfrm rot="16200000" flipH="1">
            <a:off x="9758340" y="1439894"/>
            <a:ext cx="442658" cy="693419"/>
          </a:xfrm>
          <a:prstGeom prst="bentConnector3">
            <a:avLst>
              <a:gd name="adj1" fmla="val 50000"/>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803390F5-3455-17B5-CB2F-194E9C0F4A89}"/>
              </a:ext>
            </a:extLst>
          </p:cNvPr>
          <p:cNvCxnSpPr>
            <a:cxnSpLocks/>
            <a:endCxn id="20" idx="0"/>
          </p:cNvCxnSpPr>
          <p:nvPr/>
        </p:nvCxnSpPr>
        <p:spPr>
          <a:xfrm>
            <a:off x="10326379" y="5307562"/>
            <a:ext cx="0" cy="38778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39" name="フローチャート: 書類 38">
            <a:extLst>
              <a:ext uri="{FF2B5EF4-FFF2-40B4-BE49-F238E27FC236}">
                <a16:creationId xmlns:a16="http://schemas.microsoft.com/office/drawing/2014/main" id="{82F3BDC6-8014-83E8-ADD9-558AF94A83C9}"/>
              </a:ext>
            </a:extLst>
          </p:cNvPr>
          <p:cNvSpPr/>
          <p:nvPr/>
        </p:nvSpPr>
        <p:spPr>
          <a:xfrm>
            <a:off x="8347719" y="4424194"/>
            <a:ext cx="619809" cy="365760"/>
          </a:xfrm>
          <a:prstGeom prst="flowChartDocumen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ja-JP" altLang="en-US" sz="1100" dirty="0"/>
              <a:t>表示用結果</a:t>
            </a:r>
          </a:p>
        </p:txBody>
      </p:sp>
      <p:cxnSp>
        <p:nvCxnSpPr>
          <p:cNvPr id="40" name="コネクタ: カギ線 39">
            <a:extLst>
              <a:ext uri="{FF2B5EF4-FFF2-40B4-BE49-F238E27FC236}">
                <a16:creationId xmlns:a16="http://schemas.microsoft.com/office/drawing/2014/main" id="{0D8A7114-4A0B-ADAF-FD82-C6F3DE8879C2}"/>
              </a:ext>
            </a:extLst>
          </p:cNvPr>
          <p:cNvCxnSpPr>
            <a:cxnSpLocks/>
            <a:stCxn id="11" idx="1"/>
            <a:endCxn id="39" idx="0"/>
          </p:cNvCxnSpPr>
          <p:nvPr/>
        </p:nvCxnSpPr>
        <p:spPr>
          <a:xfrm rot="10800000" flipV="1">
            <a:off x="8657625" y="4211050"/>
            <a:ext cx="975335" cy="21314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8AF1A0BD-ACCC-F6F9-24D1-56FCB3423E02}"/>
              </a:ext>
            </a:extLst>
          </p:cNvPr>
          <p:cNvCxnSpPr>
            <a:cxnSpLocks/>
            <a:stCxn id="39" idx="2"/>
            <a:endCxn id="19" idx="1"/>
          </p:cNvCxnSpPr>
          <p:nvPr/>
        </p:nvCxnSpPr>
        <p:spPr>
          <a:xfrm rot="16200000" flipH="1">
            <a:off x="8986809" y="4436587"/>
            <a:ext cx="316965" cy="975335"/>
          </a:xfrm>
          <a:prstGeom prst="bentConnector2">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8D12AAD-0C20-B22C-AFE2-2D003DBEE77F}"/>
              </a:ext>
            </a:extLst>
          </p:cNvPr>
          <p:cNvSpPr txBox="1"/>
          <p:nvPr/>
        </p:nvSpPr>
        <p:spPr>
          <a:xfrm>
            <a:off x="10377301" y="2526093"/>
            <a:ext cx="1608171" cy="523220"/>
          </a:xfrm>
          <a:prstGeom prst="rect">
            <a:avLst/>
          </a:prstGeom>
          <a:noFill/>
        </p:spPr>
        <p:txBody>
          <a:bodyPr wrap="square" rtlCol="0">
            <a:spAutoFit/>
          </a:bodyPr>
          <a:lstStyle/>
          <a:p>
            <a:r>
              <a:rPr kumimoji="1" lang="en-US" altLang="zh-CN" sz="700" b="1"/>
              <a:t>Send Http Request Sequence</a:t>
            </a:r>
          </a:p>
          <a:p>
            <a:pPr marL="228600" indent="-228600">
              <a:buFont typeface="+mj-lt"/>
              <a:buAutoNum type="arabicPeriod"/>
            </a:pPr>
            <a:r>
              <a:rPr lang="en-US" altLang="ja-JP" sz="700"/>
              <a:t>Auth</a:t>
            </a:r>
          </a:p>
          <a:p>
            <a:pPr marL="228600" indent="-228600">
              <a:buFont typeface="+mj-lt"/>
              <a:buAutoNum type="arabicPeriod"/>
            </a:pPr>
            <a:r>
              <a:rPr kumimoji="1" lang="en-US" altLang="zh-CN" sz="700"/>
              <a:t>Get token</a:t>
            </a:r>
          </a:p>
          <a:p>
            <a:pPr marL="228600" indent="-228600">
              <a:buFont typeface="+mj-lt"/>
              <a:buAutoNum type="arabicPeriod"/>
            </a:pPr>
            <a:r>
              <a:rPr lang="en-US" altLang="zh-CN" sz="700"/>
              <a:t>Send Request</a:t>
            </a:r>
            <a:endParaRPr kumimoji="1" lang="ja-JP" altLang="en-US" sz="700"/>
          </a:p>
        </p:txBody>
      </p:sp>
    </p:spTree>
    <p:extLst>
      <p:ext uri="{BB962C8B-B14F-4D97-AF65-F5344CB8AC3E}">
        <p14:creationId xmlns:p14="http://schemas.microsoft.com/office/powerpoint/2010/main" val="17481618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E2FBB-DC3A-220C-F84A-051129129C0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C9CF8D-840E-6CF6-800C-146B8E70CC6A}"/>
              </a:ext>
            </a:extLst>
          </p:cNvPr>
          <p:cNvSpPr>
            <a:spLocks noGrp="1"/>
          </p:cNvSpPr>
          <p:nvPr>
            <p:ph type="title"/>
          </p:nvPr>
        </p:nvSpPr>
        <p:spPr>
          <a:xfrm>
            <a:off x="414336" y="255263"/>
            <a:ext cx="9327072" cy="683629"/>
          </a:xfrm>
        </p:spPr>
        <p:txBody>
          <a:bodyPr>
            <a:normAutofit/>
          </a:bodyPr>
          <a:lstStyle/>
          <a:p>
            <a:r>
              <a:rPr lang="ja-JP" altLang="en-US" dirty="0"/>
              <a:t>実現方法－パフォーマンス最適化</a:t>
            </a:r>
            <a:endParaRPr lang="ja-JP" altLang="en-US" dirty="0">
              <a:effectLst/>
            </a:endParaRPr>
          </a:p>
        </p:txBody>
      </p:sp>
      <p:sp>
        <p:nvSpPr>
          <p:cNvPr id="15" name="テキスト ボックス 14">
            <a:extLst>
              <a:ext uri="{FF2B5EF4-FFF2-40B4-BE49-F238E27FC236}">
                <a16:creationId xmlns:a16="http://schemas.microsoft.com/office/drawing/2014/main" id="{96A45E24-A945-6DD0-10F4-48B063BF3A7B}"/>
              </a:ext>
            </a:extLst>
          </p:cNvPr>
          <p:cNvSpPr txBox="1"/>
          <p:nvPr/>
        </p:nvSpPr>
        <p:spPr bwMode="auto">
          <a:xfrm>
            <a:off x="414336" y="874314"/>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データアクセス: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SQL Serverのクエリ最適化（インデックス、ストアドプロシージャ使用）。</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PowerAppsのDelegationを活用（Filter/Sortをサーバーサイド処理）。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ファイル扱い: </a:t>
            </a:r>
            <a:endParaRPr kumimoji="0" lang="en-US" altLang="zh-CN" dirty="0">
              <a:latin typeface="Arial" panose="020B0604020202020204" pitchFamily="34" charset="0"/>
            </a:endParaRPr>
          </a:p>
          <a:p>
            <a:pPr lvl="1" eaLnBrk="0" fontAlgn="base" hangingPunct="0">
              <a:spcBef>
                <a:spcPct val="0"/>
              </a:spcBef>
              <a:spcAft>
                <a:spcPct val="0"/>
              </a:spcAft>
            </a:pPr>
            <a:r>
              <a:rPr kumimoji="0" lang="zh-CN" altLang="zh-CN" sz="1600" dirty="0">
                <a:latin typeface="Arial" panose="020B0604020202020204" pitchFamily="34" charset="0"/>
              </a:rPr>
              <a:t>非同期ロード（PowerAppsのConcurrent関数）。大容量ファイル時はストリーミング</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スケーラビリティ: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ja-JP" sz="1600" dirty="0">
                <a:solidFill>
                  <a:srgbClr val="C00000"/>
                </a:solidFill>
              </a:rPr>
              <a:t>On-premises </a:t>
            </a:r>
            <a:r>
              <a:rPr lang="en-US" altLang="ja-JP" sz="1600" dirty="0" err="1">
                <a:solidFill>
                  <a:srgbClr val="C00000"/>
                </a:solidFill>
              </a:rPr>
              <a:t>Sqlserver</a:t>
            </a:r>
            <a:r>
              <a:rPr lang="ja-JP" altLang="en-US" sz="1600" dirty="0">
                <a:solidFill>
                  <a:srgbClr val="C00000"/>
                </a:solidFill>
              </a:rPr>
              <a:t>を利用した場合、</a:t>
            </a:r>
            <a:r>
              <a:rPr lang="en-US" altLang="ja-JP" sz="1600" dirty="0">
                <a:solidFill>
                  <a:srgbClr val="C00000"/>
                </a:solidFill>
              </a:rPr>
              <a:t>30</a:t>
            </a:r>
            <a:r>
              <a:rPr lang="ja-JP" altLang="en-US" sz="1600" dirty="0">
                <a:solidFill>
                  <a:srgbClr val="C00000"/>
                </a:solidFill>
              </a:rPr>
              <a:t>分以内でサーバ</a:t>
            </a:r>
            <a:r>
              <a:rPr lang="en-US" altLang="ja-JP" sz="1600" dirty="0" err="1">
                <a:solidFill>
                  <a:srgbClr val="C00000"/>
                </a:solidFill>
              </a:rPr>
              <a:t>Down,CPU</a:t>
            </a:r>
            <a:r>
              <a:rPr lang="en-US" altLang="ja-JP" sz="1600" dirty="0">
                <a:solidFill>
                  <a:srgbClr val="C00000"/>
                </a:solidFill>
              </a:rPr>
              <a:t>/</a:t>
            </a:r>
            <a:r>
              <a:rPr lang="ja-JP" altLang="en-US" sz="1600" dirty="0">
                <a:solidFill>
                  <a:srgbClr val="C00000"/>
                </a:solidFill>
              </a:rPr>
              <a:t>メモリオプション変更、</a:t>
            </a:r>
            <a:r>
              <a:rPr lang="en-US" altLang="ja-JP" sz="1600" dirty="0">
                <a:solidFill>
                  <a:srgbClr val="C00000"/>
                </a:solidFill>
              </a:rPr>
              <a:t>Up</a:t>
            </a:r>
            <a:r>
              <a:rPr lang="ja-JP" altLang="en-US" sz="1600" dirty="0">
                <a:solidFill>
                  <a:srgbClr val="C00000"/>
                </a:solidFill>
              </a:rPr>
              <a:t>でリソース増設可能</a:t>
            </a:r>
            <a:endParaRPr lang="en-US" altLang="ja-JP" sz="1600" dirty="0">
              <a:solidFill>
                <a:srgbClr val="C00000"/>
              </a:solidFill>
            </a:endParaRPr>
          </a:p>
          <a:p>
            <a:pPr marL="285750" lvl="0" indent="-285750" eaLnBrk="0" fontAlgn="base" hangingPunct="0">
              <a:spcBef>
                <a:spcPct val="0"/>
              </a:spcBef>
              <a:spcAft>
                <a:spcPct val="0"/>
              </a:spcAft>
              <a:buFont typeface="Arial" panose="020B0604020202020204" pitchFamily="34" charset="0"/>
              <a:buChar char="•"/>
            </a:pPr>
            <a:r>
              <a:rPr lang="ja-JP" altLang="en-US" dirty="0"/>
              <a:t>高可用性</a:t>
            </a:r>
            <a:r>
              <a:rPr lang="zh-CN" altLang="en-US" dirty="0"/>
              <a:t>（</a:t>
            </a:r>
            <a:r>
              <a:rPr lang="en-US" altLang="zh-CN" dirty="0"/>
              <a:t>HA</a:t>
            </a:r>
            <a:r>
              <a:rPr lang="zh-CN" altLang="en-US" dirty="0"/>
              <a:t>）：</a:t>
            </a:r>
            <a:r>
              <a:rPr lang="en-US" altLang="zh-CN" dirty="0" err="1"/>
              <a:t>Sqlserver</a:t>
            </a:r>
            <a:r>
              <a:rPr lang="ja-JP" altLang="en-US" dirty="0"/>
              <a:t>は</a:t>
            </a:r>
            <a:r>
              <a:rPr lang="en-US" altLang="ja-JP" dirty="0"/>
              <a:t>Cloud</a:t>
            </a:r>
            <a:r>
              <a:rPr lang="ja-JP" altLang="en-US" dirty="0"/>
              <a:t>（</a:t>
            </a:r>
            <a:r>
              <a:rPr lang="en-US" altLang="ja-JP" dirty="0"/>
              <a:t>Vesta</a:t>
            </a:r>
            <a:r>
              <a:rPr lang="ja-JP" altLang="en-US" dirty="0"/>
              <a:t>と同様</a:t>
            </a:r>
            <a:r>
              <a:rPr lang="en-US" altLang="ja-JP" dirty="0"/>
              <a:t>AWS</a:t>
            </a:r>
            <a:r>
              <a:rPr lang="ja-JP" altLang="en-US" dirty="0"/>
              <a:t>に置くと想定）に置き、</a:t>
            </a:r>
            <a:r>
              <a:rPr lang="en-US" altLang="ja-JP" dirty="0"/>
              <a:t>AWS</a:t>
            </a:r>
            <a:r>
              <a:rPr lang="ja-JP" altLang="en-US" dirty="0"/>
              <a:t>のリージョン・</a:t>
            </a:r>
            <a:r>
              <a:rPr lang="ja-JP" altLang="en-US" sz="1600" dirty="0"/>
              <a:t>アベイラビリティゾーンを活用した冗長化および、</a:t>
            </a:r>
            <a:r>
              <a:rPr lang="en-US" altLang="ja-JP" sz="1600" dirty="0"/>
              <a:t>EC2</a:t>
            </a:r>
            <a:r>
              <a:rPr lang="ja-JP" altLang="en-US" sz="1600" dirty="0"/>
              <a:t>インスタンスの自動復旧機能を活用</a:t>
            </a:r>
            <a:endParaRPr lang="en-US" altLang="ja-JP" sz="1600" dirty="0"/>
          </a:p>
          <a:p>
            <a:pPr marL="742950" lvl="1" indent="-285750" eaLnBrk="0" fontAlgn="base" hangingPunct="0">
              <a:spcBef>
                <a:spcPct val="0"/>
              </a:spcBef>
              <a:spcAft>
                <a:spcPct val="0"/>
              </a:spcAft>
              <a:buFont typeface="Arial" panose="020B0604020202020204" pitchFamily="34" charset="0"/>
              <a:buChar char="•"/>
            </a:pPr>
            <a:r>
              <a:rPr lang="ja-JP" altLang="en-US" sz="1400" dirty="0"/>
              <a:t>を活用した冗長化</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a:t>
            </a:r>
            <a:r>
              <a:rPr lang="de-DE" altLang="ja-JP" sz="1400" dirty="0"/>
              <a:t>AZ</a:t>
            </a:r>
            <a:r>
              <a:rPr lang="ja-JP" altLang="en-US" sz="1400" dirty="0"/>
              <a:t>リージョン・アベイラビリティゾーン構成 </a:t>
            </a:r>
            <a:r>
              <a:rPr lang="en-US" altLang="ja-JP" sz="1400" dirty="0"/>
              <a:t>(</a:t>
            </a:r>
            <a:r>
              <a:rPr lang="de-DE" altLang="ja-JP" sz="1400" dirty="0"/>
              <a:t>Multi-AZ)</a:t>
            </a:r>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マルチリージョン構成 </a:t>
            </a:r>
            <a:r>
              <a:rPr lang="en-US" altLang="ja-JP" sz="1400" dirty="0"/>
              <a:t>(Multi-Region)</a:t>
            </a:r>
          </a:p>
          <a:p>
            <a:pPr marL="742950" lvl="1" indent="-285750" eaLnBrk="0" fontAlgn="base" hangingPunct="0">
              <a:spcBef>
                <a:spcPct val="0"/>
              </a:spcBef>
              <a:spcAft>
                <a:spcPct val="0"/>
              </a:spcAft>
              <a:buFont typeface="Arial" panose="020B0604020202020204" pitchFamily="34" charset="0"/>
              <a:buChar char="•"/>
            </a:pPr>
            <a:r>
              <a:rPr lang="en-US" altLang="ja-JP" sz="1400" dirty="0"/>
              <a:t>EC2</a:t>
            </a:r>
            <a:r>
              <a:rPr lang="ja-JP" altLang="en-US" sz="1400" dirty="0"/>
              <a:t>インスタンスの自動復旧機能</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de-DE" altLang="ja-JP" sz="1400" dirty="0"/>
              <a:t>EC2 Auto Recovery</a:t>
            </a:r>
          </a:p>
          <a:p>
            <a:pPr marL="742950" lvl="1" indent="-285750" eaLnBrk="0" fontAlgn="base" hangingPunct="0">
              <a:spcBef>
                <a:spcPct val="0"/>
              </a:spcBef>
              <a:spcAft>
                <a:spcPct val="0"/>
              </a:spcAft>
              <a:buFont typeface="Arial" panose="020B0604020202020204" pitchFamily="34" charset="0"/>
              <a:buChar char="•"/>
            </a:pPr>
            <a:r>
              <a:rPr lang="ja-JP" altLang="en-US" sz="1400" dirty="0"/>
              <a:t>クラスタリングソフトウェアによる高可用性構成</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en-US" altLang="ja-JP" sz="1400" dirty="0"/>
              <a:t>HA</a:t>
            </a:r>
            <a:r>
              <a:rPr lang="ja-JP" altLang="en-US" sz="1400" dirty="0"/>
              <a:t>クラスタリングソフトウェア</a:t>
            </a:r>
            <a:endParaRPr kumimoji="0" lang="en-US" altLang="zh-CN" sz="14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監視: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 BIでパフォーマンスレポート作成。ボトルネック検知のためのログ（Application Insights）。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テスト: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負荷テスト（例: 同時100ユーザーアクセス</a:t>
            </a:r>
            <a:r>
              <a:rPr kumimoji="0" lang="zh-CN" altLang="en-US" sz="1600" dirty="0">
                <a:latin typeface="Arial" panose="020B0604020202020204" pitchFamily="34" charset="0"/>
              </a:rPr>
              <a:t>，</a:t>
            </a:r>
            <a:r>
              <a:rPr kumimoji="0" lang="en-US" altLang="zh-CN" sz="1600" dirty="0">
                <a:latin typeface="Arial" panose="020B0604020202020204" pitchFamily="34" charset="0"/>
              </a:rPr>
              <a:t>Max 20000 </a:t>
            </a:r>
            <a:r>
              <a:rPr kumimoji="0" lang="ja-JP" altLang="en-US" sz="1600" dirty="0">
                <a:latin typeface="Arial" panose="020B0604020202020204" pitchFamily="34" charset="0"/>
              </a:rPr>
              <a:t>ユーザ、</a:t>
            </a:r>
            <a:r>
              <a:rPr kumimoji="0" lang="en-US" altLang="ja-JP" sz="1600" dirty="0">
                <a:latin typeface="Arial" panose="020B0604020202020204" pitchFamily="34" charset="0"/>
              </a:rPr>
              <a:t>10</a:t>
            </a:r>
            <a:r>
              <a:rPr kumimoji="0" lang="ja-JP" altLang="en-US" sz="1600" dirty="0">
                <a:latin typeface="Arial" panose="020B0604020202020204" pitchFamily="34" charset="0"/>
              </a:rPr>
              <a:t>年データ量ベース</a:t>
            </a:r>
            <a:r>
              <a:rPr kumimoji="0" lang="zh-CN" altLang="zh-CN" sz="1600" dirty="0">
                <a:latin typeface="Arial" panose="020B0604020202020204" pitchFamily="34" charset="0"/>
              </a:rPr>
              <a:t>）を実施。 </a:t>
            </a: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10364183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01DB-F78E-1C74-6D66-019A19CB8C7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E59D1AF9-C356-6558-6AF1-F274032D2EE9}"/>
              </a:ext>
            </a:extLst>
          </p:cNvPr>
          <p:cNvSpPr/>
          <p:nvPr/>
        </p:nvSpPr>
        <p:spPr>
          <a:xfrm>
            <a:off x="6255509" y="3510831"/>
            <a:ext cx="3755648" cy="327857"/>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EE89410B-112C-E6D2-BCEA-28AE095B7B36}"/>
              </a:ext>
            </a:extLst>
          </p:cNvPr>
          <p:cNvSpPr>
            <a:spLocks noGrp="1"/>
          </p:cNvSpPr>
          <p:nvPr>
            <p:ph type="title"/>
          </p:nvPr>
        </p:nvSpPr>
        <p:spPr>
          <a:xfrm>
            <a:off x="414336" y="255263"/>
            <a:ext cx="9327072" cy="683629"/>
          </a:xfrm>
        </p:spPr>
        <p:txBody>
          <a:bodyPr>
            <a:normAutofit/>
          </a:bodyPr>
          <a:lstStyle/>
          <a:p>
            <a:r>
              <a:rPr lang="ja-JP" altLang="en-US"/>
              <a:t>実現方法－権限管理</a:t>
            </a:r>
            <a:endParaRPr lang="ja-JP" altLang="en-US">
              <a:effectLst/>
            </a:endParaRPr>
          </a:p>
        </p:txBody>
      </p:sp>
      <p:sp>
        <p:nvSpPr>
          <p:cNvPr id="15" name="テキスト ボックス 14">
            <a:extLst>
              <a:ext uri="{FF2B5EF4-FFF2-40B4-BE49-F238E27FC236}">
                <a16:creationId xmlns:a16="http://schemas.microsoft.com/office/drawing/2014/main" id="{02B498EF-B1F4-2225-C578-0847017838EB}"/>
              </a:ext>
            </a:extLst>
          </p:cNvPr>
          <p:cNvSpPr txBox="1"/>
          <p:nvPr/>
        </p:nvSpPr>
        <p:spPr>
          <a:xfrm>
            <a:off x="323843" y="1372463"/>
            <a:ext cx="5387430" cy="41850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ユーザグループ単位で、画面の</a:t>
            </a:r>
            <a:r>
              <a:rPr kumimoji="0" lang="en-US" altLang="ja-JP" sz="1600" dirty="0">
                <a:latin typeface="Arial" panose="020B0604020202020204" pitchFamily="34" charset="0"/>
              </a:rPr>
              <a:t>CRUD</a:t>
            </a:r>
            <a:r>
              <a:rPr kumimoji="0" lang="ja-JP" altLang="en-US" sz="1600" dirty="0">
                <a:latin typeface="Arial" panose="020B0604020202020204" pitchFamily="34" charset="0"/>
              </a:rPr>
              <a:t>権限の定義可能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データレコード単位で、開示範囲</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（＝参照権限　ユーザ、グループ向け）の定義可能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en-US" altLang="ja-JP" sz="1600" dirty="0">
                <a:latin typeface="Arial" panose="020B0604020202020204" pitchFamily="34" charset="0"/>
              </a:rPr>
              <a:t>PowerApps</a:t>
            </a:r>
            <a:r>
              <a:rPr kumimoji="0" lang="ja-JP" altLang="en-US" sz="1600" dirty="0">
                <a:latin typeface="Arial" panose="020B0604020202020204" pitchFamily="34" charset="0"/>
              </a:rPr>
              <a:t>アクセス可否の権限チェックに関しては、</a:t>
            </a:r>
            <a:r>
              <a:rPr kumimoji="0" lang="en-US" altLang="ja-JP" sz="1600" dirty="0">
                <a:latin typeface="Arial" panose="020B0604020202020204" pitchFamily="34" charset="0"/>
              </a:rPr>
              <a:t>Azure </a:t>
            </a:r>
            <a:r>
              <a:rPr kumimoji="0" lang="ja-JP" altLang="en-US" sz="1600" dirty="0">
                <a:latin typeface="Arial" panose="020B0604020202020204" pitchFamily="34" charset="0"/>
              </a:rPr>
              <a:t>の</a:t>
            </a:r>
            <a:r>
              <a:rPr kumimoji="0" lang="en-US" altLang="ja-JP" sz="1600" dirty="0" err="1">
                <a:latin typeface="Arial" panose="020B0604020202020204" pitchFamily="34" charset="0"/>
              </a:rPr>
              <a:t>SecurityGroup</a:t>
            </a:r>
            <a:r>
              <a:rPr kumimoji="0" lang="ja-JP" altLang="en-US" sz="1600" dirty="0">
                <a:latin typeface="Arial" panose="020B0604020202020204" pitchFamily="34" charset="0"/>
              </a:rPr>
              <a:t>で管理されますが、ユーザグループ・文書単位のアクセス権限は</a:t>
            </a:r>
            <a:r>
              <a:rPr kumimoji="0" lang="en-US" altLang="ja-JP" sz="1600" dirty="0" err="1">
                <a:latin typeface="Arial" panose="020B0604020202020204" pitchFamily="34" charset="0"/>
              </a:rPr>
              <a:t>Sqlserver</a:t>
            </a:r>
            <a:r>
              <a:rPr kumimoji="0" lang="ja-JP" altLang="en-US" sz="1600" dirty="0">
                <a:latin typeface="Arial" panose="020B0604020202020204" pitchFamily="34" charset="0"/>
              </a:rPr>
              <a:t>にて権限管理テーブルを定義し、業務レベルで管理する</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一覧系（検索結果）は、</a:t>
            </a:r>
            <a:r>
              <a:rPr kumimoji="0" lang="en-US" altLang="ja-JP" sz="1400" dirty="0" err="1">
                <a:latin typeface="Arial" panose="020B0604020202020204" pitchFamily="34" charset="0"/>
              </a:rPr>
              <a:t>Sql</a:t>
            </a:r>
            <a:r>
              <a:rPr kumimoji="0" lang="ja-JP" altLang="en-US" sz="1400" dirty="0">
                <a:latin typeface="Arial" panose="020B0604020202020204" pitchFamily="34" charset="0"/>
              </a:rPr>
              <a:t>の</a:t>
            </a:r>
            <a:r>
              <a:rPr kumimoji="0" lang="en-US" altLang="ja-JP" sz="1400" dirty="0">
                <a:latin typeface="Arial" panose="020B0604020202020204" pitchFamily="34" charset="0"/>
              </a:rPr>
              <a:t>Where</a:t>
            </a:r>
            <a:r>
              <a:rPr kumimoji="0" lang="ja-JP" altLang="en-US" sz="1400" dirty="0">
                <a:latin typeface="Arial" panose="020B0604020202020204" pitchFamily="34" charset="0"/>
              </a:rPr>
              <a:t>条件でアクセス可能の文書のみで</a:t>
            </a:r>
            <a:r>
              <a:rPr kumimoji="0" lang="en-US" altLang="ja-JP" sz="1400" dirty="0">
                <a:latin typeface="Arial" panose="020B0604020202020204" pitchFamily="34" charset="0"/>
              </a:rPr>
              <a:t>Filter</a:t>
            </a:r>
            <a:r>
              <a:rPr kumimoji="0" lang="ja-JP" altLang="en-US" sz="1400" dirty="0">
                <a:latin typeface="Arial" panose="020B0604020202020204" pitchFamily="34" charset="0"/>
              </a:rPr>
              <a:t>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文書の詳細画面直接開く場合、カレントログインユーザのアクセス可否を再度判断する（直接</a:t>
            </a:r>
            <a:r>
              <a:rPr kumimoji="0" lang="en-US" altLang="ja-JP" sz="1400" dirty="0" err="1">
                <a:latin typeface="Arial" panose="020B0604020202020204" pitchFamily="34" charset="0"/>
              </a:rPr>
              <a:t>Url</a:t>
            </a:r>
            <a:r>
              <a:rPr kumimoji="0" lang="ja-JP" altLang="en-US" sz="1400" dirty="0">
                <a:latin typeface="Arial" panose="020B0604020202020204" pitchFamily="34" charset="0"/>
              </a:rPr>
              <a:t>修正で不正アクセスを避ける）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en-US" altLang="ja-JP" sz="1400" dirty="0">
                <a:latin typeface="Arial" panose="020B0604020202020204" pitchFamily="34" charset="0"/>
              </a:rPr>
              <a:t>MCC</a:t>
            </a:r>
            <a:r>
              <a:rPr kumimoji="0" lang="ja-JP" altLang="en-US" sz="1400" dirty="0">
                <a:latin typeface="Arial" panose="020B0604020202020204" pitchFamily="34" charset="0"/>
              </a:rPr>
              <a:t>様社内の共通リスト（社員情報マスタ、組織情報マスタ）を利用し、既存資産を活用する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endParaRPr kumimoji="0" lang="en-US" altLang="ja-JP" sz="1400" dirty="0">
              <a:latin typeface="Arial" panose="020B0604020202020204" pitchFamily="34" charset="0"/>
            </a:endParaRPr>
          </a:p>
          <a:p>
            <a:pPr eaLnBrk="0" fontAlgn="base" hangingPunct="0">
              <a:spcBef>
                <a:spcPct val="0"/>
              </a:spcBef>
              <a:spcAft>
                <a:spcPct val="0"/>
              </a:spcAft>
            </a:pPr>
            <a:r>
              <a:rPr kumimoji="0" lang="en-US" altLang="ja-JP" sz="1400" dirty="0">
                <a:latin typeface="Arial" panose="020B0604020202020204" pitchFamily="34" charset="0"/>
              </a:rPr>
              <a:t>※</a:t>
            </a:r>
            <a:r>
              <a:rPr kumimoji="0" lang="ja-JP" altLang="en-US" sz="1400" dirty="0">
                <a:latin typeface="Arial" panose="020B0604020202020204" pitchFamily="34" charset="0"/>
              </a:rPr>
              <a:t>　右側は実現案の一例であり、今回案件の権限管理粒度・組織定義粒度に合わせて構造設計フェーズに、詳細化する予定</a:t>
            </a:r>
            <a:endParaRPr kumimoji="0" lang="en-US" altLang="ja-JP" sz="14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endParaRPr kumimoji="0" lang="en-US" altLang="ja-JP" sz="1600" dirty="0">
              <a:latin typeface="Arial" panose="020B0604020202020204" pitchFamily="34" charset="0"/>
            </a:endParaRPr>
          </a:p>
        </p:txBody>
      </p:sp>
      <p:sp>
        <p:nvSpPr>
          <p:cNvPr id="5" name="四角形: 角を丸くする 4">
            <a:extLst>
              <a:ext uri="{FF2B5EF4-FFF2-40B4-BE49-F238E27FC236}">
                <a16:creationId xmlns:a16="http://schemas.microsoft.com/office/drawing/2014/main" id="{1AA672D6-F0B2-06C5-E074-FAA47A9F8C36}"/>
              </a:ext>
            </a:extLst>
          </p:cNvPr>
          <p:cNvSpPr/>
          <p:nvPr/>
        </p:nvSpPr>
        <p:spPr>
          <a:xfrm>
            <a:off x="6255509" y="2473406"/>
            <a:ext cx="3755648" cy="555998"/>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A4D9608-592D-A0D0-236C-49E91741A46C}"/>
              </a:ext>
            </a:extLst>
          </p:cNvPr>
          <p:cNvSpPr/>
          <p:nvPr/>
        </p:nvSpPr>
        <p:spPr>
          <a:xfrm>
            <a:off x="5750560" y="1833098"/>
            <a:ext cx="822438"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ログイン</a:t>
            </a:r>
            <a:endParaRPr kumimoji="1" lang="en-US" altLang="ja-JP" sz="1100" dirty="0"/>
          </a:p>
          <a:p>
            <a:pPr algn="ctr"/>
            <a:r>
              <a:rPr kumimoji="1" lang="ja-JP" altLang="en-US" sz="1100" dirty="0"/>
              <a:t>ユーザ</a:t>
            </a:r>
          </a:p>
        </p:txBody>
      </p:sp>
      <p:cxnSp>
        <p:nvCxnSpPr>
          <p:cNvPr id="12" name="コネクタ: カギ線 11">
            <a:extLst>
              <a:ext uri="{FF2B5EF4-FFF2-40B4-BE49-F238E27FC236}">
                <a16:creationId xmlns:a16="http://schemas.microsoft.com/office/drawing/2014/main" id="{BD14C8DC-2E0A-3C1D-81E7-1FF2351690F4}"/>
              </a:ext>
            </a:extLst>
          </p:cNvPr>
          <p:cNvCxnSpPr>
            <a:cxnSpLocks/>
            <a:stCxn id="11" idx="2"/>
            <a:endCxn id="16" idx="1"/>
          </p:cNvCxnSpPr>
          <p:nvPr/>
        </p:nvCxnSpPr>
        <p:spPr>
          <a:xfrm rot="16200000" flipH="1">
            <a:off x="5485049" y="2838794"/>
            <a:ext cx="1505873" cy="152412"/>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コネクタ: カギ線 12">
            <a:extLst>
              <a:ext uri="{FF2B5EF4-FFF2-40B4-BE49-F238E27FC236}">
                <a16:creationId xmlns:a16="http://schemas.microsoft.com/office/drawing/2014/main" id="{A782E0F6-5C45-ACD0-E26F-CA67E23DC4A6}"/>
              </a:ext>
            </a:extLst>
          </p:cNvPr>
          <p:cNvCxnSpPr>
            <a:cxnSpLocks/>
            <a:stCxn id="11" idx="2"/>
            <a:endCxn id="14" idx="1"/>
          </p:cNvCxnSpPr>
          <p:nvPr/>
        </p:nvCxnSpPr>
        <p:spPr>
          <a:xfrm rot="16200000" flipH="1">
            <a:off x="5975209" y="2348633"/>
            <a:ext cx="572271" cy="199131"/>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5B68B211-525D-056A-2861-33F9A37C6CF1}"/>
              </a:ext>
            </a:extLst>
          </p:cNvPr>
          <p:cNvSpPr/>
          <p:nvPr/>
        </p:nvSpPr>
        <p:spPr>
          <a:xfrm>
            <a:off x="6360910" y="2555750"/>
            <a:ext cx="922570" cy="357169"/>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所属組織</a:t>
            </a:r>
            <a:r>
              <a:rPr kumimoji="1" lang="en-US" altLang="ja-JP" sz="1100" dirty="0"/>
              <a:t>1</a:t>
            </a:r>
            <a:endParaRPr kumimoji="1" lang="ja-JP" altLang="en-US" sz="1100" dirty="0"/>
          </a:p>
        </p:txBody>
      </p:sp>
      <p:sp>
        <p:nvSpPr>
          <p:cNvPr id="16" name="正方形/長方形 15">
            <a:extLst>
              <a:ext uri="{FF2B5EF4-FFF2-40B4-BE49-F238E27FC236}">
                <a16:creationId xmlns:a16="http://schemas.microsoft.com/office/drawing/2014/main" id="{CAB46639-E831-AFF7-BB98-487F23FAD8BD}"/>
              </a:ext>
            </a:extLst>
          </p:cNvPr>
          <p:cNvSpPr/>
          <p:nvPr/>
        </p:nvSpPr>
        <p:spPr>
          <a:xfrm>
            <a:off x="6314191" y="3547446"/>
            <a:ext cx="922571" cy="240981"/>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t>所属組織</a:t>
            </a:r>
            <a:r>
              <a:rPr kumimoji="1" lang="en-US" altLang="ja-JP" sz="1000"/>
              <a:t>…</a:t>
            </a:r>
            <a:endParaRPr kumimoji="1" lang="ja-JP" altLang="en-US" sz="1000"/>
          </a:p>
        </p:txBody>
      </p:sp>
      <p:sp>
        <p:nvSpPr>
          <p:cNvPr id="17" name="正方形/長方形 16">
            <a:extLst>
              <a:ext uri="{FF2B5EF4-FFF2-40B4-BE49-F238E27FC236}">
                <a16:creationId xmlns:a16="http://schemas.microsoft.com/office/drawing/2014/main" id="{C3894827-A23B-DA4E-B4CF-BE93013E7B43}"/>
              </a:ext>
            </a:extLst>
          </p:cNvPr>
          <p:cNvSpPr/>
          <p:nvPr/>
        </p:nvSpPr>
        <p:spPr>
          <a:xfrm>
            <a:off x="8350034"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800" dirty="0"/>
              <a:t>会社</a:t>
            </a:r>
          </a:p>
        </p:txBody>
      </p:sp>
      <p:sp>
        <p:nvSpPr>
          <p:cNvPr id="20" name="正方形/長方形 19">
            <a:extLst>
              <a:ext uri="{FF2B5EF4-FFF2-40B4-BE49-F238E27FC236}">
                <a16:creationId xmlns:a16="http://schemas.microsoft.com/office/drawing/2014/main" id="{04DEBED6-F9EE-F32D-1F1D-B3CB3FADF42A}"/>
              </a:ext>
            </a:extLst>
          </p:cNvPr>
          <p:cNvSpPr/>
          <p:nvPr/>
        </p:nvSpPr>
        <p:spPr>
          <a:xfrm>
            <a:off x="10113745" y="3650805"/>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solidFill>
              </a:rPr>
              <a:t>所在</a:t>
            </a:r>
            <a:r>
              <a:rPr lang="en-US" altLang="ja-JP" sz="900">
                <a:solidFill>
                  <a:schemeClr val="tx1"/>
                </a:solidFill>
              </a:rPr>
              <a:t>Region</a:t>
            </a:r>
            <a:endParaRPr kumimoji="1" lang="ja-JP" altLang="en-US" sz="900">
              <a:solidFill>
                <a:schemeClr val="tx1"/>
              </a:solidFill>
            </a:endParaRPr>
          </a:p>
        </p:txBody>
      </p:sp>
      <p:cxnSp>
        <p:nvCxnSpPr>
          <p:cNvPr id="24" name="直線矢印コネクタ 23">
            <a:extLst>
              <a:ext uri="{FF2B5EF4-FFF2-40B4-BE49-F238E27FC236}">
                <a16:creationId xmlns:a16="http://schemas.microsoft.com/office/drawing/2014/main" id="{0E38EFED-628D-DB9A-617B-F8BFB4976A16}"/>
              </a:ext>
            </a:extLst>
          </p:cNvPr>
          <p:cNvCxnSpPr>
            <a:cxnSpLocks/>
            <a:stCxn id="14" idx="3"/>
            <a:endCxn id="46" idx="1"/>
          </p:cNvCxnSpPr>
          <p:nvPr/>
        </p:nvCxnSpPr>
        <p:spPr>
          <a:xfrm flipV="1">
            <a:off x="7283480" y="2734334"/>
            <a:ext cx="250962" cy="1"/>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D0B6EA49-2C8A-9792-0C7F-22F7458C019C}"/>
              </a:ext>
            </a:extLst>
          </p:cNvPr>
          <p:cNvSpPr/>
          <p:nvPr/>
        </p:nvSpPr>
        <p:spPr>
          <a:xfrm>
            <a:off x="7553447" y="3547446"/>
            <a:ext cx="1104499" cy="240519"/>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a:t>上層組織</a:t>
            </a:r>
            <a:r>
              <a:rPr kumimoji="1" lang="en-US" altLang="ja-JP" sz="1000"/>
              <a:t>…</a:t>
            </a:r>
            <a:endParaRPr kumimoji="1" lang="ja-JP" altLang="en-US" sz="1000"/>
          </a:p>
        </p:txBody>
      </p:sp>
      <p:cxnSp>
        <p:nvCxnSpPr>
          <p:cNvPr id="27" name="直線矢印コネクタ 26">
            <a:extLst>
              <a:ext uri="{FF2B5EF4-FFF2-40B4-BE49-F238E27FC236}">
                <a16:creationId xmlns:a16="http://schemas.microsoft.com/office/drawing/2014/main" id="{3CABEEC2-A03B-274B-984E-ABBAA068E67F}"/>
              </a:ext>
            </a:extLst>
          </p:cNvPr>
          <p:cNvCxnSpPr>
            <a:cxnSpLocks/>
            <a:stCxn id="16" idx="3"/>
            <a:endCxn id="26" idx="1"/>
          </p:cNvCxnSpPr>
          <p:nvPr/>
        </p:nvCxnSpPr>
        <p:spPr>
          <a:xfrm flipV="1">
            <a:off x="7236762" y="3667706"/>
            <a:ext cx="316685" cy="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7AA3F69-2D9E-135E-ECB7-B9B46086609F}"/>
              </a:ext>
            </a:extLst>
          </p:cNvPr>
          <p:cNvCxnSpPr>
            <a:cxnSpLocks/>
            <a:endCxn id="20" idx="3"/>
          </p:cNvCxnSpPr>
          <p:nvPr/>
        </p:nvCxnSpPr>
        <p:spPr>
          <a:xfrm rot="5400000">
            <a:off x="10402944" y="2554952"/>
            <a:ext cx="2180445" cy="340227"/>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正方形/長方形 37">
            <a:extLst>
              <a:ext uri="{FF2B5EF4-FFF2-40B4-BE49-F238E27FC236}">
                <a16:creationId xmlns:a16="http://schemas.microsoft.com/office/drawing/2014/main" id="{4DD30B5E-0549-2772-C783-F7A436306ACD}"/>
              </a:ext>
            </a:extLst>
          </p:cNvPr>
          <p:cNvSpPr/>
          <p:nvPr/>
        </p:nvSpPr>
        <p:spPr>
          <a:xfrm>
            <a:off x="9417521" y="2570960"/>
            <a:ext cx="500435" cy="326748"/>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900"/>
              <a:t>Region</a:t>
            </a:r>
            <a:endParaRPr kumimoji="1" lang="ja-JP" altLang="en-US" sz="900"/>
          </a:p>
        </p:txBody>
      </p:sp>
      <p:sp>
        <p:nvSpPr>
          <p:cNvPr id="44" name="四角形: 角を丸くする 43">
            <a:extLst>
              <a:ext uri="{FF2B5EF4-FFF2-40B4-BE49-F238E27FC236}">
                <a16:creationId xmlns:a16="http://schemas.microsoft.com/office/drawing/2014/main" id="{530D69C4-7E88-36A1-52AE-45599512510C}"/>
              </a:ext>
            </a:extLst>
          </p:cNvPr>
          <p:cNvSpPr/>
          <p:nvPr/>
        </p:nvSpPr>
        <p:spPr>
          <a:xfrm>
            <a:off x="10113744" y="2107402"/>
            <a:ext cx="1209307" cy="406333"/>
          </a:xfrm>
          <a:prstGeom prst="roundRect">
            <a:avLst>
              <a:gd name="adj" fmla="val 6244"/>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36000" tIns="45720" rIns="36000" bIns="45720" rtlCol="0" anchor="ctr"/>
          <a:lstStyle/>
          <a:p>
            <a:pPr algn="ctr"/>
            <a:r>
              <a:rPr kumimoji="1" lang="en-US" altLang="ja-JP" sz="900" dirty="0">
                <a:solidFill>
                  <a:schemeClr val="tx1"/>
                </a:solidFill>
              </a:rPr>
              <a:t>閲覧可能部署</a:t>
            </a:r>
            <a:r>
              <a:rPr kumimoji="1" lang="en-US" altLang="ja-JP" sz="800" dirty="0">
                <a:solidFill>
                  <a:schemeClr val="tx1"/>
                </a:solidFill>
              </a:rPr>
              <a:t>１～１０</a:t>
            </a:r>
            <a:r>
              <a:rPr kumimoji="1" lang="ja-JP" altLang="en-US" sz="800" dirty="0">
                <a:solidFill>
                  <a:schemeClr val="tx1"/>
                </a:solidFill>
              </a:rPr>
              <a:t>（組織＋個人</a:t>
            </a:r>
            <a:r>
              <a:rPr kumimoji="1" lang="en-US" altLang="ja-JP" sz="800" dirty="0">
                <a:solidFill>
                  <a:schemeClr val="tx1"/>
                </a:solidFill>
              </a:rPr>
              <a:t>Max10</a:t>
            </a:r>
            <a:r>
              <a:rPr kumimoji="1" lang="ja-JP" altLang="en-US" sz="800" dirty="0">
                <a:solidFill>
                  <a:schemeClr val="tx1"/>
                </a:solidFill>
              </a:rPr>
              <a:t>件、自由に選べる）</a:t>
            </a:r>
            <a:endParaRPr kumimoji="1" lang="en-US" altLang="ja-JP" sz="800" dirty="0">
              <a:solidFill>
                <a:schemeClr val="tx1"/>
              </a:solidFill>
            </a:endParaRPr>
          </a:p>
        </p:txBody>
      </p:sp>
      <p:sp>
        <p:nvSpPr>
          <p:cNvPr id="45" name="正方形/長方形 44">
            <a:extLst>
              <a:ext uri="{FF2B5EF4-FFF2-40B4-BE49-F238E27FC236}">
                <a16:creationId xmlns:a16="http://schemas.microsoft.com/office/drawing/2014/main" id="{E6FEA6AF-4EEE-7B75-04CD-3B8EEEF0C9F2}"/>
              </a:ext>
            </a:extLst>
          </p:cNvPr>
          <p:cNvSpPr/>
          <p:nvPr/>
        </p:nvSpPr>
        <p:spPr>
          <a:xfrm>
            <a:off x="10113744" y="2643513"/>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kumimoji="1" lang="ja-JP" altLang="en-US" sz="900">
                <a:solidFill>
                  <a:srgbClr val="C00000"/>
                </a:solidFill>
              </a:rPr>
              <a:t>資産所管部署</a:t>
            </a:r>
            <a:r>
              <a:rPr kumimoji="1" lang="en-US" altLang="ja-JP" sz="900">
                <a:solidFill>
                  <a:srgbClr val="C00000"/>
                </a:solidFill>
              </a:rPr>
              <a:t>/</a:t>
            </a:r>
            <a:r>
              <a:rPr kumimoji="1" lang="ja-JP" altLang="en-US" sz="900">
                <a:solidFill>
                  <a:srgbClr val="C00000"/>
                </a:solidFill>
              </a:rPr>
              <a:t>所属組織</a:t>
            </a:r>
          </a:p>
        </p:txBody>
      </p:sp>
      <p:sp>
        <p:nvSpPr>
          <p:cNvPr id="46" name="正方形/長方形 45">
            <a:extLst>
              <a:ext uri="{FF2B5EF4-FFF2-40B4-BE49-F238E27FC236}">
                <a16:creationId xmlns:a16="http://schemas.microsoft.com/office/drawing/2014/main" id="{EC6CED23-F7BC-30E4-3B1F-C602B511CEDC}"/>
              </a:ext>
            </a:extLst>
          </p:cNvPr>
          <p:cNvSpPr/>
          <p:nvPr/>
        </p:nvSpPr>
        <p:spPr>
          <a:xfrm>
            <a:off x="7534442" y="2569851"/>
            <a:ext cx="697070" cy="328966"/>
          </a:xfrm>
          <a:prstGeom prst="rect">
            <a:avLst/>
          </a:prstGeom>
          <a:solidFill>
            <a:srgbClr val="0070C0"/>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t>上層組織</a:t>
            </a:r>
          </a:p>
        </p:txBody>
      </p:sp>
      <p:cxnSp>
        <p:nvCxnSpPr>
          <p:cNvPr id="47" name="直線矢印コネクタ 46">
            <a:extLst>
              <a:ext uri="{FF2B5EF4-FFF2-40B4-BE49-F238E27FC236}">
                <a16:creationId xmlns:a16="http://schemas.microsoft.com/office/drawing/2014/main" id="{41F0A441-D6B3-1E7C-E255-9DE552C0FCBC}"/>
              </a:ext>
            </a:extLst>
          </p:cNvPr>
          <p:cNvCxnSpPr>
            <a:cxnSpLocks/>
            <a:stCxn id="46" idx="3"/>
            <a:endCxn id="17" idx="1"/>
          </p:cNvCxnSpPr>
          <p:nvPr/>
        </p:nvCxnSpPr>
        <p:spPr>
          <a:xfrm>
            <a:off x="8231512" y="2734334"/>
            <a:ext cx="118522" cy="0"/>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フローチャート: 判断 48">
            <a:extLst>
              <a:ext uri="{FF2B5EF4-FFF2-40B4-BE49-F238E27FC236}">
                <a16:creationId xmlns:a16="http://schemas.microsoft.com/office/drawing/2014/main" id="{EE60524B-0CCC-FEBE-6FD6-D0F928713507}"/>
              </a:ext>
            </a:extLst>
          </p:cNvPr>
          <p:cNvSpPr/>
          <p:nvPr/>
        </p:nvSpPr>
        <p:spPr>
          <a:xfrm>
            <a:off x="10347491" y="293134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フローチャート: 判断 49">
            <a:extLst>
              <a:ext uri="{FF2B5EF4-FFF2-40B4-BE49-F238E27FC236}">
                <a16:creationId xmlns:a16="http://schemas.microsoft.com/office/drawing/2014/main" id="{16653730-F6C8-8751-E0DF-998E40F59AAB}"/>
              </a:ext>
            </a:extLst>
          </p:cNvPr>
          <p:cNvSpPr/>
          <p:nvPr/>
        </p:nvSpPr>
        <p:spPr>
          <a:xfrm>
            <a:off x="8963349" y="2889127"/>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カギ線 50">
            <a:extLst>
              <a:ext uri="{FF2B5EF4-FFF2-40B4-BE49-F238E27FC236}">
                <a16:creationId xmlns:a16="http://schemas.microsoft.com/office/drawing/2014/main" id="{92A0E86C-E7A9-FC77-CCBD-FA0EC3DC7C10}"/>
              </a:ext>
            </a:extLst>
          </p:cNvPr>
          <p:cNvCxnSpPr>
            <a:cxnSpLocks/>
            <a:stCxn id="17" idx="2"/>
            <a:endCxn id="52" idx="1"/>
          </p:cNvCxnSpPr>
          <p:nvPr/>
        </p:nvCxnSpPr>
        <p:spPr>
          <a:xfrm rot="16200000" flipH="1">
            <a:off x="9112703" y="2361401"/>
            <a:ext cx="463625" cy="153845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D662F548-8B86-0E9E-E1C9-8A96C10EB01F}"/>
              </a:ext>
            </a:extLst>
          </p:cNvPr>
          <p:cNvSpPr/>
          <p:nvPr/>
        </p:nvSpPr>
        <p:spPr>
          <a:xfrm>
            <a:off x="10113743" y="3197959"/>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a:solidFill>
                  <a:schemeClr val="tx1"/>
                </a:solidFill>
              </a:rPr>
              <a:t>所管会社</a:t>
            </a:r>
          </a:p>
        </p:txBody>
      </p:sp>
      <p:cxnSp>
        <p:nvCxnSpPr>
          <p:cNvPr id="53" name="コネクタ: カギ線 52">
            <a:extLst>
              <a:ext uri="{FF2B5EF4-FFF2-40B4-BE49-F238E27FC236}">
                <a16:creationId xmlns:a16="http://schemas.microsoft.com/office/drawing/2014/main" id="{D4DD04CF-007C-BB0B-867E-C0F0B17701D3}"/>
              </a:ext>
            </a:extLst>
          </p:cNvPr>
          <p:cNvCxnSpPr>
            <a:cxnSpLocks/>
          </p:cNvCxnSpPr>
          <p:nvPr/>
        </p:nvCxnSpPr>
        <p:spPr>
          <a:xfrm rot="5400000">
            <a:off x="11372100" y="2021172"/>
            <a:ext cx="242131" cy="34022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a16:creationId xmlns:a16="http://schemas.microsoft.com/office/drawing/2014/main" id="{3416140A-749F-5D13-297E-6340A346968E}"/>
              </a:ext>
            </a:extLst>
          </p:cNvPr>
          <p:cNvCxnSpPr>
            <a:cxnSpLocks/>
            <a:endCxn id="45" idx="3"/>
          </p:cNvCxnSpPr>
          <p:nvPr/>
        </p:nvCxnSpPr>
        <p:spPr>
          <a:xfrm rot="5400000">
            <a:off x="10827815" y="1972529"/>
            <a:ext cx="1330703" cy="340230"/>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70EB8F90-FB58-FCB8-BBA3-6D2735C4BEFD}"/>
              </a:ext>
            </a:extLst>
          </p:cNvPr>
          <p:cNvCxnSpPr>
            <a:cxnSpLocks/>
            <a:stCxn id="38" idx="2"/>
            <a:endCxn id="20" idx="1"/>
          </p:cNvCxnSpPr>
          <p:nvPr/>
        </p:nvCxnSpPr>
        <p:spPr>
          <a:xfrm rot="16200000" flipH="1">
            <a:off x="9431952" y="3133495"/>
            <a:ext cx="917580" cy="44600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a16:creationId xmlns:a16="http://schemas.microsoft.com/office/drawing/2014/main" id="{69DE63BD-E101-E351-42C0-2AA4C7F57357}"/>
              </a:ext>
            </a:extLst>
          </p:cNvPr>
          <p:cNvCxnSpPr>
            <a:cxnSpLocks/>
            <a:stCxn id="14" idx="2"/>
            <a:endCxn id="45" idx="2"/>
          </p:cNvCxnSpPr>
          <p:nvPr/>
        </p:nvCxnSpPr>
        <p:spPr>
          <a:xfrm rot="16200000" flipH="1">
            <a:off x="8740516" y="994597"/>
            <a:ext cx="59560" cy="3896203"/>
          </a:xfrm>
          <a:prstGeom prst="bentConnector3">
            <a:avLst>
              <a:gd name="adj1" fmla="val 398519"/>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45D1A259-5C71-9A2C-6D79-E3F3BE3C5364}"/>
              </a:ext>
            </a:extLst>
          </p:cNvPr>
          <p:cNvCxnSpPr>
            <a:cxnSpLocks/>
            <a:stCxn id="11" idx="3"/>
            <a:endCxn id="44" idx="1"/>
          </p:cNvCxnSpPr>
          <p:nvPr/>
        </p:nvCxnSpPr>
        <p:spPr>
          <a:xfrm>
            <a:off x="6572998" y="1997581"/>
            <a:ext cx="3540746" cy="312988"/>
          </a:xfrm>
          <a:prstGeom prst="bentConnector3">
            <a:avLst>
              <a:gd name="adj1" fmla="val 50000"/>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6" name="フローチャート: 判断 65">
            <a:extLst>
              <a:ext uri="{FF2B5EF4-FFF2-40B4-BE49-F238E27FC236}">
                <a16:creationId xmlns:a16="http://schemas.microsoft.com/office/drawing/2014/main" id="{E32CF1ED-7EEE-6893-AFCD-FC8777C4B71D}"/>
              </a:ext>
            </a:extLst>
          </p:cNvPr>
          <p:cNvSpPr/>
          <p:nvPr/>
        </p:nvSpPr>
        <p:spPr>
          <a:xfrm>
            <a:off x="11335139" y="241714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フローチャート: 判断 66">
            <a:extLst>
              <a:ext uri="{FF2B5EF4-FFF2-40B4-BE49-F238E27FC236}">
                <a16:creationId xmlns:a16="http://schemas.microsoft.com/office/drawing/2014/main" id="{ED70F7A5-7229-1569-DB00-373C613BAE62}"/>
              </a:ext>
            </a:extLst>
          </p:cNvPr>
          <p:cNvSpPr/>
          <p:nvPr/>
        </p:nvSpPr>
        <p:spPr>
          <a:xfrm>
            <a:off x="8004971" y="286611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8B259083-EFB8-F443-3BD3-4E8FA61C6DEF}"/>
              </a:ext>
            </a:extLst>
          </p:cNvPr>
          <p:cNvSpPr txBox="1"/>
          <p:nvPr/>
        </p:nvSpPr>
        <p:spPr>
          <a:xfrm>
            <a:off x="9667738" y="1550729"/>
            <a:ext cx="1584462" cy="523220"/>
          </a:xfrm>
          <a:prstGeom prst="rect">
            <a:avLst/>
          </a:prstGeom>
          <a:noFill/>
        </p:spPr>
        <p:txBody>
          <a:bodyPr wrap="square" rtlCol="0">
            <a:spAutoFit/>
          </a:bodyPr>
          <a:lstStyle/>
          <a:p>
            <a:r>
              <a:rPr kumimoji="1" lang="ja-JP" altLang="en-US" sz="700"/>
              <a:t>左記の権限に入れなくとしても、ここに入れば、閲覧可能</a:t>
            </a:r>
            <a:endParaRPr kumimoji="1" lang="en-US" altLang="ja-JP" sz="700"/>
          </a:p>
          <a:p>
            <a:r>
              <a:rPr kumimoji="1" lang="ja-JP" altLang="en-US" sz="700"/>
              <a:t>単位：案件レベル</a:t>
            </a:r>
            <a:endParaRPr kumimoji="1" lang="en-US" altLang="ja-JP" sz="700"/>
          </a:p>
          <a:p>
            <a:r>
              <a:rPr kumimoji="1" lang="ja-JP" altLang="en-US" sz="700"/>
              <a:t>部署＋</a:t>
            </a:r>
            <a:r>
              <a:rPr lang="ja-JP" altLang="en-US" sz="700"/>
              <a:t>個人</a:t>
            </a:r>
            <a:r>
              <a:rPr kumimoji="1" lang="ja-JP" altLang="en-US" sz="700"/>
              <a:t>両方可能</a:t>
            </a:r>
          </a:p>
        </p:txBody>
      </p:sp>
      <p:sp>
        <p:nvSpPr>
          <p:cNvPr id="74" name="フローチャート: 判断 73">
            <a:extLst>
              <a:ext uri="{FF2B5EF4-FFF2-40B4-BE49-F238E27FC236}">
                <a16:creationId xmlns:a16="http://schemas.microsoft.com/office/drawing/2014/main" id="{EF435450-082A-3DD8-D91F-43E83DA2AC5A}"/>
              </a:ext>
            </a:extLst>
          </p:cNvPr>
          <p:cNvSpPr/>
          <p:nvPr/>
        </p:nvSpPr>
        <p:spPr>
          <a:xfrm>
            <a:off x="10045163" y="346403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6" name="コネクタ: カギ線 75">
            <a:extLst>
              <a:ext uri="{FF2B5EF4-FFF2-40B4-BE49-F238E27FC236}">
                <a16:creationId xmlns:a16="http://schemas.microsoft.com/office/drawing/2014/main" id="{B4BCA225-03EB-A7AA-D2A7-1BF84AFD30BF}"/>
              </a:ext>
            </a:extLst>
          </p:cNvPr>
          <p:cNvCxnSpPr>
            <a:cxnSpLocks/>
            <a:stCxn id="96" idx="2"/>
            <a:endCxn id="74" idx="1"/>
          </p:cNvCxnSpPr>
          <p:nvPr/>
        </p:nvCxnSpPr>
        <p:spPr>
          <a:xfrm rot="16200000" flipH="1">
            <a:off x="9288036" y="2730304"/>
            <a:ext cx="588614" cy="925639"/>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78" name="四角形: 角を丸くする 77">
            <a:extLst>
              <a:ext uri="{FF2B5EF4-FFF2-40B4-BE49-F238E27FC236}">
                <a16:creationId xmlns:a16="http://schemas.microsoft.com/office/drawing/2014/main" id="{4FA24DAB-E539-C8E0-D89D-7F6C718DEB22}"/>
              </a:ext>
            </a:extLst>
          </p:cNvPr>
          <p:cNvSpPr/>
          <p:nvPr/>
        </p:nvSpPr>
        <p:spPr>
          <a:xfrm>
            <a:off x="6324838" y="3960929"/>
            <a:ext cx="1429675" cy="240982"/>
          </a:xfrm>
          <a:prstGeom prst="roundRect">
            <a:avLst>
              <a:gd name="adj" fmla="val 10876"/>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t>論理</a:t>
            </a:r>
            <a:r>
              <a:rPr kumimoji="1" lang="en-US" altLang="ja-JP" sz="800" dirty="0"/>
              <a:t>Group</a:t>
            </a:r>
            <a:endParaRPr kumimoji="1" lang="ja-JP" altLang="en-US" sz="800" dirty="0"/>
          </a:p>
        </p:txBody>
      </p:sp>
      <p:sp>
        <p:nvSpPr>
          <p:cNvPr id="79" name="四角形: 角を丸くする 78">
            <a:extLst>
              <a:ext uri="{FF2B5EF4-FFF2-40B4-BE49-F238E27FC236}">
                <a16:creationId xmlns:a16="http://schemas.microsoft.com/office/drawing/2014/main" id="{D732238C-E789-5DE6-3A75-D9CD1C7BCF33}"/>
              </a:ext>
            </a:extLst>
          </p:cNvPr>
          <p:cNvSpPr/>
          <p:nvPr/>
        </p:nvSpPr>
        <p:spPr>
          <a:xfrm>
            <a:off x="6324838" y="4356093"/>
            <a:ext cx="1429675" cy="240982"/>
          </a:xfrm>
          <a:prstGeom prst="roundRect">
            <a:avLst>
              <a:gd name="adj" fmla="val 9139"/>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t>論理</a:t>
            </a:r>
            <a:r>
              <a:rPr lang="en-US" altLang="ja-JP" sz="800" dirty="0"/>
              <a:t>Group…</a:t>
            </a:r>
            <a:endParaRPr kumimoji="1" lang="ja-JP" altLang="en-US" sz="800" dirty="0"/>
          </a:p>
        </p:txBody>
      </p:sp>
      <p:cxnSp>
        <p:nvCxnSpPr>
          <p:cNvPr id="89" name="コネクタ: カギ線 88">
            <a:extLst>
              <a:ext uri="{FF2B5EF4-FFF2-40B4-BE49-F238E27FC236}">
                <a16:creationId xmlns:a16="http://schemas.microsoft.com/office/drawing/2014/main" id="{4CF07558-695C-8533-81A1-C937CB71C526}"/>
              </a:ext>
            </a:extLst>
          </p:cNvPr>
          <p:cNvCxnSpPr>
            <a:cxnSpLocks/>
            <a:stCxn id="11" idx="2"/>
            <a:endCxn id="78" idx="1"/>
          </p:cNvCxnSpPr>
          <p:nvPr/>
        </p:nvCxnSpPr>
        <p:spPr>
          <a:xfrm rot="16200000" flipH="1">
            <a:off x="5283630" y="3040212"/>
            <a:ext cx="1919356"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a16:creationId xmlns:a16="http://schemas.microsoft.com/office/drawing/2014/main" id="{A93256F7-9AED-ED0E-7C82-1CCA7E63DCE9}"/>
              </a:ext>
            </a:extLst>
          </p:cNvPr>
          <p:cNvCxnSpPr>
            <a:cxnSpLocks/>
            <a:stCxn id="11" idx="2"/>
            <a:endCxn id="79" idx="1"/>
          </p:cNvCxnSpPr>
          <p:nvPr/>
        </p:nvCxnSpPr>
        <p:spPr>
          <a:xfrm rot="16200000" flipH="1">
            <a:off x="5086048" y="3237794"/>
            <a:ext cx="2314520"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a16:creationId xmlns:a16="http://schemas.microsoft.com/office/drawing/2014/main" id="{8EF53575-9BC3-F7FA-A5AA-E9C0262A4A1B}"/>
              </a:ext>
            </a:extLst>
          </p:cNvPr>
          <p:cNvSpPr/>
          <p:nvPr/>
        </p:nvSpPr>
        <p:spPr>
          <a:xfrm>
            <a:off x="8894271"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en-US" altLang="ja-JP" sz="800"/>
              <a:t>Country</a:t>
            </a:r>
            <a:endParaRPr kumimoji="1" lang="ja-JP" altLang="en-US" sz="800"/>
          </a:p>
        </p:txBody>
      </p:sp>
      <p:sp>
        <p:nvSpPr>
          <p:cNvPr id="19" name="正方形/長方形 18">
            <a:extLst>
              <a:ext uri="{FF2B5EF4-FFF2-40B4-BE49-F238E27FC236}">
                <a16:creationId xmlns:a16="http://schemas.microsoft.com/office/drawing/2014/main" id="{E02B2916-E4EE-0274-C992-465872467F1D}"/>
              </a:ext>
            </a:extLst>
          </p:cNvPr>
          <p:cNvSpPr/>
          <p:nvPr/>
        </p:nvSpPr>
        <p:spPr>
          <a:xfrm rot="5400000">
            <a:off x="11425607" y="1683788"/>
            <a:ext cx="464082"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a:t>案件</a:t>
            </a:r>
          </a:p>
        </p:txBody>
      </p:sp>
      <p:cxnSp>
        <p:nvCxnSpPr>
          <p:cNvPr id="125" name="コネクタ: カギ線 124">
            <a:extLst>
              <a:ext uri="{FF2B5EF4-FFF2-40B4-BE49-F238E27FC236}">
                <a16:creationId xmlns:a16="http://schemas.microsoft.com/office/drawing/2014/main" id="{C48FAEEC-F773-F443-2D71-D0CD1C8F6A74}"/>
              </a:ext>
            </a:extLst>
          </p:cNvPr>
          <p:cNvCxnSpPr>
            <a:cxnSpLocks/>
            <a:stCxn id="19" idx="3"/>
            <a:endCxn id="52" idx="3"/>
          </p:cNvCxnSpPr>
          <p:nvPr/>
        </p:nvCxnSpPr>
        <p:spPr>
          <a:xfrm rot="5400000">
            <a:off x="10849284" y="2554078"/>
            <a:ext cx="1282130" cy="33459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29" name="コネクタ: カギ線 128">
            <a:extLst>
              <a:ext uri="{FF2B5EF4-FFF2-40B4-BE49-F238E27FC236}">
                <a16:creationId xmlns:a16="http://schemas.microsoft.com/office/drawing/2014/main" id="{1AA3AADB-688E-3A0B-29FA-DFF199D43C87}"/>
              </a:ext>
            </a:extLst>
          </p:cNvPr>
          <p:cNvCxnSpPr>
            <a:cxnSpLocks/>
            <a:stCxn id="46" idx="2"/>
            <a:endCxn id="49" idx="2"/>
          </p:cNvCxnSpPr>
          <p:nvPr/>
        </p:nvCxnSpPr>
        <p:spPr>
          <a:xfrm rot="16200000" flipH="1">
            <a:off x="9087002" y="1694792"/>
            <a:ext cx="79324" cy="2487374"/>
          </a:xfrm>
          <a:prstGeom prst="bentConnector3">
            <a:avLst>
              <a:gd name="adj1" fmla="val 234486"/>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1" name="コネクタ: カギ線 140">
            <a:extLst>
              <a:ext uri="{FF2B5EF4-FFF2-40B4-BE49-F238E27FC236}">
                <a16:creationId xmlns:a16="http://schemas.microsoft.com/office/drawing/2014/main" id="{ECCA0800-2E4A-BF3D-89BC-A710A33839C6}"/>
              </a:ext>
            </a:extLst>
          </p:cNvPr>
          <p:cNvCxnSpPr>
            <a:cxnSpLocks/>
            <a:stCxn id="78" idx="3"/>
            <a:endCxn id="66" idx="3"/>
          </p:cNvCxnSpPr>
          <p:nvPr/>
        </p:nvCxnSpPr>
        <p:spPr>
          <a:xfrm flipV="1">
            <a:off x="7754513" y="2440548"/>
            <a:ext cx="3626345" cy="1640872"/>
          </a:xfrm>
          <a:prstGeom prst="bentConnector3">
            <a:avLst>
              <a:gd name="adj1" fmla="val 11288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5" name="コネクタ: カギ線 144">
            <a:extLst>
              <a:ext uri="{FF2B5EF4-FFF2-40B4-BE49-F238E27FC236}">
                <a16:creationId xmlns:a16="http://schemas.microsoft.com/office/drawing/2014/main" id="{A0658F4B-B290-09E1-7FE0-85D49468283C}"/>
              </a:ext>
            </a:extLst>
          </p:cNvPr>
          <p:cNvCxnSpPr>
            <a:cxnSpLocks/>
            <a:stCxn id="79" idx="3"/>
            <a:endCxn id="66" idx="3"/>
          </p:cNvCxnSpPr>
          <p:nvPr/>
        </p:nvCxnSpPr>
        <p:spPr>
          <a:xfrm flipV="1">
            <a:off x="7754513" y="2440548"/>
            <a:ext cx="3626345" cy="2036036"/>
          </a:xfrm>
          <a:prstGeom prst="bentConnector3">
            <a:avLst>
              <a:gd name="adj1" fmla="val 11302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8672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5DAB-BD6C-9B65-4D19-CB71520CCA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3D7936-FDF8-393B-3B57-86566963A85B}"/>
              </a:ext>
            </a:extLst>
          </p:cNvPr>
          <p:cNvSpPr>
            <a:spLocks noGrp="1"/>
          </p:cNvSpPr>
          <p:nvPr>
            <p:ph type="title"/>
          </p:nvPr>
        </p:nvSpPr>
        <p:spPr>
          <a:xfrm>
            <a:off x="414336" y="255263"/>
            <a:ext cx="9327072" cy="683629"/>
          </a:xfrm>
        </p:spPr>
        <p:txBody>
          <a:bodyPr>
            <a:normAutofit/>
          </a:bodyPr>
          <a:lstStyle/>
          <a:p>
            <a:r>
              <a:rPr lang="ja-JP" altLang="en-US" dirty="0"/>
              <a:t>実現方法－ユーザ別の属性管理（</a:t>
            </a:r>
            <a:r>
              <a:rPr lang="en-US" altLang="ja-JP" dirty="0">
                <a:solidFill>
                  <a:srgbClr val="C00000"/>
                </a:solidFill>
              </a:rPr>
              <a:t>Option</a:t>
            </a:r>
            <a:r>
              <a:rPr lang="ja-JP" altLang="en-US" dirty="0"/>
              <a:t>）</a:t>
            </a:r>
            <a:endParaRPr lang="ja-JP" altLang="en-US" dirty="0">
              <a:effectLst/>
            </a:endParaRPr>
          </a:p>
        </p:txBody>
      </p:sp>
      <p:sp>
        <p:nvSpPr>
          <p:cNvPr id="15" name="テキスト ボックス 14">
            <a:extLst>
              <a:ext uri="{FF2B5EF4-FFF2-40B4-BE49-F238E27FC236}">
                <a16:creationId xmlns:a16="http://schemas.microsoft.com/office/drawing/2014/main" id="{0B7DCF0E-0F5A-21FD-04F1-C9F6A59E73A2}"/>
              </a:ext>
            </a:extLst>
          </p:cNvPr>
          <p:cNvSpPr txBox="1"/>
          <p:nvPr/>
        </p:nvSpPr>
        <p:spPr>
          <a:xfrm>
            <a:off x="414336" y="919625"/>
            <a:ext cx="11490793" cy="5516736"/>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en-US" altLang="ja-JP" dirty="0"/>
              <a:t>i13</a:t>
            </a:r>
            <a:r>
              <a:rPr lang="ja-JP" altLang="en-US" dirty="0"/>
              <a:t>：利用者は必要な項目に応じてビューの設定ができること。</a:t>
            </a:r>
          </a:p>
          <a:p>
            <a:r>
              <a:rPr lang="ja-JP" altLang="en-US" dirty="0"/>
              <a:t>実現方法：</a:t>
            </a:r>
            <a:endParaRPr lang="en-US" altLang="ja-JP" dirty="0"/>
          </a:p>
          <a:p>
            <a:pPr marL="285750" indent="-285750">
              <a:buFont typeface="Arial" panose="020B0604020202020204" pitchFamily="34" charset="0"/>
              <a:buChar char="•"/>
            </a:pPr>
            <a:r>
              <a:rPr lang="en-US" altLang="ja-JP" dirty="0"/>
              <a:t>Grid</a:t>
            </a:r>
            <a:r>
              <a:rPr lang="ja-JP" altLang="en-US" dirty="0"/>
              <a:t>形式の列の表示／非表示</a:t>
            </a:r>
            <a:r>
              <a:rPr lang="zh-CN" altLang="en-US" dirty="0"/>
              <a:t>，</a:t>
            </a:r>
            <a:r>
              <a:rPr lang="ja-JP" altLang="en-US" dirty="0"/>
              <a:t>表示順、幅情報が設定すること</a:t>
            </a:r>
            <a:endParaRPr lang="en-US" altLang="ja-JP" dirty="0"/>
          </a:p>
          <a:p>
            <a:pPr marL="285750" indent="-285750">
              <a:buFont typeface="Arial" panose="020B0604020202020204" pitchFamily="34" charset="0"/>
              <a:buChar char="•"/>
            </a:pPr>
            <a:r>
              <a:rPr lang="en-US" altLang="ja-JP" dirty="0"/>
              <a:t>Grid</a:t>
            </a:r>
            <a:r>
              <a:rPr lang="ja-JP" altLang="en-US" dirty="0"/>
              <a:t>ロード時、表示順、表示要否、幅は</a:t>
            </a:r>
            <a:r>
              <a:rPr lang="de-DE" altLang="ja-JP" dirty="0"/>
              <a:t>Tbl_UserProperityes</a:t>
            </a:r>
            <a:r>
              <a:rPr lang="ja-JP" altLang="en-US" dirty="0"/>
              <a:t> </a:t>
            </a:r>
            <a:r>
              <a:rPr lang="en-US" altLang="ja-JP" dirty="0"/>
              <a:t>Table</a:t>
            </a:r>
            <a:r>
              <a:rPr lang="ja-JP" altLang="en-US" dirty="0"/>
              <a:t>から取得し、動的に設定すること</a:t>
            </a:r>
            <a:endParaRPr lang="en-US" altLang="ja-JP" dirty="0"/>
          </a:p>
          <a:p>
            <a:pPr marL="285750" indent="-285750">
              <a:buFont typeface="Arial" panose="020B0604020202020204" pitchFamily="34" charset="0"/>
              <a:buChar char="•"/>
            </a:pPr>
            <a:r>
              <a:rPr lang="ja-JP" altLang="en-US" dirty="0"/>
              <a:t>ユーザは画面</a:t>
            </a:r>
            <a:r>
              <a:rPr lang="en-US" altLang="ja-JP" dirty="0"/>
              <a:t>Grid</a:t>
            </a:r>
            <a:r>
              <a:rPr lang="ja-JP" altLang="en-US" dirty="0"/>
              <a:t>毎に独自設定すること</a:t>
            </a:r>
          </a:p>
        </p:txBody>
      </p:sp>
      <p:pic>
        <p:nvPicPr>
          <p:cNvPr id="3074" name="Picture 2" descr="Data Table Icons - Free SVG &amp; PNG Data Table Images - Noun Project">
            <a:extLst>
              <a:ext uri="{FF2B5EF4-FFF2-40B4-BE49-F238E27FC236}">
                <a16:creationId xmlns:a16="http://schemas.microsoft.com/office/drawing/2014/main" id="{69C2C21A-FBE3-FD84-F152-E3DD72F198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51" y="2937002"/>
            <a:ext cx="3121660" cy="312166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表 3">
            <a:extLst>
              <a:ext uri="{FF2B5EF4-FFF2-40B4-BE49-F238E27FC236}">
                <a16:creationId xmlns:a16="http://schemas.microsoft.com/office/drawing/2014/main" id="{2C2FB96B-DE0C-9C92-17C6-D0135DE54BCB}"/>
              </a:ext>
            </a:extLst>
          </p:cNvPr>
          <p:cNvGraphicFramePr>
            <a:graphicFrameLocks noGrp="1"/>
          </p:cNvGraphicFramePr>
          <p:nvPr/>
        </p:nvGraphicFramePr>
        <p:xfrm>
          <a:off x="3797761" y="2856185"/>
          <a:ext cx="8107370" cy="3474720"/>
        </p:xfrm>
        <a:graphic>
          <a:graphicData uri="http://schemas.openxmlformats.org/drawingml/2006/table">
            <a:tbl>
              <a:tblPr firstRow="1" bandRow="1">
                <a:tableStyleId>{5C22544A-7EE6-4342-B048-85BDC9FD1C3A}</a:tableStyleId>
              </a:tblPr>
              <a:tblGrid>
                <a:gridCol w="1098160">
                  <a:extLst>
                    <a:ext uri="{9D8B030D-6E8A-4147-A177-3AD203B41FA5}">
                      <a16:colId xmlns:a16="http://schemas.microsoft.com/office/drawing/2014/main" val="2397676565"/>
                    </a:ext>
                  </a:extLst>
                </a:gridCol>
                <a:gridCol w="703477">
                  <a:extLst>
                    <a:ext uri="{9D8B030D-6E8A-4147-A177-3AD203B41FA5}">
                      <a16:colId xmlns:a16="http://schemas.microsoft.com/office/drawing/2014/main" val="671841962"/>
                    </a:ext>
                  </a:extLst>
                </a:gridCol>
                <a:gridCol w="900819">
                  <a:extLst>
                    <a:ext uri="{9D8B030D-6E8A-4147-A177-3AD203B41FA5}">
                      <a16:colId xmlns:a16="http://schemas.microsoft.com/office/drawing/2014/main" val="1281376549"/>
                    </a:ext>
                  </a:extLst>
                </a:gridCol>
                <a:gridCol w="900819">
                  <a:extLst>
                    <a:ext uri="{9D8B030D-6E8A-4147-A177-3AD203B41FA5}">
                      <a16:colId xmlns:a16="http://schemas.microsoft.com/office/drawing/2014/main" val="130658311"/>
                    </a:ext>
                  </a:extLst>
                </a:gridCol>
                <a:gridCol w="900819">
                  <a:extLst>
                    <a:ext uri="{9D8B030D-6E8A-4147-A177-3AD203B41FA5}">
                      <a16:colId xmlns:a16="http://schemas.microsoft.com/office/drawing/2014/main" val="3799252065"/>
                    </a:ext>
                  </a:extLst>
                </a:gridCol>
                <a:gridCol w="900819">
                  <a:extLst>
                    <a:ext uri="{9D8B030D-6E8A-4147-A177-3AD203B41FA5}">
                      <a16:colId xmlns:a16="http://schemas.microsoft.com/office/drawing/2014/main" val="1727719180"/>
                    </a:ext>
                  </a:extLst>
                </a:gridCol>
                <a:gridCol w="900819">
                  <a:extLst>
                    <a:ext uri="{9D8B030D-6E8A-4147-A177-3AD203B41FA5}">
                      <a16:colId xmlns:a16="http://schemas.microsoft.com/office/drawing/2014/main" val="3380522917"/>
                    </a:ext>
                  </a:extLst>
                </a:gridCol>
                <a:gridCol w="900819">
                  <a:extLst>
                    <a:ext uri="{9D8B030D-6E8A-4147-A177-3AD203B41FA5}">
                      <a16:colId xmlns:a16="http://schemas.microsoft.com/office/drawing/2014/main" val="2870809028"/>
                    </a:ext>
                  </a:extLst>
                </a:gridCol>
                <a:gridCol w="900819">
                  <a:extLst>
                    <a:ext uri="{9D8B030D-6E8A-4147-A177-3AD203B41FA5}">
                      <a16:colId xmlns:a16="http://schemas.microsoft.com/office/drawing/2014/main" val="1057143928"/>
                    </a:ext>
                  </a:extLst>
                </a:gridCol>
              </a:tblGrid>
              <a:tr h="157480">
                <a:tc>
                  <a:txBody>
                    <a:bodyPr/>
                    <a:lstStyle/>
                    <a:p>
                      <a:r>
                        <a:rPr kumimoji="1" lang="en-US" altLang="ja-JP" sz="1200" dirty="0" err="1"/>
                        <a:t>userid</a:t>
                      </a:r>
                      <a:endParaRPr kumimoji="1" lang="ja-JP" altLang="en-US" sz="1200" dirty="0"/>
                    </a:p>
                  </a:txBody>
                  <a:tcPr/>
                </a:tc>
                <a:tc>
                  <a:txBody>
                    <a:bodyPr/>
                    <a:lstStyle/>
                    <a:p>
                      <a:r>
                        <a:rPr kumimoji="1" lang="en-US" altLang="ja-JP" sz="1200" dirty="0"/>
                        <a:t>screen</a:t>
                      </a:r>
                      <a:endParaRPr kumimoji="1" lang="ja-JP" altLang="en-US" sz="1200" dirty="0"/>
                    </a:p>
                  </a:txBody>
                  <a:tcPr/>
                </a:tc>
                <a:tc>
                  <a:txBody>
                    <a:bodyPr/>
                    <a:lstStyle/>
                    <a:p>
                      <a:r>
                        <a:rPr kumimoji="1" lang="en-US" altLang="ja-JP" sz="1200" dirty="0" err="1"/>
                        <a:t>Gridid</a:t>
                      </a:r>
                      <a:endParaRPr kumimoji="1" lang="ja-JP" altLang="en-US" sz="1200" dirty="0"/>
                    </a:p>
                  </a:txBody>
                  <a:tcPr/>
                </a:tc>
                <a:tc>
                  <a:txBody>
                    <a:bodyPr/>
                    <a:lstStyle/>
                    <a:p>
                      <a:r>
                        <a:rPr kumimoji="1" lang="en-US" altLang="ja-JP" sz="1200" dirty="0"/>
                        <a:t>Col num</a:t>
                      </a:r>
                      <a:endParaRPr kumimoji="1" lang="ja-JP" altLang="en-US" sz="1200" dirty="0"/>
                    </a:p>
                  </a:txBody>
                  <a:tcPr/>
                </a:tc>
                <a:tc>
                  <a:txBody>
                    <a:bodyPr/>
                    <a:lstStyle/>
                    <a:p>
                      <a:r>
                        <a:rPr kumimoji="1" lang="en-US" altLang="ja-JP" sz="1200" dirty="0"/>
                        <a:t>Col Name</a:t>
                      </a:r>
                      <a:endParaRPr kumimoji="1" lang="ja-JP" altLang="en-US" sz="1200" dirty="0"/>
                    </a:p>
                  </a:txBody>
                  <a:tcPr/>
                </a:tc>
                <a:tc>
                  <a:txBody>
                    <a:bodyPr/>
                    <a:lstStyle/>
                    <a:p>
                      <a:r>
                        <a:rPr kumimoji="1" lang="en-US" altLang="ja-JP" sz="1200" dirty="0" err="1"/>
                        <a:t>Colwidth</a:t>
                      </a:r>
                      <a:endParaRPr kumimoji="1" lang="ja-JP" altLang="en-US" sz="1200" dirty="0"/>
                    </a:p>
                  </a:txBody>
                  <a:tcPr/>
                </a:tc>
                <a:tc>
                  <a:txBody>
                    <a:bodyPr/>
                    <a:lstStyle/>
                    <a:p>
                      <a:r>
                        <a:rPr kumimoji="1" lang="en-US" altLang="ja-JP" sz="1200" err="1"/>
                        <a:t>DispNum</a:t>
                      </a:r>
                      <a:endParaRPr kumimoji="1" lang="ja-JP" altLang="en-US" sz="1200"/>
                    </a:p>
                  </a:txBody>
                  <a:tcPr/>
                </a:tc>
                <a:tc>
                  <a:txBody>
                    <a:bodyPr/>
                    <a:lstStyle/>
                    <a:p>
                      <a:r>
                        <a:rPr kumimoji="1" lang="en-US" altLang="ja-JP" sz="1200" dirty="0" err="1"/>
                        <a:t>Colvisible</a:t>
                      </a:r>
                      <a:endParaRPr kumimoji="1" lang="ja-JP" altLang="en-US" sz="1200" dirty="0"/>
                    </a:p>
                  </a:txBody>
                  <a:tcPr/>
                </a:tc>
                <a:tc>
                  <a:txBody>
                    <a:bodyPr/>
                    <a:lstStyle/>
                    <a:p>
                      <a:r>
                        <a:rPr kumimoji="1" lang="en-US" altLang="ja-JP" sz="1200"/>
                        <a:t>…</a:t>
                      </a:r>
                      <a:endParaRPr kumimoji="1" lang="ja-JP" altLang="en-US" sz="1200"/>
                    </a:p>
                  </a:txBody>
                  <a:tcPr/>
                </a:tc>
                <a:extLst>
                  <a:ext uri="{0D108BD9-81ED-4DB2-BD59-A6C34878D82A}">
                    <a16:rowId xmlns:a16="http://schemas.microsoft.com/office/drawing/2014/main" val="3090158873"/>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dirty="0"/>
                        <a:t>XXX1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ID</a:t>
                      </a:r>
                      <a:endParaRPr kumimoji="1" lang="ja-JP" altLang="en-US" sz="1200" dirty="0"/>
                    </a:p>
                  </a:txBody>
                  <a:tcPr/>
                </a:tc>
                <a:tc>
                  <a:txBody>
                    <a:bodyPr/>
                    <a:lstStyle/>
                    <a:p>
                      <a:r>
                        <a:rPr kumimoji="1" lang="en-US" altLang="ja-JP" sz="1200" dirty="0"/>
                        <a:t>150</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3980125211"/>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a:t>name</a:t>
                      </a:r>
                      <a:endParaRPr kumimoji="1" lang="ja-JP" altLang="en-US" sz="120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2054722717"/>
                  </a:ext>
                </a:extLst>
              </a:tr>
              <a:tr h="157480">
                <a:tc>
                  <a:txBody>
                    <a:bodyPr/>
                    <a:lstStyle/>
                    <a:p>
                      <a:r>
                        <a:rPr kumimoji="1" lang="en-US" altLang="ja-JP" sz="1200" err="1"/>
                        <a:t>xxx@mchcgr</a:t>
                      </a:r>
                      <a:endParaRPr kumimoji="1" lang="ja-JP" altLang="en-US" sz="120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email</a:t>
                      </a:r>
                      <a:endParaRPr kumimoji="1" lang="ja-JP" altLang="en-US" sz="1200" dirty="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dirty="0"/>
                        <a:t>…</a:t>
                      </a:r>
                      <a:endParaRPr kumimoji="1" lang="ja-JP" altLang="en-US" sz="1200" dirty="0"/>
                    </a:p>
                  </a:txBody>
                  <a:tcPr/>
                </a:tc>
                <a:extLst>
                  <a:ext uri="{0D108BD9-81ED-4DB2-BD59-A6C34878D82A}">
                    <a16:rowId xmlns:a16="http://schemas.microsoft.com/office/drawing/2014/main" val="4132914302"/>
                  </a:ext>
                </a:extLst>
              </a:tr>
              <a:tr h="157480">
                <a:tc>
                  <a:txBody>
                    <a:bodyPr/>
                    <a:lstStyle/>
                    <a:p>
                      <a:r>
                        <a:rPr kumimoji="1" lang="en-US" altLang="ja-JP" sz="1200"/>
                        <a:t>….</a:t>
                      </a:r>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extLst>
                  <a:ext uri="{0D108BD9-81ED-4DB2-BD59-A6C34878D82A}">
                    <a16:rowId xmlns:a16="http://schemas.microsoft.com/office/drawing/2014/main" val="463137258"/>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50397744"/>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345905539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02297135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4249636636"/>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1181908287"/>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24555285"/>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225539358"/>
                  </a:ext>
                </a:extLst>
              </a:tr>
            </a:tbl>
          </a:graphicData>
        </a:graphic>
      </p:graphicFrame>
      <p:sp>
        <p:nvSpPr>
          <p:cNvPr id="5" name="テキスト ボックス 4">
            <a:extLst>
              <a:ext uri="{FF2B5EF4-FFF2-40B4-BE49-F238E27FC236}">
                <a16:creationId xmlns:a16="http://schemas.microsoft.com/office/drawing/2014/main" id="{01FA78C4-913A-14F0-0FF4-E29DBB57B11E}"/>
              </a:ext>
            </a:extLst>
          </p:cNvPr>
          <p:cNvSpPr txBox="1"/>
          <p:nvPr/>
        </p:nvSpPr>
        <p:spPr>
          <a:xfrm>
            <a:off x="3797761" y="2574913"/>
            <a:ext cx="2778760" cy="276999"/>
          </a:xfrm>
          <a:prstGeom prst="rect">
            <a:avLst/>
          </a:prstGeom>
          <a:noFill/>
        </p:spPr>
        <p:txBody>
          <a:bodyPr wrap="square" rtlCol="0">
            <a:spAutoFit/>
          </a:bodyPr>
          <a:lstStyle/>
          <a:p>
            <a:r>
              <a:rPr kumimoji="1" lang="en-US" altLang="ja-JP" sz="1200" b="1" dirty="0" err="1"/>
              <a:t>Tbl_UserProperityes</a:t>
            </a:r>
            <a:endParaRPr kumimoji="1" lang="ja-JP" altLang="en-US" sz="1200" b="1" dirty="0"/>
          </a:p>
        </p:txBody>
      </p:sp>
      <p:sp>
        <p:nvSpPr>
          <p:cNvPr id="6" name="矢印: 左右 5">
            <a:extLst>
              <a:ext uri="{FF2B5EF4-FFF2-40B4-BE49-F238E27FC236}">
                <a16:creationId xmlns:a16="http://schemas.microsoft.com/office/drawing/2014/main" id="{EE14C9E7-D89D-ADF6-E1C2-F048F65B1A4D}"/>
              </a:ext>
            </a:extLst>
          </p:cNvPr>
          <p:cNvSpPr/>
          <p:nvPr/>
        </p:nvSpPr>
        <p:spPr>
          <a:xfrm>
            <a:off x="2908761" y="4269231"/>
            <a:ext cx="929640" cy="457201"/>
          </a:xfrm>
          <a:prstGeom prst="leftRightArrow">
            <a:avLst>
              <a:gd name="adj1" fmla="val 50000"/>
              <a:gd name="adj2" fmla="val 3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067950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560" y="3738880"/>
            <a:ext cx="2153920" cy="21539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7392" y="3782060"/>
            <a:ext cx="2067560" cy="2067560"/>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descr="テーブル, カップ が含まれている画像&#10;&#10;AI によって生成されたコンテンツは間違っている可能性があります。">
            <a:extLst>
              <a:ext uri="{FF2B5EF4-FFF2-40B4-BE49-F238E27FC236}">
                <a16:creationId xmlns:a16="http://schemas.microsoft.com/office/drawing/2014/main" id="{578428C1-2427-382C-7EB5-1A479E5041E3}"/>
              </a:ext>
            </a:extLst>
          </p:cNvPr>
          <p:cNvPicPr>
            <a:picLocks noChangeAspect="1"/>
          </p:cNvPicPr>
          <p:nvPr/>
        </p:nvPicPr>
        <p:blipFill>
          <a:blip r:embed="rId5"/>
          <a:stretch>
            <a:fillRect/>
          </a:stretch>
        </p:blipFill>
        <p:spPr>
          <a:xfrm>
            <a:off x="8890002" y="4126051"/>
            <a:ext cx="1711120" cy="1379578"/>
          </a:xfrm>
          <a:prstGeom prst="rect">
            <a:avLst/>
          </a:prstGeom>
        </p:spPr>
      </p:pic>
      <p:sp>
        <p:nvSpPr>
          <p:cNvPr id="8" name="矢印: 右 7">
            <a:extLst>
              <a:ext uri="{FF2B5EF4-FFF2-40B4-BE49-F238E27FC236}">
                <a16:creationId xmlns:a16="http://schemas.microsoft.com/office/drawing/2014/main" id="{F5D5DEDB-13FA-0473-00A7-5A213AA6DA90}"/>
              </a:ext>
            </a:extLst>
          </p:cNvPr>
          <p:cNvSpPr/>
          <p:nvPr/>
        </p:nvSpPr>
        <p:spPr>
          <a:xfrm>
            <a:off x="369824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724916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661160" y="5770880"/>
            <a:ext cx="1442720" cy="369332"/>
          </a:xfrm>
          <a:prstGeom prst="rect">
            <a:avLst/>
          </a:prstGeom>
          <a:noFill/>
        </p:spPr>
        <p:txBody>
          <a:bodyPr wrap="square" rtlCol="0">
            <a:spAutoFit/>
          </a:bodyPr>
          <a:lstStyle/>
          <a:p>
            <a:r>
              <a:rPr kumimoji="1" lang="en-US" altLang="ja-JP"/>
              <a:t>Notes DB</a:t>
            </a:r>
            <a:endParaRPr kumimoji="1" lang="ja-JP" altLang="en-US"/>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3418841" y="5073829"/>
            <a:ext cx="1856328" cy="369332"/>
          </a:xfrm>
          <a:prstGeom prst="rect">
            <a:avLst/>
          </a:prstGeom>
          <a:noFill/>
        </p:spPr>
        <p:txBody>
          <a:bodyPr wrap="square" rtlCol="0">
            <a:spAutoFit/>
          </a:bodyPr>
          <a:lstStyle/>
          <a:p>
            <a:pPr algn="ctr"/>
            <a:r>
              <a:rPr lang="ja-JP" altLang="en-US" dirty="0"/>
              <a:t>エクスポート</a:t>
            </a:r>
            <a:endParaRPr kumimoji="1" lang="ja-JP" altLang="en-US" dirty="0"/>
          </a:p>
        </p:txBody>
      </p:sp>
      <p:sp>
        <p:nvSpPr>
          <p:cNvPr id="12" name="テキスト ボックス 11">
            <a:extLst>
              <a:ext uri="{FF2B5EF4-FFF2-40B4-BE49-F238E27FC236}">
                <a16:creationId xmlns:a16="http://schemas.microsoft.com/office/drawing/2014/main" id="{E5BF868F-AF23-190D-3750-915BFB328F15}"/>
              </a:ext>
            </a:extLst>
          </p:cNvPr>
          <p:cNvSpPr txBox="1"/>
          <p:nvPr/>
        </p:nvSpPr>
        <p:spPr>
          <a:xfrm>
            <a:off x="6995572" y="5070535"/>
            <a:ext cx="1856328" cy="923330"/>
          </a:xfrm>
          <a:prstGeom prst="rect">
            <a:avLst/>
          </a:prstGeom>
          <a:noFill/>
        </p:spPr>
        <p:txBody>
          <a:bodyPr wrap="square" rtlCol="0">
            <a:spAutoFit/>
          </a:bodyPr>
          <a:lstStyle/>
          <a:p>
            <a:pPr algn="ctr"/>
            <a:r>
              <a:rPr kumimoji="1" lang="en-US" altLang="ja-JP" dirty="0"/>
              <a:t>Java/Python/PowerShell</a:t>
            </a:r>
          </a:p>
          <a:p>
            <a:pPr algn="ctr"/>
            <a:r>
              <a:rPr kumimoji="1" lang="ja-JP" altLang="en-US" dirty="0"/>
              <a:t>ツール</a:t>
            </a:r>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Tree>
    <p:extLst>
      <p:ext uri="{BB962C8B-B14F-4D97-AF65-F5344CB8AC3E}">
        <p14:creationId xmlns:p14="http://schemas.microsoft.com/office/powerpoint/2010/main" val="223671005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4216C17B-9ACF-4273-9EF4-F7A543FAF213}">
  <ds:schemaRefs/>
</ds:datastoreItem>
</file>

<file path=customXml/itemProps3.xml><?xml version="1.0" encoding="utf-8"?>
<ds:datastoreItem xmlns:ds="http://schemas.openxmlformats.org/officeDocument/2006/customXml" ds:itemID="{BCB922EE-95E3-497F-8326-C2ABF66A4B77}">
  <ds:schemaRefs/>
</ds:datastoreItem>
</file>

<file path=docProps/app.xml><?xml version="1.0" encoding="utf-8"?>
<Properties xmlns="http://schemas.openxmlformats.org/officeDocument/2006/extended-properties" xmlns:vt="http://schemas.openxmlformats.org/officeDocument/2006/docPropsVTypes">
  <Template>MCG_jp_rev1</Template>
  <TotalTime>5494</TotalTime>
  <Words>14308</Words>
  <Application>Microsoft Office PowerPoint</Application>
  <PresentationFormat>ワイド画面</PresentationFormat>
  <Paragraphs>1694</Paragraphs>
  <Slides>37</Slides>
  <Notes>35</Notes>
  <HiddenSlides>0</HiddenSlides>
  <MMClips>0</MMClips>
  <ScaleCrop>false</ScaleCrop>
  <HeadingPairs>
    <vt:vector size="8" baseType="variant">
      <vt:variant>
        <vt:lpstr>使用されているフォント</vt:lpstr>
      </vt:variant>
      <vt:variant>
        <vt:i4>14</vt:i4>
      </vt:variant>
      <vt:variant>
        <vt:lpstr>テーマ</vt:lpstr>
      </vt:variant>
      <vt:variant>
        <vt:i4>6</vt:i4>
      </vt:variant>
      <vt:variant>
        <vt:lpstr>埋め込まれた OLE サーバー</vt:lpstr>
      </vt:variant>
      <vt:variant>
        <vt:i4>1</vt:i4>
      </vt:variant>
      <vt:variant>
        <vt:lpstr>スライド タイトル</vt:lpstr>
      </vt:variant>
      <vt:variant>
        <vt:i4>37</vt:i4>
      </vt:variant>
    </vt:vector>
  </HeadingPairs>
  <TitlesOfParts>
    <vt:vector size="58" baseType="lpstr">
      <vt:lpstr>Arial Unicode MS</vt:lpstr>
      <vt:lpstr>DengXian 本文</vt: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前書き</vt:lpstr>
      <vt:lpstr>目次</vt:lpstr>
      <vt:lpstr>提案の背景</vt:lpstr>
      <vt:lpstr>システム概要</vt:lpstr>
      <vt:lpstr>ストレージの選定</vt:lpstr>
      <vt:lpstr>全体アーキテクチャ</vt:lpstr>
      <vt:lpstr>要件／ソリューション－添付ファイル管理（編集含む）</vt:lpstr>
      <vt:lpstr>要件／ソリューション－一括ダウンロード機能</vt:lpstr>
      <vt:lpstr>要件／ソリューション－検索機能</vt:lpstr>
      <vt:lpstr>要件／ソリューション－パフォーマンス、HAなど</vt:lpstr>
      <vt:lpstr>要件／ソリューション－権限管理</vt:lpstr>
      <vt:lpstr>要件／ソリューション－ユーザ別の属性管理</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プロジェクトリスク</vt:lpstr>
      <vt:lpstr>スケジュール</vt:lpstr>
      <vt:lpstr>見積もり</vt:lpstr>
      <vt:lpstr>結論</vt:lpstr>
      <vt:lpstr>備考</vt:lpstr>
      <vt:lpstr>POC範囲</vt:lpstr>
      <vt:lpstr>サポートとメンテナンス－瑕疵範囲、保守提案</vt:lpstr>
      <vt:lpstr>前回の資料 (9/22 ソリューションのみ)</vt:lpstr>
      <vt:lpstr>アーキテクチャ全体 添付ファイルはDaTAVERSE保存（案B）</vt:lpstr>
      <vt:lpstr>実現方法－文書管理機能</vt:lpstr>
      <vt:lpstr>実現方法－添付ファイル管理</vt:lpstr>
      <vt:lpstr>実現方法－オンライン編集機能</vt:lpstr>
      <vt:lpstr>実現方法－一括ダウンロード機能</vt:lpstr>
      <vt:lpstr>実現方法－検索機能１</vt:lpstr>
      <vt:lpstr>実現方法－ 検索機能２</vt:lpstr>
      <vt:lpstr>実現方法－パフォーマンス最適化</vt:lpstr>
      <vt:lpstr>実現方法－権限管理</vt:lpstr>
      <vt:lpstr>実現方法－ユーザ別の属性管理（Option）</vt:lpstr>
      <vt:lpstr>データ移行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42</cp:revision>
  <dcterms:created xsi:type="dcterms:W3CDTF">2023-05-25T05:41:00Z</dcterms:created>
  <dcterms:modified xsi:type="dcterms:W3CDTF">2025-10-02T09:16:46Z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