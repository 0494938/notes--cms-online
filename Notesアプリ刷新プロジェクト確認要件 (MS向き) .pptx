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16"/>
  </p:notesMasterIdLst>
  <p:handoutMasterIdLst>
    <p:handoutMasterId r:id="rId17"/>
  </p:handoutMasterIdLst>
  <p:sldIdLst>
    <p:sldId id="16776423" r:id="rId10"/>
    <p:sldId id="16776367" r:id="rId11"/>
    <p:sldId id="16776368" r:id="rId12"/>
    <p:sldId id="16776409" r:id="rId13"/>
    <p:sldId id="16776369" r:id="rId14"/>
    <p:sldId id="16776376" r:id="rId15"/>
  </p:sldIdLst>
  <p:sldSz cx="12192000" cy="6858000"/>
  <p:notesSz cx="6858000" cy="9144000"/>
  <p:custDataLst>
    <p:tags r:id="rId18"/>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6423"/>
            <p14:sldId id="16776367"/>
            <p14:sldId id="16776368"/>
            <p14:sldId id="16776409"/>
            <p14:sldId id="16776369"/>
            <p14:sldId id="1677637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9718" autoAdjust="0"/>
  </p:normalViewPr>
  <p:slideViewPr>
    <p:cSldViewPr snapToGrid="0">
      <p:cViewPr varScale="1">
        <p:scale>
          <a:sx n="197" d="100"/>
          <a:sy n="197" d="100"/>
        </p:scale>
        <p:origin x="163" y="17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5" Type="http://schemas.openxmlformats.org/officeDocument/2006/relationships/slideMaster" Target="slideMasters/slideMaster2.xml"/><Relationship Id="rId15" Type="http://schemas.openxmlformats.org/officeDocument/2006/relationships/slide" Target="slides/slide6.xml"/><Relationship Id="rId10" Type="http://schemas.openxmlformats.org/officeDocument/2006/relationships/slide" Target="slides/slide1.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2025/11/12</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2025/11/12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4DB5-9D3E-82B5-99D6-4A89C55493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E0686C-208C-E4DA-964C-9DDDF3383DE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D29B4-D5FF-EABE-E37D-16D0AD2B145D}"/>
              </a:ext>
            </a:extLst>
          </p:cNvPr>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714522-4EFC-A835-32BF-144C70714889}"/>
              </a:ext>
            </a:extLst>
          </p:cNvPr>
          <p:cNvSpPr>
            <a:spLocks noGrp="1"/>
          </p:cNvSpPr>
          <p:nvPr>
            <p:ph type="sldNum" sz="quarter" idx="5"/>
          </p:nvPr>
        </p:nvSpPr>
        <p:spPr/>
        <p:txBody>
          <a:bodyPr/>
          <a:lstStyle/>
          <a:p>
            <a:fld id="{C3E9B8F7-F11D-7247-854D-760B01224C6A}" type="slidenum">
              <a:rPr kumimoji="1" lang="ja-JP" altLang="en-US" smtClean="0"/>
              <a:t>4</a:t>
            </a:fld>
            <a:endParaRPr kumimoji="1" lang="ja-JP" altLang="en-US"/>
          </a:p>
        </p:txBody>
      </p:sp>
    </p:spTree>
    <p:extLst>
      <p:ext uri="{BB962C8B-B14F-4D97-AF65-F5344CB8AC3E}">
        <p14:creationId xmlns:p14="http://schemas.microsoft.com/office/powerpoint/2010/main" val="3928067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5</a:t>
            </a:fld>
            <a:endParaRPr kumimoji="1" lang="ja-JP" altLang="en-US"/>
          </a:p>
        </p:txBody>
      </p:sp>
    </p:spTree>
    <p:extLst>
      <p:ext uri="{BB962C8B-B14F-4D97-AF65-F5344CB8AC3E}">
        <p14:creationId xmlns:p14="http://schemas.microsoft.com/office/powerpoint/2010/main" val="787014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6</a:t>
            </a:fld>
            <a:endParaRPr kumimoji="1" lang="ja-JP" altLang="en-US"/>
          </a:p>
        </p:txBody>
      </p:sp>
    </p:spTree>
    <p:extLst>
      <p:ext uri="{BB962C8B-B14F-4D97-AF65-F5344CB8AC3E}">
        <p14:creationId xmlns:p14="http://schemas.microsoft.com/office/powerpoint/2010/main" val="35363375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4" name="Picture 2">
            <a:extLst>
              <a:ext uri="{FF2B5EF4-FFF2-40B4-BE49-F238E27FC236}">
                <a16:creationId xmlns:a16="http://schemas.microsoft.com/office/drawing/2014/main" id="{BB689C8C-FA0B-7055-CC34-997E729242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a:extLst>
              <a:ext uri="{FF2B5EF4-FFF2-40B4-BE49-F238E27FC236}">
                <a16:creationId xmlns:a16="http://schemas.microsoft.com/office/drawing/2014/main" id="{BA094BBD-C310-6CA8-A0A6-B066056E0C1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11/12/2025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11/12/2025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11/12/2025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11/12/2025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11/12/2025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11/12/2025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37548" y="91514"/>
            <a:ext cx="2228371" cy="4566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11/12/2025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B41B6318-84F6-278F-959E-A463A2310F0A}"/>
              </a:ext>
            </a:extLst>
          </p:cNvPr>
          <p:cNvSpPr>
            <a:spLocks noGrp="1"/>
          </p:cNvSpPr>
          <p:nvPr>
            <p:ph sz="quarter" idx="10"/>
          </p:nvPr>
        </p:nvSpPr>
        <p:spPr>
          <a:xfrm>
            <a:off x="320675" y="1946218"/>
            <a:ext cx="11550650" cy="1004800"/>
          </a:xfrm>
        </p:spPr>
        <p:txBody>
          <a:bodyPr>
            <a:normAutofit/>
          </a:bodyPr>
          <a:lstStyle/>
          <a:p>
            <a:pPr marL="0" indent="0" algn="ctr">
              <a:buNone/>
            </a:pPr>
            <a:r>
              <a:rPr kumimoji="1" lang="ja-JP" altLang="en-US" sz="4000" dirty="0"/>
              <a:t>提案書の一部（</a:t>
            </a:r>
            <a:r>
              <a:rPr kumimoji="1" lang="en-US" altLang="ja-JP" sz="4000" dirty="0"/>
              <a:t>DB</a:t>
            </a:r>
            <a:r>
              <a:rPr kumimoji="1" lang="ja-JP" altLang="en-US" sz="4000" dirty="0"/>
              <a:t>周り）</a:t>
            </a:r>
          </a:p>
        </p:txBody>
      </p:sp>
    </p:spTree>
    <p:extLst>
      <p:ext uri="{BB962C8B-B14F-4D97-AF65-F5344CB8AC3E}">
        <p14:creationId xmlns:p14="http://schemas.microsoft.com/office/powerpoint/2010/main" val="3138843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提案の背景</a:t>
            </a:r>
            <a:endParaRPr kumimoji="1" lang="ja-JP" altLang="en-US" dirty="0"/>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dirty="0">
                <a:latin typeface="Yu Gothic UI" panose="020B0500000000000000" pitchFamily="50" charset="-128"/>
                <a:ea typeface="Yu Gothic UI" panose="020B0500000000000000" pitchFamily="50" charset="-128"/>
              </a:rPr>
              <a:t>提案の背景</a:t>
            </a:r>
            <a:r>
              <a:rPr lang="en-US" altLang="ja-JP" sz="1600" dirty="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dirty="0" err="1">
                <a:latin typeface="Yu Gothic UI" panose="020B0500000000000000" pitchFamily="50" charset="-128"/>
                <a:ea typeface="Yu Gothic UI" panose="020B0500000000000000" pitchFamily="50" charset="-128"/>
              </a:rPr>
              <a:t>LotusNotes</a:t>
            </a:r>
            <a:r>
              <a:rPr lang="ja-JP" altLang="en-US" sz="1600" dirty="0">
                <a:latin typeface="Yu Gothic UI" panose="020B0500000000000000" pitchFamily="50" charset="-128"/>
                <a:ea typeface="Yu Gothic UI" panose="020B0500000000000000" pitchFamily="50" charset="-128"/>
              </a:rPr>
              <a:t>のサポート中止に伴い、</a:t>
            </a:r>
            <a:r>
              <a:rPr lang="en-US" altLang="ja-JP" sz="1600" dirty="0">
                <a:latin typeface="Yu Gothic UI" panose="020B0500000000000000" pitchFamily="50" charset="-128"/>
                <a:ea typeface="Yu Gothic UI" panose="020B0500000000000000" pitchFamily="50" charset="-128"/>
              </a:rPr>
              <a:t>Notes</a:t>
            </a:r>
            <a:r>
              <a:rPr lang="ja-JP" altLang="en-US" sz="1600" dirty="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dirty="0">
                <a:latin typeface="Yu Gothic UI" panose="020B0500000000000000" pitchFamily="50" charset="-128"/>
                <a:ea typeface="Yu Gothic UI" panose="020B0500000000000000" pitchFamily="50" charset="-128"/>
              </a:rPr>
              <a:t>PowerApps</a:t>
            </a:r>
            <a:r>
              <a:rPr lang="ja-JP" altLang="en-US" sz="1600" dirty="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検討・評価対象の</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dirty="0">
                <a:latin typeface="Yu Gothic UI" panose="020B0500000000000000" pitchFamily="50" charset="-128"/>
                <a:ea typeface="Yu Gothic UI" panose="020B0500000000000000" pitchFamily="50" charset="-128"/>
              </a:rPr>
              <a:t>Workflow</a:t>
            </a:r>
            <a:r>
              <a:rPr lang="ja-JP" altLang="en-US" sz="1600" dirty="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また、</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dirty="0">
              <a:latin typeface="Yu Gothic UI" panose="020B0500000000000000" pitchFamily="50" charset="-128"/>
              <a:ea typeface="Yu Gothic UI" panose="020B0500000000000000" pitchFamily="50" charset="-128"/>
            </a:endParaRPr>
          </a:p>
          <a:p>
            <a:pPr>
              <a:lnSpc>
                <a:spcPct val="150000"/>
              </a:lnSpc>
            </a:pPr>
            <a:r>
              <a:rPr lang="ja-JP" altLang="en-US" sz="1600" dirty="0">
                <a:latin typeface="Yu Gothic UI" panose="020B0500000000000000" pitchFamily="50" charset="-128"/>
                <a:ea typeface="Yu Gothic UI" panose="020B0500000000000000" pitchFamily="50" charset="-128"/>
              </a:rPr>
              <a:t>提案</a:t>
            </a:r>
            <a:r>
              <a:rPr lang="en-US" altLang="ja-JP" sz="1600" dirty="0">
                <a:latin typeface="Yu Gothic UI" panose="020B0500000000000000" pitchFamily="50" charset="-128"/>
                <a:ea typeface="Yu Gothic UI" panose="020B0500000000000000" pitchFamily="50" charset="-128"/>
              </a:rPr>
              <a:t>: </a:t>
            </a:r>
          </a:p>
          <a:p>
            <a:pPr lvl="1">
              <a:lnSpc>
                <a:spcPct val="150000"/>
              </a:lnSpc>
            </a:pPr>
            <a:r>
              <a:rPr lang="ja-JP" altLang="en-US" sz="1600" dirty="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弊社の提案</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en-US" altLang="ja-JP" sz="1600" dirty="0">
                <a:latin typeface="Yu Gothic UI" panose="020B0500000000000000" pitchFamily="50" charset="-128"/>
                <a:ea typeface="Yu Gothic UI" panose="020B0500000000000000" pitchFamily="50" charset="-128"/>
              </a:rPr>
              <a:t>	PowerPlatform+Office365+Azure </a:t>
            </a:r>
            <a:r>
              <a:rPr lang="en-US" altLang="ja-JP" sz="1600" dirty="0" err="1">
                <a:latin typeface="Yu Gothic UI" panose="020B0500000000000000" pitchFamily="50" charset="-128"/>
                <a:ea typeface="Yu Gothic UI" panose="020B0500000000000000" pitchFamily="50" charset="-128"/>
              </a:rPr>
              <a:t>Sql</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Azure SQL </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Azure SQL </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あり）・・・最大利用人数　約１００００ユーザー</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同時接続数・・・約５００人（同時アクセス</a:t>
            </a:r>
            <a:r>
              <a:rPr lang="en-US" altLang="ja-JP" sz="1200" dirty="0">
                <a:latin typeface="Yu Gothic UI" panose="020B0500000000000000" pitchFamily="50" charset="-128"/>
                <a:ea typeface="Yu Gothic UI" panose="020B0500000000000000" pitchFamily="50" charset="-128"/>
              </a:rPr>
              <a:t>20</a:t>
            </a:r>
            <a:r>
              <a:rPr lang="ja-JP" altLang="en-US" sz="1200" dirty="0">
                <a:latin typeface="Yu Gothic UI" panose="020B0500000000000000" pitchFamily="50" charset="-128"/>
                <a:ea typeface="Yu Gothic UI" panose="020B0500000000000000" pitchFamily="50" charset="-128"/>
              </a:rPr>
              <a:t>と想定）</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日（閲覧</a:t>
            </a:r>
            <a:r>
              <a:rPr lang="en-US" altLang="ja-JP" sz="1200" dirty="0">
                <a:latin typeface="Yu Gothic UI" panose="020B0500000000000000" pitchFamily="50" charset="-128"/>
                <a:ea typeface="Yu Gothic UI" panose="020B0500000000000000" pitchFamily="50" charset="-128"/>
              </a:rPr>
              <a:t>/SELECT</a:t>
            </a:r>
            <a:r>
              <a:rPr lang="ja-JP" altLang="en-US" sz="1200" dirty="0">
                <a:latin typeface="Yu Gothic UI" panose="020B0500000000000000" pitchFamily="50" charset="-128"/>
                <a:ea typeface="Yu Gothic UI" panose="020B0500000000000000" pitchFamily="50" charset="-128"/>
              </a:rPr>
              <a:t>は</a:t>
            </a:r>
            <a:r>
              <a:rPr lang="en-US" altLang="ja-JP" sz="1200" dirty="0">
                <a:latin typeface="Yu Gothic UI" panose="020B0500000000000000" pitchFamily="50" charset="-128"/>
                <a:ea typeface="Yu Gothic UI" panose="020B0500000000000000" pitchFamily="50" charset="-128"/>
              </a:rPr>
              <a:t>95%</a:t>
            </a:r>
            <a:r>
              <a:rPr lang="ja-JP" altLang="en-US" sz="1200" dirty="0">
                <a:latin typeface="Yu Gothic UI" panose="020B0500000000000000" pitchFamily="50" charset="-128"/>
                <a:ea typeface="Yu Gothic UI" panose="020B0500000000000000" pitchFamily="50" charset="-128"/>
              </a:rPr>
              <a:t>以上）</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324E-E92D-D5A1-F8CB-DFBA1B4BCD7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639F42E-2427-3507-E203-456B4AD6255A}"/>
              </a:ext>
            </a:extLst>
          </p:cNvPr>
          <p:cNvSpPr>
            <a:spLocks noGrp="1"/>
          </p:cNvSpPr>
          <p:nvPr>
            <p:ph type="title"/>
          </p:nvPr>
        </p:nvSpPr>
        <p:spPr>
          <a:xfrm>
            <a:off x="306693" y="209888"/>
            <a:ext cx="9327072" cy="683629"/>
          </a:xfrm>
        </p:spPr>
        <p:txBody>
          <a:bodyPr>
            <a:normAutofit/>
          </a:bodyPr>
          <a:lstStyle/>
          <a:p>
            <a:r>
              <a:rPr lang="ja-JP" altLang="en-US" dirty="0"/>
              <a:t>機能の実現所在</a:t>
            </a:r>
          </a:p>
        </p:txBody>
      </p:sp>
      <p:graphicFrame>
        <p:nvGraphicFramePr>
          <p:cNvPr id="3" name="表 2">
            <a:extLst>
              <a:ext uri="{FF2B5EF4-FFF2-40B4-BE49-F238E27FC236}">
                <a16:creationId xmlns:a16="http://schemas.microsoft.com/office/drawing/2014/main" id="{A07918F7-5B30-DD59-4D39-7AFA08FC2376}"/>
              </a:ext>
            </a:extLst>
          </p:cNvPr>
          <p:cNvGraphicFramePr>
            <a:graphicFrameLocks noGrp="1"/>
          </p:cNvGraphicFramePr>
          <p:nvPr>
            <p:extLst>
              <p:ext uri="{D42A27DB-BD31-4B8C-83A1-F6EECF244321}">
                <p14:modId xmlns:p14="http://schemas.microsoft.com/office/powerpoint/2010/main" val="1268165201"/>
              </p:ext>
            </p:extLst>
          </p:nvPr>
        </p:nvGraphicFramePr>
        <p:xfrm>
          <a:off x="306693" y="828500"/>
          <a:ext cx="11578611" cy="1476482"/>
        </p:xfrm>
        <a:graphic>
          <a:graphicData uri="http://schemas.openxmlformats.org/drawingml/2006/table">
            <a:tbl>
              <a:tblPr firstRow="1">
                <a:tableStyleId>{2D5ABB26-0587-4C30-8999-92F81FD0307C}</a:tableStyleId>
              </a:tblPr>
              <a:tblGrid>
                <a:gridCol w="2529651">
                  <a:extLst>
                    <a:ext uri="{9D8B030D-6E8A-4147-A177-3AD203B41FA5}">
                      <a16:colId xmlns:a16="http://schemas.microsoft.com/office/drawing/2014/main" val="20000"/>
                    </a:ext>
                  </a:extLst>
                </a:gridCol>
                <a:gridCol w="4080546">
                  <a:extLst>
                    <a:ext uri="{9D8B030D-6E8A-4147-A177-3AD203B41FA5}">
                      <a16:colId xmlns:a16="http://schemas.microsoft.com/office/drawing/2014/main" val="20001"/>
                    </a:ext>
                  </a:extLst>
                </a:gridCol>
                <a:gridCol w="4968414">
                  <a:extLst>
                    <a:ext uri="{9D8B030D-6E8A-4147-A177-3AD203B41FA5}">
                      <a16:colId xmlns:a16="http://schemas.microsoft.com/office/drawing/2014/main" val="20004"/>
                    </a:ext>
                  </a:extLst>
                </a:gridCol>
              </a:tblGrid>
              <a:tr h="58017">
                <a:tc>
                  <a:txBody>
                    <a:bodyPr/>
                    <a:lstStyle/>
                    <a:p>
                      <a:r>
                        <a:rPr lang="ja-JP" altLang="en-US" sz="1200" b="0" dirty="0"/>
                        <a:t>項目</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1200" b="0" dirty="0">
                          <a:solidFill>
                            <a:schemeClr val="tx1"/>
                          </a:solidFill>
                          <a:effectLst/>
                        </a:rPr>
                        <a:t>Azure SQL Database (</a:t>
                      </a:r>
                      <a:r>
                        <a:rPr lang="ja-JP" altLang="en-US" sz="1200" b="0" kern="1200" dirty="0">
                          <a:solidFill>
                            <a:schemeClr val="tx1"/>
                          </a:solidFill>
                          <a:effectLst/>
                          <a:latin typeface="+mn-lt"/>
                          <a:ea typeface="+mn-ea"/>
                          <a:cs typeface="+mn-cs"/>
                        </a:rPr>
                        <a:t>クラウド</a:t>
                      </a:r>
                      <a:r>
                        <a:rPr lang="de-DE" altLang="ja-JP" sz="1200" b="0" kern="1200" dirty="0">
                          <a:solidFill>
                            <a:schemeClr val="tx1"/>
                          </a:solidFill>
                          <a:effectLst/>
                          <a:latin typeface="+mn-lt"/>
                          <a:ea typeface="+mn-ea"/>
                          <a:cs typeface="+mn-cs"/>
                        </a:rPr>
                        <a:t>PaaS)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1200" b="0" dirty="0">
                          <a:solidFill>
                            <a:schemeClr val="tx1"/>
                          </a:solidFill>
                        </a:rPr>
                        <a:t>SharePoint Online</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0">
                <a:tc>
                  <a:txBody>
                    <a:bodyPr/>
                    <a:lstStyle/>
                    <a:p>
                      <a:r>
                        <a:rPr lang="ja-JP" altLang="en-US" sz="1200" b="1" dirty="0"/>
                        <a:t>伝票の定型データの検索・格納</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200" b="0" dirty="0">
                          <a:solidFill>
                            <a:schemeClr val="tx1"/>
                          </a:solidFill>
                        </a:rPr>
                        <a:t>Table</a:t>
                      </a:r>
                      <a:r>
                        <a:rPr lang="ja-JP" altLang="en-US" sz="1200" b="0" dirty="0">
                          <a:solidFill>
                            <a:schemeClr val="tx1"/>
                          </a:solidFill>
                        </a:rPr>
                        <a:t>の行データ</a:t>
                      </a:r>
                      <a:endParaRPr lang="en-US" altLang="ja-JP" sz="12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200" b="0" dirty="0">
                          <a:solidFill>
                            <a:schemeClr val="tx1"/>
                          </a:solidFill>
                        </a:rPr>
                        <a:t>ー</a:t>
                      </a:r>
                      <a:endParaRPr lang="en-US" altLang="ja-JP" sz="12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72668">
                <a:tc>
                  <a:txBody>
                    <a:bodyPr/>
                    <a:lstStyle/>
                    <a:p>
                      <a:r>
                        <a:rPr lang="ja-JP" altLang="en-US" sz="1200" b="1" dirty="0"/>
                        <a:t>添付ファイルの格納</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dirty="0">
                          <a:solidFill>
                            <a:schemeClr val="tx1"/>
                          </a:solidFill>
                          <a:effectLst/>
                        </a:rPr>
                        <a:t>伝票と添付ファイルの紐付け情報のみ</a:t>
                      </a:r>
                      <a:endParaRPr lang="en-US" altLang="ja-JP" sz="1200" b="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200" b="0" dirty="0">
                          <a:solidFill>
                            <a:schemeClr val="tx1"/>
                          </a:solidFill>
                        </a:rPr>
                        <a:t>ファイル保存、閲覧、オンライン編集</a:t>
                      </a:r>
                      <a:endParaRPr lang="en-US" altLang="ja-JP" sz="12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0">
                <a:tc>
                  <a:txBody>
                    <a:bodyPr/>
                    <a:lstStyle/>
                    <a:p>
                      <a:r>
                        <a:rPr lang="ja-JP" altLang="en-US" sz="1200" b="1" dirty="0"/>
                        <a:t>添付ファイル内容の検索</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200" b="0" dirty="0">
                          <a:solidFill>
                            <a:schemeClr val="tx1"/>
                          </a:solidFill>
                        </a:rPr>
                        <a:t>ー</a:t>
                      </a:r>
                      <a:endParaRPr lang="en-US" altLang="ja-JP" sz="12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200" b="0" dirty="0" err="1">
                          <a:solidFill>
                            <a:schemeClr val="tx1"/>
                          </a:solidFill>
                        </a:rPr>
                        <a:t>GraphAPI</a:t>
                      </a:r>
                      <a:endParaRPr lang="en-US" altLang="ja-JP" sz="12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72668">
                <a:tc>
                  <a:txBody>
                    <a:bodyPr/>
                    <a:lstStyle/>
                    <a:p>
                      <a:r>
                        <a:rPr lang="ja-JP" altLang="en-US" sz="1200" b="1" dirty="0"/>
                        <a:t>権限制御</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kern="1200" dirty="0">
                          <a:solidFill>
                            <a:schemeClr val="tx1"/>
                          </a:solidFill>
                          <a:latin typeface="+mn-lt"/>
                          <a:ea typeface="+mn-ea"/>
                          <a:cs typeface="+mn-cs"/>
                        </a:rPr>
                        <a:t>ログインユーザ情報と権限制御テーブル</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200" b="0" dirty="0">
                          <a:solidFill>
                            <a:schemeClr val="tx1"/>
                          </a:solidFill>
                        </a:rPr>
                        <a:t>SharePoint</a:t>
                      </a:r>
                      <a:r>
                        <a:rPr lang="ja-JP" altLang="en-US" sz="1200" b="0" dirty="0">
                          <a:solidFill>
                            <a:schemeClr val="tx1"/>
                          </a:solidFill>
                        </a:rPr>
                        <a:t>のファイル毎の権限設定</a:t>
                      </a:r>
                      <a:endParaRPr lang="en-US" altLang="ja-JP" sz="12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0">
                <a:tc>
                  <a:txBody>
                    <a:bodyPr/>
                    <a:lstStyle/>
                    <a:p>
                      <a:r>
                        <a:rPr lang="ja-JP" altLang="en-US" sz="1200" b="1" kern="1200" dirty="0">
                          <a:solidFill>
                            <a:schemeClr val="dk1"/>
                          </a:solidFill>
                          <a:latin typeface="+mn-lt"/>
                          <a:ea typeface="+mn-ea"/>
                          <a:cs typeface="+mn-cs"/>
                        </a:rPr>
                        <a:t>添付ファイルの権限制御</a:t>
                      </a:r>
                      <a:r>
                        <a:rPr lang="en-US" altLang="ja-JP" sz="1200" b="1" kern="1200" dirty="0">
                          <a:solidFill>
                            <a:schemeClr val="dk1"/>
                          </a:solidFill>
                          <a:latin typeface="+mn-lt"/>
                          <a:ea typeface="+mn-ea"/>
                          <a:cs typeface="+mn-cs"/>
                        </a:rPr>
                        <a:t>/</a:t>
                      </a:r>
                      <a:r>
                        <a:rPr lang="ja-JP" altLang="en-US" sz="1200" b="1" kern="1200" dirty="0">
                          <a:solidFill>
                            <a:schemeClr val="dk1"/>
                          </a:solidFill>
                          <a:latin typeface="+mn-lt"/>
                          <a:ea typeface="+mn-ea"/>
                          <a:cs typeface="+mn-cs"/>
                        </a:rPr>
                        <a:t>検索</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kern="1200" dirty="0">
                          <a:solidFill>
                            <a:schemeClr val="tx1"/>
                          </a:solidFill>
                          <a:effectLst/>
                        </a:rPr>
                        <a:t>ー</a:t>
                      </a:r>
                      <a:endParaRPr lang="en-US" altLang="ja-JP" sz="1200" b="0"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r>
                        <a:rPr lang="en-US" altLang="ja-JP" sz="1200" b="0" dirty="0">
                          <a:solidFill>
                            <a:schemeClr val="tx1"/>
                          </a:solidFill>
                          <a:effectLst/>
                        </a:rPr>
                        <a:t>Microsoft Search</a:t>
                      </a:r>
                      <a:r>
                        <a:rPr lang="ja-JP" altLang="en-US" sz="1200" b="0" dirty="0">
                          <a:solidFill>
                            <a:schemeClr val="tx1"/>
                          </a:solidFill>
                          <a:effectLst/>
                        </a:rPr>
                        <a:t>（</a:t>
                      </a:r>
                      <a:r>
                        <a:rPr lang="en-US" altLang="ja-JP" sz="1200" b="0" dirty="0" err="1">
                          <a:solidFill>
                            <a:schemeClr val="tx1"/>
                          </a:solidFill>
                          <a:effectLst/>
                        </a:rPr>
                        <a:t>GraphAPI</a:t>
                      </a:r>
                      <a:r>
                        <a:rPr lang="ja-JP" altLang="en-US" sz="1200" b="0" dirty="0">
                          <a:solidFill>
                            <a:schemeClr val="tx1"/>
                          </a:solidFill>
                          <a:effectLst/>
                        </a:rPr>
                        <a:t>）で実現</a:t>
                      </a:r>
                      <a:endParaRPr lang="en-US" altLang="ja-JP" sz="1200" b="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116619">
                <a:tc>
                  <a:txBody>
                    <a:bodyPr/>
                    <a:lstStyle/>
                    <a:p>
                      <a:endParaRPr lang="ja-JP" altLang="en-US" sz="12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ja-JP" altLang="en-US" sz="1200" b="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defTabSz="914400" rtl="0" eaLnBrk="1" latinLnBrk="0" hangingPunct="1">
                        <a:buFont typeface="Arial" panose="020B0604020202020204" pitchFamily="34" charset="0"/>
                        <a:buNone/>
                      </a:pPr>
                      <a:endParaRPr lang="en-US" altLang="ja-JP" sz="1200" b="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graphicFrame>
        <p:nvGraphicFramePr>
          <p:cNvPr id="4" name="表 3">
            <a:extLst>
              <a:ext uri="{FF2B5EF4-FFF2-40B4-BE49-F238E27FC236}">
                <a16:creationId xmlns:a16="http://schemas.microsoft.com/office/drawing/2014/main" id="{EC92A962-AB3D-BD1A-10B3-9E4E3565E21A}"/>
              </a:ext>
            </a:extLst>
          </p:cNvPr>
          <p:cNvGraphicFramePr>
            <a:graphicFrameLocks noGrp="1"/>
          </p:cNvGraphicFramePr>
          <p:nvPr>
            <p:extLst>
              <p:ext uri="{D42A27DB-BD31-4B8C-83A1-F6EECF244321}">
                <p14:modId xmlns:p14="http://schemas.microsoft.com/office/powerpoint/2010/main" val="3318551284"/>
              </p:ext>
            </p:extLst>
          </p:nvPr>
        </p:nvGraphicFramePr>
        <p:xfrm>
          <a:off x="306693" y="3059088"/>
          <a:ext cx="11578610" cy="2947460"/>
        </p:xfrm>
        <a:graphic>
          <a:graphicData uri="http://schemas.openxmlformats.org/drawingml/2006/table">
            <a:tbl>
              <a:tblPr firstRow="1">
                <a:tableStyleId>{2D5ABB26-0587-4C30-8999-92F81FD0307C}</a:tableStyleId>
              </a:tblPr>
              <a:tblGrid>
                <a:gridCol w="987414">
                  <a:extLst>
                    <a:ext uri="{9D8B030D-6E8A-4147-A177-3AD203B41FA5}">
                      <a16:colId xmlns:a16="http://schemas.microsoft.com/office/drawing/2014/main" val="98880826"/>
                    </a:ext>
                  </a:extLst>
                </a:gridCol>
                <a:gridCol w="1088663">
                  <a:extLst>
                    <a:ext uri="{9D8B030D-6E8A-4147-A177-3AD203B41FA5}">
                      <a16:colId xmlns:a16="http://schemas.microsoft.com/office/drawing/2014/main" val="3956275990"/>
                    </a:ext>
                  </a:extLst>
                </a:gridCol>
                <a:gridCol w="2076077">
                  <a:extLst>
                    <a:ext uri="{9D8B030D-6E8A-4147-A177-3AD203B41FA5}">
                      <a16:colId xmlns:a16="http://schemas.microsoft.com/office/drawing/2014/main" val="20000"/>
                    </a:ext>
                  </a:extLst>
                </a:gridCol>
                <a:gridCol w="3348893">
                  <a:extLst>
                    <a:ext uri="{9D8B030D-6E8A-4147-A177-3AD203B41FA5}">
                      <a16:colId xmlns:a16="http://schemas.microsoft.com/office/drawing/2014/main" val="20001"/>
                    </a:ext>
                  </a:extLst>
                </a:gridCol>
                <a:gridCol w="4077563">
                  <a:extLst>
                    <a:ext uri="{9D8B030D-6E8A-4147-A177-3AD203B41FA5}">
                      <a16:colId xmlns:a16="http://schemas.microsoft.com/office/drawing/2014/main" val="20004"/>
                    </a:ext>
                  </a:extLst>
                </a:gridCol>
              </a:tblGrid>
              <a:tr h="171562">
                <a:tc gridSpan="2">
                  <a:txBody>
                    <a:bodyPr/>
                    <a:lstStyle/>
                    <a:p>
                      <a:endParaRPr lang="ja-JP" altLang="en-US" sz="1200" b="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endParaRPr lang="ja-JP" altLang="en-US" sz="1400" b="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ja-JP" altLang="en-US" sz="1200" b="0" dirty="0"/>
                        <a:t>項目</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1200" b="0" dirty="0">
                          <a:effectLst/>
                        </a:rPr>
                        <a:t>Azure SQL Database (</a:t>
                      </a:r>
                      <a:r>
                        <a:rPr lang="ja-JP" altLang="en-US" sz="1200" b="0" kern="1200" dirty="0">
                          <a:solidFill>
                            <a:schemeClr val="tx1"/>
                          </a:solidFill>
                          <a:effectLst/>
                          <a:latin typeface="+mn-lt"/>
                          <a:ea typeface="+mn-ea"/>
                          <a:cs typeface="+mn-cs"/>
                        </a:rPr>
                        <a:t>クラウド</a:t>
                      </a:r>
                      <a:r>
                        <a:rPr lang="de-DE" altLang="ja-JP" sz="1200" b="0" kern="1200" dirty="0">
                          <a:solidFill>
                            <a:schemeClr val="tx1"/>
                          </a:solidFill>
                          <a:effectLst/>
                          <a:latin typeface="+mn-lt"/>
                          <a:ea typeface="+mn-ea"/>
                          <a:cs typeface="+mn-cs"/>
                        </a:rPr>
                        <a:t>PaaS)</a:t>
                      </a:r>
                      <a:endParaRPr lang="de-DE" altLang="ja-JP" sz="1200" b="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en-US" altLang="ja-JP" sz="1200" b="0" dirty="0"/>
                        <a:t>SQL Server 2022(On promise)</a:t>
                      </a:r>
                      <a:r>
                        <a:rPr lang="ja-JP" altLang="en-US" sz="1200" b="0" dirty="0"/>
                        <a:t>　他案件参照</a:t>
                      </a:r>
                      <a:endParaRPr lang="de-DE" sz="1200" b="0"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550638">
                <a:tc gridSpan="3">
                  <a:txBody>
                    <a:bodyPr/>
                    <a:lstStyle/>
                    <a:p>
                      <a:r>
                        <a:rPr lang="ja-JP" altLang="en-US" sz="1200" b="1" dirty="0"/>
                        <a:t>リソース</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endParaRPr lang="ja-JP" altLang="en-US" sz="1400" b="1"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50" b="0" dirty="0">
                          <a:solidFill>
                            <a:schemeClr val="tx1"/>
                          </a:solidFill>
                        </a:rPr>
                        <a:t>PaaS</a:t>
                      </a:r>
                      <a:r>
                        <a:rPr lang="ja-JP" altLang="en-US" sz="1050" b="0" dirty="0">
                          <a:solidFill>
                            <a:schemeClr val="tx1"/>
                          </a:solidFill>
                        </a:rPr>
                        <a:t>のため、リソース固定とならない、どのモードでしょうか　</a:t>
                      </a:r>
                      <a:r>
                        <a:rPr lang="ja-JP" altLang="en-US" sz="1050" b="0" dirty="0">
                          <a:solidFill>
                            <a:srgbClr val="C00000"/>
                          </a:solidFill>
                        </a:rPr>
                        <a:t>（</a:t>
                      </a:r>
                      <a:r>
                        <a:rPr lang="en-US" altLang="ja-JP" sz="1050" b="0" dirty="0">
                          <a:solidFill>
                            <a:srgbClr val="C00000"/>
                          </a:solidFill>
                        </a:rPr>
                        <a:t>Business Critical</a:t>
                      </a:r>
                      <a:r>
                        <a:rPr lang="ja-JP" altLang="en-US" sz="1050" b="0" dirty="0">
                          <a:solidFill>
                            <a:srgbClr val="C00000"/>
                          </a:solidFill>
                        </a:rPr>
                        <a:t> </a:t>
                      </a:r>
                      <a:r>
                        <a:rPr lang="en-US" altLang="ja-JP" sz="1050" b="0" dirty="0">
                          <a:solidFill>
                            <a:srgbClr val="C00000"/>
                          </a:solidFill>
                        </a:rPr>
                        <a:t>Pattern</a:t>
                      </a:r>
                      <a:r>
                        <a:rPr lang="ja-JP" altLang="en-US" sz="1050" b="0" dirty="0">
                          <a:solidFill>
                            <a:srgbClr val="C00000"/>
                          </a:solidFill>
                        </a:rPr>
                        <a:t>）</a:t>
                      </a:r>
                      <a:endParaRPr lang="en-US" altLang="ja-JP" sz="1050" b="0"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50" b="0" dirty="0">
                          <a:solidFill>
                            <a:schemeClr val="tx1"/>
                          </a:solidFill>
                        </a:rPr>
                        <a:t>64G </a:t>
                      </a:r>
                      <a:r>
                        <a:rPr lang="ja-JP" altLang="en-US" sz="1050" b="0" dirty="0">
                          <a:solidFill>
                            <a:schemeClr val="tx1"/>
                          </a:solidFill>
                        </a:rPr>
                        <a:t>メモリ：</a:t>
                      </a:r>
                      <a:r>
                        <a:rPr lang="ja-JP" altLang="en-US" sz="800" b="0" dirty="0">
                          <a:solidFill>
                            <a:schemeClr val="tx1"/>
                          </a:solidFill>
                        </a:rPr>
                        <a:t>半分程度が利用。数日時間たったら、弱</a:t>
                      </a:r>
                      <a:r>
                        <a:rPr lang="en-US" altLang="ja-JP" sz="800" b="0" dirty="0">
                          <a:solidFill>
                            <a:schemeClr val="tx1"/>
                          </a:solidFill>
                        </a:rPr>
                        <a:t>100%</a:t>
                      </a:r>
                      <a:r>
                        <a:rPr lang="ja-JP" altLang="en-US" sz="800" b="0" dirty="0">
                          <a:solidFill>
                            <a:schemeClr val="tx1"/>
                          </a:solidFill>
                        </a:rPr>
                        <a:t>まで利用（キャッシュデータ）</a:t>
                      </a:r>
                      <a:endParaRPr lang="en-US" altLang="ja-JP" sz="800" b="0" dirty="0">
                        <a:solidFill>
                          <a:schemeClr val="tx1"/>
                        </a:solidFill>
                      </a:endParaRPr>
                    </a:p>
                    <a:p>
                      <a:r>
                        <a:rPr lang="en-US" altLang="ja-JP" sz="1050" b="0" dirty="0">
                          <a:solidFill>
                            <a:schemeClr val="tx1"/>
                          </a:solidFill>
                        </a:rPr>
                        <a:t>16</a:t>
                      </a:r>
                      <a:r>
                        <a:rPr lang="ja-JP" altLang="en-US" sz="1050" b="0" dirty="0">
                          <a:solidFill>
                            <a:schemeClr val="tx1"/>
                          </a:solidFill>
                        </a:rPr>
                        <a:t> </a:t>
                      </a:r>
                      <a:r>
                        <a:rPr lang="en-US" altLang="ja-JP" sz="1050" b="0" dirty="0" err="1">
                          <a:solidFill>
                            <a:schemeClr val="tx1"/>
                          </a:solidFill>
                        </a:rPr>
                        <a:t>vThread</a:t>
                      </a:r>
                      <a:r>
                        <a:rPr lang="en-US" altLang="ja-JP" sz="1050" b="0" dirty="0">
                          <a:solidFill>
                            <a:schemeClr val="tx1"/>
                          </a:solidFill>
                        </a:rPr>
                        <a:t>,</a:t>
                      </a:r>
                      <a:r>
                        <a:rPr lang="ja-JP" altLang="en-US" sz="1050" b="0" dirty="0">
                          <a:solidFill>
                            <a:schemeClr val="tx1"/>
                          </a:solidFill>
                        </a:rPr>
                        <a:t> </a:t>
                      </a:r>
                      <a:r>
                        <a:rPr lang="en-US" altLang="ja-JP" sz="1050" b="0" dirty="0">
                          <a:solidFill>
                            <a:schemeClr val="tx1"/>
                          </a:solidFill>
                        </a:rPr>
                        <a:t>Online(Max</a:t>
                      </a:r>
                      <a:r>
                        <a:rPr lang="ja-JP" altLang="en-US" sz="1050" b="0" dirty="0">
                          <a:solidFill>
                            <a:schemeClr val="tx1"/>
                          </a:solidFill>
                        </a:rPr>
                        <a:t>同時</a:t>
                      </a:r>
                      <a:r>
                        <a:rPr lang="en-US" altLang="ja-JP" sz="1050" b="0" dirty="0">
                          <a:solidFill>
                            <a:schemeClr val="tx1"/>
                          </a:solidFill>
                        </a:rPr>
                        <a:t>15</a:t>
                      </a:r>
                      <a:r>
                        <a:rPr lang="ja-JP" altLang="en-US" sz="1050" b="0" dirty="0">
                          <a:solidFill>
                            <a:schemeClr val="tx1"/>
                          </a:solidFill>
                        </a:rPr>
                        <a:t>アクセス</a:t>
                      </a:r>
                      <a:r>
                        <a:rPr lang="en-US" altLang="ja-JP" sz="1050" b="0" dirty="0">
                          <a:solidFill>
                            <a:schemeClr val="tx1"/>
                          </a:solidFill>
                        </a:rPr>
                        <a:t>)</a:t>
                      </a:r>
                      <a:r>
                        <a:rPr lang="ja-JP" altLang="en-US" sz="1050" b="0" dirty="0">
                          <a:solidFill>
                            <a:schemeClr val="tx1"/>
                          </a:solidFill>
                        </a:rPr>
                        <a:t>：</a:t>
                      </a:r>
                      <a:r>
                        <a:rPr lang="ja-JP" altLang="en-US" sz="800" b="0" dirty="0">
                          <a:solidFill>
                            <a:schemeClr val="tx1"/>
                          </a:solidFill>
                        </a:rPr>
                        <a:t>ログインユーザによりの権限チェックロジックは重い</a:t>
                      </a:r>
                      <a:endParaRPr lang="en-US" altLang="ja-JP" sz="8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171562">
                <a:tc gridSpan="3">
                  <a:txBody>
                    <a:bodyPr/>
                    <a:lstStyle/>
                    <a:p>
                      <a:r>
                        <a:rPr lang="ja-JP" altLang="en-US" sz="1200" b="1" dirty="0"/>
                        <a:t>ネットワーク</a:t>
                      </a:r>
                      <a:r>
                        <a:rPr lang="en-US" altLang="ja-JP" sz="1200" b="1" dirty="0"/>
                        <a:t>Bandwidth</a:t>
                      </a:r>
                      <a:endParaRPr lang="ja-JP" altLang="en-US" sz="1200" b="1"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endParaRPr lang="ja-JP" altLang="en-US" sz="1400" b="1"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effectLst/>
                        </a:rPr>
                        <a:t>Gbps</a:t>
                      </a:r>
                      <a:r>
                        <a:rPr lang="ja-JP" altLang="en-US" sz="1050" b="0" dirty="0">
                          <a:solidFill>
                            <a:schemeClr val="tx1"/>
                          </a:solidFill>
                          <a:effectLst/>
                        </a:rPr>
                        <a:t>単位</a:t>
                      </a:r>
                      <a:r>
                        <a:rPr lang="en-US" altLang="ja-JP" sz="1050" b="0" dirty="0">
                          <a:solidFill>
                            <a:schemeClr val="tx1"/>
                          </a:solidFill>
                          <a:effectLst/>
                        </a:rPr>
                        <a:t>? </a:t>
                      </a:r>
                      <a:r>
                        <a:rPr lang="en-US" altLang="ja-JP" sz="1050" b="0" dirty="0">
                          <a:solidFill>
                            <a:srgbClr val="C00000"/>
                          </a:solidFill>
                          <a:effectLst/>
                        </a:rPr>
                        <a:t>(Power Platform</a:t>
                      </a:r>
                      <a:r>
                        <a:rPr lang="ja-JP" altLang="en-US" sz="1050" b="0" dirty="0">
                          <a:solidFill>
                            <a:srgbClr val="C00000"/>
                          </a:solidFill>
                          <a:effectLst/>
                        </a:rPr>
                        <a:t>は</a:t>
                      </a:r>
                      <a:r>
                        <a:rPr lang="en-US" altLang="ja-JP" sz="1050" b="0" dirty="0">
                          <a:solidFill>
                            <a:srgbClr val="C00000"/>
                          </a:solidFill>
                          <a:effectLst/>
                        </a:rPr>
                        <a:t>Client)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50" b="0" dirty="0">
                          <a:solidFill>
                            <a:schemeClr val="tx1"/>
                          </a:solidFill>
                          <a:effectLst/>
                        </a:rPr>
                        <a:t>100</a:t>
                      </a:r>
                      <a:r>
                        <a:rPr lang="ja-JP" altLang="en-US" sz="1050" b="0" dirty="0">
                          <a:solidFill>
                            <a:schemeClr val="tx1"/>
                          </a:solidFill>
                          <a:effectLst/>
                        </a:rPr>
                        <a:t>Ｍ</a:t>
                      </a:r>
                      <a:r>
                        <a:rPr lang="en-US" altLang="ja-JP" sz="1050" b="0" dirty="0">
                          <a:solidFill>
                            <a:schemeClr val="tx1"/>
                          </a:solidFill>
                          <a:effectLst/>
                        </a:rPr>
                        <a:t>bps</a:t>
                      </a:r>
                      <a:r>
                        <a:rPr lang="ja-JP" altLang="en-US" sz="1050" b="0" dirty="0">
                          <a:solidFill>
                            <a:schemeClr val="tx1"/>
                          </a:solidFill>
                          <a:effectLst/>
                        </a:rPr>
                        <a:t>単位の感覚</a:t>
                      </a:r>
                      <a:endParaRPr lang="en-US" altLang="ja-JP" sz="1050" b="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323192">
                <a:tc gridSpan="3">
                  <a:txBody>
                    <a:bodyPr/>
                    <a:lstStyle/>
                    <a:p>
                      <a:r>
                        <a:rPr lang="ja-JP" altLang="en-US" sz="1200" b="1" dirty="0"/>
                        <a:t>課金形式</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endParaRPr lang="ja-JP" altLang="en-US" sz="1400" b="1"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50" b="0" dirty="0">
                          <a:solidFill>
                            <a:schemeClr val="tx1"/>
                          </a:solidFill>
                        </a:rPr>
                        <a:t>従量制？（アクセス頻度＋</a:t>
                      </a:r>
                      <a:r>
                        <a:rPr lang="en-US" altLang="ja-JP" sz="1050" b="0" dirty="0">
                          <a:solidFill>
                            <a:schemeClr val="tx1"/>
                          </a:solidFill>
                        </a:rPr>
                        <a:t>Network Throughput?</a:t>
                      </a:r>
                      <a:r>
                        <a:rPr lang="ja-JP" altLang="en-US" sz="1050" b="0" dirty="0">
                          <a:solidFill>
                            <a:schemeClr val="tx1"/>
                          </a:solidFill>
                        </a:rPr>
                        <a:t>）</a:t>
                      </a:r>
                      <a:endParaRPr lang="en-US" altLang="ja-JP" sz="1050" b="0" dirty="0">
                        <a:solidFill>
                          <a:schemeClr val="tx1"/>
                        </a:solidFill>
                      </a:endParaRPr>
                    </a:p>
                    <a:p>
                      <a:r>
                        <a:rPr lang="ja-JP" altLang="en-US" sz="1050" b="0" dirty="0">
                          <a:solidFill>
                            <a:srgbClr val="C00000"/>
                          </a:solidFill>
                        </a:rPr>
                        <a:t>⇒パターン選定により</a:t>
                      </a:r>
                      <a:endParaRPr lang="en-US" altLang="ja-JP" sz="1050" b="0" dirty="0">
                        <a:solidFill>
                          <a:srgbClr val="C0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50" b="0" dirty="0">
                          <a:solidFill>
                            <a:schemeClr val="tx1"/>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171562">
                <a:tc gridSpan="3">
                  <a:txBody>
                    <a:bodyPr/>
                    <a:lstStyle/>
                    <a:p>
                      <a:r>
                        <a:rPr lang="ja-JP" altLang="en-US" sz="1200" b="1" dirty="0"/>
                        <a:t>導入</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a:txBody>
                    <a:bodyPr/>
                    <a:lstStyle/>
                    <a:p>
                      <a:r>
                        <a:rPr lang="en-US" altLang="ja-JP" sz="1050" b="0" dirty="0">
                          <a:solidFill>
                            <a:schemeClr val="tx1"/>
                          </a:solidFill>
                        </a:rPr>
                        <a:t>Infra</a:t>
                      </a:r>
                      <a:r>
                        <a:rPr lang="ja-JP" altLang="en-US" sz="1050" b="0" dirty="0">
                          <a:solidFill>
                            <a:schemeClr val="tx1"/>
                          </a:solidFill>
                        </a:rPr>
                        <a:t>系は契約後</a:t>
                      </a:r>
                      <a:r>
                        <a:rPr lang="en-US" altLang="ja-JP" sz="1050" b="0" dirty="0">
                          <a:solidFill>
                            <a:schemeClr val="tx1"/>
                          </a:solidFill>
                        </a:rPr>
                        <a:t>MS</a:t>
                      </a:r>
                      <a:r>
                        <a:rPr lang="ja-JP" altLang="en-US" sz="1050" b="0" dirty="0">
                          <a:solidFill>
                            <a:schemeClr val="tx1"/>
                          </a:solidFill>
                        </a:rPr>
                        <a:t>担当、</a:t>
                      </a:r>
                      <a:r>
                        <a:rPr lang="en-US" altLang="ja-JP" sz="1050" b="0" dirty="0">
                          <a:solidFill>
                            <a:schemeClr val="tx1"/>
                          </a:solidFill>
                        </a:rPr>
                        <a:t>MCC</a:t>
                      </a:r>
                      <a:r>
                        <a:rPr lang="ja-JP" altLang="en-US" sz="1050" b="0" dirty="0">
                          <a:solidFill>
                            <a:schemeClr val="tx1"/>
                          </a:solidFill>
                        </a:rPr>
                        <a:t>側は</a:t>
                      </a:r>
                      <a:r>
                        <a:rPr lang="en-US" altLang="ja-JP" sz="1050" b="0" dirty="0">
                          <a:solidFill>
                            <a:schemeClr val="tx1"/>
                          </a:solidFill>
                        </a:rPr>
                        <a:t>Table/View/SP</a:t>
                      </a:r>
                      <a:r>
                        <a:rPr lang="ja-JP" altLang="en-US" sz="1050" b="0" dirty="0">
                          <a:solidFill>
                            <a:schemeClr val="tx1"/>
                          </a:solidFill>
                        </a:rPr>
                        <a:t>の設計、導入利用</a:t>
                      </a:r>
                      <a:endParaRPr lang="en-US" altLang="ja-JP" sz="105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50" b="0" dirty="0">
                          <a:solidFill>
                            <a:schemeClr val="tx1"/>
                          </a:solidFill>
                        </a:rPr>
                        <a:t>独自実施</a:t>
                      </a:r>
                      <a:endParaRPr lang="en-US" altLang="ja-JP" sz="105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63099292"/>
                  </a:ext>
                </a:extLst>
              </a:tr>
              <a:tr h="171562">
                <a:tc gridSpan="3">
                  <a:txBody>
                    <a:bodyPr/>
                    <a:lstStyle/>
                    <a:p>
                      <a:r>
                        <a:rPr lang="en-US" altLang="ja-JP" sz="1200" b="1" dirty="0"/>
                        <a:t>DB</a:t>
                      </a:r>
                      <a:r>
                        <a:rPr lang="ja-JP" altLang="en-US" sz="1200" b="1" dirty="0"/>
                        <a:t>サーバの保守、運用、拡張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tc>
                  <a:txBody>
                    <a:bodyPr/>
                    <a:lstStyle/>
                    <a:p>
                      <a:r>
                        <a:rPr lang="en-US" altLang="ja-JP" sz="1050" b="0" dirty="0">
                          <a:solidFill>
                            <a:schemeClr val="tx1"/>
                          </a:solidFill>
                        </a:rPr>
                        <a:t>MS</a:t>
                      </a:r>
                      <a:r>
                        <a:rPr lang="ja-JP" altLang="en-US" sz="1050" b="0" dirty="0">
                          <a:solidFill>
                            <a:schemeClr val="tx1"/>
                          </a:solidFill>
                        </a:rPr>
                        <a:t>のサービス</a:t>
                      </a:r>
                      <a:r>
                        <a:rPr lang="en-US" altLang="ja-JP" sz="1050" b="0" dirty="0">
                          <a:solidFill>
                            <a:schemeClr val="tx1"/>
                          </a:solidFill>
                        </a:rPr>
                        <a:t>Operator</a:t>
                      </a:r>
                      <a:r>
                        <a:rPr lang="ja-JP" altLang="en-US" sz="1050" b="0" dirty="0">
                          <a:solidFill>
                            <a:schemeClr val="tx1"/>
                          </a:solidFill>
                        </a:rPr>
                        <a:t>に任せ</a:t>
                      </a:r>
                      <a:endParaRPr lang="en-US" altLang="ja-JP" sz="105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50" b="0" dirty="0">
                          <a:solidFill>
                            <a:schemeClr val="tx1"/>
                          </a:solidFill>
                        </a:rPr>
                        <a:t>独自</a:t>
                      </a:r>
                      <a:r>
                        <a:rPr lang="en-US" altLang="ja-JP" sz="1050" b="0" dirty="0">
                          <a:solidFill>
                            <a:schemeClr val="tx1"/>
                          </a:solidFill>
                        </a:rPr>
                        <a:t>Monitoring</a:t>
                      </a:r>
                      <a:r>
                        <a:rPr lang="ja-JP" altLang="en-US" sz="1050" b="0" dirty="0">
                          <a:solidFill>
                            <a:schemeClr val="tx1"/>
                          </a:solidFill>
                        </a:rPr>
                        <a:t>、管理、実施</a:t>
                      </a:r>
                      <a:endParaRPr lang="en-US" altLang="ja-JP" sz="105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64922981"/>
                  </a:ext>
                </a:extLst>
              </a:tr>
              <a:tr h="171562">
                <a:tc rowSpan="4">
                  <a:txBody>
                    <a:bodyPr/>
                    <a:lstStyle/>
                    <a:p>
                      <a:r>
                        <a:rPr lang="ja-JP" altLang="en-US" sz="1200" b="1" dirty="0"/>
                        <a:t>機能</a:t>
                      </a:r>
                      <a:r>
                        <a:rPr lang="en-US" altLang="ja-JP" sz="1200" b="1" dirty="0"/>
                        <a:t>Point</a:t>
                      </a:r>
                      <a:r>
                        <a:rPr lang="ja-JP" altLang="en-US" sz="1200" b="1" dirty="0"/>
                        <a:t>　</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lang="ja-JP" altLang="en-US" sz="1200" b="0" dirty="0"/>
                        <a:t>音声、画像の利用は計画していない（基本的に</a:t>
                      </a:r>
                      <a:r>
                        <a:rPr lang="en-US" altLang="ja-JP" sz="1200" b="0" dirty="0" err="1"/>
                        <a:t>RelationDB</a:t>
                      </a:r>
                      <a:r>
                        <a:rPr lang="ja-JP" altLang="en-US" sz="1200" b="0" dirty="0"/>
                        <a:t>の利用）</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r>
                        <a:rPr lang="en-US" altLang="ja-JP" sz="1400" b="1" dirty="0"/>
                        <a:t>SP</a:t>
                      </a:r>
                      <a:r>
                        <a:rPr lang="ja-JP" altLang="en-US" sz="1400" b="1" dirty="0"/>
                        <a:t>利用</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0" kern="1200" dirty="0">
                          <a:solidFill>
                            <a:schemeClr val="tx1"/>
                          </a:solidFill>
                          <a:latin typeface="+mn-lt"/>
                          <a:ea typeface="+mn-ea"/>
                          <a:cs typeface="+mn-cs"/>
                        </a:rPr>
                        <a:t>ー</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en-US" altLang="ja-JP" sz="1400" b="0" dirty="0">
                        <a:solidFill>
                          <a:schemeClr val="tx1"/>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171562">
                <a:tc vMerge="1">
                  <a:txBody>
                    <a:bodyPr/>
                    <a:lstStyle/>
                    <a:p>
                      <a:endParaRPr kumimoji="1" lang="ja-JP" altLang="en-US"/>
                    </a:p>
                  </a:txBody>
                  <a:tcPr>
                    <a:lnT w="12700" cap="flat" cmpd="sng" algn="ctr">
                      <a:solidFill>
                        <a:schemeClr val="tx1"/>
                      </a:solidFill>
                      <a:prstDash val="solid"/>
                      <a:round/>
                      <a:headEnd type="none" w="med" len="med"/>
                      <a:tailEnd type="none" w="med" len="med"/>
                    </a:lnT>
                  </a:tcPr>
                </a:tc>
                <a:tc gridSpan="2">
                  <a:txBody>
                    <a:bodyPr/>
                    <a:lstStyle/>
                    <a:p>
                      <a:r>
                        <a:rPr lang="en-US" altLang="ja-JP" sz="1200" b="0" dirty="0"/>
                        <a:t>SP</a:t>
                      </a:r>
                      <a:r>
                        <a:rPr lang="ja-JP" altLang="en-US" sz="1200" b="0" dirty="0"/>
                        <a:t>の大量利用（</a:t>
                      </a:r>
                      <a:r>
                        <a:rPr lang="en-US" altLang="ja-JP" sz="1200" b="0" dirty="0" err="1"/>
                        <a:t>RecordSet</a:t>
                      </a:r>
                      <a:r>
                        <a:rPr lang="ja-JP" altLang="en-US" sz="1200" b="0" dirty="0"/>
                        <a:t>を返す）</a:t>
                      </a:r>
                    </a:p>
                  </a:txBody>
                  <a:tcPr marL="28046" marR="28046" marT="14023" marB="14023" anchor="ctr">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r>
                        <a:rPr lang="en-US" altLang="ja-JP" sz="1400" b="1" dirty="0"/>
                        <a:t>SP</a:t>
                      </a:r>
                      <a:r>
                        <a:rPr lang="ja-JP" altLang="en-US" sz="1400" b="1" dirty="0"/>
                        <a:t>利用</a:t>
                      </a:r>
                    </a:p>
                  </a:txBody>
                  <a:tcPr marL="28046" marR="28046" marT="14023" marB="14023" anchor="ct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0" kern="1200" dirty="0">
                          <a:solidFill>
                            <a:schemeClr val="tx1"/>
                          </a:solidFill>
                          <a:latin typeface="+mn-lt"/>
                          <a:ea typeface="+mn-ea"/>
                          <a:cs typeface="+mn-cs"/>
                        </a:rPr>
                        <a:t>同様の認識（権限チェックなどロジックを入れてるため）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en-US" altLang="ja-JP" sz="1400" b="0" dirty="0">
                        <a:solidFill>
                          <a:schemeClr val="tx1"/>
                        </a:solidFill>
                      </a:endParaRPr>
                    </a:p>
                  </a:txBody>
                  <a:tcPr marL="28046" marR="28046" marT="14023" marB="14023" anchor="ctr"/>
                </a:tc>
                <a:extLst>
                  <a:ext uri="{0D108BD9-81ED-4DB2-BD59-A6C34878D82A}">
                    <a16:rowId xmlns:a16="http://schemas.microsoft.com/office/drawing/2014/main" val="710524696"/>
                  </a:ext>
                </a:extLst>
              </a:tr>
              <a:tr h="171562">
                <a:tc vMerge="1">
                  <a:txBody>
                    <a:bodyPr/>
                    <a:lstStyle/>
                    <a:p>
                      <a:endParaRPr lang="ja-JP" altLang="en-US" sz="14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r>
                        <a:rPr lang="en-US" altLang="ja-JP" sz="1200" b="0" kern="1200" dirty="0">
                          <a:solidFill>
                            <a:schemeClr val="dk1"/>
                          </a:solidFill>
                          <a:latin typeface="+mn-lt"/>
                          <a:ea typeface="+mn-ea"/>
                          <a:cs typeface="+mn-cs"/>
                        </a:rPr>
                        <a:t>OLDP</a:t>
                      </a:r>
                      <a:r>
                        <a:rPr lang="ja-JP" altLang="en-US" sz="1200" b="0" kern="1200" dirty="0">
                          <a:solidFill>
                            <a:schemeClr val="dk1"/>
                          </a:solidFill>
                          <a:latin typeface="+mn-lt"/>
                          <a:ea typeface="+mn-ea"/>
                          <a:cs typeface="+mn-cs"/>
                        </a:rPr>
                        <a:t>（メモリ</a:t>
                      </a:r>
                      <a:r>
                        <a:rPr lang="en-US" altLang="ja-JP" sz="1200" b="0" kern="1200" dirty="0">
                          <a:solidFill>
                            <a:schemeClr val="dk1"/>
                          </a:solidFill>
                          <a:latin typeface="+mn-lt"/>
                          <a:ea typeface="+mn-ea"/>
                          <a:cs typeface="+mn-cs"/>
                        </a:rPr>
                        <a:t>Table</a:t>
                      </a:r>
                      <a:r>
                        <a:rPr lang="ja-JP" altLang="en-US" sz="1200" b="0" kern="1200" dirty="0">
                          <a:solidFill>
                            <a:schemeClr val="dk1"/>
                          </a:solidFill>
                          <a:latin typeface="+mn-lt"/>
                          <a:ea typeface="+mn-ea"/>
                          <a:cs typeface="+mn-cs"/>
                        </a:rPr>
                        <a:t>、</a:t>
                      </a:r>
                      <a:r>
                        <a:rPr lang="en-US" altLang="ja-JP" sz="1200" b="0" kern="1200" dirty="0">
                          <a:solidFill>
                            <a:schemeClr val="dk1"/>
                          </a:solidFill>
                          <a:latin typeface="+mn-lt"/>
                          <a:ea typeface="+mn-ea"/>
                          <a:cs typeface="+mn-cs"/>
                        </a:rPr>
                        <a:t>Index</a:t>
                      </a:r>
                      <a:r>
                        <a:rPr lang="ja-JP" altLang="en-US" sz="1200" b="0" kern="1200" dirty="0">
                          <a:solidFill>
                            <a:schemeClr val="dk1"/>
                          </a:solidFill>
                          <a:latin typeface="+mn-lt"/>
                          <a:ea typeface="+mn-ea"/>
                          <a:cs typeface="+mn-cs"/>
                        </a:rPr>
                        <a:t>）サポート</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lang="ja-JP" altLang="en-US" sz="14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0" kern="1200" dirty="0">
                          <a:solidFill>
                            <a:schemeClr val="tx1"/>
                          </a:solidFill>
                          <a:latin typeface="+mn-lt"/>
                          <a:ea typeface="+mn-ea"/>
                          <a:cs typeface="+mn-cs"/>
                        </a:rPr>
                        <a:t>同様の認識</a:t>
                      </a:r>
                      <a:endParaRPr lang="en-US" altLang="ja-JP" sz="1050" b="0" kern="1200" dirty="0">
                        <a:solidFill>
                          <a:schemeClr val="tx1"/>
                        </a:solidFill>
                        <a:effectLst/>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indent="0" algn="l" defTabSz="914400" rtl="0" eaLnBrk="1" latinLnBrk="0" hangingPunct="1">
                        <a:buFont typeface="Arial" panose="020B0604020202020204" pitchFamily="34" charset="0"/>
                        <a:buNone/>
                      </a:pPr>
                      <a:endParaRPr lang="en-US" altLang="ja-JP" sz="1400" b="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82702529"/>
                  </a:ext>
                </a:extLst>
              </a:tr>
              <a:tr h="171562">
                <a:tc vMerge="1">
                  <a:txBody>
                    <a:bodyPr/>
                    <a:lstStyle/>
                    <a:p>
                      <a:endParaRPr lang="ja-JP" altLang="en-US" sz="14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r>
                        <a:rPr lang="en-US" altLang="ja-JP" sz="1200" b="0" kern="1200" dirty="0">
                          <a:solidFill>
                            <a:schemeClr val="dk1"/>
                          </a:solidFill>
                          <a:latin typeface="+mn-lt"/>
                          <a:ea typeface="+mn-ea"/>
                          <a:cs typeface="+mn-cs"/>
                        </a:rPr>
                        <a:t>SQL</a:t>
                      </a:r>
                      <a:r>
                        <a:rPr lang="ja-JP" altLang="en-US" sz="1200" b="0" kern="1200" dirty="0">
                          <a:solidFill>
                            <a:schemeClr val="dk1"/>
                          </a:solidFill>
                          <a:latin typeface="+mn-lt"/>
                          <a:ea typeface="+mn-ea"/>
                          <a:cs typeface="+mn-cs"/>
                        </a:rPr>
                        <a:t>の</a:t>
                      </a:r>
                      <a:r>
                        <a:rPr lang="en-US" altLang="ja-JP" sz="1200" b="0" kern="1200" dirty="0">
                          <a:solidFill>
                            <a:schemeClr val="dk1"/>
                          </a:solidFill>
                          <a:latin typeface="+mn-lt"/>
                          <a:ea typeface="+mn-ea"/>
                          <a:cs typeface="+mn-cs"/>
                        </a:rPr>
                        <a:t>Hint</a:t>
                      </a:r>
                      <a:r>
                        <a:rPr lang="ja-JP" altLang="en-US" sz="1200" b="0" kern="1200" dirty="0">
                          <a:solidFill>
                            <a:schemeClr val="dk1"/>
                          </a:solidFill>
                          <a:latin typeface="+mn-lt"/>
                          <a:ea typeface="+mn-ea"/>
                          <a:cs typeface="+mn-cs"/>
                        </a:rPr>
                        <a:t>サポート</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ja-JP" altLang="en-US" sz="1400" b="1" kern="1200" dirty="0">
                        <a:solidFill>
                          <a:schemeClr val="dk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050" b="0" kern="1200" dirty="0">
                          <a:solidFill>
                            <a:schemeClr val="tx1"/>
                          </a:solidFill>
                          <a:effectLst/>
                          <a:latin typeface="+mn-lt"/>
                          <a:ea typeface="+mn-ea"/>
                          <a:cs typeface="+mn-cs"/>
                        </a:rPr>
                        <a:t>同様の認識</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indent="0" algn="l" defTabSz="914400" rtl="0" eaLnBrk="1" latinLnBrk="0" hangingPunct="1">
                        <a:buFont typeface="Arial" panose="020B0604020202020204" pitchFamily="34" charset="0"/>
                        <a:buNone/>
                      </a:pPr>
                      <a:endParaRPr lang="en-US" altLang="ja-JP" sz="1100" b="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4594237"/>
                  </a:ext>
                </a:extLst>
              </a:tr>
            </a:tbl>
          </a:graphicData>
        </a:graphic>
      </p:graphicFrame>
      <p:sp>
        <p:nvSpPr>
          <p:cNvPr id="7" name="タイトル 1">
            <a:extLst>
              <a:ext uri="{FF2B5EF4-FFF2-40B4-BE49-F238E27FC236}">
                <a16:creationId xmlns:a16="http://schemas.microsoft.com/office/drawing/2014/main" id="{19354338-803A-5653-35EB-D4EE00D67517}"/>
              </a:ext>
            </a:extLst>
          </p:cNvPr>
          <p:cNvSpPr txBox="1">
            <a:spLocks/>
          </p:cNvSpPr>
          <p:nvPr/>
        </p:nvSpPr>
        <p:spPr>
          <a:xfrm>
            <a:off x="306693" y="2540362"/>
            <a:ext cx="9327072" cy="6836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r>
              <a:rPr kumimoji="0" lang="ja-JP" altLang="en-US" dirty="0"/>
              <a:t>確認ポイント</a:t>
            </a:r>
          </a:p>
        </p:txBody>
      </p:sp>
    </p:spTree>
    <p:extLst>
      <p:ext uri="{BB962C8B-B14F-4D97-AF65-F5344CB8AC3E}">
        <p14:creationId xmlns:p14="http://schemas.microsoft.com/office/powerpoint/2010/main" val="1014737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dirty="0"/>
              <a:t>全体アーキテクチャ</a:t>
            </a:r>
            <a:endParaRPr lang="ja-JP" altLang="en-US" sz="20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191820" y="2530293"/>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921423" y="1098218"/>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1750098" y="1365503"/>
            <a:ext cx="5667794" cy="530915"/>
          </a:xfrm>
          <a:prstGeom prst="rect">
            <a:avLst/>
          </a:prstGeom>
          <a:noFill/>
        </p:spPr>
        <p:txBody>
          <a:bodyPr wrap="square" rtlCol="0">
            <a:spAutoFit/>
          </a:bodyPr>
          <a:lstStyle/>
          <a:p>
            <a:r>
              <a:rPr kumimoji="1" lang="ja-JP" altLang="en-US" sz="1050" dirty="0"/>
              <a:t>添付ファイルの</a:t>
            </a:r>
            <a:r>
              <a:rPr kumimoji="1" lang="en-US" altLang="ja-JP" sz="1050" dirty="0"/>
              <a:t>Direct Access</a:t>
            </a:r>
          </a:p>
          <a:p>
            <a:r>
              <a:rPr lang="en-US" altLang="ja-JP" sz="900" dirty="0">
                <a:solidFill>
                  <a:srgbClr val="FF0000"/>
                </a:solidFill>
              </a:rPr>
              <a:t>SPO</a:t>
            </a:r>
            <a:r>
              <a:rPr lang="ja-JP" altLang="en-US" sz="900" dirty="0">
                <a:solidFill>
                  <a:srgbClr val="FF0000"/>
                </a:solidFill>
              </a:rPr>
              <a:t>に保存されているファイルのアクセス権限（</a:t>
            </a:r>
            <a:r>
              <a:rPr lang="en-US" altLang="ja-JP" sz="900" dirty="0">
                <a:solidFill>
                  <a:srgbClr val="FF0000"/>
                </a:solidFill>
              </a:rPr>
              <a:t>Read/Edit/</a:t>
            </a:r>
            <a:r>
              <a:rPr lang="en-US" altLang="ja-JP" sz="900" dirty="0" err="1">
                <a:solidFill>
                  <a:srgbClr val="FF0000"/>
                </a:solidFill>
              </a:rPr>
              <a:t>Downoad</a:t>
            </a:r>
            <a:r>
              <a:rPr lang="ja-JP" altLang="en-US" sz="900" dirty="0">
                <a:solidFill>
                  <a:srgbClr val="FF0000"/>
                </a:solidFill>
              </a:rPr>
              <a:t>）は、</a:t>
            </a:r>
            <a:r>
              <a:rPr lang="en-US" altLang="ja-JP" sz="900" dirty="0">
                <a:solidFill>
                  <a:srgbClr val="FF0000"/>
                </a:solidFill>
              </a:rPr>
              <a:t>SPO</a:t>
            </a:r>
            <a:r>
              <a:rPr lang="ja-JP" altLang="en-US" sz="900" dirty="0">
                <a:solidFill>
                  <a:srgbClr val="FF0000"/>
                </a:solidFill>
              </a:rPr>
              <a:t>に直接にアクセスするときも有効にすることで、添付ファイル</a:t>
            </a:r>
            <a:r>
              <a:rPr lang="en-US" altLang="ja-JP" sz="900" dirty="0">
                <a:solidFill>
                  <a:srgbClr val="FF0000"/>
                </a:solidFill>
              </a:rPr>
              <a:t>Upload</a:t>
            </a:r>
            <a:r>
              <a:rPr lang="ja-JP" altLang="en-US" sz="900" dirty="0">
                <a:solidFill>
                  <a:srgbClr val="FF0000"/>
                </a:solidFill>
              </a:rPr>
              <a:t>する時に定義したアクセス権限を設定することで制約できます。</a:t>
            </a:r>
            <a:endParaRPr kumimoji="1" lang="ja-JP" altLang="en-US" sz="900" dirty="0">
              <a:solidFill>
                <a:srgbClr val="FF0000"/>
              </a:solidFill>
            </a:endParaRPr>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015821" y="1877305"/>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636852" y="5626186"/>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155961" y="2330601"/>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3717215" y="919407"/>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487023" y="4170561"/>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352525" y="4391627"/>
            <a:ext cx="1831889" cy="276999"/>
          </a:xfrm>
          <a:prstGeom prst="rect">
            <a:avLst/>
          </a:prstGeom>
          <a:noFill/>
        </p:spPr>
        <p:txBody>
          <a:bodyPr wrap="square" rtlCol="0">
            <a:spAutoFit/>
          </a:bodyPr>
          <a:lstStyle/>
          <a:p>
            <a:pPr algn="ctr"/>
            <a:r>
              <a:rPr kumimoji="1" lang="en-US" altLang="ja-JP" sz="1200" dirty="0"/>
              <a:t>Power Automation Flow</a:t>
            </a:r>
            <a:endParaRPr kumimoji="1" lang="ja-JP" altLang="en-US" sz="1200" dirty="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631700" y="3769698"/>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155238" y="3604670"/>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615706" y="2273257"/>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9800604" y="1160613"/>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634114" y="1590262"/>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634114" y="2178546"/>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634114" y="2971408"/>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634114" y="3580894"/>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634114" y="4151150"/>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646735" y="4730277"/>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633746" y="5187682"/>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extLst>
      <p:ext uri="{BB962C8B-B14F-4D97-AF65-F5344CB8AC3E}">
        <p14:creationId xmlns:p14="http://schemas.microsoft.com/office/powerpoint/2010/main" val="3768518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要件／ソリューション－非機能要件</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extLst>
              <p:ext uri="{D42A27DB-BD31-4B8C-83A1-F6EECF244321}">
                <p14:modId xmlns:p14="http://schemas.microsoft.com/office/powerpoint/2010/main" val="1775792954"/>
              </p:ext>
            </p:extLst>
          </p:nvPr>
        </p:nvGraphicFramePr>
        <p:xfrm>
          <a:off x="414336" y="890751"/>
          <a:ext cx="11284857" cy="5428233"/>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2889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2273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543122">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a:t>
                      </a:r>
                      <a:endParaRPr kumimoji="0" lang="en-US" altLang="zh-CN" sz="1000" dirty="0">
                        <a:latin typeface="Arial" panose="020B0604020202020204" pitchFamily="34" charset="0"/>
                      </a:endParaRPr>
                    </a:p>
                    <a:p>
                      <a:r>
                        <a:rPr kumimoji="0" lang="zh-CN" altLang="zh-CN" sz="1000" dirty="0">
                          <a:latin typeface="Arial" panose="020B0604020202020204" pitchFamily="34" charset="0"/>
                        </a:rPr>
                        <a:t>大容量ファイル時はストリーミング</a:t>
                      </a:r>
                      <a:r>
                        <a:rPr kumimoji="0" lang="zh-CN" altLang="zh-CN" sz="1050" dirty="0">
                          <a:latin typeface="Arial" panose="020B0604020202020204" pitchFamily="34" charset="0"/>
                        </a:rPr>
                        <a:t>。</a:t>
                      </a:r>
                      <a:endParaRPr kumimoji="0" lang="en-US" altLang="zh-CN" sz="1050" dirty="0">
                        <a:latin typeface="Arial" panose="020B0604020202020204" pitchFamily="34" charset="0"/>
                      </a:endParaRPr>
                    </a:p>
                    <a:p>
                      <a:r>
                        <a:rPr kumimoji="0" lang="en-US" altLang="ja-JP" sz="1050" kern="1200" dirty="0">
                          <a:solidFill>
                            <a:schemeClr val="tx1"/>
                          </a:solidFill>
                          <a:latin typeface="Arial" panose="020B0604020202020204" pitchFamily="34" charset="0"/>
                          <a:ea typeface="+mn-ea"/>
                          <a:cs typeface="+mn-cs"/>
                        </a:rPr>
                        <a:t>SPO</a:t>
                      </a:r>
                      <a:r>
                        <a:rPr kumimoji="0" lang="ja-JP" altLang="en-US" sz="1050" kern="1200" dirty="0">
                          <a:solidFill>
                            <a:schemeClr val="tx1"/>
                          </a:solidFill>
                          <a:latin typeface="Arial" panose="020B0604020202020204" pitchFamily="34" charset="0"/>
                          <a:ea typeface="+mn-ea"/>
                          <a:cs typeface="+mn-cs"/>
                        </a:rPr>
                        <a:t>に置く添付ファイルは多階層設計することで、フォルダ毎のサブフォルダ、ファイルの数を抑える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04087">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660022">
                <a:tc>
                  <a:txBody>
                    <a:bodyPr/>
                    <a:lstStyle/>
                    <a:p>
                      <a:r>
                        <a:rPr lang="en-US" altLang="ja-JP" sz="1050" dirty="0"/>
                        <a:t>HA</a:t>
                      </a:r>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コンピューティング（</a:t>
                      </a:r>
                      <a:r>
                        <a:rPr lang="en-US" altLang="ja-JP" sz="800" dirty="0"/>
                        <a:t>SQL Server </a:t>
                      </a:r>
                      <a:r>
                        <a:rPr lang="ja-JP" altLang="en-US" sz="800" dirty="0"/>
                        <a:t>プロセス）とストレージが分離されています。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データファイルは </a:t>
                      </a:r>
                      <a:r>
                        <a:rPr lang="en-US" altLang="ja-JP" sz="800" dirty="0"/>
                        <a:t>Azure Premium Remote Storage </a:t>
                      </a:r>
                      <a:r>
                        <a:rPr lang="ja-JP" altLang="en-US" sz="800" dirty="0"/>
                        <a:t>に格納され、このストレージ自体が高可用性を確保しています（ゾーン冗長またはローカル冗長）。</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プライマリ（主）レプリカに障害が発生した場合、新しい </a:t>
                      </a:r>
                      <a:r>
                        <a:rPr lang="en-US" altLang="ja-JP" sz="800" dirty="0"/>
                        <a:t>SQL Server </a:t>
                      </a:r>
                      <a:r>
                        <a:rPr lang="ja-JP" altLang="en-US" sz="8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データベースのコピー（レプリカ）は</a:t>
                      </a:r>
                      <a:r>
                        <a:rPr lang="en-US" altLang="ja-JP" sz="800" dirty="0"/>
                        <a:t>1</a:t>
                      </a:r>
                      <a:r>
                        <a:rPr lang="ja-JP" altLang="en-US" sz="8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8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SQL Server </a:t>
                      </a:r>
                      <a:r>
                        <a:rPr lang="ja-JP" altLang="en-US" sz="800" dirty="0"/>
                        <a:t>の</a:t>
                      </a:r>
                      <a:r>
                        <a:rPr lang="en-US" altLang="ja-JP" sz="800" dirty="0"/>
                        <a:t>Always On </a:t>
                      </a:r>
                      <a:r>
                        <a:rPr lang="ja-JP" altLang="en-US" sz="800" dirty="0"/>
                        <a:t>可用性グループ </a:t>
                      </a:r>
                      <a:r>
                        <a:rPr lang="en-US" altLang="ja-JP" sz="800" dirty="0"/>
                        <a:t>(Always On Availability Groups) </a:t>
                      </a:r>
                      <a:r>
                        <a:rPr lang="ja-JP" altLang="en-US" sz="800" dirty="0"/>
                        <a:t>の技術に基づいています。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3</a:t>
                      </a:r>
                      <a:r>
                        <a:rPr lang="ja-JP" altLang="en-US" sz="800" dirty="0"/>
                        <a:t>つ以上の高可用性レプリカ（プライマリ </a:t>
                      </a:r>
                      <a:r>
                        <a:rPr lang="en-US" altLang="ja-JP" sz="800" dirty="0"/>
                        <a:t>1</a:t>
                      </a:r>
                      <a:r>
                        <a:rPr lang="ja-JP" altLang="en-US" sz="800" dirty="0"/>
                        <a:t>つ、セカンダリ </a:t>
                      </a:r>
                      <a:r>
                        <a:rPr lang="en-US" altLang="ja-JP" sz="800" dirty="0"/>
                        <a:t>2</a:t>
                      </a:r>
                      <a:r>
                        <a:rPr lang="ja-JP" altLang="en-US" sz="800" dirty="0"/>
                        <a:t>つ以上）が常に同期モードで維持され、各レプリカはローカル </a:t>
                      </a:r>
                      <a:r>
                        <a:rPr lang="en-US" altLang="ja-JP" sz="800" dirty="0"/>
                        <a:t>SSD </a:t>
                      </a:r>
                      <a:r>
                        <a:rPr lang="ja-JP" altLang="en-US" sz="800" dirty="0"/>
                        <a:t>ストレージを持っています。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データはすべてのレプリカに同時にコミットされるため、</a:t>
                      </a:r>
                      <a:r>
                        <a:rPr lang="ja-JP" altLang="en-US" sz="800" b="1" dirty="0"/>
                        <a:t>非常に低いレイテンシー（待ち時間）</a:t>
                      </a:r>
                      <a:r>
                        <a:rPr lang="ja-JP" altLang="en-US" sz="800" dirty="0"/>
                        <a:t>で高い可用性を実現します。</a:t>
                      </a:r>
                      <a:endParaRPr lang="en-US" altLang="ja-JP" sz="8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en-US" altLang="ja-JP" sz="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t>※</a:t>
                      </a:r>
                      <a:r>
                        <a:rPr lang="ja-JP" altLang="en-US" sz="900" b="1" dirty="0"/>
                        <a:t>　今回のシステムは生産システムではなく、オフィス用システムなので、リモートストレージ高可用性モデル妥当だと思います。</a:t>
                      </a:r>
                      <a:endParaRPr lang="en-US" altLang="ja-JP" sz="9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04087">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04087">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3612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負荷分散</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kern="1200" dirty="0">
                        <a:solidFill>
                          <a:schemeClr val="tx1"/>
                        </a:solidFill>
                        <a:latin typeface="+mn-lt"/>
                        <a:ea typeface="+mn-ea"/>
                        <a:cs typeface="+mn-cs"/>
                      </a:endParaRPr>
                    </a:p>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a:t>
                      </a:r>
                      <a:r>
                        <a:rPr kumimoji="0" lang="ja-JP" altLang="en-US" sz="1000" dirty="0">
                          <a:latin typeface="Arial" panose="020B0604020202020204" pitchFamily="34" charset="0"/>
                        </a:rPr>
                        <a:t>は事前に</a:t>
                      </a:r>
                      <a:r>
                        <a:rPr kumimoji="0" lang="en-US" altLang="ja-JP" sz="1000" dirty="0">
                          <a:latin typeface="Arial" panose="020B0604020202020204" pitchFamily="34" charset="0"/>
                        </a:rPr>
                        <a:t>Facility</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graphicFrame>
        <p:nvGraphicFramePr>
          <p:cNvPr id="4" name="表 3">
            <a:extLst>
              <a:ext uri="{FF2B5EF4-FFF2-40B4-BE49-F238E27FC236}">
                <a16:creationId xmlns:a16="http://schemas.microsoft.com/office/drawing/2014/main" id="{FE571A1C-091B-BAC0-2C0A-3976BE308B16}"/>
              </a:ext>
            </a:extLst>
          </p:cNvPr>
          <p:cNvGraphicFramePr>
            <a:graphicFrameLocks noGrp="1"/>
          </p:cNvGraphicFramePr>
          <p:nvPr>
            <p:extLst>
              <p:ext uri="{D42A27DB-BD31-4B8C-83A1-F6EECF244321}">
                <p14:modId xmlns:p14="http://schemas.microsoft.com/office/powerpoint/2010/main" val="3976223472"/>
              </p:ext>
            </p:extLst>
          </p:nvPr>
        </p:nvGraphicFramePr>
        <p:xfrm>
          <a:off x="112815" y="4467705"/>
          <a:ext cx="2974770" cy="743832"/>
        </p:xfrm>
        <a:graphic>
          <a:graphicData uri="http://schemas.openxmlformats.org/drawingml/2006/table">
            <a:tbl>
              <a:tblPr>
                <a:tableStyleId>{2D5ABB26-0587-4C30-8999-92F81FD0307C}</a:tableStyleId>
              </a:tblPr>
              <a:tblGrid>
                <a:gridCol w="498764">
                  <a:extLst>
                    <a:ext uri="{9D8B030D-6E8A-4147-A177-3AD203B41FA5}">
                      <a16:colId xmlns:a16="http://schemas.microsoft.com/office/drawing/2014/main" val="3576838364"/>
                    </a:ext>
                  </a:extLst>
                </a:gridCol>
                <a:gridCol w="396681">
                  <a:extLst>
                    <a:ext uri="{9D8B030D-6E8A-4147-A177-3AD203B41FA5}">
                      <a16:colId xmlns:a16="http://schemas.microsoft.com/office/drawing/2014/main" val="3432411362"/>
                    </a:ext>
                  </a:extLst>
                </a:gridCol>
                <a:gridCol w="271216">
                  <a:extLst>
                    <a:ext uri="{9D8B030D-6E8A-4147-A177-3AD203B41FA5}">
                      <a16:colId xmlns:a16="http://schemas.microsoft.com/office/drawing/2014/main" val="1406044288"/>
                    </a:ext>
                  </a:extLst>
                </a:gridCol>
                <a:gridCol w="607008">
                  <a:extLst>
                    <a:ext uri="{9D8B030D-6E8A-4147-A177-3AD203B41FA5}">
                      <a16:colId xmlns:a16="http://schemas.microsoft.com/office/drawing/2014/main" val="159024894"/>
                    </a:ext>
                  </a:extLst>
                </a:gridCol>
                <a:gridCol w="1201101">
                  <a:extLst>
                    <a:ext uri="{9D8B030D-6E8A-4147-A177-3AD203B41FA5}">
                      <a16:colId xmlns:a16="http://schemas.microsoft.com/office/drawing/2014/main" val="809750389"/>
                    </a:ext>
                  </a:extLst>
                </a:gridCol>
              </a:tblGrid>
              <a:tr h="184444">
                <a:tc>
                  <a:txBody>
                    <a:bodyPr/>
                    <a:lstStyle/>
                    <a:p>
                      <a:pPr algn="l" fontAlgn="ctr">
                        <a:buNone/>
                      </a:pPr>
                      <a:r>
                        <a:rPr lang="ja-JP" altLang="en-US" sz="600" u="none" strike="noStrike" dirty="0">
                          <a:solidFill>
                            <a:srgbClr val="0070C0"/>
                          </a:solidFill>
                          <a:effectLst/>
                        </a:rPr>
                        <a:t>サービス階層</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高可用性</a:t>
                      </a:r>
                      <a:endParaRPr lang="en-US" altLang="ja-JP" sz="600" u="none" strike="noStrike" dirty="0">
                        <a:solidFill>
                          <a:srgbClr val="0070C0"/>
                        </a:solidFill>
                        <a:effectLst/>
                      </a:endParaRPr>
                    </a:p>
                    <a:p>
                      <a:pPr algn="l" fontAlgn="ctr"/>
                      <a:r>
                        <a:rPr lang="ja-JP" altLang="en-US" sz="600" u="none" strike="noStrike" dirty="0">
                          <a:solidFill>
                            <a:srgbClr val="0070C0"/>
                          </a:solidFill>
                          <a:effectLst/>
                        </a:rPr>
                        <a:t>モデル</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rPr>
                        <a:t>可用性</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de-DE" sz="600" u="none" strike="noStrike" dirty="0">
                          <a:solidFill>
                            <a:srgbClr val="0070C0"/>
                          </a:solidFill>
                          <a:effectLst/>
                        </a:rPr>
                        <a:t>RTO (</a:t>
                      </a:r>
                      <a:r>
                        <a:rPr lang="ja-JP" altLang="en-US" sz="600" u="none" strike="noStrike" dirty="0">
                          <a:solidFill>
                            <a:srgbClr val="0070C0"/>
                          </a:solidFill>
                          <a:effectLst/>
                        </a:rPr>
                        <a:t>回復時間の目標</a:t>
                      </a:r>
                      <a:r>
                        <a:rPr lang="en-US" altLang="ja-JP" sz="600" u="none" strike="noStrike" dirty="0">
                          <a:solidFill>
                            <a:srgbClr val="0070C0"/>
                          </a:solidFill>
                          <a:effectLst/>
                        </a:rPr>
                        <a:t>)</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RPO (</a:t>
                      </a:r>
                      <a:r>
                        <a:rPr lang="ja-JP" altLang="en-US" sz="600" u="none" strike="noStrike" dirty="0">
                          <a:solidFill>
                            <a:srgbClr val="0070C0"/>
                          </a:solidFill>
                          <a:effectLst/>
                        </a:rPr>
                        <a:t>回復ポイントの目標</a:t>
                      </a:r>
                      <a:r>
                        <a:rPr lang="en-US" altLang="ja-JP" sz="600" u="none" strike="noStrike" dirty="0">
                          <a:solidFill>
                            <a:srgbClr val="0070C0"/>
                          </a:solidFill>
                          <a:effectLst/>
                        </a:rPr>
                        <a:t>)</a:t>
                      </a:r>
                      <a:endPar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719896608"/>
                  </a:ext>
                </a:extLst>
              </a:tr>
              <a:tr h="276666">
                <a:tc>
                  <a:txBody>
                    <a:bodyPr/>
                    <a:lstStyle/>
                    <a:p>
                      <a:pPr algn="l" fontAlgn="ctr"/>
                      <a:r>
                        <a:rPr lang="ja-JP" altLang="en-US" sz="600" u="none" strike="noStrike" dirty="0">
                          <a:solidFill>
                            <a:srgbClr val="0070C0"/>
                          </a:solidFill>
                          <a:effectLst/>
                        </a:rPr>
                        <a:t>汎用</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リモートストレージ</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b="0" i="0" u="none" strike="noStrike" dirty="0">
                          <a:solidFill>
                            <a:srgbClr val="0070C0"/>
                          </a:solidFill>
                          <a:effectLst/>
                          <a:latin typeface="游ゴシック" panose="020B0400000000000000" pitchFamily="50" charset="-128"/>
                          <a:ea typeface="游ゴシック" panose="020B0400000000000000" pitchFamily="50" charset="-128"/>
                        </a:rPr>
                        <a:t>99.99%</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数十秒程度</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ゼロを目指すが、わずかなデータ損失の可能性あり</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53746224"/>
                  </a:ext>
                </a:extLst>
              </a:tr>
              <a:tr h="276666">
                <a:tc>
                  <a:txBody>
                    <a:bodyPr/>
                    <a:lstStyle/>
                    <a:p>
                      <a:pPr algn="l" fontAlgn="ctr"/>
                      <a:r>
                        <a:rPr lang="ja-JP" altLang="en-US" sz="600" u="none" strike="noStrike" dirty="0">
                          <a:solidFill>
                            <a:srgbClr val="0070C0"/>
                          </a:solidFill>
                          <a:effectLst/>
                        </a:rPr>
                        <a:t>ビジネスクリティカル</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ja-JP" altLang="en-US" sz="600" u="none" strike="noStrike" dirty="0">
                          <a:solidFill>
                            <a:srgbClr val="0070C0"/>
                          </a:solidFill>
                          <a:effectLst/>
                        </a:rPr>
                        <a:t>ローカルストレージ</a:t>
                      </a:r>
                      <a:endParaRPr lang="ja-JP" altLang="en-US" sz="600" b="0"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b="0" i="0" u="none" strike="noStrike" kern="1200" dirty="0">
                          <a:solidFill>
                            <a:srgbClr val="0070C0"/>
                          </a:solidFill>
                          <a:effectLst/>
                          <a:latin typeface="游ゴシック" panose="020B0400000000000000" pitchFamily="50" charset="-128"/>
                          <a:ea typeface="游ゴシック" panose="020B0400000000000000" pitchFamily="50" charset="-128"/>
                          <a:cs typeface="+mn-cs"/>
                        </a:rPr>
                        <a:t>99.995%</a:t>
                      </a:r>
                      <a:endParaRPr lang="ja-JP" altLang="en-US" sz="600" b="0" i="0" u="none" strike="noStrike" kern="1200" dirty="0">
                        <a:solidFill>
                          <a:srgbClr val="0070C0"/>
                        </a:solidFill>
                        <a:effectLst/>
                        <a:latin typeface="游ゴシック" panose="020B0400000000000000" pitchFamily="50" charset="-128"/>
                        <a:ea typeface="游ゴシック" panose="020B0400000000000000" pitchFamily="50" charset="-128"/>
                        <a:cs typeface="+mn-cs"/>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30 </a:t>
                      </a:r>
                      <a:r>
                        <a:rPr lang="ja-JP" altLang="en-US" sz="600" u="none" strike="noStrike" dirty="0">
                          <a:solidFill>
                            <a:srgbClr val="0070C0"/>
                          </a:solidFill>
                          <a:effectLst/>
                        </a:rPr>
                        <a:t>秒 </a:t>
                      </a:r>
                      <a:r>
                        <a:rPr lang="en-US" altLang="ja-JP" sz="600" u="none" strike="noStrike" dirty="0">
                          <a:solidFill>
                            <a:srgbClr val="0070C0"/>
                          </a:solidFill>
                          <a:effectLst/>
                        </a:rPr>
                        <a:t>(geo </a:t>
                      </a:r>
                      <a:r>
                        <a:rPr lang="ja-JP" altLang="en-US" sz="600" u="none" strike="noStrike" dirty="0">
                          <a:solidFill>
                            <a:srgbClr val="0070C0"/>
                          </a:solidFill>
                          <a:effectLst/>
                        </a:rPr>
                        <a:t>リカバリー時</a:t>
                      </a:r>
                      <a:r>
                        <a:rPr lang="en-US" altLang="ja-JP" sz="600" u="none" strike="noStrike" dirty="0">
                          <a:solidFill>
                            <a:srgbClr val="0070C0"/>
                          </a:solidFill>
                          <a:effectLst/>
                        </a:rPr>
                        <a:t>)</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algn="l" fontAlgn="ctr"/>
                      <a:r>
                        <a:rPr lang="en-US" altLang="ja-JP" sz="600" u="none" strike="noStrike" dirty="0">
                          <a:solidFill>
                            <a:srgbClr val="0070C0"/>
                          </a:solidFill>
                          <a:effectLst/>
                        </a:rPr>
                        <a:t>5 </a:t>
                      </a:r>
                      <a:r>
                        <a:rPr lang="ja-JP" altLang="en-US" sz="600" u="none" strike="noStrike" dirty="0">
                          <a:solidFill>
                            <a:srgbClr val="0070C0"/>
                          </a:solidFill>
                          <a:effectLst/>
                        </a:rPr>
                        <a:t>秒 </a:t>
                      </a:r>
                      <a:r>
                        <a:rPr lang="en-US" altLang="ja-JP" sz="600" u="none" strike="noStrike" dirty="0">
                          <a:solidFill>
                            <a:srgbClr val="0070C0"/>
                          </a:solidFill>
                          <a:effectLst/>
                        </a:rPr>
                        <a:t>(geo </a:t>
                      </a:r>
                      <a:r>
                        <a:rPr lang="ja-JP" altLang="en-US" sz="600" u="none" strike="noStrike" dirty="0">
                          <a:solidFill>
                            <a:srgbClr val="0070C0"/>
                          </a:solidFill>
                          <a:effectLst/>
                        </a:rPr>
                        <a:t>リカバリー時</a:t>
                      </a:r>
                      <a:r>
                        <a:rPr lang="en-US" altLang="ja-JP" sz="600" u="none" strike="noStrike" dirty="0">
                          <a:solidFill>
                            <a:srgbClr val="0070C0"/>
                          </a:solidFill>
                          <a:effectLst/>
                        </a:rPr>
                        <a:t>)</a:t>
                      </a:r>
                      <a:endParaRPr lang="ja-JP" altLang="en-US" sz="600" b="1" i="0" u="none" strike="noStrike" dirty="0">
                        <a:solidFill>
                          <a:srgbClr val="0070C0"/>
                        </a:solidFill>
                        <a:effectLst/>
                        <a:latin typeface="游ゴシック" panose="020B0400000000000000" pitchFamily="50" charset="-128"/>
                        <a:ea typeface="游ゴシック" panose="020B0400000000000000" pitchFamily="50" charset="-128"/>
                      </a:endParaRPr>
                    </a:p>
                  </a:txBody>
                  <a:tcPr marL="7620" marR="7620" marT="7620" marB="0"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437388293"/>
                  </a:ext>
                </a:extLst>
              </a:tr>
            </a:tbl>
          </a:graphicData>
        </a:graphic>
      </p:graphicFrame>
    </p:spTree>
    <p:extLst>
      <p:ext uri="{BB962C8B-B14F-4D97-AF65-F5344CB8AC3E}">
        <p14:creationId xmlns:p14="http://schemas.microsoft.com/office/powerpoint/2010/main" val="33212029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BCB922EE-95E3-497F-8326-C2ABF66A4B77}">
  <ds:schemaRefs/>
</ds:datastoreItem>
</file>

<file path=customXml/itemProps3.xml><?xml version="1.0" encoding="utf-8"?>
<ds:datastoreItem xmlns:ds="http://schemas.openxmlformats.org/officeDocument/2006/customXml" ds:itemID="{4216C17B-9ACF-4273-9EF4-F7A543FAF213}">
  <ds:schemaRefs/>
</ds:datastoreItem>
</file>

<file path=docProps/app.xml><?xml version="1.0" encoding="utf-8"?>
<Properties xmlns="http://schemas.openxmlformats.org/officeDocument/2006/extended-properties" xmlns:vt="http://schemas.openxmlformats.org/officeDocument/2006/docPropsVTypes">
  <Template>MCG_jp_rev1</Template>
  <TotalTime>6606</TotalTime>
  <Words>1841</Words>
  <Application>Microsoft Office PowerPoint</Application>
  <PresentationFormat>ワイド画面</PresentationFormat>
  <Paragraphs>188</Paragraphs>
  <Slides>6</Slides>
  <Notes>5</Notes>
  <HiddenSlides>0</HiddenSlides>
  <MMClips>0</MMClips>
  <ScaleCrop>false</ScaleCrop>
  <HeadingPairs>
    <vt:vector size="8" baseType="variant">
      <vt:variant>
        <vt:lpstr>使用されているフォント</vt:lpstr>
      </vt:variant>
      <vt:variant>
        <vt:i4>8</vt:i4>
      </vt:variant>
      <vt:variant>
        <vt:lpstr>テーマ</vt:lpstr>
      </vt:variant>
      <vt:variant>
        <vt:i4>6</vt:i4>
      </vt:variant>
      <vt:variant>
        <vt:lpstr>埋め込まれた OLE サーバー</vt:lpstr>
      </vt:variant>
      <vt:variant>
        <vt:i4>1</vt:i4>
      </vt:variant>
      <vt:variant>
        <vt:lpstr>スライド タイトル</vt:lpstr>
      </vt:variant>
      <vt:variant>
        <vt:i4>6</vt:i4>
      </vt:variant>
    </vt:vector>
  </HeadingPairs>
  <TitlesOfParts>
    <vt:vector size="21" baseType="lpstr">
      <vt:lpstr>Yu Gothic UI</vt:lpstr>
      <vt:lpstr>游ゴシック</vt:lpstr>
      <vt:lpstr>Arial</vt:lpstr>
      <vt:lpstr>Calibri</vt:lpstr>
      <vt:lpstr>Calibri Light</vt:lpstr>
      <vt:lpstr>Gill Sans MT</vt:lpstr>
      <vt:lpstr>Verdana</vt:lpstr>
      <vt:lpstr>Wingdings</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PowerPoint プレゼンテーション</vt:lpstr>
      <vt:lpstr>提案の背景</vt:lpstr>
      <vt:lpstr>システム概要</vt:lpstr>
      <vt:lpstr>機能の実現所在</vt:lpstr>
      <vt:lpstr>全体アーキテクチャ</vt:lpstr>
      <vt:lpstr>要件／ソリューション－非機能要件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91</cp:revision>
  <dcterms:created xsi:type="dcterms:W3CDTF">2023-05-25T05:41:00Z</dcterms:created>
  <dcterms:modified xsi:type="dcterms:W3CDTF">2025-11-12T04:38:01Z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