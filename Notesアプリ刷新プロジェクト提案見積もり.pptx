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53"/>
  </p:notesMasterIdLst>
  <p:handoutMasterIdLst>
    <p:handoutMasterId r:id="rId54"/>
  </p:handoutMasterIdLst>
  <p:sldIdLst>
    <p:sldId id="16772939" r:id="rId10"/>
    <p:sldId id="16776365" r:id="rId11"/>
    <p:sldId id="16776366" r:id="rId12"/>
    <p:sldId id="16776367" r:id="rId13"/>
    <p:sldId id="16776368" r:id="rId14"/>
    <p:sldId id="16776370" r:id="rId15"/>
    <p:sldId id="16776369" r:id="rId16"/>
    <p:sldId id="16776371" r:id="rId17"/>
    <p:sldId id="16776373" r:id="rId18"/>
    <p:sldId id="16776405" r:id="rId19"/>
    <p:sldId id="16776376" r:id="rId20"/>
    <p:sldId id="16776406" r:id="rId21"/>
    <p:sldId id="16776407" r:id="rId22"/>
    <p:sldId id="16776408" r:id="rId23"/>
    <p:sldId id="16776380" r:id="rId24"/>
    <p:sldId id="16776381" r:id="rId25"/>
    <p:sldId id="16776382" r:id="rId26"/>
    <p:sldId id="16776383" r:id="rId27"/>
    <p:sldId id="16776384" r:id="rId28"/>
    <p:sldId id="16776385" r:id="rId29"/>
    <p:sldId id="16776386" r:id="rId30"/>
    <p:sldId id="16776387" r:id="rId31"/>
    <p:sldId id="16776388" r:id="rId32"/>
    <p:sldId id="16776409" r:id="rId33"/>
    <p:sldId id="16776410" r:id="rId34"/>
    <p:sldId id="16776390" r:id="rId35"/>
    <p:sldId id="16776391" r:id="rId36"/>
    <p:sldId id="16776403" r:id="rId37"/>
    <p:sldId id="16776389" r:id="rId38"/>
    <p:sldId id="16776393" r:id="rId39"/>
    <p:sldId id="16776394" r:id="rId40"/>
    <p:sldId id="16776395" r:id="rId41"/>
    <p:sldId id="16776396" r:id="rId42"/>
    <p:sldId id="16776397" r:id="rId43"/>
    <p:sldId id="16776398" r:id="rId44"/>
    <p:sldId id="16776399" r:id="rId45"/>
    <p:sldId id="16776400" r:id="rId46"/>
    <p:sldId id="16776401" r:id="rId47"/>
    <p:sldId id="16776402" r:id="rId48"/>
    <p:sldId id="16776411" r:id="rId49"/>
    <p:sldId id="16776412" r:id="rId50"/>
    <p:sldId id="16776413" r:id="rId51"/>
    <p:sldId id="16776414" r:id="rId52"/>
  </p:sldIdLst>
  <p:sldSz cx="12192000" cy="6858000"/>
  <p:notesSz cx="6858000" cy="9144000"/>
  <p:custDataLst>
    <p:tags r:id="rId55"/>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370"/>
            <p14:sldId id="16776369"/>
            <p14:sldId id="16776371"/>
            <p14:sldId id="16776373"/>
            <p14:sldId id="16776405"/>
            <p14:sldId id="16776376"/>
            <p14:sldId id="16776406"/>
            <p14:sldId id="16776407"/>
            <p14:sldId id="16776408"/>
            <p14:sldId id="16776380"/>
            <p14:sldId id="16776381"/>
            <p14:sldId id="16776382"/>
            <p14:sldId id="16776383"/>
            <p14:sldId id="16776384"/>
            <p14:sldId id="16776385"/>
            <p14:sldId id="16776386"/>
            <p14:sldId id="16776387"/>
            <p14:sldId id="16776388"/>
            <p14:sldId id="16776409"/>
            <p14:sldId id="16776410"/>
            <p14:sldId id="16776390"/>
            <p14:sldId id="16776391"/>
            <p14:sldId id="16776403"/>
            <p14:sldId id="16776389"/>
            <p14:sldId id="16776393"/>
            <p14:sldId id="16776394"/>
            <p14:sldId id="16776395"/>
            <p14:sldId id="16776396"/>
            <p14:sldId id="16776397"/>
            <p14:sldId id="16776398"/>
            <p14:sldId id="16776399"/>
            <p14:sldId id="16776400"/>
            <p14:sldId id="16776401"/>
            <p14:sldId id="16776402"/>
            <p14:sldId id="16776411"/>
            <p14:sldId id="16776412"/>
            <p14:sldId id="16776413"/>
            <p14:sldId id="1677641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79" d="100"/>
          <a:sy n="179" d="100"/>
        </p:scale>
        <p:origin x="149" y="341"/>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2025/10/3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2025/10/3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extLst>
      <p:ext uri="{BB962C8B-B14F-4D97-AF65-F5344CB8AC3E}">
        <p14:creationId xmlns:p14="http://schemas.microsoft.com/office/powerpoint/2010/main" val="1754736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17EE-F15E-5D18-2F0E-AF89AD5A67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987159-3156-E079-2780-9770AD7BB9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440938-8E9A-75B1-0C75-EB6636C755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26543A4-683C-DF6E-5789-84644A6BD34B}"/>
              </a:ext>
            </a:extLst>
          </p:cNvPr>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485763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2390355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38</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39</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42</a:t>
            </a:fld>
            <a:endParaRPr kumimoji="1" lang="ja-JP"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43</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10/3/2025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10/3/2025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2" Type="http://schemas.openxmlformats.org/officeDocument/2006/relationships/notesSlide" Target="../notesSlides/notesSlide10.xml"/><Relationship Id="rId1" Type="http://schemas.openxmlformats.org/officeDocument/2006/relationships/slideLayout" Target="../slideLayouts/slideLayout8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learn.microsoft.com/ja-jp/graph/search-concept-overview"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6.png"/><Relationship Id="rId12" Type="http://schemas.openxmlformats.org/officeDocument/2006/relationships/image" Target="../media/image22.png"/><Relationship Id="rId2" Type="http://schemas.openxmlformats.org/officeDocument/2006/relationships/notesSlide" Target="../notesSlides/notesSlide23.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9.png"/><Relationship Id="rId4" Type="http://schemas.openxmlformats.org/officeDocument/2006/relationships/image" Target="../media/image35.png"/><Relationship Id="rId9" Type="http://schemas.openxmlformats.org/officeDocument/2006/relationships/image" Target="../media/image38.png"/><Relationship Id="rId1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8.png"/><Relationship Id="rId3" Type="http://schemas.openxmlformats.org/officeDocument/2006/relationships/image" Target="../media/image19.jpe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5.jpe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35.png"/><Relationship Id="rId9"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6.png"/><Relationship Id="rId12" Type="http://schemas.openxmlformats.org/officeDocument/2006/relationships/image" Target="../media/image22.png"/><Relationship Id="rId2" Type="http://schemas.openxmlformats.org/officeDocument/2006/relationships/notesSlide" Target="../notesSlides/notesSlide27.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9.png"/><Relationship Id="rId4" Type="http://schemas.openxmlformats.org/officeDocument/2006/relationships/image" Target="../media/image35.png"/><Relationship Id="rId9" Type="http://schemas.openxmlformats.org/officeDocument/2006/relationships/image" Target="../media/image38.png"/><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1.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35.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81.xml"/><Relationship Id="rId5" Type="http://schemas.openxmlformats.org/officeDocument/2006/relationships/image" Target="../media/image39.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8.png"/><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81.xml"/><Relationship Id="rId6" Type="http://schemas.openxmlformats.org/officeDocument/2006/relationships/image" Target="../media/image48.png"/><Relationship Id="rId5" Type="http://schemas.openxmlformats.org/officeDocument/2006/relationships/image" Target="../media/image46.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AZURE </a:t>
            </a:r>
            <a:r>
              <a:rPr lang="en-US" altLang="ja-JP" sz="3600" dirty="0" err="1"/>
              <a:t>Sql</a:t>
            </a:r>
            <a:r>
              <a:rPr lang="en-US" altLang="ja-JP" sz="3600" dirty="0"/>
              <a:t>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dirty="0">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dirty="0">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dirty="0">
              <a:latin typeface="Yu Gothic UI" panose="020B0500000000000000" pitchFamily="50" charset="-128"/>
              <a:ea typeface="Yu Gothic UI" panose="020B0500000000000000" pitchFamily="50" charset="-128"/>
            </a:endParaRPr>
          </a:p>
          <a:p>
            <a:r>
              <a:rPr lang="ja-JP" altLang="en-US" dirty="0">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dirty="0">
              <a:latin typeface="Yu Gothic UI" panose="020B0500000000000000" pitchFamily="50" charset="-128"/>
              <a:ea typeface="Yu Gothic UI" panose="020B0500000000000000" pitchFamily="50" charset="-128"/>
            </a:endParaRPr>
          </a:p>
          <a:p>
            <a:r>
              <a:rPr lang="en-US" altLang="ja-JP" dirty="0">
                <a:latin typeface="Yu Gothic UI" panose="020B0500000000000000" pitchFamily="50" charset="-128"/>
                <a:ea typeface="Yu Gothic UI" panose="020B0500000000000000" pitchFamily="50" charset="-128"/>
              </a:rPr>
              <a:t>		</a:t>
            </a:r>
            <a:r>
              <a:rPr lang="en-US" altLang="ja-JP" sz="2800" dirty="0">
                <a:latin typeface="Yu Gothic UI" panose="020B0500000000000000" pitchFamily="50" charset="-128"/>
                <a:ea typeface="Yu Gothic UI" panose="020B0500000000000000" pitchFamily="50" charset="-128"/>
              </a:rPr>
              <a:t>PowerPlatform+Office365+Azure SQL</a:t>
            </a:r>
          </a:p>
          <a:p>
            <a:r>
              <a:rPr lang="ja-JP" altLang="en-US" dirty="0">
                <a:latin typeface="Yu Gothic UI" panose="020B0500000000000000" pitchFamily="50" charset="-128"/>
                <a:ea typeface="Yu Gothic UI" panose="020B0500000000000000" pitchFamily="50" charset="-128"/>
              </a:rPr>
              <a:t>での構築方法を提案させていただきます。</a:t>
            </a:r>
            <a:endParaRPr lang="en-US" altLang="ja-JP"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dirty="0">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t>ストレージの選定</a:t>
            </a:r>
            <a:endParaRPr lang="en-US" altLang="ja-JP" sz="1600" dirty="0"/>
          </a:p>
          <a:p>
            <a:pPr marL="285750" indent="-285750">
              <a:buFont typeface="Arial" panose="020B0604020202020204" pitchFamily="34" charset="0"/>
              <a:buChar char="•"/>
            </a:pPr>
            <a:r>
              <a:rPr lang="ja-JP" altLang="en-US" sz="1600" dirty="0"/>
              <a:t>全体アーキテクチャ（添付ファイルは</a:t>
            </a:r>
            <a:r>
              <a:rPr lang="en-US" altLang="ja-JP" sz="1600" dirty="0"/>
              <a:t>SPO</a:t>
            </a:r>
            <a:r>
              <a:rPr lang="ja-JP" altLang="en-US" sz="1600" dirty="0"/>
              <a:t>へ保存の案）</a:t>
            </a:r>
            <a:endParaRPr lang="en-US" altLang="ja-JP" sz="1600" dirty="0"/>
          </a:p>
          <a:p>
            <a:pPr marL="285750" indent="-285750">
              <a:buFont typeface="Arial" panose="020B0604020202020204" pitchFamily="34" charset="0"/>
              <a:buChar char="•"/>
            </a:pPr>
            <a:r>
              <a:rPr lang="ja-JP" altLang="en-US" sz="1600" dirty="0"/>
              <a:t>要件</a:t>
            </a:r>
            <a:r>
              <a:rPr lang="en-US" altLang="ja-JP" sz="1600" dirty="0"/>
              <a:t>/</a:t>
            </a:r>
            <a:r>
              <a:rPr lang="ja-JP" altLang="en-US" sz="1600" dirty="0"/>
              <a:t>ソリューション</a:t>
            </a:r>
            <a:endParaRPr lang="en-US" altLang="ja-JP" sz="1600" dirty="0"/>
          </a:p>
          <a:p>
            <a:pPr marL="742950" lvl="1" indent="-285750">
              <a:buFont typeface="Arial" panose="020B0604020202020204" pitchFamily="34" charset="0"/>
              <a:buChar char="•"/>
            </a:pPr>
            <a:r>
              <a:rPr lang="ja-JP" altLang="en-US" sz="1400" dirty="0"/>
              <a:t>添付ファイル管理（編集を含む）</a:t>
            </a:r>
            <a:endParaRPr lang="en-US" altLang="ja-JP" sz="1400" dirty="0"/>
          </a:p>
          <a:p>
            <a:pPr marL="742950" lvl="1" indent="-285750">
              <a:buFont typeface="Arial" panose="020B0604020202020204" pitchFamily="34" charset="0"/>
              <a:buChar char="•"/>
            </a:pPr>
            <a:r>
              <a:rPr lang="ja-JP" altLang="en-US" sz="1400" dirty="0"/>
              <a:t>権限管理</a:t>
            </a:r>
            <a:endParaRPr lang="en-US" altLang="ja-JP" sz="1400" dirty="0"/>
          </a:p>
          <a:p>
            <a:pPr marL="742950" lvl="1" indent="-285750">
              <a:buFont typeface="Arial" panose="020B0604020202020204" pitchFamily="34" charset="0"/>
              <a:buChar char="•"/>
            </a:pPr>
            <a:r>
              <a:rPr lang="ja-JP" altLang="en-US" sz="1400" dirty="0"/>
              <a:t>検索機能</a:t>
            </a:r>
            <a:endParaRPr lang="en-US" altLang="ja-JP" sz="1400" dirty="0"/>
          </a:p>
          <a:p>
            <a:pPr marL="742950" lvl="1" indent="-285750">
              <a:buFont typeface="Arial" panose="020B0604020202020204" pitchFamily="34" charset="0"/>
              <a:buChar char="•"/>
            </a:pPr>
            <a:r>
              <a:rPr lang="ja-JP" altLang="en-US" sz="1400" dirty="0"/>
              <a:t>一括ダウンロード機能</a:t>
            </a:r>
            <a:endParaRPr lang="en-US" altLang="ja-JP" sz="1400" dirty="0"/>
          </a:p>
          <a:p>
            <a:pPr marL="742950" lvl="1" indent="-285750">
              <a:buFont typeface="Arial" panose="020B0604020202020204" pitchFamily="34" charset="0"/>
              <a:buChar char="•"/>
            </a:pPr>
            <a:r>
              <a:rPr lang="ja-JP" altLang="en-US" sz="1400" dirty="0"/>
              <a:t>ユーザ別の属性管理（</a:t>
            </a:r>
            <a:r>
              <a:rPr lang="en-US" altLang="ja-JP" sz="1400" dirty="0"/>
              <a:t>Option</a:t>
            </a:r>
            <a:r>
              <a:rPr lang="ja-JP" altLang="en-US" sz="1400" dirty="0"/>
              <a:t>）</a:t>
            </a:r>
            <a:endParaRPr lang="en-US" altLang="ja-JP" sz="1400" dirty="0"/>
          </a:p>
          <a:p>
            <a:pPr marL="742950" lvl="1" indent="-285750">
              <a:buFont typeface="Arial" panose="020B0604020202020204" pitchFamily="34" charset="0"/>
              <a:buChar char="•"/>
            </a:pPr>
            <a:r>
              <a:rPr lang="ja-JP" altLang="en-US" sz="1400" dirty="0"/>
              <a:t>非機能要件</a:t>
            </a:r>
            <a:r>
              <a:rPr lang="en-US" altLang="ja-JP" sz="1400"/>
              <a:t>	</a:t>
            </a:r>
            <a:endParaRPr lang="en-US" altLang="ja-JP" sz="1400" dirty="0"/>
          </a:p>
          <a:p>
            <a:pPr marL="742950" lvl="1" indent="-285750">
              <a:buFont typeface="Arial" panose="020B0604020202020204" pitchFamily="34" charset="0"/>
              <a:buChar char="•"/>
            </a:pPr>
            <a:r>
              <a:rPr lang="ja-JP" altLang="en-US" sz="1400" dirty="0"/>
              <a:t>データ移行</a:t>
            </a:r>
            <a:endParaRPr lang="en-US" altLang="ja-JP" sz="14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プロジェクトリスク</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ja-JP" altLang="en-US" sz="1400" dirty="0"/>
              <a:t>案</a:t>
            </a:r>
            <a:r>
              <a:rPr lang="en-US" altLang="ja-JP" sz="1400" dirty="0"/>
              <a:t>B </a:t>
            </a:r>
            <a:r>
              <a:rPr lang="ja-JP" altLang="en-US" sz="1400" dirty="0"/>
              <a:t>：</a:t>
            </a:r>
            <a:r>
              <a:rPr lang="en-US" altLang="ja-JP" sz="1400" dirty="0" err="1"/>
              <a:t>Sql</a:t>
            </a:r>
            <a:r>
              <a:rPr lang="en-US" altLang="ja-JP" sz="1400" dirty="0"/>
              <a:t> server 2022 + </a:t>
            </a:r>
            <a:r>
              <a:rPr lang="ja-JP" altLang="en-US" sz="1400" dirty="0"/>
              <a:t>添付ファイル</a:t>
            </a:r>
            <a:r>
              <a:rPr lang="en-US" altLang="ja-JP" sz="1400" dirty="0"/>
              <a:t>DATAVERSE</a:t>
            </a:r>
            <a:r>
              <a:rPr lang="ja-JP" altLang="en-US" sz="1400" dirty="0"/>
              <a:t>保存（前回の提案内容）</a:t>
            </a:r>
            <a:endParaRPr lang="en-US" altLang="ja-JP" sz="1400" dirty="0"/>
          </a:p>
          <a:p>
            <a:pPr marL="742950" lvl="1" indent="-285750">
              <a:buFont typeface="Arial" panose="020B0604020202020204" pitchFamily="34" charset="0"/>
              <a:buChar char="•"/>
            </a:pPr>
            <a:r>
              <a:rPr lang="ja-JP" altLang="en-US" sz="1400" dirty="0"/>
              <a:t>案</a:t>
            </a:r>
            <a:r>
              <a:rPr lang="en-US" altLang="ja-JP" sz="1400" dirty="0"/>
              <a:t>C</a:t>
            </a:r>
            <a:r>
              <a:rPr lang="ja-JP" altLang="en-US" sz="1400" dirty="0"/>
              <a:t>：</a:t>
            </a:r>
            <a:r>
              <a:rPr lang="en-US" altLang="ja-JP" sz="1400" dirty="0"/>
              <a:t> Azure</a:t>
            </a:r>
            <a:r>
              <a:rPr lang="ja-JP" altLang="en-US" sz="1400" dirty="0"/>
              <a:t> </a:t>
            </a:r>
            <a:r>
              <a:rPr lang="en-US" altLang="ja-JP" sz="1400" dirty="0"/>
              <a:t>SQL + </a:t>
            </a:r>
            <a:r>
              <a:rPr lang="ja-JP" altLang="en-US" sz="1400" dirty="0"/>
              <a:t>添付ファイル</a:t>
            </a:r>
            <a:r>
              <a:rPr lang="en-US" altLang="ja-JP" sz="1400" dirty="0"/>
              <a:t>DATAVERSE</a:t>
            </a:r>
            <a:r>
              <a:rPr lang="ja-JP" altLang="en-US" sz="1400" dirty="0"/>
              <a:t>保存（前回の提案内容を</a:t>
            </a:r>
            <a:r>
              <a:rPr lang="en-US" altLang="ja-JP" sz="1400" dirty="0"/>
              <a:t>Azure SQL</a:t>
            </a:r>
            <a:r>
              <a:rPr lang="ja-JP" altLang="en-US" sz="1400" dirty="0"/>
              <a:t>に替える）</a:t>
            </a:r>
            <a:endParaRPr lang="en-US" altLang="ja-JP" sz="1400" dirty="0"/>
          </a:p>
          <a:p>
            <a:pPr marL="742950" lvl="1" indent="-285750">
              <a:buFont typeface="Arial" panose="020B0604020202020204" pitchFamily="34" charset="0"/>
              <a:buChar char="•"/>
            </a:pPr>
            <a:r>
              <a:rPr lang="en-US" altLang="ja-JP" sz="1400" dirty="0"/>
              <a:t>POC</a:t>
            </a:r>
            <a:r>
              <a:rPr lang="ja-JP" altLang="en-US" sz="1400" dirty="0"/>
              <a:t>範囲</a:t>
            </a:r>
            <a:endParaRPr lang="en-US" altLang="ja-JP" sz="1400" dirty="0"/>
          </a:p>
          <a:p>
            <a:pPr marL="742950" lvl="1" indent="-285750">
              <a:buFont typeface="Arial" panose="020B0604020202020204" pitchFamily="34" charset="0"/>
              <a:buChar char="•"/>
            </a:pPr>
            <a:r>
              <a:rPr lang="ja-JP" altLang="en-US" sz="1400" dirty="0"/>
              <a:t>サポートとメンテナンス－瑕疵範囲、保守提案</a:t>
            </a:r>
            <a:endParaRPr lang="en-US" altLang="ja-JP"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a:t>
            </a:r>
          </a:p>
        </p:txBody>
      </p:sp>
      <p:graphicFrame>
        <p:nvGraphicFramePr>
          <p:cNvPr id="5" name="表 4">
            <a:extLst>
              <a:ext uri="{FF2B5EF4-FFF2-40B4-BE49-F238E27FC236}">
                <a16:creationId xmlns:a16="http://schemas.microsoft.com/office/drawing/2014/main" id="{483A961F-1847-5E94-91D2-039256550354}"/>
              </a:ext>
            </a:extLst>
          </p:cNvPr>
          <p:cNvGraphicFramePr>
            <a:graphicFrameLocks noGrp="1"/>
          </p:cNvGraphicFramePr>
          <p:nvPr>
            <p:extLst>
              <p:ext uri="{D42A27DB-BD31-4B8C-83A1-F6EECF244321}">
                <p14:modId xmlns:p14="http://schemas.microsoft.com/office/powerpoint/2010/main" val="1976876469"/>
              </p:ext>
            </p:extLst>
          </p:nvPr>
        </p:nvGraphicFramePr>
        <p:xfrm>
          <a:off x="273718" y="1120297"/>
          <a:ext cx="11723914" cy="5276746"/>
        </p:xfrm>
        <a:graphic>
          <a:graphicData uri="http://schemas.openxmlformats.org/drawingml/2006/table">
            <a:tbl>
              <a:tblPr firstRow="1">
                <a:tableStyleId>{2D5ABB26-0587-4C30-8999-92F81FD0307C}</a:tableStyleId>
              </a:tblPr>
              <a:tblGrid>
                <a:gridCol w="978398">
                  <a:extLst>
                    <a:ext uri="{9D8B030D-6E8A-4147-A177-3AD203B41FA5}">
                      <a16:colId xmlns:a16="http://schemas.microsoft.com/office/drawing/2014/main" val="20000"/>
                    </a:ext>
                  </a:extLst>
                </a:gridCol>
                <a:gridCol w="1956854">
                  <a:extLst>
                    <a:ext uri="{9D8B030D-6E8A-4147-A177-3AD203B41FA5}">
                      <a16:colId xmlns:a16="http://schemas.microsoft.com/office/drawing/2014/main" val="20001"/>
                    </a:ext>
                  </a:extLst>
                </a:gridCol>
                <a:gridCol w="2183547">
                  <a:extLst>
                    <a:ext uri="{9D8B030D-6E8A-4147-A177-3AD203B41FA5}">
                      <a16:colId xmlns:a16="http://schemas.microsoft.com/office/drawing/2014/main" val="2142441908"/>
                    </a:ext>
                  </a:extLst>
                </a:gridCol>
                <a:gridCol w="1912169">
                  <a:extLst>
                    <a:ext uri="{9D8B030D-6E8A-4147-A177-3AD203B41FA5}">
                      <a16:colId xmlns:a16="http://schemas.microsoft.com/office/drawing/2014/main" val="20002"/>
                    </a:ext>
                  </a:extLst>
                </a:gridCol>
                <a:gridCol w="2312974">
                  <a:extLst>
                    <a:ext uri="{9D8B030D-6E8A-4147-A177-3AD203B41FA5}">
                      <a16:colId xmlns:a16="http://schemas.microsoft.com/office/drawing/2014/main" val="20003"/>
                    </a:ext>
                  </a:extLst>
                </a:gridCol>
                <a:gridCol w="2379972">
                  <a:extLst>
                    <a:ext uri="{9D8B030D-6E8A-4147-A177-3AD203B41FA5}">
                      <a16:colId xmlns:a16="http://schemas.microsoft.com/office/drawing/2014/main" val="20004"/>
                    </a:ext>
                  </a:extLst>
                </a:gridCol>
              </a:tblGrid>
              <a:tr h="254663">
                <a:tc>
                  <a:txBody>
                    <a:bodyPr/>
                    <a:lstStyle/>
                    <a:p>
                      <a:r>
                        <a:rPr lang="ja-JP" altLang="en-US" sz="8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SQL Server 2022</a:t>
                      </a:r>
                      <a:r>
                        <a:rPr lang="en-US" altLang="ja-JP" sz="800" dirty="0">
                          <a:effectLst/>
                        </a:rPr>
                        <a:t>(</a:t>
                      </a:r>
                      <a:r>
                        <a:rPr lang="ja-JP" altLang="en-US" sz="800" dirty="0">
                          <a:effectLst/>
                        </a:rPr>
                        <a:t>オンプレミス</a:t>
                      </a:r>
                      <a:r>
                        <a:rPr lang="en-US" altLang="ja-JP" sz="800" dirty="0">
                          <a:effectLst/>
                        </a:rPr>
                        <a:t>DB</a:t>
                      </a:r>
                      <a:r>
                        <a:rPr lang="en-US" sz="8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800" dirty="0">
                          <a:effectLst/>
                        </a:rPr>
                        <a:t>Azure SQL Database (</a:t>
                      </a:r>
                      <a:r>
                        <a:rPr lang="ja-JP" altLang="en-US" sz="800" kern="1200" dirty="0">
                          <a:solidFill>
                            <a:schemeClr val="tx1"/>
                          </a:solidFill>
                          <a:effectLst/>
                          <a:latin typeface="+mn-lt"/>
                          <a:ea typeface="+mn-ea"/>
                          <a:cs typeface="+mn-cs"/>
                        </a:rPr>
                        <a:t>クラウド</a:t>
                      </a:r>
                      <a:r>
                        <a:rPr lang="de-DE" altLang="ja-JP" sz="800" kern="1200" dirty="0">
                          <a:solidFill>
                            <a:schemeClr val="tx1"/>
                          </a:solidFill>
                          <a:effectLst/>
                          <a:latin typeface="+mn-lt"/>
                          <a:ea typeface="+mn-ea"/>
                          <a:cs typeface="+mn-cs"/>
                        </a:rPr>
                        <a:t>PaaS)</a:t>
                      </a:r>
                      <a:r>
                        <a:rPr lang="en-US" altLang="ja-JP" sz="800"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定型データ保存に推奨</a:t>
                      </a:r>
                      <a:endParaRPr lang="de-DE" altLang="ja-JP" sz="8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b="1" dirty="0"/>
                        <a:t>SharePoint Online</a:t>
                      </a:r>
                      <a:r>
                        <a:rPr lang="en-US" altLang="ja-JP" sz="800" kern="1200" dirty="0">
                          <a:solidFill>
                            <a:schemeClr val="tx1"/>
                          </a:solidFill>
                          <a:effectLst/>
                          <a:latin typeface="+mn-lt"/>
                          <a:ea typeface="+mn-ea"/>
                          <a:cs typeface="+mn-cs"/>
                        </a:rPr>
                        <a:t>-</a:t>
                      </a:r>
                      <a:r>
                        <a:rPr lang="ja-JP" altLang="en-US" sz="800" b="1" dirty="0">
                          <a:solidFill>
                            <a:srgbClr val="00B050"/>
                          </a:solidFill>
                        </a:rPr>
                        <a:t>ファイル保存に</a:t>
                      </a:r>
                      <a:r>
                        <a:rPr kumimoji="1" lang="ja-JP" altLang="en-US" sz="800" b="1" dirty="0">
                          <a:solidFill>
                            <a:srgbClr val="00B050"/>
                          </a:solidFill>
                        </a:rPr>
                        <a:t>推奨</a:t>
                      </a:r>
                      <a:endParaRPr lang="de-DE" sz="8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54663">
                <a:tc>
                  <a:txBody>
                    <a:bodyPr/>
                    <a:lstStyle/>
                    <a:p>
                      <a:r>
                        <a:rPr lang="ja-JP" altLang="en-US" sz="800" b="1" dirty="0"/>
                        <a:t>ファイル保存データ型</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ファイル </a:t>
                      </a:r>
                      <a:r>
                        <a:rPr lang="en-US" altLang="ja-JP" sz="700" dirty="0"/>
                        <a:t>(File) </a:t>
                      </a:r>
                      <a:r>
                        <a:rPr lang="ja-JP" altLang="en-US" sz="700" dirty="0"/>
                        <a:t>データ型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bytea</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バイナリ </a:t>
                      </a:r>
                      <a:r>
                        <a:rPr lang="en-US" altLang="ja-JP" sz="700" dirty="0"/>
                        <a:t>(Binary) </a:t>
                      </a:r>
                      <a:r>
                        <a:rPr lang="ja-JP" altLang="en-US" sz="700" dirty="0"/>
                        <a:t>またはドキュメントライブラリのファイル</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1"/>
                  </a:ext>
                </a:extLst>
              </a:tr>
              <a:tr h="226114">
                <a:tc>
                  <a:txBody>
                    <a:bodyPr/>
                    <a:lstStyle/>
                    <a:p>
                      <a:r>
                        <a:rPr lang="ja-JP" altLang="en-US" sz="800" b="1" dirty="0"/>
                        <a:t>最大サイズ</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300MB (</a:t>
                      </a:r>
                      <a:r>
                        <a:rPr lang="ja-JP" altLang="en-US" sz="700" dirty="0">
                          <a:solidFill>
                            <a:srgbClr val="00B050"/>
                          </a:solidFill>
                        </a:rPr>
                        <a:t>レコードあたり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a:t>
                      </a:r>
                      <a:r>
                        <a:rPr lang="en-US" altLang="ja-JP" sz="700" dirty="0">
                          <a:solidFill>
                            <a:srgbClr val="00B050"/>
                          </a:solidFill>
                        </a:rPr>
                        <a:t>/</a:t>
                      </a:r>
                      <a:r>
                        <a:rPr lang="ja-JP" altLang="en-US" sz="700" dirty="0">
                          <a:solidFill>
                            <a:srgbClr val="00B050"/>
                          </a:solidFill>
                        </a:rPr>
                        <a:t>サーバー設定に依存 </a:t>
                      </a:r>
                      <a:r>
                        <a:rPr lang="en-US" altLang="ja-JP" sz="700" dirty="0">
                          <a:solidFill>
                            <a:srgbClr val="00B050"/>
                          </a:solidFill>
                        </a:rPr>
                        <a:t>(</a:t>
                      </a:r>
                      <a:r>
                        <a:rPr lang="ja-JP" altLang="en-US" sz="700" dirty="0">
                          <a:solidFill>
                            <a:srgbClr val="00B050"/>
                          </a:solidFill>
                        </a:rPr>
                        <a:t>一般的に大きい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15GB (</a:t>
                      </a:r>
                      <a:r>
                        <a:rPr lang="ja-JP" altLang="en-US" sz="700" dirty="0">
                          <a:solidFill>
                            <a:srgbClr val="00B050"/>
                          </a:solidFill>
                        </a:rPr>
                        <a:t>ファイルあたり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334730">
                <a:tc>
                  <a:txBody>
                    <a:bodyPr/>
                    <a:lstStyle/>
                    <a:p>
                      <a:r>
                        <a:rPr lang="ja-JP" altLang="en-US" sz="800" b="1"/>
                        <a:t>ネイティブ全文検索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altLang="ja-JP" sz="700" dirty="0">
                          <a:solidFill>
                            <a:srgbClr val="00B050"/>
                          </a:solidFill>
                        </a:rPr>
                        <a:t>Full-Text Search</a:t>
                      </a:r>
                      <a:r>
                        <a:rPr lang="ja-JP" altLang="en-US" sz="700" dirty="0">
                          <a:solidFill>
                            <a:srgbClr val="00B050"/>
                          </a:solidFill>
                        </a:rPr>
                        <a:t>機能</a:t>
                      </a:r>
                      <a:r>
                        <a:rPr lang="en-US" altLang="ja-JP" sz="7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SQL Server 2022</a:t>
                      </a:r>
                      <a:r>
                        <a:rPr lang="ja-JP" altLang="en-US" sz="700" dirty="0">
                          <a:solidFill>
                            <a:srgbClr val="00B050"/>
                          </a:solidFill>
                          <a:effectLst/>
                        </a:rPr>
                        <a:t>はサードパーティ</a:t>
                      </a:r>
                      <a:r>
                        <a:rPr lang="en-US" altLang="ja-JP" sz="700" dirty="0" err="1">
                          <a:solidFill>
                            <a:srgbClr val="00B050"/>
                          </a:solidFill>
                          <a:effectLst/>
                        </a:rPr>
                        <a:t>IFilter</a:t>
                      </a:r>
                      <a:r>
                        <a:rPr lang="ja-JP" altLang="en-US" sz="700" dirty="0">
                          <a:solidFill>
                            <a:srgbClr val="00B050"/>
                          </a:solidFill>
                          <a:effectLst/>
                        </a:rPr>
                        <a:t>やカスタム拡張で柔軟性が高く、大規模</a:t>
                      </a:r>
                      <a:r>
                        <a:rPr lang="en-US" altLang="ja-JP" sz="700" dirty="0">
                          <a:solidFill>
                            <a:srgbClr val="00B050"/>
                          </a:solidFill>
                          <a:effectLst/>
                        </a:rPr>
                        <a:t>/</a:t>
                      </a:r>
                      <a:r>
                        <a:rPr lang="ja-JP" altLang="en-US" sz="700" dirty="0">
                          <a:solidFill>
                            <a:srgbClr val="00B050"/>
                          </a:solidFill>
                          <a:effectLst/>
                        </a:rPr>
                        <a:t>複雑な検索に適。</a:t>
                      </a:r>
                      <a:r>
                        <a:rPr lang="en-US" altLang="ja-JP" sz="700" dirty="0">
                          <a:solidFill>
                            <a:srgbClr val="C00000"/>
                          </a:solidFill>
                          <a:effectLst/>
                        </a:rPr>
                        <a:t>Azure SQL</a:t>
                      </a:r>
                      <a:r>
                        <a:rPr lang="ja-JP" altLang="en-US" sz="700" dirty="0">
                          <a:solidFill>
                            <a:srgbClr val="C00000"/>
                          </a:solidFill>
                          <a:effectLst/>
                        </a:rPr>
                        <a:t>は基本に十分だが、カスタマイズ性に欠ける。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kern="1200" dirty="0">
                          <a:solidFill>
                            <a:srgbClr val="00B050"/>
                          </a:solidFill>
                          <a:latin typeface="+mn-lt"/>
                          <a:ea typeface="+mn-ea"/>
                          <a:cs typeface="+mn-cs"/>
                        </a:rPr>
                        <a:t>はい</a:t>
                      </a:r>
                      <a:r>
                        <a:rPr lang="ja-JP" altLang="en-US" sz="700" kern="1200" dirty="0">
                          <a:solidFill>
                            <a:schemeClr val="tx1"/>
                          </a:solidFill>
                          <a:latin typeface="+mn-lt"/>
                          <a:ea typeface="+mn-ea"/>
                          <a:cs typeface="+mn-cs"/>
                        </a:rPr>
                        <a:t> </a:t>
                      </a:r>
                      <a:r>
                        <a:rPr lang="en-US" altLang="ja-JP" sz="700" kern="1200" dirty="0">
                          <a:solidFill>
                            <a:schemeClr val="tx1"/>
                          </a:solidFill>
                          <a:latin typeface="+mn-lt"/>
                          <a:ea typeface="+mn-ea"/>
                          <a:cs typeface="+mn-cs"/>
                        </a:rPr>
                        <a:t>(</a:t>
                      </a:r>
                      <a:r>
                        <a:rPr lang="en-US" altLang="ja-JP" sz="700" kern="1200" dirty="0" err="1">
                          <a:solidFill>
                            <a:schemeClr val="tx1"/>
                          </a:solidFill>
                          <a:latin typeface="+mn-lt"/>
                          <a:ea typeface="+mn-ea"/>
                          <a:cs typeface="+mn-cs"/>
                        </a:rPr>
                        <a:t>pg_trgm</a:t>
                      </a:r>
                      <a:r>
                        <a:rPr lang="en-US" altLang="ja-JP" sz="700" kern="1200" dirty="0">
                          <a:solidFill>
                            <a:schemeClr val="tx1"/>
                          </a:solidFill>
                          <a:latin typeface="+mn-lt"/>
                          <a:ea typeface="+mn-ea"/>
                          <a:cs typeface="+mn-cs"/>
                        </a:rPr>
                        <a:t> </a:t>
                      </a:r>
                      <a:r>
                        <a:rPr lang="ja-JP" altLang="en-US" sz="700" kern="1200" dirty="0">
                          <a:solidFill>
                            <a:schemeClr val="tx1"/>
                          </a:solidFill>
                          <a:latin typeface="+mn-lt"/>
                          <a:ea typeface="+mn-ea"/>
                          <a:cs typeface="+mn-cs"/>
                        </a:rPr>
                        <a:t>拡張など</a:t>
                      </a:r>
                      <a:r>
                        <a:rPr lang="en-US" altLang="ja-JP" sz="700" kern="1200" dirty="0">
                          <a:solidFill>
                            <a:schemeClr val="tx1"/>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326036">
                <a:tc>
                  <a:txBody>
                    <a:bodyPr/>
                    <a:lstStyle/>
                    <a:p>
                      <a:r>
                        <a:rPr lang="ja-JP" altLang="en-US" sz="800" b="1" dirty="0"/>
                        <a:t>テキスト抽出機能</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de-DE" sz="700" dirty="0">
                          <a:solidFill>
                            <a:srgbClr val="C00000"/>
                          </a:solidFill>
                        </a:rPr>
                        <a:t>SQL Server </a:t>
                      </a:r>
                      <a:r>
                        <a:rPr lang="ja-JP" altLang="en-US" sz="700" dirty="0">
                          <a:solidFill>
                            <a:srgbClr val="C00000"/>
                          </a:solidFill>
                        </a:rPr>
                        <a:t>の機能に依存</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Azure SQL</a:t>
                      </a:r>
                      <a:r>
                        <a:rPr lang="ja-JP" altLang="en-US" sz="700" dirty="0">
                          <a:solidFill>
                            <a:srgbClr val="00B050"/>
                          </a:solidFill>
                          <a:effectLst/>
                        </a:rPr>
                        <a:t>はクラウド</a:t>
                      </a:r>
                      <a:r>
                        <a:rPr lang="en-US" altLang="ja-JP" sz="700" dirty="0">
                          <a:solidFill>
                            <a:srgbClr val="00B050"/>
                          </a:solidFill>
                          <a:effectLst/>
                        </a:rPr>
                        <a:t>AI</a:t>
                      </a:r>
                      <a:r>
                        <a:rPr lang="ja-JP" altLang="en-US" sz="700" dirty="0">
                          <a:solidFill>
                            <a:srgbClr val="00B050"/>
                          </a:solidFill>
                          <a:effectLst/>
                        </a:rPr>
                        <a:t>連携で高度な抽出（例</a:t>
                      </a:r>
                      <a:r>
                        <a:rPr lang="en-US" altLang="ja-JP" sz="700" dirty="0">
                          <a:solidFill>
                            <a:srgbClr val="00B050"/>
                          </a:solidFill>
                          <a:effectLst/>
                        </a:rPr>
                        <a:t>: </a:t>
                      </a:r>
                      <a:r>
                        <a:rPr lang="ja-JP" altLang="en-US" sz="700" dirty="0">
                          <a:solidFill>
                            <a:srgbClr val="00B050"/>
                          </a:solidFill>
                          <a:effectLst/>
                        </a:rPr>
                        <a:t>自然言語処理）が可能だ</a:t>
                      </a:r>
                      <a:r>
                        <a:rPr lang="ja-JP" altLang="en-US" sz="700" dirty="0">
                          <a:effectLst/>
                        </a:rPr>
                        <a:t>が、</a:t>
                      </a:r>
                      <a:r>
                        <a:rPr lang="ja-JP" altLang="en-US" sz="700" dirty="0">
                          <a:solidFill>
                            <a:srgbClr val="C0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de-DE" sz="700" dirty="0">
                          <a:solidFill>
                            <a:srgbClr val="C00000"/>
                          </a:solidFill>
                        </a:rPr>
                        <a:t>Dataverse Search </a:t>
                      </a:r>
                      <a:r>
                        <a:rPr lang="ja-JP" altLang="en-US" sz="700" dirty="0">
                          <a:solidFill>
                            <a:srgbClr val="C00000"/>
                          </a:solidFill>
                        </a:rPr>
                        <a:t>が内部で行う</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拡張機能や外部ツールが必要</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の検索機能が自動で行う</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326036">
                <a:tc>
                  <a:txBody>
                    <a:bodyPr/>
                    <a:lstStyle/>
                    <a:p>
                      <a:r>
                        <a:rPr lang="ja-JP" altLang="en-US" sz="800" b="1" dirty="0"/>
                        <a:t>非テキスト検索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kern="1200" dirty="0">
                          <a:solidFill>
                            <a:srgbClr val="C00000"/>
                          </a:solidFill>
                        </a:rPr>
                        <a:t>限定的 </a:t>
                      </a:r>
                      <a:r>
                        <a:rPr lang="en-US" altLang="ja-JP" sz="700" kern="1200" dirty="0">
                          <a:solidFill>
                            <a:srgbClr val="C00000"/>
                          </a:solidFill>
                        </a:rPr>
                        <a:t>(</a:t>
                      </a:r>
                      <a:r>
                        <a:rPr lang="ja-JP" altLang="en-US" sz="700" kern="1200" dirty="0">
                          <a:solidFill>
                            <a:srgbClr val="C00000"/>
                          </a:solidFill>
                        </a:rPr>
                        <a:t>インデックスやクエリによる</a:t>
                      </a:r>
                      <a:r>
                        <a:rPr lang="en-US" altLang="ja-JP" sz="700" kern="1200" dirty="0">
                          <a:solidFill>
                            <a:srgbClr val="C00000"/>
                          </a:solidFill>
                        </a:rPr>
                        <a:t>)</a:t>
                      </a:r>
                      <a:r>
                        <a:rPr lang="ja-JP" altLang="en-US" sz="700" kern="1200" dirty="0">
                          <a:solidFill>
                            <a:srgbClr val="C00000"/>
                          </a:solidFill>
                        </a:rPr>
                        <a:t>　ネイティブでは画像</a:t>
                      </a:r>
                      <a:r>
                        <a:rPr lang="en-US" altLang="ja-JP" sz="700" kern="1200" dirty="0">
                          <a:solidFill>
                            <a:srgbClr val="C00000"/>
                          </a:solidFill>
                        </a:rPr>
                        <a:t>/</a:t>
                      </a:r>
                      <a:r>
                        <a:rPr lang="ja-JP" altLang="en-US" sz="700" kern="1200" dirty="0">
                          <a:solidFill>
                            <a:srgbClr val="C00000"/>
                          </a:solidFill>
                        </a:rPr>
                        <a:t>動画内容の認識非対応。カスタム開発に依存。</a:t>
                      </a:r>
                      <a:endParaRPr lang="ja-JP" altLang="en-US" sz="700" kern="1200" dirty="0">
                        <a:solidFill>
                          <a:srgbClr val="C0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C00000"/>
                          </a:solidFill>
                          <a:effectLst/>
                        </a:rPr>
                        <a:t>Azure SQL</a:t>
                      </a:r>
                      <a:r>
                        <a:rPr lang="ja-JP" altLang="en-US" sz="700" dirty="0">
                          <a:solidFill>
                            <a:srgbClr val="C00000"/>
                          </a:solidFill>
                          <a:effectLst/>
                        </a:rPr>
                        <a:t>は</a:t>
                      </a:r>
                      <a:r>
                        <a:rPr lang="en-US" altLang="ja-JP" sz="700" dirty="0">
                          <a:solidFill>
                            <a:srgbClr val="C00000"/>
                          </a:solidFill>
                          <a:effectLst/>
                        </a:rPr>
                        <a:t>AI Search</a:t>
                      </a:r>
                      <a:r>
                        <a:rPr lang="ja-JP" altLang="en-US" sz="700" dirty="0">
                          <a:solidFill>
                            <a:srgbClr val="C00000"/>
                          </a:solidFill>
                          <a:effectLst/>
                        </a:rPr>
                        <a:t>連携で高度な非テキスト検索（例</a:t>
                      </a:r>
                      <a:r>
                        <a:rPr lang="en-US" altLang="ja-JP" sz="700" dirty="0">
                          <a:solidFill>
                            <a:srgbClr val="C00000"/>
                          </a:solidFill>
                          <a:effectLst/>
                        </a:rPr>
                        <a:t>: </a:t>
                      </a:r>
                      <a:r>
                        <a:rPr lang="ja-JP" altLang="en-US" sz="700" dirty="0">
                          <a:solidFill>
                            <a:srgbClr val="C00000"/>
                          </a:solidFill>
                          <a:effectLst/>
                        </a:rPr>
                        <a:t>画像認識）が容易だが、コスト</a:t>
                      </a:r>
                      <a:r>
                        <a:rPr lang="en-US" altLang="ja-JP" sz="700" dirty="0">
                          <a:solidFill>
                            <a:srgbClr val="C00000"/>
                          </a:solidFill>
                          <a:effectLst/>
                        </a:rPr>
                        <a:t>/</a:t>
                      </a:r>
                      <a:r>
                        <a:rPr lang="ja-JP" altLang="en-US" sz="700" dirty="0">
                          <a:solidFill>
                            <a:srgbClr val="C0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メタデータ検索が中心</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拡張機能や外部ツールが必要</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メタデータ検索、ファイルプロパティ検索</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326036">
                <a:tc>
                  <a:txBody>
                    <a:bodyPr/>
                    <a:lstStyle/>
                    <a:p>
                      <a:r>
                        <a:rPr lang="de-DE" sz="800" b="1" dirty="0"/>
                        <a:t>Power Apps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直接接続（</a:t>
                      </a:r>
                      <a:r>
                        <a:rPr lang="en-US" altLang="ja-JP" sz="700" dirty="0">
                          <a:solidFill>
                            <a:srgbClr val="00B050"/>
                          </a:solidFill>
                          <a:effectLst/>
                        </a:rPr>
                        <a:t>Gateway</a:t>
                      </a:r>
                      <a:r>
                        <a:rPr lang="ja-JP" altLang="en-US" sz="700" dirty="0">
                          <a:solidFill>
                            <a:srgbClr val="00B050"/>
                          </a:solidFill>
                          <a:effectLst/>
                        </a:rPr>
                        <a:t>不要）。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ファイル添付</a:t>
                      </a:r>
                      <a:r>
                        <a:rPr lang="en-US" altLang="ja-JP" sz="700" dirty="0">
                          <a:solidFill>
                            <a:srgbClr val="00B050"/>
                          </a:solidFill>
                          <a:effectLst/>
                        </a:rPr>
                        <a:t>: </a:t>
                      </a:r>
                      <a:r>
                        <a:rPr lang="ja-JP" altLang="en-US" sz="700" dirty="0">
                          <a:solidFill>
                            <a:srgbClr val="00B050"/>
                          </a:solidFill>
                          <a:effectLst/>
                        </a:rPr>
                        <a:t>ネイティブサポート、</a:t>
                      </a:r>
                      <a:r>
                        <a:rPr lang="en-US" altLang="ja-JP" sz="700" dirty="0">
                          <a:solidFill>
                            <a:srgbClr val="00B050"/>
                          </a:solidFill>
                          <a:effectLst/>
                        </a:rPr>
                        <a:t>Blob</a:t>
                      </a:r>
                      <a:r>
                        <a:rPr lang="ja-JP" altLang="en-US" sz="7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C00000"/>
                          </a:solidFill>
                        </a:rPr>
                        <a:t>カスタムコネクタ</a:t>
                      </a:r>
                      <a:r>
                        <a:rPr lang="ja-JP" altLang="en-US" sz="700" dirty="0">
                          <a:solidFill>
                            <a:srgbClr val="00B050"/>
                          </a:solidFill>
                        </a:rPr>
                        <a:t>、</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326036">
                <a:tc>
                  <a:txBody>
                    <a:bodyPr/>
                    <a:lstStyle/>
                    <a:p>
                      <a:r>
                        <a:rPr lang="de-DE" sz="800" b="1" dirty="0"/>
                        <a:t>Power Automate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SQL</a:t>
                      </a:r>
                      <a:r>
                        <a:rPr lang="ja-JP" altLang="en-US" sz="700" dirty="0">
                          <a:solidFill>
                            <a:srgbClr val="00B050"/>
                          </a:solidFill>
                          <a:effectLst/>
                        </a:rPr>
                        <a:t>コネクタ直接使用。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ファイルハンドリング</a:t>
                      </a:r>
                      <a:r>
                        <a:rPr lang="en-US" altLang="ja-JP" sz="700" dirty="0">
                          <a:solidFill>
                            <a:srgbClr val="00B050"/>
                          </a:solidFill>
                          <a:effectLst/>
                        </a:rPr>
                        <a:t>: Blob</a:t>
                      </a:r>
                      <a:r>
                        <a:rPr lang="ja-JP" altLang="en-US" sz="7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C00000"/>
                          </a:solidFill>
                        </a:rPr>
                        <a:t>カスタムコネクタ</a:t>
                      </a:r>
                      <a:r>
                        <a:rPr lang="ja-JP" altLang="en-US" sz="700" dirty="0">
                          <a:solidFill>
                            <a:srgbClr val="00B050"/>
                          </a:solidFill>
                        </a:rPr>
                        <a:t>、</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34730">
                <a:tc>
                  <a:txBody>
                    <a:bodyPr/>
                    <a:lstStyle/>
                    <a:p>
                      <a:r>
                        <a:rPr lang="ja-JP" altLang="en-US" sz="800" b="1" dirty="0"/>
                        <a:t>必要なライセンス</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kern="1200" dirty="0">
                          <a:solidFill>
                            <a:srgbClr val="00B050"/>
                          </a:solidFill>
                          <a:effectLst/>
                        </a:rPr>
                        <a:t>SQL Server Enterprise/Standard (Full-Text Search </a:t>
                      </a:r>
                      <a:r>
                        <a:rPr lang="ja-JP" altLang="en-US" sz="700" kern="1200" dirty="0">
                          <a:solidFill>
                            <a:srgbClr val="00B050"/>
                          </a:solidFill>
                          <a:effectLst/>
                        </a:rPr>
                        <a:t>は追加費用なし</a:t>
                      </a:r>
                      <a:r>
                        <a:rPr lang="en-US" altLang="ja-JP" sz="700" kern="1200" dirty="0">
                          <a:solidFill>
                            <a:srgbClr val="00B050"/>
                          </a:solidFill>
                          <a:effectLst/>
                        </a:rPr>
                        <a:t>)</a:t>
                      </a:r>
                      <a:endParaRPr lang="en-US" altLang="ja-JP"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chemeClr val="tx1"/>
                          </a:solidFill>
                          <a:effectLst/>
                        </a:rPr>
                        <a:t>従量課金</a:t>
                      </a:r>
                      <a:r>
                        <a:rPr lang="en-US" altLang="ja-JP" sz="700" kern="1200" dirty="0">
                          <a:solidFill>
                            <a:schemeClr val="tx1"/>
                          </a:solidFill>
                          <a:effectLst/>
                        </a:rPr>
                        <a:t>: Basic $5/</a:t>
                      </a:r>
                      <a:r>
                        <a:rPr lang="ja-JP" altLang="en-US" sz="700" kern="1200" dirty="0">
                          <a:solidFill>
                            <a:schemeClr val="tx1"/>
                          </a:solidFill>
                          <a:effectLst/>
                        </a:rPr>
                        <a:t>月</a:t>
                      </a:r>
                      <a:r>
                        <a:rPr lang="en-US" altLang="ja-JP" sz="700" kern="1200" dirty="0">
                          <a:solidFill>
                            <a:schemeClr val="tx1"/>
                          </a:solidFill>
                          <a:effectLst/>
                        </a:rPr>
                        <a:t>〜</a:t>
                      </a:r>
                      <a:r>
                        <a:rPr lang="ja-JP" altLang="en-US" sz="700" kern="1200" dirty="0">
                          <a:solidFill>
                            <a:schemeClr val="tx1"/>
                          </a:solidFill>
                          <a:effectLst/>
                        </a:rPr>
                        <a:t>、</a:t>
                      </a:r>
                      <a:r>
                        <a:rPr lang="en-US" altLang="ja-JP" sz="700" kern="1200" dirty="0" err="1">
                          <a:solidFill>
                            <a:schemeClr val="tx1"/>
                          </a:solidFill>
                          <a:effectLst/>
                        </a:rPr>
                        <a:t>vCore</a:t>
                      </a:r>
                      <a:r>
                        <a:rPr lang="en-US" altLang="ja-JP" sz="700" kern="1200" dirty="0">
                          <a:solidFill>
                            <a:schemeClr val="tx1"/>
                          </a:solidFill>
                          <a:effectLst/>
                        </a:rPr>
                        <a:t> $0.5/</a:t>
                      </a:r>
                      <a:r>
                        <a:rPr lang="ja-JP" altLang="en-US" sz="700" kern="1200" dirty="0">
                          <a:solidFill>
                            <a:schemeClr val="tx1"/>
                          </a:solidFill>
                          <a:effectLst/>
                        </a:rPr>
                        <a:t>時間</a:t>
                      </a:r>
                      <a:r>
                        <a:rPr lang="en-US" altLang="ja-JP" sz="700" kern="1200" dirty="0">
                          <a:solidFill>
                            <a:schemeClr val="tx1"/>
                          </a:solidFill>
                          <a:effectLst/>
                        </a:rPr>
                        <a:t>〜</a:t>
                      </a:r>
                      <a:r>
                        <a:rPr lang="ja-JP" altLang="en-US" sz="700" kern="1200" dirty="0">
                          <a:solidFill>
                            <a:schemeClr val="tx1"/>
                          </a:solidFill>
                          <a:effectLst/>
                        </a:rPr>
                        <a:t>（ストレージ</a:t>
                      </a:r>
                      <a:r>
                        <a:rPr lang="en-US" altLang="ja-JP" sz="700" kern="1200" dirty="0">
                          <a:solidFill>
                            <a:schemeClr val="tx1"/>
                          </a:solidFill>
                          <a:effectLst/>
                        </a:rPr>
                        <a:t>$0.10/GB/</a:t>
                      </a:r>
                      <a:r>
                        <a:rPr lang="ja-JP" altLang="en-US" sz="700" kern="1200" dirty="0">
                          <a:solidFill>
                            <a:schemeClr val="tx1"/>
                          </a:solidFill>
                          <a:effectLst/>
                        </a:rPr>
                        <a:t>月）。 </a:t>
                      </a:r>
                      <a:endParaRPr lang="en-US" altLang="ja-JP" sz="700" kern="1200" dirty="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chemeClr val="tx1"/>
                          </a:solidFill>
                          <a:effectLst/>
                        </a:rPr>
                        <a:t>ファイル</a:t>
                      </a:r>
                      <a:r>
                        <a:rPr lang="en-US" altLang="ja-JP" sz="700" kern="1200" dirty="0">
                          <a:solidFill>
                            <a:schemeClr val="tx1"/>
                          </a:solidFill>
                          <a:effectLst/>
                        </a:rPr>
                        <a:t>: </a:t>
                      </a:r>
                      <a:r>
                        <a:rPr lang="ja-JP" altLang="en-US" sz="700" kern="1200" dirty="0">
                          <a:solidFill>
                            <a:schemeClr val="tx1"/>
                          </a:solidFill>
                          <a:effectLst/>
                        </a:rPr>
                        <a:t>標準料金内、</a:t>
                      </a:r>
                      <a:r>
                        <a:rPr lang="en-US" altLang="ja-JP" sz="700" kern="1200" dirty="0">
                          <a:solidFill>
                            <a:schemeClr val="tx1"/>
                          </a:solidFill>
                          <a:effectLst/>
                        </a:rPr>
                        <a:t>Blob</a:t>
                      </a:r>
                      <a:r>
                        <a:rPr lang="ja-JP" altLang="en-US" sz="700" kern="1200" dirty="0">
                          <a:solidFill>
                            <a:schemeClr val="tx1"/>
                          </a:solidFill>
                          <a:effectLst/>
                        </a:rPr>
                        <a:t>追加で</a:t>
                      </a:r>
                      <a:r>
                        <a:rPr lang="en-US" altLang="ja-JP" sz="700" kern="1200" dirty="0">
                          <a:solidFill>
                            <a:schemeClr val="tx1"/>
                          </a:solidFill>
                          <a:effectLst/>
                        </a:rPr>
                        <a:t>$0.02/GB/</a:t>
                      </a:r>
                      <a:r>
                        <a:rPr lang="ja-JP" altLang="en-US" sz="700" kern="1200" dirty="0">
                          <a:solidFill>
                            <a:schemeClr val="tx1"/>
                          </a:solidFill>
                          <a:effectLst/>
                        </a:rPr>
                        <a:t>月。</a:t>
                      </a:r>
                      <a:endParaRPr lang="en-US" altLang="ja-JP" sz="7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Microsoft Dataverse </a:t>
                      </a:r>
                      <a:r>
                        <a:rPr lang="ja-JP" altLang="en-US" sz="700" dirty="0">
                          <a:solidFill>
                            <a:srgbClr val="00B050"/>
                          </a:solidFill>
                        </a:rPr>
                        <a:t>ライセンス </a:t>
                      </a:r>
                      <a:r>
                        <a:rPr lang="en-US" altLang="ja-JP" sz="700" dirty="0">
                          <a:solidFill>
                            <a:srgbClr val="00B050"/>
                          </a:solidFill>
                        </a:rPr>
                        <a:t>(Dynamics 365 </a:t>
                      </a:r>
                      <a:r>
                        <a:rPr lang="ja-JP" altLang="en-US" sz="700" dirty="0">
                          <a:solidFill>
                            <a:srgbClr val="00B050"/>
                          </a:solidFill>
                        </a:rPr>
                        <a:t>または </a:t>
                      </a:r>
                      <a:r>
                        <a:rPr lang="en-US" altLang="ja-JP" sz="700" dirty="0">
                          <a:solidFill>
                            <a:srgbClr val="00B050"/>
                          </a:solidFill>
                        </a:rPr>
                        <a:t>Power Apps Premium </a:t>
                      </a:r>
                      <a:r>
                        <a:rPr lang="ja-JP" altLang="en-US" sz="700" dirty="0">
                          <a:solidFill>
                            <a:srgbClr val="00B050"/>
                          </a:solidFill>
                        </a:rPr>
                        <a:t>ライセンスに含まれる場合あり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kern="1200" dirty="0">
                          <a:solidFill>
                            <a:schemeClr val="tx1"/>
                          </a:solidFill>
                          <a:latin typeface="+mn-lt"/>
                          <a:ea typeface="+mn-ea"/>
                          <a:cs typeface="+mn-cs"/>
                        </a:rPr>
                        <a:t>PostgreSQL </a:t>
                      </a:r>
                      <a:r>
                        <a:rPr lang="ja-JP" altLang="en-US" sz="700" kern="1200" dirty="0">
                          <a:solidFill>
                            <a:schemeClr val="tx1"/>
                          </a:solidFill>
                          <a:latin typeface="+mn-lt"/>
                          <a:ea typeface="+mn-ea"/>
                          <a:cs typeface="+mn-cs"/>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solidFill>
                            <a:srgbClr val="00B050"/>
                          </a:solidFill>
                        </a:rPr>
                        <a:t>Microsoft 365 </a:t>
                      </a:r>
                      <a:r>
                        <a:rPr lang="ja-JP" altLang="en-US" sz="700" dirty="0">
                          <a:solidFill>
                            <a:srgbClr val="00B050"/>
                          </a:solidFill>
                        </a:rPr>
                        <a:t>ライセンス </a:t>
                      </a:r>
                      <a:r>
                        <a:rPr lang="en-US" altLang="ja-JP" sz="700" dirty="0">
                          <a:solidFill>
                            <a:srgbClr val="00B050"/>
                          </a:solidFill>
                        </a:rPr>
                        <a:t>(</a:t>
                      </a:r>
                      <a:r>
                        <a:rPr lang="de-DE" sz="700" dirty="0">
                          <a:solidFill>
                            <a:srgbClr val="00B050"/>
                          </a:solidFill>
                        </a:rPr>
                        <a:t>SharePoint Online </a:t>
                      </a:r>
                      <a:r>
                        <a:rPr lang="ja-JP" altLang="en-US" sz="700" dirty="0">
                          <a:solidFill>
                            <a:srgbClr val="00B050"/>
                          </a:solidFill>
                        </a:rPr>
                        <a:t>を含むプラン</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425179">
                <a:tc>
                  <a:txBody>
                    <a:bodyPr/>
                    <a:lstStyle/>
                    <a:p>
                      <a:r>
                        <a:rPr lang="ja-JP" altLang="en-US" sz="800" b="1" kern="1200" dirty="0">
                          <a:solidFill>
                            <a:schemeClr val="dk1"/>
                          </a:solidFill>
                        </a:rPr>
                        <a:t>ソリューションの評価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強力なリレーショナル機能（</a:t>
                      </a:r>
                      <a:r>
                        <a:rPr lang="en-US" altLang="ja-JP" sz="700" kern="1200" dirty="0">
                          <a:solidFill>
                            <a:srgbClr val="00B050"/>
                          </a:solidFill>
                          <a:effectLst/>
                        </a:rPr>
                        <a:t>FILESTREAM</a:t>
                      </a:r>
                      <a:r>
                        <a:rPr lang="ja-JP" altLang="en-US" sz="700" kern="1200" dirty="0">
                          <a:solidFill>
                            <a:srgbClr val="00B050"/>
                          </a:solidFill>
                          <a:effectLst/>
                        </a:rPr>
                        <a:t>でファイルストレージ対応）。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フルテキスト検索でコンテンツ検索が効率的。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高性能で大規模データに強い。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C00000"/>
                          </a:solidFill>
                          <a:effectLst/>
                        </a:rPr>
                        <a:t>ライセンスが複雑でコスト高。 </a:t>
                      </a:r>
                      <a:r>
                        <a:rPr lang="en-US" altLang="ja-JP" sz="700" kern="1200" dirty="0">
                          <a:solidFill>
                            <a:srgbClr val="C00000"/>
                          </a:solidFill>
                          <a:effectLst/>
                        </a:rPr>
                        <a:t>- </a:t>
                      </a:r>
                      <a:r>
                        <a:rPr lang="ja-JP" altLang="en-US" sz="700" kern="1200" dirty="0">
                          <a:solidFill>
                            <a:srgbClr val="C00000"/>
                          </a:solidFill>
                          <a:effectLst/>
                        </a:rPr>
                        <a:t>ファイルの大容量ストレージに不向き（</a:t>
                      </a:r>
                      <a:r>
                        <a:rPr lang="en-US" altLang="ja-JP" sz="700" kern="1200" dirty="0">
                          <a:solidFill>
                            <a:srgbClr val="C00000"/>
                          </a:solidFill>
                          <a:effectLst/>
                        </a:rPr>
                        <a:t>Blob</a:t>
                      </a:r>
                      <a:r>
                        <a:rPr lang="ja-JP" altLang="en-US" sz="700" kern="1200" dirty="0">
                          <a:solidFill>
                            <a:srgbClr val="C00000"/>
                          </a:solidFill>
                          <a:effectLst/>
                        </a:rPr>
                        <a:t>推奨）。 </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C00000"/>
                          </a:solidFill>
                          <a:effectLst/>
                        </a:rPr>
                        <a:t>バグ報告あり（クエリ結果の不整合）。</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kern="1200" dirty="0">
                          <a:solidFill>
                            <a:srgbClr val="C00000"/>
                          </a:solidFill>
                          <a:effectLst/>
                        </a:rPr>
                        <a:t>ネットワークボトルネックが発生しやすい（</a:t>
                      </a:r>
                      <a:r>
                        <a:rPr lang="en-US" altLang="ja-JP" sz="700" b="1" kern="1200" dirty="0">
                          <a:solidFill>
                            <a:srgbClr val="C00000"/>
                          </a:solidFill>
                          <a:effectLst/>
                        </a:rPr>
                        <a:t>AWS-Azure</a:t>
                      </a:r>
                      <a:r>
                        <a:rPr lang="ja-JP" altLang="en-US" sz="700" b="1" kern="1200" dirty="0">
                          <a:solidFill>
                            <a:srgbClr val="C00000"/>
                          </a:solidFill>
                          <a:effectLst/>
                        </a:rPr>
                        <a:t>間の遅延</a:t>
                      </a:r>
                      <a:r>
                        <a:rPr lang="en-US" altLang="ja-JP" sz="700" b="1" kern="1200" dirty="0">
                          <a:solidFill>
                            <a:srgbClr val="C00000"/>
                          </a:solidFill>
                          <a:effectLst/>
                        </a:rPr>
                        <a:t>: 50-200ms</a:t>
                      </a:r>
                      <a:r>
                        <a:rPr lang="ja-JP" altLang="en-US" sz="700" b="1" kern="1200" dirty="0">
                          <a:solidFill>
                            <a:srgbClr val="C00000"/>
                          </a:solidFill>
                          <a:effectLst/>
                        </a:rPr>
                        <a:t>程度、データ転送量次第でボトルネック）。大規模クエリで顕著。</a:t>
                      </a:r>
                      <a:endParaRPr lang="ja-JP" altLang="en-US" sz="700" b="1"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完全マネージドで高可用性・自動バックアップ。 </a:t>
                      </a:r>
                      <a:r>
                        <a:rPr lang="en-US" altLang="ja-JP" sz="700" dirty="0">
                          <a:solidFill>
                            <a:srgbClr val="00B050"/>
                          </a:solidFill>
                          <a:effectLst/>
                        </a:rPr>
                        <a:t>- </a:t>
                      </a:r>
                      <a:r>
                        <a:rPr lang="ja-JP" altLang="en-US" sz="700" dirty="0">
                          <a:solidFill>
                            <a:srgbClr val="00B050"/>
                          </a:solidFill>
                          <a:effectLst/>
                        </a:rPr>
                        <a:t>リレーショナルクエリとコンテンツ検索（フルテキスト）がネイティブサポート。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スケーラビリティが高く、ファイルは</a:t>
                      </a:r>
                      <a:r>
                        <a:rPr lang="en-US" altLang="ja-JP" sz="700" dirty="0">
                          <a:solidFill>
                            <a:srgbClr val="00B050"/>
                          </a:solidFill>
                          <a:effectLst/>
                        </a:rPr>
                        <a:t>Blob</a:t>
                      </a:r>
                      <a:r>
                        <a:rPr lang="ja-JP" altLang="en-US" sz="700" dirty="0">
                          <a:solidFill>
                            <a:srgbClr val="00B050"/>
                          </a:solidFill>
                          <a:effectLst/>
                        </a:rPr>
                        <a:t>統合で拡張。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Azure</a:t>
                      </a:r>
                      <a:r>
                        <a:rPr lang="ja-JP" altLang="en-US" sz="700" dirty="0">
                          <a:solidFill>
                            <a:srgbClr val="00B050"/>
                          </a:solidFill>
                          <a:effectLst/>
                        </a:rPr>
                        <a:t>エコシステムとの親和性抜群。</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kern="1200" dirty="0">
                          <a:solidFill>
                            <a:srgbClr val="C00000"/>
                          </a:solidFill>
                          <a:effectLst/>
                        </a:rPr>
                        <a:t>SQL Server 2022</a:t>
                      </a:r>
                      <a:r>
                        <a:rPr lang="ja-JP" altLang="en-US" sz="700" kern="1200" dirty="0">
                          <a:solidFill>
                            <a:srgbClr val="C00000"/>
                          </a:solidFill>
                          <a:effectLst/>
                        </a:rPr>
                        <a:t>はサードパーティ</a:t>
                      </a:r>
                      <a:r>
                        <a:rPr lang="en-US" altLang="ja-JP" sz="700" kern="1200" dirty="0" err="1">
                          <a:solidFill>
                            <a:srgbClr val="C00000"/>
                          </a:solidFill>
                          <a:effectLst/>
                        </a:rPr>
                        <a:t>IFilter</a:t>
                      </a:r>
                      <a:r>
                        <a:rPr lang="ja-JP" altLang="en-US" sz="700" kern="1200" dirty="0">
                          <a:solidFill>
                            <a:srgbClr val="C00000"/>
                          </a:solidFill>
                          <a:effectLst/>
                        </a:rPr>
                        <a:t>やカスタム拡張で柔軟性が高く、大規模</a:t>
                      </a:r>
                      <a:r>
                        <a:rPr lang="en-US" altLang="ja-JP" sz="700" kern="1200" dirty="0">
                          <a:solidFill>
                            <a:srgbClr val="C00000"/>
                          </a:solidFill>
                          <a:effectLst/>
                        </a:rPr>
                        <a:t>/</a:t>
                      </a:r>
                      <a:r>
                        <a:rPr lang="ja-JP" altLang="en-US" sz="700" kern="1200" dirty="0">
                          <a:solidFill>
                            <a:srgbClr val="C00000"/>
                          </a:solidFill>
                          <a:effectLst/>
                        </a:rPr>
                        <a:t>複雑な検索に適。</a:t>
                      </a:r>
                      <a:r>
                        <a:rPr lang="en-US" altLang="ja-JP" sz="700" kern="1200" dirty="0">
                          <a:solidFill>
                            <a:srgbClr val="C00000"/>
                          </a:solidFill>
                          <a:effectLst/>
                        </a:rPr>
                        <a:t>Azure SQL</a:t>
                      </a:r>
                      <a:r>
                        <a:rPr lang="ja-JP" altLang="en-US" sz="700" kern="1200" dirty="0">
                          <a:solidFill>
                            <a:srgbClr val="C00000"/>
                          </a:solidFill>
                          <a:effectLst/>
                        </a:rPr>
                        <a:t>は基本</a:t>
                      </a:r>
                      <a:r>
                        <a:rPr lang="en-US" altLang="ja-JP" sz="700" kern="1200" dirty="0">
                          <a:solidFill>
                            <a:srgbClr val="C00000"/>
                          </a:solidFill>
                          <a:effectLst/>
                        </a:rPr>
                        <a:t>FTS</a:t>
                      </a:r>
                      <a:r>
                        <a:rPr lang="ja-JP" altLang="en-US" sz="700" kern="1200" dirty="0">
                          <a:solidFill>
                            <a:srgbClr val="C00000"/>
                          </a:solidFill>
                          <a:effectLst/>
                        </a:rPr>
                        <a:t>で十分だが、カスタマイズ性に欠ける。</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ltLang="ja-JP" sz="7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低コードでリレーショナルモデル構築容易（テーブル間関係）。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ファイル添付と</a:t>
                      </a:r>
                      <a:r>
                        <a:rPr lang="en-US" altLang="ja-JP" sz="700" kern="1200" dirty="0">
                          <a:solidFill>
                            <a:srgbClr val="00B050"/>
                          </a:solidFill>
                          <a:effectLst/>
                        </a:rPr>
                        <a:t>AI</a:t>
                      </a:r>
                      <a:r>
                        <a:rPr lang="ja-JP" altLang="en-US" sz="700" kern="1200" dirty="0">
                          <a:solidFill>
                            <a:srgbClr val="00B050"/>
                          </a:solidFill>
                          <a:effectLst/>
                        </a:rPr>
                        <a:t>駆動検索（</a:t>
                      </a:r>
                      <a:r>
                        <a:rPr lang="en-US" altLang="ja-JP" sz="700" kern="1200" dirty="0">
                          <a:solidFill>
                            <a:srgbClr val="00B050"/>
                          </a:solidFill>
                          <a:effectLst/>
                        </a:rPr>
                        <a:t>Dataverse Search</a:t>
                      </a:r>
                      <a:r>
                        <a:rPr lang="ja-JP" altLang="en-US" sz="700" kern="1200" dirty="0">
                          <a:solidFill>
                            <a:srgbClr val="00B050"/>
                          </a:solidFill>
                          <a:effectLst/>
                        </a:rPr>
                        <a:t>）が強み。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セキュリティ・スケーラビリティ高く、</a:t>
                      </a:r>
                      <a:r>
                        <a:rPr lang="en-US" altLang="ja-JP" sz="700" kern="1200" dirty="0">
                          <a:solidFill>
                            <a:srgbClr val="00B050"/>
                          </a:solidFill>
                          <a:effectLst/>
                        </a:rPr>
                        <a:t>Power Apps</a:t>
                      </a:r>
                      <a:r>
                        <a:rPr lang="ja-JP" altLang="en-US" sz="700" kern="1200" dirty="0">
                          <a:solidFill>
                            <a:srgbClr val="00B050"/>
                          </a:solidFill>
                          <a:effectLst/>
                        </a:rPr>
                        <a:t>統合。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ビジネスアプリ向けに最適化。</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容量制限（</a:t>
                      </a:r>
                      <a:r>
                        <a:rPr lang="en-US" altLang="ja-JP" sz="700" dirty="0">
                          <a:solidFill>
                            <a:srgbClr val="C00000"/>
                          </a:solidFill>
                          <a:effectLst/>
                        </a:rPr>
                        <a:t>DB/</a:t>
                      </a:r>
                      <a:r>
                        <a:rPr lang="ja-JP" altLang="en-US" sz="700" dirty="0">
                          <a:solidFill>
                            <a:srgbClr val="C00000"/>
                          </a:solidFill>
                          <a:effectLst/>
                        </a:rPr>
                        <a:t>ファイル</a:t>
                      </a:r>
                      <a:r>
                        <a:rPr lang="en-US" altLang="ja-JP" sz="700" dirty="0">
                          <a:solidFill>
                            <a:srgbClr val="C00000"/>
                          </a:solidFill>
                          <a:effectLst/>
                        </a:rPr>
                        <a:t>/</a:t>
                      </a:r>
                      <a:r>
                        <a:rPr lang="ja-JP" altLang="en-US" sz="700" dirty="0">
                          <a:solidFill>
                            <a:srgbClr val="C00000"/>
                          </a:solidFill>
                          <a:effectLst/>
                        </a:rPr>
                        <a:t>ログ別）と高コスト。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複雑なクエリでパフォーマンス低下。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C00000"/>
                          </a:solidFill>
                          <a:effectLst/>
                        </a:rPr>
                        <a:t>SharePoint</a:t>
                      </a:r>
                      <a:r>
                        <a:rPr lang="ja-JP" altLang="en-US" sz="700" dirty="0">
                          <a:solidFill>
                            <a:srgbClr val="C00000"/>
                          </a:solidFill>
                          <a:effectLst/>
                        </a:rPr>
                        <a:t>リストよりスケールするが、</a:t>
                      </a:r>
                      <a:r>
                        <a:rPr lang="en-US" altLang="ja-JP" sz="700" dirty="0">
                          <a:solidFill>
                            <a:srgbClr val="C00000"/>
                          </a:solidFill>
                          <a:effectLst/>
                        </a:rPr>
                        <a:t>SQL</a:t>
                      </a:r>
                      <a:r>
                        <a:rPr lang="ja-JP" altLang="en-US" sz="700" dirty="0">
                          <a:solidFill>
                            <a:srgbClr val="C00000"/>
                          </a:solidFill>
                          <a:effectLst/>
                        </a:rPr>
                        <a:t>ほど柔軟でない。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kern="1200" dirty="0">
                        <a:solidFill>
                          <a:schemeClr val="dk1"/>
                        </a:solidFill>
                        <a:effectLst/>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無料でフルリレーショナル（</a:t>
                      </a:r>
                      <a:r>
                        <a:rPr lang="en-US" altLang="ja-JP" sz="700" dirty="0">
                          <a:solidFill>
                            <a:srgbClr val="00B050"/>
                          </a:solidFill>
                          <a:effectLst/>
                        </a:rPr>
                        <a:t>JSON</a:t>
                      </a:r>
                      <a:r>
                        <a:rPr lang="ja-JP" altLang="en-US" sz="700" dirty="0">
                          <a:solidFill>
                            <a:srgbClr val="00B050"/>
                          </a:solidFill>
                          <a:effectLst/>
                        </a:rPr>
                        <a:t>サポートで柔軟）。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フルテキスト検索（</a:t>
                      </a:r>
                      <a:r>
                        <a:rPr lang="en-US" altLang="ja-JP" sz="700" dirty="0" err="1">
                          <a:solidFill>
                            <a:srgbClr val="00B050"/>
                          </a:solidFill>
                          <a:effectLst/>
                        </a:rPr>
                        <a:t>tsvector</a:t>
                      </a:r>
                      <a:r>
                        <a:rPr lang="ja-JP" altLang="en-US" sz="700" dirty="0">
                          <a:solidFill>
                            <a:srgbClr val="00B050"/>
                          </a:solidFill>
                          <a:effectLst/>
                        </a:rPr>
                        <a:t>）が強力でコンテンツ検索対応。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ACID</a:t>
                      </a:r>
                      <a:r>
                        <a:rPr lang="ja-JP" altLang="en-US" sz="700" dirty="0">
                          <a:solidFill>
                            <a:srgbClr val="00B050"/>
                          </a:solidFill>
                          <a:effectLst/>
                        </a:rPr>
                        <a:t>準拠で信頼性高く、拡張性良好。 </a:t>
                      </a:r>
                      <a:r>
                        <a:rPr lang="en-US" altLang="ja-JP" sz="700" dirty="0">
                          <a:solidFill>
                            <a:srgbClr val="00B050"/>
                          </a:solidFill>
                          <a:effectLst/>
                        </a:rPr>
                        <a:t>- </a:t>
                      </a:r>
                      <a:r>
                        <a:rPr lang="ja-JP" altLang="en-US" sz="700" dirty="0">
                          <a:solidFill>
                            <a:srgbClr val="00B050"/>
                          </a:solidFill>
                          <a:effectLst/>
                        </a:rPr>
                        <a:t>カスタム拡張（</a:t>
                      </a:r>
                      <a:r>
                        <a:rPr lang="en-US" altLang="ja-JP" sz="700" dirty="0" err="1">
                          <a:solidFill>
                            <a:srgbClr val="00B050"/>
                          </a:solidFill>
                          <a:effectLst/>
                        </a:rPr>
                        <a:t>pg_trgm</a:t>
                      </a:r>
                      <a:r>
                        <a:rPr lang="ja-JP" altLang="en-US" sz="700" dirty="0">
                          <a:solidFill>
                            <a:srgbClr val="00B050"/>
                          </a:solidFill>
                          <a:effectLst/>
                        </a:rPr>
                        <a:t>など）でファイル検索強化。</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dirty="0">
                          <a:solidFill>
                            <a:srgbClr val="C00000"/>
                          </a:solidFill>
                          <a:effectLst/>
                        </a:rPr>
                        <a:t>大容量ファイルストレージに不向き（</a:t>
                      </a:r>
                      <a:r>
                        <a:rPr lang="en-US" altLang="ja-JP" sz="700" b="1" dirty="0">
                          <a:solidFill>
                            <a:srgbClr val="C00000"/>
                          </a:solidFill>
                          <a:effectLst/>
                        </a:rPr>
                        <a:t>TOAST</a:t>
                      </a:r>
                      <a:r>
                        <a:rPr lang="ja-JP" altLang="en-US" sz="700" b="1" dirty="0">
                          <a:solidFill>
                            <a:srgbClr val="C00000"/>
                          </a:solidFill>
                          <a:effectLst/>
                        </a:rPr>
                        <a:t>使用でパフォーマンス低下）</a:t>
                      </a:r>
                      <a:r>
                        <a:rPr lang="ja-JP" altLang="en-US" sz="700" dirty="0">
                          <a:solidFill>
                            <a:srgbClr val="C00000"/>
                          </a:solidFill>
                          <a:effectLst/>
                        </a:rPr>
                        <a:t>。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セットアップ複雑でメンテナンス負荷。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商用サポート別途必要。</a:t>
                      </a:r>
                    </a:p>
                    <a:p>
                      <a:endParaRPr lang="ja-JP" altLang="en-US"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ファイル中心のストレージでメタデータによる関係性管理。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強力な検索（</a:t>
                      </a:r>
                      <a:r>
                        <a:rPr lang="en-US" altLang="ja-JP" sz="700" dirty="0">
                          <a:solidFill>
                            <a:srgbClr val="00B050"/>
                          </a:solidFill>
                          <a:effectLst/>
                        </a:rPr>
                        <a:t>Microsoft Search</a:t>
                      </a:r>
                      <a:r>
                        <a:rPr lang="ja-JP" altLang="en-US" sz="700" dirty="0">
                          <a:solidFill>
                            <a:srgbClr val="00B050"/>
                          </a:solidFill>
                          <a:effectLst/>
                        </a:rPr>
                        <a:t>）でコンテンツ抽出優秀。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コラボレーション・バージョン管理がネイティブ。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M365</a:t>
                      </a:r>
                      <a:r>
                        <a:rPr lang="ja-JP" altLang="en-US" sz="700" dirty="0">
                          <a:solidFill>
                            <a:srgbClr val="00B050"/>
                          </a:solidFill>
                          <a:effectLst/>
                        </a:rPr>
                        <a:t>統合でユーザー友好。</a:t>
                      </a:r>
                    </a:p>
                    <a:p>
                      <a:endParaRPr lang="en-US" altLang="zh-CN"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825647">
                <a:tc>
                  <a:txBody>
                    <a:bodyPr/>
                    <a:lstStyle/>
                    <a:p>
                      <a:r>
                        <a:rPr lang="ja-JP" altLang="en-US" sz="800" b="1" kern="1200" dirty="0">
                          <a:solidFill>
                            <a:schemeClr val="dk1"/>
                          </a:solidFill>
                        </a:rPr>
                        <a:t>ディリバリー面の評価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ltLang="ja-JP" sz="700" kern="1200" dirty="0">
                          <a:solidFill>
                            <a:srgbClr val="C00000"/>
                          </a:solidFill>
                          <a:effectLst/>
                        </a:rPr>
                        <a:t>On-premises data gateway</a:t>
                      </a:r>
                      <a:r>
                        <a:rPr lang="ja-JP" altLang="de-DE" sz="700" kern="1200" dirty="0">
                          <a:solidFill>
                            <a:srgbClr val="C00000"/>
                          </a:solidFill>
                          <a:effectLst/>
                        </a:rPr>
                        <a:t>（</a:t>
                      </a:r>
                      <a:r>
                        <a:rPr lang="ja-JP" altLang="en-US" sz="700" kern="1200" dirty="0">
                          <a:solidFill>
                            <a:srgbClr val="C00000"/>
                          </a:solidFill>
                          <a:effectLst/>
                        </a:rPr>
                        <a:t>以下、</a:t>
                      </a:r>
                      <a:r>
                        <a:rPr lang="de-DE" altLang="ja-JP" sz="700" kern="1200" dirty="0">
                          <a:solidFill>
                            <a:srgbClr val="C00000"/>
                          </a:solidFill>
                          <a:effectLst/>
                        </a:rPr>
                        <a:t>Gateway</a:t>
                      </a:r>
                      <a:r>
                        <a:rPr lang="ja-JP" altLang="de-DE" sz="700" kern="1200" dirty="0">
                          <a:solidFill>
                            <a:srgbClr val="C00000"/>
                          </a:solidFill>
                          <a:effectLst/>
                        </a:rPr>
                        <a:t>）</a:t>
                      </a:r>
                      <a:r>
                        <a:rPr lang="ja-JP" altLang="en-US" sz="700" kern="1200" dirty="0">
                          <a:solidFill>
                            <a:srgbClr val="C00000"/>
                          </a:solidFill>
                          <a:effectLst/>
                        </a:rPr>
                        <a:t>のインストールが必要。</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C00000"/>
                          </a:solidFill>
                          <a:effectLst/>
                        </a:rPr>
                        <a:t>作業量高：サーバー</a:t>
                      </a:r>
                      <a:r>
                        <a:rPr lang="en-US" altLang="ja-JP" sz="700" kern="1200" dirty="0">
                          <a:solidFill>
                            <a:srgbClr val="C00000"/>
                          </a:solidFill>
                          <a:effectLst/>
                        </a:rPr>
                        <a:t>OS</a:t>
                      </a:r>
                      <a:r>
                        <a:rPr lang="ja-JP" altLang="en-US" sz="700" kern="1200" dirty="0">
                          <a:solidFill>
                            <a:srgbClr val="C00000"/>
                          </a:solidFill>
                          <a:effectLst/>
                        </a:rPr>
                        <a:t>インストール、</a:t>
                      </a:r>
                      <a:r>
                        <a:rPr lang="en-US" altLang="ja-JP" sz="700" kern="1200" dirty="0">
                          <a:solidFill>
                            <a:srgbClr val="C00000"/>
                          </a:solidFill>
                          <a:effectLst/>
                        </a:rPr>
                        <a:t>DB</a:t>
                      </a:r>
                      <a:r>
                        <a:rPr lang="ja-JP" altLang="en-US" sz="700" kern="1200" dirty="0">
                          <a:solidFill>
                            <a:srgbClr val="C00000"/>
                          </a:solidFill>
                          <a:effectLst/>
                        </a:rPr>
                        <a:t>セットアップ、セキュリティ設定、バックアップ構成が必要。デバッグでツール（</a:t>
                      </a:r>
                      <a:r>
                        <a:rPr lang="en-US" altLang="ja-JP" sz="700" kern="1200" dirty="0">
                          <a:solidFill>
                            <a:srgbClr val="C00000"/>
                          </a:solidFill>
                          <a:effectLst/>
                        </a:rPr>
                        <a:t>SSMS</a:t>
                      </a:r>
                      <a:r>
                        <a:rPr lang="ja-JP" altLang="en-US" sz="700" kern="1200" dirty="0">
                          <a:solidFill>
                            <a:srgbClr val="C00000"/>
                          </a:solidFill>
                          <a:effectLst/>
                        </a:rPr>
                        <a:t>）導入、テストがすべて必要。</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00B050"/>
                          </a:solidFill>
                          <a:effectLst/>
                        </a:rPr>
                        <a:t>実績があり</a:t>
                      </a:r>
                      <a:endParaRPr lang="ja-JP" altLang="en-US"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Azure</a:t>
                      </a:r>
                      <a:r>
                        <a:rPr lang="ja-JP" altLang="en-US" sz="700" dirty="0">
                          <a:solidFill>
                            <a:srgbClr val="00B050"/>
                          </a:solidFill>
                          <a:effectLst/>
                        </a:rPr>
                        <a:t>ポータルで数分でデプロイ。デバッグは</a:t>
                      </a:r>
                      <a:r>
                        <a:rPr lang="en-US" altLang="ja-JP" sz="700" dirty="0">
                          <a:solidFill>
                            <a:srgbClr val="00B050"/>
                          </a:solidFill>
                          <a:effectLst/>
                        </a:rPr>
                        <a:t>Azure</a:t>
                      </a:r>
                      <a:r>
                        <a:rPr lang="ja-JP" altLang="en-US" sz="700" dirty="0">
                          <a:solidFill>
                            <a:srgbClr val="00B050"/>
                          </a:solidFill>
                          <a:effectLst/>
                        </a:rPr>
                        <a:t>ツールで即時、学習曲線短め（数時間）。</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実績がないが、添付ファイル以外には</a:t>
                      </a:r>
                      <a:r>
                        <a:rPr lang="en-US" altLang="ja-JP" sz="700" dirty="0" err="1">
                          <a:solidFill>
                            <a:srgbClr val="00B050"/>
                          </a:solidFill>
                          <a:effectLst/>
                        </a:rPr>
                        <a:t>Sqlserver</a:t>
                      </a:r>
                      <a:r>
                        <a:rPr lang="ja-JP" altLang="en-US" sz="700" dirty="0">
                          <a:solidFill>
                            <a:srgbClr val="00B050"/>
                          </a:solidFill>
                          <a:effectLst/>
                        </a:rPr>
                        <a:t>　</a:t>
                      </a:r>
                      <a:r>
                        <a:rPr lang="en-US" altLang="ja-JP" sz="700" dirty="0">
                          <a:solidFill>
                            <a:srgbClr val="00B050"/>
                          </a:solidFill>
                          <a:effectLst/>
                        </a:rPr>
                        <a:t>2022</a:t>
                      </a:r>
                      <a:r>
                        <a:rPr lang="ja-JP" altLang="en-US" sz="700" dirty="0">
                          <a:solidFill>
                            <a:srgbClr val="00B050"/>
                          </a:solidFill>
                          <a:effectLst/>
                        </a:rPr>
                        <a:t>とは差異がない</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Microsoft 365</a:t>
                      </a:r>
                      <a:r>
                        <a:rPr lang="ja-JP" altLang="en-US" sz="700" dirty="0">
                          <a:solidFill>
                            <a:srgbClr val="00B050"/>
                          </a:solidFill>
                          <a:effectLst/>
                        </a:rPr>
                        <a:t>統合で即時セットアップ。デバッグは</a:t>
                      </a:r>
                      <a:r>
                        <a:rPr lang="en-US" altLang="ja-JP" sz="700" dirty="0">
                          <a:solidFill>
                            <a:srgbClr val="00B050"/>
                          </a:solidFill>
                          <a:effectLst/>
                        </a:rPr>
                        <a:t>Power Platform</a:t>
                      </a:r>
                      <a:r>
                        <a:rPr lang="ja-JP" altLang="en-US" sz="700" dirty="0">
                          <a:solidFill>
                            <a:srgbClr val="00B050"/>
                          </a:solidFill>
                          <a:effectLst/>
                        </a:rPr>
                        <a:t>ツールで簡単</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弊社実績があり、</a:t>
                      </a:r>
                    </a:p>
                    <a:p>
                      <a:pPr marL="171450" indent="-171450">
                        <a:buFont typeface="Arial" panose="020B0604020202020204" pitchFamily="34" charset="0"/>
                        <a:buChar char="•"/>
                      </a:pPr>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C00000"/>
                          </a:solidFill>
                          <a:effectLst/>
                        </a:rPr>
                        <a:t>作業量中：インストール（</a:t>
                      </a:r>
                      <a:r>
                        <a:rPr lang="en-US" altLang="ja-JP" sz="700" dirty="0">
                          <a:solidFill>
                            <a:srgbClr val="C00000"/>
                          </a:solidFill>
                          <a:effectLst/>
                        </a:rPr>
                        <a:t>Docker</a:t>
                      </a:r>
                      <a:r>
                        <a:rPr lang="ja-JP" altLang="en-US" sz="700" dirty="0">
                          <a:solidFill>
                            <a:srgbClr val="C00000"/>
                          </a:solidFill>
                          <a:effectLst/>
                        </a:rPr>
                        <a:t>推奨）、構成（インデックス</a:t>
                      </a:r>
                      <a:r>
                        <a:rPr lang="en-US" altLang="ja-JP" sz="700" dirty="0">
                          <a:solidFill>
                            <a:srgbClr val="C00000"/>
                          </a:solidFill>
                          <a:effectLst/>
                        </a:rPr>
                        <a:t>/</a:t>
                      </a:r>
                      <a:r>
                        <a:rPr lang="ja-JP" altLang="en-US" sz="700" dirty="0">
                          <a:solidFill>
                            <a:srgbClr val="C00000"/>
                          </a:solidFill>
                          <a:effectLst/>
                        </a:rPr>
                        <a:t>検索設定）で複難。</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C00000"/>
                          </a:solidFill>
                          <a:effectLst/>
                        </a:rPr>
                        <a:t>デバッグツール（</a:t>
                      </a:r>
                      <a:r>
                        <a:rPr lang="en-US" altLang="ja-JP" sz="700" dirty="0" err="1">
                          <a:solidFill>
                            <a:srgbClr val="C00000"/>
                          </a:solidFill>
                          <a:effectLst/>
                        </a:rPr>
                        <a:t>pgAdmin</a:t>
                      </a:r>
                      <a:r>
                        <a:rPr lang="ja-JP" altLang="en-US" sz="700" dirty="0">
                          <a:solidFill>
                            <a:srgbClr val="C00000"/>
                          </a:solidFill>
                          <a:effectLst/>
                        </a:rPr>
                        <a:t>）で中程度。</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700" dirty="0">
                          <a:solidFill>
                            <a:srgbClr val="C00000"/>
                          </a:solidFill>
                          <a:effectLst/>
                        </a:rPr>
                        <a:t>Power</a:t>
                      </a:r>
                      <a:r>
                        <a:rPr lang="ja-JP" altLang="en-US" sz="700" dirty="0">
                          <a:solidFill>
                            <a:srgbClr val="C00000"/>
                          </a:solidFill>
                          <a:effectLst/>
                        </a:rPr>
                        <a:t> </a:t>
                      </a:r>
                      <a:r>
                        <a:rPr lang="en-US" altLang="ja-JP" sz="700" dirty="0">
                          <a:solidFill>
                            <a:srgbClr val="C00000"/>
                          </a:solidFill>
                          <a:effectLst/>
                        </a:rPr>
                        <a:t>Platform</a:t>
                      </a:r>
                      <a:r>
                        <a:rPr lang="ja-JP" altLang="en-US" sz="700" dirty="0">
                          <a:solidFill>
                            <a:srgbClr val="C00000"/>
                          </a:solidFill>
                          <a:effectLst/>
                        </a:rPr>
                        <a:t>との連携には実績がない、</a:t>
                      </a:r>
                      <a:r>
                        <a:rPr lang="en-US" altLang="ja-JP" sz="700" dirty="0">
                          <a:solidFill>
                            <a:srgbClr val="C00000"/>
                          </a:solidFill>
                          <a:effectLst/>
                        </a:rPr>
                        <a:t>POC</a:t>
                      </a:r>
                      <a:r>
                        <a:rPr lang="ja-JP" altLang="en-US" sz="700" dirty="0">
                          <a:solidFill>
                            <a:srgbClr val="C00000"/>
                          </a:solidFill>
                          <a:effectLst/>
                        </a:rPr>
                        <a:t>範囲は拡大。</a:t>
                      </a:r>
                      <a:endParaRPr lang="en-US" altLang="ja-JP" sz="7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ja-JP" altLang="en-US" sz="700" dirty="0">
                          <a:solidFill>
                            <a:srgbClr val="00B050"/>
                          </a:solidFill>
                          <a:effectLst/>
                        </a:rPr>
                        <a:t>作業量低（弊社実績があり）</a:t>
                      </a:r>
                      <a:endParaRPr lang="en-US" altLang="ja-JP" sz="700" dirty="0">
                        <a:solidFill>
                          <a:srgbClr val="00B050"/>
                        </a:solidFill>
                        <a:effectLst/>
                      </a:endParaRPr>
                    </a:p>
                    <a:p>
                      <a:pPr marL="171450" indent="-171450">
                        <a:buFont typeface="Arial" panose="020B0604020202020204" pitchFamily="34" charset="0"/>
                        <a:buChar char="•"/>
                      </a:pPr>
                      <a:r>
                        <a:rPr lang="en-US" altLang="ja-JP" sz="700" dirty="0">
                          <a:effectLst/>
                        </a:rPr>
                        <a:t>Microsoft Search</a:t>
                      </a:r>
                      <a:r>
                        <a:rPr lang="ja-JP" altLang="en-US" sz="700" dirty="0">
                          <a:effectLst/>
                        </a:rPr>
                        <a:t>の実現には、</a:t>
                      </a:r>
                      <a:endParaRPr lang="en-US" altLang="ja-JP" sz="700" dirty="0">
                        <a:effectLst/>
                      </a:endParaRPr>
                    </a:p>
                    <a:p>
                      <a:pPr marL="228600" indent="-228600">
                        <a:buFont typeface="+mj-lt"/>
                        <a:buAutoNum type="arabicPeriod"/>
                      </a:pPr>
                      <a:r>
                        <a:rPr lang="en-US" altLang="ja-JP" sz="700" dirty="0">
                          <a:solidFill>
                            <a:srgbClr val="C00000"/>
                          </a:solidFill>
                        </a:rPr>
                        <a:t>Azure AD</a:t>
                      </a:r>
                      <a:r>
                        <a:rPr lang="ja-JP" altLang="en-US" sz="700" dirty="0">
                          <a:solidFill>
                            <a:srgbClr val="C00000"/>
                          </a:solidFill>
                        </a:rPr>
                        <a:t>に事前の</a:t>
                      </a:r>
                      <a:r>
                        <a:rPr lang="en-US" altLang="ja-JP" sz="700" dirty="0">
                          <a:solidFill>
                            <a:srgbClr val="C00000"/>
                          </a:solidFill>
                        </a:rPr>
                        <a:t>App</a:t>
                      </a:r>
                      <a:r>
                        <a:rPr lang="ja-JP" altLang="en-US" sz="700" dirty="0">
                          <a:solidFill>
                            <a:srgbClr val="C00000"/>
                          </a:solidFill>
                        </a:rPr>
                        <a:t>登録が必須</a:t>
                      </a:r>
                      <a:endParaRPr lang="en-US" altLang="ja-JP" sz="700" dirty="0">
                        <a:solidFill>
                          <a:srgbClr val="C00000"/>
                        </a:solidFill>
                      </a:endParaRPr>
                    </a:p>
                    <a:p>
                      <a:pPr marL="228600" indent="-228600">
                        <a:buFont typeface="+mj-lt"/>
                        <a:buAutoNum type="arabicPeriod"/>
                      </a:pPr>
                      <a:r>
                        <a:rPr lang="en-US" altLang="zh-CN" sz="700" dirty="0" err="1">
                          <a:solidFill>
                            <a:srgbClr val="C00000"/>
                          </a:solidFill>
                        </a:rPr>
                        <a:t>GraphAPI</a:t>
                      </a:r>
                      <a:r>
                        <a:rPr lang="ja-JP" altLang="en-US" sz="700" dirty="0">
                          <a:solidFill>
                            <a:srgbClr val="C00000"/>
                          </a:solidFill>
                        </a:rPr>
                        <a:t>コールが必要</a:t>
                      </a:r>
                      <a:endParaRPr lang="en-US" altLang="ja-JP" sz="700" dirty="0">
                        <a:solidFill>
                          <a:srgbClr val="C00000"/>
                        </a:solidFill>
                      </a:endParaRPr>
                    </a:p>
                    <a:p>
                      <a:pPr marL="171450" indent="-171450" algn="l" defTabSz="914400" rtl="0" eaLnBrk="1" latinLnBrk="0" hangingPunct="1">
                        <a:buFont typeface="Arial" panose="020B0604020202020204" pitchFamily="34" charset="0"/>
                        <a:buChar char="•"/>
                      </a:pPr>
                      <a:r>
                        <a:rPr lang="en-US" altLang="ja-JP" sz="700" kern="1200" dirty="0">
                          <a:solidFill>
                            <a:srgbClr val="C00000"/>
                          </a:solidFill>
                          <a:effectLst/>
                          <a:latin typeface="+mn-lt"/>
                          <a:ea typeface="+mn-ea"/>
                          <a:cs typeface="+mn-cs"/>
                        </a:rPr>
                        <a:t>SharePoint</a:t>
                      </a:r>
                      <a:r>
                        <a:rPr lang="ja-JP" altLang="en-US" sz="700" kern="1200" dirty="0">
                          <a:solidFill>
                            <a:srgbClr val="C00000"/>
                          </a:solidFill>
                          <a:effectLst/>
                          <a:latin typeface="+mn-lt"/>
                          <a:ea typeface="+mn-ea"/>
                          <a:cs typeface="+mn-cs"/>
                        </a:rPr>
                        <a:t>に置いている添付ファイルの権限管理が必要（実績があり）</a:t>
                      </a:r>
                      <a:endParaRPr lang="en-US" altLang="ja-JP" sz="700" kern="1200" dirty="0">
                        <a:solidFill>
                          <a:srgbClr val="C00000"/>
                        </a:solidFill>
                        <a:effectLst/>
                        <a:latin typeface="+mn-lt"/>
                        <a:ea typeface="+mn-ea"/>
                        <a:cs typeface="+mn-cs"/>
                      </a:endParaRPr>
                    </a:p>
                    <a:p>
                      <a:pPr marL="171450" indent="-171450" algn="l" defTabSz="914400" rtl="0" eaLnBrk="1" latinLnBrk="0" hangingPunct="1">
                        <a:buFont typeface="Arial" panose="020B0604020202020204" pitchFamily="34" charset="0"/>
                        <a:buChar char="•"/>
                      </a:pPr>
                      <a:r>
                        <a:rPr lang="ja-JP" altLang="en-US" sz="700" kern="1200" dirty="0">
                          <a:solidFill>
                            <a:srgbClr val="C00000"/>
                          </a:solidFill>
                          <a:effectLst/>
                          <a:latin typeface="+mn-lt"/>
                          <a:ea typeface="+mn-ea"/>
                          <a:cs typeface="+mn-cs"/>
                        </a:rPr>
                        <a:t>論理</a:t>
                      </a:r>
                      <a:r>
                        <a:rPr lang="en-US" altLang="ja-JP" sz="700" kern="1200" dirty="0">
                          <a:solidFill>
                            <a:srgbClr val="C00000"/>
                          </a:solidFill>
                          <a:effectLst/>
                          <a:latin typeface="+mn-lt"/>
                          <a:ea typeface="+mn-ea"/>
                          <a:cs typeface="+mn-cs"/>
                        </a:rPr>
                        <a:t>Group</a:t>
                      </a:r>
                      <a:r>
                        <a:rPr lang="ja-JP" altLang="en-US" sz="700" kern="1200" dirty="0">
                          <a:solidFill>
                            <a:srgbClr val="C00000"/>
                          </a:solidFill>
                          <a:effectLst/>
                          <a:latin typeface="+mn-lt"/>
                          <a:ea typeface="+mn-ea"/>
                          <a:cs typeface="+mn-cs"/>
                        </a:rPr>
                        <a:t>が変更された場合、登録済みの仕様書添付ファイルに対して再設定が必要</a:t>
                      </a:r>
                      <a:endParaRPr lang="en-US" altLang="ja-JP" sz="7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198767"/>
                  </a:ext>
                </a:extLst>
              </a:tr>
            </a:tbl>
          </a:graphicData>
        </a:graphic>
      </p:graphicFrame>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677282"/>
            <a:ext cx="11412096" cy="492443"/>
          </a:xfrm>
          <a:prstGeom prst="rect">
            <a:avLst/>
          </a:prstGeom>
          <a:noFill/>
        </p:spPr>
        <p:txBody>
          <a:bodyPr wrap="square" rtlCol="0">
            <a:spAutoFit/>
          </a:bodyPr>
          <a:lstStyle/>
          <a:p>
            <a:r>
              <a:rPr kumimoji="1" lang="ja-JP" altLang="en-US" sz="1200" dirty="0"/>
              <a:t>下記表で羅列した評価項目について候補となる保存環境を評価し、以下の推奨結果に至りました。次ページより推奨環境について説明します。</a:t>
            </a:r>
            <a:endParaRPr kumimoji="1" lang="en-US" altLang="ja-JP" sz="1200" dirty="0"/>
          </a:p>
          <a:p>
            <a:r>
              <a:rPr kumimoji="1" lang="ja-JP" altLang="en-US" sz="1400" b="1" dirty="0">
                <a:solidFill>
                  <a:srgbClr val="C00000"/>
                </a:solidFill>
              </a:rPr>
              <a:t>推奨：仕様書の定型データ保存先</a:t>
            </a:r>
            <a:r>
              <a:rPr lang="ja-JP" altLang="en-US" sz="1400" b="1" dirty="0">
                <a:solidFill>
                  <a:srgbClr val="C00000"/>
                </a:solidFill>
              </a:rPr>
              <a:t>：</a:t>
            </a:r>
            <a:r>
              <a:rPr lang="de-DE" altLang="ja-JP" sz="1400" b="1" dirty="0">
                <a:solidFill>
                  <a:srgbClr val="C00000"/>
                </a:solidFill>
              </a:rPr>
              <a:t>Azure SQL</a:t>
            </a:r>
            <a:r>
              <a:rPr lang="ja-JP" altLang="en-US" sz="1400" b="1" dirty="0">
                <a:solidFill>
                  <a:srgbClr val="C00000"/>
                </a:solidFill>
              </a:rPr>
              <a:t>、</a:t>
            </a:r>
            <a:r>
              <a:rPr kumimoji="1" lang="ja-JP" altLang="en-US" sz="1400" b="1" dirty="0">
                <a:solidFill>
                  <a:srgbClr val="C00000"/>
                </a:solidFill>
              </a:rPr>
              <a:t>添付ファイル保存先：</a:t>
            </a:r>
            <a:r>
              <a:rPr kumimoji="1" lang="en-US" altLang="ja-JP" sz="1400" b="1" dirty="0">
                <a:solidFill>
                  <a:srgbClr val="C00000"/>
                </a:solidFill>
              </a:rPr>
              <a:t>SharePoint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7134" y="1333438"/>
            <a:ext cx="2022386" cy="253916"/>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endParaRPr kumimoji="1" lang="ja-JP" altLang="en-US" sz="1050" dirty="0"/>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6" name="テキスト ボックス 1065">
            <a:extLst>
              <a:ext uri="{FF2B5EF4-FFF2-40B4-BE49-F238E27FC236}">
                <a16:creationId xmlns:a16="http://schemas.microsoft.com/office/drawing/2014/main" id="{355B5D54-E6A0-4CB5-1D34-7914B026E31F}"/>
              </a:ext>
            </a:extLst>
          </p:cNvPr>
          <p:cNvSpPr txBox="1"/>
          <p:nvPr/>
        </p:nvSpPr>
        <p:spPr>
          <a:xfrm>
            <a:off x="252278" y="5906063"/>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solidFill>
                  <a:srgbClr val="C00000"/>
                </a:solidFill>
              </a:rPr>
              <a:t>On promise Gateway</a:t>
            </a:r>
            <a:r>
              <a:rPr lang="ja-JP" altLang="en-US" sz="1400" dirty="0">
                <a:solidFill>
                  <a:srgbClr val="C00000"/>
                </a:solidFill>
              </a:rPr>
              <a:t>の可能の</a:t>
            </a:r>
            <a:r>
              <a:rPr lang="en-US" altLang="ja-JP" sz="1400" dirty="0">
                <a:solidFill>
                  <a:srgbClr val="C00000"/>
                </a:solidFill>
              </a:rPr>
              <a:t>Bottle Neck</a:t>
            </a:r>
            <a:r>
              <a:rPr lang="ja-JP" altLang="en-US" sz="1400" dirty="0">
                <a:solidFill>
                  <a:srgbClr val="C00000"/>
                </a:solidFill>
              </a:rPr>
              <a:t>を解除するため</a:t>
            </a:r>
            <a:endParaRPr kumimoji="1" lang="ja-JP" altLang="en-US" sz="1400" dirty="0">
              <a:solidFill>
                <a:srgbClr val="C00000"/>
              </a:solidFill>
            </a:endParaRP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10373826" cy="683629"/>
          </a:xfrm>
        </p:spPr>
        <p:txBody>
          <a:bodyPr>
            <a:noAutofit/>
          </a:bodyPr>
          <a:lstStyle/>
          <a:p>
            <a:r>
              <a:rPr lang="ja-JP" altLang="en-US" dirty="0"/>
              <a:t>要件／ソリューション－添付ファイル管理（編集含む）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2829873544"/>
              </p:ext>
            </p:extLst>
          </p:nvPr>
        </p:nvGraphicFramePr>
        <p:xfrm>
          <a:off x="414335" y="757390"/>
          <a:ext cx="11284857" cy="5530640"/>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100" dirty="0"/>
                        <a:t>仕様書と添付ファイルの紐付け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仕様書の管理</a:t>
                      </a:r>
                      <a:r>
                        <a:rPr lang="en-US" altLang="ja-JP" sz="1000" dirty="0"/>
                        <a:t>DB</a:t>
                      </a:r>
                      <a:r>
                        <a:rPr lang="ja-JP" altLang="en-US" sz="1000" dirty="0"/>
                        <a:t>に、添付ファイル（複数</a:t>
                      </a:r>
                      <a:r>
                        <a:rPr lang="en-US" altLang="ja-JP" sz="1000" dirty="0"/>
                        <a:t>)</a:t>
                      </a:r>
                      <a:r>
                        <a:rPr lang="ja-JP" altLang="en-US" sz="1000" dirty="0"/>
                        <a:t>のファイル</a:t>
                      </a:r>
                      <a:r>
                        <a:rPr lang="en-US" altLang="ja-JP" sz="1000" dirty="0"/>
                        <a:t>ID</a:t>
                      </a:r>
                      <a:r>
                        <a:rPr lang="ja-JP" altLang="en-US" sz="1000" dirty="0"/>
                        <a:t>、ファイル名情報を保存、管理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10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Microsoft Search</a:t>
                      </a:r>
                      <a:r>
                        <a:rPr lang="ja-JP" altLang="en-US" sz="1000" kern="1200" dirty="0">
                          <a:solidFill>
                            <a:schemeClr val="tx1"/>
                          </a:solidFill>
                          <a:latin typeface="+mn-lt"/>
                          <a:ea typeface="+mn-ea"/>
                          <a:cs typeface="+mn-cs"/>
                        </a:rPr>
                        <a:t>機能を利用する実現</a:t>
                      </a:r>
                      <a:endParaRPr lang="en-US" altLang="ja-JP" sz="10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1000" kern="1200" dirty="0">
                          <a:solidFill>
                            <a:schemeClr val="tx1"/>
                          </a:solidFill>
                          <a:latin typeface="+mn-lt"/>
                          <a:ea typeface="+mn-ea"/>
                          <a:cs typeface="+mn-cs"/>
                        </a:rPr>
                        <a:t>実装面、</a:t>
                      </a:r>
                      <a:r>
                        <a:rPr lang="en-US" altLang="ja-JP" sz="1000" kern="1200" dirty="0">
                          <a:solidFill>
                            <a:schemeClr val="tx1"/>
                          </a:solidFill>
                          <a:latin typeface="+mn-lt"/>
                          <a:ea typeface="+mn-ea"/>
                          <a:cs typeface="+mn-cs"/>
                        </a:rPr>
                        <a:t>Microsoft</a:t>
                      </a:r>
                      <a:r>
                        <a:rPr lang="ja-JP" altLang="en-US" sz="1000" kern="1200" dirty="0">
                          <a:solidFill>
                            <a:schemeClr val="tx1"/>
                          </a:solidFill>
                          <a:latin typeface="+mn-lt"/>
                          <a:ea typeface="+mn-ea"/>
                          <a:cs typeface="+mn-cs"/>
                        </a:rPr>
                        <a:t> </a:t>
                      </a:r>
                      <a:r>
                        <a:rPr lang="en-US" altLang="ja-JP" sz="1000" kern="1200" dirty="0" err="1">
                          <a:solidFill>
                            <a:schemeClr val="tx1"/>
                          </a:solidFill>
                          <a:latin typeface="+mn-lt"/>
                          <a:ea typeface="+mn-ea"/>
                          <a:cs typeface="+mn-cs"/>
                        </a:rPr>
                        <a:t>GraphAPI</a:t>
                      </a:r>
                      <a:r>
                        <a:rPr lang="ja-JP" altLang="en-US" sz="1000" kern="1200" dirty="0">
                          <a:solidFill>
                            <a:schemeClr val="tx1"/>
                          </a:solidFill>
                          <a:latin typeface="+mn-lt"/>
                          <a:ea typeface="+mn-ea"/>
                          <a:cs typeface="+mn-cs"/>
                        </a:rPr>
                        <a:t>を利用する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50" kern="1200" dirty="0">
                          <a:solidFill>
                            <a:schemeClr val="tx1"/>
                          </a:solidFill>
                          <a:latin typeface="+mn-lt"/>
                          <a:ea typeface="+mn-ea"/>
                          <a:cs typeface="+mn-cs"/>
                        </a:rPr>
                        <a:t>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の履歴管理機能を利用（</a:t>
                      </a:r>
                      <a:r>
                        <a:rPr lang="en-US" altLang="ja-JP" sz="1000" kern="1200" dirty="0">
                          <a:solidFill>
                            <a:schemeClr val="tx1"/>
                          </a:solidFill>
                          <a:latin typeface="+mn-lt"/>
                          <a:ea typeface="+mn-ea"/>
                          <a:cs typeface="+mn-cs"/>
                        </a:rPr>
                        <a:t>Power Automate Flow</a:t>
                      </a:r>
                      <a:r>
                        <a:rPr lang="ja-JP" altLang="en-US" sz="1000" kern="1200" dirty="0">
                          <a:solidFill>
                            <a:schemeClr val="tx1"/>
                          </a:solidFill>
                          <a:latin typeface="+mn-lt"/>
                          <a:ea typeface="+mn-ea"/>
                          <a:cs typeface="+mn-cs"/>
                        </a:rPr>
                        <a:t>サポート）</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84794">
                <a:tc>
                  <a:txBody>
                    <a:bodyPr/>
                    <a:lstStyle/>
                    <a:p>
                      <a:r>
                        <a:rPr lang="ja-JP" altLang="en-US" sz="1050" kern="1200" dirty="0">
                          <a:solidFill>
                            <a:schemeClr val="tx1"/>
                          </a:solidFill>
                          <a:latin typeface="+mn-lt"/>
                          <a:ea typeface="+mn-ea"/>
                          <a:cs typeface="+mn-cs"/>
                        </a:rPr>
                        <a:t>サポートファイルタイプ（</a:t>
                      </a:r>
                      <a:r>
                        <a:rPr lang="en-US" altLang="ja-JP" sz="1050" kern="1200" dirty="0">
                          <a:solidFill>
                            <a:schemeClr val="tx1"/>
                          </a:solidFill>
                          <a:latin typeface="+mn-lt"/>
                          <a:ea typeface="+mn-ea"/>
                          <a:cs typeface="+mn-cs"/>
                        </a:rPr>
                        <a:t>Office</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Word, Excel, PowerPoint</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PDF</a:t>
                      </a:r>
                      <a:r>
                        <a:rPr lang="ja-JP" altLang="en-US" sz="105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の内蔵機能</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50" kern="1200" dirty="0">
                          <a:solidFill>
                            <a:schemeClr val="tx1"/>
                          </a:solidFill>
                          <a:latin typeface="+mn-lt"/>
                          <a:ea typeface="+mn-ea"/>
                          <a:cs typeface="+mn-cs"/>
                        </a:rPr>
                        <a:t>ファイルサイズ</a:t>
                      </a:r>
                      <a:r>
                        <a:rPr lang="en-US" altLang="ja-JP" sz="1050" kern="1200" dirty="0">
                          <a:solidFill>
                            <a:schemeClr val="tx1"/>
                          </a:solidFill>
                          <a:latin typeface="+mn-lt"/>
                          <a:ea typeface="+mn-ea"/>
                          <a:cs typeface="+mn-cs"/>
                        </a:rPr>
                        <a:t>: 50MB/</a:t>
                      </a:r>
                      <a:r>
                        <a:rPr lang="ja-JP" altLang="en-US" sz="105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PowerApps</a:t>
                      </a:r>
                      <a:r>
                        <a:rPr lang="ja-JP" altLang="en-US" sz="1000" kern="1200" dirty="0">
                          <a:solidFill>
                            <a:schemeClr val="tx1"/>
                          </a:solidFill>
                          <a:latin typeface="+mn-lt"/>
                          <a:ea typeface="+mn-ea"/>
                          <a:cs typeface="+mn-cs"/>
                        </a:rPr>
                        <a:t>の内蔵</a:t>
                      </a:r>
                      <a:r>
                        <a:rPr lang="en-US" altLang="ja-JP" sz="1000" kern="1200" dirty="0">
                          <a:solidFill>
                            <a:schemeClr val="tx1"/>
                          </a:solidFill>
                          <a:latin typeface="+mn-lt"/>
                          <a:ea typeface="+mn-ea"/>
                          <a:cs typeface="+mn-cs"/>
                        </a:rPr>
                        <a:t>File Download/Upload</a:t>
                      </a:r>
                      <a:r>
                        <a:rPr lang="ja-JP" altLang="en-US" sz="1000" kern="1200" dirty="0">
                          <a:solidFill>
                            <a:schemeClr val="tx1"/>
                          </a:solidFill>
                          <a:latin typeface="+mn-lt"/>
                          <a:ea typeface="+mn-ea"/>
                          <a:cs typeface="+mn-cs"/>
                        </a:rPr>
                        <a:t>コントロールで対応（</a:t>
                      </a:r>
                      <a:r>
                        <a:rPr lang="en-US" altLang="ja-JP" sz="1000" kern="1200" dirty="0">
                          <a:solidFill>
                            <a:schemeClr val="tx1"/>
                          </a:solidFill>
                          <a:latin typeface="+mn-lt"/>
                          <a:ea typeface="+mn-ea"/>
                          <a:cs typeface="+mn-cs"/>
                        </a:rPr>
                        <a:t>Upload</a:t>
                      </a:r>
                      <a:r>
                        <a:rPr lang="ja-JP" altLang="en-US" sz="100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5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Yu Gothic UI" panose="020B0500000000000000" pitchFamily="50" charset="-128"/>
                          <a:ea typeface="Yu Gothic UI" panose="020B0500000000000000" pitchFamily="50" charset="-128"/>
                        </a:rPr>
                        <a:t>多階層</a:t>
                      </a:r>
                      <a:r>
                        <a:rPr lang="en-US" altLang="ja-JP" sz="1000" dirty="0">
                          <a:solidFill>
                            <a:schemeClr val="tx1"/>
                          </a:solidFill>
                          <a:latin typeface="Yu Gothic UI" panose="020B0500000000000000" pitchFamily="50" charset="-128"/>
                          <a:ea typeface="Yu Gothic UI" panose="020B0500000000000000" pitchFamily="50" charset="-128"/>
                        </a:rPr>
                        <a:t>Directory</a:t>
                      </a:r>
                      <a:r>
                        <a:rPr lang="ja-JP" altLang="en-US" sz="1000" dirty="0">
                          <a:solidFill>
                            <a:schemeClr val="tx1"/>
                          </a:solidFill>
                          <a:latin typeface="Yu Gothic UI" panose="020B0500000000000000" pitchFamily="50" charset="-128"/>
                          <a:ea typeface="Yu Gothic UI" panose="020B0500000000000000" pitchFamily="50" charset="-128"/>
                        </a:rPr>
                        <a:t>構造にし、一つの</a:t>
                      </a:r>
                      <a:r>
                        <a:rPr lang="en-US" altLang="ja-JP" sz="1000" dirty="0">
                          <a:solidFill>
                            <a:schemeClr val="tx1"/>
                          </a:solidFill>
                          <a:latin typeface="Yu Gothic UI" panose="020B0500000000000000" pitchFamily="50" charset="-128"/>
                          <a:ea typeface="Yu Gothic UI" panose="020B0500000000000000" pitchFamily="50" charset="-128"/>
                        </a:rPr>
                        <a:t>Directory</a:t>
                      </a:r>
                      <a:r>
                        <a:rPr lang="ja-JP" altLang="en-US" sz="1000" dirty="0">
                          <a:solidFill>
                            <a:schemeClr val="tx1"/>
                          </a:solidFill>
                          <a:latin typeface="Yu Gothic UI" panose="020B0500000000000000" pitchFamily="50" charset="-128"/>
                          <a:ea typeface="Yu Gothic UI" panose="020B0500000000000000" pitchFamily="50" charset="-128"/>
                        </a:rPr>
                        <a:t>にファイルを</a:t>
                      </a:r>
                      <a:r>
                        <a:rPr lang="en-US" altLang="ja-JP" sz="1000" dirty="0">
                          <a:solidFill>
                            <a:schemeClr val="tx1"/>
                          </a:solidFill>
                          <a:latin typeface="Yu Gothic UI" panose="020B0500000000000000" pitchFamily="50" charset="-128"/>
                          <a:ea typeface="Yu Gothic UI" panose="020B0500000000000000" pitchFamily="50" charset="-128"/>
                        </a:rPr>
                        <a:t>1000</a:t>
                      </a:r>
                      <a:r>
                        <a:rPr lang="ja-JP" altLang="en-US" sz="1000" dirty="0">
                          <a:solidFill>
                            <a:schemeClr val="tx1"/>
                          </a:solidFill>
                          <a:latin typeface="Yu Gothic UI" panose="020B0500000000000000" pitchFamily="50" charset="-128"/>
                          <a:ea typeface="Yu Gothic UI" panose="020B0500000000000000" pitchFamily="50" charset="-128"/>
                        </a:rPr>
                        <a:t>以内に抑えることでパフォーマンスを確保</a:t>
                      </a:r>
                      <a:endParaRPr lang="en-US" altLang="ja-JP" sz="1000" dirty="0">
                        <a:solidFill>
                          <a:schemeClr val="tx1"/>
                        </a:solidFill>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Download/</a:t>
                      </a:r>
                      <a:r>
                        <a:rPr lang="ja-JP" altLang="en-US" sz="105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1000" kern="1200" dirty="0">
                          <a:solidFill>
                            <a:schemeClr val="tx1"/>
                          </a:solidFill>
                          <a:latin typeface="+mn-lt"/>
                          <a:ea typeface="+mn-ea"/>
                          <a:cs typeface="+mn-cs"/>
                        </a:rPr>
                        <a:t>データベーステーブルから</a:t>
                      </a:r>
                      <a:r>
                        <a:rPr lang="zh-CN" altLang="zh-CN" sz="1000" kern="1200" dirty="0">
                          <a:solidFill>
                            <a:schemeClr val="tx1"/>
                          </a:solidFill>
                          <a:latin typeface="+mn-lt"/>
                          <a:ea typeface="+mn-ea"/>
                          <a:cs typeface="+mn-cs"/>
                        </a:rPr>
                        <a:t>選択</a:t>
                      </a:r>
                      <a:r>
                        <a:rPr lang="ja-JP" altLang="en-US" sz="1000" kern="1200" dirty="0">
                          <a:solidFill>
                            <a:schemeClr val="tx1"/>
                          </a:solidFill>
                          <a:latin typeface="+mn-lt"/>
                          <a:ea typeface="+mn-ea"/>
                          <a:cs typeface="+mn-cs"/>
                        </a:rPr>
                        <a:t>対象の添付</a:t>
                      </a:r>
                      <a:r>
                        <a:rPr lang="zh-CN" altLang="zh-CN" sz="1000" kern="1200" dirty="0">
                          <a:solidFill>
                            <a:schemeClr val="tx1"/>
                          </a:solidFill>
                          <a:latin typeface="+mn-lt"/>
                          <a:ea typeface="+mn-ea"/>
                          <a:cs typeface="+mn-cs"/>
                        </a:rPr>
                        <a:t>ファイル</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SPO</a:t>
                      </a:r>
                      <a:r>
                        <a:rPr lang="ja-JP" altLang="en-US" sz="1000" kern="1200" dirty="0">
                          <a:solidFill>
                            <a:schemeClr val="tx1"/>
                          </a:solidFill>
                          <a:latin typeface="+mn-lt"/>
                          <a:ea typeface="+mn-ea"/>
                          <a:cs typeface="+mn-cs"/>
                        </a:rPr>
                        <a:t> </a:t>
                      </a:r>
                      <a:r>
                        <a:rPr lang="zh-CN" altLang="zh-CN" sz="1000" kern="1200" dirty="0">
                          <a:solidFill>
                            <a:schemeClr val="tx1"/>
                          </a:solidFill>
                          <a:latin typeface="+mn-lt"/>
                          <a:ea typeface="+mn-ea"/>
                          <a:cs typeface="+mn-cs"/>
                        </a:rPr>
                        <a:t>URLを取得。 </a:t>
                      </a:r>
                    </a:p>
                    <a:p>
                      <a:pPr marL="228600" lvl="0" indent="-228600" eaLnBrk="0" fontAlgn="base" hangingPunct="0">
                        <a:spcBef>
                          <a:spcPct val="0"/>
                        </a:spcBef>
                        <a:spcAft>
                          <a:spcPct val="0"/>
                        </a:spcAft>
                        <a:buFont typeface="+mj-lt"/>
                        <a:buAutoNum type="arabicPeriod"/>
                      </a:pPr>
                      <a:r>
                        <a:rPr lang="en-US" altLang="ja-JP" sz="1000" kern="1200" dirty="0">
                          <a:solidFill>
                            <a:schemeClr val="tx1"/>
                          </a:solidFill>
                          <a:latin typeface="+mn-lt"/>
                          <a:ea typeface="+mn-ea"/>
                          <a:cs typeface="+mn-cs"/>
                        </a:rPr>
                        <a:t>Power Apps</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Launch</a:t>
                      </a:r>
                      <a:r>
                        <a:rPr lang="ja-JP" altLang="en-US" sz="1000" kern="1200" dirty="0">
                          <a:solidFill>
                            <a:schemeClr val="tx1"/>
                          </a:solidFill>
                          <a:latin typeface="+mn-lt"/>
                          <a:ea typeface="+mn-ea"/>
                          <a:cs typeface="+mn-cs"/>
                        </a:rPr>
                        <a:t>機能を利用し、</a:t>
                      </a:r>
                      <a:r>
                        <a:rPr lang="zh-CN" altLang="zh-CN" sz="1000" kern="1200" dirty="0">
                          <a:solidFill>
                            <a:schemeClr val="tx1"/>
                          </a:solidFill>
                          <a:latin typeface="+mn-lt"/>
                          <a:ea typeface="+mn-ea"/>
                          <a:cs typeface="+mn-cs"/>
                        </a:rPr>
                        <a:t>Office Onlineで</a:t>
                      </a:r>
                      <a:r>
                        <a:rPr lang="ja-JP" altLang="en-US" sz="1000" kern="1200" dirty="0">
                          <a:solidFill>
                            <a:schemeClr val="tx1"/>
                          </a:solidFill>
                          <a:latin typeface="+mn-lt"/>
                          <a:ea typeface="+mn-ea"/>
                          <a:cs typeface="+mn-cs"/>
                        </a:rPr>
                        <a:t>直接</a:t>
                      </a:r>
                      <a:r>
                        <a:rPr lang="zh-CN" altLang="zh-CN" sz="1000" kern="1200" dirty="0">
                          <a:solidFill>
                            <a:schemeClr val="tx1"/>
                          </a:solidFill>
                          <a:latin typeface="+mn-lt"/>
                          <a:ea typeface="+mn-ea"/>
                          <a:cs typeface="+mn-cs"/>
                        </a:rPr>
                        <a:t>開く（例: </a:t>
                      </a:r>
                      <a:r>
                        <a:rPr lang="zh-CN" altLang="zh-CN" sz="10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1000" kern="1200" dirty="0">
                          <a:solidFill>
                            <a:schemeClr val="tx1"/>
                          </a:solidFill>
                          <a:latin typeface="+mn-lt"/>
                          <a:ea typeface="+mn-ea"/>
                          <a:cs typeface="+mn-cs"/>
                        </a:rPr>
                        <a:t>]）</a:t>
                      </a:r>
                      <a:r>
                        <a:rPr lang="en-US" altLang="ja-JP" sz="1000" kern="1200" dirty="0" err="1">
                          <a:solidFill>
                            <a:schemeClr val="tx1"/>
                          </a:solidFill>
                          <a:latin typeface="+mn-lt"/>
                          <a:ea typeface="+mn-ea"/>
                          <a:cs typeface="+mn-cs"/>
                        </a:rPr>
                        <a:t>ReadOnly</a:t>
                      </a:r>
                      <a:r>
                        <a:rPr lang="en-US" altLang="ja-JP" sz="1000" kern="1200" dirty="0">
                          <a:solidFill>
                            <a:schemeClr val="tx1"/>
                          </a:solidFill>
                          <a:latin typeface="+mn-lt"/>
                          <a:ea typeface="+mn-ea"/>
                          <a:cs typeface="+mn-cs"/>
                        </a:rPr>
                        <a:t>/</a:t>
                      </a:r>
                      <a:r>
                        <a:rPr lang="ja-JP" altLang="en-US" sz="1000" kern="1200" dirty="0">
                          <a:solidFill>
                            <a:schemeClr val="tx1"/>
                          </a:solidFill>
                          <a:latin typeface="+mn-lt"/>
                          <a:ea typeface="+mn-ea"/>
                          <a:cs typeface="+mn-cs"/>
                        </a:rPr>
                        <a:t>編集モードは仕様に従って定義</a:t>
                      </a:r>
                      <a:endParaRPr lang="en-US" altLang="zh-CN"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Upload</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1000" kern="1200" dirty="0">
                          <a:solidFill>
                            <a:schemeClr val="tx1"/>
                          </a:solidFill>
                          <a:latin typeface="+mn-lt"/>
                          <a:ea typeface="+mn-ea"/>
                          <a:cs typeface="+mn-cs"/>
                        </a:rPr>
                        <a:t>Upload</a:t>
                      </a:r>
                      <a:r>
                        <a:rPr lang="ja-JP" altLang="en-US" sz="1000" kern="1200" dirty="0">
                          <a:solidFill>
                            <a:schemeClr val="tx1"/>
                          </a:solidFill>
                          <a:latin typeface="+mn-lt"/>
                          <a:ea typeface="+mn-ea"/>
                          <a:cs typeface="+mn-cs"/>
                        </a:rPr>
                        <a:t>された</a:t>
                      </a:r>
                      <a:r>
                        <a:rPr lang="zh-CN" altLang="zh-CN" sz="1000" kern="1200" dirty="0">
                          <a:solidFill>
                            <a:schemeClr val="tx1"/>
                          </a:solidFill>
                          <a:latin typeface="+mn-lt"/>
                          <a:ea typeface="+mn-ea"/>
                          <a:cs typeface="+mn-cs"/>
                        </a:rPr>
                        <a:t>ファイル</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SPO</a:t>
                      </a:r>
                      <a:r>
                        <a:rPr lang="ja-JP" altLang="en-US" sz="1000" kern="1200" dirty="0">
                          <a:solidFill>
                            <a:schemeClr val="tx1"/>
                          </a:solidFill>
                          <a:latin typeface="+mn-lt"/>
                          <a:ea typeface="+mn-ea"/>
                          <a:cs typeface="+mn-cs"/>
                        </a:rPr>
                        <a:t> </a:t>
                      </a:r>
                      <a:r>
                        <a:rPr lang="zh-CN" altLang="zh-CN" sz="1000" kern="1200" dirty="0">
                          <a:solidFill>
                            <a:schemeClr val="tx1"/>
                          </a:solidFill>
                          <a:latin typeface="+mn-lt"/>
                          <a:ea typeface="+mn-ea"/>
                          <a:cs typeface="+mn-cs"/>
                        </a:rPr>
                        <a:t>URLを</a:t>
                      </a:r>
                      <a:r>
                        <a:rPr lang="ja-JP" altLang="en-US" sz="1000" kern="1200" dirty="0">
                          <a:solidFill>
                            <a:schemeClr val="tx1"/>
                          </a:solidFill>
                          <a:latin typeface="+mn-lt"/>
                          <a:ea typeface="+mn-ea"/>
                          <a:cs typeface="+mn-cs"/>
                        </a:rPr>
                        <a:t>算出</a:t>
                      </a:r>
                      <a:r>
                        <a:rPr lang="zh-CN" altLang="zh-CN" sz="10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1000" dirty="0"/>
                        <a:t>ファイルを</a:t>
                      </a:r>
                      <a:r>
                        <a:rPr lang="en-US" altLang="ja-JP" sz="1000" dirty="0"/>
                        <a:t>SPO</a:t>
                      </a:r>
                      <a:r>
                        <a:rPr lang="ja-JP" altLang="en-US" sz="1000" dirty="0"/>
                        <a:t>の場所に</a:t>
                      </a:r>
                      <a:r>
                        <a:rPr lang="en-US" altLang="ja-JP" sz="1000" dirty="0"/>
                        <a:t>Upload</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00" dirty="0"/>
                        <a:t>ファイルの権限を設定（共有相手個人、組織のみに与える）</a:t>
                      </a:r>
                      <a:endParaRPr lang="en-US" altLang="ja-JP" sz="100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00" dirty="0"/>
                        <a:t>仕様書</a:t>
                      </a:r>
                      <a:r>
                        <a:rPr lang="en-US" altLang="ja-JP" sz="1000" dirty="0"/>
                        <a:t>Table</a:t>
                      </a:r>
                      <a:r>
                        <a:rPr lang="ja-JP" altLang="en-US" sz="1000" dirty="0"/>
                        <a:t>に添付ファイル情報を登録する</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kern="1200" dirty="0">
                          <a:solidFill>
                            <a:schemeClr val="tx1"/>
                          </a:solidFill>
                          <a:latin typeface="+mn-lt"/>
                          <a:ea typeface="+mn-ea"/>
                          <a:cs typeface="+mn-cs"/>
                        </a:rPr>
                        <a:t>ソリューションデータフロー</a:t>
                      </a:r>
                      <a:endParaRPr lang="en-US" altLang="ja-JP" sz="1050" b="1"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3" name="図 2">
            <a:extLst>
              <a:ext uri="{FF2B5EF4-FFF2-40B4-BE49-F238E27FC236}">
                <a16:creationId xmlns:a16="http://schemas.microsoft.com/office/drawing/2014/main" id="{8D8B1919-9D04-D60A-C40F-E0663E5D1CA0}"/>
              </a:ext>
            </a:extLst>
          </p:cNvPr>
          <p:cNvPicPr>
            <a:picLocks noChangeAspect="1"/>
          </p:cNvPicPr>
          <p:nvPr/>
        </p:nvPicPr>
        <p:blipFill>
          <a:blip r:embed="rId4"/>
          <a:stretch>
            <a:fillRect/>
          </a:stretch>
        </p:blipFill>
        <p:spPr>
          <a:xfrm>
            <a:off x="5621497" y="3187581"/>
            <a:ext cx="5925026" cy="30456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893006779"/>
              </p:ext>
            </p:extLst>
          </p:nvPr>
        </p:nvGraphicFramePr>
        <p:xfrm>
          <a:off x="414336" y="1068577"/>
          <a:ext cx="11284856" cy="5169117"/>
        </p:xfrm>
        <a:graphic>
          <a:graphicData uri="http://schemas.openxmlformats.org/drawingml/2006/table">
            <a:tbl>
              <a:tblPr firstRow="1">
                <a:tableStyleId>{2D5ABB26-0587-4C30-8999-92F81FD0307C}</a:tableStyleId>
              </a:tblPr>
              <a:tblGrid>
                <a:gridCol w="1739205">
                  <a:extLst>
                    <a:ext uri="{9D8B030D-6E8A-4147-A177-3AD203B41FA5}">
                      <a16:colId xmlns:a16="http://schemas.microsoft.com/office/drawing/2014/main" val="307087368"/>
                    </a:ext>
                  </a:extLst>
                </a:gridCol>
                <a:gridCol w="4802737">
                  <a:extLst>
                    <a:ext uri="{9D8B030D-6E8A-4147-A177-3AD203B41FA5}">
                      <a16:colId xmlns:a16="http://schemas.microsoft.com/office/drawing/2014/main" val="1007415991"/>
                    </a:ext>
                  </a:extLst>
                </a:gridCol>
                <a:gridCol w="4742914">
                  <a:extLst>
                    <a:ext uri="{9D8B030D-6E8A-4147-A177-3AD203B41FA5}">
                      <a16:colId xmlns:a16="http://schemas.microsoft.com/office/drawing/2014/main" val="467773725"/>
                    </a:ext>
                  </a:extLst>
                </a:gridCol>
              </a:tblGrid>
              <a:tr h="24357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777777">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t>で実現</a:t>
                      </a:r>
                      <a:endParaRPr lang="en-US" altLang="ja-JP" sz="1000" b="1"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Trigger: PowerAppsから呼び出し（PowerApps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ja-JP" altLang="en-US" sz="900" dirty="0">
                          <a:latin typeface="Arial" panose="020B0604020202020204" pitchFamily="34" charset="0"/>
                        </a:rPr>
                        <a:t>で</a:t>
                      </a:r>
                      <a:r>
                        <a:rPr kumimoji="0" lang="zh-CN" altLang="zh-CN" sz="900" dirty="0">
                          <a:latin typeface="Arial" panose="020B0604020202020204" pitchFamily="34" charset="0"/>
                        </a:rPr>
                        <a:t>モバイル/デスクトップ対応のため、PowerAppsのDownload関数を使用。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PowerApps</a:t>
                      </a:r>
                      <a:r>
                        <a:rPr lang="ja-JP" altLang="en-US" sz="1000" b="1" dirty="0"/>
                        <a:t> にて実現</a:t>
                      </a:r>
                      <a:r>
                        <a:rPr lang="ja-JP" altLang="en-US" sz="1000" dirty="0"/>
                        <a:t>。詳細は下記：</a:t>
                      </a:r>
                      <a:endParaRPr lang="en-US" altLang="ja-JP" sz="1000" dirty="0"/>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latin typeface="Yu Gothic UI" panose="020B0500000000000000" pitchFamily="50" charset="-128"/>
                          <a:ea typeface="Yu Gothic UI" panose="020B0500000000000000" pitchFamily="50" charset="-128"/>
                        </a:rPr>
                        <a:t>Web </a:t>
                      </a:r>
                      <a:r>
                        <a:rPr lang="ja-JP" altLang="en-US" sz="900" dirty="0">
                          <a:latin typeface="Yu Gothic UI" panose="020B0500000000000000" pitchFamily="50" charset="-128"/>
                          <a:ea typeface="Yu Gothic UI" panose="020B0500000000000000" pitchFamily="50" charset="-128"/>
                        </a:rPr>
                        <a:t>ページを埋め込むの</a:t>
                      </a:r>
                      <a:r>
                        <a:rPr lang="en-US" altLang="ja-JP" sz="900" dirty="0">
                          <a:latin typeface="Yu Gothic UI" panose="020B0500000000000000" pitchFamily="50" charset="-128"/>
                          <a:ea typeface="Yu Gothic UI" panose="020B0500000000000000" pitchFamily="50" charset="-128"/>
                        </a:rPr>
                        <a:t>WebView </a:t>
                      </a:r>
                      <a:r>
                        <a:rPr lang="ja-JP" altLang="en-US" sz="900" dirty="0">
                          <a:latin typeface="Yu Gothic UI" panose="020B0500000000000000" pitchFamily="50" charset="-128"/>
                          <a:ea typeface="Yu Gothic UI" panose="020B0500000000000000" pitchFamily="50" charset="-128"/>
                        </a:rPr>
                        <a:t>コントロール（または </a:t>
                      </a:r>
                      <a:r>
                        <a:rPr lang="en-US" altLang="ja-JP" sz="900" dirty="0">
                          <a:latin typeface="Yu Gothic UI" panose="020B0500000000000000" pitchFamily="50" charset="-128"/>
                          <a:ea typeface="Yu Gothic UI" panose="020B0500000000000000" pitchFamily="50" charset="-128"/>
                        </a:rPr>
                        <a:t>HTML text </a:t>
                      </a:r>
                      <a:r>
                        <a:rPr lang="ja-JP" altLang="en-US" sz="900" dirty="0">
                          <a:latin typeface="Yu Gothic UI" panose="020B0500000000000000" pitchFamily="50" charset="-128"/>
                          <a:ea typeface="Yu Gothic UI" panose="020B0500000000000000" pitchFamily="50" charset="-128"/>
                        </a:rPr>
                        <a:t>）により</a:t>
                      </a:r>
                      <a:r>
                        <a:rPr lang="en-US" altLang="ja-JP" sz="900" dirty="0">
                          <a:latin typeface="Yu Gothic UI" panose="020B0500000000000000" pitchFamily="50" charset="-128"/>
                          <a:ea typeface="Yu Gothic UI" panose="020B0500000000000000" pitchFamily="50" charset="-128"/>
                        </a:rPr>
                        <a:t>Java Script</a:t>
                      </a:r>
                      <a:r>
                        <a:rPr lang="ja-JP" altLang="en-US" sz="900" dirty="0">
                          <a:latin typeface="Yu Gothic UI" panose="020B0500000000000000" pitchFamily="50" charset="-128"/>
                          <a:ea typeface="Yu Gothic UI" panose="020B0500000000000000" pitchFamily="50" charset="-128"/>
                        </a:rPr>
                        <a:t>を導入</a:t>
                      </a:r>
                      <a:endParaRPr lang="en-US" altLang="ja-JP" sz="900" dirty="0">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latin typeface="Arial" panose="020B0604020202020204" pitchFamily="34" charset="0"/>
                        </a:rPr>
                        <a:t>上記</a:t>
                      </a:r>
                      <a:r>
                        <a:rPr kumimoji="0" lang="en-US" altLang="ja-JP" sz="900" dirty="0">
                          <a:latin typeface="Arial" panose="020B0604020202020204" pitchFamily="34" charset="0"/>
                        </a:rPr>
                        <a:t>No.3</a:t>
                      </a:r>
                      <a:r>
                        <a:rPr kumimoji="0" lang="ja-JP" altLang="en-US" sz="900" dirty="0">
                          <a:latin typeface="Arial" panose="020B0604020202020204" pitchFamily="34" charset="0"/>
                        </a:rPr>
                        <a:t>で導入された</a:t>
                      </a:r>
                      <a:r>
                        <a:rPr kumimoji="0" lang="en-US" altLang="ja-JP" sz="900" dirty="0">
                          <a:latin typeface="Arial" panose="020B0604020202020204" pitchFamily="34" charset="0"/>
                        </a:rPr>
                        <a:t>JavaScript</a:t>
                      </a:r>
                      <a:r>
                        <a:rPr kumimoji="0" lang="ja-JP" altLang="en-US" sz="900" dirty="0">
                          <a:latin typeface="Arial" panose="020B0604020202020204" pitchFamily="34" charset="0"/>
                        </a:rPr>
                        <a:t>を利用し、</a:t>
                      </a:r>
                      <a:r>
                        <a:rPr kumimoji="0" lang="en-US" altLang="ja-JP" sz="900" dirty="0">
                          <a:latin typeface="Arial" panose="020B0604020202020204" pitchFamily="34" charset="0"/>
                        </a:rPr>
                        <a:t>No.1</a:t>
                      </a:r>
                      <a:r>
                        <a:rPr kumimoji="0" lang="ja-JP" altLang="en-US" sz="900" dirty="0">
                          <a:latin typeface="Arial" panose="020B0604020202020204" pitchFamily="34" charset="0"/>
                        </a:rPr>
                        <a:t>の添付添付ファイルを</a:t>
                      </a:r>
                      <a:r>
                        <a:rPr kumimoji="0" lang="en-US" altLang="ja-JP" sz="900" dirty="0">
                          <a:latin typeface="Arial" panose="020B0604020202020204" pitchFamily="34" charset="0"/>
                        </a:rPr>
                        <a:t>Local Directory</a:t>
                      </a:r>
                      <a:r>
                        <a:rPr kumimoji="0" lang="ja-JP" altLang="en-US" sz="900" dirty="0">
                          <a:latin typeface="Arial" panose="020B0604020202020204" pitchFamily="34" charset="0"/>
                        </a:rPr>
                        <a:t>に保存する（</a:t>
                      </a:r>
                      <a:r>
                        <a:rPr kumimoji="0" lang="en-US" altLang="ja-JP" sz="900" dirty="0">
                          <a:latin typeface="Arial" panose="020B0604020202020204" pitchFamily="34" charset="0"/>
                        </a:rPr>
                        <a:t>JavaScript </a:t>
                      </a:r>
                      <a:r>
                        <a:rPr kumimoji="0" lang="ja-JP" altLang="en-US" sz="900" dirty="0">
                          <a:latin typeface="Arial" panose="020B0604020202020204" pitchFamily="34" charset="0"/>
                        </a:rPr>
                        <a:t>によりの</a:t>
                      </a:r>
                      <a:r>
                        <a:rPr kumimoji="0" lang="en-US" altLang="ja-JP" sz="900" dirty="0">
                          <a:latin typeface="Arial" panose="020B0604020202020204" pitchFamily="34" charset="0"/>
                        </a:rPr>
                        <a:t>Local File System</a:t>
                      </a:r>
                      <a:r>
                        <a:rPr kumimoji="0" lang="ja-JP" altLang="en-US" sz="900" dirty="0">
                          <a:latin typeface="Arial" panose="020B0604020202020204" pitchFamily="34" charset="0"/>
                        </a:rPr>
                        <a:t>アクセスすための</a:t>
                      </a:r>
                      <a:r>
                        <a:rPr kumimoji="0" lang="en-US" altLang="ja-JP" sz="900" dirty="0">
                          <a:latin typeface="Arial" panose="020B0604020202020204" pitchFamily="34" charset="0"/>
                        </a:rPr>
                        <a:t>Security</a:t>
                      </a:r>
                      <a:r>
                        <a:rPr kumimoji="0" lang="ja-JP" altLang="en-US" sz="900" dirty="0">
                          <a:latin typeface="Arial" panose="020B0604020202020204" pitchFamily="34" charset="0"/>
                        </a:rPr>
                        <a:t>設定が必要）</a:t>
                      </a:r>
                      <a:endParaRPr kumimoji="0" lang="en-US" altLang="zh-CN" sz="900" dirty="0">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latin typeface="Arial" panose="020B0604020202020204" pitchFamily="34" charset="0"/>
                        </a:rPr>
                        <a:t>※</a:t>
                      </a:r>
                      <a:r>
                        <a:rPr kumimoji="0" lang="ja-JP" altLang="en-US" sz="900" dirty="0">
                          <a:latin typeface="Arial" panose="020B0604020202020204" pitchFamily="34" charset="0"/>
                        </a:rPr>
                        <a:t>　</a:t>
                      </a:r>
                      <a:r>
                        <a:rPr kumimoji="0" lang="en-US" altLang="ja-JP" sz="900" dirty="0">
                          <a:latin typeface="Arial" panose="020B0604020202020204" pitchFamily="34" charset="0"/>
                        </a:rPr>
                        <a:t>No.4</a:t>
                      </a:r>
                      <a:r>
                        <a:rPr kumimoji="0" lang="ja-JP" altLang="en-US" sz="900" dirty="0">
                          <a:latin typeface="Arial" panose="020B0604020202020204" pitchFamily="34" charset="0"/>
                        </a:rPr>
                        <a:t>のファイルの</a:t>
                      </a:r>
                      <a:r>
                        <a:rPr kumimoji="0" lang="zh-CN" altLang="zh-CN" sz="900" dirty="0">
                          <a:latin typeface="Arial" panose="020B0604020202020204" pitchFamily="34" charset="0"/>
                        </a:rPr>
                        <a:t>保存先</a:t>
                      </a:r>
                      <a:r>
                        <a:rPr kumimoji="0" lang="ja-JP" altLang="en-US" sz="900" dirty="0">
                          <a:latin typeface="Arial" panose="020B0604020202020204" pitchFamily="34" charset="0"/>
                        </a:rPr>
                        <a:t>取得は複数ファイルでも一回のみ</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社内標準ブラウザ</a:t>
                      </a:r>
                      <a:r>
                        <a:rPr kumimoji="0" lang="en-US" altLang="zh-CN" sz="900" dirty="0">
                          <a:latin typeface="Arial" panose="020B0604020202020204" pitchFamily="34" charset="0"/>
                        </a:rPr>
                        <a:t>Chrome</a:t>
                      </a:r>
                      <a:r>
                        <a:rPr kumimoji="0" lang="ja-JP" altLang="en-US" sz="900" dirty="0">
                          <a:latin typeface="Arial" panose="020B0604020202020204" pitchFamily="34" charset="0"/>
                        </a:rPr>
                        <a:t>に、</a:t>
                      </a:r>
                      <a:r>
                        <a:rPr kumimoji="0" lang="en-US" altLang="ja-JP" sz="900" dirty="0">
                          <a:latin typeface="Arial" panose="020B0604020202020204" pitchFamily="34" charset="0"/>
                        </a:rPr>
                        <a:t>Java Script</a:t>
                      </a:r>
                      <a:r>
                        <a:rPr kumimoji="0" lang="ja-JP" altLang="en-US" sz="900" dirty="0">
                          <a:latin typeface="Arial" panose="020B0604020202020204" pitchFamily="34" charset="0"/>
                        </a:rPr>
                        <a:t>はローカルディレクトリに</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書出す、読込権限を付与する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49162">
                <a:tc>
                  <a:txBody>
                    <a:bodyPr/>
                    <a:lstStyle/>
                    <a:p>
                      <a:r>
                        <a:rPr lang="ja-JP" altLang="en-US" sz="1100" dirty="0"/>
                        <a:t>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07550">
                <a:tc>
                  <a:txBody>
                    <a:bodyPr/>
                    <a:lstStyle/>
                    <a:p>
                      <a:r>
                        <a:rPr lang="ja-JP" altLang="en-US" sz="1100" dirty="0"/>
                        <a:t>複数添付ファイルそれぞれダウンロード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下記が論理的に可能（</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17173">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49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確実実現可能（実績あり）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507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時、複数</a:t>
                      </a:r>
                      <a:r>
                        <a:rPr kumimoji="0" lang="en-US" altLang="ja-JP" sz="900" kern="1200" dirty="0">
                          <a:solidFill>
                            <a:schemeClr val="tx1"/>
                          </a:solidFill>
                          <a:latin typeface="Arial" panose="020B0604020202020204" pitchFamily="34" charset="0"/>
                          <a:ea typeface="+mn-ea"/>
                          <a:cs typeface="+mn-cs"/>
                        </a:rPr>
                        <a:t>Office/Pdf</a:t>
                      </a:r>
                      <a:r>
                        <a:rPr kumimoji="0" lang="ja-JP" altLang="en-US" sz="900" kern="1200" dirty="0">
                          <a:solidFill>
                            <a:schemeClr val="tx1"/>
                          </a:solidFill>
                          <a:latin typeface="Arial" panose="020B0604020202020204" pitchFamily="34" charset="0"/>
                          <a:ea typeface="+mn-ea"/>
                          <a:cs typeface="+mn-cs"/>
                        </a:rPr>
                        <a:t>ファイルを</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したが、ダウンロード時、一つ</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ファイルとする。ユーザは添付ファイルを</a:t>
                      </a:r>
                      <a:r>
                        <a:rPr kumimoji="0" lang="en-US" altLang="ja-JP" sz="900" kern="1200" dirty="0">
                          <a:solidFill>
                            <a:schemeClr val="tx1"/>
                          </a:solidFill>
                          <a:latin typeface="Arial" panose="020B0604020202020204" pitchFamily="34" charset="0"/>
                          <a:ea typeface="+mn-ea"/>
                          <a:cs typeface="+mn-cs"/>
                        </a:rPr>
                        <a:t>Local</a:t>
                      </a:r>
                      <a:r>
                        <a:rPr kumimoji="0" lang="ja-JP" altLang="en-US" sz="900" kern="1200" dirty="0">
                          <a:solidFill>
                            <a:schemeClr val="tx1"/>
                          </a:solidFill>
                          <a:latin typeface="Arial" panose="020B0604020202020204" pitchFamily="34" charset="0"/>
                          <a:ea typeface="+mn-ea"/>
                          <a:cs typeface="+mn-cs"/>
                        </a:rPr>
                        <a:t>で確認するときに、</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を展開してから確認しないといけない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21717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283494" y="3292354"/>
            <a:ext cx="2434950" cy="721561"/>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t>一括ダウンロード機能の要件のポイントは複数ファイル対応であり、前回の提案より、向上案も併せて提示します。</a:t>
            </a:r>
          </a:p>
        </p:txBody>
      </p:sp>
      <p:pic>
        <p:nvPicPr>
          <p:cNvPr id="5" name="図 4">
            <a:extLst>
              <a:ext uri="{FF2B5EF4-FFF2-40B4-BE49-F238E27FC236}">
                <a16:creationId xmlns:a16="http://schemas.microsoft.com/office/drawing/2014/main" id="{1789387A-77C1-1A06-2D60-A7A9E32FA611}"/>
              </a:ext>
            </a:extLst>
          </p:cNvPr>
          <p:cNvPicPr>
            <a:picLocks noChangeAspect="1"/>
          </p:cNvPicPr>
          <p:nvPr/>
        </p:nvPicPr>
        <p:blipFill>
          <a:blip r:embed="rId4"/>
          <a:stretch>
            <a:fillRect/>
          </a:stretch>
        </p:blipFill>
        <p:spPr>
          <a:xfrm>
            <a:off x="10774680" y="2343708"/>
            <a:ext cx="786830" cy="2026459"/>
          </a:xfrm>
          <a:prstGeom prst="rect">
            <a:avLst/>
          </a:prstGeom>
        </p:spPr>
      </p:pic>
      <p:sp>
        <p:nvSpPr>
          <p:cNvPr id="6" name="四角形: 角を丸くする 5">
            <a:extLst>
              <a:ext uri="{FF2B5EF4-FFF2-40B4-BE49-F238E27FC236}">
                <a16:creationId xmlns:a16="http://schemas.microsoft.com/office/drawing/2014/main" id="{08F1ABC6-D6DE-2BA1-DFB8-3DB9CFEA88CF}"/>
              </a:ext>
            </a:extLst>
          </p:cNvPr>
          <p:cNvSpPr/>
          <p:nvPr/>
        </p:nvSpPr>
        <p:spPr>
          <a:xfrm>
            <a:off x="10744200" y="3439437"/>
            <a:ext cx="846034" cy="128186"/>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要件／ソリューション－検索機能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2410915134"/>
              </p:ext>
            </p:extLst>
          </p:nvPr>
        </p:nvGraphicFramePr>
        <p:xfrm>
          <a:off x="453572" y="867273"/>
          <a:ext cx="11284856" cy="526362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313944">
                  <a:extLst>
                    <a:ext uri="{9D8B030D-6E8A-4147-A177-3AD203B41FA5}">
                      <a16:colId xmlns:a16="http://schemas.microsoft.com/office/drawing/2014/main" val="1007415991"/>
                    </a:ext>
                  </a:extLst>
                </a:gridCol>
                <a:gridCol w="137777">
                  <a:extLst>
                    <a:ext uri="{9D8B030D-6E8A-4147-A177-3AD203B41FA5}">
                      <a16:colId xmlns:a16="http://schemas.microsoft.com/office/drawing/2014/main" val="78186435"/>
                    </a:ext>
                  </a:extLst>
                </a:gridCol>
                <a:gridCol w="6093931">
                  <a:extLst>
                    <a:ext uri="{9D8B030D-6E8A-4147-A177-3AD203B41FA5}">
                      <a16:colId xmlns:a16="http://schemas.microsoft.com/office/drawing/2014/main" val="467773725"/>
                    </a:ext>
                  </a:extLst>
                </a:gridCol>
              </a:tblGrid>
              <a:tr h="158935">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47451">
                <a:tc>
                  <a:txBody>
                    <a:bodyPr/>
                    <a:lstStyle/>
                    <a:p>
                      <a:r>
                        <a:rPr lang="ja-JP" altLang="en-US" sz="1100" dirty="0"/>
                        <a:t>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lang="ja-JP" altLang="en-US" sz="1000" dirty="0"/>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47451">
                <a:tc>
                  <a:txBody>
                    <a:bodyPr/>
                    <a:lstStyle/>
                    <a:p>
                      <a:r>
                        <a:rPr lang="ja-JP" altLang="en-US" sz="1100" dirty="0"/>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468050">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添付ファイルの内容から検索キーワードを含むファイルを検索し、該当ファイルの所有仕様書レコードを画面に表示する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64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済のファイルに対して、再度添付ファイルの権限処理が必要（複雑）</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1687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b="1" dirty="0"/>
                        <a:t>Office 365 </a:t>
                      </a:r>
                      <a:r>
                        <a:rPr lang="ja-JP" altLang="en-US" sz="900" b="1" dirty="0"/>
                        <a:t>シリーズのデータオブジェクト（コネクタ）</a:t>
                      </a:r>
                      <a:r>
                        <a:rPr lang="ja-JP" altLang="en-US" sz="900" dirty="0"/>
                        <a:t>は、</a:t>
                      </a:r>
                      <a:endParaRPr lang="en-US" altLang="ja-JP" sz="900" dirty="0"/>
                    </a:p>
                    <a:p>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solidFill>
                            <a:srgbClr val="FF0000"/>
                          </a:solidFill>
                        </a:rPr>
                        <a:t>Microsoft</a:t>
                      </a:r>
                      <a:r>
                        <a:rPr lang="ja-JP" altLang="en-US" sz="900" b="1" dirty="0">
                          <a:solidFill>
                            <a:srgbClr val="FF0000"/>
                          </a:solidFill>
                        </a:rPr>
                        <a:t> </a:t>
                      </a:r>
                      <a:r>
                        <a:rPr lang="en-US" altLang="ja-JP" sz="900" b="1" dirty="0">
                          <a:solidFill>
                            <a:srgbClr val="FF0000"/>
                          </a:solidFill>
                        </a:rPr>
                        <a:t>Search</a:t>
                      </a:r>
                      <a:r>
                        <a:rPr lang="ja-JP" altLang="en-US" sz="900" b="1" dirty="0">
                          <a:solidFill>
                            <a:srgbClr val="FF0000"/>
                          </a:solidFill>
                        </a:rPr>
                        <a:t>のコネクタが提供されていないため、</a:t>
                      </a:r>
                      <a:r>
                        <a:rPr lang="en-US" altLang="ja-JP" sz="900" b="1" dirty="0">
                          <a:solidFill>
                            <a:srgbClr val="FF0000"/>
                          </a:solidFill>
                        </a:rPr>
                        <a:t>Power Apps</a:t>
                      </a:r>
                      <a:r>
                        <a:rPr lang="ja-JP" altLang="en-US" sz="900" b="1" dirty="0">
                          <a:solidFill>
                            <a:srgbClr val="FF0000"/>
                          </a:solidFill>
                        </a:rPr>
                        <a:t>から直接利用するのは必須。</a:t>
                      </a:r>
                      <a:endParaRPr kumimoji="0" lang="en-US" altLang="ja-JP" sz="900" b="1" kern="1200" dirty="0">
                        <a:solidFill>
                          <a:srgbClr val="FF0000"/>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141709">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5980" y="4178824"/>
            <a:ext cx="3653509" cy="1811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extLst>
              <p:ext uri="{D42A27DB-BD31-4B8C-83A1-F6EECF244321}">
                <p14:modId xmlns:p14="http://schemas.microsoft.com/office/powerpoint/2010/main" val="1973787379"/>
              </p:ext>
            </p:extLst>
          </p:nvPr>
        </p:nvGraphicFramePr>
        <p:xfrm>
          <a:off x="2324608" y="5017588"/>
          <a:ext cx="5161281" cy="983408"/>
        </p:xfrm>
        <a:graphic>
          <a:graphicData uri="http://schemas.openxmlformats.org/drawingml/2006/table">
            <a:tbl>
              <a:tblPr firstRow="1">
                <a:tableStyleId>{35758FB7-9AC5-4552-8A53-C91805E547FA}</a:tableStyleId>
              </a:tblPr>
              <a:tblGrid>
                <a:gridCol w="652467">
                  <a:extLst>
                    <a:ext uri="{9D8B030D-6E8A-4147-A177-3AD203B41FA5}">
                      <a16:colId xmlns:a16="http://schemas.microsoft.com/office/drawing/2014/main" val="2071358957"/>
                    </a:ext>
                  </a:extLst>
                </a:gridCol>
                <a:gridCol w="1579901">
                  <a:extLst>
                    <a:ext uri="{9D8B030D-6E8A-4147-A177-3AD203B41FA5}">
                      <a16:colId xmlns:a16="http://schemas.microsoft.com/office/drawing/2014/main" val="3815825157"/>
                    </a:ext>
                  </a:extLst>
                </a:gridCol>
                <a:gridCol w="960059">
                  <a:extLst>
                    <a:ext uri="{9D8B030D-6E8A-4147-A177-3AD203B41FA5}">
                      <a16:colId xmlns:a16="http://schemas.microsoft.com/office/drawing/2014/main" val="3610100658"/>
                    </a:ext>
                  </a:extLst>
                </a:gridCol>
                <a:gridCol w="1968854">
                  <a:extLst>
                    <a:ext uri="{9D8B030D-6E8A-4147-A177-3AD203B41FA5}">
                      <a16:colId xmlns:a16="http://schemas.microsoft.com/office/drawing/2014/main" val="2805758698"/>
                    </a:ext>
                  </a:extLst>
                </a:gridCol>
              </a:tblGrid>
              <a:tr h="69075">
                <a:tc>
                  <a:txBody>
                    <a:bodyPr/>
                    <a:lstStyle/>
                    <a:p>
                      <a:r>
                        <a:rPr lang="ja-JP" altLang="en-US" sz="600" dirty="0"/>
                        <a:t>コネクタ名</a:t>
                      </a:r>
                    </a:p>
                  </a:txBody>
                  <a:tcPr marL="40112" marR="40112" marT="20056" marB="20056" anchor="ctr"/>
                </a:tc>
                <a:tc>
                  <a:txBody>
                    <a:bodyPr/>
                    <a:lstStyle/>
                    <a:p>
                      <a:r>
                        <a:rPr lang="ja-JP" altLang="en-US" sz="600"/>
                        <a:t>主な役割</a:t>
                      </a:r>
                    </a:p>
                  </a:txBody>
                  <a:tcPr marL="40112" marR="40112" marT="20056" marB="20056" anchor="ctr"/>
                </a:tc>
                <a:tc>
                  <a:txBody>
                    <a:bodyPr/>
                    <a:lstStyle/>
                    <a:p>
                      <a:r>
                        <a:rPr lang="ja-JP" altLang="en-US" sz="600"/>
                        <a:t>データソース</a:t>
                      </a:r>
                    </a:p>
                  </a:txBody>
                  <a:tcPr marL="40112" marR="40112" marT="20056" marB="20056" anchor="ctr"/>
                </a:tc>
                <a:tc>
                  <a:txBody>
                    <a:bodyPr/>
                    <a:lstStyle/>
                    <a:p>
                      <a:r>
                        <a:rPr lang="ja-JP" altLang="en-US" sz="600"/>
                        <a:t>関係性</a:t>
                      </a:r>
                      <a:r>
                        <a:rPr lang="en-US" altLang="ja-JP" sz="600"/>
                        <a:t>/</a:t>
                      </a:r>
                      <a:r>
                        <a:rPr lang="ja-JP" altLang="en-US" sz="600"/>
                        <a:t>共通点</a:t>
                      </a:r>
                    </a:p>
                  </a:txBody>
                  <a:tcPr marL="40112" marR="40112" marT="20056" marB="20056" anchor="ctr"/>
                </a:tc>
                <a:extLst>
                  <a:ext uri="{0D108BD9-81ED-4DB2-BD59-A6C34878D82A}">
                    <a16:rowId xmlns:a16="http://schemas.microsoft.com/office/drawing/2014/main" val="1925658862"/>
                  </a:ext>
                </a:extLst>
              </a:tr>
              <a:tr h="202054">
                <a:tc>
                  <a:txBody>
                    <a:bodyPr/>
                    <a:lstStyle/>
                    <a:p>
                      <a:r>
                        <a:rPr lang="de-DE" sz="600" b="1" dirty="0"/>
                        <a:t>Office 365 Users</a:t>
                      </a:r>
                      <a:endParaRPr lang="de-DE" sz="600" dirty="0"/>
                    </a:p>
                  </a:txBody>
                  <a:tcPr marL="40112" marR="40112" marT="20056" marB="20056" anchor="ctr"/>
                </a:tc>
                <a:tc>
                  <a:txBody>
                    <a:bodyPr/>
                    <a:lstStyle/>
                    <a:p>
                      <a:r>
                        <a:rPr lang="ja-JP" altLang="en-US" sz="600" dirty="0"/>
                        <a:t>組織内のユーザー（名前、メールアドレス、部署など）の</a:t>
                      </a:r>
                      <a:r>
                        <a:rPr lang="ja-JP" altLang="en-US" sz="600" b="1" dirty="0"/>
                        <a:t>読み取り</a:t>
                      </a:r>
                      <a:r>
                        <a:rPr lang="ja-JP" altLang="en-US" sz="600" dirty="0"/>
                        <a:t>。</a:t>
                      </a:r>
                    </a:p>
                  </a:txBody>
                  <a:tcPr marL="40112" marR="40112" marT="20056" marB="20056" anchor="ctr"/>
                </a:tc>
                <a:tc>
                  <a:txBody>
                    <a:bodyPr/>
                    <a:lstStyle/>
                    <a:p>
                      <a:r>
                        <a:rPr lang="de-DE" sz="600" dirty="0"/>
                        <a:t>Microsoft Graph (Azure AD)</a:t>
                      </a:r>
                    </a:p>
                  </a:txBody>
                  <a:tcPr marL="40112" marR="40112" marT="20056" marB="20056" anchor="ctr"/>
                </a:tc>
                <a:tc>
                  <a:txBody>
                    <a:bodyPr/>
                    <a:lstStyle/>
                    <a:p>
                      <a:r>
                        <a:rPr lang="ja-JP" altLang="en-US" sz="600"/>
                        <a:t>ユーザー情報を取得する最も基本的なコネクタ。他の多くのサービスと共通の認証基盤（</a:t>
                      </a:r>
                      <a:r>
                        <a:rPr lang="en-US" altLang="ja-JP" sz="600"/>
                        <a:t>Azure AD</a:t>
                      </a:r>
                      <a:r>
                        <a:rPr lang="ja-JP" altLang="en-US" sz="600"/>
                        <a:t>）を使用します。</a:t>
                      </a:r>
                    </a:p>
                  </a:txBody>
                  <a:tcPr marL="40112" marR="40112" marT="20056" marB="20056" anchor="ctr"/>
                </a:tc>
                <a:extLst>
                  <a:ext uri="{0D108BD9-81ED-4DB2-BD59-A6C34878D82A}">
                    <a16:rowId xmlns:a16="http://schemas.microsoft.com/office/drawing/2014/main" val="3837482820"/>
                  </a:ext>
                </a:extLst>
              </a:tr>
              <a:tr h="202054">
                <a:tc>
                  <a:txBody>
                    <a:bodyPr/>
                    <a:lstStyle/>
                    <a:p>
                      <a:r>
                        <a:rPr lang="de-DE" sz="600" b="1"/>
                        <a:t>Office 365 Outlook</a:t>
                      </a:r>
                      <a:endParaRPr lang="de-DE" sz="600"/>
                    </a:p>
                  </a:txBody>
                  <a:tcPr marL="40112" marR="40112" marT="20056" marB="20056" anchor="ctr"/>
                </a:tc>
                <a:tc>
                  <a:txBody>
                    <a:bodyPr/>
                    <a:lstStyle/>
                    <a:p>
                      <a:r>
                        <a:rPr lang="ja-JP" altLang="en-US" sz="600" dirty="0"/>
                        <a:t>ユーザーの</a:t>
                      </a:r>
                      <a:r>
                        <a:rPr lang="ja-JP" altLang="en-US" sz="600" b="1" dirty="0"/>
                        <a:t>メールボックス、カレンダー</a:t>
                      </a:r>
                      <a:r>
                        <a:rPr lang="ja-JP" altLang="en-US" sz="600" dirty="0"/>
                        <a:t>へのアクセス（メール送信、イベントの読み書き）。</a:t>
                      </a:r>
                    </a:p>
                  </a:txBody>
                  <a:tcPr marL="40112" marR="40112" marT="20056" marB="20056" anchor="ctr"/>
                </a:tc>
                <a:tc>
                  <a:txBody>
                    <a:bodyPr/>
                    <a:lstStyle/>
                    <a:p>
                      <a:r>
                        <a:rPr lang="de-DE" sz="600" dirty="0"/>
                        <a:t>Exchange Online / Microsoft Graph</a:t>
                      </a:r>
                    </a:p>
                  </a:txBody>
                  <a:tcPr marL="40112" marR="40112" marT="20056" marB="20056" anchor="ctr"/>
                </a:tc>
                <a:tc>
                  <a:txBody>
                    <a:bodyPr/>
                    <a:lstStyle/>
                    <a:p>
                      <a:r>
                        <a:rPr lang="ja-JP" altLang="en-US" sz="600" dirty="0"/>
                        <a:t>ユーザー固有のメールやカレンダー操作に特化しています。認証は </a:t>
                      </a:r>
                      <a:r>
                        <a:rPr lang="en-US" altLang="ja-JP" sz="600" dirty="0"/>
                        <a:t>Users </a:t>
                      </a:r>
                      <a:r>
                        <a:rPr lang="ja-JP" altLang="en-US" sz="600" dirty="0"/>
                        <a:t>と同じく </a:t>
                      </a:r>
                      <a:r>
                        <a:rPr lang="en-US" altLang="ja-JP" sz="600" dirty="0"/>
                        <a:t>Microsoft 365 </a:t>
                      </a:r>
                      <a:r>
                        <a:rPr lang="ja-JP" altLang="en-US" sz="600" dirty="0"/>
                        <a:t>ユーザー認証です。</a:t>
                      </a:r>
                    </a:p>
                  </a:txBody>
                  <a:tcPr marL="40112" marR="40112" marT="20056" marB="20056" anchor="ctr"/>
                </a:tc>
                <a:extLst>
                  <a:ext uri="{0D108BD9-81ED-4DB2-BD59-A6C34878D82A}">
                    <a16:rowId xmlns:a16="http://schemas.microsoft.com/office/drawing/2014/main" val="1069455160"/>
                  </a:ext>
                </a:extLst>
              </a:tr>
              <a:tr h="202054">
                <a:tc>
                  <a:txBody>
                    <a:bodyPr/>
                    <a:lstStyle/>
                    <a:p>
                      <a:r>
                        <a:rPr lang="de-DE" sz="600" b="1"/>
                        <a:t>Office 365 Groups</a:t>
                      </a:r>
                      <a:endParaRPr lang="de-DE" sz="600"/>
                    </a:p>
                  </a:txBody>
                  <a:tcPr marL="40112" marR="40112" marT="20056" marB="20056" anchor="ctr"/>
                </a:tc>
                <a:tc>
                  <a:txBody>
                    <a:bodyPr/>
                    <a:lstStyle/>
                    <a:p>
                      <a:r>
                        <a:rPr lang="ja-JP" altLang="en-US" sz="600" dirty="0"/>
                        <a:t>組織内の </a:t>
                      </a:r>
                      <a:r>
                        <a:rPr lang="en-US" altLang="ja-JP" sz="600" b="1" dirty="0"/>
                        <a:t>Microsoft 365 </a:t>
                      </a:r>
                      <a:r>
                        <a:rPr lang="ja-JP" altLang="en-US" sz="600" b="1" dirty="0"/>
                        <a:t>グループ</a:t>
                      </a:r>
                      <a:r>
                        <a:rPr lang="ja-JP" altLang="en-US" sz="600" dirty="0"/>
                        <a:t>の情報取得と管理。</a:t>
                      </a:r>
                    </a:p>
                  </a:txBody>
                  <a:tcPr marL="40112" marR="40112" marT="20056" marB="20056" anchor="ctr"/>
                </a:tc>
                <a:tc>
                  <a:txBody>
                    <a:bodyPr/>
                    <a:lstStyle/>
                    <a:p>
                      <a:r>
                        <a:rPr lang="de-DE" sz="600" dirty="0"/>
                        <a:t>Microsoft Graph</a:t>
                      </a:r>
                    </a:p>
                  </a:txBody>
                  <a:tcPr marL="40112" marR="40112" marT="20056" marB="20056" anchor="ctr"/>
                </a:tc>
                <a:tc>
                  <a:txBody>
                    <a:bodyPr/>
                    <a:lstStyle/>
                    <a:p>
                      <a:r>
                        <a:rPr lang="ja-JP" altLang="en-US" sz="600" dirty="0"/>
                        <a:t>組織構造（グループ単位）の情報にアクセスします。</a:t>
                      </a:r>
                      <a:r>
                        <a:rPr lang="en-US" altLang="ja-JP" sz="600" dirty="0"/>
                        <a:t>Users </a:t>
                      </a:r>
                      <a:r>
                        <a:rPr lang="ja-JP" altLang="en-US" sz="600" dirty="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bl>
          </a:graphicData>
        </a:graphic>
      </p:graphicFrame>
      <p:pic>
        <p:nvPicPr>
          <p:cNvPr id="8" name="図 7">
            <a:extLst>
              <a:ext uri="{FF2B5EF4-FFF2-40B4-BE49-F238E27FC236}">
                <a16:creationId xmlns:a16="http://schemas.microsoft.com/office/drawing/2014/main" id="{AD73975E-A25D-320F-AE73-774135CFE90A}"/>
              </a:ext>
            </a:extLst>
          </p:cNvPr>
          <p:cNvPicPr>
            <a:picLocks noChangeAspect="1"/>
          </p:cNvPicPr>
          <p:nvPr/>
        </p:nvPicPr>
        <p:blipFill>
          <a:blip r:embed="rId6"/>
          <a:stretch>
            <a:fillRect/>
          </a:stretch>
        </p:blipFill>
        <p:spPr>
          <a:xfrm>
            <a:off x="8412805" y="1495582"/>
            <a:ext cx="3278733" cy="896697"/>
          </a:xfrm>
          <a:prstGeom prst="rect">
            <a:avLst/>
          </a:prstGeom>
        </p:spPr>
      </p:pic>
    </p:spTree>
    <p:extLst>
      <p:ext uri="{BB962C8B-B14F-4D97-AF65-F5344CB8AC3E}">
        <p14:creationId xmlns:p14="http://schemas.microsoft.com/office/powerpoint/2010/main" val="292597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要件／ソリューション－パフォーマンス、</a:t>
            </a:r>
            <a:r>
              <a:rPr lang="en-US" altLang="ja-JP" dirty="0"/>
              <a:t>HA</a:t>
            </a:r>
            <a:r>
              <a:rPr lang="ja-JP" altLang="en-US" dirty="0"/>
              <a:t>など</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2263487765"/>
              </p:ext>
            </p:extLst>
          </p:nvPr>
        </p:nvGraphicFramePr>
        <p:xfrm>
          <a:off x="414336" y="895564"/>
          <a:ext cx="11284857" cy="5430715"/>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3868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66477">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221439">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1281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773799">
                <a:tc>
                  <a:txBody>
                    <a:bodyPr/>
                    <a:lstStyle/>
                    <a:p>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データはすべてのレプリカに同時にコミットされるため、**非常に低いレイテンシー（待ち時間）**で高い可用性を実現します。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1281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1281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212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負荷テスト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）を</a:t>
                      </a:r>
                      <a:r>
                        <a:rPr kumimoji="0" lang="ja-JP" altLang="en-US" sz="1000" dirty="0">
                          <a:latin typeface="Arial" panose="020B0604020202020204" pitchFamily="34" charset="0"/>
                        </a:rPr>
                        <a:t>事前に</a:t>
                      </a:r>
                      <a:r>
                        <a:rPr kumimoji="0" lang="en-US" altLang="ja-JP" sz="1000" dirty="0">
                          <a:latin typeface="Arial" panose="020B0604020202020204" pitchFamily="34" charset="0"/>
                        </a:rPr>
                        <a:t>Facility</a:t>
                      </a:r>
                      <a:r>
                        <a:rPr kumimoji="0" lang="ja-JP" altLang="en-US" sz="1000" dirty="0">
                          <a:latin typeface="Arial" panose="020B0604020202020204" pitchFamily="34" charset="0"/>
                        </a:rPr>
                        <a:t>を</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要件／ソリューション－権限管理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extLst>
              <p:ext uri="{D42A27DB-BD31-4B8C-83A1-F6EECF244321}">
                <p14:modId xmlns:p14="http://schemas.microsoft.com/office/powerpoint/2010/main" val="2051703374"/>
              </p:ext>
            </p:extLst>
          </p:nvPr>
        </p:nvGraphicFramePr>
        <p:xfrm>
          <a:off x="453572" y="867271"/>
          <a:ext cx="11284856" cy="550714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1669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39330">
                <a:tc>
                  <a:txBody>
                    <a:bodyPr/>
                    <a:lstStyle/>
                    <a:p>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にアクセス可否がコントロール可能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30764">
                <a:tc rowSpan="4">
                  <a:txBody>
                    <a:bodyPr/>
                    <a:lstStyle/>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レコード）単位の権限管理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レコード）単位に、権限アクセス</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を設計、仕様書（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仕様書新規作成機能、仕様書新規作成編集機能と連携、</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一覧系（検索結果）は、</a:t>
                      </a:r>
                      <a:r>
                        <a:rPr kumimoji="0" lang="en-US" altLang="ja-JP" sz="900" dirty="0" err="1">
                          <a:latin typeface="Arial" panose="020B0604020202020204" pitchFamily="34" charset="0"/>
                        </a:rPr>
                        <a:t>Sql</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条件でアクセス可能の文書のみで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文書の詳細画面直接開く場合、カレントログインユーザのアクセス可否を再度判断する（直接</a:t>
                      </a:r>
                      <a:r>
                        <a:rPr kumimoji="0" lang="en-US" altLang="ja-JP" sz="900" dirty="0" err="1">
                          <a:latin typeface="Arial" panose="020B0604020202020204" pitchFamily="34" charset="0"/>
                        </a:rPr>
                        <a:t>Url</a:t>
                      </a:r>
                      <a:r>
                        <a:rPr kumimoji="0" lang="ja-JP" altLang="en-US" sz="900" dirty="0">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実現案の一例であり、今回案件の組織定義・権限管理粒度に合わせて設計フェーズに、詳細化する予定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30764">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3933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2669735">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3933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添付ファイルのアクセス権限は紐付く仕様書と同じアクセス権限とする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ファイルに該当する権限を付与する（ファイル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承認完了の場合、作成者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論理</a:t>
                      </a:r>
                      <a:r>
                        <a:rPr kumimoji="0" lang="en-US" altLang="ja-JP" sz="900" kern="1200" dirty="0">
                          <a:solidFill>
                            <a:schemeClr val="tx1"/>
                          </a:solidFill>
                          <a:latin typeface="Arial" panose="020B0604020202020204" pitchFamily="34" charset="0"/>
                          <a:ea typeface="+mn-ea"/>
                          <a:cs typeface="+mn-cs"/>
                        </a:rPr>
                        <a:t>Security 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rgbClr val="FF0000"/>
                          </a:solidFill>
                          <a:latin typeface="Arial" panose="020B0604020202020204" pitchFamily="34" charset="0"/>
                          <a:ea typeface="+mn-ea"/>
                          <a:cs typeface="+mn-cs"/>
                        </a:rPr>
                        <a:t>（ここは重いため、</a:t>
                      </a:r>
                      <a:r>
                        <a:rPr kumimoji="0" lang="en-US" altLang="ja-JP" sz="900" b="1" kern="1200" dirty="0">
                          <a:solidFill>
                            <a:srgbClr val="FF0000"/>
                          </a:solidFill>
                          <a:latin typeface="Arial" panose="020B0604020202020204" pitchFamily="34" charset="0"/>
                          <a:ea typeface="+mn-ea"/>
                          <a:cs typeface="+mn-cs"/>
                        </a:rPr>
                        <a:t>Batch</a:t>
                      </a:r>
                      <a:r>
                        <a:rPr kumimoji="0" lang="ja-JP" altLang="en-US" sz="900" b="1" kern="1200" dirty="0">
                          <a:solidFill>
                            <a:srgbClr val="FF0000"/>
                          </a:solidFill>
                          <a:latin typeface="Arial" panose="020B0604020202020204" pitchFamily="34" charset="0"/>
                          <a:ea typeface="+mn-ea"/>
                          <a:cs typeface="+mn-cs"/>
                        </a:rPr>
                        <a:t>あるいは非同期で動作させる）</a:t>
                      </a:r>
                      <a:endParaRPr kumimoji="0" lang="en-US" altLang="ja-JP" sz="900" b="1" kern="1200" dirty="0">
                        <a:solidFill>
                          <a:srgbClr val="FF0000"/>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26795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27487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163450" y="2826158"/>
            <a:ext cx="4814316" cy="2459878"/>
          </a:xfrm>
          <a:prstGeom prst="rect">
            <a:avLst/>
          </a:prstGeom>
        </p:spPr>
      </p:pic>
    </p:spTree>
    <p:extLst>
      <p:ext uri="{BB962C8B-B14F-4D97-AF65-F5344CB8AC3E}">
        <p14:creationId xmlns:p14="http://schemas.microsoft.com/office/powerpoint/2010/main" val="3815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要件／ソリューション－ユーザ別の属性管理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3754042589"/>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t>Grid</a:t>
                      </a:r>
                      <a:r>
                        <a:rPr lang="ja-JP" altLang="en-US" sz="900" dirty="0"/>
                        <a:t>形式の列の表示／非表示</a:t>
                      </a:r>
                      <a:r>
                        <a:rPr lang="zh-CN" altLang="en-US" sz="900" dirty="0"/>
                        <a:t>，</a:t>
                      </a:r>
                      <a:r>
                        <a:rPr lang="ja-JP" altLang="en-US" sz="900" dirty="0"/>
                        <a:t>表示順、幅情報が設定すること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endParaRPr lang="en-US" altLang="ja-JP" sz="900" dirty="0"/>
                    </a:p>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t>ユーザは画面</a:t>
                      </a:r>
                      <a:r>
                        <a:rPr lang="en-US" altLang="ja-JP" sz="900" dirty="0"/>
                        <a:t>Grid</a:t>
                      </a:r>
                      <a:r>
                        <a:rPr lang="ja-JP" altLang="en-US" sz="900" dirty="0"/>
                        <a:t>毎に独自設定すること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が膨大化し、永続化データの膨大化だけではなく、該当データをサクセスするによりのパフォーマンス低下恐れがある。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398206" y="2306320"/>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01931" y="682546"/>
            <a:ext cx="10868248" cy="584775"/>
          </a:xfrm>
          <a:prstGeom prst="rect">
            <a:avLst/>
          </a:prstGeom>
          <a:noFill/>
        </p:spPr>
        <p:txBody>
          <a:bodyPr wrap="square" rtlCol="0">
            <a:spAutoFit/>
          </a:bodyPr>
          <a:lstStyle/>
          <a:p>
            <a:r>
              <a:rPr kumimoji="1" lang="ja-JP" altLang="en-US" sz="1600" dirty="0">
                <a:solidFill>
                  <a:srgbClr val="FF0000"/>
                </a:solidFill>
              </a:rPr>
              <a:t>ユーザ別の属性管理は実現可能であり、パフォーマンス低下及び管理コスト増につながる恐れがあり、</a:t>
            </a:r>
            <a:endParaRPr kumimoji="1" lang="en-US" altLang="ja-JP" sz="1600" dirty="0">
              <a:solidFill>
                <a:srgbClr val="FF0000"/>
              </a:solidFill>
            </a:endParaRPr>
          </a:p>
          <a:p>
            <a:r>
              <a:rPr kumimoji="1" lang="ja-JP" altLang="en-US" sz="1600" dirty="0">
                <a:solidFill>
                  <a:srgbClr val="FF0000"/>
                </a:solidFill>
              </a:rPr>
              <a:t>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要件／ソリューションーデータ移行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extLst>
              <p:ext uri="{D42A27DB-BD31-4B8C-83A1-F6EECF244321}">
                <p14:modId xmlns:p14="http://schemas.microsoft.com/office/powerpoint/2010/main" val="1594632960"/>
              </p:ext>
            </p:extLst>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endParaRPr kumimoji="0" lang="en-US" altLang="ja-JP" sz="900" b="1"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extLst>
              <p:ext uri="{D42A27DB-BD31-4B8C-83A1-F6EECF244321}">
                <p14:modId xmlns:p14="http://schemas.microsoft.com/office/powerpoint/2010/main" val="955944901"/>
              </p:ext>
            </p:extLst>
          </p:nvPr>
        </p:nvGraphicFramePr>
        <p:xfrm>
          <a:off x="4734560" y="1513800"/>
          <a:ext cx="6659880" cy="1635801"/>
        </p:xfrm>
        <a:graphic>
          <a:graphicData uri="http://schemas.openxmlformats.org/drawingml/2006/table">
            <a:tbl>
              <a:tblPr firstRow="1" bandRow="1">
                <a:tableStyleId>{7DF18680-E054-41AD-8BC1-D1AEF772440D}</a:tableStyleId>
              </a:tblPr>
              <a:tblGrid>
                <a:gridCol w="2015229">
                  <a:extLst>
                    <a:ext uri="{9D8B030D-6E8A-4147-A177-3AD203B41FA5}">
                      <a16:colId xmlns:a16="http://schemas.microsoft.com/office/drawing/2014/main" val="2649257964"/>
                    </a:ext>
                  </a:extLst>
                </a:gridCol>
                <a:gridCol w="694056">
                  <a:extLst>
                    <a:ext uri="{9D8B030D-6E8A-4147-A177-3AD203B41FA5}">
                      <a16:colId xmlns:a16="http://schemas.microsoft.com/office/drawing/2014/main" val="3843299209"/>
                    </a:ext>
                  </a:extLst>
                </a:gridCol>
                <a:gridCol w="3950595">
                  <a:extLst>
                    <a:ext uri="{9D8B030D-6E8A-4147-A177-3AD203B41FA5}">
                      <a16:colId xmlns:a16="http://schemas.microsoft.com/office/drawing/2014/main" val="3345850908"/>
                    </a:ext>
                  </a:extLst>
                </a:gridCol>
              </a:tblGrid>
              <a:tr h="251662">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40895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723527">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251662">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6" name="図 5">
            <a:extLst>
              <a:ext uri="{FF2B5EF4-FFF2-40B4-BE49-F238E27FC236}">
                <a16:creationId xmlns:a16="http://schemas.microsoft.com/office/drawing/2014/main" id="{FA0DC263-56D1-12D3-7947-6BAFF85D4E5D}"/>
              </a:ext>
            </a:extLst>
          </p:cNvPr>
          <p:cNvPicPr>
            <a:picLocks noChangeAspect="1"/>
          </p:cNvPicPr>
          <p:nvPr/>
        </p:nvPicPr>
        <p:blipFill>
          <a:blip r:embed="rId3"/>
          <a:stretch>
            <a:fillRect/>
          </a:stretch>
        </p:blipFill>
        <p:spPr>
          <a:xfrm>
            <a:off x="4632959" y="3543487"/>
            <a:ext cx="7309053" cy="1942913"/>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1802707388"/>
              </p:ext>
            </p:extLst>
          </p:nvPr>
        </p:nvGraphicFramePr>
        <p:xfrm>
          <a:off x="532873" y="938892"/>
          <a:ext cx="11126254" cy="5172346"/>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は段階的に移行を実施（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Notes</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歴史データが閲覧可能ように）、個別要望対応、検収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chemeClr val="tx1"/>
                          </a:solidFill>
                          <a:effectLst/>
                          <a:latin typeface="+mn-lt"/>
                          <a:ea typeface="+mn-ea"/>
                          <a:cs typeface="+mn-cs"/>
                        </a:rPr>
                        <a:t>SharePoint</a:t>
                      </a:r>
                      <a:r>
                        <a:rPr lang="ja-JP" altLang="en-US" sz="1100" b="0" u="none" strike="noStrike" kern="1200" dirty="0">
                          <a:solidFill>
                            <a:schemeClr val="tx1"/>
                          </a:solidFill>
                          <a:effectLst/>
                          <a:latin typeface="+mn-lt"/>
                          <a:ea typeface="+mn-ea"/>
                          <a:cs typeface="+mn-cs"/>
                        </a:rPr>
                        <a:t>ファイルの権限</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実績がある下記の処理が思いため、性能観点の確認。</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ja-JP" altLang="en-US" sz="1100" kern="1200" dirty="0">
                          <a:solidFill>
                            <a:schemeClr val="tx1"/>
                          </a:solidFill>
                          <a:latin typeface="Arial" panose="020B0604020202020204" pitchFamily="34" charset="0"/>
                          <a:ea typeface="+mn-ea"/>
                          <a:cs typeface="+mn-cs"/>
                        </a:rPr>
                        <a:t>論理</a:t>
                      </a:r>
                      <a:r>
                        <a:rPr kumimoji="0" lang="en-US" altLang="ja-JP" sz="1100" kern="1200" dirty="0">
                          <a:solidFill>
                            <a:schemeClr val="tx1"/>
                          </a:solidFill>
                          <a:latin typeface="Arial" panose="020B0604020202020204" pitchFamily="34" charset="0"/>
                          <a:ea typeface="+mn-ea"/>
                          <a:cs typeface="+mn-cs"/>
                        </a:rPr>
                        <a:t>Security Group(DB</a:t>
                      </a:r>
                      <a:r>
                        <a:rPr kumimoji="0" lang="ja-JP" altLang="en-US" sz="1100" kern="1200" dirty="0">
                          <a:solidFill>
                            <a:schemeClr val="tx1"/>
                          </a:solidFill>
                          <a:latin typeface="Arial" panose="020B0604020202020204" pitchFamily="34" charset="0"/>
                          <a:ea typeface="+mn-ea"/>
                          <a:cs typeface="+mn-cs"/>
                        </a:rPr>
                        <a:t>で管理される</a:t>
                      </a:r>
                      <a:r>
                        <a:rPr kumimoji="0" lang="en-US" altLang="ja-JP" sz="1100" kern="1200" dirty="0">
                          <a:solidFill>
                            <a:schemeClr val="tx1"/>
                          </a:solidFill>
                          <a:latin typeface="Arial" panose="020B0604020202020204" pitchFamily="34" charset="0"/>
                          <a:ea typeface="+mn-ea"/>
                          <a:cs typeface="+mn-cs"/>
                        </a:rPr>
                        <a:t>Group)</a:t>
                      </a:r>
                      <a:r>
                        <a:rPr kumimoji="0" lang="ja-JP" altLang="en-US" sz="1100" kern="1200" dirty="0">
                          <a:solidFill>
                            <a:schemeClr val="tx1"/>
                          </a:solidFill>
                          <a:latin typeface="Arial" panose="020B0604020202020204" pitchFamily="34" charset="0"/>
                          <a:ea typeface="+mn-ea"/>
                          <a:cs typeface="+mn-cs"/>
                        </a:rPr>
                        <a:t>が変更されるときに、すでに登録済みの仕様書の添付ファイルに対して、承認フローの状態に合わせて、添付ファイルの再設定</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(10DB</a:t>
            </a:r>
            <a:r>
              <a:rPr kumimoji="0" lang="ja-JP" altLang="en-US" sz="1200" kern="0" dirty="0">
                <a:solidFill>
                  <a:prstClr val="black"/>
                </a:solidFill>
                <a:latin typeface="Arial"/>
                <a:ea typeface="Yu Gothic UI"/>
                <a:cs typeface="Arial" panose="020B0604020202020204" pitchFamily="34" charset="0"/>
              </a:rPr>
              <a:t>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302477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latin typeface="Arial"/>
                <a:ea typeface="Yu Gothic UI"/>
                <a:cs typeface="Arial" panose="020B0604020202020204" pitchFamily="34" charset="0"/>
              </a:rPr>
              <a:t>・</a:t>
            </a:r>
            <a:r>
              <a:rPr lang="en-US" altLang="ja-JP" sz="1200" b="1" kern="0" dirty="0">
                <a:latin typeface="Arial"/>
                <a:ea typeface="Yu Gothic UI"/>
                <a:cs typeface="Arial" panose="020B0604020202020204" pitchFamily="34" charset="0"/>
              </a:rPr>
              <a:t>POC</a:t>
            </a:r>
            <a:r>
              <a:rPr lang="ja-JP" altLang="en-US" sz="1200" b="1" kern="0" dirty="0">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effectLst/>
                <a:uLnTx/>
                <a:uFillTx/>
                <a:latin typeface="Arial"/>
                <a:ea typeface="Yu Gothic UI"/>
                <a:cs typeface="Arial" panose="020B0604020202020204" pitchFamily="34" charset="0"/>
              </a:rPr>
              <a:t>・製造工程の概算見積</a:t>
            </a:r>
            <a:r>
              <a:rPr lang="ja-JP" altLang="en-US" sz="1200" b="1" kern="0" dirty="0">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7157755" y="3864809"/>
            <a:ext cx="1120894"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a:solidFill>
                  <a:prstClr val="black"/>
                </a:solidFill>
                <a:latin typeface="Arial"/>
                <a:ea typeface="Yu Gothic UI"/>
                <a:cs typeface="Arial" panose="020B0604020202020204" pitchFamily="34" charset="0"/>
              </a:rPr>
              <a:t>Round1 </a:t>
            </a:r>
            <a:r>
              <a:rPr kumimoji="0" lang="ja-JP" altLang="en-US" sz="1200" kern="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２展開</a:t>
            </a: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Round3</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展開</a:t>
            </a: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4036547" y="2564512"/>
            <a:ext cx="4781677" cy="1938433"/>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
        <p:nvSpPr>
          <p:cNvPr id="4" name="四角形: 角を丸くする 3">
            <a:extLst>
              <a:ext uri="{FF2B5EF4-FFF2-40B4-BE49-F238E27FC236}">
                <a16:creationId xmlns:a16="http://schemas.microsoft.com/office/drawing/2014/main" id="{A7C6345D-3477-FB36-E6A6-58153600133E}"/>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rgbClr val="0070C0"/>
                </a:solidFill>
              </a:rPr>
              <a:t>Round2, Round3</a:t>
            </a:r>
            <a:r>
              <a:rPr kumimoji="1" lang="ja-JP" altLang="en-US" sz="1000" dirty="0">
                <a:solidFill>
                  <a:srgbClr val="0070C0"/>
                </a:solidFill>
              </a:rPr>
              <a:t>に関する説明：</a:t>
            </a:r>
            <a:endParaRPr kumimoji="1" lang="en-US" altLang="ja-JP" sz="1000" dirty="0">
              <a:solidFill>
                <a:srgbClr val="0070C0"/>
              </a:solidFill>
            </a:endParaRPr>
          </a:p>
          <a:p>
            <a:r>
              <a:rPr lang="ja-JP" altLang="en-US" sz="800" dirty="0">
                <a:solidFill>
                  <a:srgbClr val="0070C0"/>
                </a:solidFill>
              </a:rPr>
              <a:t>システム全体は一つ</a:t>
            </a:r>
            <a:r>
              <a:rPr lang="en-US" altLang="ja-JP" sz="800" dirty="0">
                <a:solidFill>
                  <a:srgbClr val="0070C0"/>
                </a:solidFill>
              </a:rPr>
              <a:t>App</a:t>
            </a:r>
            <a:r>
              <a:rPr lang="ja-JP" altLang="en-US" sz="800" dirty="0">
                <a:solidFill>
                  <a:srgbClr val="0070C0"/>
                </a:solidFill>
              </a:rPr>
              <a:t>になるため、</a:t>
            </a:r>
            <a:r>
              <a:rPr lang="en-US" altLang="ja-JP" sz="800" dirty="0">
                <a:solidFill>
                  <a:srgbClr val="0070C0"/>
                </a:solidFill>
              </a:rPr>
              <a:t>Round2,3</a:t>
            </a:r>
            <a:r>
              <a:rPr lang="ja-JP" altLang="en-US" sz="800" dirty="0">
                <a:solidFill>
                  <a:srgbClr val="0070C0"/>
                </a:solidFill>
              </a:rPr>
              <a:t>の主作業は移行作業</a:t>
            </a:r>
            <a:endParaRPr lang="en-US" altLang="ja-JP" sz="8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移行ツールの入力となる</a:t>
            </a:r>
            <a:r>
              <a:rPr lang="en-US" altLang="ja-JP" sz="700" dirty="0">
                <a:solidFill>
                  <a:srgbClr val="0070C0"/>
                </a:solidFill>
              </a:rPr>
              <a:t>DB</a:t>
            </a:r>
            <a:r>
              <a:rPr lang="ja-JP" altLang="en-US" sz="700" dirty="0">
                <a:solidFill>
                  <a:srgbClr val="0070C0"/>
                </a:solidFill>
              </a:rPr>
              <a:t>ファイルの差異の対応</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入力データの差異によりの</a:t>
            </a:r>
            <a:r>
              <a:rPr lang="en-US" altLang="ja-JP" sz="700" dirty="0">
                <a:solidFill>
                  <a:srgbClr val="0070C0"/>
                </a:solidFill>
              </a:rPr>
              <a:t>Data mapping</a:t>
            </a:r>
            <a:r>
              <a:rPr lang="ja-JP" altLang="en-US" sz="700" dirty="0">
                <a:solidFill>
                  <a:srgbClr val="0070C0"/>
                </a:solidFill>
              </a:rPr>
              <a:t>の見直す</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ツール実行</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移行前後データの比較、差異分析、必要により対応、報告</a:t>
            </a:r>
            <a:endParaRPr lang="en-US" altLang="ja-JP" sz="700" dirty="0">
              <a:solidFill>
                <a:srgbClr val="0070C0"/>
              </a:solidFill>
            </a:endParaRPr>
          </a:p>
          <a:p>
            <a:endParaRPr lang="en-US" altLang="ja-JP" sz="800" dirty="0">
              <a:solidFill>
                <a:srgbClr val="0070C0"/>
              </a:solidFill>
            </a:endParaRPr>
          </a:p>
          <a:p>
            <a:r>
              <a:rPr lang="ja-JP" altLang="en-US" sz="800" dirty="0">
                <a:solidFill>
                  <a:srgbClr val="0070C0"/>
                </a:solidFill>
              </a:rPr>
              <a:t>会社・組織の業務差異</a:t>
            </a:r>
            <a:r>
              <a:rPr lang="en-US" altLang="ja-JP" sz="800" dirty="0">
                <a:solidFill>
                  <a:srgbClr val="0070C0"/>
                </a:solidFill>
              </a:rPr>
              <a:t>/</a:t>
            </a:r>
            <a:r>
              <a:rPr lang="ja-JP" altLang="en-US" sz="800" dirty="0">
                <a:solidFill>
                  <a:srgbClr val="0070C0"/>
                </a:solidFill>
              </a:rPr>
              <a:t>表現差異対応、エンハンス要件がない限り、</a:t>
            </a:r>
            <a:r>
              <a:rPr lang="en-US" altLang="ja-JP" sz="800" dirty="0">
                <a:solidFill>
                  <a:srgbClr val="0070C0"/>
                </a:solidFill>
              </a:rPr>
              <a:t>Round2, Round3</a:t>
            </a:r>
            <a:r>
              <a:rPr lang="ja-JP" altLang="en-US" sz="800" dirty="0">
                <a:solidFill>
                  <a:srgbClr val="0070C0"/>
                </a:solidFill>
              </a:rPr>
              <a:t>のリリース自体は不要</a:t>
            </a:r>
            <a:endParaRPr lang="en-US" altLang="ja-JP" sz="800" dirty="0">
              <a:solidFill>
                <a:srgbClr val="0070C0"/>
              </a:solidFill>
            </a:endParaRPr>
          </a:p>
          <a:p>
            <a:r>
              <a:rPr lang="en-US" altLang="ja-JP" sz="700" dirty="0">
                <a:solidFill>
                  <a:srgbClr val="0070C0"/>
                </a:solidFill>
              </a:rPr>
              <a:t>※ round2, Round3</a:t>
            </a:r>
            <a:r>
              <a:rPr lang="ja-JP" altLang="en-US" sz="700" dirty="0">
                <a:solidFill>
                  <a:srgbClr val="0070C0"/>
                </a:solidFill>
              </a:rPr>
              <a:t>の本質は：対象会社の履歴が利用可能時期のみ</a:t>
            </a:r>
            <a:endParaRPr lang="en-US" altLang="ja-JP" sz="700" dirty="0">
              <a:solidFill>
                <a:srgbClr val="0070C0"/>
              </a:solidFill>
            </a:endParaRPr>
          </a:p>
        </p:txBody>
      </p:sp>
      <p:sp>
        <p:nvSpPr>
          <p:cNvPr id="5" name="テキスト ボックス 4">
            <a:extLst>
              <a:ext uri="{FF2B5EF4-FFF2-40B4-BE49-F238E27FC236}">
                <a16:creationId xmlns:a16="http://schemas.microsoft.com/office/drawing/2014/main" id="{E9A32077-426D-AFF7-BFD8-ED0953D495CC}"/>
              </a:ext>
            </a:extLst>
          </p:cNvPr>
          <p:cNvSpPr txBox="1"/>
          <p:nvPr/>
        </p:nvSpPr>
        <p:spPr>
          <a:xfrm>
            <a:off x="414336" y="735600"/>
            <a:ext cx="11469807" cy="338554"/>
          </a:xfrm>
          <a:prstGeom prst="rect">
            <a:avLst/>
          </a:prstGeom>
          <a:noFill/>
        </p:spPr>
        <p:txBody>
          <a:bodyPr wrap="none" rtlCol="0">
            <a:spAutoFit/>
          </a:bodyPr>
          <a:lstStyle/>
          <a:p>
            <a:r>
              <a:rPr kumimoji="1" lang="ja-JP" altLang="en-US" sz="1600" dirty="0"/>
              <a:t>下記スケジュールは弊社の想定で、ご要望に合わせて開始時間について、調整することが可能で</a:t>
            </a:r>
            <a:r>
              <a:rPr lang="ja-JP" altLang="en-US" sz="1600" dirty="0"/>
              <a:t>、相談させてください。</a:t>
            </a:r>
            <a:endParaRPr kumimoji="1" lang="ja-JP"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3" name="表 2">
            <a:extLst>
              <a:ext uri="{FF2B5EF4-FFF2-40B4-BE49-F238E27FC236}">
                <a16:creationId xmlns:a16="http://schemas.microsoft.com/office/drawing/2014/main" id="{ABC0272A-5628-F02B-15C0-A06177151599}"/>
              </a:ext>
            </a:extLst>
          </p:cNvPr>
          <p:cNvGraphicFramePr>
            <a:graphicFrameLocks noGrp="1"/>
          </p:cNvGraphicFramePr>
          <p:nvPr>
            <p:extLst>
              <p:ext uri="{D42A27DB-BD31-4B8C-83A1-F6EECF244321}">
                <p14:modId xmlns:p14="http://schemas.microsoft.com/office/powerpoint/2010/main" val="1203445648"/>
              </p:ext>
            </p:extLst>
          </p:nvPr>
        </p:nvGraphicFramePr>
        <p:xfrm>
          <a:off x="479552" y="836570"/>
          <a:ext cx="11121173" cy="5076547"/>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81305">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38385">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780089">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4" name="テキスト ボックス 3">
            <a:extLst>
              <a:ext uri="{FF2B5EF4-FFF2-40B4-BE49-F238E27FC236}">
                <a16:creationId xmlns:a16="http://schemas.microsoft.com/office/drawing/2014/main" id="{991409EF-EEE4-E1DA-3385-64239FFC8CC8}"/>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175.06MM</a:t>
            </a:r>
            <a:r>
              <a:rPr kumimoji="1" lang="ja-JP" altLang="en-US" sz="1600" dirty="0"/>
              <a:t>、</a:t>
            </a:r>
            <a:r>
              <a:rPr lang="ja-JP" altLang="en-US" sz="1600" dirty="0"/>
              <a:t>費用： </a:t>
            </a:r>
            <a:r>
              <a:rPr kumimoji="1" lang="en-US" altLang="ja-JP" sz="1600" dirty="0"/>
              <a:t>1.26</a:t>
            </a:r>
            <a:r>
              <a:rPr kumimoji="1" lang="ja-JP" altLang="en-US" sz="1600" dirty="0"/>
              <a:t>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ミーティングの日程調整（必要に応じてセッティング）</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8ABFD-BACD-AAA8-A8BA-C6260B53141B}"/>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79E9EDF3-742B-CF53-675C-43189A6FD883}"/>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988ABDD-DDCB-8AB6-D199-0576B29B1E57}"/>
              </a:ext>
            </a:extLst>
          </p:cNvPr>
          <p:cNvSpPr>
            <a:spLocks noGrp="1"/>
          </p:cNvSpPr>
          <p:nvPr>
            <p:ph type="title"/>
          </p:nvPr>
        </p:nvSpPr>
        <p:spPr>
          <a:xfrm>
            <a:off x="470689" y="78890"/>
            <a:ext cx="9327072" cy="765272"/>
          </a:xfrm>
        </p:spPr>
        <p:txBody>
          <a:bodyPr>
            <a:normAutofit fontScale="90000"/>
          </a:bodyPr>
          <a:lstStyle/>
          <a:p>
            <a:r>
              <a:rPr lang="ja-JP" altLang="en-US" sz="3600" dirty="0"/>
              <a:t>アーキテクチャ全体</a:t>
            </a:r>
            <a:br>
              <a:rPr lang="en-US" altLang="ja-JP" dirty="0"/>
            </a:br>
            <a:r>
              <a:rPr lang="en-US" altLang="ja-JP" sz="2200" dirty="0" err="1"/>
              <a:t>Sql</a:t>
            </a:r>
            <a:r>
              <a:rPr lang="en-US" altLang="ja-JP" sz="2200" dirty="0"/>
              <a:t> server 2022 + </a:t>
            </a:r>
            <a:r>
              <a:rPr lang="ja-JP" altLang="en-US" sz="2200" dirty="0"/>
              <a:t>添付ファイル</a:t>
            </a:r>
            <a:r>
              <a:rPr lang="en-US" altLang="ja-JP" sz="2200" dirty="0" err="1"/>
              <a:t>DaTAVERSE</a:t>
            </a:r>
            <a:r>
              <a:rPr lang="ja-JP" altLang="en-US" sz="2200" dirty="0"/>
              <a:t>保存（案</a:t>
            </a:r>
            <a:r>
              <a:rPr lang="en-US" altLang="ja-JP" sz="2200" dirty="0"/>
              <a:t>B</a:t>
            </a:r>
            <a:r>
              <a:rPr lang="ja-JP" altLang="en-US" sz="2200" dirty="0"/>
              <a:t>）ー 前回提案の備考</a:t>
            </a:r>
            <a:endParaRPr lang="ja-JP" altLang="en-US" sz="2200" dirty="0">
              <a:effectLst/>
            </a:endParaRPr>
          </a:p>
        </p:txBody>
      </p:sp>
      <p:sp>
        <p:nvSpPr>
          <p:cNvPr id="15" name="テキスト ボックス 14">
            <a:extLst>
              <a:ext uri="{FF2B5EF4-FFF2-40B4-BE49-F238E27FC236}">
                <a16:creationId xmlns:a16="http://schemas.microsoft.com/office/drawing/2014/main" id="{AF2F4E9E-C5C6-977E-FF98-07C84782DB28}"/>
              </a:ext>
            </a:extLst>
          </p:cNvPr>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D973293-7C27-C808-62DF-EAE88C17CF54}"/>
              </a:ext>
            </a:extLst>
          </p:cNvPr>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a:extLst>
              <a:ext uri="{FF2B5EF4-FFF2-40B4-BE49-F238E27FC236}">
                <a16:creationId xmlns:a16="http://schemas.microsoft.com/office/drawing/2014/main" id="{F20A3633-AC28-9D34-D347-92F16E19755F}"/>
              </a:ext>
            </a:extLst>
          </p:cNvPr>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a:extLst>
              <a:ext uri="{FF2B5EF4-FFF2-40B4-BE49-F238E27FC236}">
                <a16:creationId xmlns:a16="http://schemas.microsoft.com/office/drawing/2014/main" id="{B8ED5384-698D-F1D3-EEB5-756087F8597F}"/>
              </a:ext>
            </a:extLst>
          </p:cNvPr>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8E87890E-2A3A-275B-7D25-71434542B202}"/>
              </a:ext>
            </a:extLst>
          </p:cNvPr>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0601F7FC-5F5F-3501-ED97-B808385814C9}"/>
              </a:ext>
            </a:extLst>
          </p:cNvPr>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617F85ED-F53C-9D03-2B91-309BDACFBB86}"/>
              </a:ext>
            </a:extLst>
          </p:cNvPr>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a:extLst>
              <a:ext uri="{FF2B5EF4-FFF2-40B4-BE49-F238E27FC236}">
                <a16:creationId xmlns:a16="http://schemas.microsoft.com/office/drawing/2014/main" id="{1652C1E1-D0E8-47CB-60C0-B977BC8512FD}"/>
              </a:ext>
            </a:extLst>
          </p:cNvPr>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a:extLst>
              <a:ext uri="{FF2B5EF4-FFF2-40B4-BE49-F238E27FC236}">
                <a16:creationId xmlns:a16="http://schemas.microsoft.com/office/drawing/2014/main" id="{6C216DF1-28A0-4CFA-1F5F-FE69CAB07E30}"/>
              </a:ext>
            </a:extLst>
          </p:cNvPr>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a:extLst>
              <a:ext uri="{FF2B5EF4-FFF2-40B4-BE49-F238E27FC236}">
                <a16:creationId xmlns:a16="http://schemas.microsoft.com/office/drawing/2014/main" id="{D96BE330-40EE-2407-C96D-C81F973E0FAD}"/>
              </a:ext>
            </a:extLst>
          </p:cNvPr>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a:extLst>
              <a:ext uri="{FF2B5EF4-FFF2-40B4-BE49-F238E27FC236}">
                <a16:creationId xmlns:a16="http://schemas.microsoft.com/office/drawing/2014/main" id="{3DAE023D-0BF1-9604-38ED-DBC5284D3C42}"/>
              </a:ext>
            </a:extLst>
          </p:cNvPr>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a:extLst>
              <a:ext uri="{FF2B5EF4-FFF2-40B4-BE49-F238E27FC236}">
                <a16:creationId xmlns:a16="http://schemas.microsoft.com/office/drawing/2014/main" id="{EA065538-387A-08FD-FC7B-B4C467EB35B4}"/>
              </a:ext>
            </a:extLst>
          </p:cNvPr>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a:extLst>
              <a:ext uri="{FF2B5EF4-FFF2-40B4-BE49-F238E27FC236}">
                <a16:creationId xmlns:a16="http://schemas.microsoft.com/office/drawing/2014/main" id="{78AD98D5-F6B7-179F-9BDE-626B3DB737E0}"/>
              </a:ext>
            </a:extLst>
          </p:cNvPr>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a:extLst>
              <a:ext uri="{FF2B5EF4-FFF2-40B4-BE49-F238E27FC236}">
                <a16:creationId xmlns:a16="http://schemas.microsoft.com/office/drawing/2014/main" id="{18A9650B-B4BF-A698-196F-36A5E8C76173}"/>
              </a:ext>
            </a:extLst>
          </p:cNvPr>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EFCD2BF-AA94-CAF8-C189-A6E0C4F9AE23}"/>
              </a:ext>
            </a:extLst>
          </p:cNvPr>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A63F139-77A0-92D7-6DC9-4E25C949D444}"/>
              </a:ext>
            </a:extLst>
          </p:cNvPr>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7373BB4A-3EDD-E50A-45C4-6D16DFAB86A6}"/>
              </a:ext>
            </a:extLst>
          </p:cNvPr>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8105B648-6980-2C8A-027B-D33128297044}"/>
              </a:ext>
            </a:extLst>
          </p:cNvPr>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32D3CE1-DAB2-A8C9-8CC6-CF5A59226562}"/>
              </a:ext>
            </a:extLst>
          </p:cNvPr>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a:extLst>
              <a:ext uri="{FF2B5EF4-FFF2-40B4-BE49-F238E27FC236}">
                <a16:creationId xmlns:a16="http://schemas.microsoft.com/office/drawing/2014/main" id="{BC01740C-5740-528B-96AF-210503152AD8}"/>
              </a:ext>
            </a:extLst>
          </p:cNvPr>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a:extLst>
              <a:ext uri="{FF2B5EF4-FFF2-40B4-BE49-F238E27FC236}">
                <a16:creationId xmlns:a16="http://schemas.microsoft.com/office/drawing/2014/main" id="{78C603D9-90C8-98C3-4B48-38E0944214B8}"/>
              </a:ext>
            </a:extLst>
          </p:cNvPr>
          <p:cNvSpPr txBox="1"/>
          <p:nvPr/>
        </p:nvSpPr>
        <p:spPr>
          <a:xfrm>
            <a:off x="2618201" y="5836628"/>
            <a:ext cx="4354880" cy="276999"/>
          </a:xfrm>
          <a:prstGeom prst="rect">
            <a:avLst/>
          </a:prstGeom>
          <a:noFill/>
        </p:spPr>
        <p:txBody>
          <a:bodyPr wrap="square">
            <a:spAutoFit/>
          </a:bodyPr>
          <a:lstStyle/>
          <a:p>
            <a:r>
              <a:rPr lang="ja-JP" altLang="en-US" sz="1200" dirty="0"/>
              <a:t>ファイル</a:t>
            </a:r>
            <a:r>
              <a:rPr lang="en-US" altLang="ja-JP" sz="1200" dirty="0"/>
              <a:t>ID</a:t>
            </a:r>
            <a:r>
              <a:rPr lang="ja-JP" altLang="en-US" sz="1200" dirty="0"/>
              <a:t>で</a:t>
            </a:r>
            <a:r>
              <a:rPr lang="en-US" altLang="ja-JP" sz="1200" dirty="0" err="1"/>
              <a:t>Sqlserver</a:t>
            </a:r>
            <a:r>
              <a:rPr lang="en-US" altLang="ja-JP" sz="1200" dirty="0"/>
              <a:t> </a:t>
            </a:r>
            <a:r>
              <a:rPr lang="ja-JP" altLang="en-US" sz="1200" dirty="0"/>
              <a:t>と</a:t>
            </a:r>
            <a:r>
              <a:rPr lang="en-US" altLang="ja-JP" sz="1200" dirty="0"/>
              <a:t>Dataverse</a:t>
            </a:r>
            <a:r>
              <a:rPr lang="ja-JP" altLang="en-US" sz="1200" dirty="0"/>
              <a:t>でレコードをリンクする</a:t>
            </a:r>
          </a:p>
        </p:txBody>
      </p:sp>
      <p:pic>
        <p:nvPicPr>
          <p:cNvPr id="27" name="図 26" descr="ロゴ, アイコン&#10;&#10;AI によって生成されたコンテンツは間違っている可能性があります。">
            <a:extLst>
              <a:ext uri="{FF2B5EF4-FFF2-40B4-BE49-F238E27FC236}">
                <a16:creationId xmlns:a16="http://schemas.microsoft.com/office/drawing/2014/main" id="{0F26C8EB-D43D-D7AD-7157-E8B25A1C5043}"/>
              </a:ext>
            </a:extLst>
          </p:cNvPr>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a:extLst>
              <a:ext uri="{FF2B5EF4-FFF2-40B4-BE49-F238E27FC236}">
                <a16:creationId xmlns:a16="http://schemas.microsoft.com/office/drawing/2014/main" id="{8B4F88FB-41A9-F84C-53BA-ED5DD272B1B1}"/>
              </a:ext>
            </a:extLst>
          </p:cNvPr>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a:extLst>
              <a:ext uri="{FF2B5EF4-FFF2-40B4-BE49-F238E27FC236}">
                <a16:creationId xmlns:a16="http://schemas.microsoft.com/office/drawing/2014/main" id="{4966FFC6-2C16-3408-3DD4-6C701D76C7E9}"/>
              </a:ext>
            </a:extLst>
          </p:cNvPr>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06132164-1CB8-80CA-0C96-BF2C6F9E2C7D}"/>
              </a:ext>
            </a:extLst>
          </p:cNvPr>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a:extLst>
              <a:ext uri="{FF2B5EF4-FFF2-40B4-BE49-F238E27FC236}">
                <a16:creationId xmlns:a16="http://schemas.microsoft.com/office/drawing/2014/main" id="{C03A702E-5C82-89B9-0A5A-8B32C0B68C5D}"/>
              </a:ext>
            </a:extLst>
          </p:cNvPr>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FC7428D9-EA77-A774-6881-79B4AA87C74E}"/>
              </a:ext>
            </a:extLst>
          </p:cNvPr>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a:extLst>
              <a:ext uri="{FF2B5EF4-FFF2-40B4-BE49-F238E27FC236}">
                <a16:creationId xmlns:a16="http://schemas.microsoft.com/office/drawing/2014/main" id="{60D516C0-E843-D675-38F3-C57E85380339}"/>
              </a:ext>
            </a:extLst>
          </p:cNvPr>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BD974F0-3CFF-5DF2-FEF2-1435F25A0CD6}"/>
              </a:ext>
            </a:extLst>
          </p:cNvPr>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AA07F28-42D8-8B69-DB4F-0E6C28FA556E}"/>
              </a:ext>
            </a:extLst>
          </p:cNvPr>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a:extLst>
              <a:ext uri="{FF2B5EF4-FFF2-40B4-BE49-F238E27FC236}">
                <a16:creationId xmlns:a16="http://schemas.microsoft.com/office/drawing/2014/main" id="{42C86A19-FF06-583B-94F9-7E26CA2C4A4D}"/>
              </a:ext>
            </a:extLst>
          </p:cNvPr>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a:extLst>
              <a:ext uri="{FF2B5EF4-FFF2-40B4-BE49-F238E27FC236}">
                <a16:creationId xmlns:a16="http://schemas.microsoft.com/office/drawing/2014/main" id="{7C602B3B-E827-B324-B65E-9CFE6236A971}"/>
              </a:ext>
            </a:extLst>
          </p:cNvPr>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a:extLst>
              <a:ext uri="{FF2B5EF4-FFF2-40B4-BE49-F238E27FC236}">
                <a16:creationId xmlns:a16="http://schemas.microsoft.com/office/drawing/2014/main" id="{95E63633-EC62-B81D-5F0E-76AFCBC18F23}"/>
              </a:ext>
            </a:extLst>
          </p:cNvPr>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a:extLst>
              <a:ext uri="{FF2B5EF4-FFF2-40B4-BE49-F238E27FC236}">
                <a16:creationId xmlns:a16="http://schemas.microsoft.com/office/drawing/2014/main" id="{741ED5F7-ED4E-FE6C-82FD-3BFAF08B4CE1}"/>
              </a:ext>
            </a:extLst>
          </p:cNvPr>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a:extLst>
              <a:ext uri="{FF2B5EF4-FFF2-40B4-BE49-F238E27FC236}">
                <a16:creationId xmlns:a16="http://schemas.microsoft.com/office/drawing/2014/main" id="{7CB0A850-0248-51D2-175B-14CE957DFD73}"/>
              </a:ext>
            </a:extLst>
          </p:cNvPr>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a:extLst>
              <a:ext uri="{FF2B5EF4-FFF2-40B4-BE49-F238E27FC236}">
                <a16:creationId xmlns:a16="http://schemas.microsoft.com/office/drawing/2014/main" id="{67A0DDBA-96E2-C7E9-E6C9-BB422330A4C1}"/>
              </a:ext>
            </a:extLst>
          </p:cNvPr>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6F40C40D-D31F-CC3F-4790-996868CD19DA}"/>
              </a:ext>
            </a:extLst>
          </p:cNvPr>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24D21395-F62F-670D-6277-248F48C5619C}"/>
              </a:ext>
            </a:extLst>
          </p:cNvPr>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a:extLst>
              <a:ext uri="{FF2B5EF4-FFF2-40B4-BE49-F238E27FC236}">
                <a16:creationId xmlns:a16="http://schemas.microsoft.com/office/drawing/2014/main" id="{31686298-31D7-5FFC-6B60-EDE1A2B96CB6}"/>
              </a:ext>
            </a:extLst>
          </p:cNvPr>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a:extLst>
              <a:ext uri="{FF2B5EF4-FFF2-40B4-BE49-F238E27FC236}">
                <a16:creationId xmlns:a16="http://schemas.microsoft.com/office/drawing/2014/main" id="{D703B594-8D5D-E372-ED44-8D0203C16B92}"/>
              </a:ext>
            </a:extLst>
          </p:cNvPr>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a:extLst>
              <a:ext uri="{FF2B5EF4-FFF2-40B4-BE49-F238E27FC236}">
                <a16:creationId xmlns:a16="http://schemas.microsoft.com/office/drawing/2014/main" id="{96546C98-EBA8-C9C8-D1D3-C95EB3C591E7}"/>
              </a:ext>
            </a:extLst>
          </p:cNvPr>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a:extLst>
              <a:ext uri="{FF2B5EF4-FFF2-40B4-BE49-F238E27FC236}">
                <a16:creationId xmlns:a16="http://schemas.microsoft.com/office/drawing/2014/main" id="{46BDC5A0-995B-DA10-2045-0C342BD21191}"/>
              </a:ext>
            </a:extLst>
          </p:cNvPr>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4698EADB-2FB6-A2C6-A463-024EEA42DAB3}"/>
              </a:ext>
            </a:extLst>
          </p:cNvPr>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a:extLst>
              <a:ext uri="{FF2B5EF4-FFF2-40B4-BE49-F238E27FC236}">
                <a16:creationId xmlns:a16="http://schemas.microsoft.com/office/drawing/2014/main" id="{3B306AE8-6719-236C-813F-B0AFB4B6D87F}"/>
              </a:ext>
            </a:extLst>
          </p:cNvPr>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B50D06FE-71C6-FC99-5BE4-FA8D6FB6AD24}"/>
              </a:ext>
            </a:extLst>
          </p:cNvPr>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a:extLst>
              <a:ext uri="{FF2B5EF4-FFF2-40B4-BE49-F238E27FC236}">
                <a16:creationId xmlns:a16="http://schemas.microsoft.com/office/drawing/2014/main" id="{902A6258-7218-AF22-30A8-2BB3534FCF70}"/>
              </a:ext>
            </a:extLst>
          </p:cNvPr>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a:extLst>
              <a:ext uri="{FF2B5EF4-FFF2-40B4-BE49-F238E27FC236}">
                <a16:creationId xmlns:a16="http://schemas.microsoft.com/office/drawing/2014/main" id="{63BF751E-10F2-3669-794E-EA66581EC05E}"/>
              </a:ext>
            </a:extLst>
          </p:cNvPr>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a:extLst>
              <a:ext uri="{FF2B5EF4-FFF2-40B4-BE49-F238E27FC236}">
                <a16:creationId xmlns:a16="http://schemas.microsoft.com/office/drawing/2014/main" id="{EE6F0E8A-E327-F384-CD9D-0BC3B5E503DC}"/>
              </a:ext>
            </a:extLst>
          </p:cNvPr>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F993B566-74E1-8804-CC58-8817D7008347}"/>
              </a:ext>
            </a:extLst>
          </p:cNvPr>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a:extLst>
              <a:ext uri="{FF2B5EF4-FFF2-40B4-BE49-F238E27FC236}">
                <a16:creationId xmlns:a16="http://schemas.microsoft.com/office/drawing/2014/main" id="{E9AF9134-4ADC-088B-3A88-9EE0A16FEBA2}"/>
              </a:ext>
            </a:extLst>
          </p:cNvPr>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a:extLst>
              <a:ext uri="{FF2B5EF4-FFF2-40B4-BE49-F238E27FC236}">
                <a16:creationId xmlns:a16="http://schemas.microsoft.com/office/drawing/2014/main" id="{D3383BC7-2AFE-C984-415A-EF4D66CCF03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a:extLst>
              <a:ext uri="{FF2B5EF4-FFF2-40B4-BE49-F238E27FC236}">
                <a16:creationId xmlns:a16="http://schemas.microsoft.com/office/drawing/2014/main" id="{805629E7-7492-7B2E-FFE2-17F88FAB8587}"/>
              </a:ext>
            </a:extLst>
          </p:cNvPr>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a:extLst>
              <a:ext uri="{FF2B5EF4-FFF2-40B4-BE49-F238E27FC236}">
                <a16:creationId xmlns:a16="http://schemas.microsoft.com/office/drawing/2014/main" id="{23495BA4-9322-68E0-EDD4-926968F33EA8}"/>
              </a:ext>
            </a:extLst>
          </p:cNvPr>
          <p:cNvSpPr txBox="1"/>
          <p:nvPr/>
        </p:nvSpPr>
        <p:spPr>
          <a:xfrm>
            <a:off x="2463814" y="1476325"/>
            <a:ext cx="1281278" cy="307777"/>
          </a:xfrm>
          <a:prstGeom prst="rect">
            <a:avLst/>
          </a:prstGeom>
          <a:noFill/>
        </p:spPr>
        <p:txBody>
          <a:bodyPr wrap="square" rtlCol="0">
            <a:spAutoFit/>
          </a:bodyPr>
          <a:lstStyle/>
          <a:p>
            <a:r>
              <a:rPr lang="ja-JP" altLang="en-US" sz="700" b="1" dirty="0">
                <a:solidFill>
                  <a:srgbClr val="0070C0"/>
                </a:solidFill>
              </a:rPr>
              <a:t>編集のための一時ファイルを</a:t>
            </a:r>
            <a:r>
              <a:rPr lang="en-US" altLang="ja-JP" sz="700" b="1" dirty="0">
                <a:solidFill>
                  <a:srgbClr val="0070C0"/>
                </a:solidFill>
              </a:rPr>
              <a:t>SPO</a:t>
            </a:r>
            <a:r>
              <a:rPr lang="ja-JP" altLang="en-US" sz="700" b="1" dirty="0">
                <a:solidFill>
                  <a:srgbClr val="0070C0"/>
                </a:solidFill>
              </a:rPr>
              <a:t>に置く</a:t>
            </a:r>
            <a:endParaRPr lang="en-US" altLang="ja-JP" sz="700" b="1" dirty="0">
              <a:solidFill>
                <a:srgbClr val="0070C0"/>
              </a:solidFill>
            </a:endParaRPr>
          </a:p>
        </p:txBody>
      </p:sp>
      <p:cxnSp>
        <p:nvCxnSpPr>
          <p:cNvPr id="62" name="コネクタ: カギ線 61">
            <a:extLst>
              <a:ext uri="{FF2B5EF4-FFF2-40B4-BE49-F238E27FC236}">
                <a16:creationId xmlns:a16="http://schemas.microsoft.com/office/drawing/2014/main" id="{2FBC8D90-D525-D5B7-74CC-BAB3C3102269}"/>
              </a:ext>
            </a:extLst>
          </p:cNvPr>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a:extLst>
              <a:ext uri="{FF2B5EF4-FFF2-40B4-BE49-F238E27FC236}">
                <a16:creationId xmlns:a16="http://schemas.microsoft.com/office/drawing/2014/main" id="{454C0BB5-0AEC-3E1C-A34C-A4F8CD64AD9D}"/>
              </a:ext>
            </a:extLst>
          </p:cNvPr>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a:extLst>
              <a:ext uri="{FF2B5EF4-FFF2-40B4-BE49-F238E27FC236}">
                <a16:creationId xmlns:a16="http://schemas.microsoft.com/office/drawing/2014/main" id="{7B9D03F4-CB3A-85D4-7D28-3E82EDF1E3BA}"/>
              </a:ext>
            </a:extLst>
          </p:cNvPr>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a:extLst>
              <a:ext uri="{FF2B5EF4-FFF2-40B4-BE49-F238E27FC236}">
                <a16:creationId xmlns:a16="http://schemas.microsoft.com/office/drawing/2014/main" id="{4C7133C0-0EF1-4B93-350A-8C42A6F5A0BB}"/>
              </a:ext>
            </a:extLst>
          </p:cNvPr>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a:extLst>
              <a:ext uri="{FF2B5EF4-FFF2-40B4-BE49-F238E27FC236}">
                <a16:creationId xmlns:a16="http://schemas.microsoft.com/office/drawing/2014/main" id="{9A24D967-6094-72E7-5316-1A31DC2ADCBB}"/>
              </a:ext>
            </a:extLst>
          </p:cNvPr>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a:extLst>
              <a:ext uri="{FF2B5EF4-FFF2-40B4-BE49-F238E27FC236}">
                <a16:creationId xmlns:a16="http://schemas.microsoft.com/office/drawing/2014/main" id="{A5E81DAF-F063-12E5-052D-311BA1991B20}"/>
              </a:ext>
            </a:extLst>
          </p:cNvPr>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a:extLst>
              <a:ext uri="{FF2B5EF4-FFF2-40B4-BE49-F238E27FC236}">
                <a16:creationId xmlns:a16="http://schemas.microsoft.com/office/drawing/2014/main" id="{39A1C529-E606-4BEF-68CB-82D73A80BE9C}"/>
              </a:ext>
            </a:extLst>
          </p:cNvPr>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a:extLst>
              <a:ext uri="{FF2B5EF4-FFF2-40B4-BE49-F238E27FC236}">
                <a16:creationId xmlns:a16="http://schemas.microsoft.com/office/drawing/2014/main" id="{6110E0A6-F6C7-B0CB-81F6-46946B7C378E}"/>
              </a:ext>
            </a:extLst>
          </p:cNvPr>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a:extLst>
              <a:ext uri="{FF2B5EF4-FFF2-40B4-BE49-F238E27FC236}">
                <a16:creationId xmlns:a16="http://schemas.microsoft.com/office/drawing/2014/main" id="{581F9B90-11E9-86D3-BA95-0E721CF030A4}"/>
              </a:ext>
            </a:extLst>
          </p:cNvPr>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a:extLst>
              <a:ext uri="{FF2B5EF4-FFF2-40B4-BE49-F238E27FC236}">
                <a16:creationId xmlns:a16="http://schemas.microsoft.com/office/drawing/2014/main" id="{F3DF9B0E-21D2-1E96-D91C-6D5D97E0D950}"/>
              </a:ext>
            </a:extLst>
          </p:cNvPr>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a:extLst>
              <a:ext uri="{FF2B5EF4-FFF2-40B4-BE49-F238E27FC236}">
                <a16:creationId xmlns:a16="http://schemas.microsoft.com/office/drawing/2014/main" id="{C9438600-0365-5F26-D9C0-318072695D0A}"/>
              </a:ext>
            </a:extLst>
          </p:cNvPr>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a:extLst>
              <a:ext uri="{FF2B5EF4-FFF2-40B4-BE49-F238E27FC236}">
                <a16:creationId xmlns:a16="http://schemas.microsoft.com/office/drawing/2014/main" id="{B689D9BA-6995-252C-E7BF-50D550346F41}"/>
              </a:ext>
            </a:extLst>
          </p:cNvPr>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a:extLst>
              <a:ext uri="{FF2B5EF4-FFF2-40B4-BE49-F238E27FC236}">
                <a16:creationId xmlns:a16="http://schemas.microsoft.com/office/drawing/2014/main" id="{219188D9-EF2A-53F7-337E-85386CC11A43}"/>
              </a:ext>
            </a:extLst>
          </p:cNvPr>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a:extLst>
              <a:ext uri="{FF2B5EF4-FFF2-40B4-BE49-F238E27FC236}">
                <a16:creationId xmlns:a16="http://schemas.microsoft.com/office/drawing/2014/main" id="{673DFD93-3DDD-F65D-312F-803F909CF916}"/>
              </a:ext>
            </a:extLst>
          </p:cNvPr>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a:extLst>
              <a:ext uri="{FF2B5EF4-FFF2-40B4-BE49-F238E27FC236}">
                <a16:creationId xmlns:a16="http://schemas.microsoft.com/office/drawing/2014/main" id="{27A4F250-BEA7-E8F6-F962-2FDBEE2C1E95}"/>
              </a:ext>
            </a:extLst>
          </p:cNvPr>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a:extLst>
              <a:ext uri="{FF2B5EF4-FFF2-40B4-BE49-F238E27FC236}">
                <a16:creationId xmlns:a16="http://schemas.microsoft.com/office/drawing/2014/main" id="{079347C6-32CD-6F09-D3AB-C5DD7E025FE0}"/>
              </a:ext>
            </a:extLst>
          </p:cNvPr>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a:extLst>
              <a:ext uri="{FF2B5EF4-FFF2-40B4-BE49-F238E27FC236}">
                <a16:creationId xmlns:a16="http://schemas.microsoft.com/office/drawing/2014/main" id="{4E087FDD-EA42-B2B0-D6AC-9C3751DBDB6C}"/>
              </a:ext>
            </a:extLst>
          </p:cNvPr>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a:extLst>
              <a:ext uri="{FF2B5EF4-FFF2-40B4-BE49-F238E27FC236}">
                <a16:creationId xmlns:a16="http://schemas.microsoft.com/office/drawing/2014/main" id="{0BCED309-79F1-00DE-91D6-1991D6C2D8C8}"/>
              </a:ext>
            </a:extLst>
          </p:cNvPr>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5C06DB5D-B645-B7B0-948B-8CE0B87FCEFE}"/>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62D3B8D2-D81A-610B-3197-BF0E5FAF172A}"/>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50278FB-695E-9BFA-FD0D-B31A79693542}"/>
              </a:ext>
            </a:extLst>
          </p:cNvPr>
          <p:cNvSpPr txBox="1"/>
          <p:nvPr/>
        </p:nvSpPr>
        <p:spPr>
          <a:xfrm>
            <a:off x="689630" y="6044529"/>
            <a:ext cx="6362509" cy="246221"/>
          </a:xfrm>
          <a:prstGeom prst="rect">
            <a:avLst/>
          </a:prstGeom>
          <a:noFill/>
        </p:spPr>
        <p:txBody>
          <a:bodyPr wrap="square" rtlCol="0">
            <a:spAutoFit/>
          </a:bodyPr>
          <a:lstStyle/>
          <a:p>
            <a:r>
              <a:rPr kumimoji="1" lang="en-US" altLang="ja-JP" sz="1000" dirty="0">
                <a:solidFill>
                  <a:srgbClr val="0070C0"/>
                </a:solidFill>
              </a:rPr>
              <a:t>Power Apps/Power Automate flow/Power BI</a:t>
            </a:r>
            <a:r>
              <a:rPr kumimoji="1" lang="ja-JP" altLang="en-US" sz="1000" dirty="0">
                <a:solidFill>
                  <a:srgbClr val="0070C0"/>
                </a:solidFill>
              </a:rPr>
              <a:t>は</a:t>
            </a:r>
            <a:r>
              <a:rPr kumimoji="1" lang="en-US" altLang="ja-JP" sz="1000" dirty="0" err="1">
                <a:solidFill>
                  <a:srgbClr val="0070C0"/>
                </a:solidFill>
              </a:rPr>
              <a:t>Sqlserver</a:t>
            </a:r>
            <a:r>
              <a:rPr kumimoji="1" lang="ja-JP" altLang="en-US" sz="1000" dirty="0">
                <a:solidFill>
                  <a:srgbClr val="0070C0"/>
                </a:solidFill>
              </a:rPr>
              <a:t>にアクセス時の実際の</a:t>
            </a:r>
            <a:r>
              <a:rPr kumimoji="1" lang="en-US" altLang="ja-JP" sz="1000" dirty="0">
                <a:solidFill>
                  <a:srgbClr val="0070C0"/>
                </a:solidFill>
              </a:rPr>
              <a:t>Data Flow</a:t>
            </a:r>
            <a:r>
              <a:rPr kumimoji="1" lang="ja-JP" altLang="en-US" sz="1000" dirty="0">
                <a:solidFill>
                  <a:srgbClr val="0070C0"/>
                </a:solidFill>
              </a:rPr>
              <a:t>（</a:t>
            </a:r>
            <a:r>
              <a:rPr kumimoji="1" lang="en-US" altLang="ja-JP" sz="1000" dirty="0">
                <a:solidFill>
                  <a:srgbClr val="0070C0"/>
                </a:solidFill>
              </a:rPr>
              <a:t>Architecture</a:t>
            </a:r>
            <a:r>
              <a:rPr kumimoji="1" lang="ja-JP" altLang="en-US" sz="1000" dirty="0">
                <a:solidFill>
                  <a:srgbClr val="0070C0"/>
                </a:solidFill>
              </a:rPr>
              <a:t>視点）</a:t>
            </a:r>
          </a:p>
        </p:txBody>
      </p:sp>
      <p:sp>
        <p:nvSpPr>
          <p:cNvPr id="35" name="テキスト ボックス 34">
            <a:extLst>
              <a:ext uri="{FF2B5EF4-FFF2-40B4-BE49-F238E27FC236}">
                <a16:creationId xmlns:a16="http://schemas.microsoft.com/office/drawing/2014/main" id="{3B1F88EA-9AE8-524E-157A-02608D6FB504}"/>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dirty="0">
                <a:solidFill>
                  <a:srgbClr val="0070C0"/>
                </a:solidFill>
              </a:rPr>
              <a:t>Power Apps/Power Automate flow/Power BI</a:t>
            </a:r>
            <a:r>
              <a:rPr lang="ja-JP" altLang="en-US" dirty="0">
                <a:solidFill>
                  <a:srgbClr val="0070C0"/>
                </a:solidFill>
              </a:rPr>
              <a:t>は</a:t>
            </a:r>
            <a:r>
              <a:rPr lang="en-US" altLang="ja-JP" dirty="0" err="1">
                <a:solidFill>
                  <a:srgbClr val="0070C0"/>
                </a:solidFill>
              </a:rPr>
              <a:t>Sqlserver</a:t>
            </a:r>
            <a:r>
              <a:rPr lang="ja-JP" altLang="en-US" dirty="0">
                <a:solidFill>
                  <a:srgbClr val="0070C0"/>
                </a:solidFill>
              </a:rPr>
              <a:t>にアクセス時のが論理</a:t>
            </a:r>
            <a:r>
              <a:rPr lang="en-US" altLang="ja-JP" dirty="0">
                <a:solidFill>
                  <a:srgbClr val="0070C0"/>
                </a:solidFill>
              </a:rPr>
              <a:t>Flow</a:t>
            </a:r>
            <a:r>
              <a:rPr lang="ja-JP" altLang="en-US" dirty="0">
                <a:solidFill>
                  <a:srgbClr val="0070C0"/>
                </a:solidFill>
              </a:rPr>
              <a:t>（業務視点）</a:t>
            </a:r>
          </a:p>
        </p:txBody>
      </p:sp>
      <p:cxnSp>
        <p:nvCxnSpPr>
          <p:cNvPr id="8" name="直線矢印コネクタ 7">
            <a:extLst>
              <a:ext uri="{FF2B5EF4-FFF2-40B4-BE49-F238E27FC236}">
                <a16:creationId xmlns:a16="http://schemas.microsoft.com/office/drawing/2014/main" id="{421084DE-23A5-A3A2-807C-A1E39059F394}"/>
              </a:ext>
            </a:extLst>
          </p:cNvPr>
          <p:cNvCxnSpPr>
            <a:cxnSpLocks/>
          </p:cNvCxnSpPr>
          <p:nvPr/>
        </p:nvCxnSpPr>
        <p:spPr>
          <a:xfrm>
            <a:off x="2431687" y="1812849"/>
            <a:ext cx="1317478" cy="0"/>
          </a:xfrm>
          <a:prstGeom prst="straightConnector1">
            <a:avLst/>
          </a:prstGeom>
          <a:ln w="25400">
            <a:solidFill>
              <a:srgbClr val="0070C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4" name="図 4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613CF28C-A1CE-F859-BD63-462B1E1575D2}"/>
              </a:ext>
            </a:extLst>
          </p:cNvPr>
          <p:cNvPicPr>
            <a:picLocks noChangeAspect="1"/>
          </p:cNvPicPr>
          <p:nvPr/>
        </p:nvPicPr>
        <p:blipFill>
          <a:blip r:embed="rId13"/>
          <a:stretch>
            <a:fillRect/>
          </a:stretch>
        </p:blipFill>
        <p:spPr>
          <a:xfrm>
            <a:off x="3501183" y="1867421"/>
            <a:ext cx="179760" cy="221105"/>
          </a:xfrm>
          <a:prstGeom prst="rect">
            <a:avLst/>
          </a:prstGeom>
        </p:spPr>
      </p:pic>
      <p:sp>
        <p:nvSpPr>
          <p:cNvPr id="63" name="テキスト ボックス 62">
            <a:extLst>
              <a:ext uri="{FF2B5EF4-FFF2-40B4-BE49-F238E27FC236}">
                <a16:creationId xmlns:a16="http://schemas.microsoft.com/office/drawing/2014/main" id="{C90E4425-2C24-27B0-DA78-D584BBDA2C1A}"/>
              </a:ext>
            </a:extLst>
          </p:cNvPr>
          <p:cNvSpPr txBox="1"/>
          <p:nvPr/>
        </p:nvSpPr>
        <p:spPr>
          <a:xfrm>
            <a:off x="1565205" y="2846817"/>
            <a:ext cx="1057324" cy="253916"/>
          </a:xfrm>
          <a:prstGeom prst="rect">
            <a:avLst/>
          </a:prstGeom>
          <a:noFill/>
        </p:spPr>
        <p:txBody>
          <a:bodyPr wrap="square" rtlCol="0">
            <a:spAutoFit/>
          </a:bodyPr>
          <a:lstStyle/>
          <a:p>
            <a:r>
              <a:rPr lang="ja-JP" altLang="en-US" sz="1050" dirty="0"/>
              <a:t>添付ファイル</a:t>
            </a:r>
            <a:endParaRPr lang="en-US" altLang="ja-JP" sz="1050" dirty="0"/>
          </a:p>
        </p:txBody>
      </p:sp>
      <p:sp>
        <p:nvSpPr>
          <p:cNvPr id="1025" name="テキスト ボックス 1024">
            <a:extLst>
              <a:ext uri="{FF2B5EF4-FFF2-40B4-BE49-F238E27FC236}">
                <a16:creationId xmlns:a16="http://schemas.microsoft.com/office/drawing/2014/main" id="{84AD13DF-E8E3-6528-D39C-565D7D63E109}"/>
              </a:ext>
            </a:extLst>
          </p:cNvPr>
          <p:cNvSpPr txBox="1"/>
          <p:nvPr/>
        </p:nvSpPr>
        <p:spPr>
          <a:xfrm>
            <a:off x="2457465" y="1864559"/>
            <a:ext cx="1281278" cy="415498"/>
          </a:xfrm>
          <a:prstGeom prst="rect">
            <a:avLst/>
          </a:prstGeom>
          <a:noFill/>
        </p:spPr>
        <p:txBody>
          <a:bodyPr wrap="square" rtlCol="0">
            <a:spAutoFit/>
          </a:bodyPr>
          <a:lstStyle/>
          <a:p>
            <a:r>
              <a:rPr lang="ja-JP" altLang="en-US" sz="700" b="1" dirty="0">
                <a:solidFill>
                  <a:srgbClr val="0070C0"/>
                </a:solidFill>
              </a:rPr>
              <a:t>一時ファイルの</a:t>
            </a:r>
            <a:r>
              <a:rPr lang="en-US" altLang="ja-JP" sz="700" b="1" dirty="0">
                <a:solidFill>
                  <a:srgbClr val="0070C0"/>
                </a:solidFill>
              </a:rPr>
              <a:t>Update</a:t>
            </a:r>
          </a:p>
          <a:p>
            <a:r>
              <a:rPr lang="en-US" altLang="ja-JP" sz="700" b="1" dirty="0">
                <a:solidFill>
                  <a:srgbClr val="0070C0"/>
                </a:solidFill>
              </a:rPr>
              <a:t>Trigger</a:t>
            </a:r>
            <a:r>
              <a:rPr lang="ja-JP" altLang="en-US" sz="700" b="1" dirty="0">
                <a:solidFill>
                  <a:srgbClr val="0070C0"/>
                </a:solidFill>
              </a:rPr>
              <a:t>で</a:t>
            </a:r>
            <a:r>
              <a:rPr lang="en-US" altLang="ja-JP" sz="700" b="1" dirty="0">
                <a:solidFill>
                  <a:srgbClr val="0070C0"/>
                </a:solidFill>
              </a:rPr>
              <a:t>Dataverse</a:t>
            </a:r>
            <a:r>
              <a:rPr lang="ja-JP" altLang="en-US" sz="700" b="1" dirty="0">
                <a:solidFill>
                  <a:srgbClr val="0070C0"/>
                </a:solidFill>
              </a:rPr>
              <a:t>へ</a:t>
            </a:r>
            <a:endParaRPr lang="en-US" altLang="ja-JP" sz="700" b="1" dirty="0">
              <a:solidFill>
                <a:srgbClr val="0070C0"/>
              </a:solidFill>
            </a:endParaRPr>
          </a:p>
          <a:p>
            <a:r>
              <a:rPr lang="ja-JP" altLang="en-US" sz="700" b="1" dirty="0">
                <a:solidFill>
                  <a:srgbClr val="0070C0"/>
                </a:solidFill>
              </a:rPr>
              <a:t>更新</a:t>
            </a:r>
            <a:endParaRPr lang="en-US" altLang="ja-JP" sz="700" b="1" dirty="0">
              <a:solidFill>
                <a:srgbClr val="0070C0"/>
              </a:solidFill>
            </a:endParaRPr>
          </a:p>
        </p:txBody>
      </p:sp>
    </p:spTree>
    <p:extLst>
      <p:ext uri="{BB962C8B-B14F-4D97-AF65-F5344CB8AC3E}">
        <p14:creationId xmlns:p14="http://schemas.microsoft.com/office/powerpoint/2010/main" val="2604775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6228" y="164021"/>
            <a:ext cx="10919947" cy="765272"/>
          </a:xfrm>
        </p:spPr>
        <p:txBody>
          <a:bodyPr>
            <a:normAutofit fontScale="90000"/>
          </a:bodyPr>
          <a:lstStyle/>
          <a:p>
            <a:r>
              <a:rPr lang="ja-JP" altLang="en-US" sz="3600" dirty="0"/>
              <a:t>アーキテクチャ全体</a:t>
            </a:r>
            <a:br>
              <a:rPr lang="en-US" altLang="ja-JP" dirty="0"/>
            </a:br>
            <a:r>
              <a:rPr lang="en-US" altLang="ja-JP" sz="2200" dirty="0"/>
              <a:t>Azure</a:t>
            </a:r>
            <a:r>
              <a:rPr lang="ja-JP" altLang="en-US" sz="2200" dirty="0"/>
              <a:t> </a:t>
            </a:r>
            <a:r>
              <a:rPr lang="en-US" altLang="ja-JP" sz="2200" dirty="0" err="1"/>
              <a:t>Sql</a:t>
            </a:r>
            <a:r>
              <a:rPr lang="en-US" altLang="ja-JP" sz="2200" dirty="0"/>
              <a:t> + </a:t>
            </a:r>
            <a:r>
              <a:rPr lang="ja-JP" altLang="en-US" sz="2200" dirty="0"/>
              <a:t>添付ファイルは</a:t>
            </a:r>
            <a:r>
              <a:rPr lang="en-US" altLang="ja-JP" sz="2200" dirty="0" err="1"/>
              <a:t>DaTAVERSE</a:t>
            </a:r>
            <a:r>
              <a:rPr lang="ja-JP" altLang="en-US" sz="2200" dirty="0"/>
              <a:t>保存（案</a:t>
            </a:r>
            <a:r>
              <a:rPr lang="en-US" altLang="ja-JP" sz="2200" dirty="0"/>
              <a:t>C</a:t>
            </a:r>
            <a:r>
              <a:rPr lang="ja-JP" altLang="en-US" sz="2200" dirty="0"/>
              <a:t>）ー 案</a:t>
            </a:r>
            <a:r>
              <a:rPr lang="en-US" altLang="ja-JP" sz="2200" dirty="0"/>
              <a:t>B</a:t>
            </a:r>
            <a:r>
              <a:rPr lang="ja-JP" altLang="en-US" sz="2200" dirty="0"/>
              <a:t>の</a:t>
            </a:r>
            <a:r>
              <a:rPr lang="en-US" altLang="ja-JP" sz="2200" dirty="0" err="1"/>
              <a:t>Sqlserver</a:t>
            </a:r>
            <a:r>
              <a:rPr lang="ja-JP" altLang="en-US" sz="2200" dirty="0"/>
              <a:t> </a:t>
            </a:r>
            <a:r>
              <a:rPr lang="en-US" altLang="ja-JP" sz="2200" dirty="0"/>
              <a:t>2022</a:t>
            </a:r>
            <a:r>
              <a:rPr lang="ja-JP" altLang="en-US" sz="2200" dirty="0"/>
              <a:t>⇒</a:t>
            </a:r>
            <a:r>
              <a:rPr lang="en-US" altLang="ja-JP" sz="2200" dirty="0"/>
              <a:t>Azure</a:t>
            </a:r>
            <a:r>
              <a:rPr lang="ja-JP" altLang="en-US" sz="2200" dirty="0"/>
              <a:t> </a:t>
            </a:r>
            <a:r>
              <a:rPr lang="en-US" altLang="ja-JP" sz="2200" dirty="0"/>
              <a:t>SQL</a:t>
            </a:r>
            <a:endParaRPr lang="ja-JP" altLang="en-US" sz="2200" dirty="0">
              <a:effectLst/>
            </a:endParaRPr>
          </a:p>
        </p:txBody>
      </p:sp>
      <p:sp>
        <p:nvSpPr>
          <p:cNvPr id="15" name="テキスト ボックス 14"/>
          <p:cNvSpPr txBox="1"/>
          <p:nvPr/>
        </p:nvSpPr>
        <p:spPr>
          <a:xfrm>
            <a:off x="418409" y="752496"/>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422776"/>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421702"/>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cxnSp>
        <p:nvCxnSpPr>
          <p:cNvPr id="22" name="コネクタ: カギ線 21"/>
          <p:cNvCxnSpPr>
            <a:cxnSpLocks/>
            <a:stCxn id="10" idx="3"/>
          </p:cNvCxnSpPr>
          <p:nvPr/>
        </p:nvCxnSpPr>
        <p:spPr>
          <a:xfrm flipV="1">
            <a:off x="4396513" y="4214368"/>
            <a:ext cx="1391034" cy="897576"/>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cxnSpLocks/>
            <a:stCxn id="9" idx="3"/>
          </p:cNvCxnSpPr>
          <p:nvPr/>
        </p:nvCxnSpPr>
        <p:spPr>
          <a:xfrm>
            <a:off x="4615677" y="3492989"/>
            <a:ext cx="1185545" cy="54041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7"/>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dirty="0"/>
              <a:t>ファイル</a:t>
            </a:r>
            <a:r>
              <a:rPr lang="en-US" altLang="ja-JP" sz="1200" dirty="0"/>
              <a:t>ID</a:t>
            </a:r>
            <a:r>
              <a:rPr lang="ja-JP" altLang="en-US" sz="1200" dirty="0"/>
              <a:t>で</a:t>
            </a:r>
            <a:r>
              <a:rPr lang="en-US" altLang="ja-JP" sz="1200" dirty="0"/>
              <a:t>Azure SQL </a:t>
            </a:r>
            <a:r>
              <a:rPr lang="ja-JP" altLang="en-US" sz="1200" dirty="0"/>
              <a:t>と</a:t>
            </a:r>
            <a:r>
              <a:rPr lang="en-US" altLang="ja-JP" sz="1200" dirty="0"/>
              <a:t>Dataverse</a:t>
            </a:r>
            <a:r>
              <a:rPr lang="ja-JP" altLang="en-US" sz="1200" dirty="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8"/>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sp>
        <p:nvSpPr>
          <p:cNvPr id="36" name="テキスト ボックス 35"/>
          <p:cNvSpPr txBox="1"/>
          <p:nvPr/>
        </p:nvSpPr>
        <p:spPr>
          <a:xfrm>
            <a:off x="6112104" y="2575971"/>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9"/>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0"/>
          <a:stretch>
            <a:fillRect/>
          </a:stretch>
        </p:blipFill>
        <p:spPr>
          <a:xfrm flipH="1">
            <a:off x="8918370" y="5618758"/>
            <a:ext cx="879391" cy="494658"/>
          </a:xfrm>
          <a:prstGeom prst="rect">
            <a:avLst/>
          </a:prstGeom>
        </p:spPr>
      </p:pic>
      <p:pic>
        <p:nvPicPr>
          <p:cNvPr id="41" name="図 40"/>
          <p:cNvPicPr>
            <a:picLocks noChangeAspect="1"/>
          </p:cNvPicPr>
          <p:nvPr/>
        </p:nvPicPr>
        <p:blipFill>
          <a:blip r:embed="rId11"/>
          <a:stretch>
            <a:fillRect/>
          </a:stretch>
        </p:blipFill>
        <p:spPr>
          <a:xfrm flipH="1">
            <a:off x="9310625" y="2214310"/>
            <a:ext cx="820738" cy="430887"/>
          </a:xfrm>
          <a:prstGeom prst="rect">
            <a:avLst/>
          </a:prstGeom>
        </p:spPr>
      </p:pic>
      <p:sp>
        <p:nvSpPr>
          <p:cNvPr id="42" name="テキスト ボックス 41"/>
          <p:cNvSpPr txBox="1"/>
          <p:nvPr/>
        </p:nvSpPr>
        <p:spPr>
          <a:xfrm>
            <a:off x="9716871" y="5836417"/>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cxnSpLocks/>
            <a:stCxn id="49" idx="3"/>
          </p:cNvCxnSpPr>
          <p:nvPr/>
        </p:nvCxnSpPr>
        <p:spPr>
          <a:xfrm>
            <a:off x="4395366" y="5454647"/>
            <a:ext cx="4523004" cy="567483"/>
          </a:xfrm>
          <a:prstGeom prst="bentConnector3">
            <a:avLst>
              <a:gd name="adj1" fmla="val 50000"/>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436780"/>
          </a:xfrm>
          <a:prstGeom prst="bentConnector3">
            <a:avLst>
              <a:gd name="adj1" fmla="val 50000"/>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421911"/>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42" name="コネクタ: カギ線 1041"/>
          <p:cNvCxnSpPr>
            <a:cxnSpLocks/>
            <a:stCxn id="1054" idx="3"/>
          </p:cNvCxnSpPr>
          <p:nvPr/>
        </p:nvCxnSpPr>
        <p:spPr>
          <a:xfrm flipV="1">
            <a:off x="2154707" y="4112768"/>
            <a:ext cx="3646515" cy="403706"/>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7" name="テキスト ボックス 1056"/>
          <p:cNvSpPr txBox="1"/>
          <p:nvPr/>
        </p:nvSpPr>
        <p:spPr>
          <a:xfrm>
            <a:off x="6728784" y="5014950"/>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cxnSpLocks/>
            <a:stCxn id="1026" idx="3"/>
          </p:cNvCxnSpPr>
          <p:nvPr/>
        </p:nvCxnSpPr>
        <p:spPr>
          <a:xfrm flipH="1">
            <a:off x="6515253" y="1927312"/>
            <a:ext cx="4821112" cy="2080143"/>
          </a:xfrm>
          <a:prstGeom prst="bentConnector3">
            <a:avLst>
              <a:gd name="adj1" fmla="val -4742"/>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図 7" descr="アイコン&#10;&#10;AI によって生成されたコンテンツは間違っている可能性があります。">
            <a:extLst>
              <a:ext uri="{FF2B5EF4-FFF2-40B4-BE49-F238E27FC236}">
                <a16:creationId xmlns:a16="http://schemas.microsoft.com/office/drawing/2014/main" id="{719142F2-26A7-0448-7ACE-27FAB4431608}"/>
              </a:ext>
            </a:extLst>
          </p:cNvPr>
          <p:cNvPicPr>
            <a:picLocks noChangeAspect="1"/>
          </p:cNvPicPr>
          <p:nvPr/>
        </p:nvPicPr>
        <p:blipFill>
          <a:blip r:embed="rId13"/>
          <a:stretch>
            <a:fillRect/>
          </a:stretch>
        </p:blipFill>
        <p:spPr>
          <a:xfrm>
            <a:off x="5385149" y="3646156"/>
            <a:ext cx="1877560" cy="1126536"/>
          </a:xfrm>
          <a:prstGeom prst="rect">
            <a:avLst/>
          </a:prstGeom>
        </p:spPr>
      </p:pic>
      <p:cxnSp>
        <p:nvCxnSpPr>
          <p:cNvPr id="1035" name="直線矢印コネクタ 1034">
            <a:extLst>
              <a:ext uri="{FF2B5EF4-FFF2-40B4-BE49-F238E27FC236}">
                <a16:creationId xmlns:a16="http://schemas.microsoft.com/office/drawing/2014/main" id="{6E25B576-54C3-2EF1-B45D-4B57AB71EF4F}"/>
              </a:ext>
            </a:extLst>
          </p:cNvPr>
          <p:cNvCxnSpPr>
            <a:cxnSpLocks/>
            <a:endCxn id="27" idx="1"/>
          </p:cNvCxnSpPr>
          <p:nvPr/>
        </p:nvCxnSpPr>
        <p:spPr>
          <a:xfrm>
            <a:off x="2431687" y="1800030"/>
            <a:ext cx="1317478" cy="0"/>
          </a:xfrm>
          <a:prstGeom prst="straightConnector1">
            <a:avLst/>
          </a:prstGeom>
          <a:ln w="25400">
            <a:solidFill>
              <a:srgbClr val="0070C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0" name="テキスト ボックス 1039">
            <a:extLst>
              <a:ext uri="{FF2B5EF4-FFF2-40B4-BE49-F238E27FC236}">
                <a16:creationId xmlns:a16="http://schemas.microsoft.com/office/drawing/2014/main" id="{F0E312F7-094B-A625-AF8B-9989BE8FA020}"/>
              </a:ext>
            </a:extLst>
          </p:cNvPr>
          <p:cNvSpPr txBox="1"/>
          <p:nvPr/>
        </p:nvSpPr>
        <p:spPr>
          <a:xfrm>
            <a:off x="2463814" y="1476325"/>
            <a:ext cx="1281278" cy="307777"/>
          </a:xfrm>
          <a:prstGeom prst="rect">
            <a:avLst/>
          </a:prstGeom>
          <a:noFill/>
        </p:spPr>
        <p:txBody>
          <a:bodyPr wrap="square" rtlCol="0">
            <a:spAutoFit/>
          </a:bodyPr>
          <a:lstStyle/>
          <a:p>
            <a:r>
              <a:rPr lang="ja-JP" altLang="en-US" sz="700" b="1" dirty="0">
                <a:solidFill>
                  <a:srgbClr val="0070C0"/>
                </a:solidFill>
              </a:rPr>
              <a:t>編集のための一時ファイルを</a:t>
            </a:r>
            <a:r>
              <a:rPr lang="en-US" altLang="ja-JP" sz="700" b="1" dirty="0">
                <a:solidFill>
                  <a:srgbClr val="0070C0"/>
                </a:solidFill>
              </a:rPr>
              <a:t>SPO</a:t>
            </a:r>
            <a:r>
              <a:rPr lang="ja-JP" altLang="en-US" sz="700" b="1" dirty="0">
                <a:solidFill>
                  <a:srgbClr val="0070C0"/>
                </a:solidFill>
              </a:rPr>
              <a:t>に置く</a:t>
            </a:r>
            <a:endParaRPr lang="en-US" altLang="ja-JP" sz="700" b="1" dirty="0">
              <a:solidFill>
                <a:srgbClr val="0070C0"/>
              </a:solidFill>
            </a:endParaRPr>
          </a:p>
        </p:txBody>
      </p:sp>
      <p:sp>
        <p:nvSpPr>
          <p:cNvPr id="1041" name="テキスト ボックス 1040">
            <a:extLst>
              <a:ext uri="{FF2B5EF4-FFF2-40B4-BE49-F238E27FC236}">
                <a16:creationId xmlns:a16="http://schemas.microsoft.com/office/drawing/2014/main" id="{B7CE0FCA-36F1-C016-97E0-41D7AA344EDA}"/>
              </a:ext>
            </a:extLst>
          </p:cNvPr>
          <p:cNvSpPr txBox="1"/>
          <p:nvPr/>
        </p:nvSpPr>
        <p:spPr>
          <a:xfrm>
            <a:off x="2457465" y="1864559"/>
            <a:ext cx="1281278" cy="415498"/>
          </a:xfrm>
          <a:prstGeom prst="rect">
            <a:avLst/>
          </a:prstGeom>
          <a:noFill/>
        </p:spPr>
        <p:txBody>
          <a:bodyPr wrap="square" rtlCol="0">
            <a:spAutoFit/>
          </a:bodyPr>
          <a:lstStyle/>
          <a:p>
            <a:r>
              <a:rPr lang="ja-JP" altLang="en-US" sz="700" b="1" dirty="0">
                <a:solidFill>
                  <a:srgbClr val="0070C0"/>
                </a:solidFill>
              </a:rPr>
              <a:t>一時ファイルの</a:t>
            </a:r>
            <a:r>
              <a:rPr lang="en-US" altLang="ja-JP" sz="700" b="1" dirty="0">
                <a:solidFill>
                  <a:srgbClr val="0070C0"/>
                </a:solidFill>
              </a:rPr>
              <a:t>Update</a:t>
            </a:r>
          </a:p>
          <a:p>
            <a:r>
              <a:rPr lang="en-US" altLang="ja-JP" sz="700" b="1" dirty="0">
                <a:solidFill>
                  <a:srgbClr val="0070C0"/>
                </a:solidFill>
              </a:rPr>
              <a:t>Trigger</a:t>
            </a:r>
            <a:r>
              <a:rPr lang="ja-JP" altLang="en-US" sz="700" b="1" dirty="0">
                <a:solidFill>
                  <a:srgbClr val="0070C0"/>
                </a:solidFill>
              </a:rPr>
              <a:t>で</a:t>
            </a:r>
            <a:r>
              <a:rPr lang="en-US" altLang="ja-JP" sz="700" b="1" dirty="0">
                <a:solidFill>
                  <a:srgbClr val="0070C0"/>
                </a:solidFill>
              </a:rPr>
              <a:t>Dataverse</a:t>
            </a:r>
            <a:r>
              <a:rPr lang="ja-JP" altLang="en-US" sz="700" b="1" dirty="0">
                <a:solidFill>
                  <a:srgbClr val="0070C0"/>
                </a:solidFill>
              </a:rPr>
              <a:t>へ</a:t>
            </a:r>
            <a:endParaRPr lang="en-US" altLang="ja-JP" sz="700" b="1" dirty="0">
              <a:solidFill>
                <a:srgbClr val="0070C0"/>
              </a:solidFill>
            </a:endParaRPr>
          </a:p>
          <a:p>
            <a:r>
              <a:rPr lang="ja-JP" altLang="en-US" sz="700" b="1" dirty="0">
                <a:solidFill>
                  <a:srgbClr val="0070C0"/>
                </a:solidFill>
              </a:rPr>
              <a:t>更新</a:t>
            </a:r>
            <a:endParaRPr lang="en-US" altLang="ja-JP" sz="700" b="1" dirty="0">
              <a:solidFill>
                <a:srgbClr val="0070C0"/>
              </a:solidFill>
            </a:endParaRPr>
          </a:p>
        </p:txBody>
      </p:sp>
    </p:spTree>
    <p:extLst>
      <p:ext uri="{BB962C8B-B14F-4D97-AF65-F5344CB8AC3E}">
        <p14:creationId xmlns:p14="http://schemas.microsoft.com/office/powerpoint/2010/main" val="3215582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834738927"/>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主に性能観点の評価、性能評価次第、該当機能の本番機能対象にする・にしない（実装面の技術リスクがない）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normAutofit/>
          </a:bodyPr>
          <a:lstStyle/>
          <a:p>
            <a:r>
              <a:rPr lang="ja-JP" altLang="en-US" dirty="0"/>
              <a:t>前回の資料</a:t>
            </a:r>
            <a:br>
              <a:rPr lang="en-US" altLang="ja-JP" dirty="0"/>
            </a:br>
            <a:r>
              <a:rPr lang="en-US" altLang="ja-JP" sz="5300" dirty="0"/>
              <a:t>(9/22</a:t>
            </a:r>
            <a:r>
              <a:rPr lang="ja-JP" altLang="en-US" sz="5300" dirty="0"/>
              <a:t>ソリューションのみ</a:t>
            </a:r>
            <a:r>
              <a:rPr lang="en-US" altLang="ja-JP" sz="5300" dirty="0"/>
              <a:t>)</a:t>
            </a:r>
            <a:endParaRPr lang="ja-JP" altLang="en-US" sz="5300" dirty="0"/>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dirty="0"/>
              <a:t>ファイル</a:t>
            </a:r>
            <a:r>
              <a:rPr lang="en-US" altLang="ja-JP" sz="1200" dirty="0"/>
              <a:t>ID</a:t>
            </a:r>
            <a:r>
              <a:rPr lang="ja-JP" altLang="en-US" sz="1200" dirty="0"/>
              <a:t>で</a:t>
            </a:r>
            <a:r>
              <a:rPr lang="en-US" altLang="ja-JP" sz="1200" dirty="0" err="1"/>
              <a:t>Sqlserver</a:t>
            </a:r>
            <a:r>
              <a:rPr lang="en-US" altLang="ja-JP" sz="1200" dirty="0"/>
              <a:t> </a:t>
            </a:r>
            <a:r>
              <a:rPr lang="ja-JP" altLang="en-US" sz="1200" dirty="0"/>
              <a:t>と</a:t>
            </a:r>
            <a:r>
              <a:rPr lang="en-US" altLang="ja-JP" sz="1200" dirty="0"/>
              <a:t>Dataverse</a:t>
            </a:r>
            <a:r>
              <a:rPr lang="ja-JP" altLang="en-US" sz="1200" dirty="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dirty="0">
                <a:solidFill>
                  <a:srgbClr val="0070C0"/>
                </a:solidFill>
              </a:rPr>
              <a:t>Power Apps/Power Automate flow/Power BI</a:t>
            </a:r>
            <a:r>
              <a:rPr kumimoji="1" lang="ja-JP" altLang="en-US" sz="1000" dirty="0">
                <a:solidFill>
                  <a:srgbClr val="0070C0"/>
                </a:solidFill>
              </a:rPr>
              <a:t>は</a:t>
            </a:r>
            <a:r>
              <a:rPr kumimoji="1" lang="en-US" altLang="ja-JP" sz="1000" dirty="0" err="1">
                <a:solidFill>
                  <a:srgbClr val="0070C0"/>
                </a:solidFill>
              </a:rPr>
              <a:t>Sqlserver</a:t>
            </a:r>
            <a:r>
              <a:rPr kumimoji="1" lang="ja-JP" altLang="en-US" sz="1000" dirty="0">
                <a:solidFill>
                  <a:srgbClr val="0070C0"/>
                </a:solidFill>
              </a:rPr>
              <a:t>にアクセス時の実際の</a:t>
            </a:r>
            <a:r>
              <a:rPr kumimoji="1" lang="en-US" altLang="ja-JP" sz="1000" dirty="0">
                <a:solidFill>
                  <a:srgbClr val="0070C0"/>
                </a:solidFill>
              </a:rPr>
              <a:t>Data Flow</a:t>
            </a:r>
            <a:r>
              <a:rPr kumimoji="1" lang="ja-JP" altLang="en-US" sz="1000" dirty="0">
                <a:solidFill>
                  <a:srgbClr val="0070C0"/>
                </a:solidFill>
              </a:rPr>
              <a:t>（</a:t>
            </a:r>
            <a:r>
              <a:rPr kumimoji="1" lang="en-US" altLang="ja-JP" sz="1000" dirty="0">
                <a:solidFill>
                  <a:srgbClr val="0070C0"/>
                </a:solidFill>
              </a:rPr>
              <a:t>Architecture</a:t>
            </a:r>
            <a:r>
              <a:rPr kumimoji="1" lang="ja-JP" altLang="en-US" sz="1000" dirty="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dirty="0">
                <a:solidFill>
                  <a:srgbClr val="0070C0"/>
                </a:solidFill>
              </a:rPr>
              <a:t>Power Apps/Power Automate flow/Power BI</a:t>
            </a:r>
            <a:r>
              <a:rPr lang="ja-JP" altLang="en-US" dirty="0">
                <a:solidFill>
                  <a:srgbClr val="0070C0"/>
                </a:solidFill>
              </a:rPr>
              <a:t>は</a:t>
            </a:r>
            <a:r>
              <a:rPr lang="en-US" altLang="ja-JP" dirty="0" err="1">
                <a:solidFill>
                  <a:srgbClr val="0070C0"/>
                </a:solidFill>
              </a:rPr>
              <a:t>Sqlserver</a:t>
            </a:r>
            <a:r>
              <a:rPr lang="ja-JP" altLang="en-US" dirty="0">
                <a:solidFill>
                  <a:srgbClr val="0070C0"/>
                </a:solidFill>
              </a:rPr>
              <a:t>にアクセス時のが論理</a:t>
            </a:r>
            <a:r>
              <a:rPr lang="en-US" altLang="ja-JP" dirty="0">
                <a:solidFill>
                  <a:srgbClr val="0070C0"/>
                </a:solidFill>
              </a:rPr>
              <a:t>Flow</a:t>
            </a:r>
            <a:r>
              <a:rPr lang="ja-JP" altLang="en-US" dirty="0">
                <a:solidFill>
                  <a:srgbClr val="0070C0"/>
                </a:solidFill>
              </a:rPr>
              <a:t>（業務視点）</a:t>
            </a:r>
          </a:p>
        </p:txBody>
      </p:sp>
    </p:spTree>
    <p:extLst>
      <p:ext uri="{BB962C8B-B14F-4D97-AF65-F5344CB8AC3E}">
        <p14:creationId xmlns:p14="http://schemas.microsoft.com/office/powerpoint/2010/main" val="3511245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CA49-30AB-057D-2B4A-98A85616CCC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3A88D10-4EEF-59CB-E279-501319849CA4}"/>
              </a:ext>
            </a:extLst>
          </p:cNvPr>
          <p:cNvSpPr>
            <a:spLocks noGrp="1"/>
          </p:cNvSpPr>
          <p:nvPr>
            <p:ph type="ctrTitle"/>
          </p:nvPr>
        </p:nvSpPr>
        <p:spPr/>
        <p:txBody>
          <a:bodyPr/>
          <a:lstStyle/>
          <a:p>
            <a:r>
              <a:rPr lang="en-US" altLang="ja-JP" dirty="0"/>
              <a:t>Work Area</a:t>
            </a:r>
            <a:br>
              <a:rPr lang="en-US" altLang="ja-JP" dirty="0"/>
            </a:br>
            <a:r>
              <a:rPr lang="en-US" altLang="ja-JP" dirty="0"/>
              <a:t>(</a:t>
            </a:r>
            <a:r>
              <a:rPr lang="ja-JP" altLang="en-US" dirty="0"/>
              <a:t>提出前に削除</a:t>
            </a:r>
            <a:r>
              <a:rPr lang="en-US" altLang="ja-JP" dirty="0"/>
              <a:t>)</a:t>
            </a:r>
            <a:endParaRPr lang="ja-JP" altLang="en-US" dirty="0"/>
          </a:p>
        </p:txBody>
      </p:sp>
      <p:sp>
        <p:nvSpPr>
          <p:cNvPr id="2" name="字幕 1">
            <a:extLst>
              <a:ext uri="{FF2B5EF4-FFF2-40B4-BE49-F238E27FC236}">
                <a16:creationId xmlns:a16="http://schemas.microsoft.com/office/drawing/2014/main" id="{681F6F3D-00EC-77F7-3CFB-73BC49419B99}"/>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291865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BF05A-382A-F772-C873-3DF1D2267197}"/>
              </a:ext>
            </a:extLst>
          </p:cNvPr>
          <p:cNvSpPr>
            <a:spLocks noGrp="1"/>
          </p:cNvSpPr>
          <p:nvPr>
            <p:ph type="title"/>
          </p:nvPr>
        </p:nvSpPr>
        <p:spPr/>
        <p:txBody>
          <a:bodyPr>
            <a:normAutofit fontScale="90000"/>
          </a:bodyPr>
          <a:lstStyle/>
          <a:p>
            <a:endParaRPr kumimoji="1" lang="ja-JP" altLang="en-US"/>
          </a:p>
        </p:txBody>
      </p:sp>
      <p:pic>
        <p:nvPicPr>
          <p:cNvPr id="4" name="図 3" descr="アイコン&#10;&#10;AI によって生成されたコンテンツは間違っている可能性があります。">
            <a:extLst>
              <a:ext uri="{FF2B5EF4-FFF2-40B4-BE49-F238E27FC236}">
                <a16:creationId xmlns:a16="http://schemas.microsoft.com/office/drawing/2014/main" id="{D3742252-C886-6E4B-0739-3C625D175FA2}"/>
              </a:ext>
            </a:extLst>
          </p:cNvPr>
          <p:cNvPicPr>
            <a:picLocks noChangeAspect="1"/>
          </p:cNvPicPr>
          <p:nvPr/>
        </p:nvPicPr>
        <p:blipFill>
          <a:blip r:embed="rId2"/>
          <a:stretch>
            <a:fillRect/>
          </a:stretch>
        </p:blipFill>
        <p:spPr>
          <a:xfrm>
            <a:off x="2146807" y="991578"/>
            <a:ext cx="2787330" cy="1672398"/>
          </a:xfrm>
          <a:prstGeom prst="rect">
            <a:avLst/>
          </a:prstGeom>
        </p:spPr>
      </p:pic>
      <p:pic>
        <p:nvPicPr>
          <p:cNvPr id="5" name="図 4" descr="グラフィカル ユーザー インターフェイス, ロゴ&#10;&#10;AI によって生成されたコンテンツは間違っている可能性があります。">
            <a:extLst>
              <a:ext uri="{FF2B5EF4-FFF2-40B4-BE49-F238E27FC236}">
                <a16:creationId xmlns:a16="http://schemas.microsoft.com/office/drawing/2014/main" id="{BC51BFD8-DC7A-E4D9-4E79-6280D0A0DBE2}"/>
              </a:ext>
            </a:extLst>
          </p:cNvPr>
          <p:cNvPicPr>
            <a:picLocks noChangeAspect="1"/>
          </p:cNvPicPr>
          <p:nvPr/>
        </p:nvPicPr>
        <p:blipFill>
          <a:blip r:embed="rId3"/>
          <a:stretch>
            <a:fillRect/>
          </a:stretch>
        </p:blipFill>
        <p:spPr>
          <a:xfrm>
            <a:off x="286548" y="747417"/>
            <a:ext cx="2160721" cy="2160721"/>
          </a:xfrm>
          <a:prstGeom prst="rect">
            <a:avLst/>
          </a:prstGeom>
        </p:spPr>
      </p:pic>
    </p:spTree>
    <p:extLst>
      <p:ext uri="{BB962C8B-B14F-4D97-AF65-F5344CB8AC3E}">
        <p14:creationId xmlns:p14="http://schemas.microsoft.com/office/powerpoint/2010/main" val="2550508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a:t>提案（</a:t>
            </a:r>
            <a:r>
              <a:rPr kumimoji="1" lang="en-US" altLang="ja-JP"/>
              <a:t>File</a:t>
            </a:r>
            <a:r>
              <a:rPr kumimoji="1" lang="ja-JP" altLang="en-US"/>
              <a:t>を</a:t>
            </a:r>
            <a:r>
              <a:rPr kumimoji="1" lang="en-US" altLang="ja-JP"/>
              <a:t>SPO</a:t>
            </a:r>
            <a:r>
              <a:rPr kumimoji="1" lang="ja-JP" altLang="en-US"/>
              <a:t>に保存）</a:t>
            </a:r>
          </a:p>
        </p:txBody>
      </p:sp>
      <p:pic>
        <p:nvPicPr>
          <p:cNvPr id="5"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405399" y="3886352"/>
            <a:ext cx="1670840" cy="960733"/>
          </a:xfrm>
        </p:spPr>
      </p:pic>
      <p:cxnSp>
        <p:nvCxnSpPr>
          <p:cNvPr id="31" name="コネクタ: カギ線 30"/>
          <p:cNvCxnSpPr>
            <a:cxnSpLocks/>
            <a:stCxn id="5" idx="0"/>
            <a:endCxn id="6" idx="1"/>
          </p:cNvCxnSpPr>
          <p:nvPr/>
        </p:nvCxnSpPr>
        <p:spPr>
          <a:xfrm rot="5400000" flipH="1" flipV="1">
            <a:off x="1614984" y="1253431"/>
            <a:ext cx="2258756" cy="3007086"/>
          </a:xfrm>
          <a:prstGeom prst="bentConnector2">
            <a:avLst/>
          </a:prstGeom>
          <a:ln w="25400" cap="flat" cmpd="sng" algn="ctr">
            <a:solidFill>
              <a:srgbClr val="C00000"/>
            </a:solidFill>
            <a:prstDash val="solid"/>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ひし形 33"/>
          <p:cNvSpPr/>
          <p:nvPr/>
        </p:nvSpPr>
        <p:spPr>
          <a:xfrm>
            <a:off x="5795886" y="236376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7" name="コネクタ: カギ線 36"/>
          <p:cNvCxnSpPr>
            <a:cxnSpLocks/>
            <a:stCxn id="24" idx="0"/>
            <a:endCxn id="34" idx="1"/>
          </p:cNvCxnSpPr>
          <p:nvPr/>
        </p:nvCxnSpPr>
        <p:spPr>
          <a:xfrm rot="5400000" flipH="1" flipV="1">
            <a:off x="2963313" y="1007717"/>
            <a:ext cx="1442329" cy="4222817"/>
          </a:xfrm>
          <a:prstGeom prst="bentConnector2">
            <a:avLst/>
          </a:prstGeom>
          <a:ln w="25400" cap="flat" cmpd="sng" algn="ctr">
            <a:solidFill>
              <a:schemeClr val="accent2">
                <a:lumMod val="60000"/>
                <a:lumOff val="40000"/>
              </a:schemeClr>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1267691" y="1613776"/>
            <a:ext cx="3182428" cy="430887"/>
          </a:xfrm>
          <a:prstGeom prst="rect">
            <a:avLst/>
          </a:prstGeom>
          <a:noFill/>
        </p:spPr>
        <p:txBody>
          <a:bodyPr wrap="square" rtlCol="0">
            <a:spAutoFit/>
          </a:bodyPr>
          <a:lstStyle/>
          <a:p>
            <a:r>
              <a:rPr kumimoji="1" lang="ja-JP" altLang="en-US" sz="1100" dirty="0">
                <a:solidFill>
                  <a:srgbClr val="C00000"/>
                </a:solidFill>
              </a:rPr>
              <a:t>定型データの取得、表示、更新</a:t>
            </a:r>
            <a:endParaRPr kumimoji="1" lang="en-US" altLang="ja-JP" sz="1100" dirty="0">
              <a:solidFill>
                <a:srgbClr val="C00000"/>
              </a:solidFill>
            </a:endParaRPr>
          </a:p>
          <a:p>
            <a:r>
              <a:rPr kumimoji="1" lang="ja-JP" altLang="en-US" sz="1100" dirty="0">
                <a:solidFill>
                  <a:srgbClr val="C00000"/>
                </a:solidFill>
              </a:rPr>
              <a:t>仕様書に紐付いた添付ファイルの情報</a:t>
            </a:r>
            <a:r>
              <a:rPr lang="ja-JP" altLang="en-US" sz="1100" dirty="0">
                <a:solidFill>
                  <a:srgbClr val="C00000"/>
                </a:solidFill>
              </a:rPr>
              <a:t>管理</a:t>
            </a:r>
            <a:endParaRPr kumimoji="1" lang="ja-JP" altLang="en-US" sz="1100" dirty="0">
              <a:solidFill>
                <a:srgbClr val="C00000"/>
              </a:solidFill>
            </a:endParaRPr>
          </a:p>
        </p:txBody>
      </p:sp>
      <p:sp>
        <p:nvSpPr>
          <p:cNvPr id="42" name="ひし形 41"/>
          <p:cNvSpPr/>
          <p:nvPr/>
        </p:nvSpPr>
        <p:spPr>
          <a:xfrm>
            <a:off x="1859442"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44" name="テキスト ボックス 43"/>
          <p:cNvSpPr txBox="1"/>
          <p:nvPr/>
        </p:nvSpPr>
        <p:spPr>
          <a:xfrm>
            <a:off x="1794795" y="2168422"/>
            <a:ext cx="2646688" cy="261610"/>
          </a:xfrm>
          <a:prstGeom prst="rect">
            <a:avLst/>
          </a:prstGeom>
          <a:noFill/>
        </p:spPr>
        <p:txBody>
          <a:bodyPr wrap="square" rtlCol="0">
            <a:spAutoFit/>
          </a:bodyPr>
          <a:lstStyle/>
          <a:p>
            <a:pPr algn="ctr"/>
            <a:r>
              <a:rPr kumimoji="1" lang="ja-JP" altLang="en-US" sz="1100" dirty="0">
                <a:solidFill>
                  <a:schemeClr val="accent1">
                    <a:lumMod val="60000"/>
                    <a:lumOff val="40000"/>
                  </a:schemeClr>
                </a:solidFill>
              </a:rPr>
              <a:t>添付ファイル履歴取得、情報表示</a:t>
            </a:r>
            <a:endParaRPr kumimoji="1" lang="en-US" altLang="ja-JP" sz="1100" dirty="0">
              <a:solidFill>
                <a:schemeClr val="accent1">
                  <a:lumMod val="60000"/>
                  <a:lumOff val="40000"/>
                </a:schemeClr>
              </a:solidFill>
            </a:endParaRPr>
          </a:p>
        </p:txBody>
      </p:sp>
      <p:cxnSp>
        <p:nvCxnSpPr>
          <p:cNvPr id="45" name="コネクタ: カギ線 44"/>
          <p:cNvCxnSpPr>
            <a:cxnSpLocks/>
            <a:stCxn id="48" idx="1"/>
            <a:endCxn id="42" idx="0"/>
          </p:cNvCxnSpPr>
          <p:nvPr/>
        </p:nvCxnSpPr>
        <p:spPr>
          <a:xfrm rot="10800000" flipV="1">
            <a:off x="1894314" y="2931595"/>
            <a:ext cx="3901573" cy="908694"/>
          </a:xfrm>
          <a:prstGeom prst="bentConnector2">
            <a:avLst/>
          </a:prstGeom>
          <a:ln w="25400" cap="flat" cmpd="sng" algn="ctr">
            <a:solidFill>
              <a:srgbClr val="0070C0"/>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ひし形 47"/>
          <p:cNvSpPr/>
          <p:nvPr/>
        </p:nvSpPr>
        <p:spPr>
          <a:xfrm>
            <a:off x="5795886" y="289739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51" name="テキスト ボックス 50"/>
          <p:cNvSpPr txBox="1"/>
          <p:nvPr/>
        </p:nvSpPr>
        <p:spPr>
          <a:xfrm>
            <a:off x="3042970" y="4002918"/>
            <a:ext cx="2396378" cy="1092607"/>
          </a:xfrm>
          <a:prstGeom prst="rect">
            <a:avLst/>
          </a:prstGeom>
          <a:noFill/>
        </p:spPr>
        <p:txBody>
          <a:bodyPr wrap="square" rtlCol="0">
            <a:spAutoFit/>
          </a:bodyPr>
          <a:lstStyle/>
          <a:p>
            <a:r>
              <a:rPr lang="en-US" altLang="ja-JP" sz="1100" dirty="0"/>
              <a:t>Flow</a:t>
            </a:r>
            <a:r>
              <a:rPr lang="ja-JP" altLang="en-US" sz="1100" dirty="0"/>
              <a:t>で添付ファイルの</a:t>
            </a:r>
            <a:r>
              <a:rPr lang="en-US" altLang="ja-JP" sz="1100" dirty="0"/>
              <a:t>Upload</a:t>
            </a:r>
            <a:r>
              <a:rPr lang="ja-JP" altLang="en-US" sz="1100" dirty="0"/>
              <a:t>実現</a:t>
            </a:r>
            <a:endParaRPr lang="en-US" altLang="ja-JP" sz="1100" dirty="0"/>
          </a:p>
          <a:p>
            <a:pPr marL="228600" indent="-228600">
              <a:buFont typeface="+mj-lt"/>
              <a:buAutoNum type="arabicPeriod"/>
            </a:pPr>
            <a:r>
              <a:rPr lang="ja-JP" altLang="en-US" sz="900" dirty="0"/>
              <a:t>保存場所の特定</a:t>
            </a:r>
            <a:endParaRPr lang="en-US" altLang="ja-JP" sz="900" dirty="0"/>
          </a:p>
          <a:p>
            <a:pPr marL="228600" indent="-228600">
              <a:buFont typeface="+mj-lt"/>
              <a:buAutoNum type="arabicPeriod"/>
            </a:pPr>
            <a:r>
              <a:rPr lang="ja-JP" altLang="en-US" sz="900" dirty="0"/>
              <a:t>ファイルを</a:t>
            </a:r>
            <a:r>
              <a:rPr lang="en-US" altLang="ja-JP" sz="900" dirty="0"/>
              <a:t>SPO</a:t>
            </a:r>
            <a:r>
              <a:rPr lang="ja-JP" altLang="en-US" sz="900" dirty="0"/>
              <a:t>の場所に</a:t>
            </a:r>
            <a:r>
              <a:rPr lang="en-US" altLang="ja-JP" sz="900" dirty="0"/>
              <a:t>Upload</a:t>
            </a:r>
          </a:p>
          <a:p>
            <a:pPr marL="228600" indent="-228600">
              <a:buFont typeface="+mj-lt"/>
              <a:buAutoNum type="arabicPeriod"/>
            </a:pPr>
            <a:r>
              <a:rPr lang="ja-JP" altLang="en-US" sz="900" dirty="0"/>
              <a:t>ファイルの権限を設定（共有相手個人、組織のみに与える）</a:t>
            </a:r>
            <a:endParaRPr lang="en-US" altLang="ja-JP" sz="900" dirty="0"/>
          </a:p>
          <a:p>
            <a:pPr marL="228600" indent="-228600">
              <a:buFont typeface="+mj-lt"/>
              <a:buAutoNum type="arabicPeriod"/>
            </a:pPr>
            <a:r>
              <a:rPr lang="ja-JP" altLang="en-US" sz="900" dirty="0"/>
              <a:t>仕様書</a:t>
            </a:r>
            <a:r>
              <a:rPr lang="en-US" altLang="ja-JP" sz="900" dirty="0"/>
              <a:t>Table</a:t>
            </a:r>
            <a:r>
              <a:rPr lang="ja-JP" altLang="en-US" sz="900" dirty="0"/>
              <a:t>に添付ファイル情報を登録する</a:t>
            </a:r>
            <a:endParaRPr lang="en-US" altLang="ja-JP" sz="900" dirty="0"/>
          </a:p>
        </p:txBody>
      </p:sp>
      <p:pic>
        <p:nvPicPr>
          <p:cNvPr id="58" name="図 57" descr="グラフィカル ユーザー インターフェイス, アプリケーション, テーブル, Excel"/>
          <p:cNvPicPr>
            <a:picLocks noChangeAspect="1"/>
          </p:cNvPicPr>
          <p:nvPr/>
        </p:nvPicPr>
        <p:blipFill>
          <a:blip r:embed="rId4"/>
          <a:stretch>
            <a:fillRect/>
          </a:stretch>
        </p:blipFill>
        <p:spPr>
          <a:xfrm>
            <a:off x="5578474" y="4154963"/>
            <a:ext cx="1932302" cy="954124"/>
          </a:xfrm>
          <a:prstGeom prst="rect">
            <a:avLst/>
          </a:prstGeom>
        </p:spPr>
      </p:pic>
      <p:sp>
        <p:nvSpPr>
          <p:cNvPr id="108" name="ひし形 107"/>
          <p:cNvSpPr/>
          <p:nvPr/>
        </p:nvSpPr>
        <p:spPr>
          <a:xfrm>
            <a:off x="2032069" y="46335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20" name="ひし形 119"/>
          <p:cNvSpPr/>
          <p:nvPr/>
        </p:nvSpPr>
        <p:spPr>
          <a:xfrm>
            <a:off x="2032069" y="47859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 name="テキスト ボックス 2"/>
          <p:cNvSpPr txBox="1"/>
          <p:nvPr/>
        </p:nvSpPr>
        <p:spPr>
          <a:xfrm>
            <a:off x="6339290" y="4785905"/>
            <a:ext cx="1473268" cy="307777"/>
          </a:xfrm>
          <a:prstGeom prst="rect">
            <a:avLst/>
          </a:prstGeom>
          <a:noFill/>
        </p:spPr>
        <p:txBody>
          <a:bodyPr wrap="square" rtlCol="0">
            <a:spAutoFit/>
          </a:bodyPr>
          <a:lstStyle/>
          <a:p>
            <a:pPr algn="ctr"/>
            <a:r>
              <a:rPr kumimoji="1" lang="en-US" altLang="ja-JP" sz="1400" dirty="0"/>
              <a:t>Office 365 App</a:t>
            </a:r>
            <a:endParaRPr kumimoji="1" lang="ja-JP" altLang="en-US" sz="1400" dirty="0"/>
          </a:p>
        </p:txBody>
      </p:sp>
      <p:sp>
        <p:nvSpPr>
          <p:cNvPr id="12" name="テキスト ボックス 11"/>
          <p:cNvSpPr txBox="1"/>
          <p:nvPr/>
        </p:nvSpPr>
        <p:spPr>
          <a:xfrm>
            <a:off x="-4275" y="7010297"/>
            <a:ext cx="11599481" cy="938719"/>
          </a:xfrm>
          <a:prstGeom prst="rect">
            <a:avLst/>
          </a:prstGeom>
          <a:noFill/>
          <a:ln w="9525" cap="flat" cmpd="sng" algn="ctr">
            <a:solidFill>
              <a:schemeClr val="tx1"/>
            </a:solidFill>
            <a:prstDash val="solid"/>
            <a:round/>
            <a:headEnd type="oval" w="med" len="med"/>
            <a:tailEnd type="oval" w="med" len="med"/>
          </a:ln>
        </p:spPr>
        <p:txBody>
          <a:bodyPr wrap="square">
            <a:spAutoFit/>
          </a:bodyPr>
          <a:lstStyle/>
          <a:p>
            <a:r>
              <a:rPr lang="ja-JP" altLang="en-US" sz="1100"/>
              <a:t>平行編集：</a:t>
            </a:r>
          </a:p>
          <a:p>
            <a:r>
              <a:rPr lang="ja-JP" altLang="en-US" sz="1100"/>
              <a:t>１．同じユーザは複数回同じ文書を開く場合、（連打）　　ー　App設計・実装に考慮要</a:t>
            </a:r>
          </a:p>
          <a:p>
            <a:r>
              <a:rPr lang="ja-JP" altLang="en-US" sz="1100"/>
              <a:t>２．異なるユーザは同じ文書を同時に編集すること　　ー　当面不要だと聞いたが、必要としたら、実現できる。</a:t>
            </a:r>
          </a:p>
          <a:p>
            <a:r>
              <a:rPr lang="ja-JP" altLang="en-US" sz="1100"/>
              <a:t>３．Power AutomationのFlowの異常処理 </a:t>
            </a:r>
            <a:r>
              <a:rPr lang="en-US" altLang="ja-JP" sz="1100"/>
              <a:t>(</a:t>
            </a:r>
            <a:r>
              <a:rPr lang="ja-JP" altLang="en-US" sz="1100"/>
              <a:t>利用者の本人に送信したい</a:t>
            </a:r>
            <a:r>
              <a:rPr lang="en-US" altLang="ja-JP" sz="1100"/>
              <a:t>)</a:t>
            </a:r>
          </a:p>
          <a:p>
            <a:r>
              <a:rPr lang="ja-JP" altLang="en-US" sz="1100"/>
              <a:t>４．ファイルの自動保存（</a:t>
            </a:r>
            <a:r>
              <a:rPr lang="en-US" altLang="ja-JP" sz="1100" err="1"/>
              <a:t>LocalApp</a:t>
            </a:r>
            <a:r>
              <a:rPr lang="ja-JP" altLang="en-US" sz="1100"/>
              <a:t>で開いた場合）の設定</a:t>
            </a:r>
            <a:r>
              <a:rPr lang="en-US" altLang="ja-JP" sz="1100"/>
              <a:t>Manual</a:t>
            </a:r>
            <a:r>
              <a:rPr lang="ja-JP" altLang="en-US" sz="1100"/>
              <a:t>が必要かも。</a:t>
            </a:r>
          </a:p>
        </p:txBody>
      </p:sp>
      <p:pic>
        <p:nvPicPr>
          <p:cNvPr id="13" name="図 12" descr="グラフィカル ユーザー インターフェイス, アプリケーション&#10;&#10;AI によって生成されたコンテンツは間違っている可能性があります。"/>
          <p:cNvPicPr>
            <a:picLocks noChangeAspect="1"/>
          </p:cNvPicPr>
          <p:nvPr/>
        </p:nvPicPr>
        <p:blipFill>
          <a:blip r:embed="rId5"/>
          <a:stretch>
            <a:fillRect/>
          </a:stretch>
        </p:blipFill>
        <p:spPr>
          <a:xfrm>
            <a:off x="3672300" y="3318715"/>
            <a:ext cx="568859" cy="490428"/>
          </a:xfrm>
          <a:prstGeom prst="rect">
            <a:avLst/>
          </a:prstGeom>
        </p:spPr>
      </p:pic>
      <p:pic>
        <p:nvPicPr>
          <p:cNvPr id="4" name="図 3" descr="ロゴ, アイコン&#10;&#10;AI によって生成されたコンテンツは間違っている可能性があります。"/>
          <p:cNvPicPr>
            <a:picLocks noChangeAspect="1"/>
          </p:cNvPicPr>
          <p:nvPr/>
        </p:nvPicPr>
        <p:blipFill>
          <a:blip r:embed="rId6"/>
          <a:stretch>
            <a:fillRect/>
          </a:stretch>
        </p:blipFill>
        <p:spPr>
          <a:xfrm>
            <a:off x="5926738" y="2125093"/>
            <a:ext cx="1235775" cy="1207970"/>
          </a:xfrm>
          <a:prstGeom prst="rect">
            <a:avLst/>
          </a:prstGeom>
        </p:spPr>
      </p:pic>
      <p:cxnSp>
        <p:nvCxnSpPr>
          <p:cNvPr id="7" name="コネクタ: カギ線 6"/>
          <p:cNvCxnSpPr>
            <a:cxnSpLocks/>
            <a:stCxn id="4" idx="2"/>
            <a:endCxn id="58" idx="0"/>
          </p:cNvCxnSpPr>
          <p:nvPr/>
        </p:nvCxnSpPr>
        <p:spPr>
          <a:xfrm rot="5400000">
            <a:off x="6133676" y="3744013"/>
            <a:ext cx="821900" cy="1"/>
          </a:xfrm>
          <a:prstGeom prst="bentConnector3">
            <a:avLst>
              <a:gd name="adj1" fmla="val 50000"/>
            </a:avLst>
          </a:prstGeom>
          <a:ln w="25400" cap="flat" cmpd="sng" algn="ctr">
            <a:solidFill>
              <a:schemeClr val="tx1"/>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5142850" y="1344985"/>
            <a:ext cx="1906300" cy="577081"/>
          </a:xfrm>
          <a:prstGeom prst="rect">
            <a:avLst/>
          </a:prstGeom>
          <a:noFill/>
          <a:ln w="9525" cap="flat" cmpd="sng" algn="ctr">
            <a:noFill/>
            <a:prstDash val="solid"/>
            <a:round/>
            <a:headEnd type="oval" w="med" len="med"/>
            <a:tailEnd type="oval" w="med" len="med"/>
          </a:ln>
        </p:spPr>
        <p:txBody>
          <a:bodyPr wrap="square">
            <a:spAutoFit/>
          </a:bodyPr>
          <a:lstStyle/>
          <a:p>
            <a:r>
              <a:rPr kumimoji="1" lang="ja-JP" altLang="en-US" sz="1050" dirty="0"/>
              <a:t>定型データ</a:t>
            </a:r>
            <a:endParaRPr kumimoji="1" lang="en-US" altLang="ja-JP" sz="1050" dirty="0"/>
          </a:p>
          <a:p>
            <a:r>
              <a:rPr kumimoji="1" lang="ja-JP" altLang="en-US" sz="1050" dirty="0"/>
              <a:t>仕様書アクセス権限定義</a:t>
            </a:r>
            <a:r>
              <a:rPr kumimoji="1" lang="en-US" altLang="ja-JP" sz="1050" dirty="0"/>
              <a:t>TBL</a:t>
            </a:r>
          </a:p>
          <a:p>
            <a:r>
              <a:rPr kumimoji="1" lang="ja-JP" altLang="en-US" sz="1050" dirty="0"/>
              <a:t>保存場所</a:t>
            </a:r>
          </a:p>
        </p:txBody>
      </p:sp>
      <p:sp>
        <p:nvSpPr>
          <p:cNvPr id="21" name="テキスト ボックス 20"/>
          <p:cNvSpPr txBox="1"/>
          <p:nvPr/>
        </p:nvSpPr>
        <p:spPr>
          <a:xfrm>
            <a:off x="6890208" y="2222283"/>
            <a:ext cx="1676704" cy="577081"/>
          </a:xfrm>
          <a:prstGeom prst="rect">
            <a:avLst/>
          </a:prstGeom>
          <a:noFill/>
          <a:ln w="9525" cap="flat" cmpd="sng" algn="ctr">
            <a:noFill/>
            <a:prstDash val="solid"/>
            <a:round/>
            <a:headEnd type="oval" w="med" len="med"/>
            <a:tailEnd type="oval" w="med" len="med"/>
          </a:ln>
        </p:spPr>
        <p:txBody>
          <a:bodyPr wrap="square">
            <a:spAutoFit/>
          </a:bodyPr>
          <a:lstStyle/>
          <a:p>
            <a:r>
              <a:rPr kumimoji="1" lang="ja-JP" altLang="en-US" sz="1050" dirty="0"/>
              <a:t>添付ファイル保存場所</a:t>
            </a:r>
            <a:endParaRPr kumimoji="1" lang="en-US" altLang="ja-JP" sz="1050" dirty="0"/>
          </a:p>
          <a:p>
            <a:r>
              <a:rPr lang="ja-JP" altLang="en-US" sz="1050" dirty="0"/>
              <a:t>ファイル毎に</a:t>
            </a:r>
            <a:r>
              <a:rPr lang="en-US" altLang="ja-JP" sz="1050" dirty="0"/>
              <a:t>SPO</a:t>
            </a:r>
            <a:r>
              <a:rPr lang="ja-JP" altLang="en-US" sz="1050" dirty="0"/>
              <a:t>の権限設定を付ける</a:t>
            </a:r>
            <a:endParaRPr kumimoji="1" lang="ja-JP" altLang="en-US" sz="1050" dirty="0"/>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E19EBD56-F527-2DAA-35B7-007D2FFADB00}"/>
              </a:ext>
            </a:extLst>
          </p:cNvPr>
          <p:cNvPicPr>
            <a:picLocks noChangeAspect="1"/>
          </p:cNvPicPr>
          <p:nvPr/>
        </p:nvPicPr>
        <p:blipFill>
          <a:blip r:embed="rId7"/>
          <a:stretch>
            <a:fillRect/>
          </a:stretch>
        </p:blipFill>
        <p:spPr>
          <a:xfrm>
            <a:off x="4247905" y="1251509"/>
            <a:ext cx="1253623" cy="752174"/>
          </a:xfrm>
          <a:prstGeom prst="rect">
            <a:avLst/>
          </a:prstGeom>
        </p:spPr>
      </p:pic>
      <p:sp>
        <p:nvSpPr>
          <p:cNvPr id="14" name="ひし形 13">
            <a:extLst>
              <a:ext uri="{FF2B5EF4-FFF2-40B4-BE49-F238E27FC236}">
                <a16:creationId xmlns:a16="http://schemas.microsoft.com/office/drawing/2014/main" id="{1619088F-7B7F-0D0C-5777-52622828AA8C}"/>
              </a:ext>
            </a:extLst>
          </p:cNvPr>
          <p:cNvSpPr/>
          <p:nvPr/>
        </p:nvSpPr>
        <p:spPr>
          <a:xfrm>
            <a:off x="5795886" y="300367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7" name="コネクタ: カギ線 16">
            <a:extLst>
              <a:ext uri="{FF2B5EF4-FFF2-40B4-BE49-F238E27FC236}">
                <a16:creationId xmlns:a16="http://schemas.microsoft.com/office/drawing/2014/main" id="{C4DE77CA-DFAB-26B5-00F6-CBF86ECEAD93}"/>
              </a:ext>
            </a:extLst>
          </p:cNvPr>
          <p:cNvCxnSpPr>
            <a:cxnSpLocks/>
            <a:stCxn id="14" idx="1"/>
            <a:endCxn id="23" idx="3"/>
          </p:cNvCxnSpPr>
          <p:nvPr/>
        </p:nvCxnSpPr>
        <p:spPr>
          <a:xfrm rot="10800000" flipV="1">
            <a:off x="2126046" y="3037871"/>
            <a:ext cx="3669840" cy="995755"/>
          </a:xfrm>
          <a:prstGeom prst="bentConnector3">
            <a:avLst>
              <a:gd name="adj1" fmla="val 50000"/>
            </a:avLst>
          </a:prstGeom>
          <a:ln w="25400" cap="flat" cmpd="sng" algn="ctr">
            <a:solidFill>
              <a:schemeClr val="tx1"/>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ひし形 22">
            <a:extLst>
              <a:ext uri="{FF2B5EF4-FFF2-40B4-BE49-F238E27FC236}">
                <a16:creationId xmlns:a16="http://schemas.microsoft.com/office/drawing/2014/main" id="{A5308BAA-F461-69B7-7151-C49EA7DF0E99}"/>
              </a:ext>
            </a:extLst>
          </p:cNvPr>
          <p:cNvSpPr/>
          <p:nvPr/>
        </p:nvSpPr>
        <p:spPr>
          <a:xfrm>
            <a:off x="2056304" y="399942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24" name="ひし形 23">
            <a:extLst>
              <a:ext uri="{FF2B5EF4-FFF2-40B4-BE49-F238E27FC236}">
                <a16:creationId xmlns:a16="http://schemas.microsoft.com/office/drawing/2014/main" id="{4E0DDCAA-842F-A60D-AE15-8B76E1EDCB39}"/>
              </a:ext>
            </a:extLst>
          </p:cNvPr>
          <p:cNvSpPr/>
          <p:nvPr/>
        </p:nvSpPr>
        <p:spPr>
          <a:xfrm>
            <a:off x="1538198"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6" name="コネクタ: カギ線 25">
            <a:extLst>
              <a:ext uri="{FF2B5EF4-FFF2-40B4-BE49-F238E27FC236}">
                <a16:creationId xmlns:a16="http://schemas.microsoft.com/office/drawing/2014/main" id="{46252433-C8EC-5D13-2514-3E602F27D599}"/>
              </a:ext>
            </a:extLst>
          </p:cNvPr>
          <p:cNvCxnSpPr>
            <a:cxnSpLocks/>
            <a:stCxn id="46" idx="0"/>
            <a:endCxn id="30" idx="1"/>
          </p:cNvCxnSpPr>
          <p:nvPr/>
        </p:nvCxnSpPr>
        <p:spPr>
          <a:xfrm rot="5400000" flipH="1" flipV="1">
            <a:off x="3163739" y="1212716"/>
            <a:ext cx="1204006" cy="4060346"/>
          </a:xfrm>
          <a:prstGeom prst="bentConnector2">
            <a:avLst/>
          </a:prstGeom>
          <a:ln w="25400" cap="flat" cmpd="sng" algn="ctr">
            <a:solidFill>
              <a:srgbClr val="00B05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B415C372-EA08-B54F-1F53-F390993AB9D5}"/>
              </a:ext>
            </a:extLst>
          </p:cNvPr>
          <p:cNvSpPr txBox="1"/>
          <p:nvPr/>
        </p:nvSpPr>
        <p:spPr>
          <a:xfrm>
            <a:off x="1790319" y="2419346"/>
            <a:ext cx="4174895" cy="261610"/>
          </a:xfrm>
          <a:prstGeom prst="rect">
            <a:avLst/>
          </a:prstGeom>
          <a:noFill/>
        </p:spPr>
        <p:txBody>
          <a:bodyPr wrap="square" rtlCol="0">
            <a:spAutoFit/>
          </a:bodyPr>
          <a:lstStyle/>
          <a:p>
            <a:pPr algn="ctr"/>
            <a:r>
              <a:rPr kumimoji="1" lang="ja-JP" altLang="en-US" sz="1100" dirty="0">
                <a:solidFill>
                  <a:srgbClr val="00B050"/>
                </a:solidFill>
              </a:rPr>
              <a:t>個別添付ファイルのダウンロード</a:t>
            </a:r>
            <a:r>
              <a:rPr kumimoji="1" lang="en-US" altLang="ja-JP" sz="900" dirty="0">
                <a:solidFill>
                  <a:srgbClr val="00B050"/>
                </a:solidFill>
              </a:rPr>
              <a:t>(Power Apps</a:t>
            </a:r>
            <a:r>
              <a:rPr kumimoji="1" lang="ja-JP" altLang="en-US" sz="900" dirty="0">
                <a:solidFill>
                  <a:srgbClr val="00B050"/>
                </a:solidFill>
              </a:rPr>
              <a:t>の</a:t>
            </a:r>
            <a:r>
              <a:rPr kumimoji="1" lang="en-US" altLang="ja-JP" sz="900" dirty="0">
                <a:solidFill>
                  <a:srgbClr val="00B050"/>
                </a:solidFill>
              </a:rPr>
              <a:t>Download</a:t>
            </a:r>
            <a:r>
              <a:rPr kumimoji="1" lang="ja-JP" altLang="en-US" sz="900" dirty="0">
                <a:solidFill>
                  <a:srgbClr val="00B050"/>
                </a:solidFill>
              </a:rPr>
              <a:t>機能利用</a:t>
            </a:r>
            <a:r>
              <a:rPr kumimoji="1" lang="en-US" altLang="ja-JP" sz="900" dirty="0">
                <a:solidFill>
                  <a:srgbClr val="00B050"/>
                </a:solidFill>
              </a:rPr>
              <a:t>)</a:t>
            </a:r>
            <a:endParaRPr kumimoji="1" lang="en-US" altLang="ja-JP" sz="1200" dirty="0">
              <a:solidFill>
                <a:srgbClr val="00B050"/>
              </a:solidFill>
            </a:endParaRPr>
          </a:p>
        </p:txBody>
      </p:sp>
      <p:sp>
        <p:nvSpPr>
          <p:cNvPr id="30" name="ひし形 29">
            <a:extLst>
              <a:ext uri="{FF2B5EF4-FFF2-40B4-BE49-F238E27FC236}">
                <a16:creationId xmlns:a16="http://schemas.microsoft.com/office/drawing/2014/main" id="{6414B766-70CC-E76F-97F9-B6A42C10ACE6}"/>
              </a:ext>
            </a:extLst>
          </p:cNvPr>
          <p:cNvSpPr/>
          <p:nvPr/>
        </p:nvSpPr>
        <p:spPr>
          <a:xfrm>
            <a:off x="5795915" y="2606686"/>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5" name="テキスト ボックス 34">
            <a:extLst>
              <a:ext uri="{FF2B5EF4-FFF2-40B4-BE49-F238E27FC236}">
                <a16:creationId xmlns:a16="http://schemas.microsoft.com/office/drawing/2014/main" id="{6756CA08-3CC2-3435-44E9-93786073E7D4}"/>
              </a:ext>
            </a:extLst>
          </p:cNvPr>
          <p:cNvSpPr txBox="1"/>
          <p:nvPr/>
        </p:nvSpPr>
        <p:spPr>
          <a:xfrm>
            <a:off x="2091175" y="2714377"/>
            <a:ext cx="3425289" cy="261610"/>
          </a:xfrm>
          <a:prstGeom prst="rect">
            <a:avLst/>
          </a:prstGeom>
          <a:noFill/>
        </p:spPr>
        <p:txBody>
          <a:bodyPr wrap="square" rtlCol="0">
            <a:spAutoFit/>
          </a:bodyPr>
          <a:lstStyle/>
          <a:p>
            <a:pPr algn="ctr"/>
            <a:r>
              <a:rPr kumimoji="1" lang="ja-JP" altLang="en-US" sz="1100" dirty="0">
                <a:solidFill>
                  <a:srgbClr val="0070C0"/>
                </a:solidFill>
              </a:rPr>
              <a:t>個別添付ファイルの編集</a:t>
            </a:r>
            <a:r>
              <a:rPr kumimoji="1" lang="en-US" altLang="ja-JP" sz="900" dirty="0">
                <a:solidFill>
                  <a:srgbClr val="0070C0"/>
                </a:solidFill>
              </a:rPr>
              <a:t>(Power Apps</a:t>
            </a:r>
            <a:r>
              <a:rPr kumimoji="1" lang="ja-JP" altLang="en-US" sz="900" dirty="0">
                <a:solidFill>
                  <a:srgbClr val="0070C0"/>
                </a:solidFill>
              </a:rPr>
              <a:t>の</a:t>
            </a:r>
            <a:r>
              <a:rPr kumimoji="1" lang="en-US" altLang="ja-JP" sz="900" dirty="0">
                <a:solidFill>
                  <a:srgbClr val="0070C0"/>
                </a:solidFill>
              </a:rPr>
              <a:t>Launch</a:t>
            </a:r>
            <a:r>
              <a:rPr kumimoji="1" lang="ja-JP" altLang="en-US" sz="900" dirty="0">
                <a:solidFill>
                  <a:srgbClr val="0070C0"/>
                </a:solidFill>
              </a:rPr>
              <a:t>機能利用</a:t>
            </a:r>
            <a:r>
              <a:rPr kumimoji="1" lang="en-US" altLang="ja-JP" sz="900" dirty="0">
                <a:solidFill>
                  <a:srgbClr val="0070C0"/>
                </a:solidFill>
              </a:rPr>
              <a:t>)</a:t>
            </a:r>
            <a:endParaRPr kumimoji="1" lang="en-US" altLang="ja-JP" sz="1200" dirty="0">
              <a:solidFill>
                <a:srgbClr val="0070C0"/>
              </a:solidFill>
            </a:endParaRPr>
          </a:p>
        </p:txBody>
      </p:sp>
      <p:sp>
        <p:nvSpPr>
          <p:cNvPr id="46" name="ひし形 45">
            <a:extLst>
              <a:ext uri="{FF2B5EF4-FFF2-40B4-BE49-F238E27FC236}">
                <a16:creationId xmlns:a16="http://schemas.microsoft.com/office/drawing/2014/main" id="{F445C690-7DD2-4110-1C07-30A31C4D02B4}"/>
              </a:ext>
            </a:extLst>
          </p:cNvPr>
          <p:cNvSpPr/>
          <p:nvPr/>
        </p:nvSpPr>
        <p:spPr>
          <a:xfrm>
            <a:off x="1700698" y="384489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8" name="テキスト ボックス 7">
            <a:extLst>
              <a:ext uri="{FF2B5EF4-FFF2-40B4-BE49-F238E27FC236}">
                <a16:creationId xmlns:a16="http://schemas.microsoft.com/office/drawing/2014/main" id="{ADC0D30C-52F2-1301-716F-2A2B596E39D6}"/>
              </a:ext>
            </a:extLst>
          </p:cNvPr>
          <p:cNvSpPr txBox="1"/>
          <p:nvPr/>
        </p:nvSpPr>
        <p:spPr>
          <a:xfrm>
            <a:off x="6544625" y="3429000"/>
            <a:ext cx="1115541" cy="600164"/>
          </a:xfrm>
          <a:prstGeom prst="rect">
            <a:avLst/>
          </a:prstGeom>
          <a:noFill/>
        </p:spPr>
        <p:txBody>
          <a:bodyPr wrap="square" rtlCol="0">
            <a:spAutoFit/>
          </a:bodyPr>
          <a:lstStyle/>
          <a:p>
            <a:r>
              <a:rPr lang="ja-JP" altLang="en-US" sz="1100" dirty="0"/>
              <a:t>直接アクセス</a:t>
            </a:r>
            <a:r>
              <a:rPr lang="en-US" altLang="ja-JP" sz="1100" dirty="0"/>
              <a:t>(Download/ View/Edit)</a:t>
            </a:r>
            <a:endParaRPr lang="en-US" altLang="ja-JP"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068" y="4220594"/>
            <a:ext cx="1270000" cy="1270000"/>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7CFC232C-62C8-2DC6-3A31-9BFE4CB9075A}"/>
              </a:ext>
            </a:extLst>
          </p:cNvPr>
          <p:cNvSpPr txBox="1"/>
          <p:nvPr/>
        </p:nvSpPr>
        <p:spPr>
          <a:xfrm>
            <a:off x="715256" y="5432602"/>
            <a:ext cx="1111020" cy="276999"/>
          </a:xfrm>
          <a:prstGeom prst="rect">
            <a:avLst/>
          </a:prstGeom>
          <a:noFill/>
        </p:spPr>
        <p:txBody>
          <a:bodyPr wrap="square" rtlCol="0">
            <a:spAutoFit/>
          </a:bodyPr>
          <a:lstStyle/>
          <a:p>
            <a:pPr algn="ctr"/>
            <a:r>
              <a:rPr kumimoji="1" lang="en-US" altLang="ja-JP" sz="1200" dirty="0"/>
              <a:t>Notes DB</a:t>
            </a:r>
            <a:endParaRPr kumimoji="1" lang="ja-JP" altLang="en-US" sz="1200" dirty="0"/>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1881887" y="4713590"/>
            <a:ext cx="1388160" cy="307777"/>
          </a:xfrm>
          <a:prstGeom prst="rect">
            <a:avLst/>
          </a:prstGeom>
          <a:noFill/>
        </p:spPr>
        <p:txBody>
          <a:bodyPr wrap="square" rtlCol="0">
            <a:spAutoFit/>
          </a:bodyPr>
          <a:lstStyle/>
          <a:p>
            <a:pPr algn="ctr"/>
            <a:r>
              <a:rPr lang="ja-JP" altLang="en-US" sz="1400" b="1" dirty="0"/>
              <a:t>エクスポート</a:t>
            </a:r>
            <a:endParaRPr kumimoji="1" lang="ja-JP" altLang="en-US" sz="1400" b="1" dirty="0"/>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extLst>
              <p:ext uri="{D42A27DB-BD31-4B8C-83A1-F6EECF244321}">
                <p14:modId xmlns:p14="http://schemas.microsoft.com/office/powerpoint/2010/main" val="2695955011"/>
              </p:ext>
            </p:extLst>
          </p:nvPr>
        </p:nvGraphicFramePr>
        <p:xfrm>
          <a:off x="535938" y="948205"/>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
        <p:nvSpPr>
          <p:cNvPr id="4" name="四角形: 角を丸くする 3">
            <a:extLst>
              <a:ext uri="{FF2B5EF4-FFF2-40B4-BE49-F238E27FC236}">
                <a16:creationId xmlns:a16="http://schemas.microsoft.com/office/drawing/2014/main" id="{B21B5187-AD49-01AD-A4EA-9232BB096540}"/>
              </a:ext>
            </a:extLst>
          </p:cNvPr>
          <p:cNvSpPr/>
          <p:nvPr/>
        </p:nvSpPr>
        <p:spPr>
          <a:xfrm>
            <a:off x="6191600" y="4539353"/>
            <a:ext cx="1965960" cy="971138"/>
          </a:xfrm>
          <a:prstGeom prst="roundRect">
            <a:avLst>
              <a:gd name="adj" fmla="val 10384"/>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400" dirty="0"/>
              <a:t>Java/Python/PowerShell</a:t>
            </a:r>
          </a:p>
          <a:p>
            <a:pPr algn="ctr"/>
            <a:r>
              <a:rPr lang="ja-JP" altLang="en-US" sz="1400" dirty="0"/>
              <a:t>ツール</a:t>
            </a:r>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91D2EBA0-8D8B-4A96-5DFA-D52C0DD23A7A}"/>
              </a:ext>
            </a:extLst>
          </p:cNvPr>
          <p:cNvPicPr>
            <a:picLocks noChangeAspect="1"/>
          </p:cNvPicPr>
          <p:nvPr/>
        </p:nvPicPr>
        <p:blipFill>
          <a:blip r:embed="rId4"/>
          <a:stretch>
            <a:fillRect/>
          </a:stretch>
        </p:blipFill>
        <p:spPr>
          <a:xfrm>
            <a:off x="8951309" y="4461654"/>
            <a:ext cx="1877560" cy="1126536"/>
          </a:xfrm>
          <a:prstGeom prst="rect">
            <a:avLst/>
          </a:prstGeom>
        </p:spPr>
      </p:pic>
      <p:sp>
        <p:nvSpPr>
          <p:cNvPr id="15" name="矢印: ストライプ 14">
            <a:extLst>
              <a:ext uri="{FF2B5EF4-FFF2-40B4-BE49-F238E27FC236}">
                <a16:creationId xmlns:a16="http://schemas.microsoft.com/office/drawing/2014/main" id="{D0B0EC3F-433B-0223-2F5B-DF14F0B375D3}"/>
              </a:ext>
            </a:extLst>
          </p:cNvPr>
          <p:cNvSpPr/>
          <p:nvPr/>
        </p:nvSpPr>
        <p:spPr>
          <a:xfrm>
            <a:off x="5074291" y="4637524"/>
            <a:ext cx="1021708" cy="774796"/>
          </a:xfrm>
          <a:prstGeom prst="strip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ja-JP" altLang="en-US">
              <a:solidFill>
                <a:schemeClr val="dk1"/>
              </a:solidFill>
            </a:endParaRPr>
          </a:p>
        </p:txBody>
      </p:sp>
      <p:grpSp>
        <p:nvGrpSpPr>
          <p:cNvPr id="17" name="グループ化 16">
            <a:extLst>
              <a:ext uri="{FF2B5EF4-FFF2-40B4-BE49-F238E27FC236}">
                <a16:creationId xmlns:a16="http://schemas.microsoft.com/office/drawing/2014/main" id="{A8953697-4D99-227D-2ED8-0BCC6BCF7026}"/>
              </a:ext>
            </a:extLst>
          </p:cNvPr>
          <p:cNvGrpSpPr/>
          <p:nvPr/>
        </p:nvGrpSpPr>
        <p:grpSpPr>
          <a:xfrm>
            <a:off x="3173511" y="3594674"/>
            <a:ext cx="1843911" cy="2640970"/>
            <a:chOff x="4059986" y="3540472"/>
            <a:chExt cx="1843911" cy="2640970"/>
          </a:xfrm>
        </p:grpSpPr>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8253" y="3540472"/>
              <a:ext cx="1270000" cy="1270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Xml file - Free files and folders icons">
              <a:extLst>
                <a:ext uri="{FF2B5EF4-FFF2-40B4-BE49-F238E27FC236}">
                  <a16:creationId xmlns:a16="http://schemas.microsoft.com/office/drawing/2014/main" id="{68CE97E2-BC10-25C7-CA19-22C0A771AB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4501" y="4918249"/>
              <a:ext cx="920302" cy="9203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Json filetype - ファイルとフォルダ アイコン">
              <a:extLst>
                <a:ext uri="{FF2B5EF4-FFF2-40B4-BE49-F238E27FC236}">
                  <a16:creationId xmlns:a16="http://schemas.microsoft.com/office/drawing/2014/main" id="{A00E15C1-3273-7F5E-9EC7-1604B77EEA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3253" y="5244446"/>
              <a:ext cx="705871" cy="705871"/>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9CE3C64D-E113-3D67-3C6C-6348C31AC249}"/>
                </a:ext>
              </a:extLst>
            </p:cNvPr>
            <p:cNvSpPr txBox="1"/>
            <p:nvPr/>
          </p:nvSpPr>
          <p:spPr>
            <a:xfrm>
              <a:off x="4059986" y="5904443"/>
              <a:ext cx="1820182" cy="276999"/>
            </a:xfrm>
            <a:prstGeom prst="rect">
              <a:avLst/>
            </a:prstGeom>
            <a:noFill/>
          </p:spPr>
          <p:txBody>
            <a:bodyPr wrap="square" rtlCol="0">
              <a:spAutoFit/>
            </a:bodyPr>
            <a:lstStyle/>
            <a:p>
              <a:pPr algn="ctr"/>
              <a:r>
                <a:rPr lang="en-US" altLang="ja-JP" sz="1200" dirty="0"/>
                <a:t>DB</a:t>
              </a:r>
              <a:r>
                <a:rPr lang="ja-JP" altLang="en-US" sz="1200" dirty="0"/>
                <a:t>毎の</a:t>
              </a:r>
              <a:r>
                <a:rPr lang="en-US" altLang="ja-JP" sz="1200" dirty="0"/>
                <a:t>Mapping</a:t>
              </a:r>
              <a:r>
                <a:rPr lang="ja-JP" altLang="en-US" sz="1200" dirty="0"/>
                <a:t>ファイル</a:t>
              </a:r>
              <a:endParaRPr kumimoji="1" lang="ja-JP" altLang="en-US" sz="1200" dirty="0"/>
            </a:p>
          </p:txBody>
        </p:sp>
        <p:sp>
          <p:nvSpPr>
            <p:cNvPr id="16" name="右中かっこ 15">
              <a:extLst>
                <a:ext uri="{FF2B5EF4-FFF2-40B4-BE49-F238E27FC236}">
                  <a16:creationId xmlns:a16="http://schemas.microsoft.com/office/drawing/2014/main" id="{394D9695-8E1C-EFB3-3045-07AEC1091EE6}"/>
                </a:ext>
              </a:extLst>
            </p:cNvPr>
            <p:cNvSpPr/>
            <p:nvPr/>
          </p:nvSpPr>
          <p:spPr>
            <a:xfrm>
              <a:off x="5496503" y="4407452"/>
              <a:ext cx="407394" cy="1372497"/>
            </a:xfrm>
            <a:prstGeom prst="rightBrace">
              <a:avLst>
                <a:gd name="adj1" fmla="val 23296"/>
                <a:gd name="adj2" fmla="val 41837"/>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2" name="テキスト ボックス 11">
            <a:extLst>
              <a:ext uri="{FF2B5EF4-FFF2-40B4-BE49-F238E27FC236}">
                <a16:creationId xmlns:a16="http://schemas.microsoft.com/office/drawing/2014/main" id="{51FCB6B3-6A09-8DE3-6FD0-338CBD6BE480}"/>
              </a:ext>
            </a:extLst>
          </p:cNvPr>
          <p:cNvSpPr txBox="1"/>
          <p:nvPr/>
        </p:nvSpPr>
        <p:spPr>
          <a:xfrm>
            <a:off x="1826276" y="5789367"/>
            <a:ext cx="1310206" cy="307777"/>
          </a:xfrm>
          <a:prstGeom prst="rect">
            <a:avLst/>
          </a:prstGeom>
          <a:noFill/>
        </p:spPr>
        <p:txBody>
          <a:bodyPr wrap="square" rtlCol="0">
            <a:spAutoFit/>
          </a:bodyPr>
          <a:lstStyle/>
          <a:p>
            <a:pPr algn="ctr"/>
            <a:r>
              <a:rPr lang="ja-JP" altLang="en-US" sz="1400" b="1" dirty="0"/>
              <a:t>分析、作成</a:t>
            </a:r>
            <a:endParaRPr kumimoji="1" lang="ja-JP" altLang="en-US" sz="1400" b="1" dirty="0"/>
          </a:p>
        </p:txBody>
      </p:sp>
      <p:sp>
        <p:nvSpPr>
          <p:cNvPr id="18" name="四角形: 角を丸くする 17">
            <a:extLst>
              <a:ext uri="{FF2B5EF4-FFF2-40B4-BE49-F238E27FC236}">
                <a16:creationId xmlns:a16="http://schemas.microsoft.com/office/drawing/2014/main" id="{30C8E0F6-7AAD-9E23-382D-2140A28E85AB}"/>
              </a:ext>
            </a:extLst>
          </p:cNvPr>
          <p:cNvSpPr/>
          <p:nvPr/>
        </p:nvSpPr>
        <p:spPr>
          <a:xfrm>
            <a:off x="6158424" y="3324278"/>
            <a:ext cx="1965960" cy="458751"/>
          </a:xfrm>
          <a:prstGeom prst="roundRect">
            <a:avLst>
              <a:gd name="adj" fmla="val 10384"/>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400" dirty="0"/>
              <a:t>比較ツール</a:t>
            </a:r>
          </a:p>
        </p:txBody>
      </p:sp>
      <p:sp>
        <p:nvSpPr>
          <p:cNvPr id="19" name="右中かっこ 18">
            <a:extLst>
              <a:ext uri="{FF2B5EF4-FFF2-40B4-BE49-F238E27FC236}">
                <a16:creationId xmlns:a16="http://schemas.microsoft.com/office/drawing/2014/main" id="{4683B6D5-3C4A-7D18-0571-796F44C66C3C}"/>
              </a:ext>
            </a:extLst>
          </p:cNvPr>
          <p:cNvSpPr/>
          <p:nvPr/>
        </p:nvSpPr>
        <p:spPr>
          <a:xfrm rot="16200000">
            <a:off x="6865808" y="1510496"/>
            <a:ext cx="551193" cy="5200009"/>
          </a:xfrm>
          <a:prstGeom prst="rightBrace">
            <a:avLst>
              <a:gd name="adj1" fmla="val 47093"/>
              <a:gd name="adj2" fmla="val 50000"/>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0" name="矢印: ストライプ 19">
            <a:extLst>
              <a:ext uri="{FF2B5EF4-FFF2-40B4-BE49-F238E27FC236}">
                <a16:creationId xmlns:a16="http://schemas.microsoft.com/office/drawing/2014/main" id="{923A07FA-838B-6416-28D6-F6252C2776A9}"/>
              </a:ext>
            </a:extLst>
          </p:cNvPr>
          <p:cNvSpPr/>
          <p:nvPr/>
        </p:nvSpPr>
        <p:spPr>
          <a:xfrm>
            <a:off x="8300219" y="3300241"/>
            <a:ext cx="1021708" cy="506823"/>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ja-JP" altLang="en-US">
              <a:solidFill>
                <a:schemeClr val="dk1"/>
              </a:solidFill>
            </a:endParaRPr>
          </a:p>
        </p:txBody>
      </p:sp>
      <p:sp>
        <p:nvSpPr>
          <p:cNvPr id="22" name="フローチャート: 複数書類 21">
            <a:extLst>
              <a:ext uri="{FF2B5EF4-FFF2-40B4-BE49-F238E27FC236}">
                <a16:creationId xmlns:a16="http://schemas.microsoft.com/office/drawing/2014/main" id="{BF7342F7-18CC-F061-4F82-831816DBA13C}"/>
              </a:ext>
            </a:extLst>
          </p:cNvPr>
          <p:cNvSpPr/>
          <p:nvPr/>
        </p:nvSpPr>
        <p:spPr>
          <a:xfrm>
            <a:off x="9558471" y="3300241"/>
            <a:ext cx="875944" cy="551194"/>
          </a:xfrm>
          <a:prstGeom prst="flowChartMultidocumen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13018CD-E509-354B-8E58-782899EA2FDE}"/>
              </a:ext>
            </a:extLst>
          </p:cNvPr>
          <p:cNvSpPr txBox="1"/>
          <p:nvPr/>
        </p:nvSpPr>
        <p:spPr>
          <a:xfrm>
            <a:off x="9890089" y="3742162"/>
            <a:ext cx="1237024" cy="276999"/>
          </a:xfrm>
          <a:prstGeom prst="rect">
            <a:avLst/>
          </a:prstGeom>
          <a:noFill/>
        </p:spPr>
        <p:txBody>
          <a:bodyPr wrap="square" rtlCol="0">
            <a:spAutoFit/>
          </a:bodyPr>
          <a:lstStyle/>
          <a:p>
            <a:pPr algn="ctr"/>
            <a:r>
              <a:rPr kumimoji="1" lang="ja-JP" altLang="en-US" sz="1200" dirty="0"/>
              <a:t>移行レポート</a:t>
            </a:r>
          </a:p>
        </p:txBody>
      </p:sp>
      <p:sp>
        <p:nvSpPr>
          <p:cNvPr id="24" name="矢印: ストライプ 23">
            <a:extLst>
              <a:ext uri="{FF2B5EF4-FFF2-40B4-BE49-F238E27FC236}">
                <a16:creationId xmlns:a16="http://schemas.microsoft.com/office/drawing/2014/main" id="{5C8B1C8B-E215-8C5A-9591-0D766762304A}"/>
              </a:ext>
            </a:extLst>
          </p:cNvPr>
          <p:cNvSpPr/>
          <p:nvPr/>
        </p:nvSpPr>
        <p:spPr>
          <a:xfrm>
            <a:off x="8253161" y="4647724"/>
            <a:ext cx="1021708" cy="774796"/>
          </a:xfrm>
          <a:prstGeom prst="strip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ja-JP" altLang="en-US">
              <a:solidFill>
                <a:schemeClr val="dk1"/>
              </a:solidFill>
            </a:endParaRPr>
          </a:p>
        </p:txBody>
      </p:sp>
      <p:sp>
        <p:nvSpPr>
          <p:cNvPr id="25" name="矢印: ストライプ 24">
            <a:extLst>
              <a:ext uri="{FF2B5EF4-FFF2-40B4-BE49-F238E27FC236}">
                <a16:creationId xmlns:a16="http://schemas.microsoft.com/office/drawing/2014/main" id="{619BF5DA-3127-06E9-10F1-D92A9B5B89E5}"/>
              </a:ext>
            </a:extLst>
          </p:cNvPr>
          <p:cNvSpPr/>
          <p:nvPr/>
        </p:nvSpPr>
        <p:spPr>
          <a:xfrm>
            <a:off x="2088748" y="3942192"/>
            <a:ext cx="1021708" cy="695332"/>
          </a:xfrm>
          <a:prstGeom prst="strip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ja-JP" altLang="en-US">
              <a:solidFill>
                <a:schemeClr val="dk1"/>
              </a:solidFill>
            </a:endParaRPr>
          </a:p>
        </p:txBody>
      </p:sp>
      <p:sp>
        <p:nvSpPr>
          <p:cNvPr id="26" name="矢印: ストライプ 25">
            <a:extLst>
              <a:ext uri="{FF2B5EF4-FFF2-40B4-BE49-F238E27FC236}">
                <a16:creationId xmlns:a16="http://schemas.microsoft.com/office/drawing/2014/main" id="{3A130A57-62DD-1787-F304-7293B0C39D2A}"/>
              </a:ext>
            </a:extLst>
          </p:cNvPr>
          <p:cNvSpPr/>
          <p:nvPr/>
        </p:nvSpPr>
        <p:spPr>
          <a:xfrm>
            <a:off x="2081297" y="5123416"/>
            <a:ext cx="1021708" cy="695332"/>
          </a:xfrm>
          <a:prstGeom prst="strip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ja-JP" altLang="en-US">
              <a:solidFill>
                <a:schemeClr val="dk1"/>
              </a:solidFill>
            </a:endParaRPr>
          </a:p>
        </p:txBody>
      </p:sp>
    </p:spTree>
    <p:extLst>
      <p:ext uri="{BB962C8B-B14F-4D97-AF65-F5344CB8AC3E}">
        <p14:creationId xmlns:p14="http://schemas.microsoft.com/office/powerpoint/2010/main" val="2225649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16C17B-9ACF-4273-9EF4-F7A543FAF213}">
  <ds:schemaRefs/>
</ds:datastoreItem>
</file>

<file path=customXml/itemProps2.xml><?xml version="1.0" encoding="utf-8"?>
<ds:datastoreItem xmlns:ds="http://schemas.openxmlformats.org/officeDocument/2006/customXml" ds:itemID="{BCB922EE-95E3-497F-8326-C2ABF66A4B77}">
  <ds:schemaRefs/>
</ds:datastoreItem>
</file>

<file path=customXml/itemProps3.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MCG_jp_rev1</Template>
  <TotalTime>5534</TotalTime>
  <Words>14918</Words>
  <Application>Microsoft Office PowerPoint</Application>
  <PresentationFormat>ワイド画面</PresentationFormat>
  <Paragraphs>1798</Paragraphs>
  <Slides>43</Slides>
  <Notes>39</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43</vt:i4>
      </vt:variant>
    </vt:vector>
  </HeadingPairs>
  <TitlesOfParts>
    <vt:vector size="64"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AZURE Sql 提案と見積</vt:lpstr>
      <vt:lpstr>前書き</vt:lpstr>
      <vt:lpstr>目次</vt:lpstr>
      <vt:lpstr>提案の背景</vt:lpstr>
      <vt:lpstr>システム概要</vt:lpstr>
      <vt:lpstr>ストレージの選定</vt:lpstr>
      <vt:lpstr>全体アーキテクチャ</vt:lpstr>
      <vt:lpstr>要件／ソリューション－添付ファイル管理（編集含む）</vt:lpstr>
      <vt:lpstr>要件／ソリューション－一括ダウンロード機能</vt:lpstr>
      <vt:lpstr>要件／ソリューション－検索機能</vt:lpstr>
      <vt:lpstr>要件／ソリューション－パフォーマンス、HAなど</vt:lpstr>
      <vt:lpstr>要件／ソリューション－権限管理</vt:lpstr>
      <vt:lpstr>要件／ソリューション－ユーザ別の属性管理</vt:lpstr>
      <vt:lpstr>要件／ソリューションーデータ移行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vt:lpstr>
      <vt:lpstr>見積もり</vt:lpstr>
      <vt:lpstr>結論</vt:lpstr>
      <vt:lpstr>備考</vt:lpstr>
      <vt:lpstr>アーキテクチャ全体 Sql server 2022 + 添付ファイルDaTAVERSE保存（案B）ー 前回提案の備考</vt:lpstr>
      <vt:lpstr>アーキテクチャ全体 Azure Sql + 添付ファイルはDaTAVERSE保存（案C）ー 案BのSqlserver 2022⇒Azure SQL</vt:lpstr>
      <vt:lpstr>POC範囲</vt:lpstr>
      <vt:lpstr>サポートとメンテナンス－瑕疵範囲、保守提案</vt:lpstr>
      <vt:lpstr>前回の資料 (9/22ソリューションのみ)</vt:lpstr>
      <vt:lpstr>アーキテクチャ全体 添付ファイルはDaTAVERSE保存（案B）</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lpstr>Work Area (提出前に削除)</vt:lpstr>
      <vt:lpstr>PowerPoint プレゼンテーション</vt:lpstr>
      <vt:lpstr>提案（FileをSPOに保存）</vt:lpstr>
      <vt:lpstr>データ移行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42</cp:revision>
  <dcterms:created xsi:type="dcterms:W3CDTF">2023-05-25T05:41:00Z</dcterms:created>
  <dcterms:modified xsi:type="dcterms:W3CDTF">2025-10-03T06:03:20Z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