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54"/>
  </p:notesMasterIdLst>
  <p:handoutMasterIdLst>
    <p:handoutMasterId r:id="rId55"/>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409" r:id="rId33"/>
    <p:sldId id="16776410" r:id="rId34"/>
    <p:sldId id="16776390" r:id="rId35"/>
    <p:sldId id="16776391" r:id="rId36"/>
    <p:sldId id="16776403" r:id="rId37"/>
    <p:sldId id="16776389"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 id="16776411" r:id="rId49"/>
    <p:sldId id="16776412" r:id="rId50"/>
    <p:sldId id="16776413" r:id="rId51"/>
    <p:sldId id="16776414" r:id="rId52"/>
    <p:sldId id="16776415" r:id="rId53"/>
  </p:sldIdLst>
  <p:sldSz cx="12192000" cy="6858000"/>
  <p:notesSz cx="6858000" cy="9144000"/>
  <p:custDataLst>
    <p:tags r:id="rId56"/>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409"/>
            <p14:sldId id="16776410"/>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 id="16776411"/>
            <p14:sldId id="16776412"/>
            <p14:sldId id="16776413"/>
            <p14:sldId id="16776414"/>
            <p14:sldId id="1677641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6" d="100"/>
          <a:sy n="186" d="100"/>
        </p:scale>
        <p:origin x="106" y="125"/>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slide" Target="slides/slide41.xml"/><Relationship Id="rId55"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slide" Target="slides/slide44.xml"/><Relationship Id="rId58" Type="http://schemas.openxmlformats.org/officeDocument/2006/relationships/viewProps" Target="viewProps.xml"/><Relationship Id="rId5" Type="http://schemas.openxmlformats.org/officeDocument/2006/relationships/slideMaster" Target="slideMasters/slideMaster2.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openxmlformats.org/officeDocument/2006/relationships/tags" Target="tags/tag1.xml"/><Relationship Id="rId8" Type="http://schemas.openxmlformats.org/officeDocument/2006/relationships/slideMaster" Target="slideMasters/slideMaster5.xml"/><Relationship Id="rId51" Type="http://schemas.openxmlformats.org/officeDocument/2006/relationships/slide" Target="slides/slide42.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59" Type="http://schemas.openxmlformats.org/officeDocument/2006/relationships/theme" Target="theme/theme1.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slide" Target="slides/slide40.xml"/><Relationship Id="rId57" Type="http://schemas.openxmlformats.org/officeDocument/2006/relationships/presProps" Target="presProps.xml"/><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slide" Target="slides/slide43.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2025/10/3</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117EE-F15E-5D18-2F0E-AF89AD5A67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8987159-3156-E079-2780-9770AD7BB9B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F440938-8E9A-75B1-0C75-EB6636C755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26543A4-683C-DF6E-5789-84644A6BD34B}"/>
              </a:ext>
            </a:extLst>
          </p:cNvPr>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4857636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38132605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42</a:t>
            </a:fld>
            <a:endParaRPr kumimoji="1"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43</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B2C39-B8E8-23BE-E6E8-792558B348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30215E-CC90-7CF7-2692-798B9242AC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B7A7E1-9EA5-F04D-26DD-11D39659E74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D8E0A29-94AC-B99B-A31B-EC184EE602C6}"/>
              </a:ext>
            </a:extLst>
          </p:cNvPr>
          <p:cNvSpPr>
            <a:spLocks noGrp="1"/>
          </p:cNvSpPr>
          <p:nvPr>
            <p:ph type="sldNum" sz="quarter" idx="5"/>
          </p:nvPr>
        </p:nvSpPr>
        <p:spPr/>
        <p:txBody>
          <a:bodyPr/>
          <a:lstStyle/>
          <a:p>
            <a:fld id="{C3E9B8F7-F11D-7247-854D-760B01224C6A}" type="slidenum">
              <a:rPr kumimoji="1" lang="ja-JP" altLang="en-US" smtClean="0"/>
              <a:t>44</a:t>
            </a:fld>
            <a:endParaRPr kumimoji="1" lang="ja-JP" altLang="en-US"/>
          </a:p>
        </p:txBody>
      </p:sp>
    </p:spTree>
    <p:extLst>
      <p:ext uri="{BB962C8B-B14F-4D97-AF65-F5344CB8AC3E}">
        <p14:creationId xmlns:p14="http://schemas.microsoft.com/office/powerpoint/2010/main" val="12642081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10/3/2025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3.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18.png"/><Relationship Id="rId3" Type="http://schemas.openxmlformats.org/officeDocument/2006/relationships/image" Target="../media/image19.jpe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5.jpe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35.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8.png"/><Relationship Id="rId1" Type="http://schemas.openxmlformats.org/officeDocument/2006/relationships/slideLayout" Target="../slideLayouts/slideLayout81.xml"/></Relationships>
</file>

<file path=ppt/slides/_rels/slide42.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81.xml"/><Relationship Id="rId6" Type="http://schemas.openxmlformats.org/officeDocument/2006/relationships/image" Target="../media/image48.png"/><Relationship Id="rId5" Type="http://schemas.openxmlformats.org/officeDocument/2006/relationships/image" Target="../media/image46.png"/><Relationship Id="rId4" Type="http://schemas.openxmlformats.org/officeDocument/2006/relationships/image" Target="../media/image18.png"/></Relationships>
</file>

<file path=ppt/slides/_rels/slide4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8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非機能要件</a:t>
            </a:r>
            <a:r>
              <a:rPr lang="en-US" altLang="ja-JP" sz="1400"/>
              <a:t>	</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案</a:t>
            </a:r>
            <a:r>
              <a:rPr lang="en-US" altLang="ja-JP" sz="1400" dirty="0"/>
              <a:t>B </a:t>
            </a:r>
            <a:r>
              <a:rPr lang="ja-JP" altLang="en-US" sz="1400" dirty="0"/>
              <a:t>：</a:t>
            </a:r>
            <a:r>
              <a:rPr lang="en-US" altLang="ja-JP" sz="1400" dirty="0" err="1"/>
              <a:t>Sql</a:t>
            </a:r>
            <a:r>
              <a:rPr lang="en-US" altLang="ja-JP" sz="1400" dirty="0"/>
              <a:t> server 2022 + </a:t>
            </a:r>
            <a:r>
              <a:rPr lang="ja-JP" altLang="en-US" sz="1400" dirty="0"/>
              <a:t>添付ファイル</a:t>
            </a:r>
            <a:r>
              <a:rPr lang="en-US" altLang="ja-JP" sz="1400" dirty="0"/>
              <a:t>DATAVERSE</a:t>
            </a:r>
            <a:r>
              <a:rPr lang="ja-JP" altLang="en-US" sz="1400" dirty="0"/>
              <a:t>保存（前回の提案内容）</a:t>
            </a:r>
            <a:endParaRPr lang="en-US" altLang="ja-JP" sz="1400" dirty="0"/>
          </a:p>
          <a:p>
            <a:pPr marL="742950" lvl="1" indent="-285750">
              <a:buFont typeface="Arial" panose="020B0604020202020204" pitchFamily="34" charset="0"/>
              <a:buChar char="•"/>
            </a:pPr>
            <a:r>
              <a:rPr lang="ja-JP" altLang="en-US" sz="1400" dirty="0"/>
              <a:t>案</a:t>
            </a:r>
            <a:r>
              <a:rPr lang="en-US" altLang="ja-JP" sz="1400" dirty="0"/>
              <a:t>C</a:t>
            </a:r>
            <a:r>
              <a:rPr lang="ja-JP" altLang="en-US" sz="1400" dirty="0"/>
              <a:t>：</a:t>
            </a:r>
            <a:r>
              <a:rPr lang="en-US" altLang="ja-JP" sz="1400" dirty="0"/>
              <a:t> Azure</a:t>
            </a:r>
            <a:r>
              <a:rPr lang="ja-JP" altLang="en-US" sz="1400" dirty="0"/>
              <a:t> </a:t>
            </a:r>
            <a:r>
              <a:rPr lang="en-US" altLang="ja-JP" sz="1400" dirty="0"/>
              <a:t>SQL + </a:t>
            </a:r>
            <a:r>
              <a:rPr lang="ja-JP" altLang="en-US" sz="1400" dirty="0"/>
              <a:t>添付ファイル</a:t>
            </a:r>
            <a:r>
              <a:rPr lang="en-US" altLang="ja-JP" sz="1400" dirty="0"/>
              <a:t>DATAVERSE</a:t>
            </a:r>
            <a:r>
              <a:rPr lang="ja-JP" altLang="en-US" sz="1400" dirty="0"/>
              <a:t>保存（前回の提案内容を</a:t>
            </a:r>
            <a:r>
              <a:rPr lang="en-US" altLang="ja-JP" sz="1400" dirty="0"/>
              <a:t>Azure SQL</a:t>
            </a:r>
            <a:r>
              <a:rPr lang="ja-JP" altLang="en-US" sz="1400" dirty="0"/>
              <a:t>に替える）</a:t>
            </a:r>
            <a:endParaRPr lang="en-US" altLang="ja-JP" sz="14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1976876469"/>
              </p:ext>
            </p:extLst>
          </p:nvPr>
        </p:nvGraphicFramePr>
        <p:xfrm>
          <a:off x="273718" y="1120297"/>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dirty="0">
                          <a:solidFill>
                            <a:srgbClr val="C00000"/>
                          </a:solidFill>
                          <a:effectLst/>
                        </a:rPr>
                        <a:t>大容量ファイルストレージに不向き（</a:t>
                      </a:r>
                      <a:r>
                        <a:rPr lang="en-US" altLang="ja-JP" sz="700" b="1" dirty="0">
                          <a:solidFill>
                            <a:srgbClr val="C00000"/>
                          </a:solidFill>
                          <a:effectLst/>
                        </a:rPr>
                        <a:t>TOAST</a:t>
                      </a:r>
                      <a:r>
                        <a:rPr lang="ja-JP" altLang="en-US" sz="700" b="1" dirty="0">
                          <a:solidFill>
                            <a:srgbClr val="C00000"/>
                          </a:solidFill>
                          <a:effectLst/>
                        </a:rPr>
                        <a:t>使用でパフォーマンス低下）</a:t>
                      </a:r>
                      <a:r>
                        <a:rPr lang="ja-JP" altLang="en-US" sz="700" dirty="0">
                          <a:solidFill>
                            <a:srgbClr val="C00000"/>
                          </a:solidFill>
                          <a:effectLst/>
                        </a:rPr>
                        <a:t>。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推奨）、構成（インデックス</a:t>
                      </a:r>
                      <a:r>
                        <a:rPr lang="en-US" altLang="ja-JP" sz="700" dirty="0">
                          <a:solidFill>
                            <a:srgbClr val="C00000"/>
                          </a:solidFill>
                          <a:effectLst/>
                        </a:rPr>
                        <a:t>/</a:t>
                      </a:r>
                      <a:r>
                        <a:rPr lang="ja-JP" altLang="en-US" sz="700" dirty="0">
                          <a:solidFill>
                            <a:srgbClr val="C00000"/>
                          </a:solidFill>
                          <a:effectLst/>
                        </a:rPr>
                        <a:t>検索設定）で複難。</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lang="ja-JP" altLang="en-US"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7134" y="1333438"/>
            <a:ext cx="2022386" cy="253916"/>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endParaRPr kumimoji="1" lang="ja-JP" altLang="en-US" sz="1050" dirty="0"/>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829873544"/>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solidFill>
                            <a:schemeClr val="tx1"/>
                          </a:solidFill>
                          <a:latin typeface="Yu Gothic UI" panose="020B0500000000000000" pitchFamily="50" charset="-128"/>
                          <a:ea typeface="Yu Gothic UI" panose="020B0500000000000000" pitchFamily="50" charset="-128"/>
                        </a:rPr>
                        <a:t>多階層</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構造にし、一つの</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にファイルを</a:t>
                      </a:r>
                      <a:r>
                        <a:rPr lang="en-US" altLang="ja-JP" sz="1000" dirty="0">
                          <a:solidFill>
                            <a:schemeClr val="tx1"/>
                          </a:solidFill>
                          <a:latin typeface="Yu Gothic UI" panose="020B0500000000000000" pitchFamily="50" charset="-128"/>
                          <a:ea typeface="Yu Gothic UI" panose="020B0500000000000000" pitchFamily="50" charset="-128"/>
                        </a:rPr>
                        <a:t>1000</a:t>
                      </a:r>
                      <a:r>
                        <a:rPr lang="ja-JP" altLang="en-US" sz="10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10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Power Apps</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Launch</a:t>
                      </a:r>
                      <a:r>
                        <a:rPr lang="ja-JP" altLang="en-US" sz="1000" kern="1200" dirty="0">
                          <a:solidFill>
                            <a:schemeClr val="tx1"/>
                          </a:solidFill>
                          <a:latin typeface="+mn-lt"/>
                          <a:ea typeface="+mn-ea"/>
                          <a:cs typeface="+mn-cs"/>
                        </a:rPr>
                        <a:t>機能を利用し、</a:t>
                      </a:r>
                      <a:r>
                        <a:rPr lang="zh-CN" altLang="zh-CN" sz="1000" kern="1200" dirty="0">
                          <a:solidFill>
                            <a:schemeClr val="tx1"/>
                          </a:solidFill>
                          <a:latin typeface="+mn-lt"/>
                          <a:ea typeface="+mn-ea"/>
                          <a:cs typeface="+mn-cs"/>
                        </a:rPr>
                        <a:t>Office Onlineで</a:t>
                      </a:r>
                      <a:r>
                        <a:rPr lang="ja-JP" altLang="en-US" sz="1000" kern="1200" dirty="0">
                          <a:solidFill>
                            <a:schemeClr val="tx1"/>
                          </a:solidFill>
                          <a:latin typeface="+mn-lt"/>
                          <a:ea typeface="+mn-ea"/>
                          <a:cs typeface="+mn-cs"/>
                        </a:rPr>
                        <a:t>直接</a:t>
                      </a:r>
                      <a:r>
                        <a:rPr lang="zh-CN" altLang="zh-CN" sz="1000" kern="1200" dirty="0">
                          <a:solidFill>
                            <a:schemeClr val="tx1"/>
                          </a:solidFill>
                          <a:latin typeface="+mn-lt"/>
                          <a:ea typeface="+mn-ea"/>
                          <a:cs typeface="+mn-cs"/>
                        </a:rPr>
                        <a:t>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編集モードは仕様に従って定義</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8D8B1919-9D04-D60A-C40F-E0663E5D1CA0}"/>
              </a:ext>
            </a:extLst>
          </p:cNvPr>
          <p:cNvPicPr>
            <a:picLocks noChangeAspect="1"/>
          </p:cNvPicPr>
          <p:nvPr/>
        </p:nvPicPr>
        <p:blipFill>
          <a:blip r:embed="rId4"/>
          <a:stretch>
            <a:fillRect/>
          </a:stretch>
        </p:blipFill>
        <p:spPr>
          <a:xfrm>
            <a:off x="5621497" y="3187581"/>
            <a:ext cx="5925026" cy="30456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893006779"/>
              </p:ext>
            </p:extLst>
          </p:nvPr>
        </p:nvGraphicFramePr>
        <p:xfrm>
          <a:off x="414336" y="1068577"/>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2410915134"/>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済のファイルに対して、再度添付ファイルの権限処理が必要（複雑）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1973787379"/>
              </p:ext>
            </p:extLst>
          </p:nvPr>
        </p:nvGraphicFramePr>
        <p:xfrm>
          <a:off x="2324608" y="5017588"/>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a:t>主な役割</a:t>
                      </a:r>
                    </a:p>
                  </a:txBody>
                  <a:tcPr marL="40112" marR="40112" marT="20056" marB="20056" anchor="ctr"/>
                </a:tc>
                <a:tc>
                  <a:txBody>
                    <a:bodyPr/>
                    <a:lstStyle/>
                    <a:p>
                      <a:r>
                        <a:rPr lang="ja-JP" altLang="en-US" sz="60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a:t>Office 365 Outlook</a:t>
                      </a:r>
                      <a:endParaRPr lang="de-DE" sz="60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a:t>Office 365 Groups</a:t>
                      </a:r>
                      <a:endParaRPr lang="de-DE" sz="60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2263487765"/>
              </p:ext>
            </p:extLst>
          </p:nvPr>
        </p:nvGraphicFramePr>
        <p:xfrm>
          <a:off x="414336" y="895564"/>
          <a:ext cx="11284857" cy="5430715"/>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8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477">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39">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1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73799">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1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1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2051703374"/>
              </p:ext>
            </p:extLst>
          </p:nvPr>
        </p:nvGraphicFramePr>
        <p:xfrm>
          <a:off x="453572" y="867271"/>
          <a:ext cx="11284856" cy="550714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a:t>
                      </a:r>
                      <a:r>
                        <a:rPr kumimoji="0" lang="en-US" altLang="ja-JP" sz="900" b="1" kern="1200" dirty="0">
                          <a:solidFill>
                            <a:srgbClr val="FF0000"/>
                          </a:solidFill>
                          <a:latin typeface="Arial" panose="020B0604020202020204" pitchFamily="34" charset="0"/>
                          <a:ea typeface="+mn-ea"/>
                          <a:cs typeface="+mn-cs"/>
                        </a:rPr>
                        <a:t>Batch</a:t>
                      </a:r>
                      <a:r>
                        <a:rPr kumimoji="0" lang="ja-JP" altLang="en-US" sz="900" b="1" kern="1200" dirty="0">
                          <a:solidFill>
                            <a:srgbClr val="FF0000"/>
                          </a:solidFill>
                          <a:latin typeface="Arial" panose="020B0604020202020204" pitchFamily="34" charset="0"/>
                          <a:ea typeface="+mn-ea"/>
                          <a:cs typeface="+mn-cs"/>
                        </a:rPr>
                        <a:t>あるいは非同期で動作させる）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63450" y="2826158"/>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1802707388"/>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(10DB</a:t>
            </a:r>
            <a:r>
              <a:rPr kumimoji="0" lang="ja-JP" altLang="en-US" sz="1200" kern="0" dirty="0">
                <a:solidFill>
                  <a:prstClr val="black"/>
                </a:solidFill>
                <a:latin typeface="Arial"/>
                <a:ea typeface="Yu Gothic UI"/>
                <a:cs typeface="Arial" panose="020B0604020202020204" pitchFamily="34" charset="0"/>
              </a:rPr>
              <a:t>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302477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7157755" y="3864809"/>
            <a:ext cx="1120894"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a:solidFill>
                  <a:prstClr val="black"/>
                </a:solidFill>
                <a:latin typeface="Arial"/>
                <a:ea typeface="Yu Gothic UI"/>
                <a:cs typeface="Arial" panose="020B0604020202020204" pitchFamily="34" charset="0"/>
              </a:rPr>
              <a:t>Round1 </a:t>
            </a:r>
            <a:r>
              <a:rPr kumimoji="0" lang="ja-JP" altLang="en-US" sz="1200" kern="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２展開</a:t>
            </a: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Round3</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展開</a:t>
            </a: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4036547" y="2564512"/>
            <a:ext cx="4781677" cy="1938433"/>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8ABFD-BACD-AAA8-A8BA-C6260B53141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9E9EDF3-742B-CF53-675C-43189A6FD883}"/>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9988ABDD-DDCB-8AB6-D199-0576B29B1E57}"/>
              </a:ext>
            </a:extLst>
          </p:cNvPr>
          <p:cNvSpPr>
            <a:spLocks noGrp="1"/>
          </p:cNvSpPr>
          <p:nvPr>
            <p:ph type="title"/>
          </p:nvPr>
        </p:nvSpPr>
        <p:spPr>
          <a:xfrm>
            <a:off x="470689" y="78890"/>
            <a:ext cx="9327072" cy="765272"/>
          </a:xfrm>
        </p:spPr>
        <p:txBody>
          <a:bodyPr>
            <a:normAutofit fontScale="90000"/>
          </a:bodyPr>
          <a:lstStyle/>
          <a:p>
            <a:r>
              <a:rPr lang="ja-JP" altLang="en-US" sz="3600" dirty="0"/>
              <a:t>アーキテクチャ全体</a:t>
            </a:r>
            <a:br>
              <a:rPr lang="en-US" altLang="ja-JP" dirty="0"/>
            </a:br>
            <a:r>
              <a:rPr lang="en-US" altLang="ja-JP" sz="2200" dirty="0" err="1"/>
              <a:t>Sql</a:t>
            </a:r>
            <a:r>
              <a:rPr lang="en-US" altLang="ja-JP" sz="2200" dirty="0"/>
              <a:t> server 2022 + </a:t>
            </a:r>
            <a:r>
              <a:rPr lang="ja-JP" altLang="en-US" sz="2200" dirty="0"/>
              <a:t>添付ファイル</a:t>
            </a:r>
            <a:r>
              <a:rPr lang="en-US" altLang="ja-JP" sz="2200" dirty="0" err="1"/>
              <a:t>DaTAVERSE</a:t>
            </a:r>
            <a:r>
              <a:rPr lang="ja-JP" altLang="en-US" sz="2200" dirty="0"/>
              <a:t>保存（案</a:t>
            </a:r>
            <a:r>
              <a:rPr lang="en-US" altLang="ja-JP" sz="2200" dirty="0"/>
              <a:t>B</a:t>
            </a:r>
            <a:r>
              <a:rPr lang="ja-JP" altLang="en-US" sz="2200" dirty="0"/>
              <a:t>）ー 前回提案の備考</a:t>
            </a:r>
            <a:endParaRPr lang="ja-JP" altLang="en-US" sz="2200" dirty="0">
              <a:effectLst/>
            </a:endParaRPr>
          </a:p>
        </p:txBody>
      </p:sp>
      <p:sp>
        <p:nvSpPr>
          <p:cNvPr id="15" name="テキスト ボックス 14">
            <a:extLst>
              <a:ext uri="{FF2B5EF4-FFF2-40B4-BE49-F238E27FC236}">
                <a16:creationId xmlns:a16="http://schemas.microsoft.com/office/drawing/2014/main" id="{AF2F4E9E-C5C6-977E-FF98-07C84782DB28}"/>
              </a:ext>
            </a:extLst>
          </p:cNvPr>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D973293-7C27-C808-62DF-EAE88C17CF54}"/>
              </a:ext>
            </a:extLst>
          </p:cNvPr>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a:extLst>
              <a:ext uri="{FF2B5EF4-FFF2-40B4-BE49-F238E27FC236}">
                <a16:creationId xmlns:a16="http://schemas.microsoft.com/office/drawing/2014/main" id="{F20A3633-AC28-9D34-D347-92F16E19755F}"/>
              </a:ext>
            </a:extLst>
          </p:cNvPr>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a:extLst>
              <a:ext uri="{FF2B5EF4-FFF2-40B4-BE49-F238E27FC236}">
                <a16:creationId xmlns:a16="http://schemas.microsoft.com/office/drawing/2014/main" id="{B8ED5384-698D-F1D3-EEB5-756087F8597F}"/>
              </a:ext>
            </a:extLst>
          </p:cNvPr>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8E87890E-2A3A-275B-7D25-71434542B202}"/>
              </a:ext>
            </a:extLst>
          </p:cNvPr>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a:extLst>
              <a:ext uri="{FF2B5EF4-FFF2-40B4-BE49-F238E27FC236}">
                <a16:creationId xmlns:a16="http://schemas.microsoft.com/office/drawing/2014/main" id="{0601F7FC-5F5F-3501-ED97-B808385814C9}"/>
              </a:ext>
            </a:extLst>
          </p:cNvPr>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617F85ED-F53C-9D03-2B91-309BDACFBB86}"/>
              </a:ext>
            </a:extLst>
          </p:cNvPr>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a:extLst>
              <a:ext uri="{FF2B5EF4-FFF2-40B4-BE49-F238E27FC236}">
                <a16:creationId xmlns:a16="http://schemas.microsoft.com/office/drawing/2014/main" id="{1652C1E1-D0E8-47CB-60C0-B977BC8512FD}"/>
              </a:ext>
            </a:extLst>
          </p:cNvPr>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a:extLst>
              <a:ext uri="{FF2B5EF4-FFF2-40B4-BE49-F238E27FC236}">
                <a16:creationId xmlns:a16="http://schemas.microsoft.com/office/drawing/2014/main" id="{6C216DF1-28A0-4CFA-1F5F-FE69CAB07E30}"/>
              </a:ext>
            </a:extLst>
          </p:cNvPr>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a:extLst>
              <a:ext uri="{FF2B5EF4-FFF2-40B4-BE49-F238E27FC236}">
                <a16:creationId xmlns:a16="http://schemas.microsoft.com/office/drawing/2014/main" id="{D96BE330-40EE-2407-C96D-C81F973E0FAD}"/>
              </a:ext>
            </a:extLst>
          </p:cNvPr>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a:extLst>
              <a:ext uri="{FF2B5EF4-FFF2-40B4-BE49-F238E27FC236}">
                <a16:creationId xmlns:a16="http://schemas.microsoft.com/office/drawing/2014/main" id="{3DAE023D-0BF1-9604-38ED-DBC5284D3C42}"/>
              </a:ext>
            </a:extLst>
          </p:cNvPr>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a:extLst>
              <a:ext uri="{FF2B5EF4-FFF2-40B4-BE49-F238E27FC236}">
                <a16:creationId xmlns:a16="http://schemas.microsoft.com/office/drawing/2014/main" id="{EA065538-387A-08FD-FC7B-B4C467EB35B4}"/>
              </a:ext>
            </a:extLst>
          </p:cNvPr>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a:extLst>
              <a:ext uri="{FF2B5EF4-FFF2-40B4-BE49-F238E27FC236}">
                <a16:creationId xmlns:a16="http://schemas.microsoft.com/office/drawing/2014/main" id="{78AD98D5-F6B7-179F-9BDE-626B3DB737E0}"/>
              </a:ext>
            </a:extLst>
          </p:cNvPr>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a:extLst>
              <a:ext uri="{FF2B5EF4-FFF2-40B4-BE49-F238E27FC236}">
                <a16:creationId xmlns:a16="http://schemas.microsoft.com/office/drawing/2014/main" id="{18A9650B-B4BF-A698-196F-36A5E8C76173}"/>
              </a:ext>
            </a:extLst>
          </p:cNvPr>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3EFCD2BF-AA94-CAF8-C189-A6E0C4F9AE23}"/>
              </a:ext>
            </a:extLst>
          </p:cNvPr>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2A63F139-77A0-92D7-6DC9-4E25C949D444}"/>
              </a:ext>
            </a:extLst>
          </p:cNvPr>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7373BB4A-3EDD-E50A-45C4-6D16DFAB86A6}"/>
              </a:ext>
            </a:extLst>
          </p:cNvPr>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a16:creationId xmlns:a16="http://schemas.microsoft.com/office/drawing/2014/main" id="{8105B648-6980-2C8A-027B-D33128297044}"/>
              </a:ext>
            </a:extLst>
          </p:cNvPr>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E32D3CE1-DAB2-A8C9-8CC6-CF5A59226562}"/>
              </a:ext>
            </a:extLst>
          </p:cNvPr>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a:extLst>
              <a:ext uri="{FF2B5EF4-FFF2-40B4-BE49-F238E27FC236}">
                <a16:creationId xmlns:a16="http://schemas.microsoft.com/office/drawing/2014/main" id="{BC01740C-5740-528B-96AF-210503152AD8}"/>
              </a:ext>
            </a:extLst>
          </p:cNvPr>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a:extLst>
              <a:ext uri="{FF2B5EF4-FFF2-40B4-BE49-F238E27FC236}">
                <a16:creationId xmlns:a16="http://schemas.microsoft.com/office/drawing/2014/main" id="{78C603D9-90C8-98C3-4B48-38E0944214B8}"/>
              </a:ext>
            </a:extLst>
          </p:cNvPr>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a:extLst>
              <a:ext uri="{FF2B5EF4-FFF2-40B4-BE49-F238E27FC236}">
                <a16:creationId xmlns:a16="http://schemas.microsoft.com/office/drawing/2014/main" id="{0F26C8EB-D43D-D7AD-7157-E8B25A1C5043}"/>
              </a:ext>
            </a:extLst>
          </p:cNvPr>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a:extLst>
              <a:ext uri="{FF2B5EF4-FFF2-40B4-BE49-F238E27FC236}">
                <a16:creationId xmlns:a16="http://schemas.microsoft.com/office/drawing/2014/main" id="{8B4F88FB-41A9-F84C-53BA-ED5DD272B1B1}"/>
              </a:ext>
            </a:extLst>
          </p:cNvPr>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a:extLst>
              <a:ext uri="{FF2B5EF4-FFF2-40B4-BE49-F238E27FC236}">
                <a16:creationId xmlns:a16="http://schemas.microsoft.com/office/drawing/2014/main" id="{4966FFC6-2C16-3408-3DD4-6C701D76C7E9}"/>
              </a:ext>
            </a:extLst>
          </p:cNvPr>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06132164-1CB8-80CA-0C96-BF2C6F9E2C7D}"/>
              </a:ext>
            </a:extLst>
          </p:cNvPr>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a:extLst>
              <a:ext uri="{FF2B5EF4-FFF2-40B4-BE49-F238E27FC236}">
                <a16:creationId xmlns:a16="http://schemas.microsoft.com/office/drawing/2014/main" id="{C03A702E-5C82-89B9-0A5A-8B32C0B68C5D}"/>
              </a:ext>
            </a:extLst>
          </p:cNvPr>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FC7428D9-EA77-A774-6881-79B4AA87C74E}"/>
              </a:ext>
            </a:extLst>
          </p:cNvPr>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a:extLst>
              <a:ext uri="{FF2B5EF4-FFF2-40B4-BE49-F238E27FC236}">
                <a16:creationId xmlns:a16="http://schemas.microsoft.com/office/drawing/2014/main" id="{60D516C0-E843-D675-38F3-C57E85380339}"/>
              </a:ext>
            </a:extLst>
          </p:cNvPr>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BD974F0-3CFF-5DF2-FEF2-1435F25A0CD6}"/>
              </a:ext>
            </a:extLst>
          </p:cNvPr>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AA07F28-42D8-8B69-DB4F-0E6C28FA556E}"/>
              </a:ext>
            </a:extLst>
          </p:cNvPr>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a:extLst>
              <a:ext uri="{FF2B5EF4-FFF2-40B4-BE49-F238E27FC236}">
                <a16:creationId xmlns:a16="http://schemas.microsoft.com/office/drawing/2014/main" id="{42C86A19-FF06-583B-94F9-7E26CA2C4A4D}"/>
              </a:ext>
            </a:extLst>
          </p:cNvPr>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a:extLst>
              <a:ext uri="{FF2B5EF4-FFF2-40B4-BE49-F238E27FC236}">
                <a16:creationId xmlns:a16="http://schemas.microsoft.com/office/drawing/2014/main" id="{7C602B3B-E827-B324-B65E-9CFE6236A971}"/>
              </a:ext>
            </a:extLst>
          </p:cNvPr>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a:extLst>
              <a:ext uri="{FF2B5EF4-FFF2-40B4-BE49-F238E27FC236}">
                <a16:creationId xmlns:a16="http://schemas.microsoft.com/office/drawing/2014/main" id="{95E63633-EC62-B81D-5F0E-76AFCBC18F23}"/>
              </a:ext>
            </a:extLst>
          </p:cNvPr>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a:extLst>
              <a:ext uri="{FF2B5EF4-FFF2-40B4-BE49-F238E27FC236}">
                <a16:creationId xmlns:a16="http://schemas.microsoft.com/office/drawing/2014/main" id="{741ED5F7-ED4E-FE6C-82FD-3BFAF08B4CE1}"/>
              </a:ext>
            </a:extLst>
          </p:cNvPr>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a:extLst>
              <a:ext uri="{FF2B5EF4-FFF2-40B4-BE49-F238E27FC236}">
                <a16:creationId xmlns:a16="http://schemas.microsoft.com/office/drawing/2014/main" id="{7CB0A850-0248-51D2-175B-14CE957DFD73}"/>
              </a:ext>
            </a:extLst>
          </p:cNvPr>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a:extLst>
              <a:ext uri="{FF2B5EF4-FFF2-40B4-BE49-F238E27FC236}">
                <a16:creationId xmlns:a16="http://schemas.microsoft.com/office/drawing/2014/main" id="{67A0DDBA-96E2-C7E9-E6C9-BB422330A4C1}"/>
              </a:ext>
            </a:extLst>
          </p:cNvPr>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a:extLst>
              <a:ext uri="{FF2B5EF4-FFF2-40B4-BE49-F238E27FC236}">
                <a16:creationId xmlns:a16="http://schemas.microsoft.com/office/drawing/2014/main" id="{6F40C40D-D31F-CC3F-4790-996868CD19DA}"/>
              </a:ext>
            </a:extLst>
          </p:cNvPr>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24D21395-F62F-670D-6277-248F48C5619C}"/>
              </a:ext>
            </a:extLst>
          </p:cNvPr>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a:extLst>
              <a:ext uri="{FF2B5EF4-FFF2-40B4-BE49-F238E27FC236}">
                <a16:creationId xmlns:a16="http://schemas.microsoft.com/office/drawing/2014/main" id="{31686298-31D7-5FFC-6B60-EDE1A2B96CB6}"/>
              </a:ext>
            </a:extLst>
          </p:cNvPr>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a:extLst>
              <a:ext uri="{FF2B5EF4-FFF2-40B4-BE49-F238E27FC236}">
                <a16:creationId xmlns:a16="http://schemas.microsoft.com/office/drawing/2014/main" id="{D703B594-8D5D-E372-ED44-8D0203C16B92}"/>
              </a:ext>
            </a:extLst>
          </p:cNvPr>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a:extLst>
              <a:ext uri="{FF2B5EF4-FFF2-40B4-BE49-F238E27FC236}">
                <a16:creationId xmlns:a16="http://schemas.microsoft.com/office/drawing/2014/main" id="{96546C98-EBA8-C9C8-D1D3-C95EB3C591E7}"/>
              </a:ext>
            </a:extLst>
          </p:cNvPr>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a:extLst>
              <a:ext uri="{FF2B5EF4-FFF2-40B4-BE49-F238E27FC236}">
                <a16:creationId xmlns:a16="http://schemas.microsoft.com/office/drawing/2014/main" id="{46BDC5A0-995B-DA10-2045-0C342BD21191}"/>
              </a:ext>
            </a:extLst>
          </p:cNvPr>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a:extLst>
              <a:ext uri="{FF2B5EF4-FFF2-40B4-BE49-F238E27FC236}">
                <a16:creationId xmlns:a16="http://schemas.microsoft.com/office/drawing/2014/main" id="{4698EADB-2FB6-A2C6-A463-024EEA42DAB3}"/>
              </a:ext>
            </a:extLst>
          </p:cNvPr>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a:extLst>
              <a:ext uri="{FF2B5EF4-FFF2-40B4-BE49-F238E27FC236}">
                <a16:creationId xmlns:a16="http://schemas.microsoft.com/office/drawing/2014/main" id="{3B306AE8-6719-236C-813F-B0AFB4B6D87F}"/>
              </a:ext>
            </a:extLst>
          </p:cNvPr>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B50D06FE-71C6-FC99-5BE4-FA8D6FB6AD24}"/>
              </a:ext>
            </a:extLst>
          </p:cNvPr>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a:extLst>
              <a:ext uri="{FF2B5EF4-FFF2-40B4-BE49-F238E27FC236}">
                <a16:creationId xmlns:a16="http://schemas.microsoft.com/office/drawing/2014/main" id="{902A6258-7218-AF22-30A8-2BB3534FCF70}"/>
              </a:ext>
            </a:extLst>
          </p:cNvPr>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a:extLst>
              <a:ext uri="{FF2B5EF4-FFF2-40B4-BE49-F238E27FC236}">
                <a16:creationId xmlns:a16="http://schemas.microsoft.com/office/drawing/2014/main" id="{63BF751E-10F2-3669-794E-EA66581EC05E}"/>
              </a:ext>
            </a:extLst>
          </p:cNvPr>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a:extLst>
              <a:ext uri="{FF2B5EF4-FFF2-40B4-BE49-F238E27FC236}">
                <a16:creationId xmlns:a16="http://schemas.microsoft.com/office/drawing/2014/main" id="{EE6F0E8A-E327-F384-CD9D-0BC3B5E503DC}"/>
              </a:ext>
            </a:extLst>
          </p:cNvPr>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93B566-74E1-8804-CC58-8817D7008347}"/>
              </a:ext>
            </a:extLst>
          </p:cNvPr>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a:extLst>
              <a:ext uri="{FF2B5EF4-FFF2-40B4-BE49-F238E27FC236}">
                <a16:creationId xmlns:a16="http://schemas.microsoft.com/office/drawing/2014/main" id="{E9AF9134-4ADC-088B-3A88-9EE0A16FEBA2}"/>
              </a:ext>
            </a:extLst>
          </p:cNvPr>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a:extLst>
              <a:ext uri="{FF2B5EF4-FFF2-40B4-BE49-F238E27FC236}">
                <a16:creationId xmlns:a16="http://schemas.microsoft.com/office/drawing/2014/main" id="{D3383BC7-2AFE-C984-415A-EF4D66CCF030}"/>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a:extLst>
              <a:ext uri="{FF2B5EF4-FFF2-40B4-BE49-F238E27FC236}">
                <a16:creationId xmlns:a16="http://schemas.microsoft.com/office/drawing/2014/main" id="{805629E7-7492-7B2E-FFE2-17F88FAB8587}"/>
              </a:ext>
            </a:extLst>
          </p:cNvPr>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23495BA4-9322-68E0-EDD4-926968F33EA8}"/>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cxnSp>
        <p:nvCxnSpPr>
          <p:cNvPr id="62" name="コネクタ: カギ線 61">
            <a:extLst>
              <a:ext uri="{FF2B5EF4-FFF2-40B4-BE49-F238E27FC236}">
                <a16:creationId xmlns:a16="http://schemas.microsoft.com/office/drawing/2014/main" id="{2FBC8D90-D525-D5B7-74CC-BAB3C3102269}"/>
              </a:ext>
            </a:extLst>
          </p:cNvPr>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a:extLst>
              <a:ext uri="{FF2B5EF4-FFF2-40B4-BE49-F238E27FC236}">
                <a16:creationId xmlns:a16="http://schemas.microsoft.com/office/drawing/2014/main" id="{454C0BB5-0AEC-3E1C-A34C-A4F8CD64AD9D}"/>
              </a:ext>
            </a:extLst>
          </p:cNvPr>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a:extLst>
              <a:ext uri="{FF2B5EF4-FFF2-40B4-BE49-F238E27FC236}">
                <a16:creationId xmlns:a16="http://schemas.microsoft.com/office/drawing/2014/main" id="{7B9D03F4-CB3A-85D4-7D28-3E82EDF1E3BA}"/>
              </a:ext>
            </a:extLst>
          </p:cNvPr>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a:extLst>
              <a:ext uri="{FF2B5EF4-FFF2-40B4-BE49-F238E27FC236}">
                <a16:creationId xmlns:a16="http://schemas.microsoft.com/office/drawing/2014/main" id="{4C7133C0-0EF1-4B93-350A-8C42A6F5A0BB}"/>
              </a:ext>
            </a:extLst>
          </p:cNvPr>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a:extLst>
              <a:ext uri="{FF2B5EF4-FFF2-40B4-BE49-F238E27FC236}">
                <a16:creationId xmlns:a16="http://schemas.microsoft.com/office/drawing/2014/main" id="{9A24D967-6094-72E7-5316-1A31DC2ADCBB}"/>
              </a:ext>
            </a:extLst>
          </p:cNvPr>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A5E81DAF-F063-12E5-052D-311BA1991B20}"/>
              </a:ext>
            </a:extLst>
          </p:cNvPr>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a:extLst>
              <a:ext uri="{FF2B5EF4-FFF2-40B4-BE49-F238E27FC236}">
                <a16:creationId xmlns:a16="http://schemas.microsoft.com/office/drawing/2014/main" id="{39A1C529-E606-4BEF-68CB-82D73A80BE9C}"/>
              </a:ext>
            </a:extLst>
          </p:cNvPr>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a:extLst>
              <a:ext uri="{FF2B5EF4-FFF2-40B4-BE49-F238E27FC236}">
                <a16:creationId xmlns:a16="http://schemas.microsoft.com/office/drawing/2014/main" id="{6110E0A6-F6C7-B0CB-81F6-46946B7C378E}"/>
              </a:ext>
            </a:extLst>
          </p:cNvPr>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a:extLst>
              <a:ext uri="{FF2B5EF4-FFF2-40B4-BE49-F238E27FC236}">
                <a16:creationId xmlns:a16="http://schemas.microsoft.com/office/drawing/2014/main" id="{581F9B90-11E9-86D3-BA95-0E721CF030A4}"/>
              </a:ext>
            </a:extLst>
          </p:cNvPr>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a:extLst>
              <a:ext uri="{FF2B5EF4-FFF2-40B4-BE49-F238E27FC236}">
                <a16:creationId xmlns:a16="http://schemas.microsoft.com/office/drawing/2014/main" id="{F3DF9B0E-21D2-1E96-D91C-6D5D97E0D950}"/>
              </a:ext>
            </a:extLst>
          </p:cNvPr>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a:extLst>
              <a:ext uri="{FF2B5EF4-FFF2-40B4-BE49-F238E27FC236}">
                <a16:creationId xmlns:a16="http://schemas.microsoft.com/office/drawing/2014/main" id="{C9438600-0365-5F26-D9C0-318072695D0A}"/>
              </a:ext>
            </a:extLst>
          </p:cNvPr>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a:extLst>
              <a:ext uri="{FF2B5EF4-FFF2-40B4-BE49-F238E27FC236}">
                <a16:creationId xmlns:a16="http://schemas.microsoft.com/office/drawing/2014/main" id="{B689D9BA-6995-252C-E7BF-50D550346F41}"/>
              </a:ext>
            </a:extLst>
          </p:cNvPr>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a:extLst>
              <a:ext uri="{FF2B5EF4-FFF2-40B4-BE49-F238E27FC236}">
                <a16:creationId xmlns:a16="http://schemas.microsoft.com/office/drawing/2014/main" id="{219188D9-EF2A-53F7-337E-85386CC11A43}"/>
              </a:ext>
            </a:extLst>
          </p:cNvPr>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a:extLst>
              <a:ext uri="{FF2B5EF4-FFF2-40B4-BE49-F238E27FC236}">
                <a16:creationId xmlns:a16="http://schemas.microsoft.com/office/drawing/2014/main" id="{673DFD93-3DDD-F65D-312F-803F909CF916}"/>
              </a:ext>
            </a:extLst>
          </p:cNvPr>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a:extLst>
              <a:ext uri="{FF2B5EF4-FFF2-40B4-BE49-F238E27FC236}">
                <a16:creationId xmlns:a16="http://schemas.microsoft.com/office/drawing/2014/main" id="{27A4F250-BEA7-E8F6-F962-2FDBEE2C1E95}"/>
              </a:ext>
            </a:extLst>
          </p:cNvPr>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a:extLst>
              <a:ext uri="{FF2B5EF4-FFF2-40B4-BE49-F238E27FC236}">
                <a16:creationId xmlns:a16="http://schemas.microsoft.com/office/drawing/2014/main" id="{079347C6-32CD-6F09-D3AB-C5DD7E025FE0}"/>
              </a:ext>
            </a:extLst>
          </p:cNvPr>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a:extLst>
              <a:ext uri="{FF2B5EF4-FFF2-40B4-BE49-F238E27FC236}">
                <a16:creationId xmlns:a16="http://schemas.microsoft.com/office/drawing/2014/main" id="{4E087FDD-EA42-B2B0-D6AC-9C3751DBDB6C}"/>
              </a:ext>
            </a:extLst>
          </p:cNvPr>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a:extLst>
              <a:ext uri="{FF2B5EF4-FFF2-40B4-BE49-F238E27FC236}">
                <a16:creationId xmlns:a16="http://schemas.microsoft.com/office/drawing/2014/main" id="{0BCED309-79F1-00DE-91D6-1991D6C2D8C8}"/>
              </a:ext>
            </a:extLst>
          </p:cNvPr>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5C06DB5D-B645-B7B0-948B-8CE0B87FCEFE}"/>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62D3B8D2-D81A-610B-3197-BF0E5FAF172A}"/>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50278FB-695E-9BFA-FD0D-B31A79693542}"/>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3B1F88EA-9AE8-524E-157A-02608D6FB504}"/>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cxnSp>
        <p:nvCxnSpPr>
          <p:cNvPr id="8" name="直線矢印コネクタ 7">
            <a:extLst>
              <a:ext uri="{FF2B5EF4-FFF2-40B4-BE49-F238E27FC236}">
                <a16:creationId xmlns:a16="http://schemas.microsoft.com/office/drawing/2014/main" id="{421084DE-23A5-A3A2-807C-A1E39059F394}"/>
              </a:ext>
            </a:extLst>
          </p:cNvPr>
          <p:cNvCxnSpPr>
            <a:cxnSpLocks/>
          </p:cNvCxnSpPr>
          <p:nvPr/>
        </p:nvCxnSpPr>
        <p:spPr>
          <a:xfrm>
            <a:off x="2431687" y="1812849"/>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4" name="図 4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613CF28C-A1CE-F859-BD63-462B1E1575D2}"/>
              </a:ext>
            </a:extLst>
          </p:cNvPr>
          <p:cNvPicPr>
            <a:picLocks noChangeAspect="1"/>
          </p:cNvPicPr>
          <p:nvPr/>
        </p:nvPicPr>
        <p:blipFill>
          <a:blip r:embed="rId13"/>
          <a:stretch>
            <a:fillRect/>
          </a:stretch>
        </p:blipFill>
        <p:spPr>
          <a:xfrm>
            <a:off x="3501183" y="1867421"/>
            <a:ext cx="179760" cy="221105"/>
          </a:xfrm>
          <a:prstGeom prst="rect">
            <a:avLst/>
          </a:prstGeom>
        </p:spPr>
      </p:pic>
      <p:sp>
        <p:nvSpPr>
          <p:cNvPr id="63" name="テキスト ボックス 62">
            <a:extLst>
              <a:ext uri="{FF2B5EF4-FFF2-40B4-BE49-F238E27FC236}">
                <a16:creationId xmlns:a16="http://schemas.microsoft.com/office/drawing/2014/main" id="{C90E4425-2C24-27B0-DA78-D584BBDA2C1A}"/>
              </a:ext>
            </a:extLst>
          </p:cNvPr>
          <p:cNvSpPr txBox="1"/>
          <p:nvPr/>
        </p:nvSpPr>
        <p:spPr>
          <a:xfrm>
            <a:off x="1565205" y="2846817"/>
            <a:ext cx="1057324" cy="253916"/>
          </a:xfrm>
          <a:prstGeom prst="rect">
            <a:avLst/>
          </a:prstGeom>
          <a:noFill/>
        </p:spPr>
        <p:txBody>
          <a:bodyPr wrap="square" rtlCol="0">
            <a:spAutoFit/>
          </a:bodyPr>
          <a:lstStyle/>
          <a:p>
            <a:r>
              <a:rPr lang="ja-JP" altLang="en-US" sz="1050" dirty="0"/>
              <a:t>添付ファイル</a:t>
            </a:r>
            <a:endParaRPr lang="en-US" altLang="ja-JP" sz="1050" dirty="0"/>
          </a:p>
        </p:txBody>
      </p:sp>
      <p:sp>
        <p:nvSpPr>
          <p:cNvPr id="1025" name="テキスト ボックス 1024">
            <a:extLst>
              <a:ext uri="{FF2B5EF4-FFF2-40B4-BE49-F238E27FC236}">
                <a16:creationId xmlns:a16="http://schemas.microsoft.com/office/drawing/2014/main" id="{84AD13DF-E8E3-6528-D39C-565D7D63E109}"/>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2604775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356228" y="164021"/>
            <a:ext cx="10919947" cy="765272"/>
          </a:xfrm>
        </p:spPr>
        <p:txBody>
          <a:bodyPr>
            <a:normAutofit fontScale="90000"/>
          </a:bodyPr>
          <a:lstStyle/>
          <a:p>
            <a:r>
              <a:rPr lang="ja-JP" altLang="en-US" sz="3600" dirty="0"/>
              <a:t>アーキテクチャ全体</a:t>
            </a:r>
            <a:br>
              <a:rPr lang="en-US" altLang="ja-JP" dirty="0"/>
            </a:br>
            <a:r>
              <a:rPr lang="en-US" altLang="ja-JP" sz="2200" dirty="0"/>
              <a:t>Azure</a:t>
            </a:r>
            <a:r>
              <a:rPr lang="ja-JP" altLang="en-US" sz="2200" dirty="0"/>
              <a:t> </a:t>
            </a:r>
            <a:r>
              <a:rPr lang="en-US" altLang="ja-JP" sz="2200" dirty="0" err="1"/>
              <a:t>Sql</a:t>
            </a:r>
            <a:r>
              <a:rPr lang="en-US" altLang="ja-JP" sz="2200" dirty="0"/>
              <a:t> + </a:t>
            </a:r>
            <a:r>
              <a:rPr lang="ja-JP" altLang="en-US" sz="2200" dirty="0"/>
              <a:t>添付ファイルは</a:t>
            </a:r>
            <a:r>
              <a:rPr lang="en-US" altLang="ja-JP" sz="2200" dirty="0" err="1"/>
              <a:t>DaTAVERSE</a:t>
            </a:r>
            <a:r>
              <a:rPr lang="ja-JP" altLang="en-US" sz="2200" dirty="0"/>
              <a:t>保存（案</a:t>
            </a:r>
            <a:r>
              <a:rPr lang="en-US" altLang="ja-JP" sz="2200" dirty="0"/>
              <a:t>C</a:t>
            </a:r>
            <a:r>
              <a:rPr lang="ja-JP" altLang="en-US" sz="2200" dirty="0"/>
              <a:t>）ー 案</a:t>
            </a:r>
            <a:r>
              <a:rPr lang="en-US" altLang="ja-JP" sz="2200" dirty="0"/>
              <a:t>B</a:t>
            </a:r>
            <a:r>
              <a:rPr lang="ja-JP" altLang="en-US" sz="2200" dirty="0"/>
              <a:t>の</a:t>
            </a:r>
            <a:r>
              <a:rPr lang="en-US" altLang="ja-JP" sz="2200" dirty="0" err="1"/>
              <a:t>Sqlserver</a:t>
            </a:r>
            <a:r>
              <a:rPr lang="ja-JP" altLang="en-US" sz="2200" dirty="0"/>
              <a:t> </a:t>
            </a:r>
            <a:r>
              <a:rPr lang="en-US" altLang="ja-JP" sz="2200" dirty="0"/>
              <a:t>2022</a:t>
            </a:r>
            <a:r>
              <a:rPr lang="ja-JP" altLang="en-US" sz="2200" dirty="0"/>
              <a:t>⇒</a:t>
            </a:r>
            <a:r>
              <a:rPr lang="en-US" altLang="ja-JP" sz="2200" dirty="0"/>
              <a:t>Azure</a:t>
            </a:r>
            <a:r>
              <a:rPr lang="ja-JP" altLang="en-US" sz="2200" dirty="0"/>
              <a:t> </a:t>
            </a:r>
            <a:r>
              <a:rPr lang="en-US" altLang="ja-JP" sz="2200" dirty="0"/>
              <a:t>SQL</a:t>
            </a:r>
            <a:endParaRPr lang="ja-JP" altLang="en-US" sz="2200" dirty="0">
              <a:effectLst/>
            </a:endParaRPr>
          </a:p>
        </p:txBody>
      </p:sp>
      <p:sp>
        <p:nvSpPr>
          <p:cNvPr id="15" name="テキスト ボックス 14"/>
          <p:cNvSpPr txBox="1"/>
          <p:nvPr/>
        </p:nvSpPr>
        <p:spPr>
          <a:xfrm>
            <a:off x="418409" y="752496"/>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422776"/>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421702"/>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cxnSp>
        <p:nvCxnSpPr>
          <p:cNvPr id="22" name="コネクタ: カギ線 21"/>
          <p:cNvCxnSpPr>
            <a:cxnSpLocks/>
            <a:stCxn id="10" idx="3"/>
          </p:cNvCxnSpPr>
          <p:nvPr/>
        </p:nvCxnSpPr>
        <p:spPr>
          <a:xfrm flipV="1">
            <a:off x="4396513" y="4214368"/>
            <a:ext cx="1391034" cy="89757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cxnSpLocks/>
            <a:stCxn id="9" idx="3"/>
          </p:cNvCxnSpPr>
          <p:nvPr/>
        </p:nvCxnSpPr>
        <p:spPr>
          <a:xfrm>
            <a:off x="4615677" y="3492989"/>
            <a:ext cx="1185545" cy="54041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7"/>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a:t>Azure SQL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8"/>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sp>
        <p:nvSpPr>
          <p:cNvPr id="36" name="テキスト ボックス 35"/>
          <p:cNvSpPr txBox="1"/>
          <p:nvPr/>
        </p:nvSpPr>
        <p:spPr>
          <a:xfrm>
            <a:off x="6112104" y="2575971"/>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9"/>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0"/>
          <a:stretch>
            <a:fillRect/>
          </a:stretch>
        </p:blipFill>
        <p:spPr>
          <a:xfrm flipH="1">
            <a:off x="8918370" y="5618758"/>
            <a:ext cx="879391" cy="494658"/>
          </a:xfrm>
          <a:prstGeom prst="rect">
            <a:avLst/>
          </a:prstGeom>
        </p:spPr>
      </p:pic>
      <p:pic>
        <p:nvPicPr>
          <p:cNvPr id="41" name="図 40"/>
          <p:cNvPicPr>
            <a:picLocks noChangeAspect="1"/>
          </p:cNvPicPr>
          <p:nvPr/>
        </p:nvPicPr>
        <p:blipFill>
          <a:blip r:embed="rId11"/>
          <a:stretch>
            <a:fillRect/>
          </a:stretch>
        </p:blipFill>
        <p:spPr>
          <a:xfrm flipH="1">
            <a:off x="9310625" y="2214310"/>
            <a:ext cx="820738" cy="430887"/>
          </a:xfrm>
          <a:prstGeom prst="rect">
            <a:avLst/>
          </a:prstGeom>
        </p:spPr>
      </p:pic>
      <p:sp>
        <p:nvSpPr>
          <p:cNvPr id="42" name="テキスト ボックス 41"/>
          <p:cNvSpPr txBox="1"/>
          <p:nvPr/>
        </p:nvSpPr>
        <p:spPr>
          <a:xfrm>
            <a:off x="9716871" y="5836417"/>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cxnSpLocks/>
            <a:stCxn id="49" idx="3"/>
          </p:cNvCxnSpPr>
          <p:nvPr/>
        </p:nvCxnSpPr>
        <p:spPr>
          <a:xfrm>
            <a:off x="4395366" y="5454647"/>
            <a:ext cx="4523004" cy="567483"/>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436780"/>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421911"/>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42" name="コネクタ: カギ線 1041"/>
          <p:cNvCxnSpPr>
            <a:cxnSpLocks/>
            <a:stCxn id="1054" idx="3"/>
          </p:cNvCxnSpPr>
          <p:nvPr/>
        </p:nvCxnSpPr>
        <p:spPr>
          <a:xfrm flipV="1">
            <a:off x="2154707" y="4112768"/>
            <a:ext cx="3646515" cy="40370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7" name="テキスト ボックス 1056"/>
          <p:cNvSpPr txBox="1"/>
          <p:nvPr/>
        </p:nvSpPr>
        <p:spPr>
          <a:xfrm>
            <a:off x="6728784" y="5014950"/>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cxnSpLocks/>
            <a:stCxn id="1026" idx="3"/>
          </p:cNvCxnSpPr>
          <p:nvPr/>
        </p:nvCxnSpPr>
        <p:spPr>
          <a:xfrm flipH="1">
            <a:off x="6515253" y="1927312"/>
            <a:ext cx="4821112" cy="2080143"/>
          </a:xfrm>
          <a:prstGeom prst="bentConnector3">
            <a:avLst>
              <a:gd name="adj1" fmla="val -4742"/>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pic>
        <p:nvPicPr>
          <p:cNvPr id="8" name="図 7" descr="アイコン&#10;&#10;AI によって生成されたコンテンツは間違っている可能性があります。">
            <a:extLst>
              <a:ext uri="{FF2B5EF4-FFF2-40B4-BE49-F238E27FC236}">
                <a16:creationId xmlns:a16="http://schemas.microsoft.com/office/drawing/2014/main" id="{719142F2-26A7-0448-7ACE-27FAB4431608}"/>
              </a:ext>
            </a:extLst>
          </p:cNvPr>
          <p:cNvPicPr>
            <a:picLocks noChangeAspect="1"/>
          </p:cNvPicPr>
          <p:nvPr/>
        </p:nvPicPr>
        <p:blipFill>
          <a:blip r:embed="rId13"/>
          <a:stretch>
            <a:fillRect/>
          </a:stretch>
        </p:blipFill>
        <p:spPr>
          <a:xfrm>
            <a:off x="5385149" y="3646156"/>
            <a:ext cx="1877560" cy="1126536"/>
          </a:xfrm>
          <a:prstGeom prst="rect">
            <a:avLst/>
          </a:prstGeom>
        </p:spPr>
      </p:pic>
      <p:cxnSp>
        <p:nvCxnSpPr>
          <p:cNvPr id="1035" name="直線矢印コネクタ 1034">
            <a:extLst>
              <a:ext uri="{FF2B5EF4-FFF2-40B4-BE49-F238E27FC236}">
                <a16:creationId xmlns:a16="http://schemas.microsoft.com/office/drawing/2014/main" id="{6E25B576-54C3-2EF1-B45D-4B57AB71EF4F}"/>
              </a:ext>
            </a:extLst>
          </p:cNvPr>
          <p:cNvCxnSpPr>
            <a:cxnSpLocks/>
            <a:endCxn id="27" idx="1"/>
          </p:cNvCxnSpPr>
          <p:nvPr/>
        </p:nvCxnSpPr>
        <p:spPr>
          <a:xfrm>
            <a:off x="2431687" y="1800030"/>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0" name="テキスト ボックス 1039">
            <a:extLst>
              <a:ext uri="{FF2B5EF4-FFF2-40B4-BE49-F238E27FC236}">
                <a16:creationId xmlns:a16="http://schemas.microsoft.com/office/drawing/2014/main" id="{F0E312F7-094B-A625-AF8B-9989BE8FA020}"/>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sp>
        <p:nvSpPr>
          <p:cNvPr id="1041" name="テキスト ボックス 1040">
            <a:extLst>
              <a:ext uri="{FF2B5EF4-FFF2-40B4-BE49-F238E27FC236}">
                <a16:creationId xmlns:a16="http://schemas.microsoft.com/office/drawing/2014/main" id="{B7CE0FCA-36F1-C016-97E0-41D7AA344EDA}"/>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32155828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normAutofit/>
          </a:bodyPr>
          <a:lstStyle/>
          <a:p>
            <a:r>
              <a:rPr lang="ja-JP" altLang="en-US" dirty="0"/>
              <a:t>前回の資料</a:t>
            </a:r>
            <a:br>
              <a:rPr lang="en-US" altLang="ja-JP" dirty="0"/>
            </a:br>
            <a:r>
              <a:rPr lang="en-US" altLang="ja-JP" sz="5300" dirty="0"/>
              <a:t>(9/22</a:t>
            </a:r>
            <a:r>
              <a:rPr lang="ja-JP" altLang="en-US" sz="5300" dirty="0"/>
              <a:t>ソリューションのみ</a:t>
            </a:r>
            <a:r>
              <a:rPr lang="en-US" altLang="ja-JP" sz="5300" dirty="0"/>
              <a:t>)</a:t>
            </a:r>
            <a:endParaRPr lang="ja-JP" altLang="en-US" sz="5300"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CA49-30AB-057D-2B4A-98A85616CCC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3A88D10-4EEF-59CB-E279-501319849CA4}"/>
              </a:ext>
            </a:extLst>
          </p:cNvPr>
          <p:cNvSpPr>
            <a:spLocks noGrp="1"/>
          </p:cNvSpPr>
          <p:nvPr>
            <p:ph type="ctrTitle"/>
          </p:nvPr>
        </p:nvSpPr>
        <p:spPr/>
        <p:txBody>
          <a:bodyPr/>
          <a:lstStyle/>
          <a:p>
            <a:r>
              <a:rPr lang="en-US" altLang="ja-JP" dirty="0"/>
              <a:t>Work Area</a:t>
            </a:r>
            <a:br>
              <a:rPr lang="en-US" altLang="ja-JP" dirty="0"/>
            </a:br>
            <a:r>
              <a:rPr lang="en-US" altLang="ja-JP" dirty="0"/>
              <a:t>(</a:t>
            </a:r>
            <a:r>
              <a:rPr lang="ja-JP" altLang="en-US" dirty="0"/>
              <a:t>提出前に削除</a:t>
            </a:r>
            <a:r>
              <a:rPr lang="en-US" altLang="ja-JP" dirty="0"/>
              <a:t>)</a:t>
            </a:r>
            <a:endParaRPr lang="ja-JP" altLang="en-US" dirty="0"/>
          </a:p>
        </p:txBody>
      </p:sp>
      <p:sp>
        <p:nvSpPr>
          <p:cNvPr id="2" name="字幕 1">
            <a:extLst>
              <a:ext uri="{FF2B5EF4-FFF2-40B4-BE49-F238E27FC236}">
                <a16:creationId xmlns:a16="http://schemas.microsoft.com/office/drawing/2014/main" id="{681F6F3D-00EC-77F7-3CFB-73BC49419B99}"/>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2918652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FBF05A-382A-F772-C873-3DF1D2267197}"/>
              </a:ext>
            </a:extLst>
          </p:cNvPr>
          <p:cNvSpPr>
            <a:spLocks noGrp="1"/>
          </p:cNvSpPr>
          <p:nvPr>
            <p:ph type="title"/>
          </p:nvPr>
        </p:nvSpPr>
        <p:spPr/>
        <p:txBody>
          <a:bodyPr>
            <a:normAutofit fontScale="90000"/>
          </a:bodyPr>
          <a:lstStyle/>
          <a:p>
            <a:endParaRPr kumimoji="1" lang="ja-JP" altLang="en-US"/>
          </a:p>
        </p:txBody>
      </p:sp>
      <p:pic>
        <p:nvPicPr>
          <p:cNvPr id="4" name="図 3" descr="アイコン&#10;&#10;AI によって生成されたコンテンツは間違っている可能性があります。">
            <a:extLst>
              <a:ext uri="{FF2B5EF4-FFF2-40B4-BE49-F238E27FC236}">
                <a16:creationId xmlns:a16="http://schemas.microsoft.com/office/drawing/2014/main" id="{D3742252-C886-6E4B-0739-3C625D175FA2}"/>
              </a:ext>
            </a:extLst>
          </p:cNvPr>
          <p:cNvPicPr>
            <a:picLocks noChangeAspect="1"/>
          </p:cNvPicPr>
          <p:nvPr/>
        </p:nvPicPr>
        <p:blipFill>
          <a:blip r:embed="rId2"/>
          <a:stretch>
            <a:fillRect/>
          </a:stretch>
        </p:blipFill>
        <p:spPr>
          <a:xfrm>
            <a:off x="2146807" y="991578"/>
            <a:ext cx="2787330" cy="1672398"/>
          </a:xfrm>
          <a:prstGeom prst="rect">
            <a:avLst/>
          </a:prstGeom>
        </p:spPr>
      </p:pic>
      <p:pic>
        <p:nvPicPr>
          <p:cNvPr id="5" name="図 4" descr="グラフィカル ユーザー インターフェイス, ロゴ&#10;&#10;AI によって生成されたコンテンツは間違っている可能性があります。">
            <a:extLst>
              <a:ext uri="{FF2B5EF4-FFF2-40B4-BE49-F238E27FC236}">
                <a16:creationId xmlns:a16="http://schemas.microsoft.com/office/drawing/2014/main" id="{BC51BFD8-DC7A-E4D9-4E79-6280D0A0DBE2}"/>
              </a:ext>
            </a:extLst>
          </p:cNvPr>
          <p:cNvPicPr>
            <a:picLocks noChangeAspect="1"/>
          </p:cNvPicPr>
          <p:nvPr/>
        </p:nvPicPr>
        <p:blipFill>
          <a:blip r:embed="rId3"/>
          <a:stretch>
            <a:fillRect/>
          </a:stretch>
        </p:blipFill>
        <p:spPr>
          <a:xfrm>
            <a:off x="286548" y="747417"/>
            <a:ext cx="2160721" cy="2160721"/>
          </a:xfrm>
          <a:prstGeom prst="rect">
            <a:avLst/>
          </a:prstGeom>
        </p:spPr>
      </p:pic>
    </p:spTree>
    <p:extLst>
      <p:ext uri="{BB962C8B-B14F-4D97-AF65-F5344CB8AC3E}">
        <p14:creationId xmlns:p14="http://schemas.microsoft.com/office/powerpoint/2010/main" val="25505089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fontScale="90000"/>
          </a:bodyPr>
          <a:lstStyle/>
          <a:p>
            <a:r>
              <a:rPr kumimoji="1" lang="ja-JP" altLang="en-US"/>
              <a:t>提案（</a:t>
            </a:r>
            <a:r>
              <a:rPr kumimoji="1" lang="en-US" altLang="ja-JP"/>
              <a:t>File</a:t>
            </a:r>
            <a:r>
              <a:rPr kumimoji="1" lang="ja-JP" altLang="en-US"/>
              <a:t>を</a:t>
            </a:r>
            <a:r>
              <a:rPr kumimoji="1" lang="en-US" altLang="ja-JP"/>
              <a:t>SPO</a:t>
            </a:r>
            <a:r>
              <a:rPr kumimoji="1" lang="ja-JP" altLang="en-US"/>
              <a:t>に保存）</a:t>
            </a:r>
          </a:p>
        </p:txBody>
      </p:sp>
      <p:pic>
        <p:nvPicPr>
          <p:cNvPr id="5"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405399" y="3886352"/>
            <a:ext cx="1670840" cy="960733"/>
          </a:xfrm>
        </p:spPr>
      </p:pic>
      <p:cxnSp>
        <p:nvCxnSpPr>
          <p:cNvPr id="31" name="コネクタ: カギ線 30"/>
          <p:cNvCxnSpPr>
            <a:cxnSpLocks/>
            <a:stCxn id="5" idx="0"/>
            <a:endCxn id="6" idx="1"/>
          </p:cNvCxnSpPr>
          <p:nvPr/>
        </p:nvCxnSpPr>
        <p:spPr>
          <a:xfrm rot="5400000" flipH="1" flipV="1">
            <a:off x="1614984" y="1253431"/>
            <a:ext cx="2258756" cy="3007086"/>
          </a:xfrm>
          <a:prstGeom prst="bentConnector2">
            <a:avLst/>
          </a:prstGeom>
          <a:ln w="25400" cap="flat" cmpd="sng" algn="ctr">
            <a:solidFill>
              <a:srgbClr val="C00000"/>
            </a:solidFill>
            <a:prstDash val="solid"/>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ひし形 33"/>
          <p:cNvSpPr/>
          <p:nvPr/>
        </p:nvSpPr>
        <p:spPr>
          <a:xfrm>
            <a:off x="5795886" y="236376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7" name="コネクタ: カギ線 36"/>
          <p:cNvCxnSpPr>
            <a:cxnSpLocks/>
            <a:stCxn id="24" idx="0"/>
            <a:endCxn id="34" idx="1"/>
          </p:cNvCxnSpPr>
          <p:nvPr/>
        </p:nvCxnSpPr>
        <p:spPr>
          <a:xfrm rot="5400000" flipH="1" flipV="1">
            <a:off x="2963313" y="1007717"/>
            <a:ext cx="1442329" cy="4222817"/>
          </a:xfrm>
          <a:prstGeom prst="bentConnector2">
            <a:avLst/>
          </a:prstGeom>
          <a:ln w="25400" cap="flat" cmpd="sng" algn="ctr">
            <a:solidFill>
              <a:schemeClr val="accent2">
                <a:lumMod val="60000"/>
                <a:lumOff val="40000"/>
              </a:schemeClr>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41" name="テキスト ボックス 40"/>
          <p:cNvSpPr txBox="1"/>
          <p:nvPr/>
        </p:nvSpPr>
        <p:spPr>
          <a:xfrm>
            <a:off x="1267691" y="1613776"/>
            <a:ext cx="3182428" cy="430887"/>
          </a:xfrm>
          <a:prstGeom prst="rect">
            <a:avLst/>
          </a:prstGeom>
          <a:noFill/>
        </p:spPr>
        <p:txBody>
          <a:bodyPr wrap="square" rtlCol="0">
            <a:spAutoFit/>
          </a:bodyPr>
          <a:lstStyle/>
          <a:p>
            <a:r>
              <a:rPr kumimoji="1" lang="ja-JP" altLang="en-US" sz="1100" dirty="0">
                <a:solidFill>
                  <a:srgbClr val="C00000"/>
                </a:solidFill>
              </a:rPr>
              <a:t>定型データの取得、表示、更新</a:t>
            </a:r>
            <a:endParaRPr kumimoji="1" lang="en-US" altLang="ja-JP" sz="1100" dirty="0">
              <a:solidFill>
                <a:srgbClr val="C00000"/>
              </a:solidFill>
            </a:endParaRPr>
          </a:p>
          <a:p>
            <a:r>
              <a:rPr kumimoji="1" lang="ja-JP" altLang="en-US" sz="1100" dirty="0">
                <a:solidFill>
                  <a:srgbClr val="C00000"/>
                </a:solidFill>
              </a:rPr>
              <a:t>仕様書に紐付いた添付ファイルの情報</a:t>
            </a:r>
            <a:r>
              <a:rPr lang="ja-JP" altLang="en-US" sz="1100" dirty="0">
                <a:solidFill>
                  <a:srgbClr val="C00000"/>
                </a:solidFill>
              </a:rPr>
              <a:t>管理</a:t>
            </a:r>
            <a:endParaRPr kumimoji="1" lang="ja-JP" altLang="en-US" sz="1100" dirty="0">
              <a:solidFill>
                <a:srgbClr val="C00000"/>
              </a:solidFill>
            </a:endParaRPr>
          </a:p>
        </p:txBody>
      </p:sp>
      <p:sp>
        <p:nvSpPr>
          <p:cNvPr id="42" name="ひし形 41"/>
          <p:cNvSpPr/>
          <p:nvPr/>
        </p:nvSpPr>
        <p:spPr>
          <a:xfrm>
            <a:off x="1859442"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44" name="テキスト ボックス 43"/>
          <p:cNvSpPr txBox="1"/>
          <p:nvPr/>
        </p:nvSpPr>
        <p:spPr>
          <a:xfrm>
            <a:off x="1794795" y="2168422"/>
            <a:ext cx="2646688" cy="261610"/>
          </a:xfrm>
          <a:prstGeom prst="rect">
            <a:avLst/>
          </a:prstGeom>
          <a:noFill/>
        </p:spPr>
        <p:txBody>
          <a:bodyPr wrap="square" rtlCol="0">
            <a:spAutoFit/>
          </a:bodyPr>
          <a:lstStyle/>
          <a:p>
            <a:pPr algn="ctr"/>
            <a:r>
              <a:rPr kumimoji="1" lang="ja-JP" altLang="en-US" sz="1100" dirty="0">
                <a:solidFill>
                  <a:schemeClr val="accent1">
                    <a:lumMod val="60000"/>
                    <a:lumOff val="40000"/>
                  </a:schemeClr>
                </a:solidFill>
              </a:rPr>
              <a:t>添付ファイル履歴取得、情報表示</a:t>
            </a:r>
            <a:endParaRPr kumimoji="1" lang="en-US" altLang="ja-JP" sz="1100" dirty="0">
              <a:solidFill>
                <a:schemeClr val="accent1">
                  <a:lumMod val="60000"/>
                  <a:lumOff val="40000"/>
                </a:schemeClr>
              </a:solidFill>
            </a:endParaRPr>
          </a:p>
        </p:txBody>
      </p:sp>
      <p:cxnSp>
        <p:nvCxnSpPr>
          <p:cNvPr id="45" name="コネクタ: カギ線 44"/>
          <p:cNvCxnSpPr>
            <a:cxnSpLocks/>
            <a:stCxn id="48" idx="1"/>
            <a:endCxn id="42" idx="0"/>
          </p:cNvCxnSpPr>
          <p:nvPr/>
        </p:nvCxnSpPr>
        <p:spPr>
          <a:xfrm rot="10800000" flipV="1">
            <a:off x="1894314" y="2931595"/>
            <a:ext cx="3901573" cy="908694"/>
          </a:xfrm>
          <a:prstGeom prst="bentConnector2">
            <a:avLst/>
          </a:prstGeom>
          <a:ln w="25400" cap="flat" cmpd="sng" algn="ctr">
            <a:solidFill>
              <a:srgbClr val="0070C0"/>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ひし形 47"/>
          <p:cNvSpPr/>
          <p:nvPr/>
        </p:nvSpPr>
        <p:spPr>
          <a:xfrm>
            <a:off x="5795886" y="289739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51" name="テキスト ボックス 50"/>
          <p:cNvSpPr txBox="1"/>
          <p:nvPr/>
        </p:nvSpPr>
        <p:spPr>
          <a:xfrm>
            <a:off x="3042970" y="4002918"/>
            <a:ext cx="2396378" cy="1092607"/>
          </a:xfrm>
          <a:prstGeom prst="rect">
            <a:avLst/>
          </a:prstGeom>
          <a:noFill/>
        </p:spPr>
        <p:txBody>
          <a:bodyPr wrap="square" rtlCol="0">
            <a:spAutoFit/>
          </a:bodyPr>
          <a:lstStyle/>
          <a:p>
            <a:r>
              <a:rPr lang="en-US" altLang="ja-JP" sz="1100" dirty="0"/>
              <a:t>Flow</a:t>
            </a:r>
            <a:r>
              <a:rPr lang="ja-JP" altLang="en-US" sz="1100" dirty="0"/>
              <a:t>で添付ファイルの</a:t>
            </a:r>
            <a:r>
              <a:rPr lang="en-US" altLang="ja-JP" sz="1100" dirty="0"/>
              <a:t>Upload</a:t>
            </a:r>
            <a:r>
              <a:rPr lang="ja-JP" altLang="en-US" sz="1100" dirty="0"/>
              <a:t>実現</a:t>
            </a:r>
            <a:endParaRPr lang="en-US" altLang="ja-JP" sz="1100" dirty="0"/>
          </a:p>
          <a:p>
            <a:pPr marL="228600" indent="-228600">
              <a:buFont typeface="+mj-lt"/>
              <a:buAutoNum type="arabicPeriod"/>
            </a:pPr>
            <a:r>
              <a:rPr lang="ja-JP" altLang="en-US" sz="900" dirty="0"/>
              <a:t>保存場所の特定</a:t>
            </a:r>
            <a:endParaRPr lang="en-US" altLang="ja-JP" sz="900" dirty="0"/>
          </a:p>
          <a:p>
            <a:pPr marL="228600" indent="-228600">
              <a:buFont typeface="+mj-lt"/>
              <a:buAutoNum type="arabicPeriod"/>
            </a:pPr>
            <a:r>
              <a:rPr lang="ja-JP" altLang="en-US" sz="900" dirty="0"/>
              <a:t>ファイルを</a:t>
            </a:r>
            <a:r>
              <a:rPr lang="en-US" altLang="ja-JP" sz="900" dirty="0"/>
              <a:t>SPO</a:t>
            </a:r>
            <a:r>
              <a:rPr lang="ja-JP" altLang="en-US" sz="900" dirty="0"/>
              <a:t>の場所に</a:t>
            </a:r>
            <a:r>
              <a:rPr lang="en-US" altLang="ja-JP" sz="900" dirty="0"/>
              <a:t>Upload</a:t>
            </a:r>
          </a:p>
          <a:p>
            <a:pPr marL="228600" indent="-228600">
              <a:buFont typeface="+mj-lt"/>
              <a:buAutoNum type="arabicPeriod"/>
            </a:pPr>
            <a:r>
              <a:rPr lang="ja-JP" altLang="en-US" sz="900" dirty="0"/>
              <a:t>ファイルの権限を設定（共有相手個人、組織のみに与える）</a:t>
            </a:r>
            <a:endParaRPr lang="en-US" altLang="ja-JP" sz="900" dirty="0"/>
          </a:p>
          <a:p>
            <a:pPr marL="228600" indent="-228600">
              <a:buFont typeface="+mj-lt"/>
              <a:buAutoNum type="arabicPeriod"/>
            </a:pPr>
            <a:r>
              <a:rPr lang="ja-JP" altLang="en-US" sz="900" dirty="0"/>
              <a:t>仕様書</a:t>
            </a:r>
            <a:r>
              <a:rPr lang="en-US" altLang="ja-JP" sz="900" dirty="0"/>
              <a:t>Table</a:t>
            </a:r>
            <a:r>
              <a:rPr lang="ja-JP" altLang="en-US" sz="900" dirty="0"/>
              <a:t>に添付ファイル情報を登録する</a:t>
            </a:r>
            <a:endParaRPr lang="en-US" altLang="ja-JP" sz="900" dirty="0"/>
          </a:p>
        </p:txBody>
      </p:sp>
      <p:pic>
        <p:nvPicPr>
          <p:cNvPr id="58" name="図 57" descr="グラフィカル ユーザー インターフェイス, アプリケーション, テーブル, Excel"/>
          <p:cNvPicPr>
            <a:picLocks noChangeAspect="1"/>
          </p:cNvPicPr>
          <p:nvPr/>
        </p:nvPicPr>
        <p:blipFill>
          <a:blip r:embed="rId4"/>
          <a:stretch>
            <a:fillRect/>
          </a:stretch>
        </p:blipFill>
        <p:spPr>
          <a:xfrm>
            <a:off x="5578474" y="4154963"/>
            <a:ext cx="1932302" cy="954124"/>
          </a:xfrm>
          <a:prstGeom prst="rect">
            <a:avLst/>
          </a:prstGeom>
        </p:spPr>
      </p:pic>
      <p:sp>
        <p:nvSpPr>
          <p:cNvPr id="108" name="ひし形 107"/>
          <p:cNvSpPr/>
          <p:nvPr/>
        </p:nvSpPr>
        <p:spPr>
          <a:xfrm>
            <a:off x="2032069" y="46335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20" name="ひし形 119"/>
          <p:cNvSpPr/>
          <p:nvPr/>
        </p:nvSpPr>
        <p:spPr>
          <a:xfrm>
            <a:off x="2032069" y="47859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 name="テキスト ボックス 2"/>
          <p:cNvSpPr txBox="1"/>
          <p:nvPr/>
        </p:nvSpPr>
        <p:spPr>
          <a:xfrm>
            <a:off x="6339290" y="4785905"/>
            <a:ext cx="1473268" cy="307777"/>
          </a:xfrm>
          <a:prstGeom prst="rect">
            <a:avLst/>
          </a:prstGeom>
          <a:noFill/>
        </p:spPr>
        <p:txBody>
          <a:bodyPr wrap="square" rtlCol="0">
            <a:spAutoFit/>
          </a:bodyPr>
          <a:lstStyle/>
          <a:p>
            <a:pPr algn="ctr"/>
            <a:r>
              <a:rPr kumimoji="1" lang="en-US" altLang="ja-JP" sz="1400" dirty="0"/>
              <a:t>Office 365 App</a:t>
            </a:r>
            <a:endParaRPr kumimoji="1" lang="ja-JP" altLang="en-US" sz="1400" dirty="0"/>
          </a:p>
        </p:txBody>
      </p:sp>
      <p:sp>
        <p:nvSpPr>
          <p:cNvPr id="12" name="テキスト ボックス 11"/>
          <p:cNvSpPr txBox="1"/>
          <p:nvPr/>
        </p:nvSpPr>
        <p:spPr>
          <a:xfrm>
            <a:off x="-4275" y="7010297"/>
            <a:ext cx="11599481" cy="938719"/>
          </a:xfrm>
          <a:prstGeom prst="rect">
            <a:avLst/>
          </a:prstGeom>
          <a:noFill/>
          <a:ln w="9525" cap="flat" cmpd="sng" algn="ctr">
            <a:solidFill>
              <a:schemeClr val="tx1"/>
            </a:solidFill>
            <a:prstDash val="solid"/>
            <a:round/>
            <a:headEnd type="oval" w="med" len="med"/>
            <a:tailEnd type="oval" w="med" len="med"/>
          </a:ln>
        </p:spPr>
        <p:txBody>
          <a:bodyPr wrap="square">
            <a:spAutoFit/>
          </a:bodyPr>
          <a:lstStyle/>
          <a:p>
            <a:r>
              <a:rPr lang="ja-JP" altLang="en-US" sz="1100"/>
              <a:t>平行編集：</a:t>
            </a:r>
          </a:p>
          <a:p>
            <a:r>
              <a:rPr lang="ja-JP" altLang="en-US" sz="1100"/>
              <a:t>１．同じユーザは複数回同じ文書を開く場合、（連打）　　ー　App設計・実装に考慮要</a:t>
            </a:r>
          </a:p>
          <a:p>
            <a:r>
              <a:rPr lang="ja-JP" altLang="en-US" sz="1100"/>
              <a:t>２．異なるユーザは同じ文書を同時に編集すること　　ー　当面不要だと聞いたが、必要としたら、実現できる。</a:t>
            </a:r>
          </a:p>
          <a:p>
            <a:r>
              <a:rPr lang="ja-JP" altLang="en-US" sz="1100"/>
              <a:t>３．Power AutomationのFlowの異常処理 </a:t>
            </a:r>
            <a:r>
              <a:rPr lang="en-US" altLang="ja-JP" sz="1100"/>
              <a:t>(</a:t>
            </a:r>
            <a:r>
              <a:rPr lang="ja-JP" altLang="en-US" sz="1100"/>
              <a:t>利用者の本人に送信したい</a:t>
            </a:r>
            <a:r>
              <a:rPr lang="en-US" altLang="ja-JP" sz="1100"/>
              <a:t>)</a:t>
            </a:r>
          </a:p>
          <a:p>
            <a:r>
              <a:rPr lang="ja-JP" altLang="en-US" sz="1100"/>
              <a:t>４．ファイルの自動保存（</a:t>
            </a:r>
            <a:r>
              <a:rPr lang="en-US" altLang="ja-JP" sz="1100" err="1"/>
              <a:t>LocalApp</a:t>
            </a:r>
            <a:r>
              <a:rPr lang="ja-JP" altLang="en-US" sz="1100"/>
              <a:t>で開いた場合）の設定</a:t>
            </a:r>
            <a:r>
              <a:rPr lang="en-US" altLang="ja-JP" sz="1100"/>
              <a:t>Manual</a:t>
            </a:r>
            <a:r>
              <a:rPr lang="ja-JP" altLang="en-US" sz="1100"/>
              <a:t>が必要かも。</a:t>
            </a:r>
          </a:p>
        </p:txBody>
      </p:sp>
      <p:pic>
        <p:nvPicPr>
          <p:cNvPr id="13" name="図 12" descr="グラフィカル ユーザー インターフェイス, アプリケーション&#10;&#10;AI によって生成されたコンテンツは間違っている可能性があります。"/>
          <p:cNvPicPr>
            <a:picLocks noChangeAspect="1"/>
          </p:cNvPicPr>
          <p:nvPr/>
        </p:nvPicPr>
        <p:blipFill>
          <a:blip r:embed="rId5"/>
          <a:stretch>
            <a:fillRect/>
          </a:stretch>
        </p:blipFill>
        <p:spPr>
          <a:xfrm>
            <a:off x="3672300" y="3318715"/>
            <a:ext cx="568859" cy="490428"/>
          </a:xfrm>
          <a:prstGeom prst="rect">
            <a:avLst/>
          </a:prstGeom>
        </p:spPr>
      </p:pic>
      <p:pic>
        <p:nvPicPr>
          <p:cNvPr id="4" name="図 3" descr="ロゴ, アイコン&#10;&#10;AI によって生成されたコンテンツは間違っている可能性があります。"/>
          <p:cNvPicPr>
            <a:picLocks noChangeAspect="1"/>
          </p:cNvPicPr>
          <p:nvPr/>
        </p:nvPicPr>
        <p:blipFill>
          <a:blip r:embed="rId6"/>
          <a:stretch>
            <a:fillRect/>
          </a:stretch>
        </p:blipFill>
        <p:spPr>
          <a:xfrm>
            <a:off x="5926738" y="2125093"/>
            <a:ext cx="1235775" cy="1207970"/>
          </a:xfrm>
          <a:prstGeom prst="rect">
            <a:avLst/>
          </a:prstGeom>
        </p:spPr>
      </p:pic>
      <p:cxnSp>
        <p:nvCxnSpPr>
          <p:cNvPr id="7" name="コネクタ: カギ線 6"/>
          <p:cNvCxnSpPr>
            <a:cxnSpLocks/>
            <a:stCxn id="4" idx="2"/>
            <a:endCxn id="58" idx="0"/>
          </p:cNvCxnSpPr>
          <p:nvPr/>
        </p:nvCxnSpPr>
        <p:spPr>
          <a:xfrm rot="5400000">
            <a:off x="6133676" y="3744013"/>
            <a:ext cx="821900" cy="1"/>
          </a:xfrm>
          <a:prstGeom prst="bentConnector3">
            <a:avLst>
              <a:gd name="adj1" fmla="val 50000"/>
            </a:avLst>
          </a:prstGeom>
          <a:ln w="25400" cap="flat" cmpd="sng" algn="ctr">
            <a:solidFill>
              <a:schemeClr val="tx1"/>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p:cNvSpPr txBox="1"/>
          <p:nvPr/>
        </p:nvSpPr>
        <p:spPr>
          <a:xfrm>
            <a:off x="5142850" y="1344985"/>
            <a:ext cx="1906300" cy="577081"/>
          </a:xfrm>
          <a:prstGeom prst="rect">
            <a:avLst/>
          </a:prstGeom>
          <a:noFill/>
          <a:ln w="9525" cap="flat" cmpd="sng" algn="ctr">
            <a:noFill/>
            <a:prstDash val="solid"/>
            <a:round/>
            <a:headEnd type="oval" w="med" len="med"/>
            <a:tailEnd type="oval" w="med" len="med"/>
          </a:ln>
        </p:spPr>
        <p:txBody>
          <a:bodyPr wrap="square">
            <a:spAutoFit/>
          </a:bodyPr>
          <a:lstStyle/>
          <a:p>
            <a:r>
              <a:rPr kumimoji="1" lang="ja-JP" altLang="en-US" sz="1050" dirty="0"/>
              <a:t>定型データ</a:t>
            </a:r>
            <a:endParaRPr kumimoji="1" lang="en-US" altLang="ja-JP" sz="1050" dirty="0"/>
          </a:p>
          <a:p>
            <a:r>
              <a:rPr kumimoji="1" lang="ja-JP" altLang="en-US" sz="1050" dirty="0"/>
              <a:t>仕様書アクセス権限定義</a:t>
            </a:r>
            <a:r>
              <a:rPr kumimoji="1" lang="en-US" altLang="ja-JP" sz="1050" dirty="0"/>
              <a:t>TBL</a:t>
            </a:r>
          </a:p>
          <a:p>
            <a:r>
              <a:rPr kumimoji="1" lang="ja-JP" altLang="en-US" sz="1050" dirty="0"/>
              <a:t>保存場所</a:t>
            </a:r>
          </a:p>
        </p:txBody>
      </p:sp>
      <p:sp>
        <p:nvSpPr>
          <p:cNvPr id="21" name="テキスト ボックス 20"/>
          <p:cNvSpPr txBox="1"/>
          <p:nvPr/>
        </p:nvSpPr>
        <p:spPr>
          <a:xfrm>
            <a:off x="6890208" y="2222283"/>
            <a:ext cx="1676704" cy="577081"/>
          </a:xfrm>
          <a:prstGeom prst="rect">
            <a:avLst/>
          </a:prstGeom>
          <a:noFill/>
          <a:ln w="9525" cap="flat" cmpd="sng" algn="ctr">
            <a:noFill/>
            <a:prstDash val="solid"/>
            <a:round/>
            <a:headEnd type="oval" w="med" len="med"/>
            <a:tailEnd type="oval" w="med" len="med"/>
          </a:ln>
        </p:spPr>
        <p:txBody>
          <a:bodyPr wrap="square">
            <a:spAutoFit/>
          </a:bodyPr>
          <a:lstStyle/>
          <a:p>
            <a:r>
              <a:rPr kumimoji="1" lang="ja-JP" altLang="en-US" sz="1050" dirty="0"/>
              <a:t>添付ファイル保存場所</a:t>
            </a:r>
            <a:endParaRPr kumimoji="1" lang="en-US" altLang="ja-JP" sz="1050" dirty="0"/>
          </a:p>
          <a:p>
            <a:r>
              <a:rPr lang="ja-JP" altLang="en-US" sz="1050" dirty="0"/>
              <a:t>ファイル毎に</a:t>
            </a:r>
            <a:r>
              <a:rPr lang="en-US" altLang="ja-JP" sz="1050" dirty="0"/>
              <a:t>SPO</a:t>
            </a:r>
            <a:r>
              <a:rPr lang="ja-JP" altLang="en-US" sz="1050" dirty="0"/>
              <a:t>の権限設定を付ける</a:t>
            </a:r>
            <a:endParaRPr kumimoji="1" lang="ja-JP" altLang="en-US" sz="1050" dirty="0"/>
          </a:p>
        </p:txBody>
      </p:sp>
      <p:pic>
        <p:nvPicPr>
          <p:cNvPr id="6" name="図 5" descr="アイコン&#10;&#10;AI によって生成されたコンテンツは間違っている可能性があります。">
            <a:extLst>
              <a:ext uri="{FF2B5EF4-FFF2-40B4-BE49-F238E27FC236}">
                <a16:creationId xmlns:a16="http://schemas.microsoft.com/office/drawing/2014/main" id="{E19EBD56-F527-2DAA-35B7-007D2FFADB00}"/>
              </a:ext>
            </a:extLst>
          </p:cNvPr>
          <p:cNvPicPr>
            <a:picLocks noChangeAspect="1"/>
          </p:cNvPicPr>
          <p:nvPr/>
        </p:nvPicPr>
        <p:blipFill>
          <a:blip r:embed="rId7"/>
          <a:stretch>
            <a:fillRect/>
          </a:stretch>
        </p:blipFill>
        <p:spPr>
          <a:xfrm>
            <a:off x="4247905" y="1251509"/>
            <a:ext cx="1253623" cy="752174"/>
          </a:xfrm>
          <a:prstGeom prst="rect">
            <a:avLst/>
          </a:prstGeom>
        </p:spPr>
      </p:pic>
      <p:sp>
        <p:nvSpPr>
          <p:cNvPr id="14" name="ひし形 13">
            <a:extLst>
              <a:ext uri="{FF2B5EF4-FFF2-40B4-BE49-F238E27FC236}">
                <a16:creationId xmlns:a16="http://schemas.microsoft.com/office/drawing/2014/main" id="{1619088F-7B7F-0D0C-5777-52622828AA8C}"/>
              </a:ext>
            </a:extLst>
          </p:cNvPr>
          <p:cNvSpPr/>
          <p:nvPr/>
        </p:nvSpPr>
        <p:spPr>
          <a:xfrm>
            <a:off x="5795886" y="300367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7" name="コネクタ: カギ線 16">
            <a:extLst>
              <a:ext uri="{FF2B5EF4-FFF2-40B4-BE49-F238E27FC236}">
                <a16:creationId xmlns:a16="http://schemas.microsoft.com/office/drawing/2014/main" id="{C4DE77CA-DFAB-26B5-00F6-CBF86ECEAD93}"/>
              </a:ext>
            </a:extLst>
          </p:cNvPr>
          <p:cNvCxnSpPr>
            <a:cxnSpLocks/>
            <a:stCxn id="14" idx="1"/>
            <a:endCxn id="23" idx="3"/>
          </p:cNvCxnSpPr>
          <p:nvPr/>
        </p:nvCxnSpPr>
        <p:spPr>
          <a:xfrm rot="10800000" flipV="1">
            <a:off x="2126046" y="3037871"/>
            <a:ext cx="3669840" cy="995755"/>
          </a:xfrm>
          <a:prstGeom prst="bentConnector3">
            <a:avLst>
              <a:gd name="adj1" fmla="val 50000"/>
            </a:avLst>
          </a:prstGeom>
          <a:ln w="25400" cap="flat" cmpd="sng" algn="ctr">
            <a:solidFill>
              <a:schemeClr val="tx1"/>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3" name="ひし形 22">
            <a:extLst>
              <a:ext uri="{FF2B5EF4-FFF2-40B4-BE49-F238E27FC236}">
                <a16:creationId xmlns:a16="http://schemas.microsoft.com/office/drawing/2014/main" id="{A5308BAA-F461-69B7-7151-C49EA7DF0E99}"/>
              </a:ext>
            </a:extLst>
          </p:cNvPr>
          <p:cNvSpPr/>
          <p:nvPr/>
        </p:nvSpPr>
        <p:spPr>
          <a:xfrm>
            <a:off x="2056304" y="399942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24" name="ひし形 23">
            <a:extLst>
              <a:ext uri="{FF2B5EF4-FFF2-40B4-BE49-F238E27FC236}">
                <a16:creationId xmlns:a16="http://schemas.microsoft.com/office/drawing/2014/main" id="{4E0DDCAA-842F-A60D-AE15-8B76E1EDCB39}"/>
              </a:ext>
            </a:extLst>
          </p:cNvPr>
          <p:cNvSpPr/>
          <p:nvPr/>
        </p:nvSpPr>
        <p:spPr>
          <a:xfrm>
            <a:off x="1538198"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6" name="コネクタ: カギ線 25">
            <a:extLst>
              <a:ext uri="{FF2B5EF4-FFF2-40B4-BE49-F238E27FC236}">
                <a16:creationId xmlns:a16="http://schemas.microsoft.com/office/drawing/2014/main" id="{46252433-C8EC-5D13-2514-3E602F27D599}"/>
              </a:ext>
            </a:extLst>
          </p:cNvPr>
          <p:cNvCxnSpPr>
            <a:cxnSpLocks/>
            <a:stCxn id="46" idx="0"/>
            <a:endCxn id="30" idx="1"/>
          </p:cNvCxnSpPr>
          <p:nvPr/>
        </p:nvCxnSpPr>
        <p:spPr>
          <a:xfrm rot="5400000" flipH="1" flipV="1">
            <a:off x="3163739" y="1212716"/>
            <a:ext cx="1204006" cy="4060346"/>
          </a:xfrm>
          <a:prstGeom prst="bentConnector2">
            <a:avLst/>
          </a:prstGeom>
          <a:ln w="25400" cap="flat" cmpd="sng" algn="ctr">
            <a:solidFill>
              <a:srgbClr val="00B05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B415C372-EA08-B54F-1F53-F390993AB9D5}"/>
              </a:ext>
            </a:extLst>
          </p:cNvPr>
          <p:cNvSpPr txBox="1"/>
          <p:nvPr/>
        </p:nvSpPr>
        <p:spPr>
          <a:xfrm>
            <a:off x="1790319" y="2419346"/>
            <a:ext cx="4174895" cy="261610"/>
          </a:xfrm>
          <a:prstGeom prst="rect">
            <a:avLst/>
          </a:prstGeom>
          <a:noFill/>
        </p:spPr>
        <p:txBody>
          <a:bodyPr wrap="square" rtlCol="0">
            <a:spAutoFit/>
          </a:bodyPr>
          <a:lstStyle/>
          <a:p>
            <a:pPr algn="ctr"/>
            <a:r>
              <a:rPr kumimoji="1" lang="ja-JP" altLang="en-US" sz="1100" dirty="0">
                <a:solidFill>
                  <a:srgbClr val="00B050"/>
                </a:solidFill>
              </a:rPr>
              <a:t>個別添付ファイルのダウンロード</a:t>
            </a:r>
            <a:r>
              <a:rPr kumimoji="1" lang="en-US" altLang="ja-JP" sz="900" dirty="0">
                <a:solidFill>
                  <a:srgbClr val="00B050"/>
                </a:solidFill>
              </a:rPr>
              <a:t>(Power Apps</a:t>
            </a:r>
            <a:r>
              <a:rPr kumimoji="1" lang="ja-JP" altLang="en-US" sz="900" dirty="0">
                <a:solidFill>
                  <a:srgbClr val="00B050"/>
                </a:solidFill>
              </a:rPr>
              <a:t>の</a:t>
            </a:r>
            <a:r>
              <a:rPr kumimoji="1" lang="en-US" altLang="ja-JP" sz="900" dirty="0">
                <a:solidFill>
                  <a:srgbClr val="00B050"/>
                </a:solidFill>
              </a:rPr>
              <a:t>Download</a:t>
            </a:r>
            <a:r>
              <a:rPr kumimoji="1" lang="ja-JP" altLang="en-US" sz="900" dirty="0">
                <a:solidFill>
                  <a:srgbClr val="00B050"/>
                </a:solidFill>
              </a:rPr>
              <a:t>機能利用</a:t>
            </a:r>
            <a:r>
              <a:rPr kumimoji="1" lang="en-US" altLang="ja-JP" sz="900" dirty="0">
                <a:solidFill>
                  <a:srgbClr val="00B050"/>
                </a:solidFill>
              </a:rPr>
              <a:t>)</a:t>
            </a:r>
            <a:endParaRPr kumimoji="1" lang="en-US" altLang="ja-JP" sz="1200" dirty="0">
              <a:solidFill>
                <a:srgbClr val="00B050"/>
              </a:solidFill>
            </a:endParaRPr>
          </a:p>
        </p:txBody>
      </p:sp>
      <p:sp>
        <p:nvSpPr>
          <p:cNvPr id="30" name="ひし形 29">
            <a:extLst>
              <a:ext uri="{FF2B5EF4-FFF2-40B4-BE49-F238E27FC236}">
                <a16:creationId xmlns:a16="http://schemas.microsoft.com/office/drawing/2014/main" id="{6414B766-70CC-E76F-97F9-B6A42C10ACE6}"/>
              </a:ext>
            </a:extLst>
          </p:cNvPr>
          <p:cNvSpPr/>
          <p:nvPr/>
        </p:nvSpPr>
        <p:spPr>
          <a:xfrm>
            <a:off x="5795915" y="2606686"/>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5" name="テキスト ボックス 34">
            <a:extLst>
              <a:ext uri="{FF2B5EF4-FFF2-40B4-BE49-F238E27FC236}">
                <a16:creationId xmlns:a16="http://schemas.microsoft.com/office/drawing/2014/main" id="{6756CA08-3CC2-3435-44E9-93786073E7D4}"/>
              </a:ext>
            </a:extLst>
          </p:cNvPr>
          <p:cNvSpPr txBox="1"/>
          <p:nvPr/>
        </p:nvSpPr>
        <p:spPr>
          <a:xfrm>
            <a:off x="2091175" y="2714377"/>
            <a:ext cx="3425289" cy="261610"/>
          </a:xfrm>
          <a:prstGeom prst="rect">
            <a:avLst/>
          </a:prstGeom>
          <a:noFill/>
        </p:spPr>
        <p:txBody>
          <a:bodyPr wrap="square" rtlCol="0">
            <a:spAutoFit/>
          </a:bodyPr>
          <a:lstStyle/>
          <a:p>
            <a:pPr algn="ctr"/>
            <a:r>
              <a:rPr kumimoji="1" lang="ja-JP" altLang="en-US" sz="1100" dirty="0">
                <a:solidFill>
                  <a:srgbClr val="0070C0"/>
                </a:solidFill>
              </a:rPr>
              <a:t>個別添付ファイルの編集</a:t>
            </a:r>
            <a:r>
              <a:rPr kumimoji="1" lang="en-US" altLang="ja-JP" sz="900" dirty="0">
                <a:solidFill>
                  <a:srgbClr val="0070C0"/>
                </a:solidFill>
              </a:rPr>
              <a:t>(Power Apps</a:t>
            </a:r>
            <a:r>
              <a:rPr kumimoji="1" lang="ja-JP" altLang="en-US" sz="900" dirty="0">
                <a:solidFill>
                  <a:srgbClr val="0070C0"/>
                </a:solidFill>
              </a:rPr>
              <a:t>の</a:t>
            </a:r>
            <a:r>
              <a:rPr kumimoji="1" lang="en-US" altLang="ja-JP" sz="900" dirty="0">
                <a:solidFill>
                  <a:srgbClr val="0070C0"/>
                </a:solidFill>
              </a:rPr>
              <a:t>Launch</a:t>
            </a:r>
            <a:r>
              <a:rPr kumimoji="1" lang="ja-JP" altLang="en-US" sz="900" dirty="0">
                <a:solidFill>
                  <a:srgbClr val="0070C0"/>
                </a:solidFill>
              </a:rPr>
              <a:t>機能利用</a:t>
            </a:r>
            <a:r>
              <a:rPr kumimoji="1" lang="en-US" altLang="ja-JP" sz="900" dirty="0">
                <a:solidFill>
                  <a:srgbClr val="0070C0"/>
                </a:solidFill>
              </a:rPr>
              <a:t>)</a:t>
            </a:r>
            <a:endParaRPr kumimoji="1" lang="en-US" altLang="ja-JP" sz="1200" dirty="0">
              <a:solidFill>
                <a:srgbClr val="0070C0"/>
              </a:solidFill>
            </a:endParaRPr>
          </a:p>
        </p:txBody>
      </p:sp>
      <p:sp>
        <p:nvSpPr>
          <p:cNvPr id="46" name="ひし形 45">
            <a:extLst>
              <a:ext uri="{FF2B5EF4-FFF2-40B4-BE49-F238E27FC236}">
                <a16:creationId xmlns:a16="http://schemas.microsoft.com/office/drawing/2014/main" id="{F445C690-7DD2-4110-1C07-30A31C4D02B4}"/>
              </a:ext>
            </a:extLst>
          </p:cNvPr>
          <p:cNvSpPr/>
          <p:nvPr/>
        </p:nvSpPr>
        <p:spPr>
          <a:xfrm>
            <a:off x="1700698" y="384489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8" name="テキスト ボックス 7">
            <a:extLst>
              <a:ext uri="{FF2B5EF4-FFF2-40B4-BE49-F238E27FC236}">
                <a16:creationId xmlns:a16="http://schemas.microsoft.com/office/drawing/2014/main" id="{ADC0D30C-52F2-1301-716F-2A2B596E39D6}"/>
              </a:ext>
            </a:extLst>
          </p:cNvPr>
          <p:cNvSpPr txBox="1"/>
          <p:nvPr/>
        </p:nvSpPr>
        <p:spPr>
          <a:xfrm>
            <a:off x="6544625" y="3429000"/>
            <a:ext cx="1115541" cy="600164"/>
          </a:xfrm>
          <a:prstGeom prst="rect">
            <a:avLst/>
          </a:prstGeom>
          <a:noFill/>
        </p:spPr>
        <p:txBody>
          <a:bodyPr wrap="square" rtlCol="0">
            <a:spAutoFit/>
          </a:bodyPr>
          <a:lstStyle/>
          <a:p>
            <a:r>
              <a:rPr lang="ja-JP" altLang="en-US" sz="1100" dirty="0"/>
              <a:t>直接アクセス</a:t>
            </a:r>
            <a:r>
              <a:rPr lang="en-US" altLang="ja-JP" sz="1100" dirty="0"/>
              <a:t>(Download/ View/Edit)</a:t>
            </a:r>
            <a:endParaRPr lang="en-US" altLang="ja-JP"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068" y="4220594"/>
            <a:ext cx="1270000" cy="1270000"/>
          </a:xfrm>
          <a:prstGeom prst="rect">
            <a:avLst/>
          </a:prstGeom>
          <a:noFill/>
          <a:extLst>
            <a:ext uri="{909E8E84-426E-40DD-AFC4-6F175D3DCCD1}">
              <a14:hiddenFill xmlns:a14="http://schemas.microsoft.com/office/drawing/2010/main">
                <a:solidFill>
                  <a:srgbClr val="FFFFFF"/>
                </a:solidFill>
              </a14:hiddenFill>
            </a:ext>
          </a:extLst>
        </p:spPr>
      </p:pic>
      <p:sp>
        <p:nvSpPr>
          <p:cNvPr id="10" name="テキスト ボックス 9">
            <a:extLst>
              <a:ext uri="{FF2B5EF4-FFF2-40B4-BE49-F238E27FC236}">
                <a16:creationId xmlns:a16="http://schemas.microsoft.com/office/drawing/2014/main" id="{7CFC232C-62C8-2DC6-3A31-9BFE4CB9075A}"/>
              </a:ext>
            </a:extLst>
          </p:cNvPr>
          <p:cNvSpPr txBox="1"/>
          <p:nvPr/>
        </p:nvSpPr>
        <p:spPr>
          <a:xfrm>
            <a:off x="715256" y="5432602"/>
            <a:ext cx="1111020" cy="276999"/>
          </a:xfrm>
          <a:prstGeom prst="rect">
            <a:avLst/>
          </a:prstGeom>
          <a:noFill/>
        </p:spPr>
        <p:txBody>
          <a:bodyPr wrap="square" rtlCol="0">
            <a:spAutoFit/>
          </a:bodyPr>
          <a:lstStyle/>
          <a:p>
            <a:pPr algn="ctr"/>
            <a:r>
              <a:rPr kumimoji="1" lang="en-US" altLang="ja-JP" sz="1200" dirty="0"/>
              <a:t>Notes DB</a:t>
            </a:r>
            <a:endParaRPr kumimoji="1" lang="ja-JP" altLang="en-US" sz="1200" dirty="0"/>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1881887" y="4713590"/>
            <a:ext cx="1388160" cy="307777"/>
          </a:xfrm>
          <a:prstGeom prst="rect">
            <a:avLst/>
          </a:prstGeom>
          <a:noFill/>
        </p:spPr>
        <p:txBody>
          <a:bodyPr wrap="square" rtlCol="0">
            <a:spAutoFit/>
          </a:bodyPr>
          <a:lstStyle/>
          <a:p>
            <a:pPr algn="ctr"/>
            <a:r>
              <a:rPr lang="ja-JP" altLang="en-US" sz="1400" b="1" dirty="0"/>
              <a:t>エクスポート</a:t>
            </a:r>
            <a:endParaRPr kumimoji="1" lang="ja-JP" altLang="en-US" sz="1400" b="1" dirty="0"/>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extLst>
              <p:ext uri="{D42A27DB-BD31-4B8C-83A1-F6EECF244321}">
                <p14:modId xmlns:p14="http://schemas.microsoft.com/office/powerpoint/2010/main" val="2695955011"/>
              </p:ext>
            </p:extLst>
          </p:nvPr>
        </p:nvGraphicFramePr>
        <p:xfrm>
          <a:off x="535938" y="948205"/>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
        <p:nvSpPr>
          <p:cNvPr id="4" name="四角形: 角を丸くする 3">
            <a:extLst>
              <a:ext uri="{FF2B5EF4-FFF2-40B4-BE49-F238E27FC236}">
                <a16:creationId xmlns:a16="http://schemas.microsoft.com/office/drawing/2014/main" id="{B21B5187-AD49-01AD-A4EA-9232BB096540}"/>
              </a:ext>
            </a:extLst>
          </p:cNvPr>
          <p:cNvSpPr/>
          <p:nvPr/>
        </p:nvSpPr>
        <p:spPr>
          <a:xfrm>
            <a:off x="6191600" y="4539353"/>
            <a:ext cx="1965960" cy="971138"/>
          </a:xfrm>
          <a:prstGeom prst="roundRect">
            <a:avLst>
              <a:gd name="adj" fmla="val 1038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1400" dirty="0"/>
              <a:t>Java/Python/PowerShell</a:t>
            </a:r>
          </a:p>
          <a:p>
            <a:pPr algn="ctr"/>
            <a:r>
              <a:rPr lang="ja-JP" altLang="en-US" sz="1400" dirty="0"/>
              <a:t>ツール</a:t>
            </a:r>
          </a:p>
        </p:txBody>
      </p:sp>
      <p:pic>
        <p:nvPicPr>
          <p:cNvPr id="5" name="図 4" descr="アイコン&#10;&#10;AI によって生成されたコンテンツは間違っている可能性があります。">
            <a:extLst>
              <a:ext uri="{FF2B5EF4-FFF2-40B4-BE49-F238E27FC236}">
                <a16:creationId xmlns:a16="http://schemas.microsoft.com/office/drawing/2014/main" id="{91D2EBA0-8D8B-4A96-5DFA-D52C0DD23A7A}"/>
              </a:ext>
            </a:extLst>
          </p:cNvPr>
          <p:cNvPicPr>
            <a:picLocks noChangeAspect="1"/>
          </p:cNvPicPr>
          <p:nvPr/>
        </p:nvPicPr>
        <p:blipFill>
          <a:blip r:embed="rId4"/>
          <a:stretch>
            <a:fillRect/>
          </a:stretch>
        </p:blipFill>
        <p:spPr>
          <a:xfrm>
            <a:off x="8951309" y="4461654"/>
            <a:ext cx="1877560" cy="1126536"/>
          </a:xfrm>
          <a:prstGeom prst="rect">
            <a:avLst/>
          </a:prstGeom>
        </p:spPr>
      </p:pic>
      <p:sp>
        <p:nvSpPr>
          <p:cNvPr id="15" name="矢印: ストライプ 14">
            <a:extLst>
              <a:ext uri="{FF2B5EF4-FFF2-40B4-BE49-F238E27FC236}">
                <a16:creationId xmlns:a16="http://schemas.microsoft.com/office/drawing/2014/main" id="{D0B0EC3F-433B-0223-2F5B-DF14F0B375D3}"/>
              </a:ext>
            </a:extLst>
          </p:cNvPr>
          <p:cNvSpPr/>
          <p:nvPr/>
        </p:nvSpPr>
        <p:spPr>
          <a:xfrm>
            <a:off x="5074291" y="4637524"/>
            <a:ext cx="1021708" cy="774796"/>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grpSp>
        <p:nvGrpSpPr>
          <p:cNvPr id="17" name="グループ化 16">
            <a:extLst>
              <a:ext uri="{FF2B5EF4-FFF2-40B4-BE49-F238E27FC236}">
                <a16:creationId xmlns:a16="http://schemas.microsoft.com/office/drawing/2014/main" id="{A8953697-4D99-227D-2ED8-0BCC6BCF7026}"/>
              </a:ext>
            </a:extLst>
          </p:cNvPr>
          <p:cNvGrpSpPr/>
          <p:nvPr/>
        </p:nvGrpSpPr>
        <p:grpSpPr>
          <a:xfrm>
            <a:off x="3173511" y="3594674"/>
            <a:ext cx="1843911" cy="2640970"/>
            <a:chOff x="4059986" y="3540472"/>
            <a:chExt cx="1843911" cy="2640970"/>
          </a:xfrm>
        </p:grpSpPr>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78253" y="3540472"/>
              <a:ext cx="1270000" cy="1270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Xml file - Free files and folders icons">
              <a:extLst>
                <a:ext uri="{FF2B5EF4-FFF2-40B4-BE49-F238E27FC236}">
                  <a16:creationId xmlns:a16="http://schemas.microsoft.com/office/drawing/2014/main" id="{68CE97E2-BC10-25C7-CA19-22C0A771AB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44501" y="4918249"/>
              <a:ext cx="920302" cy="92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Json filetype - ファイルとフォルダ アイコン">
              <a:extLst>
                <a:ext uri="{FF2B5EF4-FFF2-40B4-BE49-F238E27FC236}">
                  <a16:creationId xmlns:a16="http://schemas.microsoft.com/office/drawing/2014/main" id="{A00E15C1-3273-7F5E-9EC7-1604B77EEA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3253" y="5244446"/>
              <a:ext cx="705871" cy="705871"/>
            </a:xfrm>
            <a:prstGeom prst="rect">
              <a:avLst/>
            </a:prstGeom>
            <a:noFill/>
            <a:extLst>
              <a:ext uri="{909E8E84-426E-40DD-AFC4-6F175D3DCCD1}">
                <a14:hiddenFill xmlns:a14="http://schemas.microsoft.com/office/drawing/2010/main">
                  <a:solidFill>
                    <a:srgbClr val="FFFFFF"/>
                  </a:solidFill>
                </a14:hiddenFill>
              </a:ext>
            </a:extLst>
          </p:spPr>
        </p:pic>
        <p:sp>
          <p:nvSpPr>
            <p:cNvPr id="14" name="テキスト ボックス 13">
              <a:extLst>
                <a:ext uri="{FF2B5EF4-FFF2-40B4-BE49-F238E27FC236}">
                  <a16:creationId xmlns:a16="http://schemas.microsoft.com/office/drawing/2014/main" id="{9CE3C64D-E113-3D67-3C6C-6348C31AC249}"/>
                </a:ext>
              </a:extLst>
            </p:cNvPr>
            <p:cNvSpPr txBox="1"/>
            <p:nvPr/>
          </p:nvSpPr>
          <p:spPr>
            <a:xfrm>
              <a:off x="4059986" y="5904443"/>
              <a:ext cx="1820182" cy="276999"/>
            </a:xfrm>
            <a:prstGeom prst="rect">
              <a:avLst/>
            </a:prstGeom>
            <a:noFill/>
          </p:spPr>
          <p:txBody>
            <a:bodyPr wrap="square" rtlCol="0">
              <a:spAutoFit/>
            </a:bodyPr>
            <a:lstStyle/>
            <a:p>
              <a:pPr algn="ctr"/>
              <a:r>
                <a:rPr lang="en-US" altLang="ja-JP" sz="1200" dirty="0"/>
                <a:t>DB</a:t>
              </a:r>
              <a:r>
                <a:rPr lang="ja-JP" altLang="en-US" sz="1200" dirty="0"/>
                <a:t>毎の</a:t>
              </a:r>
              <a:r>
                <a:rPr lang="en-US" altLang="ja-JP" sz="1200" dirty="0"/>
                <a:t>Mapping</a:t>
              </a:r>
              <a:r>
                <a:rPr lang="ja-JP" altLang="en-US" sz="1200" dirty="0"/>
                <a:t>ファイル</a:t>
              </a:r>
              <a:endParaRPr kumimoji="1" lang="ja-JP" altLang="en-US" sz="1200" dirty="0"/>
            </a:p>
          </p:txBody>
        </p:sp>
        <p:sp>
          <p:nvSpPr>
            <p:cNvPr id="16" name="右中かっこ 15">
              <a:extLst>
                <a:ext uri="{FF2B5EF4-FFF2-40B4-BE49-F238E27FC236}">
                  <a16:creationId xmlns:a16="http://schemas.microsoft.com/office/drawing/2014/main" id="{394D9695-8E1C-EFB3-3045-07AEC1091EE6}"/>
                </a:ext>
              </a:extLst>
            </p:cNvPr>
            <p:cNvSpPr/>
            <p:nvPr/>
          </p:nvSpPr>
          <p:spPr>
            <a:xfrm>
              <a:off x="5496503" y="4407452"/>
              <a:ext cx="407394" cy="1372497"/>
            </a:xfrm>
            <a:prstGeom prst="rightBrace">
              <a:avLst>
                <a:gd name="adj1" fmla="val 23296"/>
                <a:gd name="adj2" fmla="val 41837"/>
              </a:avLst>
            </a:prstGeom>
            <a:ln w="381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2" name="テキスト ボックス 11">
            <a:extLst>
              <a:ext uri="{FF2B5EF4-FFF2-40B4-BE49-F238E27FC236}">
                <a16:creationId xmlns:a16="http://schemas.microsoft.com/office/drawing/2014/main" id="{51FCB6B3-6A09-8DE3-6FD0-338CBD6BE480}"/>
              </a:ext>
            </a:extLst>
          </p:cNvPr>
          <p:cNvSpPr txBox="1"/>
          <p:nvPr/>
        </p:nvSpPr>
        <p:spPr>
          <a:xfrm>
            <a:off x="1826276" y="5789367"/>
            <a:ext cx="1310206" cy="307777"/>
          </a:xfrm>
          <a:prstGeom prst="rect">
            <a:avLst/>
          </a:prstGeom>
          <a:noFill/>
        </p:spPr>
        <p:txBody>
          <a:bodyPr wrap="square" rtlCol="0">
            <a:spAutoFit/>
          </a:bodyPr>
          <a:lstStyle/>
          <a:p>
            <a:pPr algn="ctr"/>
            <a:r>
              <a:rPr lang="ja-JP" altLang="en-US" sz="1400" b="1" dirty="0"/>
              <a:t>分析、作成</a:t>
            </a:r>
            <a:endParaRPr kumimoji="1" lang="ja-JP" altLang="en-US" sz="1400" b="1" dirty="0"/>
          </a:p>
        </p:txBody>
      </p:sp>
      <p:sp>
        <p:nvSpPr>
          <p:cNvPr id="18" name="四角形: 角を丸くする 17">
            <a:extLst>
              <a:ext uri="{FF2B5EF4-FFF2-40B4-BE49-F238E27FC236}">
                <a16:creationId xmlns:a16="http://schemas.microsoft.com/office/drawing/2014/main" id="{30C8E0F6-7AAD-9E23-382D-2140A28E85AB}"/>
              </a:ext>
            </a:extLst>
          </p:cNvPr>
          <p:cNvSpPr/>
          <p:nvPr/>
        </p:nvSpPr>
        <p:spPr>
          <a:xfrm>
            <a:off x="6158424" y="3324278"/>
            <a:ext cx="1965960" cy="458751"/>
          </a:xfrm>
          <a:prstGeom prst="roundRect">
            <a:avLst>
              <a:gd name="adj" fmla="val 1038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ja-JP" altLang="en-US" sz="1400" dirty="0"/>
              <a:t>比較ツール</a:t>
            </a:r>
          </a:p>
        </p:txBody>
      </p:sp>
      <p:sp>
        <p:nvSpPr>
          <p:cNvPr id="19" name="右中かっこ 18">
            <a:extLst>
              <a:ext uri="{FF2B5EF4-FFF2-40B4-BE49-F238E27FC236}">
                <a16:creationId xmlns:a16="http://schemas.microsoft.com/office/drawing/2014/main" id="{4683B6D5-3C4A-7D18-0571-796F44C66C3C}"/>
              </a:ext>
            </a:extLst>
          </p:cNvPr>
          <p:cNvSpPr/>
          <p:nvPr/>
        </p:nvSpPr>
        <p:spPr>
          <a:xfrm rot="16200000">
            <a:off x="6865808" y="1510496"/>
            <a:ext cx="551193" cy="5200009"/>
          </a:xfrm>
          <a:prstGeom prst="rightBrace">
            <a:avLst>
              <a:gd name="adj1" fmla="val 47093"/>
              <a:gd name="adj2" fmla="val 50000"/>
            </a:avLst>
          </a:prstGeom>
          <a:ln w="50800"/>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0" name="矢印: ストライプ 19">
            <a:extLst>
              <a:ext uri="{FF2B5EF4-FFF2-40B4-BE49-F238E27FC236}">
                <a16:creationId xmlns:a16="http://schemas.microsoft.com/office/drawing/2014/main" id="{923A07FA-838B-6416-28D6-F6252C2776A9}"/>
              </a:ext>
            </a:extLst>
          </p:cNvPr>
          <p:cNvSpPr/>
          <p:nvPr/>
        </p:nvSpPr>
        <p:spPr>
          <a:xfrm>
            <a:off x="8300219" y="3300241"/>
            <a:ext cx="1021708" cy="506823"/>
          </a:xfrm>
          <a:prstGeom prst="stripedRightArrow">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ja-JP" altLang="en-US">
              <a:solidFill>
                <a:schemeClr val="dk1"/>
              </a:solidFill>
            </a:endParaRPr>
          </a:p>
        </p:txBody>
      </p:sp>
      <p:sp>
        <p:nvSpPr>
          <p:cNvPr id="22" name="フローチャート: 複数書類 21">
            <a:extLst>
              <a:ext uri="{FF2B5EF4-FFF2-40B4-BE49-F238E27FC236}">
                <a16:creationId xmlns:a16="http://schemas.microsoft.com/office/drawing/2014/main" id="{BF7342F7-18CC-F061-4F82-831816DBA13C}"/>
              </a:ext>
            </a:extLst>
          </p:cNvPr>
          <p:cNvSpPr/>
          <p:nvPr/>
        </p:nvSpPr>
        <p:spPr>
          <a:xfrm>
            <a:off x="9558471" y="3300241"/>
            <a:ext cx="875944" cy="551194"/>
          </a:xfrm>
          <a:prstGeom prst="flowChartMultidocumen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B13018CD-E509-354B-8E58-782899EA2FDE}"/>
              </a:ext>
            </a:extLst>
          </p:cNvPr>
          <p:cNvSpPr txBox="1"/>
          <p:nvPr/>
        </p:nvSpPr>
        <p:spPr>
          <a:xfrm>
            <a:off x="9890089" y="3742162"/>
            <a:ext cx="1237024" cy="276999"/>
          </a:xfrm>
          <a:prstGeom prst="rect">
            <a:avLst/>
          </a:prstGeom>
          <a:noFill/>
        </p:spPr>
        <p:txBody>
          <a:bodyPr wrap="square" rtlCol="0">
            <a:spAutoFit/>
          </a:bodyPr>
          <a:lstStyle/>
          <a:p>
            <a:pPr algn="ctr"/>
            <a:r>
              <a:rPr kumimoji="1" lang="ja-JP" altLang="en-US" sz="1200" dirty="0"/>
              <a:t>移行レポート</a:t>
            </a:r>
          </a:p>
        </p:txBody>
      </p:sp>
      <p:sp>
        <p:nvSpPr>
          <p:cNvPr id="24" name="矢印: ストライプ 23">
            <a:extLst>
              <a:ext uri="{FF2B5EF4-FFF2-40B4-BE49-F238E27FC236}">
                <a16:creationId xmlns:a16="http://schemas.microsoft.com/office/drawing/2014/main" id="{5C8B1C8B-E215-8C5A-9591-0D766762304A}"/>
              </a:ext>
            </a:extLst>
          </p:cNvPr>
          <p:cNvSpPr/>
          <p:nvPr/>
        </p:nvSpPr>
        <p:spPr>
          <a:xfrm>
            <a:off x="8253161" y="4647724"/>
            <a:ext cx="1021708" cy="774796"/>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sp>
        <p:nvSpPr>
          <p:cNvPr id="25" name="矢印: ストライプ 24">
            <a:extLst>
              <a:ext uri="{FF2B5EF4-FFF2-40B4-BE49-F238E27FC236}">
                <a16:creationId xmlns:a16="http://schemas.microsoft.com/office/drawing/2014/main" id="{619BF5DA-3127-06E9-10F1-D92A9B5B89E5}"/>
              </a:ext>
            </a:extLst>
          </p:cNvPr>
          <p:cNvSpPr/>
          <p:nvPr/>
        </p:nvSpPr>
        <p:spPr>
          <a:xfrm>
            <a:off x="2088748" y="3942192"/>
            <a:ext cx="1021708" cy="695332"/>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sp>
        <p:nvSpPr>
          <p:cNvPr id="26" name="矢印: ストライプ 25">
            <a:extLst>
              <a:ext uri="{FF2B5EF4-FFF2-40B4-BE49-F238E27FC236}">
                <a16:creationId xmlns:a16="http://schemas.microsoft.com/office/drawing/2014/main" id="{3A130A57-62DD-1787-F304-7293B0C39D2A}"/>
              </a:ext>
            </a:extLst>
          </p:cNvPr>
          <p:cNvSpPr/>
          <p:nvPr/>
        </p:nvSpPr>
        <p:spPr>
          <a:xfrm>
            <a:off x="2081297" y="5123416"/>
            <a:ext cx="1021708" cy="695332"/>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spTree>
    <p:extLst>
      <p:ext uri="{BB962C8B-B14F-4D97-AF65-F5344CB8AC3E}">
        <p14:creationId xmlns:p14="http://schemas.microsoft.com/office/powerpoint/2010/main" val="2225649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F248F-6B24-06C0-B20D-764246948340}"/>
            </a:ext>
          </a:extLst>
        </p:cNvPr>
        <p:cNvGrpSpPr/>
        <p:nvPr/>
      </p:nvGrpSpPr>
      <p:grpSpPr>
        <a:xfrm>
          <a:off x="0" y="0"/>
          <a:ext cx="0" cy="0"/>
          <a:chOff x="0" y="0"/>
          <a:chExt cx="0" cy="0"/>
        </a:xfrm>
      </p:grpSpPr>
      <p:sp>
        <p:nvSpPr>
          <p:cNvPr id="7" name="フローチャート: 磁気ディスク 6">
            <a:extLst>
              <a:ext uri="{FF2B5EF4-FFF2-40B4-BE49-F238E27FC236}">
                <a16:creationId xmlns:a16="http://schemas.microsoft.com/office/drawing/2014/main" id="{267FCE8A-3BB4-C4AC-B5ED-DFAD4467341A}"/>
              </a:ext>
            </a:extLst>
          </p:cNvPr>
          <p:cNvSpPr/>
          <p:nvPr/>
        </p:nvSpPr>
        <p:spPr>
          <a:xfrm>
            <a:off x="1458976" y="1044448"/>
            <a:ext cx="9115552" cy="5031232"/>
          </a:xfrm>
          <a:prstGeom prst="flowChartMagneticDisk">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kumimoji="1" lang="ja-JP" altLang="en-US"/>
          </a:p>
        </p:txBody>
      </p:sp>
      <p:pic>
        <p:nvPicPr>
          <p:cNvPr id="39" name="図 38" descr="建物, ウィンドウ が含まれている画像&#10;&#10;AI によって生成されたコンテンツは間違っている可能性があります。">
            <a:extLst>
              <a:ext uri="{FF2B5EF4-FFF2-40B4-BE49-F238E27FC236}">
                <a16:creationId xmlns:a16="http://schemas.microsoft.com/office/drawing/2014/main" id="{4F858217-316E-FA1B-86F7-30BA9DF87731}"/>
              </a:ext>
            </a:extLst>
          </p:cNvPr>
          <p:cNvPicPr>
            <a:picLocks noChangeAspect="1"/>
          </p:cNvPicPr>
          <p:nvPr/>
        </p:nvPicPr>
        <p:blipFill>
          <a:blip r:embed="rId3"/>
          <a:stretch>
            <a:fillRect/>
          </a:stretch>
        </p:blipFill>
        <p:spPr>
          <a:xfrm>
            <a:off x="3721423" y="3708873"/>
            <a:ext cx="2143212" cy="1580515"/>
          </a:xfrm>
          <a:prstGeom prst="rect">
            <a:avLst/>
          </a:prstGeom>
        </p:spPr>
      </p:pic>
      <p:sp>
        <p:nvSpPr>
          <p:cNvPr id="2" name="タイトル 1">
            <a:extLst>
              <a:ext uri="{FF2B5EF4-FFF2-40B4-BE49-F238E27FC236}">
                <a16:creationId xmlns:a16="http://schemas.microsoft.com/office/drawing/2014/main" id="{6BCC1896-7B19-6E33-6306-20B16D34626E}"/>
              </a:ext>
            </a:extLst>
          </p:cNvPr>
          <p:cNvSpPr>
            <a:spLocks noGrp="1"/>
          </p:cNvSpPr>
          <p:nvPr>
            <p:ph type="title"/>
          </p:nvPr>
        </p:nvSpPr>
        <p:spPr>
          <a:xfrm>
            <a:off x="414336" y="255263"/>
            <a:ext cx="9327072" cy="683629"/>
          </a:xfrm>
        </p:spPr>
        <p:txBody>
          <a:bodyPr>
            <a:normAutofit/>
          </a:bodyPr>
          <a:lstStyle/>
          <a:p>
            <a:r>
              <a:rPr lang="ja-JP" altLang="en-US" dirty="0"/>
              <a:t>仕様書データベース</a:t>
            </a:r>
            <a:endParaRPr lang="ja-JP" altLang="en-US" dirty="0">
              <a:effectLst/>
            </a:endParaRPr>
          </a:p>
        </p:txBody>
      </p:sp>
      <p:pic>
        <p:nvPicPr>
          <p:cNvPr id="8" name="Picture 2" descr="データベーステーブルの無料イラスト | フリーイラスト素材集 ジャパクリップ">
            <a:extLst>
              <a:ext uri="{FF2B5EF4-FFF2-40B4-BE49-F238E27FC236}">
                <a16:creationId xmlns:a16="http://schemas.microsoft.com/office/drawing/2014/main" id="{8F0F9428-E5F2-8579-31E6-2A16576F507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45660" y="597077"/>
            <a:ext cx="2486025" cy="183832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Permission - Free business and finance icons">
            <a:extLst>
              <a:ext uri="{FF2B5EF4-FFF2-40B4-BE49-F238E27FC236}">
                <a16:creationId xmlns:a16="http://schemas.microsoft.com/office/drawing/2014/main" id="{03583046-8B4F-5729-81F7-DB98C6DDBF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46815" y="3060327"/>
            <a:ext cx="1750781" cy="1750781"/>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descr="建物, ウィンドウ が含まれている画像&#10;&#10;AI によって生成されたコンテンツは間違っている可能性があります。">
            <a:extLst>
              <a:ext uri="{FF2B5EF4-FFF2-40B4-BE49-F238E27FC236}">
                <a16:creationId xmlns:a16="http://schemas.microsoft.com/office/drawing/2014/main" id="{21CCBC22-EC8C-16ED-F748-B468428D1D88}"/>
              </a:ext>
            </a:extLst>
          </p:cNvPr>
          <p:cNvPicPr>
            <a:picLocks noChangeAspect="1"/>
          </p:cNvPicPr>
          <p:nvPr/>
        </p:nvPicPr>
        <p:blipFill>
          <a:blip r:embed="rId3"/>
          <a:stretch>
            <a:fillRect/>
          </a:stretch>
        </p:blipFill>
        <p:spPr>
          <a:xfrm>
            <a:off x="1558880" y="3165018"/>
            <a:ext cx="2143212" cy="1580515"/>
          </a:xfrm>
          <a:prstGeom prst="rect">
            <a:avLst/>
          </a:prstGeom>
        </p:spPr>
      </p:pic>
      <p:pic>
        <p:nvPicPr>
          <p:cNvPr id="1030" name="Picture 6" descr="Table Generic color lineal-color icon | Freepik">
            <a:extLst>
              <a:ext uri="{FF2B5EF4-FFF2-40B4-BE49-F238E27FC236}">
                <a16:creationId xmlns:a16="http://schemas.microsoft.com/office/drawing/2014/main" id="{1A48B671-0AE7-B60E-E059-A39796D4E44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268728" y="2937469"/>
            <a:ext cx="1825243" cy="1825243"/>
          </a:xfrm>
          <a:prstGeom prst="rect">
            <a:avLst/>
          </a:prstGeom>
          <a:noFill/>
          <a:extLst>
            <a:ext uri="{909E8E84-426E-40DD-AFC4-6F175D3DCCD1}">
              <a14:hiddenFill xmlns:a14="http://schemas.microsoft.com/office/drawing/2010/main">
                <a:solidFill>
                  <a:srgbClr val="FFFFFF"/>
                </a:solidFill>
              </a14:hiddenFill>
            </a:ext>
          </a:extLst>
        </p:spPr>
      </p:pic>
      <p:sp>
        <p:nvSpPr>
          <p:cNvPr id="28" name="テキスト ボックス 27">
            <a:extLst>
              <a:ext uri="{FF2B5EF4-FFF2-40B4-BE49-F238E27FC236}">
                <a16:creationId xmlns:a16="http://schemas.microsoft.com/office/drawing/2014/main" id="{2957ADDB-EC40-AFD2-B015-4E2E2D44C512}"/>
              </a:ext>
            </a:extLst>
          </p:cNvPr>
          <p:cNvSpPr txBox="1"/>
          <p:nvPr/>
        </p:nvSpPr>
        <p:spPr>
          <a:xfrm>
            <a:off x="1605674" y="4762775"/>
            <a:ext cx="2345265" cy="1015663"/>
          </a:xfrm>
          <a:prstGeom prst="rect">
            <a:avLst/>
          </a:prstGeom>
          <a:noFill/>
        </p:spPr>
        <p:txBody>
          <a:bodyPr wrap="square" rtlCol="0">
            <a:spAutoFit/>
          </a:bodyPr>
          <a:lstStyle/>
          <a:p>
            <a:pPr algn="ctr"/>
            <a:r>
              <a:rPr lang="ja-JP" altLang="en-US" sz="2000" b="1" dirty="0">
                <a:solidFill>
                  <a:srgbClr val="0070C0"/>
                </a:solidFill>
              </a:rPr>
              <a:t>仕様書管理</a:t>
            </a:r>
            <a:endParaRPr lang="en-US" altLang="ja-JP" sz="2000" b="1" dirty="0">
              <a:solidFill>
                <a:srgbClr val="0070C0"/>
              </a:solidFill>
            </a:endParaRPr>
          </a:p>
          <a:p>
            <a:pPr algn="ctr"/>
            <a:r>
              <a:rPr lang="ja-JP" altLang="en-US" sz="2000" b="1" dirty="0">
                <a:solidFill>
                  <a:srgbClr val="0070C0"/>
                </a:solidFill>
              </a:rPr>
              <a:t>テーブル</a:t>
            </a:r>
            <a:endParaRPr lang="en-US" altLang="ja-JP" sz="2000" b="1" dirty="0">
              <a:solidFill>
                <a:srgbClr val="0070C0"/>
              </a:solidFill>
            </a:endParaRPr>
          </a:p>
          <a:p>
            <a:pPr algn="ctr"/>
            <a:r>
              <a:rPr lang="ja-JP" altLang="en-US" sz="2000" b="1" dirty="0">
                <a:solidFill>
                  <a:srgbClr val="0070C0"/>
                </a:solidFill>
              </a:rPr>
              <a:t>（</a:t>
            </a:r>
            <a:r>
              <a:rPr lang="en-US" altLang="ja-JP" sz="2000" b="1" dirty="0">
                <a:solidFill>
                  <a:srgbClr val="0070C0"/>
                </a:solidFill>
              </a:rPr>
              <a:t>Transaction</a:t>
            </a:r>
            <a:r>
              <a:rPr lang="ja-JP" altLang="en-US" sz="2000" b="1" dirty="0">
                <a:solidFill>
                  <a:srgbClr val="0070C0"/>
                </a:solidFill>
              </a:rPr>
              <a:t>）</a:t>
            </a:r>
          </a:p>
        </p:txBody>
      </p:sp>
      <p:sp>
        <p:nvSpPr>
          <p:cNvPr id="29" name="テキスト ボックス 28">
            <a:extLst>
              <a:ext uri="{FF2B5EF4-FFF2-40B4-BE49-F238E27FC236}">
                <a16:creationId xmlns:a16="http://schemas.microsoft.com/office/drawing/2014/main" id="{42685630-566E-93A6-9F30-BAF453573082}"/>
              </a:ext>
            </a:extLst>
          </p:cNvPr>
          <p:cNvSpPr txBox="1"/>
          <p:nvPr/>
        </p:nvSpPr>
        <p:spPr>
          <a:xfrm>
            <a:off x="5386699" y="4811108"/>
            <a:ext cx="2401367" cy="707886"/>
          </a:xfrm>
          <a:prstGeom prst="rect">
            <a:avLst/>
          </a:prstGeom>
          <a:noFill/>
        </p:spPr>
        <p:txBody>
          <a:bodyPr wrap="square" rtlCol="0">
            <a:spAutoFit/>
          </a:bodyPr>
          <a:lstStyle/>
          <a:p>
            <a:pPr algn="ctr"/>
            <a:r>
              <a:rPr lang="ja-JP" altLang="en-US" sz="2000" b="1" dirty="0">
                <a:solidFill>
                  <a:srgbClr val="0070C0"/>
                </a:solidFill>
              </a:rPr>
              <a:t>仕様書アクセス権限テーブル</a:t>
            </a:r>
          </a:p>
        </p:txBody>
      </p:sp>
      <p:sp>
        <p:nvSpPr>
          <p:cNvPr id="30" name="テキスト ボックス 29">
            <a:extLst>
              <a:ext uri="{FF2B5EF4-FFF2-40B4-BE49-F238E27FC236}">
                <a16:creationId xmlns:a16="http://schemas.microsoft.com/office/drawing/2014/main" id="{1978DB49-D486-1E87-31B4-C13F575CF43F}"/>
              </a:ext>
            </a:extLst>
          </p:cNvPr>
          <p:cNvSpPr txBox="1"/>
          <p:nvPr/>
        </p:nvSpPr>
        <p:spPr>
          <a:xfrm>
            <a:off x="7558599" y="4765417"/>
            <a:ext cx="3103234" cy="707886"/>
          </a:xfrm>
          <a:prstGeom prst="rect">
            <a:avLst/>
          </a:prstGeom>
          <a:noFill/>
        </p:spPr>
        <p:txBody>
          <a:bodyPr wrap="square" rtlCol="0">
            <a:spAutoFit/>
          </a:bodyPr>
          <a:lstStyle/>
          <a:p>
            <a:pPr algn="ctr"/>
            <a:r>
              <a:rPr lang="en-US" altLang="ja-JP" sz="2000" b="1" dirty="0" err="1">
                <a:solidFill>
                  <a:srgbClr val="0070C0"/>
                </a:solidFill>
              </a:rPr>
              <a:t>User_Property</a:t>
            </a:r>
            <a:r>
              <a:rPr lang="ja-JP" altLang="en-US" sz="2000" b="1" dirty="0">
                <a:solidFill>
                  <a:srgbClr val="0070C0"/>
                </a:solidFill>
              </a:rPr>
              <a:t>テーブル</a:t>
            </a:r>
            <a:endParaRPr lang="en-US" altLang="ja-JP" sz="2000" b="1" dirty="0">
              <a:solidFill>
                <a:srgbClr val="0070C0"/>
              </a:solidFill>
            </a:endParaRPr>
          </a:p>
          <a:p>
            <a:pPr algn="ctr"/>
            <a:r>
              <a:rPr lang="ja-JP" altLang="en-US" sz="2000" b="1" dirty="0">
                <a:solidFill>
                  <a:srgbClr val="0070C0"/>
                </a:solidFill>
              </a:rPr>
              <a:t>（</a:t>
            </a:r>
            <a:r>
              <a:rPr lang="en-US" altLang="ja-JP" sz="2000" b="1" dirty="0">
                <a:solidFill>
                  <a:srgbClr val="0070C0"/>
                </a:solidFill>
              </a:rPr>
              <a:t>Grid</a:t>
            </a:r>
            <a:r>
              <a:rPr lang="ja-JP" altLang="en-US" sz="2000" b="1" dirty="0">
                <a:solidFill>
                  <a:srgbClr val="0070C0"/>
                </a:solidFill>
              </a:rPr>
              <a:t>表示設定</a:t>
            </a:r>
            <a:r>
              <a:rPr lang="en-US" altLang="ja-JP" sz="2000" b="1" dirty="0">
                <a:solidFill>
                  <a:srgbClr val="0070C0"/>
                </a:solidFill>
              </a:rPr>
              <a:t>Option</a:t>
            </a:r>
            <a:r>
              <a:rPr lang="ja-JP" altLang="en-US" sz="2000" b="1" dirty="0">
                <a:solidFill>
                  <a:srgbClr val="0070C0"/>
                </a:solidFill>
              </a:rPr>
              <a:t>）</a:t>
            </a:r>
          </a:p>
        </p:txBody>
      </p:sp>
      <p:pic>
        <p:nvPicPr>
          <p:cNvPr id="32" name="図 31" descr="黒い背景と白い文字の絵&#10;&#10;AI によって生成されたコンテンツは間違っている可能性があります。">
            <a:extLst>
              <a:ext uri="{FF2B5EF4-FFF2-40B4-BE49-F238E27FC236}">
                <a16:creationId xmlns:a16="http://schemas.microsoft.com/office/drawing/2014/main" id="{902C5FDB-E885-02CF-F2D1-EA625BB0226B}"/>
              </a:ext>
            </a:extLst>
          </p:cNvPr>
          <p:cNvPicPr>
            <a:picLocks noChangeAspect="1"/>
          </p:cNvPicPr>
          <p:nvPr/>
        </p:nvPicPr>
        <p:blipFill>
          <a:blip r:embed="rId7"/>
          <a:stretch>
            <a:fillRect/>
          </a:stretch>
        </p:blipFill>
        <p:spPr>
          <a:xfrm>
            <a:off x="2163761" y="1198714"/>
            <a:ext cx="2019405" cy="2019405"/>
          </a:xfrm>
          <a:prstGeom prst="rect">
            <a:avLst/>
          </a:prstGeom>
        </p:spPr>
      </p:pic>
      <p:sp>
        <p:nvSpPr>
          <p:cNvPr id="33" name="テキスト ボックス 32">
            <a:extLst>
              <a:ext uri="{FF2B5EF4-FFF2-40B4-BE49-F238E27FC236}">
                <a16:creationId xmlns:a16="http://schemas.microsoft.com/office/drawing/2014/main" id="{52597908-2900-4E61-B40A-90994BBC1D1C}"/>
              </a:ext>
            </a:extLst>
          </p:cNvPr>
          <p:cNvSpPr txBox="1"/>
          <p:nvPr/>
        </p:nvSpPr>
        <p:spPr>
          <a:xfrm>
            <a:off x="4118877" y="1874161"/>
            <a:ext cx="1750781" cy="707886"/>
          </a:xfrm>
          <a:prstGeom prst="rect">
            <a:avLst/>
          </a:prstGeom>
          <a:noFill/>
        </p:spPr>
        <p:txBody>
          <a:bodyPr wrap="square" rtlCol="0">
            <a:spAutoFit/>
          </a:bodyPr>
          <a:lstStyle/>
          <a:p>
            <a:r>
              <a:rPr lang="ja-JP" altLang="en-US" sz="2000" b="1" dirty="0">
                <a:solidFill>
                  <a:srgbClr val="0070C0"/>
                </a:solidFill>
              </a:rPr>
              <a:t>各種マスタ</a:t>
            </a:r>
            <a:endParaRPr lang="en-US" altLang="ja-JP" sz="2000" b="1" dirty="0">
              <a:solidFill>
                <a:srgbClr val="0070C0"/>
              </a:solidFill>
            </a:endParaRPr>
          </a:p>
          <a:p>
            <a:r>
              <a:rPr kumimoji="1" lang="ja-JP" altLang="en-US" sz="2000" b="1" dirty="0">
                <a:solidFill>
                  <a:srgbClr val="0070C0"/>
                </a:solidFill>
              </a:rPr>
              <a:t>テーブル</a:t>
            </a:r>
          </a:p>
        </p:txBody>
      </p:sp>
      <p:sp>
        <p:nvSpPr>
          <p:cNvPr id="35" name="テキスト ボックス 34">
            <a:extLst>
              <a:ext uri="{FF2B5EF4-FFF2-40B4-BE49-F238E27FC236}">
                <a16:creationId xmlns:a16="http://schemas.microsoft.com/office/drawing/2014/main" id="{721C1FBC-D5C7-735A-E394-E6D4893CAD09}"/>
              </a:ext>
            </a:extLst>
          </p:cNvPr>
          <p:cNvSpPr txBox="1"/>
          <p:nvPr/>
        </p:nvSpPr>
        <p:spPr>
          <a:xfrm>
            <a:off x="7373910" y="1825765"/>
            <a:ext cx="1919155" cy="707886"/>
          </a:xfrm>
          <a:prstGeom prst="rect">
            <a:avLst/>
          </a:prstGeom>
          <a:noFill/>
        </p:spPr>
        <p:txBody>
          <a:bodyPr wrap="square" rtlCol="0">
            <a:spAutoFit/>
          </a:bodyPr>
          <a:lstStyle/>
          <a:p>
            <a:r>
              <a:rPr lang="ja-JP" altLang="en-US" sz="2000" b="1" dirty="0">
                <a:solidFill>
                  <a:srgbClr val="0070C0"/>
                </a:solidFill>
              </a:rPr>
              <a:t>グループ定義</a:t>
            </a:r>
            <a:endParaRPr lang="en-US" altLang="ja-JP" sz="2000" b="1" dirty="0">
              <a:solidFill>
                <a:srgbClr val="0070C0"/>
              </a:solidFill>
            </a:endParaRPr>
          </a:p>
          <a:p>
            <a:r>
              <a:rPr lang="ja-JP" altLang="en-US" sz="2000" b="1" dirty="0">
                <a:solidFill>
                  <a:srgbClr val="0070C0"/>
                </a:solidFill>
              </a:rPr>
              <a:t>テーブル</a:t>
            </a:r>
          </a:p>
        </p:txBody>
      </p:sp>
      <p:pic>
        <p:nvPicPr>
          <p:cNvPr id="37" name="図 36" descr="黒い背景と白い文字&#10;&#10;AI によって生成されたコンテンツは間違っている可能性があります。">
            <a:extLst>
              <a:ext uri="{FF2B5EF4-FFF2-40B4-BE49-F238E27FC236}">
                <a16:creationId xmlns:a16="http://schemas.microsoft.com/office/drawing/2014/main" id="{6A3F90E6-2FA1-5EB3-FF6F-CFEFA5A67C40}"/>
              </a:ext>
            </a:extLst>
          </p:cNvPr>
          <p:cNvPicPr>
            <a:picLocks noChangeAspect="1"/>
          </p:cNvPicPr>
          <p:nvPr/>
        </p:nvPicPr>
        <p:blipFill>
          <a:blip r:embed="rId8"/>
          <a:stretch>
            <a:fillRect/>
          </a:stretch>
        </p:blipFill>
        <p:spPr>
          <a:xfrm>
            <a:off x="6016752" y="1693933"/>
            <a:ext cx="1524000" cy="971550"/>
          </a:xfrm>
          <a:prstGeom prst="rect">
            <a:avLst/>
          </a:prstGeom>
        </p:spPr>
      </p:pic>
      <p:sp>
        <p:nvSpPr>
          <p:cNvPr id="40" name="テキスト ボックス 39">
            <a:extLst>
              <a:ext uri="{FF2B5EF4-FFF2-40B4-BE49-F238E27FC236}">
                <a16:creationId xmlns:a16="http://schemas.microsoft.com/office/drawing/2014/main" id="{034AC9B7-682E-ADF3-7B02-6E059C132D79}"/>
              </a:ext>
            </a:extLst>
          </p:cNvPr>
          <p:cNvSpPr txBox="1"/>
          <p:nvPr/>
        </p:nvSpPr>
        <p:spPr>
          <a:xfrm>
            <a:off x="3599504" y="5205952"/>
            <a:ext cx="2345265" cy="707886"/>
          </a:xfrm>
          <a:prstGeom prst="rect">
            <a:avLst/>
          </a:prstGeom>
          <a:noFill/>
        </p:spPr>
        <p:txBody>
          <a:bodyPr wrap="square" rtlCol="0">
            <a:spAutoFit/>
          </a:bodyPr>
          <a:lstStyle/>
          <a:p>
            <a:pPr algn="ctr"/>
            <a:r>
              <a:rPr lang="en-US" altLang="ja-JP" sz="2000" b="1" dirty="0">
                <a:solidFill>
                  <a:srgbClr val="0070C0"/>
                </a:solidFill>
              </a:rPr>
              <a:t>Attachment</a:t>
            </a:r>
          </a:p>
          <a:p>
            <a:pPr algn="ctr"/>
            <a:r>
              <a:rPr lang="ja-JP" altLang="en-US" sz="2000" b="1" dirty="0">
                <a:solidFill>
                  <a:srgbClr val="0070C0"/>
                </a:solidFill>
              </a:rPr>
              <a:t>テーブル</a:t>
            </a:r>
            <a:endParaRPr lang="en-US" altLang="ja-JP" sz="2000" b="1" dirty="0">
              <a:solidFill>
                <a:srgbClr val="0070C0"/>
              </a:solidFill>
            </a:endParaRPr>
          </a:p>
        </p:txBody>
      </p:sp>
      <p:sp>
        <p:nvSpPr>
          <p:cNvPr id="41" name="矢印: 上カーブ 40">
            <a:extLst>
              <a:ext uri="{FF2B5EF4-FFF2-40B4-BE49-F238E27FC236}">
                <a16:creationId xmlns:a16="http://schemas.microsoft.com/office/drawing/2014/main" id="{7CF2C61E-47E4-2082-7F17-B10A1EA8B08D}"/>
              </a:ext>
            </a:extLst>
          </p:cNvPr>
          <p:cNvSpPr/>
          <p:nvPr/>
        </p:nvSpPr>
        <p:spPr>
          <a:xfrm rot="1690942" flipV="1">
            <a:off x="3696196" y="3363671"/>
            <a:ext cx="953141" cy="339355"/>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42" name="テキスト ボックス 41">
            <a:extLst>
              <a:ext uri="{FF2B5EF4-FFF2-40B4-BE49-F238E27FC236}">
                <a16:creationId xmlns:a16="http://schemas.microsoft.com/office/drawing/2014/main" id="{1D2395EE-3CD2-40D5-1390-FB3DED87A6C1}"/>
              </a:ext>
            </a:extLst>
          </p:cNvPr>
          <p:cNvSpPr txBox="1"/>
          <p:nvPr/>
        </p:nvSpPr>
        <p:spPr>
          <a:xfrm>
            <a:off x="3783650" y="3361140"/>
            <a:ext cx="732231" cy="369332"/>
          </a:xfrm>
          <a:prstGeom prst="rect">
            <a:avLst/>
          </a:prstGeom>
          <a:noFill/>
        </p:spPr>
        <p:txBody>
          <a:bodyPr wrap="square" rtlCol="0">
            <a:spAutoFit/>
          </a:bodyPr>
          <a:lstStyle/>
          <a:p>
            <a:r>
              <a:rPr kumimoji="1" lang="en-US" altLang="ja-JP" b="1" dirty="0"/>
              <a:t>1:N</a:t>
            </a:r>
            <a:endParaRPr kumimoji="1" lang="ja-JP" altLang="en-US" b="1" dirty="0"/>
          </a:p>
        </p:txBody>
      </p:sp>
      <p:sp>
        <p:nvSpPr>
          <p:cNvPr id="43" name="矢印: 上カーブ 42">
            <a:extLst>
              <a:ext uri="{FF2B5EF4-FFF2-40B4-BE49-F238E27FC236}">
                <a16:creationId xmlns:a16="http://schemas.microsoft.com/office/drawing/2014/main" id="{4AA6BE16-6BEE-BFC6-84E1-716BC048F74D}"/>
              </a:ext>
            </a:extLst>
          </p:cNvPr>
          <p:cNvSpPr/>
          <p:nvPr/>
        </p:nvSpPr>
        <p:spPr>
          <a:xfrm rot="766013" flipV="1">
            <a:off x="3686813" y="3139523"/>
            <a:ext cx="2345764" cy="391447"/>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45" name="テキスト ボックス 44">
            <a:extLst>
              <a:ext uri="{FF2B5EF4-FFF2-40B4-BE49-F238E27FC236}">
                <a16:creationId xmlns:a16="http://schemas.microsoft.com/office/drawing/2014/main" id="{33C01906-07DF-9789-7847-DCA58B9B3BD3}"/>
              </a:ext>
            </a:extLst>
          </p:cNvPr>
          <p:cNvSpPr txBox="1"/>
          <p:nvPr/>
        </p:nvSpPr>
        <p:spPr>
          <a:xfrm>
            <a:off x="4624775" y="3102097"/>
            <a:ext cx="732231" cy="369332"/>
          </a:xfrm>
          <a:prstGeom prst="rect">
            <a:avLst/>
          </a:prstGeom>
          <a:noFill/>
        </p:spPr>
        <p:txBody>
          <a:bodyPr wrap="square">
            <a:spAutoFit/>
          </a:bodyPr>
          <a:lstStyle/>
          <a:p>
            <a:r>
              <a:rPr kumimoji="1" lang="en-US" altLang="ja-JP" b="1" dirty="0"/>
              <a:t>1:N</a:t>
            </a:r>
            <a:endParaRPr kumimoji="1" lang="ja-JP" altLang="en-US" b="1" dirty="0"/>
          </a:p>
        </p:txBody>
      </p:sp>
    </p:spTree>
    <p:extLst>
      <p:ext uri="{BB962C8B-B14F-4D97-AF65-F5344CB8AC3E}">
        <p14:creationId xmlns:p14="http://schemas.microsoft.com/office/powerpoint/2010/main" val="331293768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16C17B-9ACF-4273-9EF4-F7A543FAF213}">
  <ds:schemaRefs/>
</ds:datastoreItem>
</file>

<file path=customXml/itemProps3.xml><?xml version="1.0" encoding="utf-8"?>
<ds:datastoreItem xmlns:ds="http://schemas.openxmlformats.org/officeDocument/2006/customXml" ds:itemID="{BCB922EE-95E3-497F-8326-C2ABF66A4B77}">
  <ds:schemaRefs/>
</ds:datastoreItem>
</file>

<file path=docProps/app.xml><?xml version="1.0" encoding="utf-8"?>
<Properties xmlns="http://schemas.openxmlformats.org/officeDocument/2006/extended-properties" xmlns:vt="http://schemas.openxmlformats.org/officeDocument/2006/docPropsVTypes">
  <Template>MCG_jp_rev1</Template>
  <TotalTime>5622</TotalTime>
  <Words>14955</Words>
  <Application>Microsoft Office PowerPoint</Application>
  <PresentationFormat>ワイド画面</PresentationFormat>
  <Paragraphs>1814</Paragraphs>
  <Slides>44</Slides>
  <Notes>40</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44</vt:i4>
      </vt:variant>
    </vt:vector>
  </HeadingPairs>
  <TitlesOfParts>
    <vt:vector size="65"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全体アーキテクチャ</vt:lpstr>
      <vt:lpstr>要件／ソリューション－添付ファイル管理（編集含む）</vt:lpstr>
      <vt:lpstr>要件／ソリューション－一括ダウンロード機能</vt:lpstr>
      <vt:lpstr>要件／ソリューション－検索機能</vt:lpstr>
      <vt:lpstr>要件／ソリューション－パフォーマンス、HAなど</vt:lpstr>
      <vt:lpstr>要件／ソリューション－権限管理</vt:lpstr>
      <vt:lpstr>要件／ソリューション－ユーザ別の属性管理</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アーキテクチャ全体 Sql server 2022 + 添付ファイルDaTAVERSE保存（案B）ー 前回提案の備考</vt:lpstr>
      <vt:lpstr>アーキテクチャ全体 Azure Sql + 添付ファイルはDaTAVERSE保存（案C）ー 案BのSqlserver 2022⇒Azure SQL</vt:lpstr>
      <vt:lpstr>POC範囲</vt:lpstr>
      <vt:lpstr>サポートとメンテナンス－瑕疵範囲、保守提案</vt:lpstr>
      <vt:lpstr>前回の資料 (9/22ソリューションのみ)</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lpstr>Work Area (提出前に削除)</vt:lpstr>
      <vt:lpstr>PowerPoint プレゼンテーション</vt:lpstr>
      <vt:lpstr>提案（FileをSPOに保存）</vt:lpstr>
      <vt:lpstr>データ移行</vt:lpstr>
      <vt:lpstr>仕様書データベース</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46</cp:revision>
  <dcterms:created xsi:type="dcterms:W3CDTF">2023-05-25T05:41:00Z</dcterms:created>
  <dcterms:modified xsi:type="dcterms:W3CDTF">2025-10-03T07:42:35Z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