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3"/>
  </p:notesMasterIdLst>
  <p:handoutMasterIdLst>
    <p:handoutMasterId r:id="rId54"/>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409" r:id="rId33"/>
    <p:sldId id="16776410"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 id="16776414" r:id="rId52"/>
  </p:sldIdLst>
  <p:sldSz cx="12192000" cy="6858000"/>
  <p:notesSz cx="6858000" cy="9144000"/>
  <p:custDataLst>
    <p:tags r:id="rId5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409"/>
            <p14:sldId id="16776410"/>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 id="16776411"/>
            <p14:sldId id="16776412"/>
            <p14:sldId id="16776413"/>
            <p14:sldId id="1677641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tags" Target="tags/tag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presProps" Target="presProps.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ableStyles" Target="tableStyles.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viewProps" Target="view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2025/9/30</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2025/9/30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43</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9/30/2025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9/30/2025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9/30/2025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9/30/2025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9/30/2025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8.png"/><Relationship Id="rId3" Type="http://schemas.openxmlformats.org/officeDocument/2006/relationships/image" Target="../media/image19.jpe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5.jpe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35.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81.xml"/><Relationship Id="rId6" Type="http://schemas.openxmlformats.org/officeDocument/2006/relationships/image" Target="../media/image48.png"/><Relationship Id="rId5" Type="http://schemas.openxmlformats.org/officeDocument/2006/relationships/image" Target="../media/image46.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案</a:t>
            </a:r>
            <a:r>
              <a:rPr lang="en-US" altLang="ja-JP" sz="1400" dirty="0"/>
              <a:t>B </a:t>
            </a:r>
            <a:r>
              <a:rPr lang="ja-JP" altLang="en-US" sz="1400" dirty="0"/>
              <a:t>：</a:t>
            </a:r>
            <a:r>
              <a:rPr lang="en-US" altLang="ja-JP" sz="1400" dirty="0" err="1"/>
              <a:t>Sql</a:t>
            </a:r>
            <a:r>
              <a:rPr lang="en-US" altLang="ja-JP" sz="1400" dirty="0"/>
              <a:t> server 2022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ja-JP" altLang="en-US" sz="1400" dirty="0"/>
              <a:t>案</a:t>
            </a:r>
            <a:r>
              <a:rPr lang="en-US" altLang="ja-JP" sz="1400" dirty="0"/>
              <a:t>C</a:t>
            </a:r>
            <a:r>
              <a:rPr lang="ja-JP" altLang="en-US" sz="1400" dirty="0"/>
              <a:t>：</a:t>
            </a:r>
            <a:r>
              <a:rPr lang="en-US" altLang="ja-JP" sz="1400" dirty="0"/>
              <a:t> Azure</a:t>
            </a:r>
            <a:r>
              <a:rPr lang="ja-JP" altLang="en-US" sz="1400" dirty="0"/>
              <a:t> </a:t>
            </a:r>
            <a:r>
              <a:rPr lang="en-US" altLang="ja-JP" sz="1400" dirty="0"/>
              <a:t>SQL + </a:t>
            </a:r>
            <a:r>
              <a:rPr lang="ja-JP" altLang="en-US" sz="1400" dirty="0"/>
              <a:t>添付ファイル</a:t>
            </a:r>
            <a:r>
              <a:rPr lang="en-US" altLang="ja-JP" sz="1400" dirty="0"/>
              <a:t>DATAVERSE</a:t>
            </a:r>
            <a:r>
              <a:rPr lang="ja-JP" altLang="en-US" sz="1400" dirty="0"/>
              <a:t>保存（前回の提案内容を</a:t>
            </a:r>
            <a:r>
              <a:rPr lang="en-US" altLang="ja-JP" sz="1400" dirty="0"/>
              <a:t>Azure SQL</a:t>
            </a:r>
            <a:r>
              <a:rPr lang="ja-JP" altLang="en-US" sz="1400" dirty="0"/>
              <a:t>に替える）</a:t>
            </a:r>
            <a:endParaRPr lang="en-US" altLang="ja-JP" sz="14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1976876469"/>
              </p:ext>
            </p:extLst>
          </p:nvPr>
        </p:nvGraphicFramePr>
        <p:xfrm>
          <a:off x="273718" y="1120297"/>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7134" y="1333438"/>
            <a:ext cx="2022386" cy="253916"/>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endParaRPr kumimoji="1" lang="ja-JP" altLang="en-US" sz="1050" dirty="0"/>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893006779"/>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410915134"/>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済のファイルに対して、再度添付ファイルの権限処理が必要（複雑）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2263487765"/>
              </p:ext>
            </p:extLst>
          </p:nvPr>
        </p:nvGraphicFramePr>
        <p:xfrm>
          <a:off x="414336" y="895564"/>
          <a:ext cx="11284857" cy="5430715"/>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2051703374"/>
              </p:ext>
            </p:extLst>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63450" y="282615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）ー 前回提案の備考</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cxnSp>
        <p:nvCxnSpPr>
          <p:cNvPr id="8" name="直線矢印コネクタ 7">
            <a:extLst>
              <a:ext uri="{FF2B5EF4-FFF2-40B4-BE49-F238E27FC236}">
                <a16:creationId xmlns:a16="http://schemas.microsoft.com/office/drawing/2014/main" id="{421084DE-23A5-A3A2-807C-A1E39059F394}"/>
              </a:ext>
            </a:extLst>
          </p:cNvPr>
          <p:cNvCxnSpPr>
            <a:cxnSpLocks/>
          </p:cNvCxnSpPr>
          <p:nvPr/>
        </p:nvCxnSpPr>
        <p:spPr>
          <a:xfrm>
            <a:off x="2431687" y="1812849"/>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4" name="図 4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13CF28C-A1CE-F859-BD63-462B1E1575D2}"/>
              </a:ext>
            </a:extLst>
          </p:cNvPr>
          <p:cNvPicPr>
            <a:picLocks noChangeAspect="1"/>
          </p:cNvPicPr>
          <p:nvPr/>
        </p:nvPicPr>
        <p:blipFill>
          <a:blip r:embed="rId13"/>
          <a:stretch>
            <a:fillRect/>
          </a:stretch>
        </p:blipFill>
        <p:spPr>
          <a:xfrm>
            <a:off x="3501183" y="1867421"/>
            <a:ext cx="179760" cy="221105"/>
          </a:xfrm>
          <a:prstGeom prst="rect">
            <a:avLst/>
          </a:prstGeom>
        </p:spPr>
      </p:pic>
      <p:sp>
        <p:nvSpPr>
          <p:cNvPr id="63" name="テキスト ボックス 62">
            <a:extLst>
              <a:ext uri="{FF2B5EF4-FFF2-40B4-BE49-F238E27FC236}">
                <a16:creationId xmlns:a16="http://schemas.microsoft.com/office/drawing/2014/main" id="{C90E4425-2C24-27B0-DA78-D584BBDA2C1A}"/>
              </a:ext>
            </a:extLst>
          </p:cNvPr>
          <p:cNvSpPr txBox="1"/>
          <p:nvPr/>
        </p:nvSpPr>
        <p:spPr>
          <a:xfrm>
            <a:off x="1565205" y="2846817"/>
            <a:ext cx="1057324" cy="253916"/>
          </a:xfrm>
          <a:prstGeom prst="rect">
            <a:avLst/>
          </a:prstGeom>
          <a:noFill/>
        </p:spPr>
        <p:txBody>
          <a:bodyPr wrap="square" rtlCol="0">
            <a:spAutoFit/>
          </a:bodyPr>
          <a:lstStyle/>
          <a:p>
            <a:r>
              <a:rPr lang="ja-JP" altLang="en-US" sz="1050" dirty="0"/>
              <a:t>添付ファイル</a:t>
            </a:r>
            <a:endParaRPr lang="en-US" altLang="ja-JP" sz="1050" dirty="0"/>
          </a:p>
        </p:txBody>
      </p:sp>
      <p:sp>
        <p:nvSpPr>
          <p:cNvPr id="1025" name="テキスト ボックス 1024">
            <a:extLst>
              <a:ext uri="{FF2B5EF4-FFF2-40B4-BE49-F238E27FC236}">
                <a16:creationId xmlns:a16="http://schemas.microsoft.com/office/drawing/2014/main" id="{84AD13DF-E8E3-6528-D39C-565D7D63E109}"/>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260477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356228" y="164021"/>
            <a:ext cx="10919947"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）ー 案</a:t>
            </a:r>
            <a:r>
              <a:rPr lang="en-US" altLang="ja-JP" sz="2200" dirty="0"/>
              <a:t>B</a:t>
            </a:r>
            <a:r>
              <a:rPr lang="ja-JP" altLang="en-US" sz="2200" dirty="0"/>
              <a:t>の</a:t>
            </a:r>
            <a:r>
              <a:rPr lang="en-US" altLang="ja-JP" sz="2200" dirty="0" err="1"/>
              <a:t>Sqlserver</a:t>
            </a:r>
            <a:r>
              <a:rPr lang="ja-JP" altLang="en-US" sz="2200" dirty="0"/>
              <a:t> </a:t>
            </a:r>
            <a:r>
              <a:rPr lang="en-US" altLang="ja-JP" sz="2200" dirty="0"/>
              <a:t>2022</a:t>
            </a:r>
            <a:r>
              <a:rPr lang="ja-JP" altLang="en-US" sz="2200" dirty="0"/>
              <a:t>⇒</a:t>
            </a:r>
            <a:r>
              <a:rPr lang="en-US" altLang="ja-JP" sz="2200" dirty="0"/>
              <a:t>Azure</a:t>
            </a:r>
            <a:r>
              <a:rPr lang="ja-JP" altLang="en-US" sz="2200" dirty="0"/>
              <a:t> </a:t>
            </a:r>
            <a:r>
              <a:rPr lang="en-US" altLang="ja-JP" sz="2200" dirty="0"/>
              <a:t>SQL</a:t>
            </a:r>
            <a:endParaRPr lang="ja-JP" altLang="en-US" sz="2200" dirty="0">
              <a:effectLst/>
            </a:endParaRPr>
          </a:p>
        </p:txBody>
      </p:sp>
      <p:sp>
        <p:nvSpPr>
          <p:cNvPr id="15" name="テキスト ボックス 14"/>
          <p:cNvSpPr txBox="1"/>
          <p:nvPr/>
        </p:nvSpPr>
        <p:spPr>
          <a:xfrm>
            <a:off x="418409" y="752496"/>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422776"/>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421702"/>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cxnSp>
        <p:nvCxnSpPr>
          <p:cNvPr id="22" name="コネクタ: カギ線 21"/>
          <p:cNvCxnSpPr>
            <a:cxnSpLocks/>
            <a:stCxn id="10" idx="3"/>
          </p:cNvCxnSpPr>
          <p:nvPr/>
        </p:nvCxnSpPr>
        <p:spPr>
          <a:xfrm flipV="1">
            <a:off x="4396513" y="4214368"/>
            <a:ext cx="1391034" cy="89757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cxnSpLocks/>
            <a:stCxn id="9" idx="3"/>
          </p:cNvCxnSpPr>
          <p:nvPr/>
        </p:nvCxnSpPr>
        <p:spPr>
          <a:xfrm>
            <a:off x="4615677" y="3492989"/>
            <a:ext cx="1185545" cy="54041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7"/>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a:t>Azure SQL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8"/>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sp>
        <p:nvSpPr>
          <p:cNvPr id="36" name="テキスト ボックス 35"/>
          <p:cNvSpPr txBox="1"/>
          <p:nvPr/>
        </p:nvSpPr>
        <p:spPr>
          <a:xfrm>
            <a:off x="6112104" y="2575971"/>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9"/>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0"/>
          <a:stretch>
            <a:fillRect/>
          </a:stretch>
        </p:blipFill>
        <p:spPr>
          <a:xfrm flipH="1">
            <a:off x="8918370" y="5618758"/>
            <a:ext cx="879391" cy="494658"/>
          </a:xfrm>
          <a:prstGeom prst="rect">
            <a:avLst/>
          </a:prstGeom>
        </p:spPr>
      </p:pic>
      <p:pic>
        <p:nvPicPr>
          <p:cNvPr id="41" name="図 40"/>
          <p:cNvPicPr>
            <a:picLocks noChangeAspect="1"/>
          </p:cNvPicPr>
          <p:nvPr/>
        </p:nvPicPr>
        <p:blipFill>
          <a:blip r:embed="rId11"/>
          <a:stretch>
            <a:fillRect/>
          </a:stretch>
        </p:blipFill>
        <p:spPr>
          <a:xfrm flipH="1">
            <a:off x="9310625" y="2214310"/>
            <a:ext cx="820738" cy="430887"/>
          </a:xfrm>
          <a:prstGeom prst="rect">
            <a:avLst/>
          </a:prstGeom>
        </p:spPr>
      </p:pic>
      <p:sp>
        <p:nvSpPr>
          <p:cNvPr id="42" name="テキスト ボックス 41"/>
          <p:cNvSpPr txBox="1"/>
          <p:nvPr/>
        </p:nvSpPr>
        <p:spPr>
          <a:xfrm>
            <a:off x="9716871" y="5836417"/>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cxnSpLocks/>
            <a:stCxn id="49" idx="3"/>
          </p:cNvCxnSpPr>
          <p:nvPr/>
        </p:nvCxnSpPr>
        <p:spPr>
          <a:xfrm>
            <a:off x="4395366" y="5454647"/>
            <a:ext cx="4523004" cy="567483"/>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436780"/>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421911"/>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42" name="コネクタ: カギ線 1041"/>
          <p:cNvCxnSpPr>
            <a:cxnSpLocks/>
            <a:stCxn id="1054" idx="3"/>
          </p:cNvCxnSpPr>
          <p:nvPr/>
        </p:nvCxnSpPr>
        <p:spPr>
          <a:xfrm flipV="1">
            <a:off x="2154707" y="4112768"/>
            <a:ext cx="3646515" cy="40370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7" name="テキスト ボックス 1056"/>
          <p:cNvSpPr txBox="1"/>
          <p:nvPr/>
        </p:nvSpPr>
        <p:spPr>
          <a:xfrm>
            <a:off x="6728784" y="5014950"/>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cxnSpLocks/>
            <a:stCxn id="1026" idx="3"/>
          </p:cNvCxnSpPr>
          <p:nvPr/>
        </p:nvCxnSpPr>
        <p:spPr>
          <a:xfrm flipH="1">
            <a:off x="6515253" y="1927312"/>
            <a:ext cx="4821112" cy="2080143"/>
          </a:xfrm>
          <a:prstGeom prst="bentConnector3">
            <a:avLst>
              <a:gd name="adj1" fmla="val -4742"/>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 name="図 7" descr="アイコン&#10;&#10;AI によって生成されたコンテンツは間違っている可能性があります。">
            <a:extLst>
              <a:ext uri="{FF2B5EF4-FFF2-40B4-BE49-F238E27FC236}">
                <a16:creationId xmlns:a16="http://schemas.microsoft.com/office/drawing/2014/main" id="{719142F2-26A7-0448-7ACE-27FAB4431608}"/>
              </a:ext>
            </a:extLst>
          </p:cNvPr>
          <p:cNvPicPr>
            <a:picLocks noChangeAspect="1"/>
          </p:cNvPicPr>
          <p:nvPr/>
        </p:nvPicPr>
        <p:blipFill>
          <a:blip r:embed="rId13"/>
          <a:stretch>
            <a:fillRect/>
          </a:stretch>
        </p:blipFill>
        <p:spPr>
          <a:xfrm>
            <a:off x="5385149" y="3646156"/>
            <a:ext cx="1877560" cy="1126536"/>
          </a:xfrm>
          <a:prstGeom prst="rect">
            <a:avLst/>
          </a:prstGeom>
        </p:spPr>
      </p:pic>
      <p:cxnSp>
        <p:nvCxnSpPr>
          <p:cNvPr id="1035" name="直線矢印コネクタ 1034">
            <a:extLst>
              <a:ext uri="{FF2B5EF4-FFF2-40B4-BE49-F238E27FC236}">
                <a16:creationId xmlns:a16="http://schemas.microsoft.com/office/drawing/2014/main" id="{6E25B576-54C3-2EF1-B45D-4B57AB71EF4F}"/>
              </a:ext>
            </a:extLst>
          </p:cNvPr>
          <p:cNvCxnSpPr>
            <a:cxnSpLocks/>
            <a:endCxn id="27" idx="1"/>
          </p:cNvCxnSpPr>
          <p:nvPr/>
        </p:nvCxnSpPr>
        <p:spPr>
          <a:xfrm>
            <a:off x="2431687" y="1800030"/>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0" name="テキスト ボックス 1039">
            <a:extLst>
              <a:ext uri="{FF2B5EF4-FFF2-40B4-BE49-F238E27FC236}">
                <a16:creationId xmlns:a16="http://schemas.microsoft.com/office/drawing/2014/main" id="{F0E312F7-094B-A625-AF8B-9989BE8FA020}"/>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sp>
        <p:nvSpPr>
          <p:cNvPr id="1041" name="テキスト ボックス 1040">
            <a:extLst>
              <a:ext uri="{FF2B5EF4-FFF2-40B4-BE49-F238E27FC236}">
                <a16:creationId xmlns:a16="http://schemas.microsoft.com/office/drawing/2014/main" id="{B7CE0FCA-36F1-C016-97E0-41D7AA344EDA}"/>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32155828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4929500" y="147581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dirty="0"/>
              <a:t>定型データ</a:t>
            </a:r>
            <a:endParaRPr kumimoji="1" lang="en-US" altLang="ja-JP" sz="1050" dirty="0"/>
          </a:p>
          <a:p>
            <a:pPr algn="ctr"/>
            <a:r>
              <a:rPr kumimoji="1" lang="ja-JP" altLang="en-US" sz="1050" dirty="0"/>
              <a:t>保存場所</a:t>
            </a:r>
          </a:p>
        </p:txBody>
      </p:sp>
      <p:sp>
        <p:nvSpPr>
          <p:cNvPr id="21" name="テキスト ボックス 20"/>
          <p:cNvSpPr txBox="1"/>
          <p:nvPr/>
        </p:nvSpPr>
        <p:spPr>
          <a:xfrm>
            <a:off x="6837377" y="221382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a:t>添付ファイル</a:t>
            </a:r>
            <a:endParaRPr kumimoji="1" lang="en-US" altLang="ja-JP" sz="1050"/>
          </a:p>
          <a:p>
            <a:pPr algn="ctr"/>
            <a:r>
              <a:rPr kumimoji="1" lang="ja-JP" altLang="en-US" sz="1050"/>
              <a:t>保存場所</a:t>
            </a:r>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8" name="テキスト ボックス 7">
            <a:extLst>
              <a:ext uri="{FF2B5EF4-FFF2-40B4-BE49-F238E27FC236}">
                <a16:creationId xmlns:a16="http://schemas.microsoft.com/office/drawing/2014/main" id="{ADC0D30C-52F2-1301-716F-2A2B596E39D6}"/>
              </a:ext>
            </a:extLst>
          </p:cNvPr>
          <p:cNvSpPr txBox="1"/>
          <p:nvPr/>
        </p:nvSpPr>
        <p:spPr>
          <a:xfrm>
            <a:off x="6541489" y="3573690"/>
            <a:ext cx="1115541" cy="430887"/>
          </a:xfrm>
          <a:prstGeom prst="rect">
            <a:avLst/>
          </a:prstGeom>
          <a:noFill/>
        </p:spPr>
        <p:txBody>
          <a:bodyPr wrap="square" rtlCol="0">
            <a:spAutoFit/>
          </a:bodyPr>
          <a:lstStyle/>
          <a:p>
            <a:r>
              <a:rPr lang="ja-JP" altLang="en-US" sz="1100" dirty="0"/>
              <a:t>直接アクセス（</a:t>
            </a:r>
            <a:r>
              <a:rPr lang="en-US" altLang="ja-JP" sz="1100" dirty="0"/>
              <a:t>View/Edit</a:t>
            </a:r>
            <a:r>
              <a:rPr lang="ja-JP" altLang="en-US" sz="1100" dirty="0"/>
              <a:t>）</a:t>
            </a:r>
            <a:endParaRPr lang="en-US" altLang="ja-JP"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7265" y="3769707"/>
            <a:ext cx="1270000" cy="1270000"/>
          </a:xfrm>
          <a:prstGeom prst="rect">
            <a:avLst/>
          </a:prstGeom>
          <a:noFill/>
          <a:extLst>
            <a:ext uri="{909E8E84-426E-40DD-AFC4-6F175D3DCCD1}">
              <a14:hiddenFill xmlns:a14="http://schemas.microsoft.com/office/drawing/2010/main">
                <a:solidFill>
                  <a:srgbClr val="FFFFFF"/>
                </a:solidFill>
              </a14:hiddenFill>
            </a:ext>
          </a:extLst>
        </p:spPr>
      </p:pic>
      <p:sp>
        <p:nvSpPr>
          <p:cNvPr id="8" name="矢印: 右 7">
            <a:extLst>
              <a:ext uri="{FF2B5EF4-FFF2-40B4-BE49-F238E27FC236}">
                <a16:creationId xmlns:a16="http://schemas.microsoft.com/office/drawing/2014/main" id="{F5D5DEDB-13FA-0473-00A7-5A213AA6DA90}"/>
              </a:ext>
            </a:extLst>
          </p:cNvPr>
          <p:cNvSpPr/>
          <p:nvPr/>
        </p:nvSpPr>
        <p:spPr>
          <a:xfrm>
            <a:off x="2705244" y="4108076"/>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8887410" y="4548852"/>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560830" y="5013309"/>
            <a:ext cx="1442720" cy="276999"/>
          </a:xfrm>
          <a:prstGeom prst="rect">
            <a:avLst/>
          </a:prstGeom>
          <a:noFill/>
        </p:spPr>
        <p:txBody>
          <a:bodyPr wrap="square" rtlCol="0">
            <a:spAutoFit/>
          </a:bodyPr>
          <a:lstStyle/>
          <a:p>
            <a:r>
              <a:rPr kumimoji="1" lang="en-US" altLang="ja-JP" sz="1200" dirty="0"/>
              <a:t>Notes DB</a:t>
            </a:r>
            <a:endParaRPr kumimoji="1" lang="ja-JP" altLang="en-US" sz="1200" dirty="0"/>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2670159" y="4687464"/>
            <a:ext cx="1534320" cy="338554"/>
          </a:xfrm>
          <a:prstGeom prst="rect">
            <a:avLst/>
          </a:prstGeom>
          <a:noFill/>
        </p:spPr>
        <p:txBody>
          <a:bodyPr wrap="square" rtlCol="0">
            <a:spAutoFit/>
          </a:bodyPr>
          <a:lstStyle/>
          <a:p>
            <a:pPr algn="ctr"/>
            <a:r>
              <a:rPr lang="ja-JP" altLang="en-US" sz="1600" dirty="0"/>
              <a:t>エクスポート</a:t>
            </a:r>
            <a:endParaRPr kumimoji="1" lang="ja-JP" altLang="en-US" sz="1600" dirty="0"/>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
        <p:nvSpPr>
          <p:cNvPr id="4" name="四角形: 角を丸くする 3">
            <a:extLst>
              <a:ext uri="{FF2B5EF4-FFF2-40B4-BE49-F238E27FC236}">
                <a16:creationId xmlns:a16="http://schemas.microsoft.com/office/drawing/2014/main" id="{B21B5187-AD49-01AD-A4EA-9232BB096540}"/>
              </a:ext>
            </a:extLst>
          </p:cNvPr>
          <p:cNvSpPr/>
          <p:nvPr/>
        </p:nvSpPr>
        <p:spPr>
          <a:xfrm>
            <a:off x="6833471" y="4042409"/>
            <a:ext cx="1965960" cy="1536125"/>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t>Java/Python/PowerShell</a:t>
            </a:r>
          </a:p>
          <a:p>
            <a:pPr algn="ctr"/>
            <a:r>
              <a:rPr lang="ja-JP" altLang="en-US" dirty="0"/>
              <a:t>ツール</a:t>
            </a:r>
          </a:p>
        </p:txBody>
      </p:sp>
      <p:pic>
        <p:nvPicPr>
          <p:cNvPr id="5" name="図 4" descr="アイコン&#10;&#10;AI によって生成されたコンテンツは間違っている可能性があります。">
            <a:extLst>
              <a:ext uri="{FF2B5EF4-FFF2-40B4-BE49-F238E27FC236}">
                <a16:creationId xmlns:a16="http://schemas.microsoft.com/office/drawing/2014/main" id="{91D2EBA0-8D8B-4A96-5DFA-D52C0DD23A7A}"/>
              </a:ext>
            </a:extLst>
          </p:cNvPr>
          <p:cNvPicPr>
            <a:picLocks noChangeAspect="1"/>
          </p:cNvPicPr>
          <p:nvPr/>
        </p:nvPicPr>
        <p:blipFill>
          <a:blip r:embed="rId4"/>
          <a:stretch>
            <a:fillRect/>
          </a:stretch>
        </p:blipFill>
        <p:spPr>
          <a:xfrm>
            <a:off x="9581229" y="4287844"/>
            <a:ext cx="1877560" cy="1126536"/>
          </a:xfrm>
          <a:prstGeom prst="rect">
            <a:avLst/>
          </a:prstGeom>
        </p:spPr>
      </p:pic>
      <p:sp>
        <p:nvSpPr>
          <p:cNvPr id="15" name="矢印: ストライプ 14">
            <a:extLst>
              <a:ext uri="{FF2B5EF4-FFF2-40B4-BE49-F238E27FC236}">
                <a16:creationId xmlns:a16="http://schemas.microsoft.com/office/drawing/2014/main" id="{D0B0EC3F-433B-0223-2F5B-DF14F0B375D3}"/>
              </a:ext>
            </a:extLst>
          </p:cNvPr>
          <p:cNvSpPr/>
          <p:nvPr/>
        </p:nvSpPr>
        <p:spPr>
          <a:xfrm>
            <a:off x="5723784" y="4476156"/>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grpSp>
        <p:nvGrpSpPr>
          <p:cNvPr id="17" name="グループ化 16">
            <a:extLst>
              <a:ext uri="{FF2B5EF4-FFF2-40B4-BE49-F238E27FC236}">
                <a16:creationId xmlns:a16="http://schemas.microsoft.com/office/drawing/2014/main" id="{A8953697-4D99-227D-2ED8-0BCC6BCF7026}"/>
              </a:ext>
            </a:extLst>
          </p:cNvPr>
          <p:cNvGrpSpPr/>
          <p:nvPr/>
        </p:nvGrpSpPr>
        <p:grpSpPr>
          <a:xfrm>
            <a:off x="3815623" y="3540472"/>
            <a:ext cx="1843911" cy="2640970"/>
            <a:chOff x="4059986" y="3540472"/>
            <a:chExt cx="1843911" cy="2640970"/>
          </a:xfrm>
        </p:grpSpPr>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78253" y="3540472"/>
              <a:ext cx="1270000" cy="1270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Xml file - Free files and folders icons">
              <a:extLst>
                <a:ext uri="{FF2B5EF4-FFF2-40B4-BE49-F238E27FC236}">
                  <a16:creationId xmlns:a16="http://schemas.microsoft.com/office/drawing/2014/main" id="{68CE97E2-BC10-25C7-CA19-22C0A771AB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44501" y="4918249"/>
              <a:ext cx="920302" cy="92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Json filetype - ファイルとフォルダ アイコン">
              <a:extLst>
                <a:ext uri="{FF2B5EF4-FFF2-40B4-BE49-F238E27FC236}">
                  <a16:creationId xmlns:a16="http://schemas.microsoft.com/office/drawing/2014/main" id="{A00E15C1-3273-7F5E-9EC7-1604B77EEA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253" y="5244446"/>
              <a:ext cx="705871" cy="705871"/>
            </a:xfrm>
            <a:prstGeom prst="rect">
              <a:avLst/>
            </a:prstGeom>
            <a:noFill/>
            <a:extLst>
              <a:ext uri="{909E8E84-426E-40DD-AFC4-6F175D3DCCD1}">
                <a14:hiddenFill xmlns:a14="http://schemas.microsoft.com/office/drawing/2010/main">
                  <a:solidFill>
                    <a:srgbClr val="FFFFFF"/>
                  </a:solidFill>
                </a14:hiddenFill>
              </a:ext>
            </a:extLst>
          </p:spPr>
        </p:pic>
        <p:sp>
          <p:nvSpPr>
            <p:cNvPr id="14" name="テキスト ボックス 13">
              <a:extLst>
                <a:ext uri="{FF2B5EF4-FFF2-40B4-BE49-F238E27FC236}">
                  <a16:creationId xmlns:a16="http://schemas.microsoft.com/office/drawing/2014/main" id="{9CE3C64D-E113-3D67-3C6C-6348C31AC249}"/>
                </a:ext>
              </a:extLst>
            </p:cNvPr>
            <p:cNvSpPr txBox="1"/>
            <p:nvPr/>
          </p:nvSpPr>
          <p:spPr>
            <a:xfrm>
              <a:off x="4059986" y="5904443"/>
              <a:ext cx="1820182" cy="276999"/>
            </a:xfrm>
            <a:prstGeom prst="rect">
              <a:avLst/>
            </a:prstGeom>
            <a:noFill/>
          </p:spPr>
          <p:txBody>
            <a:bodyPr wrap="square" rtlCol="0">
              <a:spAutoFit/>
            </a:bodyPr>
            <a:lstStyle/>
            <a:p>
              <a:pPr algn="ctr"/>
              <a:r>
                <a:rPr lang="en-US" altLang="ja-JP" sz="1200" dirty="0"/>
                <a:t>DB</a:t>
              </a:r>
              <a:r>
                <a:rPr lang="ja-JP" altLang="en-US" sz="1200" dirty="0"/>
                <a:t>毎の</a:t>
              </a:r>
              <a:r>
                <a:rPr lang="en-US" altLang="ja-JP" sz="1200" dirty="0"/>
                <a:t>Mapping</a:t>
              </a:r>
              <a:r>
                <a:rPr lang="ja-JP" altLang="en-US" sz="1200" dirty="0"/>
                <a:t>ファイル</a:t>
              </a:r>
              <a:endParaRPr kumimoji="1" lang="ja-JP" altLang="en-US" sz="1200" dirty="0"/>
            </a:p>
          </p:txBody>
        </p:sp>
        <p:sp>
          <p:nvSpPr>
            <p:cNvPr id="16" name="右中かっこ 15">
              <a:extLst>
                <a:ext uri="{FF2B5EF4-FFF2-40B4-BE49-F238E27FC236}">
                  <a16:creationId xmlns:a16="http://schemas.microsoft.com/office/drawing/2014/main" id="{394D9695-8E1C-EFB3-3045-07AEC1091EE6}"/>
                </a:ext>
              </a:extLst>
            </p:cNvPr>
            <p:cNvSpPr/>
            <p:nvPr/>
          </p:nvSpPr>
          <p:spPr>
            <a:xfrm>
              <a:off x="5496503" y="3947160"/>
              <a:ext cx="407394" cy="1832789"/>
            </a:xfrm>
            <a:prstGeom prst="rightBrace">
              <a:avLst>
                <a:gd name="adj1" fmla="val 23296"/>
                <a:gd name="adj2" fmla="val 50000"/>
              </a:avLst>
            </a:prstGeom>
            <a:ln w="381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2225649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B922EE-95E3-497F-8326-C2ABF66A4B77}">
  <ds:schemaRefs/>
</ds:datastoreItem>
</file>

<file path=customXml/itemProps2.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216C17B-9ACF-4273-9EF4-F7A543FAF213}">
  <ds:schemaRefs/>
</ds:datastoreItem>
</file>

<file path=docProps/app.xml><?xml version="1.0" encoding="utf-8"?>
<Properties xmlns="http://schemas.openxmlformats.org/officeDocument/2006/extended-properties" xmlns:vt="http://schemas.openxmlformats.org/officeDocument/2006/docPropsVTypes">
  <Template>MCG_jp_rev1</Template>
  <TotalTime>5483</TotalTime>
  <Words>14896</Words>
  <Application>Microsoft Office PowerPoint</Application>
  <PresentationFormat>ワイド画面</PresentationFormat>
  <Paragraphs>1794</Paragraphs>
  <Slides>43</Slides>
  <Notes>39</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43</vt:i4>
      </vt:variant>
    </vt:vector>
  </HeadingPairs>
  <TitlesOfParts>
    <vt:vector size="64"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アーキテクチャ全体 Sql server 2022 + 添付ファイルDaTAVERSE保存（案B）ー 前回提案の備考</vt:lpstr>
      <vt:lpstr>アーキテクチャ全体 Azure Sql + 添付ファイルはDaTAVERSE保存（案C）ー 案BのSqlserver 2022⇒Azure SQL</vt:lpstr>
      <vt:lpstr>POC範囲</vt:lpstr>
      <vt:lpstr>サポートとメンテナンス－瑕疵範囲、保守提案</vt:lpstr>
      <vt:lpstr>前回の資料 (9/22ソリューションのみ)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37</cp:revision>
  <dcterms:created xsi:type="dcterms:W3CDTF">2023-05-25T05:41:00Z</dcterms:created>
  <dcterms:modified xsi:type="dcterms:W3CDTF">2025-09-30T06:37:35Z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