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45"/>
  </p:notesMasterIdLst>
  <p:handoutMasterIdLst>
    <p:handoutMasterId r:id="rId46"/>
  </p:handoutMasterIdLst>
  <p:sldIdLst>
    <p:sldId id="16772939" r:id="rId10"/>
    <p:sldId id="16776416" r:id="rId11"/>
    <p:sldId id="16776418" r:id="rId12"/>
    <p:sldId id="16776417" r:id="rId13"/>
    <p:sldId id="16776419" r:id="rId14"/>
    <p:sldId id="16776420" r:id="rId15"/>
    <p:sldId id="16776421" r:id="rId16"/>
    <p:sldId id="16776422" r:id="rId17"/>
    <p:sldId id="16776423" r:id="rId18"/>
    <p:sldId id="16776365" r:id="rId19"/>
    <p:sldId id="16776366" r:id="rId20"/>
    <p:sldId id="16776367" r:id="rId21"/>
    <p:sldId id="16776368" r:id="rId22"/>
    <p:sldId id="16776409" r:id="rId23"/>
    <p:sldId id="16776410" r:id="rId24"/>
    <p:sldId id="16776411" r:id="rId25"/>
    <p:sldId id="16776369" r:id="rId26"/>
    <p:sldId id="16776413" r:id="rId27"/>
    <p:sldId id="16776371" r:id="rId28"/>
    <p:sldId id="16776406" r:id="rId29"/>
    <p:sldId id="16776405" r:id="rId30"/>
    <p:sldId id="16776373" r:id="rId31"/>
    <p:sldId id="16776407" r:id="rId32"/>
    <p:sldId id="16776376" r:id="rId33"/>
    <p:sldId id="16776408" r:id="rId34"/>
    <p:sldId id="16776380" r:id="rId35"/>
    <p:sldId id="16776381" r:id="rId36"/>
    <p:sldId id="16776382" r:id="rId37"/>
    <p:sldId id="16776383" r:id="rId38"/>
    <p:sldId id="16776415" r:id="rId39"/>
    <p:sldId id="16776424" r:id="rId40"/>
    <p:sldId id="16776425" r:id="rId41"/>
    <p:sldId id="16776387" r:id="rId42"/>
    <p:sldId id="16776388" r:id="rId43"/>
    <p:sldId id="16776391" r:id="rId44"/>
  </p:sldIdLst>
  <p:sldSz cx="12192000" cy="6858000"/>
  <p:notesSz cx="6858000" cy="9144000"/>
  <p:custDataLst>
    <p:tags r:id="rId47"/>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416"/>
            <p14:sldId id="16776418"/>
            <p14:sldId id="16776417"/>
            <p14:sldId id="16776419"/>
            <p14:sldId id="16776420"/>
            <p14:sldId id="16776421"/>
            <p14:sldId id="16776422"/>
            <p14:sldId id="16776423"/>
            <p14:sldId id="16776365"/>
            <p14:sldId id="16776366"/>
            <p14:sldId id="16776367"/>
            <p14:sldId id="16776368"/>
            <p14:sldId id="16776409"/>
            <p14:sldId id="16776410"/>
            <p14:sldId id="16776411"/>
            <p14:sldId id="16776369"/>
            <p14:sldId id="16776413"/>
            <p14:sldId id="16776371"/>
            <p14:sldId id="16776406"/>
            <p14:sldId id="16776405"/>
            <p14:sldId id="16776373"/>
            <p14:sldId id="16776407"/>
            <p14:sldId id="16776376"/>
            <p14:sldId id="16776408"/>
            <p14:sldId id="16776380"/>
            <p14:sldId id="16776381"/>
            <p14:sldId id="16776382"/>
            <p14:sldId id="16776383"/>
            <p14:sldId id="16776415"/>
            <p14:sldId id="16776424"/>
            <p14:sldId id="16776425"/>
            <p14:sldId id="16776387"/>
            <p14:sldId id="16776388"/>
            <p14:sldId id="167763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9718" autoAdjust="0"/>
  </p:normalViewPr>
  <p:slideViewPr>
    <p:cSldViewPr snapToGrid="0">
      <p:cViewPr varScale="1">
        <p:scale>
          <a:sx n="129" d="100"/>
          <a:sy n="129" d="100"/>
        </p:scale>
        <p:origin x="106" y="66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tags" Target="tags/tag1.xml"/><Relationship Id="rId50"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viewProps" Target="viewProps.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presProps" Target="presProps.xml"/><Relationship Id="rId8" Type="http://schemas.openxmlformats.org/officeDocument/2006/relationships/slideMaster" Target="slideMasters/slideMaster5.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handoutMaster" Target="handoutMasters/handoutMaster1.xml"/><Relationship Id="rId20" Type="http://schemas.openxmlformats.org/officeDocument/2006/relationships/slide" Target="slides/slide11.xml"/><Relationship Id="rId41" Type="http://schemas.openxmlformats.org/officeDocument/2006/relationships/slide" Target="slides/slide32.xml"/><Relationship Id="rId1" Type="http://schemas.openxmlformats.org/officeDocument/2006/relationships/customXml" Target="../customXml/item1.xml"/><Relationship Id="rId6"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2025/10/16</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34EB0-FE8B-B5F3-F3FF-A91381E0FB4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E9D9DF-C6BE-0141-AA37-61770B7352D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6B6A8D-4471-6AB2-C3F2-F1FD030EA23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BEFB6D9-7AC5-95EF-4AF9-5286738D340E}"/>
              </a:ext>
            </a:extLst>
          </p:cNvPr>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extLst>
      <p:ext uri="{BB962C8B-B14F-4D97-AF65-F5344CB8AC3E}">
        <p14:creationId xmlns:p14="http://schemas.microsoft.com/office/powerpoint/2010/main" val="1533877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44BA3-72CB-1962-CEC9-48CD13C028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62A0F96-C3FF-9E33-DFE6-AAE8BA2BE77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9CCA6C9-0673-276C-60D1-40FAF2649D32}"/>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F29A1730-601B-842C-4F27-58A6CE531E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942505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C03A5-0C7D-E47A-3583-AF6DF164F2B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0895C01-D89A-9398-E365-CDC72F42612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F36F881-9293-7F24-7835-3EFC41C0BE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C2945E0-42A8-9502-F08B-97C35C8715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3639296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1F8BD-6A4C-DC3E-1A81-A2D146F5D6F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86244B0-4083-E30B-68FA-ED105DA5800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5C1AED-7E56-090B-DDCB-2B29640883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26CD347-1592-E0BE-CDA7-B966731EA3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14984626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DE84A-DA2A-1D87-697F-3F29A1634BC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27B0F6C-7DBE-17E1-6362-5932AA6565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3445A00-6E58-BC2F-66D4-E8CB6224DEC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B3FA2904-7A1B-0138-871A-BCF75B8915B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1484868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368B3-0CCC-4F11-2E49-D680D44458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B36E07-11F3-036D-152A-649BB86A94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6821971-9486-FABE-27C2-9987275AB6B6}"/>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BF74242-762D-19BF-5924-401C8CF9CB8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27252735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78D84-0030-B7DD-2FF1-CBC7077375A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6D92A8-355C-0FED-72DF-E1F19FAAA6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65D96C-9DF7-06EF-6873-B6903652B5D4}"/>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D1B4A19E-4535-2E28-F1CE-447DC2DB127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25964274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60C2-EF7E-723B-FD74-5CBE546F59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A7CF87-EC32-2ED9-C501-903291220D8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F037AC-D9A6-D8E9-4FF0-DBCFC9B6E2E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B20D3BE-DA1B-836B-3A38-DBCC771C391A}"/>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7543310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fontAlgn="ctr"/>
            <a:r>
              <a:rPr lang="de-DE" altLang="ja-JP" dirty="0"/>
              <a:t>Can view </a:t>
            </a:r>
            <a:r>
              <a:rPr lang="ja-JP" altLang="en-US" dirty="0"/>
              <a:t>⇒　閲覧 </a:t>
            </a:r>
            <a:r>
              <a:rPr lang="en-US" altLang="ja-JP" dirty="0"/>
              <a:t>(</a:t>
            </a:r>
            <a:r>
              <a:rPr lang="de-DE" altLang="ja-JP" dirty="0"/>
              <a:t>Read)</a:t>
            </a:r>
            <a:r>
              <a:rPr lang="ja-JP" altLang="en-US" dirty="0"/>
              <a:t>　⇒　　サイトやドキュメントを</a:t>
            </a:r>
            <a:r>
              <a:rPr lang="ja-JP" altLang="en-US" b="1" dirty="0"/>
              <a:t>表示</a:t>
            </a:r>
            <a:r>
              <a:rPr lang="ja-JP" altLang="en-US" dirty="0"/>
              <a:t>できます。ファイルを開いて読むことはできますが、内容を変更したり、新しいアイテムを追加したりすることはできません。</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download</a:t>
            </a:r>
            <a:r>
              <a:rPr lang="ja-JP" altLang="en-US" dirty="0"/>
              <a:t>　⇒　閲覧 </a:t>
            </a:r>
            <a:r>
              <a:rPr lang="en-US" altLang="ja-JP" dirty="0"/>
              <a:t>(</a:t>
            </a:r>
            <a:r>
              <a:rPr lang="de-DE" altLang="ja-JP" dirty="0"/>
              <a:t>Read)</a:t>
            </a:r>
            <a:r>
              <a:rPr lang="ja-JP" altLang="en-US" dirty="0"/>
              <a:t>　⇒　　「閲覧」権限の一部として、ファイルを開くだけでなく、</a:t>
            </a:r>
            <a:r>
              <a:rPr lang="ja-JP" altLang="en-US" b="1" dirty="0"/>
              <a:t>自分のローカルデバイスにコピーとしてダウンロード</a:t>
            </a:r>
            <a:r>
              <a:rPr lang="ja-JP" altLang="en-US" dirty="0"/>
              <a:t>できます。</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review </a:t>
            </a:r>
            <a:r>
              <a:rPr lang="ja-JP" altLang="en-US" dirty="0"/>
              <a:t>⇒　</a:t>
            </a:r>
            <a:r>
              <a:rPr lang="ja-JP" altLang="en-US" b="1" dirty="0"/>
              <a:t>投稿 </a:t>
            </a:r>
            <a:r>
              <a:rPr lang="en-US" altLang="ja-JP" b="1" dirty="0"/>
              <a:t>(Contribute)</a:t>
            </a:r>
            <a:r>
              <a:rPr lang="ja-JP" altLang="en-US" dirty="0"/>
              <a:t> の拡張、または </a:t>
            </a:r>
            <a:r>
              <a:rPr lang="ja-JP" altLang="en-US" b="1" dirty="0"/>
              <a:t>カスタム　</a:t>
            </a:r>
            <a:r>
              <a:rPr lang="ja-JP" altLang="en-US" dirty="0"/>
              <a:t>⇒　　ファイルを</a:t>
            </a:r>
            <a:r>
              <a:rPr lang="ja-JP" altLang="en-US" b="1" dirty="0"/>
              <a:t>閲覧</a:t>
            </a:r>
            <a:r>
              <a:rPr lang="ja-JP" altLang="en-US" dirty="0"/>
              <a:t>し、</a:t>
            </a:r>
            <a:r>
              <a:rPr lang="ja-JP" altLang="en-US" b="1" dirty="0"/>
              <a:t>コメントを追加</a:t>
            </a:r>
            <a:r>
              <a:rPr lang="ja-JP" altLang="en-US" dirty="0"/>
              <a:t>したり、ドキュメントの</a:t>
            </a:r>
            <a:r>
              <a:rPr lang="ja-JP" altLang="en-US" b="1" dirty="0"/>
              <a:t>承認プロセスに参加</a:t>
            </a:r>
            <a:r>
              <a:rPr lang="ja-JP" altLang="en-US" dirty="0"/>
              <a:t>したりできます。コンテンツの</a:t>
            </a:r>
            <a:r>
              <a:rPr lang="ja-JP" altLang="en-US" b="1" dirty="0"/>
              <a:t>直接的な編集・削除は含まない</a:t>
            </a:r>
            <a:r>
              <a:rPr lang="ja-JP" altLang="en-US" dirty="0"/>
              <a:t>ことが一般的です。</a:t>
            </a:r>
            <a:endParaRPr lang="en-US" altLang="ja-JP" dirty="0"/>
          </a:p>
          <a:p>
            <a:r>
              <a:rPr lang="de-DE" altLang="ja-JP" dirty="0"/>
              <a:t>Can edit</a:t>
            </a:r>
            <a:r>
              <a:rPr lang="ja-JP" altLang="en-US" dirty="0"/>
              <a:t>　⇒　編集 </a:t>
            </a:r>
            <a:r>
              <a:rPr lang="en-US" altLang="ja-JP" dirty="0"/>
              <a:t>(</a:t>
            </a:r>
            <a:r>
              <a:rPr lang="de-DE" altLang="ja-JP" dirty="0"/>
              <a:t>Edit)</a:t>
            </a:r>
            <a:r>
              <a:rPr lang="ja-JP" altLang="en-US" dirty="0"/>
              <a:t>　⇒　　</a:t>
            </a:r>
            <a:r>
              <a:rPr lang="ja-JP" altLang="en-US" b="1" dirty="0"/>
              <a:t>アイテムの追加、編集、削除</a:t>
            </a:r>
            <a:r>
              <a:rPr lang="ja-JP" altLang="en-US" dirty="0"/>
              <a:t>ができます。ドキュメントライブラリ内のファイルを直接修正したり、リストに新しいアイテムを追加したりできます。</a:t>
            </a:r>
            <a:br>
              <a:rPr lang="en-US" altLang="ja-JP" dirty="0"/>
            </a:br>
            <a:br>
              <a:rPr lang="en-US" altLang="ja-JP" dirty="0"/>
            </a:br>
            <a:br>
              <a:rPr lang="en-US" altLang="ja-JP" dirty="0"/>
            </a:br>
            <a:r>
              <a:rPr lang="en-US" altLang="ja-JP" b="1" dirty="0"/>
              <a:t>1. </a:t>
            </a:r>
            <a:r>
              <a:rPr lang="ja-JP" altLang="en-US" b="1" dirty="0"/>
              <a:t>閲覧 </a:t>
            </a:r>
            <a:r>
              <a:rPr lang="en-US" altLang="ja-JP" b="1" dirty="0"/>
              <a:t>(Read) </a:t>
            </a:r>
            <a:r>
              <a:rPr lang="ja-JP" altLang="en-US" b="1" dirty="0"/>
              <a:t>権限：</a:t>
            </a:r>
            <a:r>
              <a:rPr lang="en-US" altLang="ja-JP" b="1" dirty="0"/>
              <a:t>Can view, Can download</a:t>
            </a:r>
          </a:p>
          <a:p>
            <a:r>
              <a:rPr lang="ja-JP" altLang="en-US" dirty="0"/>
              <a:t>これが最も制限された権限レベルです。</a:t>
            </a:r>
          </a:p>
          <a:p>
            <a:r>
              <a:rPr lang="ja-JP" altLang="en-US" b="1" dirty="0"/>
              <a:t>できること</a:t>
            </a:r>
            <a:r>
              <a:rPr lang="en-US" altLang="ja-JP" b="1" dirty="0"/>
              <a:t>:</a:t>
            </a:r>
            <a:endParaRPr lang="ja-JP" altLang="en-US" dirty="0"/>
          </a:p>
          <a:p>
            <a:pPr lvl="1"/>
            <a:r>
              <a:rPr lang="ja-JP" altLang="en-US" b="1" dirty="0"/>
              <a:t>ファイルの表示</a:t>
            </a:r>
            <a:r>
              <a:rPr lang="en-US" altLang="ja-JP" b="1" dirty="0"/>
              <a:t>/</a:t>
            </a:r>
            <a:r>
              <a:rPr lang="ja-JP" altLang="en-US" b="1" dirty="0"/>
              <a:t>プレビュー </a:t>
            </a:r>
            <a:r>
              <a:rPr lang="en-US" altLang="ja-JP" b="1" dirty="0"/>
              <a:t>(Can view):</a:t>
            </a:r>
            <a:r>
              <a:rPr lang="ja-JP" altLang="en-US" dirty="0"/>
              <a:t> ドキュメントやリストアイテムの内容を見ることができます。</a:t>
            </a:r>
          </a:p>
          <a:p>
            <a:pPr lvl="1"/>
            <a:r>
              <a:rPr lang="ja-JP" altLang="en-US" b="1" dirty="0"/>
              <a:t>ダウンロード </a:t>
            </a:r>
            <a:r>
              <a:rPr lang="en-US" altLang="ja-JP" b="1" dirty="0"/>
              <a:t>(Can download):</a:t>
            </a:r>
            <a:r>
              <a:rPr lang="ja-JP" altLang="en-US" dirty="0"/>
              <a:t> ファイルをローカルに保存できます。</a:t>
            </a:r>
          </a:p>
          <a:p>
            <a:pPr lvl="1"/>
            <a:r>
              <a:rPr lang="ja-JP" altLang="en-US" b="1" dirty="0"/>
              <a:t>バージョン履歴の表示</a:t>
            </a:r>
            <a:r>
              <a:rPr lang="en-US" altLang="ja-JP" b="1" dirty="0"/>
              <a:t>:</a:t>
            </a:r>
            <a:r>
              <a:rPr lang="ja-JP" altLang="en-US" dirty="0"/>
              <a:t> アイテムの変更履歴を見ることができます。</a:t>
            </a:r>
          </a:p>
          <a:p>
            <a:r>
              <a:rPr lang="ja-JP" altLang="en-US" b="1" dirty="0"/>
              <a:t>できないこと</a:t>
            </a:r>
            <a:r>
              <a:rPr lang="en-US" altLang="ja-JP" b="1" dirty="0"/>
              <a:t>:</a:t>
            </a:r>
            <a:endParaRPr lang="ja-JP" altLang="en-US" dirty="0"/>
          </a:p>
          <a:p>
            <a:pPr lvl="1"/>
            <a:r>
              <a:rPr lang="ja-JP" altLang="en-US" b="1" dirty="0"/>
              <a:t>ファイルの変更、編集、削除、名前の変更。</a:t>
            </a:r>
            <a:endParaRPr lang="ja-JP" altLang="en-US" dirty="0"/>
          </a:p>
          <a:p>
            <a:pPr lvl="1"/>
            <a:r>
              <a:rPr lang="ja-JP" altLang="en-US" b="1" dirty="0"/>
              <a:t>新しいファイルの追加。</a:t>
            </a:r>
            <a:endParaRPr lang="ja-JP" altLang="en-US" dirty="0"/>
          </a:p>
          <a:p>
            <a:r>
              <a:rPr lang="en-US" altLang="ja-JP" b="1" dirty="0"/>
              <a:t>2. </a:t>
            </a:r>
            <a:r>
              <a:rPr lang="ja-JP" altLang="en-US" b="1" dirty="0"/>
              <a:t>編集 </a:t>
            </a:r>
            <a:r>
              <a:rPr lang="en-US" altLang="ja-JP" b="1" dirty="0"/>
              <a:t>(Edit) </a:t>
            </a:r>
            <a:r>
              <a:rPr lang="ja-JP" altLang="en-US" b="1" dirty="0"/>
              <a:t>権限：</a:t>
            </a:r>
            <a:r>
              <a:rPr lang="en-US" altLang="ja-JP" b="1" dirty="0"/>
              <a:t>Can edit</a:t>
            </a:r>
          </a:p>
          <a:p>
            <a:r>
              <a:rPr lang="ja-JP" altLang="en-US" dirty="0"/>
              <a:t>これはサイトの日常的なコンテンツ管理に最も使われる権限です。</a:t>
            </a:r>
          </a:p>
          <a:p>
            <a:r>
              <a:rPr lang="ja-JP" altLang="en-US" b="1" dirty="0"/>
              <a:t>できること</a:t>
            </a:r>
            <a:r>
              <a:rPr lang="en-US" altLang="ja-JP" b="1" dirty="0"/>
              <a:t>:</a:t>
            </a:r>
            <a:endParaRPr lang="ja-JP" altLang="en-US" dirty="0"/>
          </a:p>
          <a:p>
            <a:pPr lvl="1"/>
            <a:r>
              <a:rPr lang="ja-JP" altLang="en-US" dirty="0"/>
              <a:t>「閲覧」権限のすべて。</a:t>
            </a:r>
          </a:p>
          <a:p>
            <a:pPr lvl="1"/>
            <a:r>
              <a:rPr lang="ja-JP" altLang="en-US" b="1" dirty="0"/>
              <a:t>アイテムの追加、変更、削除 </a:t>
            </a:r>
            <a:r>
              <a:rPr lang="en-US" altLang="ja-JP" b="1" dirty="0"/>
              <a:t>(Can edit):</a:t>
            </a:r>
            <a:r>
              <a:rPr lang="ja-JP" altLang="en-US" dirty="0"/>
              <a:t> ドキュメントの内容を修正したり、ライブラリから削除したり、リストに新しい項目を追加したりできます。</a:t>
            </a:r>
          </a:p>
          <a:p>
            <a:pPr lvl="1"/>
            <a:r>
              <a:rPr lang="ja-JP" altLang="en-US" b="1" dirty="0"/>
              <a:t>自分の</a:t>
            </a:r>
            <a:r>
              <a:rPr lang="ja-JP" altLang="en-US" dirty="0"/>
              <a:t>アイテムを管理（承認プロセスをバイパスして公開など）。</a:t>
            </a:r>
          </a:p>
          <a:p>
            <a:r>
              <a:rPr lang="en-US" altLang="ja-JP" b="1" dirty="0"/>
              <a:t>3. </a:t>
            </a:r>
            <a:r>
              <a:rPr lang="ja-JP" altLang="en-US" b="1" dirty="0"/>
              <a:t>レビュー </a:t>
            </a:r>
            <a:r>
              <a:rPr lang="en-US" altLang="ja-JP" b="1" dirty="0"/>
              <a:t>(Can review) </a:t>
            </a:r>
            <a:r>
              <a:rPr lang="ja-JP" altLang="en-US" b="1" dirty="0"/>
              <a:t>の位置づけ</a:t>
            </a:r>
          </a:p>
          <a:p>
            <a:r>
              <a:rPr lang="ja-JP" altLang="en-US" dirty="0"/>
              <a:t>「</a:t>
            </a:r>
            <a:r>
              <a:rPr lang="en-US" altLang="ja-JP" dirty="0"/>
              <a:t>Can review</a:t>
            </a:r>
            <a:r>
              <a:rPr lang="ja-JP" altLang="en-US" dirty="0"/>
              <a:t>」という権限は標準の </a:t>
            </a:r>
            <a:r>
              <a:rPr lang="en-US" altLang="ja-JP" dirty="0"/>
              <a:t>SharePoint </a:t>
            </a:r>
            <a:r>
              <a:rPr lang="ja-JP" altLang="en-US" dirty="0"/>
              <a:t>権限レベル名にはありませんが、通常、次のいずれかの状態を指します。</a:t>
            </a:r>
          </a:p>
          <a:p>
            <a:r>
              <a:rPr lang="ja-JP" altLang="en-US" b="1" dirty="0"/>
              <a:t>「投稿 </a:t>
            </a:r>
            <a:r>
              <a:rPr lang="en-US" altLang="ja-JP" b="1" dirty="0"/>
              <a:t>(Contribute)</a:t>
            </a:r>
            <a:r>
              <a:rPr lang="ja-JP" altLang="en-US" b="1" dirty="0"/>
              <a:t>」権限</a:t>
            </a:r>
            <a:r>
              <a:rPr lang="en-US" altLang="ja-JP" b="1" dirty="0"/>
              <a:t>:</a:t>
            </a:r>
            <a:r>
              <a:rPr lang="ja-JP" altLang="en-US" dirty="0"/>
              <a:t> 「編集」権限に近く、ファイルの追加・編集はできますが、サイト自体の設定変更はできません。レビューアーが</a:t>
            </a:r>
            <a:r>
              <a:rPr lang="ja-JP" altLang="en-US" b="1" dirty="0"/>
              <a:t>コメント追加や軽微な修正</a:t>
            </a:r>
            <a:r>
              <a:rPr lang="ja-JP" altLang="en-US" dirty="0"/>
              <a:t>を求められる場合に適用されます。</a:t>
            </a:r>
          </a:p>
          <a:p>
            <a:r>
              <a:rPr lang="ja-JP" altLang="en-US" b="1" dirty="0"/>
              <a:t>承認機能の一部</a:t>
            </a:r>
            <a:r>
              <a:rPr lang="en-US" altLang="ja-JP" b="1" dirty="0"/>
              <a:t>:</a:t>
            </a:r>
            <a:r>
              <a:rPr lang="ja-JP" altLang="en-US" dirty="0"/>
              <a:t> ドキュメントライブラリで</a:t>
            </a:r>
            <a:r>
              <a:rPr lang="ja-JP" altLang="en-US" b="1" dirty="0"/>
              <a:t>コンテンツ承認</a:t>
            </a:r>
            <a:r>
              <a:rPr lang="ja-JP" altLang="en-US" dirty="0"/>
              <a:t>が有効になっている場合、ユーザーがファイルにコメントを残し、そのドキュメントを</a:t>
            </a:r>
            <a:r>
              <a:rPr lang="ja-JP" altLang="en-US" b="1" dirty="0"/>
              <a:t>承認または却下</a:t>
            </a:r>
            <a:r>
              <a:rPr lang="ja-JP" altLang="en-US" dirty="0"/>
              <a:t>する役割を担うことを意味します。この場合、ユーザーは必ずしも「編集」権限を持っている必要はありません。</a:t>
            </a:r>
          </a:p>
          <a:p>
            <a:pPr marL="0" marR="0" lvl="0" indent="0" algn="l" defTabSz="914400" rtl="0" eaLnBrk="1" fontAlgn="ctr" latinLnBrk="0" hangingPunct="1">
              <a:lnSpc>
                <a:spcPct val="100000"/>
              </a:lnSpc>
              <a:spcBef>
                <a:spcPts val="0"/>
              </a:spcBef>
              <a:spcAft>
                <a:spcPts val="0"/>
              </a:spcAft>
              <a:buClrTx/>
              <a:buSzTx/>
              <a:buFontTx/>
              <a:buNone/>
              <a:tabLst/>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28</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8B4B0-9C44-9EB0-5384-D60E826E40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B430AB3-3FFB-328A-4516-04C0BBA207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D59E68-8CC3-99B0-D6CC-DE1819E4055E}"/>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56444E0C-523B-DD7B-329E-C1F4D4806FA9}"/>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31196699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82398-7517-C1ED-44A5-535B9544C34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F6AE16E-DAF4-21DD-A55E-C54E081A14D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3160E1E-D613-38A6-D23E-027DC13AE190}"/>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432D8F59-164C-2E26-8CD4-AB89B41EE25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11595321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65845-2C79-9CA5-B65D-A610AF4AEF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87DCD27-4F5B-D91F-A0BD-618E55A17F7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BB38897-C29F-B3E5-1180-F747E40CB8F7}"/>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B22ECA8C-BE0E-F2C3-B22C-EA585FDC9CA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12603347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10/16/2025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10/16/2025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8.xml"/><Relationship Id="rId1" Type="http://schemas.openxmlformats.org/officeDocument/2006/relationships/slideLayout" Target="../slideLayouts/slideLayout8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9.xml"/><Relationship Id="rId1" Type="http://schemas.openxmlformats.org/officeDocument/2006/relationships/slideLayout" Target="../slideLayouts/slideLayout81.xml"/><Relationship Id="rId5" Type="http://schemas.openxmlformats.org/officeDocument/2006/relationships/image" Target="../media/image29.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7"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8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learn.microsoft.com/ja-jp/graph/search-concept-overview"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81.xml"/><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1.xml"/></Relationships>
</file>

<file path=ppt/slides/_rels/slide33.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A20DC-86C9-59D8-0C67-248DB1AA96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C0D805-7A93-404A-DCBA-1A997737F1AB}"/>
              </a:ext>
            </a:extLst>
          </p:cNvPr>
          <p:cNvSpPr>
            <a:spLocks noGrp="1"/>
          </p:cNvSpPr>
          <p:nvPr>
            <p:ph type="title"/>
          </p:nvPr>
        </p:nvSpPr>
        <p:spPr/>
        <p:txBody>
          <a:bodyPr>
            <a:noAutofit/>
          </a:bodyPr>
          <a:lstStyle/>
          <a:p>
            <a:r>
              <a:rPr kumimoji="1" lang="ja-JP" altLang="en-US" dirty="0"/>
              <a:t>提案要旨</a:t>
            </a:r>
          </a:p>
        </p:txBody>
      </p:sp>
      <p:sp>
        <p:nvSpPr>
          <p:cNvPr id="15" name="テキスト ボックス 14">
            <a:extLst>
              <a:ext uri="{FF2B5EF4-FFF2-40B4-BE49-F238E27FC236}">
                <a16:creationId xmlns:a16="http://schemas.microsoft.com/office/drawing/2014/main" id="{CB0F2A1C-1710-588B-3693-29F1830997B2}"/>
              </a:ext>
            </a:extLst>
          </p:cNvPr>
          <p:cNvSpPr txBox="1"/>
          <p:nvPr/>
        </p:nvSpPr>
        <p:spPr>
          <a:xfrm>
            <a:off x="503700" y="748145"/>
            <a:ext cx="11191220" cy="999314"/>
          </a:xfrm>
          <a:prstGeom prst="roundRect">
            <a:avLst>
              <a:gd name="adj" fmla="val 10463"/>
            </a:avLst>
          </a:prstGeom>
          <a:solidFill>
            <a:schemeClr val="accent6">
              <a:lumMod val="20000"/>
              <a:lumOff val="80000"/>
            </a:schemeClr>
          </a:solidFill>
          <a:ln w="6350" cap="flat" cmpd="sng" algn="ctr">
            <a:solidFill>
              <a:schemeClr val="accent6">
                <a:lumMod val="60000"/>
                <a:lumOff val="40000"/>
              </a:schemeClr>
            </a:solidFill>
            <a:prstDash val="solid"/>
            <a:round/>
            <a:headEnd type="oval" w="med" len="med"/>
            <a:tailEnd type="oval" w="med" len="med"/>
          </a:ln>
        </p:spPr>
        <p:txBody>
          <a:bodyPr wrap="square" lIns="36000" tIns="36000" rIns="36000" bIns="36000" rtlCol="0" anchor="ctr" anchorCtr="0">
            <a:noAutofit/>
          </a:bodyPr>
          <a:lstStyle/>
          <a:p>
            <a:r>
              <a:rPr lang="ja-JP" altLang="en-US" sz="1600" dirty="0">
                <a:latin typeface="Yu Gothic UI" panose="020B0500000000000000" pitchFamily="50" charset="-128"/>
                <a:ea typeface="Yu Gothic UI" panose="020B0500000000000000" pitchFamily="50" charset="-128"/>
              </a:rPr>
              <a:t>貴社が推奨・利用している技術基盤を基に、</a:t>
            </a:r>
            <a:r>
              <a:rPr kumimoji="0" lang="en-US" altLang="ja-JP" sz="1600" dirty="0">
                <a:latin typeface="Arial" panose="020B0604020202020204" pitchFamily="34" charset="0"/>
              </a:rPr>
              <a:t> 3</a:t>
            </a:r>
            <a:r>
              <a:rPr kumimoji="0" lang="en-US" altLang="ja-JP" sz="1600" baseline="30000" dirty="0">
                <a:latin typeface="Arial" panose="020B0604020202020204" pitchFamily="34" charset="0"/>
              </a:rPr>
              <a:t>rd</a:t>
            </a:r>
            <a:r>
              <a:rPr kumimoji="0" lang="en-US" altLang="ja-JP" sz="1600" dirty="0">
                <a:latin typeface="Arial" panose="020B0604020202020204" pitchFamily="34" charset="0"/>
              </a:rPr>
              <a:t> Party</a:t>
            </a:r>
            <a:r>
              <a:rPr kumimoji="0" lang="ja-JP" altLang="en-US" sz="1600" dirty="0">
                <a:latin typeface="Arial" panose="020B0604020202020204" pitchFamily="34" charset="0"/>
              </a:rPr>
              <a:t>の</a:t>
            </a:r>
            <a:r>
              <a:rPr kumimoji="0" lang="en-US" altLang="ja-JP" sz="1600" dirty="0">
                <a:latin typeface="Arial" panose="020B0604020202020204" pitchFamily="34" charset="0"/>
              </a:rPr>
              <a:t>CMS</a:t>
            </a:r>
            <a:r>
              <a:rPr kumimoji="0" lang="ja-JP" altLang="en-US" sz="1600" dirty="0">
                <a:latin typeface="Arial" panose="020B0604020202020204" pitchFamily="34" charset="0"/>
              </a:rPr>
              <a:t>パッケージを利用せず、</a:t>
            </a:r>
            <a:r>
              <a:rPr lang="ja-JP" altLang="en-US" sz="1600" dirty="0">
                <a:latin typeface="Yu Gothic UI" panose="020B0500000000000000" pitchFamily="50" charset="-128"/>
                <a:ea typeface="Yu Gothic UI" panose="020B0500000000000000" pitchFamily="50" charset="-128"/>
              </a:rPr>
              <a:t>構築と運用のコストを抑えることを優先に</a:t>
            </a:r>
            <a:endParaRPr lang="en-US" altLang="ja-JP" sz="1600" dirty="0">
              <a:latin typeface="Yu Gothic UI" panose="020B0500000000000000" pitchFamily="50" charset="-128"/>
              <a:ea typeface="Yu Gothic UI" panose="020B0500000000000000" pitchFamily="50" charset="-128"/>
            </a:endParaRPr>
          </a:p>
          <a:p>
            <a:r>
              <a:rPr lang="en-US" altLang="ja-JP" sz="2000" dirty="0" err="1">
                <a:latin typeface="Yu Gothic UI" panose="020B0500000000000000" pitchFamily="50" charset="-128"/>
                <a:ea typeface="Yu Gothic UI" panose="020B0500000000000000" pitchFamily="50" charset="-128"/>
              </a:rPr>
              <a:t>PowerPlatform</a:t>
            </a:r>
            <a:r>
              <a:rPr lang="ja-JP" altLang="en-US" sz="2000" dirty="0">
                <a:latin typeface="Yu Gothic UI" panose="020B0500000000000000" pitchFamily="50" charset="-128"/>
                <a:ea typeface="Yu Gothic UI" panose="020B0500000000000000" pitchFamily="50" charset="-128"/>
              </a:rPr>
              <a:t>（貴社推奨）</a:t>
            </a:r>
            <a:r>
              <a:rPr lang="en-US" altLang="ja-JP" sz="2000" dirty="0">
                <a:latin typeface="Yu Gothic UI" panose="020B0500000000000000" pitchFamily="50" charset="-128"/>
                <a:ea typeface="Yu Gothic UI" panose="020B0500000000000000" pitchFamily="50" charset="-128"/>
              </a:rPr>
              <a:t>+Office365</a:t>
            </a:r>
            <a:r>
              <a:rPr lang="ja-JP" altLang="en-US" sz="2000" dirty="0">
                <a:latin typeface="Yu Gothic UI" panose="020B0500000000000000" pitchFamily="50" charset="-128"/>
                <a:ea typeface="Yu Gothic UI" panose="020B0500000000000000" pitchFamily="50" charset="-128"/>
              </a:rPr>
              <a:t>（</a:t>
            </a:r>
            <a:r>
              <a:rPr lang="en-US" altLang="ja-JP" sz="2000" dirty="0">
                <a:latin typeface="Yu Gothic UI" panose="020B0500000000000000" pitchFamily="50" charset="-128"/>
                <a:ea typeface="Yu Gothic UI" panose="020B0500000000000000" pitchFamily="50" charset="-128"/>
              </a:rPr>
              <a:t>Office</a:t>
            </a:r>
            <a:r>
              <a:rPr lang="ja-JP" altLang="en-US" sz="2000" dirty="0">
                <a:latin typeface="Yu Gothic UI" panose="020B0500000000000000" pitchFamily="50" charset="-128"/>
                <a:ea typeface="Yu Gothic UI" panose="020B0500000000000000" pitchFamily="50" charset="-128"/>
              </a:rPr>
              <a:t>機能と</a:t>
            </a:r>
            <a:r>
              <a:rPr lang="en-US" altLang="ja-JP" sz="2000" dirty="0">
                <a:latin typeface="Yu Gothic UI" panose="020B0500000000000000" pitchFamily="50" charset="-128"/>
                <a:ea typeface="Yu Gothic UI" panose="020B0500000000000000" pitchFamily="50" charset="-128"/>
              </a:rPr>
              <a:t>SharePoint</a:t>
            </a:r>
            <a:r>
              <a:rPr lang="ja-JP" altLang="en-US" sz="2000" dirty="0">
                <a:latin typeface="Yu Gothic UI" panose="020B0500000000000000" pitchFamily="50" charset="-128"/>
                <a:ea typeface="Yu Gothic UI" panose="020B0500000000000000" pitchFamily="50" charset="-128"/>
              </a:rPr>
              <a:t>）</a:t>
            </a:r>
            <a:r>
              <a:rPr lang="en-US" altLang="ja-JP" sz="2000" dirty="0">
                <a:latin typeface="Yu Gothic UI" panose="020B0500000000000000" pitchFamily="50" charset="-128"/>
                <a:ea typeface="Yu Gothic UI" panose="020B0500000000000000" pitchFamily="50" charset="-128"/>
              </a:rPr>
              <a:t>+Azure SQL</a:t>
            </a:r>
            <a:r>
              <a:rPr lang="ja-JP" altLang="en-US" sz="2000" dirty="0">
                <a:latin typeface="Yu Gothic UI" panose="020B0500000000000000" pitchFamily="50" charset="-128"/>
                <a:ea typeface="Yu Gothic UI" panose="020B0500000000000000" pitchFamily="50" charset="-128"/>
              </a:rPr>
              <a:t>（パフォーマンス保証）</a:t>
            </a:r>
            <a:r>
              <a:rPr lang="ja-JP" altLang="en-US" sz="1600" dirty="0">
                <a:latin typeface="Yu Gothic UI" panose="020B0500000000000000" pitchFamily="50" charset="-128"/>
                <a:ea typeface="Yu Gothic UI" panose="020B0500000000000000" pitchFamily="50" charset="-128"/>
              </a:rPr>
              <a:t>での構築方法を提案させていただきます。</a:t>
            </a:r>
            <a:endParaRPr kumimoji="1" lang="ja-JP" altLang="en-US" sz="1600" dirty="0">
              <a:latin typeface="Yu Gothic UI" panose="020B0500000000000000" pitchFamily="50" charset="-128"/>
              <a:ea typeface="Yu Gothic UI" panose="020B0500000000000000" pitchFamily="50" charset="-128"/>
            </a:endParaRPr>
          </a:p>
        </p:txBody>
      </p:sp>
      <p:sp>
        <p:nvSpPr>
          <p:cNvPr id="3" name="テキスト ボックス 2">
            <a:extLst>
              <a:ext uri="{FF2B5EF4-FFF2-40B4-BE49-F238E27FC236}">
                <a16:creationId xmlns:a16="http://schemas.microsoft.com/office/drawing/2014/main" id="{2394198E-A861-68BE-4265-BB260738D875}"/>
              </a:ext>
            </a:extLst>
          </p:cNvPr>
          <p:cNvSpPr txBox="1"/>
          <p:nvPr/>
        </p:nvSpPr>
        <p:spPr>
          <a:xfrm>
            <a:off x="5205154" y="1871007"/>
            <a:ext cx="6483146" cy="4421289"/>
          </a:xfrm>
          <a:prstGeom prst="roundRect">
            <a:avLst>
              <a:gd name="adj" fmla="val 3427"/>
            </a:avLst>
          </a:prstGeom>
          <a:solidFill>
            <a:schemeClr val="accent6">
              <a:lumMod val="20000"/>
              <a:lumOff val="80000"/>
            </a:schemeClr>
          </a:solidFill>
          <a:ln w="6350" cap="flat" cmpd="sng" algn="ctr">
            <a:solidFill>
              <a:schemeClr val="accent6">
                <a:lumMod val="60000"/>
                <a:lumOff val="40000"/>
              </a:schemeClr>
            </a:solidFill>
            <a:prstDash val="solid"/>
            <a:round/>
            <a:headEnd type="oval" w="med" len="med"/>
            <a:tailEnd type="oval" w="med" len="med"/>
          </a:ln>
        </p:spPr>
        <p:txBody>
          <a:bodyPr wrap="square" lIns="36000" tIns="36000" rIns="36000" bIns="36000" rtlCol="0" anchor="ctr" anchorCtr="0">
            <a:noAutofit/>
          </a:bodyPr>
          <a:lstStyle>
            <a:defPPr>
              <a:defRPr lang="ja-JP"/>
            </a:defPPr>
            <a:lvl1pPr>
              <a:defRPr sz="1600">
                <a:latin typeface="Yu Gothic UI" panose="020B0500000000000000" pitchFamily="50" charset="-128"/>
                <a:ea typeface="Yu Gothic UI" panose="020B0500000000000000" pitchFamily="50" charset="-128"/>
              </a:defRPr>
            </a:lvl1pPr>
            <a:lvl2pPr marL="742950" lvl="1" indent="-285750">
              <a:buFont typeface="Arial" panose="020B0604020202020204" pitchFamily="34" charset="0"/>
              <a:buChar char="•"/>
              <a:defRPr sz="1600"/>
            </a:lvl2pPr>
            <a:lvl3pPr marL="1200150" lvl="2" indent="-285750">
              <a:buFont typeface="Arial" panose="020B0604020202020204" pitchFamily="34" charset="0"/>
              <a:buChar char="•"/>
              <a:defRPr sz="1600"/>
            </a:lvl3pPr>
          </a:lstStyle>
          <a:p>
            <a:r>
              <a:rPr lang="ja-JP" altLang="en-US" dirty="0"/>
              <a:t>ソリューション</a:t>
            </a:r>
            <a:endParaRPr lang="en-US" altLang="ja-JP" dirty="0"/>
          </a:p>
          <a:p>
            <a:r>
              <a:rPr lang="ja-JP" altLang="en-US" dirty="0"/>
              <a:t>１．添付ファイル管理</a:t>
            </a:r>
            <a:endParaRPr lang="en-US" altLang="ja-JP" dirty="0"/>
          </a:p>
          <a:p>
            <a:pPr marL="1028700" lvl="1"/>
            <a:r>
              <a:rPr lang="en-US" altLang="ja-JP" sz="1400" dirty="0"/>
              <a:t>SharePoint</a:t>
            </a:r>
            <a:r>
              <a:rPr lang="ja-JP" altLang="en-US" sz="1400" dirty="0"/>
              <a:t>をストレージとして採用することで</a:t>
            </a:r>
            <a:r>
              <a:rPr lang="en-US" altLang="ja-JP" sz="1400" dirty="0"/>
              <a:t>SharePoint</a:t>
            </a:r>
            <a:r>
              <a:rPr lang="ja-JP" altLang="en-US" sz="1400" dirty="0"/>
              <a:t>サービスで提供している機能を利用</a:t>
            </a:r>
            <a:endParaRPr lang="en-US" altLang="ja-JP" sz="1400" dirty="0"/>
          </a:p>
          <a:p>
            <a:pPr lvl="2">
              <a:buFont typeface="Gill Sans MT" panose="020B0502020104020203" pitchFamily="34" charset="0"/>
              <a:buChar char="–"/>
            </a:pPr>
            <a:r>
              <a:rPr lang="ja-JP" altLang="en-US" sz="1400" dirty="0"/>
              <a:t>貴社推奨の</a:t>
            </a:r>
            <a:r>
              <a:rPr lang="en-US" altLang="ja-JP" sz="1400" dirty="0"/>
              <a:t>Office365</a:t>
            </a:r>
            <a:r>
              <a:rPr lang="ja-JP" altLang="en-US" sz="1400" dirty="0"/>
              <a:t>環境でオンライン編集</a:t>
            </a:r>
            <a:endParaRPr lang="en-US" altLang="ja-JP" sz="1400" dirty="0"/>
          </a:p>
          <a:p>
            <a:pPr lvl="2">
              <a:buFont typeface="Gill Sans MT" panose="020B0502020104020203" pitchFamily="34" charset="0"/>
              <a:buChar char="–"/>
            </a:pPr>
            <a:r>
              <a:rPr lang="ja-JP" altLang="en-US" sz="1400" dirty="0"/>
              <a:t>権限管理（</a:t>
            </a:r>
            <a:r>
              <a:rPr lang="en-US" altLang="ja-JP" sz="1400" dirty="0"/>
              <a:t>SPO</a:t>
            </a:r>
            <a:r>
              <a:rPr lang="ja-JP" altLang="en-US" sz="1400" dirty="0"/>
              <a:t>での直接アクセスを防止）</a:t>
            </a:r>
            <a:endParaRPr lang="en-US" altLang="ja-JP" sz="1400" dirty="0"/>
          </a:p>
          <a:p>
            <a:pPr marL="1028700" lvl="1"/>
            <a:r>
              <a:rPr lang="en-US" altLang="ja-JP" sz="1400" dirty="0"/>
              <a:t>SharePoint</a:t>
            </a:r>
            <a:r>
              <a:rPr lang="ja-JP" altLang="en-US" sz="1400" dirty="0"/>
              <a:t>サービスを提供している機能をカスタマイズして利用</a:t>
            </a:r>
            <a:endParaRPr lang="en-US" altLang="ja-JP" sz="1400" dirty="0"/>
          </a:p>
          <a:p>
            <a:pPr lvl="2">
              <a:buFont typeface="Gill Sans MT" panose="020B0502020104020203" pitchFamily="34" charset="0"/>
              <a:buChar char="–"/>
            </a:pPr>
            <a:r>
              <a:rPr lang="ja-JP" altLang="en-US" sz="1400" dirty="0"/>
              <a:t>一括ダウンロード</a:t>
            </a:r>
            <a:endParaRPr lang="en-US" altLang="ja-JP" sz="1400" dirty="0"/>
          </a:p>
          <a:p>
            <a:pPr lvl="2">
              <a:buFont typeface="Gill Sans MT" panose="020B0502020104020203" pitchFamily="34" charset="0"/>
              <a:buChar char="–"/>
            </a:pPr>
            <a:r>
              <a:rPr lang="ja-JP" altLang="en-US" sz="1400" dirty="0"/>
              <a:t>検索</a:t>
            </a:r>
            <a:endParaRPr lang="en-US" altLang="ja-JP" sz="1400" dirty="0"/>
          </a:p>
          <a:p>
            <a:r>
              <a:rPr lang="ja-JP" altLang="en-US" dirty="0"/>
              <a:t>２．権限管理</a:t>
            </a:r>
            <a:endParaRPr lang="en-US" altLang="ja-JP" dirty="0"/>
          </a:p>
          <a:p>
            <a:pPr marL="1028700" lvl="1"/>
            <a:r>
              <a:rPr lang="en-US" altLang="ja-JP" sz="1400" dirty="0"/>
              <a:t>PowerApps</a:t>
            </a:r>
            <a:r>
              <a:rPr lang="ja-JP" altLang="en-US" sz="1400"/>
              <a:t>のログインユーザ</a:t>
            </a:r>
            <a:r>
              <a:rPr lang="ja-JP" altLang="en-US" sz="1400" dirty="0"/>
              <a:t>権限で管理</a:t>
            </a:r>
            <a:endParaRPr lang="en-US" altLang="ja-JP" sz="1400" dirty="0"/>
          </a:p>
          <a:p>
            <a:pPr marL="1028700" lvl="1"/>
            <a:r>
              <a:rPr lang="ja-JP" altLang="en-US" sz="1400" dirty="0"/>
              <a:t>ファイルのアクセス権限設定で管理</a:t>
            </a:r>
            <a:endParaRPr lang="en-US" altLang="ja-JP" sz="1400" dirty="0"/>
          </a:p>
          <a:p>
            <a:r>
              <a:rPr lang="ja-JP" altLang="en-US" dirty="0"/>
              <a:t>３．パフォーマンス</a:t>
            </a:r>
            <a:endParaRPr lang="en-US" altLang="ja-JP" dirty="0"/>
          </a:p>
          <a:p>
            <a:pPr marL="1028700" lvl="1"/>
            <a:r>
              <a:rPr lang="en-US" altLang="ja-JP" sz="1400" dirty="0" err="1"/>
              <a:t>AzureSQL</a:t>
            </a:r>
            <a:r>
              <a:rPr lang="ja-JP" altLang="en-US" sz="1400" dirty="0"/>
              <a:t>を採用で定型データを扱うパフォーマンスを保証</a:t>
            </a:r>
            <a:endParaRPr lang="en-US" altLang="ja-JP" sz="1400" dirty="0"/>
          </a:p>
          <a:p>
            <a:pPr marL="1028700" lvl="1"/>
            <a:r>
              <a:rPr lang="en-US" altLang="ja-JP" sz="1400" dirty="0"/>
              <a:t>SharePoint</a:t>
            </a:r>
            <a:r>
              <a:rPr lang="ja-JP" altLang="en-US" sz="1400" dirty="0"/>
              <a:t>を採用で検索のパフォーマンスを保証</a:t>
            </a:r>
            <a:endParaRPr lang="en-US" altLang="ja-JP" sz="1400" dirty="0"/>
          </a:p>
          <a:p>
            <a:pPr marL="1028700" lvl="1"/>
            <a:r>
              <a:rPr lang="ja-JP" altLang="en-US" sz="1400" dirty="0"/>
              <a:t>提案しているアーキテクチャはスケーラビリティが可能</a:t>
            </a:r>
            <a:endParaRPr lang="en-US" altLang="ja-JP" sz="1400" dirty="0"/>
          </a:p>
        </p:txBody>
      </p:sp>
      <p:sp>
        <p:nvSpPr>
          <p:cNvPr id="4" name="テキスト ボックス 3">
            <a:extLst>
              <a:ext uri="{FF2B5EF4-FFF2-40B4-BE49-F238E27FC236}">
                <a16:creationId xmlns:a16="http://schemas.microsoft.com/office/drawing/2014/main" id="{739356BF-8AE5-F7F1-D33F-9087BFFA66EF}"/>
              </a:ext>
            </a:extLst>
          </p:cNvPr>
          <p:cNvSpPr txBox="1"/>
          <p:nvPr/>
        </p:nvSpPr>
        <p:spPr>
          <a:xfrm>
            <a:off x="503700" y="1871008"/>
            <a:ext cx="3617337" cy="4421289"/>
          </a:xfrm>
          <a:prstGeom prst="roundRect">
            <a:avLst>
              <a:gd name="adj" fmla="val 5563"/>
            </a:avLst>
          </a:prstGeom>
          <a:solidFill>
            <a:schemeClr val="accent6">
              <a:lumMod val="20000"/>
              <a:lumOff val="80000"/>
            </a:schemeClr>
          </a:solidFill>
          <a:ln w="6350" cap="flat" cmpd="sng" algn="ctr">
            <a:solidFill>
              <a:schemeClr val="accent6">
                <a:lumMod val="60000"/>
                <a:lumOff val="40000"/>
              </a:schemeClr>
            </a:solidFill>
            <a:prstDash val="solid"/>
            <a:round/>
            <a:headEnd type="oval" w="med" len="med"/>
            <a:tailEnd type="oval" w="med" len="med"/>
          </a:ln>
        </p:spPr>
        <p:txBody>
          <a:bodyPr wrap="square" lIns="36000" tIns="36000" rIns="36000" bIns="36000" rtlCol="0" anchor="ctr" anchorCtr="0">
            <a:noAutofit/>
          </a:bodyPr>
          <a:lstStyle>
            <a:defPPr>
              <a:defRPr lang="ja-JP"/>
            </a:defPPr>
            <a:lvl1pPr>
              <a:defRPr sz="1600">
                <a:latin typeface="Yu Gothic UI" panose="020B0500000000000000" pitchFamily="50" charset="-128"/>
                <a:ea typeface="Yu Gothic UI" panose="020B0500000000000000" pitchFamily="50" charset="-128"/>
              </a:defRPr>
            </a:lvl1pPr>
          </a:lstStyle>
          <a:p>
            <a:r>
              <a:rPr lang="ja-JP" altLang="en-US" dirty="0"/>
              <a:t>要件（メイン）</a:t>
            </a:r>
            <a:endParaRPr lang="en-US" altLang="ja-JP" dirty="0"/>
          </a:p>
          <a:p>
            <a:r>
              <a:rPr lang="ja-JP" altLang="en-US" dirty="0"/>
              <a:t>１．添付ファイル管理</a:t>
            </a:r>
            <a:endParaRPr lang="en-US" altLang="ja-JP" dirty="0"/>
          </a:p>
          <a:p>
            <a:pPr marL="742950" lvl="1" indent="-285750">
              <a:buFont typeface="Arial" panose="020B0604020202020204" pitchFamily="34" charset="0"/>
              <a:buChar char="•"/>
            </a:pPr>
            <a:r>
              <a:rPr lang="ja-JP" altLang="en-US" sz="1600" dirty="0"/>
              <a:t>オンライン編集</a:t>
            </a:r>
            <a:endParaRPr lang="en-US" altLang="ja-JP" sz="1600" dirty="0"/>
          </a:p>
          <a:p>
            <a:pPr marL="742950" lvl="1" indent="-285750">
              <a:buFont typeface="Arial" panose="020B0604020202020204" pitchFamily="34" charset="0"/>
              <a:buChar char="•"/>
            </a:pPr>
            <a:r>
              <a:rPr lang="ja-JP" altLang="en-US" sz="1600" dirty="0"/>
              <a:t>一括ダウンロード</a:t>
            </a:r>
            <a:endParaRPr lang="en-US" altLang="ja-JP" sz="1600" dirty="0"/>
          </a:p>
          <a:p>
            <a:pPr marL="742950" lvl="1" indent="-285750">
              <a:buFont typeface="Arial" panose="020B0604020202020204" pitchFamily="34" charset="0"/>
              <a:buChar char="•"/>
            </a:pPr>
            <a:r>
              <a:rPr lang="ja-JP" altLang="en-US" sz="1600" dirty="0"/>
              <a:t>検索</a:t>
            </a:r>
            <a:endParaRPr lang="en-US" altLang="ja-JP" sz="1600" dirty="0"/>
          </a:p>
          <a:p>
            <a:pPr marL="742950" lvl="1" indent="-285750">
              <a:buFont typeface="Arial" panose="020B0604020202020204" pitchFamily="34" charset="0"/>
              <a:buChar char="•"/>
            </a:pPr>
            <a:r>
              <a:rPr lang="ja-JP" altLang="en-US" sz="1600" dirty="0"/>
              <a:t>権限管理</a:t>
            </a:r>
            <a:endParaRPr lang="en-US" altLang="ja-JP" sz="1600" dirty="0"/>
          </a:p>
          <a:p>
            <a:r>
              <a:rPr lang="ja-JP" altLang="en-US" dirty="0"/>
              <a:t>２．権限管理</a:t>
            </a:r>
            <a:endParaRPr lang="en-US" altLang="ja-JP" dirty="0"/>
          </a:p>
          <a:p>
            <a:pPr marL="742950" lvl="1" indent="-285750">
              <a:buFont typeface="Arial" panose="020B0604020202020204" pitchFamily="34" charset="0"/>
              <a:buChar char="•"/>
            </a:pPr>
            <a:r>
              <a:rPr lang="ja-JP" altLang="en-US" sz="1600" dirty="0"/>
              <a:t>定型データ</a:t>
            </a:r>
            <a:endParaRPr lang="en-US" altLang="ja-JP" sz="1600" dirty="0"/>
          </a:p>
          <a:p>
            <a:pPr marL="742950" lvl="1" indent="-285750">
              <a:buFont typeface="Arial" panose="020B0604020202020204" pitchFamily="34" charset="0"/>
              <a:buChar char="•"/>
            </a:pPr>
            <a:r>
              <a:rPr lang="ja-JP" altLang="en-US" sz="1600" dirty="0"/>
              <a:t>添付ファイル</a:t>
            </a:r>
            <a:endParaRPr lang="en-US" altLang="ja-JP" sz="1600" dirty="0"/>
          </a:p>
          <a:p>
            <a:pPr marL="1200150" lvl="2" indent="-285750">
              <a:buFont typeface="Gill Sans MT" panose="020B0502020104020203" pitchFamily="34" charset="0"/>
              <a:buChar char="–"/>
            </a:pPr>
            <a:r>
              <a:rPr lang="ja-JP" altLang="en-US" sz="1400" dirty="0"/>
              <a:t>ソリューション内</a:t>
            </a:r>
            <a:endParaRPr lang="en-US" altLang="ja-JP" sz="1400" dirty="0"/>
          </a:p>
          <a:p>
            <a:pPr marL="1200150" lvl="2" indent="-285750">
              <a:buFont typeface="Gill Sans MT" panose="020B0502020104020203" pitchFamily="34" charset="0"/>
              <a:buChar char="–"/>
            </a:pPr>
            <a:r>
              <a:rPr lang="ja-JP" altLang="en-US" sz="1400" dirty="0"/>
              <a:t>ストレージでの直アクセス</a:t>
            </a:r>
            <a:endParaRPr lang="en-US" altLang="ja-JP" sz="1400" dirty="0"/>
          </a:p>
          <a:p>
            <a:r>
              <a:rPr lang="ja-JP" altLang="en-US" dirty="0"/>
              <a:t>３．パフォーマンス</a:t>
            </a:r>
            <a:endParaRPr lang="en-US" altLang="ja-JP" dirty="0"/>
          </a:p>
          <a:p>
            <a:pPr marL="742950" lvl="1" indent="-285750">
              <a:buFont typeface="Arial" panose="020B0604020202020204" pitchFamily="34" charset="0"/>
              <a:buChar char="•"/>
            </a:pPr>
            <a:r>
              <a:rPr lang="ja-JP" altLang="en-US" sz="1600" dirty="0"/>
              <a:t>定型データ</a:t>
            </a:r>
            <a:endParaRPr lang="en-US" altLang="ja-JP" sz="1600" dirty="0"/>
          </a:p>
          <a:p>
            <a:pPr marL="742950" lvl="1" indent="-285750">
              <a:buFont typeface="Arial" panose="020B0604020202020204" pitchFamily="34" charset="0"/>
              <a:buChar char="•"/>
            </a:pPr>
            <a:r>
              <a:rPr lang="ja-JP" altLang="en-US" sz="1600" dirty="0"/>
              <a:t>添付ファイル</a:t>
            </a:r>
            <a:endParaRPr lang="en-US" altLang="ja-JP" sz="1600" dirty="0"/>
          </a:p>
          <a:p>
            <a:pPr marL="742950" lvl="1" indent="-285750">
              <a:buFont typeface="Arial" panose="020B0604020202020204" pitchFamily="34" charset="0"/>
              <a:buChar char="•"/>
            </a:pPr>
            <a:r>
              <a:rPr lang="ja-JP" altLang="en-US" sz="1600" dirty="0"/>
              <a:t>スケーラビリティなど</a:t>
            </a:r>
            <a:endParaRPr lang="en-US" altLang="ja-JP" sz="1600" dirty="0"/>
          </a:p>
          <a:p>
            <a:endParaRPr lang="ja-JP" altLang="en-US" dirty="0"/>
          </a:p>
        </p:txBody>
      </p:sp>
      <p:sp>
        <p:nvSpPr>
          <p:cNvPr id="7" name="矢印: ストライプ 6">
            <a:extLst>
              <a:ext uri="{FF2B5EF4-FFF2-40B4-BE49-F238E27FC236}">
                <a16:creationId xmlns:a16="http://schemas.microsoft.com/office/drawing/2014/main" id="{6EF6EDAA-C91B-B641-5B12-146140D5DA6A}"/>
              </a:ext>
            </a:extLst>
          </p:cNvPr>
          <p:cNvSpPr/>
          <p:nvPr/>
        </p:nvSpPr>
        <p:spPr>
          <a:xfrm>
            <a:off x="4162566" y="2865511"/>
            <a:ext cx="995585" cy="2432279"/>
          </a:xfrm>
          <a:prstGeom prst="stripedRightArrow">
            <a:avLst>
              <a:gd name="adj1" fmla="val 50000"/>
              <a:gd name="adj2" fmla="val 50429"/>
            </a:avLst>
          </a:prstGeom>
          <a:solidFill>
            <a:schemeClr val="accent6">
              <a:lumMod val="40000"/>
              <a:lumOff val="60000"/>
            </a:schemeClr>
          </a:solidFill>
          <a:ln w="6350" cap="flat" cmpd="sng" algn="ctr">
            <a:solidFill>
              <a:schemeClr val="bg1">
                <a:lumMod val="85000"/>
              </a:schemeClr>
            </a:solidFill>
            <a:prstDash val="solid"/>
            <a:round/>
            <a:headEnd type="oval" w="med" len="med"/>
            <a:tailEnd type="oval" w="med" len="med"/>
          </a:ln>
        </p:spPr>
        <p:txBody>
          <a:bodyPr wrap="square" lIns="36000" tIns="36000" rIns="36000" bIns="36000" rtlCol="0" anchor="ctr" anchorCtr="0">
            <a:noAutofit/>
          </a:bodyPr>
          <a:lstStyle/>
          <a:p>
            <a:endParaRPr lang="ja-JP" altLang="en-US" sz="1600">
              <a:solidFill>
                <a:schemeClr val="tx1"/>
              </a:solidFill>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3384008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87E4C-8248-073F-637E-5F0AE8C7F85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A6D2A8D-9D0C-8E9F-E5AB-707EFD4B6465}"/>
              </a:ext>
            </a:extLst>
          </p:cNvPr>
          <p:cNvSpPr>
            <a:spLocks noGrp="1"/>
          </p:cNvSpPr>
          <p:nvPr>
            <p:ph type="title"/>
          </p:nvPr>
        </p:nvSpPr>
        <p:spPr>
          <a:xfrm>
            <a:off x="414336" y="255263"/>
            <a:ext cx="9327072" cy="683629"/>
          </a:xfrm>
        </p:spPr>
        <p:txBody>
          <a:bodyPr>
            <a:normAutofit/>
          </a:bodyPr>
          <a:lstStyle/>
          <a:p>
            <a:r>
              <a:rPr lang="ja-JP" altLang="en-US" dirty="0"/>
              <a:t>ストレージの選定理由（</a:t>
            </a:r>
            <a:r>
              <a:rPr kumimoji="1" lang="en-US" altLang="ja-JP" b="1" cap="none" dirty="0">
                <a:ea typeface="游ゴシック" panose="020B0400000000000000" pitchFamily="50" charset="-128"/>
              </a:rPr>
              <a:t> </a:t>
            </a:r>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a:t>
            </a:r>
          </a:p>
        </p:txBody>
      </p:sp>
      <p:sp>
        <p:nvSpPr>
          <p:cNvPr id="6" name="テキスト ボックス 5">
            <a:extLst>
              <a:ext uri="{FF2B5EF4-FFF2-40B4-BE49-F238E27FC236}">
                <a16:creationId xmlns:a16="http://schemas.microsoft.com/office/drawing/2014/main" id="{649D838A-25FC-01C2-F3EE-632B87B0CDF3}"/>
              </a:ext>
            </a:extLst>
          </p:cNvPr>
          <p:cNvSpPr txBox="1"/>
          <p:nvPr/>
        </p:nvSpPr>
        <p:spPr>
          <a:xfrm>
            <a:off x="273718" y="836099"/>
            <a:ext cx="11412096" cy="3607891"/>
          </a:xfrm>
          <a:prstGeom prst="roundRect">
            <a:avLst>
              <a:gd name="adj" fmla="val 4337"/>
            </a:avLst>
          </a:prstGeom>
          <a:solidFill>
            <a:schemeClr val="accent6">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On promise Gateway</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のネットワークボトルネックを解消</a:t>
            </a: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が提供している性能保証を考慮して、想定しているユーザ数に対するパフォーマンスへの配慮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が統合した機能を生かして、システムの構成を単純化にし、運用保守コストへの配慮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1600" dirty="0">
                <a:solidFill>
                  <a:srgbClr val="FF0000"/>
                </a:solidFill>
                <a:latin typeface="Gill Sans MT"/>
                <a:ea typeface="游ゴシック" panose="020B0400000000000000" pitchFamily="50" charset="-128"/>
              </a:rPr>
              <a:t>添付ファイル内容の検索のサポートは弱いので、添付ファイルのストレージに適切ではないと判断</a:t>
            </a:r>
            <a:endParaRPr lang="en-US" altLang="ja-JP" sz="1600" dirty="0">
              <a:solidFill>
                <a:srgbClr val="FF0000"/>
              </a:solidFill>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solidFill>
                  <a:prstClr val="black"/>
                </a:solidFill>
                <a:latin typeface="Gill Sans MT"/>
                <a:ea typeface="游ゴシック" panose="020B0400000000000000" pitchFamily="50" charset="-128"/>
              </a:rPr>
              <a:t>添付フィルのオンライン編集を対応できないので、添付ファイルのストレージに適切ではないと判断</a:t>
            </a:r>
            <a:endParaRPr lang="en-US" altLang="ja-JP" sz="1600" dirty="0">
              <a:solidFill>
                <a:prstClr val="black"/>
              </a:solidFill>
              <a:latin typeface="Gill Sans MT"/>
              <a:ea typeface="游ゴシック" panose="020B04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zh-CN" sz="160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en-US" altLang="ja-JP" sz="160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SharePoint</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のアクセス管理機能を生かして、ソリューションが簡単になり、セキュリティーへの配慮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が提供しているオンライン編集機能で、ユーザ要件の実現</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大量ファイルを扱うによるパフォーマンスへの影響をソリューションで対応が必要であるが、その他の提供機能と比較してデメリットが少ない</a:t>
            </a:r>
            <a:endParaRPr kumimoji="1" lang="en-US" altLang="ja-JP" sz="14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Tree>
    <p:extLst>
      <p:ext uri="{BB962C8B-B14F-4D97-AF65-F5344CB8AC3E}">
        <p14:creationId xmlns:p14="http://schemas.microsoft.com/office/powerpoint/2010/main" val="33184432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39491-DDC9-F3E2-3CBB-B246517765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05A140-C69E-2A6E-89A3-1E6DC728AD52}"/>
              </a:ext>
            </a:extLst>
          </p:cNvPr>
          <p:cNvSpPr>
            <a:spLocks noGrp="1"/>
          </p:cNvSpPr>
          <p:nvPr>
            <p:ph type="title"/>
          </p:nvPr>
        </p:nvSpPr>
        <p:spPr>
          <a:xfrm>
            <a:off x="414336" y="255264"/>
            <a:ext cx="9292768" cy="592530"/>
          </a:xfrm>
        </p:spPr>
        <p:txBody>
          <a:bodyPr>
            <a:normAutofit/>
          </a:bodyPr>
          <a:lstStyle/>
          <a:p>
            <a:r>
              <a:rPr lang="ja-JP" altLang="en-US" dirty="0"/>
              <a:t>全体アーキテクチャ</a:t>
            </a:r>
            <a:endParaRPr lang="ja-JP" altLang="en-US" sz="20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9C0B7B95-7F59-B41A-1BE7-2D8CE615366B}"/>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4CD766C6-178B-B5DF-E2AC-8534B69A9518}"/>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A144736-B169-61B5-EC15-3B4F7559D797}"/>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4951F1CB-164C-4DB5-6997-2470E2D4A7ED}"/>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E9F1955-78EC-6EBD-2413-A81D5F1B0F4B}"/>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43F7E8C8-464D-8510-F56C-ADADABB1B01E}"/>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FAB885E4-2FA7-7CC8-2E33-8D0A130C58DA}"/>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78948DB8-18C8-CF15-F746-AE1FC5CDC845}"/>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85361DF1-D474-896E-93A2-C4D320D8FA22}"/>
              </a:ext>
            </a:extLst>
          </p:cNvPr>
          <p:cNvSpPr txBox="1"/>
          <p:nvPr/>
        </p:nvSpPr>
        <p:spPr>
          <a:xfrm>
            <a:off x="2191820" y="2530293"/>
            <a:ext cx="3232212"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https://apps.powerapps.com/play/e/</a:t>
            </a:r>
            <a:r>
              <a:rPr kumimoji="1" lang="en-US" altLang="ja-JP"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xxx</a:t>
            </a:r>
            <a:endPar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313CF296-17E8-8786-1D99-DBFDC3893460}"/>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4AF9AEF4-EE9F-CA3F-3AF3-4457113F3666}"/>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BB02464C-DC7B-8FE8-2928-FF38E4A63FF2}"/>
              </a:ext>
            </a:extLst>
          </p:cNvPr>
          <p:cNvSpPr txBox="1"/>
          <p:nvPr/>
        </p:nvSpPr>
        <p:spPr>
          <a:xfrm>
            <a:off x="921423" y="1098218"/>
            <a:ext cx="1270397" cy="30777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Share Point</a:t>
            </a:r>
            <a:endParaRPr kumimoji="1" lang="ja-JP" altLang="en-US" sz="14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sp>
        <p:nvSpPr>
          <p:cNvPr id="26" name="テキスト ボックス 25">
            <a:extLst>
              <a:ext uri="{FF2B5EF4-FFF2-40B4-BE49-F238E27FC236}">
                <a16:creationId xmlns:a16="http://schemas.microsoft.com/office/drawing/2014/main" id="{06E1021F-66EF-2A81-27D3-0BEC6301C2DB}"/>
              </a:ext>
            </a:extLst>
          </p:cNvPr>
          <p:cNvSpPr txBox="1"/>
          <p:nvPr/>
        </p:nvSpPr>
        <p:spPr>
          <a:xfrm>
            <a:off x="1750098" y="1365503"/>
            <a:ext cx="5667794" cy="5309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添付ファイルの</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Direct Access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SPO</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に保存されているファイルのアクセス権限（</a:t>
            </a: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Read/Edit/</a:t>
            </a:r>
            <a:r>
              <a:rPr kumimoji="1" lang="en-US" altLang="ja-JP" sz="900" b="0" i="0" u="none" strike="noStrike" kern="1200" cap="none" spc="0" normalizeH="0" baseline="0" noProof="0" dirty="0" err="1">
                <a:ln>
                  <a:noFill/>
                </a:ln>
                <a:solidFill>
                  <a:srgbClr val="FF0000"/>
                </a:solidFill>
                <a:effectLst/>
                <a:uLnTx/>
                <a:uFillTx/>
                <a:latin typeface="Gill Sans MT"/>
                <a:ea typeface="游ゴシック" panose="020B0400000000000000" pitchFamily="50" charset="-128"/>
                <a:cs typeface="+mn-cs"/>
              </a:rPr>
              <a:t>Downoad</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）は、</a:t>
            </a: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SPO</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に直接にアクセスするときも有効にすることで、添付ファイル</a:t>
            </a: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Upload</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する時に定義したアクセス権限を設定することで制約</a:t>
            </a:r>
            <a:r>
              <a:rPr lang="ja-JP" altLang="en-US" sz="900" dirty="0">
                <a:solidFill>
                  <a:srgbClr val="FF0000"/>
                </a:solidFill>
                <a:latin typeface="Gill Sans MT"/>
                <a:ea typeface="游ゴシック" panose="020B0400000000000000" pitchFamily="50" charset="-128"/>
              </a:rPr>
              <a:t>できます</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a:t>
            </a:r>
          </a:p>
        </p:txBody>
      </p:sp>
      <p:sp>
        <p:nvSpPr>
          <p:cNvPr id="29" name="テキスト ボックス 28">
            <a:extLst>
              <a:ext uri="{FF2B5EF4-FFF2-40B4-BE49-F238E27FC236}">
                <a16:creationId xmlns:a16="http://schemas.microsoft.com/office/drawing/2014/main" id="{E8630675-26FB-8F06-5705-31FAB453F993}"/>
              </a:ext>
            </a:extLst>
          </p:cNvPr>
          <p:cNvSpPr txBox="1"/>
          <p:nvPr/>
        </p:nvSpPr>
        <p:spPr>
          <a:xfrm>
            <a:off x="5015821" y="1877305"/>
            <a:ext cx="3347747"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Table/View/Stored Procedure Access</a:t>
            </a:r>
            <a:endPar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9BF2D267-2ABA-C305-A0AA-E82D16BB11BB}"/>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D428C30-912B-CEDF-D639-BF34DF0763EA}"/>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3BF027A2-3BE5-D548-E782-A942F3044C5F}"/>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466C4BF2-C5BA-2AD0-E1DE-40E630DD8C41}"/>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4EF53DF1-3A7E-B81B-9292-E51080785853}"/>
              </a:ext>
            </a:extLst>
          </p:cNvPr>
          <p:cNvSpPr txBox="1"/>
          <p:nvPr/>
        </p:nvSpPr>
        <p:spPr>
          <a:xfrm>
            <a:off x="8636852" y="5626186"/>
            <a:ext cx="267757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システム利用者</a:t>
            </a:r>
            <a:endParaRPr kumimoji="1" lang="en-US" altLang="ja-JP"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900" b="0"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rPr>
              <a:t>PowerApps/Power BI/</a:t>
            </a:r>
            <a:r>
              <a:rPr kumimoji="1" lang="en-US" altLang="ja-JP"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Office 365</a:t>
            </a:r>
            <a:r>
              <a:rPr kumimoji="1" lang="en-US" altLang="zh-CN" sz="900" b="0"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rPr>
              <a:t> </a:t>
            </a:r>
            <a:r>
              <a:rPr kumimoji="1" lang="ja-JP" altLang="en-US"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画面</a:t>
            </a:r>
          </a:p>
        </p:txBody>
      </p:sp>
      <p:sp>
        <p:nvSpPr>
          <p:cNvPr id="56" name="テキスト ボックス 55">
            <a:extLst>
              <a:ext uri="{FF2B5EF4-FFF2-40B4-BE49-F238E27FC236}">
                <a16:creationId xmlns:a16="http://schemas.microsoft.com/office/drawing/2014/main" id="{FC87B1CE-6F40-F804-C5F9-A6C85C2C466B}"/>
              </a:ext>
            </a:extLst>
          </p:cNvPr>
          <p:cNvSpPr txBox="1"/>
          <p:nvPr/>
        </p:nvSpPr>
        <p:spPr>
          <a:xfrm>
            <a:off x="8155961" y="2330601"/>
            <a:ext cx="1330939" cy="2616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Operator/Admin</a:t>
            </a:r>
            <a:endParaRPr kumimoji="1" lang="ja-JP" altLang="en-US" sz="11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sp>
        <p:nvSpPr>
          <p:cNvPr id="60" name="フローチャート: 判断 59">
            <a:extLst>
              <a:ext uri="{FF2B5EF4-FFF2-40B4-BE49-F238E27FC236}">
                <a16:creationId xmlns:a16="http://schemas.microsoft.com/office/drawing/2014/main" id="{0D090403-53BF-F09C-BAAD-31EF3046C514}"/>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61" name="コネクタ: カギ線 60">
            <a:extLst>
              <a:ext uri="{FF2B5EF4-FFF2-40B4-BE49-F238E27FC236}">
                <a16:creationId xmlns:a16="http://schemas.microsoft.com/office/drawing/2014/main" id="{51055D7A-1147-E984-D2C4-2FBC01125B89}"/>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90E92520-5D71-4648-E423-1EF5DD3BBD8C}"/>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AC05164B-D9A5-10A5-2648-FE22CD92F0AE}"/>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24" name="フローチャート: 判断 1023">
            <a:extLst>
              <a:ext uri="{FF2B5EF4-FFF2-40B4-BE49-F238E27FC236}">
                <a16:creationId xmlns:a16="http://schemas.microsoft.com/office/drawing/2014/main" id="{10F4A5CC-BDB7-FEF3-B6C2-3364F30682FB}"/>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29" name="コネクタ: カギ線 1028">
            <a:extLst>
              <a:ext uri="{FF2B5EF4-FFF2-40B4-BE49-F238E27FC236}">
                <a16:creationId xmlns:a16="http://schemas.microsoft.com/office/drawing/2014/main" id="{23C05401-5241-8FCB-E54F-F00113BB438F}"/>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0F958885-DB7D-C4DD-AC6C-595C8CD57198}"/>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33" name="コネクタ: カギ線 1032">
            <a:extLst>
              <a:ext uri="{FF2B5EF4-FFF2-40B4-BE49-F238E27FC236}">
                <a16:creationId xmlns:a16="http://schemas.microsoft.com/office/drawing/2014/main" id="{EB2B3CCC-9FDB-7FD8-5ED5-A9E66A7922B2}"/>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8F79977E-0F15-8C98-D8F4-1EF491343122}"/>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35" name="テキスト ボックス 1034">
            <a:extLst>
              <a:ext uri="{FF2B5EF4-FFF2-40B4-BE49-F238E27FC236}">
                <a16:creationId xmlns:a16="http://schemas.microsoft.com/office/drawing/2014/main" id="{B4031953-23BE-A145-B118-595B835E8613}"/>
              </a:ext>
            </a:extLst>
          </p:cNvPr>
          <p:cNvSpPr txBox="1"/>
          <p:nvPr/>
        </p:nvSpPr>
        <p:spPr>
          <a:xfrm>
            <a:off x="3717215" y="919407"/>
            <a:ext cx="2848443" cy="369332"/>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panose="020B0400000000000000" pitchFamily="50" charset="-128"/>
                <a:cs typeface="+mn-cs"/>
              </a:rPr>
              <a:t>Microsoft Data Center</a:t>
            </a:r>
            <a:endPar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panose="020B0400000000000000" pitchFamily="50" charset="-128"/>
              <a:cs typeface="+mn-cs"/>
            </a:endParaRPr>
          </a:p>
        </p:txBody>
      </p:sp>
      <p:sp>
        <p:nvSpPr>
          <p:cNvPr id="1037" name="テキスト ボックス 1036">
            <a:extLst>
              <a:ext uri="{FF2B5EF4-FFF2-40B4-BE49-F238E27FC236}">
                <a16:creationId xmlns:a16="http://schemas.microsoft.com/office/drawing/2014/main" id="{3DCE5DC7-CDF3-2757-34C2-0308E4344C3E}"/>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MCC</a:t>
            </a:r>
            <a:r>
              <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様</a:t>
            </a:r>
            <a:r>
              <a:rPr kumimoji="1" lang="en-US" altLang="ja-JP"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 </a:t>
            </a:r>
            <a:r>
              <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環境（AWS含む）</a:t>
            </a:r>
            <a:endPar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panose="020B0400000000000000" pitchFamily="50" charset="-128"/>
              <a:cs typeface="+mn-cs"/>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7CD0260-63BC-9A10-F6F2-B6EB39BB5DD4}"/>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4B85614A-F0B2-1E58-FCD7-18B3BD8A3554}"/>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9954D27-710C-58E2-FECF-D26BCCA4EC3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7C9261AD-8C1A-ECEB-1B25-7A635758739D}"/>
              </a:ext>
            </a:extLst>
          </p:cNvPr>
          <p:cNvSpPr txBox="1"/>
          <p:nvPr/>
        </p:nvSpPr>
        <p:spPr>
          <a:xfrm>
            <a:off x="4487023" y="4170561"/>
            <a:ext cx="2538877" cy="4154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文書</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Transaction</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データ</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各種マスタ（属性データ</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定型データ）</a:t>
            </a:r>
            <a:endPar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1043" name="コネクタ: カギ線 1042">
            <a:extLst>
              <a:ext uri="{FF2B5EF4-FFF2-40B4-BE49-F238E27FC236}">
                <a16:creationId xmlns:a16="http://schemas.microsoft.com/office/drawing/2014/main" id="{4AC597C0-7D53-EED4-D15B-DC4CA3E3229E}"/>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55977592-AD26-D528-B773-C62683CD8427}"/>
              </a:ext>
            </a:extLst>
          </p:cNvPr>
          <p:cNvSpPr txBox="1"/>
          <p:nvPr/>
        </p:nvSpPr>
        <p:spPr>
          <a:xfrm>
            <a:off x="352525" y="4391627"/>
            <a:ext cx="183188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Automation Flow</a:t>
            </a:r>
            <a:endPar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1045" name="テキスト ボックス 1044">
            <a:extLst>
              <a:ext uri="{FF2B5EF4-FFF2-40B4-BE49-F238E27FC236}">
                <a16:creationId xmlns:a16="http://schemas.microsoft.com/office/drawing/2014/main" id="{F9E56C4F-83CC-5C34-95FF-45FE1568A057}"/>
              </a:ext>
            </a:extLst>
          </p:cNvPr>
          <p:cNvSpPr txBox="1"/>
          <p:nvPr/>
        </p:nvSpPr>
        <p:spPr>
          <a:xfrm>
            <a:off x="1631700" y="3769698"/>
            <a:ext cx="1057324"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業務処理</a:t>
            </a:r>
            <a:endPar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1046" name="コネクタ: カギ線 1045">
            <a:extLst>
              <a:ext uri="{FF2B5EF4-FFF2-40B4-BE49-F238E27FC236}">
                <a16:creationId xmlns:a16="http://schemas.microsoft.com/office/drawing/2014/main" id="{C43C0C1F-8E30-AEE3-4A91-2C1DC1A32363}"/>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AAD234A4-7A75-AB98-67BE-6969FCA0639D}"/>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49" name="フローチャート: 判断 1048">
            <a:extLst>
              <a:ext uri="{FF2B5EF4-FFF2-40B4-BE49-F238E27FC236}">
                <a16:creationId xmlns:a16="http://schemas.microsoft.com/office/drawing/2014/main" id="{4888C9F0-420A-2446-7ED6-6769DA3484ED}"/>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2" name="フローチャート: 判断 1051">
            <a:extLst>
              <a:ext uri="{FF2B5EF4-FFF2-40B4-BE49-F238E27FC236}">
                <a16:creationId xmlns:a16="http://schemas.microsoft.com/office/drawing/2014/main" id="{DF3BF86F-6F40-0F63-1899-760595D4C885}"/>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3" name="フローチャート: 判断 1052">
            <a:extLst>
              <a:ext uri="{FF2B5EF4-FFF2-40B4-BE49-F238E27FC236}">
                <a16:creationId xmlns:a16="http://schemas.microsoft.com/office/drawing/2014/main" id="{75038324-DC17-1AE9-681E-7DBF0502E5DE}"/>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5" name="テキスト ボックス 1054">
            <a:extLst>
              <a:ext uri="{FF2B5EF4-FFF2-40B4-BE49-F238E27FC236}">
                <a16:creationId xmlns:a16="http://schemas.microsoft.com/office/drawing/2014/main" id="{812398FB-7F8C-ABBA-EA6E-F6DA3B4B5552}"/>
              </a:ext>
            </a:extLst>
          </p:cNvPr>
          <p:cNvSpPr txBox="1"/>
          <p:nvPr/>
        </p:nvSpPr>
        <p:spPr>
          <a:xfrm>
            <a:off x="3155238" y="3604670"/>
            <a:ext cx="1717979"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Table/View/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Stored Procedure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Access</a:t>
            </a:r>
            <a:endPar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1057" name="フローチャート: 判断 1056">
            <a:extLst>
              <a:ext uri="{FF2B5EF4-FFF2-40B4-BE49-F238E27FC236}">
                <a16:creationId xmlns:a16="http://schemas.microsoft.com/office/drawing/2014/main" id="{7AEED97C-B8A2-FE38-C447-3539EC2C9D82}"/>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8" name="フローチャート: 判断 1057">
            <a:extLst>
              <a:ext uri="{FF2B5EF4-FFF2-40B4-BE49-F238E27FC236}">
                <a16:creationId xmlns:a16="http://schemas.microsoft.com/office/drawing/2014/main" id="{707F8DE5-7F21-B613-7629-653515CC5D63}"/>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59" name="コネクタ: カギ線 1058">
            <a:extLst>
              <a:ext uri="{FF2B5EF4-FFF2-40B4-BE49-F238E27FC236}">
                <a16:creationId xmlns:a16="http://schemas.microsoft.com/office/drawing/2014/main" id="{5192E52C-EC8F-D4CF-6C0E-FE8EDA633E78}"/>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15B9987C-1562-224A-0368-37D8D588B77A}"/>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56077A53-21CA-4491-FDF8-2E7E449143B8}"/>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62" name="コネクタ: カギ線 1061">
            <a:extLst>
              <a:ext uri="{FF2B5EF4-FFF2-40B4-BE49-F238E27FC236}">
                <a16:creationId xmlns:a16="http://schemas.microsoft.com/office/drawing/2014/main" id="{87B3357D-8948-33EB-0A04-D16433D177A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FB479D44-CC95-AB8A-4FD5-D217FD982B3B}"/>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A5FC2A9D-2CB6-9DE3-1C98-CA80EB21FB46}"/>
              </a:ext>
            </a:extLst>
          </p:cNvPr>
          <p:cNvSpPr txBox="1"/>
          <p:nvPr/>
        </p:nvSpPr>
        <p:spPr>
          <a:xfrm>
            <a:off x="615706" y="2273257"/>
            <a:ext cx="1057324" cy="57708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社員、組織、役職リスト</a:t>
            </a:r>
            <a:endPar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添付ファイル</a:t>
            </a:r>
          </a:p>
        </p:txBody>
      </p:sp>
      <p:sp>
        <p:nvSpPr>
          <p:cNvPr id="1067" name="四角形: 角を丸くする 1066">
            <a:extLst>
              <a:ext uri="{FF2B5EF4-FFF2-40B4-BE49-F238E27FC236}">
                <a16:creationId xmlns:a16="http://schemas.microsoft.com/office/drawing/2014/main" id="{58CE53F0-A598-FD50-6B1B-FBFBD732F5E6}"/>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69" name="テキスト ボックス 1068">
            <a:extLst>
              <a:ext uri="{FF2B5EF4-FFF2-40B4-BE49-F238E27FC236}">
                <a16:creationId xmlns:a16="http://schemas.microsoft.com/office/drawing/2014/main" id="{B038B31D-5E2E-840D-FB28-25FDCA73783E}"/>
              </a:ext>
            </a:extLst>
          </p:cNvPr>
          <p:cNvSpPr txBox="1"/>
          <p:nvPr/>
        </p:nvSpPr>
        <p:spPr>
          <a:xfrm>
            <a:off x="9800604" y="1160613"/>
            <a:ext cx="1112261"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4E4EC7-7FDF-573C-712D-79CA66BF0544}"/>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D6CEC24E-5377-F72A-7D73-53D736841579}"/>
              </a:ext>
            </a:extLst>
          </p:cNvPr>
          <p:cNvSpPr txBox="1"/>
          <p:nvPr/>
        </p:nvSpPr>
        <p:spPr>
          <a:xfrm>
            <a:off x="10634114" y="1590262"/>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Apps</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10480C48-96F3-281E-1065-2E021EB42A9C}"/>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8613977B-C539-CB24-6736-D9FC473F2252}"/>
              </a:ext>
            </a:extLst>
          </p:cNvPr>
          <p:cNvSpPr txBox="1"/>
          <p:nvPr/>
        </p:nvSpPr>
        <p:spPr>
          <a:xfrm>
            <a:off x="10634114" y="2178546"/>
            <a:ext cx="1148602" cy="4154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Automate Flow</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7471962F-A904-C92E-6A8B-C91D98F1DCF4}"/>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B03FE45A-9341-678F-3245-935B448E6952}"/>
              </a:ext>
            </a:extLst>
          </p:cNvPr>
          <p:cNvSpPr txBox="1"/>
          <p:nvPr/>
        </p:nvSpPr>
        <p:spPr>
          <a:xfrm>
            <a:off x="10634114" y="2971408"/>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BI</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AC8572E4-15B9-1936-27BC-823C16EEAED0}"/>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DAA10548-0438-0037-A4B7-2048F30CF937}"/>
              </a:ext>
            </a:extLst>
          </p:cNvPr>
          <p:cNvSpPr txBox="1"/>
          <p:nvPr/>
        </p:nvSpPr>
        <p:spPr>
          <a:xfrm>
            <a:off x="10634114" y="3580894"/>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 Point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B8F45309-E46A-D111-A597-6F53F4CDC322}"/>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12DE7656-5A43-8900-FA8D-DE77EF6EDE03}"/>
              </a:ext>
            </a:extLst>
          </p:cNvPr>
          <p:cNvSpPr txBox="1"/>
          <p:nvPr/>
        </p:nvSpPr>
        <p:spPr>
          <a:xfrm>
            <a:off x="10634114" y="4151150"/>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Azure </a:t>
            </a:r>
            <a:r>
              <a:rPr kumimoji="1" lang="en-US" altLang="ja-JP" sz="105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Sql</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 </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Service</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98" name="Picture 2" descr="Sql Server Icons For Windows PNG Transparent Background, Free Download  #11351 - FreeIconsPNG">
            <a:extLst>
              <a:ext uri="{FF2B5EF4-FFF2-40B4-BE49-F238E27FC236}">
                <a16:creationId xmlns:a16="http://schemas.microsoft.com/office/drawing/2014/main" id="{A7828EF4-F790-FC75-1FE1-5E60E17EDBBC}"/>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5DCCCBBD-9DFC-31D3-4C5C-A2065685A6AF}"/>
              </a:ext>
            </a:extLst>
          </p:cNvPr>
          <p:cNvSpPr txBox="1"/>
          <p:nvPr/>
        </p:nvSpPr>
        <p:spPr>
          <a:xfrm>
            <a:off x="10646735" y="4730277"/>
            <a:ext cx="1148602" cy="4154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Dvlp</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/Operator Tools</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C027B644-BBC4-FE32-AC50-67DEF55BB5D9}"/>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E526694E-A66C-9472-FC18-6BC717DD26FE}"/>
              </a:ext>
            </a:extLst>
          </p:cNvPr>
          <p:cNvSpPr txBox="1"/>
          <p:nvPr/>
        </p:nvSpPr>
        <p:spPr>
          <a:xfrm>
            <a:off x="10633746" y="5187682"/>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Office 365</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Tree>
    <p:extLst>
      <p:ext uri="{BB962C8B-B14F-4D97-AF65-F5344CB8AC3E}">
        <p14:creationId xmlns:p14="http://schemas.microsoft.com/office/powerpoint/2010/main" val="2794701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9A3D7-9C93-2297-B2DA-CD47C5C198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E419D49-E959-CE30-0A7E-0FE519AD5B89}"/>
              </a:ext>
            </a:extLst>
          </p:cNvPr>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a:extLst>
              <a:ext uri="{FF2B5EF4-FFF2-40B4-BE49-F238E27FC236}">
                <a16:creationId xmlns:a16="http://schemas.microsoft.com/office/drawing/2014/main" id="{8302E118-6275-2499-605F-690F8C7DD255}"/>
              </a:ext>
            </a:extLst>
          </p:cNvPr>
          <p:cNvSpPr txBox="1"/>
          <p:nvPr/>
        </p:nvSpPr>
        <p:spPr>
          <a:xfrm>
            <a:off x="414337" y="782995"/>
            <a:ext cx="11386504" cy="5368423"/>
          </a:xfrm>
          <a:prstGeom prst="roundRect">
            <a:avLst>
              <a:gd name="adj" fmla="val 3136"/>
            </a:avLst>
          </a:prstGeom>
          <a:solidFill>
            <a:schemeClr val="accent6">
              <a:lumMod val="20000"/>
              <a:lumOff val="80000"/>
            </a:schemeClr>
          </a:solidFill>
          <a:ln w="9525" cap="flat" cmpd="sng" algn="ctr">
            <a:noFill/>
            <a:prstDash val="solid"/>
            <a:round/>
            <a:headEnd type="oval" w="med" len="med"/>
            <a:tailEnd type="oval" w="med" len="med"/>
          </a:ln>
        </p:spPr>
        <p:txBody>
          <a:bodyPr wrap="square" lIns="36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システム構成</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PowerApps</a:t>
            </a: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Office365</a:t>
            </a: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と</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SQL </a:t>
            </a: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を利用してシステム構築し、パフォーマンスを配慮した上に、添付ファイル管理、オンライン編集、一括ダウンロード、検索機能を実現。</a:t>
            </a:r>
            <a:endPar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フロントエンド</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PowerApps Canvas App</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で構築。</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ユーザーインターフェースとして、文書の作成</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閲覧</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編集画面を提供。</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データベース</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SQL </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をメインのデータストレージとして使用し、文書のメタデータ（文書</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ID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、日付、ステータスなど）を格納し、</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Dataverse</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と連携し、</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PowerApps</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からのアクセス可能に。</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ファイルストレージとしては、</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SharePoint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を使用し、</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添付ファイル（</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Office</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ファイル、</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PDF</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）を保存。</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ワークフロー</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 Automate</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で実現（例</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ファイル編集後の同期、文書の承認プロセス）。</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セキュリティ</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Microsoft Entra ID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（旧</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AD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）で認証。ロールベースアクセス制御（</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RBAC</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）を適用。</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機能要件</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オンライン編集</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承認プロセス（</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Workflow</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）制御</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複数ファイルをユーザローカルへ指定場所にダウンロード</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添付ファイルの内容に指定キーワードで検索</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その他システム要件：</a:t>
            </a:r>
            <a:endPar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利用ユーザー数（</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AD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あり）・・・最小利用人数　約５０００ユーザーのケースと、最大利用人数　約１００００ユーザーのケース二つパターン　</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同時接続数・・・約５００人</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オンラインリクエスト件数・・・約</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2,000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件</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日</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バッチ処理件数・・・約</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60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件</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日</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データ容量・・・約</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650 GB</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現行</a:t>
            </a:r>
            <a:r>
              <a:rPr kumimoji="1" lang="en-US" altLang="ja-JP" sz="1200" b="0" i="0" u="none" strike="noStrike" kern="1200" cap="none" spc="0" normalizeH="0" baseline="0" noProof="0" dirty="0" err="1">
                <a:ln>
                  <a:noFill/>
                </a:ln>
                <a:solidFill>
                  <a:prstClr val="black"/>
                </a:solidFill>
                <a:effectLst/>
                <a:uLnTx/>
                <a:uFillTx/>
                <a:latin typeface="Yu Gothic UI" panose="020B0500000000000000" pitchFamily="50" charset="-128"/>
                <a:ea typeface="Yu Gothic UI" panose="020B0500000000000000" pitchFamily="50" charset="-128"/>
                <a:cs typeface="+mn-cs"/>
              </a:rPr>
              <a:t>NotesDB</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ベースの２倍を想定。添付ファイル含む</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検索性・・・レコードデータだけでなく、添付ファイルの中身のフリーワード検索が可能</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応答時間・・・インデックスありで５秒以内、インデックスなしで</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10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秒～</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60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秒</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添付ファイルの直接編集機能・・・現時点では、</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GCJ</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社からの提案のパターンと、ユーザー側で添付ファイルをダウンロード＆アップロードで実現するパターンとの</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2</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パターンを想定</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p:txBody>
      </p:sp>
    </p:spTree>
    <p:extLst>
      <p:ext uri="{BB962C8B-B14F-4D97-AF65-F5344CB8AC3E}">
        <p14:creationId xmlns:p14="http://schemas.microsoft.com/office/powerpoint/2010/main" val="960442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C5D6A-4635-BD4B-D111-5C3F54F604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F82C4A-08A3-DCF6-9DD0-6D95B77955AE}"/>
              </a:ext>
            </a:extLst>
          </p:cNvPr>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2B577A86-469E-88E9-0325-382A7C708B02}"/>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230C96D7-3FA5-68B5-2C8E-7BA1BB1587F6}"/>
              </a:ext>
            </a:extLst>
          </p:cNvPr>
          <p:cNvSpPr/>
          <p:nvPr/>
        </p:nvSpPr>
        <p:spPr bwMode="gray">
          <a:xfrm>
            <a:off x="1238487" y="1953321"/>
            <a:ext cx="2754964" cy="262504"/>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algn="ctr" fontAlgn="b"/>
            <a:r>
              <a:rPr kumimoji="0" lang="ja-JP" altLang="en-US" sz="1200" kern="0" dirty="0">
                <a:solidFill>
                  <a:srgbClr val="000000"/>
                </a:solidFill>
                <a:latin typeface="Arial"/>
                <a:ea typeface="Yu Gothic UI"/>
                <a:cs typeface="Arial" panose="020B0604020202020204" pitchFamily="34" charset="0"/>
              </a:rPr>
              <a:t>要件定義理解、仕様確認</a:t>
            </a:r>
          </a:p>
        </p:txBody>
      </p:sp>
      <p:sp>
        <p:nvSpPr>
          <p:cNvPr id="12" name="四角形: 角を丸くする 11">
            <a:extLst>
              <a:ext uri="{FF2B5EF4-FFF2-40B4-BE49-F238E27FC236}">
                <a16:creationId xmlns:a16="http://schemas.microsoft.com/office/drawing/2014/main" id="{22EAB42A-F16D-1B9B-1F91-97A03BA3B4E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システム設計（画面）</a:t>
            </a:r>
          </a:p>
        </p:txBody>
      </p:sp>
      <p:sp>
        <p:nvSpPr>
          <p:cNvPr id="13" name="四角形: 角を丸くする 12">
            <a:extLst>
              <a:ext uri="{FF2B5EF4-FFF2-40B4-BE49-F238E27FC236}">
                <a16:creationId xmlns:a16="http://schemas.microsoft.com/office/drawing/2014/main" id="{B17A8A22-C360-B052-CEF6-E61B90C0B75C}"/>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開発単体、結合試験</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すべてパターンをカバー</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(10</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部署程度</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A6448D76-67DC-5F37-1066-E9D40CD02BB2}"/>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36654B2B-F681-E74F-C183-4C26345C4CB1}"/>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69E2BEE-B802-A9F1-DF8A-F748A77B8265}"/>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D46046EE-7C09-902A-CCB4-F0FD1E31C59F}"/>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3403EE9-A065-3193-30E6-C37FDFA53FC6}"/>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2C2B145-6548-8D39-E2C6-BE856588924B}"/>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ED99F65B-AA28-033D-386E-6CA19DD7C41D}"/>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3C7DBF06-E04F-3373-48E2-C440C5C512AB}"/>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DD42FEB4-6B06-79CF-5522-D0F0FAC85FC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34AE9C86-5DAF-E772-D6FC-C836F78D3B2B}"/>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1E2AE3E3-4F21-9CBF-D6A8-9B215A112681}"/>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A3A54D4F-3A74-C4B7-A1DC-9D1326C7069E}"/>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D7664006-9661-8AA4-E792-E8A8434AD1EC}"/>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464F11D9-EC09-A100-6C62-7433BF3D9FB1}"/>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9A155A-5B39-2D6A-51C7-970F9D33A80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EEDB1827-0364-E6E9-6B57-71E49BA27F47}"/>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69D96C6B-261A-94F5-9742-256B0618F278}"/>
              </a:ext>
            </a:extLst>
          </p:cNvPr>
          <p:cNvSpPr/>
          <p:nvPr/>
        </p:nvSpPr>
        <p:spPr bwMode="gray">
          <a:xfrm>
            <a:off x="1236849" y="2363173"/>
            <a:ext cx="2177307"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lvl="0" algn="ctr" fontAlgn="base">
              <a:spcBef>
                <a:spcPct val="0"/>
              </a:spcBef>
              <a:spcAft>
                <a:spcPct val="0"/>
              </a:spcAft>
              <a:defRPr/>
            </a:pPr>
            <a:r>
              <a:rPr lang="ja-JP" altLang="en-US" sz="1200" dirty="0">
                <a:solidFill>
                  <a:schemeClr val="tx1"/>
                </a:solidFill>
              </a:rPr>
              <a:t>構造設計＆</a:t>
            </a:r>
            <a:r>
              <a:rPr lang="en-US" altLang="ja-JP" sz="1200" dirty="0">
                <a:solidFill>
                  <a:schemeClr val="tx1"/>
                </a:solidFill>
              </a:rPr>
              <a:t>POC</a:t>
            </a:r>
            <a:endPar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endParaRPr>
          </a:p>
        </p:txBody>
      </p:sp>
      <p:cxnSp>
        <p:nvCxnSpPr>
          <p:cNvPr id="44" name="直線コネクタ 43">
            <a:extLst>
              <a:ext uri="{FF2B5EF4-FFF2-40B4-BE49-F238E27FC236}">
                <a16:creationId xmlns:a16="http://schemas.microsoft.com/office/drawing/2014/main" id="{65B500DB-353E-C646-ADC8-0A76B5CB0188}"/>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1A9CB833-016B-242F-1463-5C9BFB28FA81}"/>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1"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POC</a:t>
            </a: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・製造工程の概算見積</a:t>
            </a: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DF902E31-E2B8-7162-8B4B-9AD9BB610DFC}"/>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A0E82062-9E6A-2638-8A2F-5DC1087902EB}"/>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5C9C10AC-EAD6-1DA2-966D-E9414E8B7987}"/>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92577933-E1F6-226D-4056-8247DF51D490}"/>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AD1DA8DD-C9E7-F836-881C-F2D562E04B4B}"/>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1D4FF8AC-D428-6457-105B-0F58F231B247}"/>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Round3</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EBCB9FD6-0C6D-1707-F42B-7F944A1487E4}"/>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FF0E3E63-DA39-50C6-57E3-8931DFF82214}"/>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A70C045E-7BD4-E6CB-3584-3147D05C20A4}"/>
              </a:ext>
            </a:extLst>
          </p:cNvPr>
          <p:cNvSpPr/>
          <p:nvPr/>
        </p:nvSpPr>
        <p:spPr bwMode="gray">
          <a:xfrm>
            <a:off x="1236849" y="2775159"/>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236A6D0F-8942-CE66-B013-8AF91EBD87FE}"/>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Round1 </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01B73093-0CCA-548A-2FFA-347968BA7764}"/>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Round</a:t>
            </a:r>
            <a:r>
              <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２展開</a:t>
            </a:r>
            <a:endPar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データ移行と受入</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対応</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65" name="四角形: 角を丸くする 64">
            <a:extLst>
              <a:ext uri="{FF2B5EF4-FFF2-40B4-BE49-F238E27FC236}">
                <a16:creationId xmlns:a16="http://schemas.microsoft.com/office/drawing/2014/main" id="{6AD8FF22-48F0-3EDB-A541-797D91E734FE}"/>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Round3</a:t>
            </a:r>
            <a:r>
              <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展開</a:t>
            </a:r>
            <a:endPar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（データ移行と受入</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対応</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66" name="直線コネクタ 65">
            <a:extLst>
              <a:ext uri="{FF2B5EF4-FFF2-40B4-BE49-F238E27FC236}">
                <a16:creationId xmlns:a16="http://schemas.microsoft.com/office/drawing/2014/main" id="{E7F0D5ED-5933-DE94-D599-1F10CCEDB260}"/>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AD354CD-0D71-2DBE-0AD1-08F85674D7B0}"/>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6FCE6AAF-3DEA-AE92-6F00-05FDA7CF63B8}"/>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61A3E713-1264-3663-705A-35567FFCFADB}"/>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2CB616B-8A1D-B35C-5A7B-9FCBE7B10945}"/>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96CFDE14-CA97-9E49-1BA6-60CC218871AF}"/>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1CD27798-3FE5-A43A-3450-1E84CFE1EC6B}"/>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C147A661-F258-1D2E-FBE3-514D755494A6}"/>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7" name="テキスト ボックス 6">
            <a:extLst>
              <a:ext uri="{FF2B5EF4-FFF2-40B4-BE49-F238E27FC236}">
                <a16:creationId xmlns:a16="http://schemas.microsoft.com/office/drawing/2014/main" id="{D41F9312-782B-4153-382F-122228773B2B}"/>
              </a:ext>
            </a:extLst>
          </p:cNvPr>
          <p:cNvSpPr txBox="1"/>
          <p:nvPr/>
        </p:nvSpPr>
        <p:spPr>
          <a:xfrm>
            <a:off x="4033732" y="2587937"/>
            <a:ext cx="6766132"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graphicFrame>
        <p:nvGraphicFramePr>
          <p:cNvPr id="9" name="表 8">
            <a:extLst>
              <a:ext uri="{FF2B5EF4-FFF2-40B4-BE49-F238E27FC236}">
                <a16:creationId xmlns:a16="http://schemas.microsoft.com/office/drawing/2014/main" id="{B66829E4-789E-216F-F3DC-C861ECAE46A4}"/>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C702C9C8-33E8-D3B8-9029-7D5B2B315322}"/>
              </a:ext>
            </a:extLst>
          </p:cNvPr>
          <p:cNvSpPr txBox="1"/>
          <p:nvPr/>
        </p:nvSpPr>
        <p:spPr>
          <a:xfrm>
            <a:off x="311630" y="3622150"/>
            <a:ext cx="6766560"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Round1</a:t>
            </a:r>
            <a:r>
              <a:rPr kumimoji="1" lang="ja-JP" altLang="en-US" sz="8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対象機能想定</a:t>
            </a:r>
          </a:p>
        </p:txBody>
      </p:sp>
      <p:sp>
        <p:nvSpPr>
          <p:cNvPr id="4" name="四角形: 角を丸くする 3">
            <a:extLst>
              <a:ext uri="{FF2B5EF4-FFF2-40B4-BE49-F238E27FC236}">
                <a16:creationId xmlns:a16="http://schemas.microsoft.com/office/drawing/2014/main" id="{945A44B2-4077-231F-4CBD-D5A2C5112F05}"/>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 Round3</a:t>
            </a:r>
            <a:r>
              <a:rPr kumimoji="1" lang="ja-JP" altLang="en-US"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に関する説明：</a:t>
            </a:r>
            <a:endParaRPr kumimoji="1" lang="en-US" altLang="ja-JP"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システム全体は一つ</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App</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になるため、</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Round2,3</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の主作業は移行作業</a:t>
            </a: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移行ツールの入力となる</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DB</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ファイルの差異の対応</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入力データの差異によりの</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Data mapping</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の見直す</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ツール実行</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移行前後データの比較、差異分析、必要によりの対応、移行報告</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会社・組織の業務差異</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表現差異対応、エンハンス要件がない限り、</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 Round3</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のリリース自体は不要</a:t>
            </a: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 Round2, Round3</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の本質は：</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 Round2, Round3</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対象会社の履歴が利用可能時期のみ</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p:txBody>
      </p:sp>
      <p:sp>
        <p:nvSpPr>
          <p:cNvPr id="5" name="テキスト ボックス 4">
            <a:extLst>
              <a:ext uri="{FF2B5EF4-FFF2-40B4-BE49-F238E27FC236}">
                <a16:creationId xmlns:a16="http://schemas.microsoft.com/office/drawing/2014/main" id="{B02C6532-98F9-F9CB-4A8C-A2BEE7073D4C}"/>
              </a:ext>
            </a:extLst>
          </p:cNvPr>
          <p:cNvSpPr txBox="1"/>
          <p:nvPr/>
        </p:nvSpPr>
        <p:spPr>
          <a:xfrm>
            <a:off x="414336" y="735600"/>
            <a:ext cx="11469807"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下記スケジュールは弊社の想定で、ご要望に合わせて開始時間について、調整することが可能で、相談させてください。</a:t>
            </a:r>
          </a:p>
        </p:txBody>
      </p:sp>
    </p:spTree>
    <p:extLst>
      <p:ext uri="{BB962C8B-B14F-4D97-AF65-F5344CB8AC3E}">
        <p14:creationId xmlns:p14="http://schemas.microsoft.com/office/powerpoint/2010/main" val="2811350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5AF9E-18AA-8E32-0A94-86C1A922846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6B15A7-7877-8073-8E20-8ED08F2E19EC}"/>
              </a:ext>
            </a:extLst>
          </p:cNvPr>
          <p:cNvSpPr>
            <a:spLocks noGrp="1"/>
          </p:cNvSpPr>
          <p:nvPr>
            <p:ph type="title"/>
          </p:nvPr>
        </p:nvSpPr>
        <p:spPr>
          <a:xfrm>
            <a:off x="414336" y="255263"/>
            <a:ext cx="9327072" cy="683629"/>
          </a:xfrm>
        </p:spPr>
        <p:txBody>
          <a:bodyPr/>
          <a:lstStyle/>
          <a:p>
            <a:r>
              <a:rPr lang="ja-JP" altLang="en-US" dirty="0"/>
              <a:t>見積もり</a:t>
            </a:r>
            <a:endParaRPr lang="ja-JP" altLang="en-US" dirty="0">
              <a:effectLst/>
            </a:endParaRPr>
          </a:p>
        </p:txBody>
      </p:sp>
      <p:graphicFrame>
        <p:nvGraphicFramePr>
          <p:cNvPr id="3" name="表 2">
            <a:extLst>
              <a:ext uri="{FF2B5EF4-FFF2-40B4-BE49-F238E27FC236}">
                <a16:creationId xmlns:a16="http://schemas.microsoft.com/office/drawing/2014/main" id="{1424756A-34A5-E83D-E8E4-8C2423C7A02D}"/>
              </a:ext>
            </a:extLst>
          </p:cNvPr>
          <p:cNvGraphicFramePr>
            <a:graphicFrameLocks noGrp="1"/>
          </p:cNvGraphicFramePr>
          <p:nvPr>
            <p:extLst>
              <p:ext uri="{D42A27DB-BD31-4B8C-83A1-F6EECF244321}">
                <p14:modId xmlns:p14="http://schemas.microsoft.com/office/powerpoint/2010/main" val="2166225291"/>
              </p:ext>
            </p:extLst>
          </p:nvPr>
        </p:nvGraphicFramePr>
        <p:xfrm>
          <a:off x="479552" y="836571"/>
          <a:ext cx="11219955" cy="527669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17802">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p>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a:t>
                      </a:r>
                      <a:r>
                        <a:rPr lang="en-US" altLang="ja-JP" sz="1050" b="0" u="none" strike="noStrike" kern="1200" dirty="0">
                          <a:solidFill>
                            <a:schemeClr val="tx1"/>
                          </a:solidFill>
                          <a:effectLst/>
                          <a:latin typeface="+mn-lt"/>
                          <a:ea typeface="+mn-ea"/>
                          <a:cs typeface="+mn-cs"/>
                        </a:rPr>
                        <a:t>Facility</a:t>
                      </a:r>
                      <a:r>
                        <a:rPr lang="ja-JP" altLang="en-US" sz="1050" b="0" u="none" strike="noStrike" kern="1200" dirty="0">
                          <a:solidFill>
                            <a:schemeClr val="tx1"/>
                          </a:solidFill>
                          <a:effectLst/>
                          <a:latin typeface="+mn-lt"/>
                          <a:ea typeface="+mn-ea"/>
                          <a:cs typeface="+mn-cs"/>
                        </a:rPr>
                        <a:t>含む）</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ー先行作業工数小計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3375774082"/>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128.06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部署に平均１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部署は変更調整のみで、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部署に平均１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部署は変更調整のみで、（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43B46341-D05B-44F5-EFC5-045640234706}"/>
              </a:ext>
            </a:extLst>
          </p:cNvPr>
          <p:cNvSpPr txBox="1"/>
          <p:nvPr/>
        </p:nvSpPr>
        <p:spPr>
          <a:xfrm>
            <a:off x="453136" y="6086581"/>
            <a:ext cx="828040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工数：</a:t>
            </a: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175.06MM</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、費用： </a:t>
            </a: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1.26</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億</a:t>
            </a:r>
          </a:p>
        </p:txBody>
      </p:sp>
    </p:spTree>
    <p:extLst>
      <p:ext uri="{BB962C8B-B14F-4D97-AF65-F5344CB8AC3E}">
        <p14:creationId xmlns:p14="http://schemas.microsoft.com/office/powerpoint/2010/main" val="1166079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50576-690F-BC70-D1E4-D6016D1D6C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C6EA804-F2DA-1304-6228-A37D45949E1F}"/>
              </a:ext>
            </a:extLst>
          </p:cNvPr>
          <p:cNvSpPr>
            <a:spLocks noGrp="1"/>
          </p:cNvSpPr>
          <p:nvPr>
            <p:ph type="title"/>
          </p:nvPr>
        </p:nvSpPr>
        <p:spPr>
          <a:xfrm>
            <a:off x="414336" y="255263"/>
            <a:ext cx="9327072" cy="528509"/>
          </a:xfrm>
        </p:spPr>
        <p:txBody>
          <a:bodyPr>
            <a:normAutofit fontScale="90000"/>
          </a:bodyPr>
          <a:lstStyle/>
          <a:p>
            <a:r>
              <a:rPr lang="zh-CN" altLang="en-US" dirty="0">
                <a:latin typeface="游ゴシック Light" panose="020B0300000000000000" pitchFamily="50" charset="-128"/>
                <a:ea typeface="游ゴシック Light" panose="020B0300000000000000" pitchFamily="50" charset="-128"/>
              </a:rPr>
              <a:t>結論</a:t>
            </a:r>
            <a:endParaRPr lang="zh-CN" altLang="en-US" dirty="0">
              <a:effectLst/>
              <a:latin typeface="游ゴシック Light" panose="020B0300000000000000" pitchFamily="50" charset="-128"/>
              <a:ea typeface="游ゴシック Light" panose="020B0300000000000000" pitchFamily="50" charset="-128"/>
            </a:endParaRPr>
          </a:p>
        </p:txBody>
      </p:sp>
      <p:sp>
        <p:nvSpPr>
          <p:cNvPr id="15" name="テキスト ボックス 14">
            <a:extLst>
              <a:ext uri="{FF2B5EF4-FFF2-40B4-BE49-F238E27FC236}">
                <a16:creationId xmlns:a16="http://schemas.microsoft.com/office/drawing/2014/main" id="{C9AB1EB2-C2F5-0A37-64A9-EBB077072794}"/>
              </a:ext>
            </a:extLst>
          </p:cNvPr>
          <p:cNvSpPr txBox="1"/>
          <p:nvPr/>
        </p:nvSpPr>
        <p:spPr>
          <a:xfrm>
            <a:off x="414336" y="783772"/>
            <a:ext cx="11490793" cy="4170614"/>
          </a:xfrm>
          <a:prstGeom prst="roundRect">
            <a:avLst>
              <a:gd name="adj" fmla="val 5705"/>
            </a:avLst>
          </a:prstGeom>
          <a:solidFill>
            <a:schemeClr val="accent6">
              <a:lumMod val="20000"/>
              <a:lumOff val="80000"/>
            </a:schemeClr>
          </a:solid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提案のまとめ: </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本方案により、効率的でセキュアな</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文書</a:t>
            </a: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管理を</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Power  Platform</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にて</a:t>
            </a: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実現。</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3</a:t>
            </a:r>
            <a:r>
              <a:rPr kumimoji="0" lang="en-US" altLang="ja-JP" sz="1800" b="0" i="0" u="none" strike="noStrike" kern="1200" cap="none" spc="0" normalizeH="0" baseline="30000" noProof="0" dirty="0">
                <a:ln>
                  <a:noFill/>
                </a:ln>
                <a:solidFill>
                  <a:prstClr val="black"/>
                </a:solidFill>
                <a:effectLst/>
                <a:uLnTx/>
                <a:uFillTx/>
                <a:latin typeface="Arial" panose="020B0604020202020204" pitchFamily="34" charset="0"/>
                <a:ea typeface="游ゴシック" panose="020B0400000000000000" pitchFamily="50" charset="-128"/>
                <a:cs typeface="+mn-cs"/>
              </a:rPr>
              <a:t>rd</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 Party</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の</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CMS</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パッケージを導入せず、</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10</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年間数億のライセンス費用節約</a:t>
            </a: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次ステップ:</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Q/A</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ミーティングの日程調整（必要に応じてセッティング）</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本方案</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に合意が取れた場合、社内稟議に必要となる期間の確認</a:t>
            </a:r>
            <a:endPar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連絡先: </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hlinkClick r:id="rId3">
                  <a:extLst>
                    <a:ext uri="{A12FA001-AC4F-418D-AE19-62706E023703}">
                      <ahyp:hlinkClr xmlns:ahyp="http://schemas.microsoft.com/office/drawing/2018/hyperlinkcolor" val="tx"/>
                    </a:ext>
                  </a:extLst>
                </a:hlinkClick>
              </a:rPr>
              <a:t>yli@gcsoft-jp.com</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zdhe@gcsoft-jp.com</a:t>
            </a:r>
            <a:endPar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cc: admin@gcsoft-jp.com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前提条件：</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この見積は、</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11/30</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まで有効とする</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この見積は、仕様書定型データを</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Azure SQL</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に管理、添付ファイルは</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SPO</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に管理の前提とする</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作業用クラウド環境、</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Azure License</a:t>
            </a:r>
            <a:r>
              <a:rPr kumimoji="0" lang="ja-JP" altLang="en-US" dirty="0">
                <a:solidFill>
                  <a:prstClr val="black"/>
                </a:solidFill>
                <a:latin typeface="Arial" panose="020B0604020202020204" pitchFamily="34" charset="0"/>
                <a:ea typeface="游ゴシック" panose="020B0400000000000000" pitchFamily="50" charset="-128"/>
              </a:rPr>
              <a:t>含む各種ライセンス</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開発環境は</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MCC</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により提供する</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Tree>
    <p:extLst>
      <p:ext uri="{BB962C8B-B14F-4D97-AF65-F5344CB8AC3E}">
        <p14:creationId xmlns:p14="http://schemas.microsoft.com/office/powerpoint/2010/main" val="2327027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B41B6318-84F6-278F-959E-A463A2310F0A}"/>
              </a:ext>
            </a:extLst>
          </p:cNvPr>
          <p:cNvSpPr>
            <a:spLocks noGrp="1"/>
          </p:cNvSpPr>
          <p:nvPr>
            <p:ph sz="quarter" idx="10"/>
          </p:nvPr>
        </p:nvSpPr>
        <p:spPr>
          <a:xfrm>
            <a:off x="320675" y="1946218"/>
            <a:ext cx="11550650" cy="1004800"/>
          </a:xfrm>
        </p:spPr>
        <p:txBody>
          <a:bodyPr>
            <a:normAutofit/>
          </a:bodyPr>
          <a:lstStyle/>
          <a:p>
            <a:pPr marL="0" indent="0" algn="ctr">
              <a:buNone/>
            </a:pPr>
            <a:r>
              <a:rPr kumimoji="1" lang="ja-JP" altLang="en-US" sz="4000" dirty="0"/>
              <a:t>以下提案書詳細</a:t>
            </a:r>
          </a:p>
        </p:txBody>
      </p:sp>
    </p:spTree>
    <p:extLst>
      <p:ext uri="{BB962C8B-B14F-4D97-AF65-F5344CB8AC3E}">
        <p14:creationId xmlns:p14="http://schemas.microsoft.com/office/powerpoint/2010/main" val="3138843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前書き</a:t>
            </a:r>
            <a:endParaRPr kumimoji="1" lang="ja-JP" altLang="en-US" dirty="0"/>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ストレージの比較</a:t>
            </a:r>
            <a:endParaRPr lang="en-US" altLang="ja-JP" sz="1600" dirty="0"/>
          </a:p>
          <a:p>
            <a:pPr marL="285750" indent="-285750">
              <a:buFont typeface="Arial" panose="020B0604020202020204" pitchFamily="34" charset="0"/>
              <a:buChar char="•"/>
            </a:pPr>
            <a:r>
              <a:rPr lang="ja-JP" altLang="en-US" sz="1600" dirty="0"/>
              <a:t>ストレージの評価</a:t>
            </a:r>
            <a:endParaRPr lang="en-US" altLang="ja-JP" sz="1600" dirty="0"/>
          </a:p>
          <a:p>
            <a:pPr marL="285750" indent="-285750">
              <a:buFont typeface="Arial" panose="020B0604020202020204" pitchFamily="34" charset="0"/>
              <a:buChar char="•"/>
            </a:pPr>
            <a:r>
              <a:rPr lang="ja-JP" altLang="en-US" sz="1600" dirty="0"/>
              <a:t>ストレージの選定理由</a:t>
            </a:r>
            <a:endParaRPr lang="en-US" altLang="ja-JP" sz="1600" dirty="0"/>
          </a:p>
          <a:p>
            <a:pPr marL="285750" indent="-285750">
              <a:buFont typeface="Arial" panose="020B0604020202020204" pitchFamily="34" charset="0"/>
              <a:buChar char="•"/>
            </a:pPr>
            <a:r>
              <a:rPr lang="ja-JP" altLang="en-US" sz="1600" dirty="0"/>
              <a:t>全体アーキテクチャ</a:t>
            </a:r>
            <a:endParaRPr lang="en-US" altLang="ja-JP" sz="1600" dirty="0"/>
          </a:p>
          <a:p>
            <a:pPr marL="285750" indent="-285750">
              <a:buFont typeface="Arial" panose="020B0604020202020204" pitchFamily="34" charset="0"/>
              <a:buChar char="•"/>
            </a:pPr>
            <a:r>
              <a:rPr lang="ja-JP" altLang="en-US" sz="1600" dirty="0"/>
              <a:t>要件の実現（メイン機能）</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プロジェクト重要検討事項</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
        <p:nvSpPr>
          <p:cNvPr id="3" name="タイトル 1">
            <a:extLst>
              <a:ext uri="{FF2B5EF4-FFF2-40B4-BE49-F238E27FC236}">
                <a16:creationId xmlns:a16="http://schemas.microsoft.com/office/drawing/2014/main" id="{0FF4EC80-8596-5D54-C4BC-E52BEA3A7CC4}"/>
              </a:ext>
            </a:extLst>
          </p:cNvPr>
          <p:cNvSpPr txBox="1">
            <a:spLocks/>
          </p:cNvSpPr>
          <p:nvPr/>
        </p:nvSpPr>
        <p:spPr>
          <a:xfrm>
            <a:off x="414337" y="209788"/>
            <a:ext cx="9327072" cy="369332"/>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r>
              <a:rPr kumimoji="0" lang="ja-JP" altLang="en-US" dirty="0"/>
              <a:t>目次</a:t>
            </a:r>
            <a:endParaRPr kumimoji="1" lang="ja-JP"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提案の背景</a:t>
            </a:r>
            <a:endParaRPr kumimoji="1" lang="ja-JP" altLang="en-US" dirty="0"/>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60076"/>
            <a:ext cx="9327072" cy="683629"/>
          </a:xfrm>
        </p:spPr>
        <p:txBody>
          <a:bodyPr>
            <a:normAutofit/>
          </a:bodyPr>
          <a:lstStyle/>
          <a:p>
            <a:r>
              <a:rPr lang="ja-JP" altLang="en-US" dirty="0"/>
              <a:t>ストレージの比較</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713359367"/>
              </p:ext>
            </p:extLst>
          </p:nvPr>
        </p:nvGraphicFramePr>
        <p:xfrm>
          <a:off x="273718" y="959094"/>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82095"/>
            <a:ext cx="11412096" cy="276999"/>
          </a:xfrm>
          <a:prstGeom prst="rect">
            <a:avLst/>
          </a:prstGeom>
          <a:noFill/>
        </p:spPr>
        <p:txBody>
          <a:bodyPr wrap="square" rtlCol="0">
            <a:spAutoFit/>
          </a:bodyPr>
          <a:lstStyle/>
          <a:p>
            <a:r>
              <a:rPr lang="ja-JP" altLang="en-US" sz="1200" dirty="0">
                <a:solidFill>
                  <a:srgbClr val="FF0000"/>
                </a:solidFill>
              </a:rPr>
              <a:t>本案件でなりえるストレージについて、下記の評価項目について比較を行い、その結果を</a:t>
            </a:r>
            <a:r>
              <a:rPr kumimoji="1" lang="ja-JP" altLang="en-US" sz="1200" dirty="0">
                <a:solidFill>
                  <a:srgbClr val="FF0000"/>
                </a:solidFill>
              </a:rPr>
              <a:t>表にまとめた。</a:t>
            </a:r>
            <a:endParaRPr kumimoji="1" lang="en-US" altLang="ja-JP" sz="1400" b="1" dirty="0">
              <a:solidFill>
                <a:srgbClr val="FF0000"/>
              </a:solidFill>
            </a:endParaRPr>
          </a:p>
        </p:txBody>
      </p:sp>
    </p:spTree>
    <p:extLst>
      <p:ext uri="{BB962C8B-B14F-4D97-AF65-F5344CB8AC3E}">
        <p14:creationId xmlns:p14="http://schemas.microsoft.com/office/powerpoint/2010/main" val="10147372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ストレージの評価</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4039698271"/>
              </p:ext>
            </p:extLst>
          </p:nvPr>
        </p:nvGraphicFramePr>
        <p:xfrm>
          <a:off x="294143" y="1833698"/>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234042" y="818409"/>
            <a:ext cx="11723915" cy="954107"/>
          </a:xfrm>
          <a:prstGeom prst="rect">
            <a:avLst/>
          </a:prstGeom>
          <a:noFill/>
        </p:spPr>
        <p:txBody>
          <a:bodyPr wrap="square">
            <a:spAutoFit/>
          </a:bodyPr>
          <a:lstStyle/>
          <a:p>
            <a:r>
              <a:rPr lang="ja-JP" altLang="en-US" sz="1400" dirty="0"/>
              <a:t>ストレージに関して下記表で羅列した項目について評価を行った。評価の基準は下記の以下の</a:t>
            </a:r>
            <a:r>
              <a:rPr lang="en-US" altLang="ja-JP" sz="1400" dirty="0"/>
              <a:t>2</a:t>
            </a:r>
            <a:r>
              <a:rPr lang="ja-JP" altLang="en-US" sz="1400" dirty="0"/>
              <a:t>点である。</a:t>
            </a:r>
            <a:endParaRPr lang="en-US" altLang="ja-JP" sz="1400" dirty="0"/>
          </a:p>
          <a:p>
            <a:pPr marL="342900" indent="-342900">
              <a:buFont typeface="+mj-lt"/>
              <a:buAutoNum type="arabicPeriod"/>
            </a:pPr>
            <a:r>
              <a:rPr lang="ja-JP" altLang="en-US" sz="1400" dirty="0"/>
              <a:t>過去の実績有無。</a:t>
            </a:r>
            <a:endParaRPr lang="en-US" altLang="ja-JP" sz="1400" dirty="0"/>
          </a:p>
          <a:p>
            <a:pPr marL="342900" indent="-342900">
              <a:buFont typeface="+mj-lt"/>
              <a:buAutoNum type="arabicPeriod"/>
            </a:pPr>
            <a:r>
              <a:rPr lang="ja-JP" altLang="en-US" sz="1400" dirty="0"/>
              <a:t>業務機能の実装ロジックの実現複雑さとロジック性能の考慮</a:t>
            </a:r>
            <a:endParaRPr lang="en-US" altLang="ja-JP" sz="1400" dirty="0"/>
          </a:p>
          <a:p>
            <a:r>
              <a:rPr lang="ja-JP" altLang="en-US" sz="1400" dirty="0"/>
              <a:t>評価の結果：ストレージは</a:t>
            </a:r>
            <a:r>
              <a:rPr lang="en-US" altLang="ja-JP" sz="1400" dirty="0" err="1"/>
              <a:t>AzureSQL</a:t>
            </a:r>
            <a:r>
              <a:rPr lang="ja-JP" altLang="en-US" sz="1400" dirty="0"/>
              <a:t>＋</a:t>
            </a:r>
            <a:r>
              <a:rPr lang="en-US" altLang="ja-JP" sz="1400" dirty="0"/>
              <a:t>SPO</a:t>
            </a:r>
            <a:r>
              <a:rPr lang="ja-JP" altLang="en-US" sz="1400" dirty="0"/>
              <a:t>を採用する</a:t>
            </a:r>
            <a:endParaRPr lang="en-US" altLang="ja-JP" sz="1400" dirty="0"/>
          </a:p>
        </p:txBody>
      </p:sp>
    </p:spTree>
    <p:extLst>
      <p:ext uri="{BB962C8B-B14F-4D97-AF65-F5344CB8AC3E}">
        <p14:creationId xmlns:p14="http://schemas.microsoft.com/office/powerpoint/2010/main" val="3028644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ストレージの選定理由（</a:t>
            </a:r>
            <a:r>
              <a:rPr kumimoji="1" lang="en-US" altLang="ja-JP" b="1" cap="none" dirty="0">
                <a:ea typeface="游ゴシック" panose="020B0400000000000000" pitchFamily="50" charset="-128"/>
              </a:rPr>
              <a:t> </a:t>
            </a:r>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a:t>
            </a:r>
          </a:p>
        </p:txBody>
      </p:sp>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836099"/>
            <a:ext cx="11412096" cy="4278094"/>
          </a:xfrm>
          <a:prstGeom prst="rect">
            <a:avLst/>
          </a:prstGeom>
          <a:noFill/>
        </p:spPr>
        <p:txBody>
          <a:bodyPr wrap="square" rtlCol="0">
            <a:spAutoFit/>
          </a:bodyPr>
          <a:lstStyle/>
          <a:p>
            <a:pPr lvl="0"/>
            <a:r>
              <a:rPr kumimoji="1" lang="en-US" altLang="ja-JP" sz="1600" b="1" i="0" u="none" strike="noStrike" kern="1200" cap="none" spc="0" normalizeH="0" baseline="0" noProof="0" dirty="0" err="1">
                <a:ln>
                  <a:noFill/>
                </a:ln>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lvl="0" indent="-285750">
              <a:buFont typeface="Arial" panose="020B0604020202020204" pitchFamily="34" charset="0"/>
              <a:buChar char="•"/>
            </a:pPr>
            <a:r>
              <a:rPr lang="en-US" altLang="ja-JP" sz="1600" dirty="0"/>
              <a:t>On promise Gateway</a:t>
            </a:r>
            <a:r>
              <a:rPr lang="ja-JP" altLang="en-US" sz="1600" dirty="0"/>
              <a:t>のネットワークボトルネックを解消</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が提供している性能保証を考慮して、想定しているユーザ数に対するパフォーマンスへの配慮</a:t>
            </a:r>
            <a:endParaRPr lang="en-US" altLang="ja-JP" sz="1600"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が統合した機能を生かして、システムの構成を単純化にし、運用保守コストへの配慮</a:t>
            </a:r>
            <a:endParaRPr lang="en-US" altLang="ja-JP" sz="1600" dirty="0"/>
          </a:p>
          <a:p>
            <a:pPr marL="285750" lvl="0" indent="-285750">
              <a:buFont typeface="Arial" panose="020B0604020202020204" pitchFamily="34" charset="0"/>
              <a:buChar char="•"/>
              <a:defRPr/>
            </a:pPr>
            <a:r>
              <a:rPr lang="ja-JP" altLang="en-US" sz="1600" dirty="0">
                <a:solidFill>
                  <a:srgbClr val="FF0000"/>
                </a:solidFill>
              </a:rPr>
              <a:t>添付ファイル内容の検索のサポートは弱いので、添付ファイルのストレージに適切ではないと判断</a:t>
            </a:r>
            <a:endParaRPr lang="en-US" altLang="ja-JP" sz="1600" dirty="0">
              <a:solidFill>
                <a:srgbClr val="FF0000"/>
              </a:solidFill>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effectLst/>
                <a:uLnTx/>
                <a:uFillTx/>
                <a:latin typeface="Gill Sans MT"/>
                <a:ea typeface="游ゴシック" panose="020B0400000000000000" pitchFamily="50" charset="-128"/>
                <a:cs typeface="+mn-cs"/>
              </a:rPr>
              <a:t>添付フィルのオンライン編集を対応できないので、添付ファイルのストレージに適切ではないと判断</a:t>
            </a:r>
            <a:endParaRPr kumimoji="1" lang="en-US" altLang="ja-JP" sz="16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ltLang="ja-JP" sz="16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i="0" u="none" strike="noStrike" kern="1200" cap="none" spc="0" normalizeH="0" baseline="0" noProof="0" dirty="0">
                <a:ln>
                  <a:noFill/>
                </a:ln>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のアクセス管理機能を生かして、ソリューションが簡単になり、セキュリティーへの配慮</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が提供しているオンライン編集機能で、ユーザ要件の実現</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latin typeface="Gill Sans MT"/>
                <a:ea typeface="游ゴシック" panose="020B0400000000000000" pitchFamily="50" charset="-128"/>
              </a:rPr>
              <a:t>大量ファイルを扱うによるパフォーマンスへの影響をソリューションで対応が必要であるが、その他の提供機能と比較してデメリットが少ない</a:t>
            </a:r>
            <a:endParaRPr lang="en-US" altLang="ja-JP" sz="1600" dirty="0">
              <a:latin typeface="Gill Sans MT"/>
              <a:ea typeface="游ゴシック" panose="020B0400000000000000" pitchFamily="50" charset="-128"/>
            </a:endParaRPr>
          </a:p>
          <a:p>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dirty="0"/>
              <a:t>全体アーキテクチャ</a:t>
            </a:r>
            <a:endParaRPr lang="ja-JP" altLang="en-US" sz="20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する時に定義したアクセス権限を設定することで制約できます。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48F1A-B802-D149-C82C-94A6C978BB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C5381E-BAE4-4E71-8CA1-50E8C9FB34BE}"/>
              </a:ext>
            </a:extLst>
          </p:cNvPr>
          <p:cNvSpPr>
            <a:spLocks noGrp="1"/>
          </p:cNvSpPr>
          <p:nvPr>
            <p:ph type="title"/>
          </p:nvPr>
        </p:nvSpPr>
        <p:spPr/>
        <p:txBody>
          <a:bodyPr>
            <a:noAutofit/>
          </a:bodyPr>
          <a:lstStyle/>
          <a:p>
            <a:r>
              <a:rPr kumimoji="1" lang="ja-JP" altLang="en-US" dirty="0"/>
              <a:t>要件の実現（メイン機能）</a:t>
            </a:r>
          </a:p>
        </p:txBody>
      </p:sp>
      <p:sp>
        <p:nvSpPr>
          <p:cNvPr id="4" name="テキスト ボックス 3">
            <a:extLst>
              <a:ext uri="{FF2B5EF4-FFF2-40B4-BE49-F238E27FC236}">
                <a16:creationId xmlns:a16="http://schemas.microsoft.com/office/drawing/2014/main" id="{40DC9C1A-9B7D-DA37-7A46-AA52CA38B3F3}"/>
              </a:ext>
            </a:extLst>
          </p:cNvPr>
          <p:cNvSpPr txBox="1"/>
          <p:nvPr/>
        </p:nvSpPr>
        <p:spPr>
          <a:xfrm>
            <a:off x="414336" y="764418"/>
            <a:ext cx="11366184" cy="37871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400" dirty="0"/>
              <a:t>提案したアーキテクチャでは下記の要件（メイン）が実現可能</a:t>
            </a:r>
            <a:endParaRPr lang="en-US" altLang="ja-JP" sz="2000" dirty="0"/>
          </a:p>
        </p:txBody>
      </p:sp>
      <p:sp>
        <p:nvSpPr>
          <p:cNvPr id="5" name="テキスト ボックス 4">
            <a:extLst>
              <a:ext uri="{FF2B5EF4-FFF2-40B4-BE49-F238E27FC236}">
                <a16:creationId xmlns:a16="http://schemas.microsoft.com/office/drawing/2014/main" id="{740DE17A-635C-296D-D582-BD854B6E9AF0}"/>
              </a:ext>
            </a:extLst>
          </p:cNvPr>
          <p:cNvSpPr txBox="1"/>
          <p:nvPr/>
        </p:nvSpPr>
        <p:spPr>
          <a:xfrm>
            <a:off x="284308" y="5562472"/>
            <a:ext cx="11172585"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effectLst/>
                <a:uLnTx/>
                <a:uFillTx/>
                <a:latin typeface="Gill Sans MT"/>
                <a:ea typeface="游ゴシック" panose="020B0400000000000000" pitchFamily="50" charset="-128"/>
                <a:cs typeface="+mn-cs"/>
              </a:rPr>
              <a:t>次ページより詳細について説明します。</a:t>
            </a:r>
            <a:endParaRPr kumimoji="1" lang="en-US" altLang="ja-JP" sz="18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
        <p:nvSpPr>
          <p:cNvPr id="6" name="テキスト ボックス 5">
            <a:extLst>
              <a:ext uri="{FF2B5EF4-FFF2-40B4-BE49-F238E27FC236}">
                <a16:creationId xmlns:a16="http://schemas.microsoft.com/office/drawing/2014/main" id="{A1E8D3B5-6211-F128-163F-FC4D4BA63EA2}"/>
              </a:ext>
            </a:extLst>
          </p:cNvPr>
          <p:cNvSpPr txBox="1"/>
          <p:nvPr/>
        </p:nvSpPr>
        <p:spPr>
          <a:xfrm>
            <a:off x="802765" y="1143128"/>
            <a:ext cx="10253162" cy="42894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000" dirty="0"/>
              <a:t>★添付ファイル管理（編集を含む）</a:t>
            </a:r>
            <a:endParaRPr lang="en-US" altLang="ja-JP" sz="2000" dirty="0"/>
          </a:p>
          <a:p>
            <a:r>
              <a:rPr lang="en-US" altLang="ja-JP" sz="2000" dirty="0"/>
              <a:t>	</a:t>
            </a:r>
            <a:r>
              <a:rPr lang="ja-JP" altLang="en-US" sz="2000" dirty="0"/>
              <a:t>・オンライン編集</a:t>
            </a:r>
            <a:endParaRPr lang="en-US" altLang="ja-JP" sz="2000" dirty="0"/>
          </a:p>
          <a:p>
            <a:r>
              <a:rPr lang="en-US" altLang="ja-JP" sz="2000" dirty="0"/>
              <a:t>	</a:t>
            </a:r>
            <a:r>
              <a:rPr lang="ja-JP" altLang="en-US" sz="2000" dirty="0"/>
              <a:t>・検索機能</a:t>
            </a:r>
            <a:endParaRPr lang="en-US" altLang="ja-JP" sz="2000" dirty="0"/>
          </a:p>
          <a:p>
            <a:r>
              <a:rPr lang="en-US" altLang="ja-JP" sz="2000" dirty="0"/>
              <a:t>	</a:t>
            </a:r>
            <a:r>
              <a:rPr lang="ja-JP" altLang="en-US" sz="2000" dirty="0"/>
              <a:t>・一括ダウンロード機能</a:t>
            </a:r>
            <a:endParaRPr lang="en-US" altLang="ja-JP" sz="2000" dirty="0"/>
          </a:p>
          <a:p>
            <a:r>
              <a:rPr lang="ja-JP" altLang="en-US" sz="2000" dirty="0"/>
              <a:t>★権限管理</a:t>
            </a:r>
            <a:endParaRPr lang="en-US" altLang="ja-JP" sz="2000" dirty="0"/>
          </a:p>
          <a:p>
            <a:r>
              <a:rPr lang="en-US" altLang="ja-JP" sz="2000" dirty="0"/>
              <a:t>	</a:t>
            </a:r>
            <a:r>
              <a:rPr lang="ja-JP" altLang="en-US" sz="2000" dirty="0"/>
              <a:t>・定型データの権限は定義されたグループ（複数のユーザを管理）で管理</a:t>
            </a:r>
            <a:endParaRPr lang="en-US" altLang="ja-JP" sz="2000" dirty="0"/>
          </a:p>
          <a:p>
            <a:r>
              <a:rPr lang="en-US" altLang="ja-JP" sz="2000" dirty="0"/>
              <a:t>	</a:t>
            </a:r>
            <a:r>
              <a:rPr lang="ja-JP" altLang="en-US" sz="2000" dirty="0"/>
              <a:t>・定型データのユーザ単位・項目別での権限管理（</a:t>
            </a:r>
            <a:r>
              <a:rPr lang="en-US" altLang="ja-JP" sz="2000" dirty="0"/>
              <a:t>Option</a:t>
            </a:r>
            <a:r>
              <a:rPr lang="ja-JP" altLang="en-US" sz="2000" dirty="0"/>
              <a:t>）</a:t>
            </a:r>
            <a:endParaRPr lang="en-US" altLang="ja-JP" sz="2000" dirty="0"/>
          </a:p>
          <a:p>
            <a:pPr lvl="2"/>
            <a:r>
              <a:rPr lang="ja-JP" altLang="en-US" sz="2000" dirty="0"/>
              <a:t>・アクセス権限管理</a:t>
            </a:r>
            <a:endParaRPr lang="en-US" altLang="ja-JP" sz="2000" dirty="0"/>
          </a:p>
          <a:p>
            <a:r>
              <a:rPr lang="en-US" altLang="ja-JP" sz="2000" dirty="0"/>
              <a:t>		</a:t>
            </a:r>
            <a:r>
              <a:rPr lang="ja-JP" altLang="en-US" dirty="0"/>
              <a:t>*ソリューション内と</a:t>
            </a:r>
            <a:r>
              <a:rPr lang="en-US" altLang="ja-JP" dirty="0"/>
              <a:t>SPO</a:t>
            </a:r>
            <a:r>
              <a:rPr lang="ja-JP" altLang="en-US" dirty="0"/>
              <a:t>に直接アクセスの双方において</a:t>
            </a:r>
            <a:endParaRPr lang="en-US" altLang="ja-JP" sz="2000" dirty="0"/>
          </a:p>
          <a:p>
            <a:r>
              <a:rPr lang="ja-JP" altLang="en-US" sz="2000" dirty="0"/>
              <a:t>★非機能要件</a:t>
            </a:r>
            <a:endParaRPr lang="en-US" altLang="ja-JP" sz="2000" dirty="0"/>
          </a:p>
          <a:p>
            <a:r>
              <a:rPr lang="en-US" altLang="ja-JP" sz="2000" dirty="0"/>
              <a:t>	</a:t>
            </a:r>
            <a:r>
              <a:rPr lang="ja-JP" altLang="en-US" sz="2000" dirty="0"/>
              <a:t>・パフォーマンスの保証</a:t>
            </a:r>
            <a:endParaRPr lang="en-US" altLang="ja-JP" sz="2000" dirty="0"/>
          </a:p>
          <a:p>
            <a:r>
              <a:rPr lang="en-US" altLang="ja-JP" sz="2000" dirty="0"/>
              <a:t>	</a:t>
            </a:r>
            <a:r>
              <a:rPr lang="ja-JP" altLang="en-US" sz="2000" dirty="0"/>
              <a:t>・</a:t>
            </a:r>
            <a:r>
              <a:rPr lang="en-US" altLang="ja-JP" sz="2000" dirty="0"/>
              <a:t>HA</a:t>
            </a:r>
            <a:r>
              <a:rPr lang="ja-JP" altLang="en-US" sz="2000" dirty="0"/>
              <a:t>の保証</a:t>
            </a:r>
            <a:endParaRPr lang="en-US" altLang="ja-JP" sz="2000" dirty="0"/>
          </a:p>
          <a:p>
            <a:r>
              <a:rPr lang="ja-JP" altLang="en-US" sz="2000" dirty="0"/>
              <a:t>★データ移行</a:t>
            </a:r>
            <a:endParaRPr lang="en-US" altLang="ja-JP" sz="2000" dirty="0"/>
          </a:p>
          <a:p>
            <a:r>
              <a:rPr lang="en-US" altLang="ja-JP" sz="2000" dirty="0"/>
              <a:t>	</a:t>
            </a:r>
            <a:r>
              <a:rPr lang="ja-JP" altLang="en-US" sz="2000" dirty="0"/>
              <a:t>・移行ツールで実施可能</a:t>
            </a:r>
            <a:endParaRPr lang="en-US" altLang="ja-JP" sz="2000" dirty="0"/>
          </a:p>
        </p:txBody>
      </p:sp>
    </p:spTree>
    <p:extLst>
      <p:ext uri="{BB962C8B-B14F-4D97-AF65-F5344CB8AC3E}">
        <p14:creationId xmlns:p14="http://schemas.microsoft.com/office/powerpoint/2010/main" val="28996518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1040602" cy="683629"/>
          </a:xfrm>
        </p:spPr>
        <p:txBody>
          <a:bodyPr>
            <a:noAutofit/>
          </a:bodyPr>
          <a:lstStyle/>
          <a:p>
            <a:r>
              <a:rPr lang="ja-JP" altLang="en-US" dirty="0"/>
              <a:t>要件／ソリューション－添付ファイル管理（編集を含む）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696379614"/>
              </p:ext>
            </p:extLst>
          </p:nvPr>
        </p:nvGraphicFramePr>
        <p:xfrm>
          <a:off x="453571" y="757391"/>
          <a:ext cx="11284857" cy="5543446"/>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050" dirty="0">
                          <a:solidFill>
                            <a:schemeClr val="tx1"/>
                          </a:solidFill>
                        </a:rPr>
                        <a:t>仕様書管理</a:t>
                      </a:r>
                      <a:r>
                        <a:rPr lang="en-US" altLang="ja-JP" sz="1050" dirty="0">
                          <a:solidFill>
                            <a:schemeClr val="tx1"/>
                          </a:solidFill>
                        </a:rPr>
                        <a:t>TBL</a:t>
                      </a:r>
                      <a:r>
                        <a:rPr lang="ja-JP" altLang="en-US" sz="1050" dirty="0">
                          <a:solidFill>
                            <a:schemeClr val="tx1"/>
                          </a:solidFill>
                        </a:rPr>
                        <a:t>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仕様書管理</a:t>
                      </a:r>
                      <a:r>
                        <a:rPr lang="en-US" altLang="ja-JP" sz="900" dirty="0">
                          <a:solidFill>
                            <a:schemeClr val="tx1"/>
                          </a:solidFill>
                        </a:rPr>
                        <a:t>TBL</a:t>
                      </a:r>
                      <a:r>
                        <a:rPr lang="ja-JP" altLang="en-US" sz="900" dirty="0">
                          <a:solidFill>
                            <a:schemeClr val="tx1"/>
                          </a:solidFill>
                        </a:rPr>
                        <a:t>に、添付ファイル（複数</a:t>
                      </a:r>
                      <a:r>
                        <a:rPr lang="en-US" altLang="ja-JP" sz="900" dirty="0">
                          <a:solidFill>
                            <a:schemeClr val="tx1"/>
                          </a:solidFill>
                        </a:rPr>
                        <a:t>)</a:t>
                      </a:r>
                      <a:r>
                        <a:rPr lang="ja-JP" altLang="en-US" sz="900" dirty="0">
                          <a:solidFill>
                            <a:schemeClr val="tx1"/>
                          </a:solidFill>
                        </a:rPr>
                        <a:t>のファイル</a:t>
                      </a:r>
                      <a:r>
                        <a:rPr lang="en-US" altLang="ja-JP" sz="900" dirty="0">
                          <a:solidFill>
                            <a:schemeClr val="tx1"/>
                          </a:solidFill>
                        </a:rPr>
                        <a:t>ID</a:t>
                      </a:r>
                      <a:r>
                        <a:rPr lang="ja-JP" altLang="en-US" sz="900" dirty="0">
                          <a:solidFill>
                            <a:schemeClr val="tx1"/>
                          </a:solidFill>
                        </a:rPr>
                        <a:t>、ファイル名情報、</a:t>
                      </a:r>
                      <a:r>
                        <a:rPr lang="en-US" altLang="ja-JP" sz="900" dirty="0" err="1">
                          <a:solidFill>
                            <a:schemeClr val="tx1"/>
                          </a:solidFill>
                        </a:rPr>
                        <a:t>Url</a:t>
                      </a:r>
                      <a:r>
                        <a:rPr lang="ja-JP" altLang="en-US" sz="900" dirty="0">
                          <a:solidFill>
                            <a:schemeClr val="tx1"/>
                          </a:solidFill>
                        </a:rPr>
                        <a:t>情報を保存、管理で実現ができる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05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Microsoft Search</a:t>
                      </a:r>
                      <a:r>
                        <a:rPr lang="ja-JP" altLang="en-US" sz="900" kern="1200" dirty="0">
                          <a:solidFill>
                            <a:schemeClr val="tx1"/>
                          </a:solidFill>
                          <a:latin typeface="+mn-lt"/>
                          <a:ea typeface="+mn-ea"/>
                          <a:cs typeface="+mn-cs"/>
                        </a:rPr>
                        <a:t>機能を利用</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で実現ができる</a:t>
                      </a:r>
                      <a:endParaRPr lang="en-US" altLang="ja-JP" sz="9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900" kern="1200" dirty="0">
                          <a:solidFill>
                            <a:schemeClr val="tx1"/>
                          </a:solidFill>
                          <a:latin typeface="+mn-lt"/>
                          <a:ea typeface="+mn-ea"/>
                          <a:cs typeface="+mn-cs"/>
                        </a:rPr>
                        <a:t>実装には、</a:t>
                      </a:r>
                      <a:r>
                        <a:rPr lang="en-US" altLang="ja-JP" sz="900" kern="1200" dirty="0">
                          <a:solidFill>
                            <a:schemeClr val="tx1"/>
                          </a:solidFill>
                          <a:latin typeface="+mn-lt"/>
                          <a:ea typeface="+mn-ea"/>
                          <a:cs typeface="+mn-cs"/>
                        </a:rPr>
                        <a:t>Microsoft</a:t>
                      </a:r>
                      <a:r>
                        <a:rPr lang="ja-JP" altLang="en-US" sz="900" kern="1200" dirty="0">
                          <a:solidFill>
                            <a:schemeClr val="tx1"/>
                          </a:solidFill>
                          <a:latin typeface="+mn-lt"/>
                          <a:ea typeface="+mn-ea"/>
                          <a:cs typeface="+mn-cs"/>
                        </a:rPr>
                        <a:t> </a:t>
                      </a:r>
                      <a:r>
                        <a:rPr lang="en-US" altLang="ja-JP" sz="900" kern="1200" dirty="0" err="1">
                          <a:solidFill>
                            <a:schemeClr val="tx1"/>
                          </a:solidFill>
                          <a:latin typeface="+mn-lt"/>
                          <a:ea typeface="+mn-ea"/>
                          <a:cs typeface="+mn-cs"/>
                        </a:rPr>
                        <a:t>GraphAPI</a:t>
                      </a:r>
                      <a:r>
                        <a:rPr lang="ja-JP" altLang="en-US" sz="900" kern="1200" dirty="0">
                          <a:solidFill>
                            <a:schemeClr val="tx1"/>
                          </a:solidFill>
                          <a:latin typeface="+mn-lt"/>
                          <a:ea typeface="+mn-ea"/>
                          <a:cs typeface="+mn-cs"/>
                        </a:rPr>
                        <a:t>を利用</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00" kern="1200" dirty="0">
                          <a:solidFill>
                            <a:schemeClr val="tx1"/>
                          </a:solidFill>
                          <a:latin typeface="+mn-lt"/>
                          <a:ea typeface="+mn-ea"/>
                          <a:cs typeface="+mn-cs"/>
                        </a:rPr>
                        <a:t>添付ファイルの履歴管理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の履歴管理機能を利用（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で実現ができる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89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添付ファイルの権限管理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の権限管理仕組みを利用（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で実現ができる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22909428"/>
                  </a:ext>
                </a:extLst>
              </a:tr>
              <a:tr h="184794">
                <a:tc>
                  <a:txBody>
                    <a:bodyPr/>
                    <a:lstStyle/>
                    <a:p>
                      <a:r>
                        <a:rPr lang="ja-JP" altLang="en-US" sz="1000" kern="1200" dirty="0">
                          <a:solidFill>
                            <a:schemeClr val="tx1"/>
                          </a:solidFill>
                          <a:latin typeface="+mn-lt"/>
                          <a:ea typeface="+mn-ea"/>
                          <a:cs typeface="+mn-cs"/>
                        </a:rPr>
                        <a:t>サポートファイルタイプ（</a:t>
                      </a:r>
                      <a:r>
                        <a:rPr lang="en-US" altLang="ja-JP" sz="1000" kern="1200" dirty="0">
                          <a:solidFill>
                            <a:schemeClr val="tx1"/>
                          </a:solidFill>
                          <a:latin typeface="+mn-lt"/>
                          <a:ea typeface="+mn-ea"/>
                          <a:cs typeface="+mn-cs"/>
                        </a:rPr>
                        <a:t>Office</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Word, Excel, PowerPoint</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PDF</a:t>
                      </a:r>
                      <a:r>
                        <a:rPr lang="ja-JP" altLang="en-US" sz="100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の機能で対応で</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きる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00" kern="1200" dirty="0">
                          <a:solidFill>
                            <a:schemeClr val="tx1"/>
                          </a:solidFill>
                          <a:latin typeface="+mn-lt"/>
                          <a:ea typeface="+mn-ea"/>
                          <a:cs typeface="+mn-cs"/>
                        </a:rPr>
                        <a:t>ファイルサイズ</a:t>
                      </a:r>
                      <a:r>
                        <a:rPr lang="en-US" altLang="ja-JP" sz="1000" kern="1200" dirty="0">
                          <a:solidFill>
                            <a:schemeClr val="tx1"/>
                          </a:solidFill>
                          <a:latin typeface="+mn-lt"/>
                          <a:ea typeface="+mn-ea"/>
                          <a:cs typeface="+mn-cs"/>
                        </a:rPr>
                        <a:t>: 50MB/</a:t>
                      </a:r>
                      <a:r>
                        <a:rPr lang="ja-JP" altLang="en-US" sz="100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PowerApps</a:t>
                      </a:r>
                      <a:r>
                        <a:rPr lang="ja-JP" altLang="en-US" sz="900" kern="1200" dirty="0">
                          <a:solidFill>
                            <a:schemeClr val="tx1"/>
                          </a:solidFill>
                          <a:latin typeface="+mn-lt"/>
                          <a:ea typeface="+mn-ea"/>
                          <a:cs typeface="+mn-cs"/>
                        </a:rPr>
                        <a:t>の内蔵</a:t>
                      </a:r>
                      <a:r>
                        <a:rPr lang="en-US" altLang="ja-JP" sz="900" kern="1200" dirty="0">
                          <a:solidFill>
                            <a:schemeClr val="tx1"/>
                          </a:solidFill>
                          <a:latin typeface="+mn-lt"/>
                          <a:ea typeface="+mn-ea"/>
                          <a:cs typeface="+mn-cs"/>
                        </a:rPr>
                        <a:t>File Download/Upload</a:t>
                      </a:r>
                      <a:r>
                        <a:rPr lang="ja-JP" altLang="en-US" sz="900" kern="1200" dirty="0">
                          <a:solidFill>
                            <a:schemeClr val="tx1"/>
                          </a:solidFill>
                          <a:latin typeface="+mn-lt"/>
                          <a:ea typeface="+mn-ea"/>
                          <a:cs typeface="+mn-cs"/>
                        </a:rPr>
                        <a:t>コントロールで対応（</a:t>
                      </a: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可能ファイルのサイズはカスタマイズ可能）</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ja-JP" altLang="en-US"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0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構造を多階層にし、一つの</a:t>
                      </a: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にファイルを</a:t>
                      </a:r>
                      <a:r>
                        <a:rPr lang="en-US" altLang="ja-JP" sz="900" dirty="0">
                          <a:solidFill>
                            <a:schemeClr val="tx1"/>
                          </a:solidFill>
                          <a:latin typeface="Yu Gothic UI" panose="020B0500000000000000" pitchFamily="50" charset="-128"/>
                          <a:ea typeface="Yu Gothic UI" panose="020B0500000000000000" pitchFamily="50" charset="-128"/>
                        </a:rPr>
                        <a:t>1000</a:t>
                      </a:r>
                      <a:r>
                        <a:rPr lang="ja-JP" altLang="en-US" sz="900" dirty="0">
                          <a:solidFill>
                            <a:schemeClr val="tx1"/>
                          </a:solidFill>
                          <a:latin typeface="Yu Gothic UI" panose="020B0500000000000000" pitchFamily="50" charset="-128"/>
                          <a:ea typeface="Yu Gothic UI" panose="020B0500000000000000" pitchFamily="50" charset="-128"/>
                        </a:rPr>
                        <a:t>以内に抑えることでパフォーマンスを確保</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en-US" altLang="ja-JP" sz="9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Download/</a:t>
                      </a:r>
                      <a:r>
                        <a:rPr lang="ja-JP" altLang="en-US" sz="100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900" kern="1200" dirty="0">
                          <a:solidFill>
                            <a:schemeClr val="tx1"/>
                          </a:solidFill>
                          <a:latin typeface="+mn-lt"/>
                          <a:ea typeface="+mn-ea"/>
                          <a:cs typeface="+mn-cs"/>
                        </a:rPr>
                        <a:t>データベーステーブルから</a:t>
                      </a:r>
                      <a:r>
                        <a:rPr lang="zh-CN" altLang="zh-CN" sz="900" kern="1200" dirty="0">
                          <a:solidFill>
                            <a:schemeClr val="tx1"/>
                          </a:solidFill>
                          <a:latin typeface="+mn-lt"/>
                          <a:ea typeface="+mn-ea"/>
                          <a:cs typeface="+mn-cs"/>
                        </a:rPr>
                        <a:t>選択</a:t>
                      </a:r>
                      <a:r>
                        <a:rPr lang="ja-JP" altLang="en-US" sz="900" kern="1200" dirty="0">
                          <a:solidFill>
                            <a:schemeClr val="tx1"/>
                          </a:solidFill>
                          <a:latin typeface="+mn-lt"/>
                          <a:ea typeface="+mn-ea"/>
                          <a:cs typeface="+mn-cs"/>
                        </a:rPr>
                        <a:t>対象の添付</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URLを取得</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Power Apps</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Launch</a:t>
                      </a:r>
                      <a:r>
                        <a:rPr lang="ja-JP" altLang="en-US" sz="900" kern="1200" dirty="0">
                          <a:solidFill>
                            <a:schemeClr val="tx1"/>
                          </a:solidFill>
                          <a:latin typeface="+mn-lt"/>
                          <a:ea typeface="+mn-ea"/>
                          <a:cs typeface="+mn-cs"/>
                        </a:rPr>
                        <a:t>機能を利用して実現</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r>
                        <a:rPr lang="zh-CN" altLang="zh-CN" sz="900" kern="1200" dirty="0">
                          <a:solidFill>
                            <a:schemeClr val="tx1"/>
                          </a:solidFill>
                          <a:latin typeface="+mn-lt"/>
                          <a:ea typeface="+mn-ea"/>
                          <a:cs typeface="+mn-cs"/>
                        </a:rPr>
                        <a:t>Office Onlineで</a:t>
                      </a:r>
                      <a:r>
                        <a:rPr lang="ja-JP" altLang="en-US" sz="900" kern="1200" dirty="0">
                          <a:solidFill>
                            <a:schemeClr val="tx1"/>
                          </a:solidFill>
                          <a:latin typeface="+mn-lt"/>
                          <a:ea typeface="+mn-ea"/>
                          <a:cs typeface="+mn-cs"/>
                        </a:rPr>
                        <a:t>直接</a:t>
                      </a:r>
                      <a:r>
                        <a:rPr lang="zh-CN" altLang="zh-CN" sz="900" kern="1200" dirty="0">
                          <a:solidFill>
                            <a:schemeClr val="tx1"/>
                          </a:solidFill>
                          <a:latin typeface="+mn-lt"/>
                          <a:ea typeface="+mn-ea"/>
                          <a:cs typeface="+mn-cs"/>
                        </a:rPr>
                        <a:t>開く（例: </a:t>
                      </a:r>
                      <a:r>
                        <a:rPr lang="zh-CN" altLang="zh-CN" sz="9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900" kern="1200" dirty="0">
                          <a:solidFill>
                            <a:schemeClr val="tx1"/>
                          </a:solidFill>
                          <a:latin typeface="+mn-lt"/>
                          <a:ea typeface="+mn-ea"/>
                          <a:cs typeface="+mn-cs"/>
                        </a:rPr>
                        <a:t>]）</a:t>
                      </a:r>
                      <a:r>
                        <a:rPr lang="en-US" altLang="ja-JP" sz="900" kern="1200" dirty="0" err="1">
                          <a:solidFill>
                            <a:schemeClr val="tx1"/>
                          </a:solidFill>
                          <a:latin typeface="+mn-lt"/>
                          <a:ea typeface="+mn-ea"/>
                          <a:cs typeface="+mn-cs"/>
                        </a:rPr>
                        <a:t>ReadOnly</a:t>
                      </a:r>
                      <a:r>
                        <a:rPr lang="en-US" altLang="ja-JP" sz="900" kern="1200" dirty="0">
                          <a:solidFill>
                            <a:schemeClr val="tx1"/>
                          </a:solidFill>
                          <a:latin typeface="+mn-lt"/>
                          <a:ea typeface="+mn-ea"/>
                          <a:cs typeface="+mn-cs"/>
                        </a:rPr>
                        <a:t>/</a:t>
                      </a:r>
                      <a:r>
                        <a:rPr lang="ja-JP" altLang="en-US" sz="900" kern="1200" dirty="0">
                          <a:solidFill>
                            <a:schemeClr val="tx1"/>
                          </a:solidFill>
                          <a:latin typeface="+mn-lt"/>
                          <a:ea typeface="+mn-ea"/>
                          <a:cs typeface="+mn-cs"/>
                        </a:rPr>
                        <a:t>編集モードは仕様に従って定義</a:t>
                      </a:r>
                      <a:endParaRPr lang="en-US" altLang="zh-CN"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Upload</a:t>
                      </a:r>
                      <a:endParaRPr lang="ja-JP" altLang="en-US" sz="10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される</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のソリューションで定義した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kern="1200" dirty="0">
                          <a:solidFill>
                            <a:schemeClr val="tx1"/>
                          </a:solidFill>
                          <a:latin typeface="+mn-lt"/>
                          <a:ea typeface="+mn-ea"/>
                          <a:cs typeface="+mn-cs"/>
                        </a:rPr>
                        <a:t>を算出</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900" dirty="0">
                          <a:solidFill>
                            <a:schemeClr val="tx1"/>
                          </a:solidFill>
                        </a:rPr>
                        <a:t>ファイルを算出した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dirty="0">
                          <a:solidFill>
                            <a:schemeClr val="tx1"/>
                          </a:solidFill>
                        </a:rPr>
                        <a:t>に</a:t>
                      </a:r>
                      <a:r>
                        <a:rPr lang="en-US" altLang="ja-JP" sz="900" dirty="0">
                          <a:solidFill>
                            <a:schemeClr val="tx1"/>
                          </a:solidFill>
                        </a:rPr>
                        <a:t>Upload</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en-US" altLang="ja-JP" sz="900" dirty="0">
                        <a:solidFill>
                          <a:schemeClr val="tx1"/>
                        </a:solidFill>
                      </a:endParaRP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ファイルの権限を設定（共有相手個人、組織のみに与える）</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en-US" altLang="ja-JP" sz="900" dirty="0">
                        <a:solidFill>
                          <a:schemeClr val="tx1"/>
                        </a:solidFill>
                      </a:endParaRP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仕様書</a:t>
                      </a:r>
                      <a:r>
                        <a:rPr lang="en-US" altLang="ja-JP" sz="900" dirty="0">
                          <a:solidFill>
                            <a:schemeClr val="tx1"/>
                          </a:solidFill>
                        </a:rPr>
                        <a:t>Table</a:t>
                      </a:r>
                      <a:r>
                        <a:rPr lang="ja-JP" altLang="en-US" sz="900" dirty="0">
                          <a:solidFill>
                            <a:schemeClr val="tx1"/>
                          </a:solidFill>
                        </a:rPr>
                        <a:t>に添付ファイル情報を登録することで権限管理できる</a:t>
                      </a:r>
                      <a:endParaRPr lang="en-US" altLang="ja-JP" sz="900" dirty="0">
                        <a:solidFill>
                          <a:schemeClr val="tx1"/>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66F8C394-8B67-198B-AD67-9AE5BA7B7BA5}"/>
              </a:ext>
            </a:extLst>
          </p:cNvPr>
          <p:cNvPicPr>
            <a:picLocks noChangeAspect="1"/>
          </p:cNvPicPr>
          <p:nvPr/>
        </p:nvPicPr>
        <p:blipFill>
          <a:blip r:embed="rId4"/>
          <a:stretch>
            <a:fillRect/>
          </a:stretch>
        </p:blipFill>
        <p:spPr>
          <a:xfrm>
            <a:off x="5030003" y="3306279"/>
            <a:ext cx="6573926" cy="3149392"/>
          </a:xfrm>
          <a:prstGeom prst="rect">
            <a:avLst/>
          </a:prstGeom>
        </p:spPr>
      </p:pic>
      <p:pic>
        <p:nvPicPr>
          <p:cNvPr id="8" name="図 7">
            <a:extLst>
              <a:ext uri="{FF2B5EF4-FFF2-40B4-BE49-F238E27FC236}">
                <a16:creationId xmlns:a16="http://schemas.microsoft.com/office/drawing/2014/main" id="{9579E1CA-8004-710B-ABF4-3CF24476591C}"/>
              </a:ext>
            </a:extLst>
          </p:cNvPr>
          <p:cNvPicPr>
            <a:picLocks noChangeAspect="1"/>
          </p:cNvPicPr>
          <p:nvPr/>
        </p:nvPicPr>
        <p:blipFill>
          <a:blip r:embed="rId5"/>
          <a:stretch>
            <a:fillRect/>
          </a:stretch>
        </p:blipFill>
        <p:spPr>
          <a:xfrm>
            <a:off x="1974080" y="5187218"/>
            <a:ext cx="2348563" cy="839009"/>
          </a:xfrm>
          <a:prstGeom prst="rect">
            <a:avLst/>
          </a:prstGeom>
        </p:spPr>
      </p:pic>
      <p:sp>
        <p:nvSpPr>
          <p:cNvPr id="10" name="矢印: 上カーブ 9">
            <a:extLst>
              <a:ext uri="{FF2B5EF4-FFF2-40B4-BE49-F238E27FC236}">
                <a16:creationId xmlns:a16="http://schemas.microsoft.com/office/drawing/2014/main" id="{EFD53EB5-2DF5-3837-D664-047A23D6F5BB}"/>
              </a:ext>
            </a:extLst>
          </p:cNvPr>
          <p:cNvSpPr/>
          <p:nvPr/>
        </p:nvSpPr>
        <p:spPr>
          <a:xfrm rot="2998930">
            <a:off x="1061115" y="5107853"/>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2396854E-3FA1-0DE9-3B7A-3C45CCDF352D}"/>
              </a:ext>
            </a:extLst>
          </p:cNvPr>
          <p:cNvSpPr txBox="1"/>
          <p:nvPr/>
        </p:nvSpPr>
        <p:spPr>
          <a:xfrm>
            <a:off x="451684" y="5383103"/>
            <a:ext cx="1259980" cy="230832"/>
          </a:xfrm>
          <a:prstGeom prst="rect">
            <a:avLst/>
          </a:prstGeom>
          <a:noFill/>
        </p:spPr>
        <p:txBody>
          <a:bodyPr wrap="square">
            <a:spAutoFit/>
          </a:bodyPr>
          <a:lstStyle/>
          <a:p>
            <a:r>
              <a:rPr lang="ja-JP" altLang="en-US" sz="900" dirty="0"/>
              <a:t>ファイル</a:t>
            </a:r>
            <a:r>
              <a:rPr lang="en-US" altLang="ja-JP" sz="900" dirty="0"/>
              <a:t>ID</a:t>
            </a:r>
            <a:r>
              <a:rPr lang="ja-JP" altLang="en-US" sz="900" dirty="0"/>
              <a:t>で</a:t>
            </a:r>
            <a:r>
              <a:rPr lang="en-US" altLang="ja-JP" sz="900" dirty="0"/>
              <a:t>Link</a:t>
            </a:r>
            <a:endParaRPr lang="ja-JP" altLang="en-US" sz="900" dirty="0"/>
          </a:p>
        </p:txBody>
      </p:sp>
      <p:pic>
        <p:nvPicPr>
          <p:cNvPr id="5" name="図 4">
            <a:extLst>
              <a:ext uri="{FF2B5EF4-FFF2-40B4-BE49-F238E27FC236}">
                <a16:creationId xmlns:a16="http://schemas.microsoft.com/office/drawing/2014/main" id="{1C68BE6A-E4C9-E9C5-C905-F4CCD77F529E}"/>
              </a:ext>
            </a:extLst>
          </p:cNvPr>
          <p:cNvPicPr>
            <a:picLocks noChangeAspect="1"/>
          </p:cNvPicPr>
          <p:nvPr/>
        </p:nvPicPr>
        <p:blipFill>
          <a:blip r:embed="rId6"/>
          <a:stretch>
            <a:fillRect/>
          </a:stretch>
        </p:blipFill>
        <p:spPr>
          <a:xfrm>
            <a:off x="472067" y="3464970"/>
            <a:ext cx="2634712" cy="143601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2109603982"/>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ログインユーザは</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のアクセス可否はコントロール可能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既定機能（申請すれば使える）で実現できる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仕様書単位に、仕様書アクセス権限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を設計、開示範囲（＝参照権限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権限の定義可能の画面を提供することで</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で実現できる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権限の定義ができる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添付ファイルの</a:t>
                      </a:r>
                      <a:r>
                        <a:rPr kumimoji="0" lang="ja-JP" altLang="en-US" sz="900" kern="1200" dirty="0">
                          <a:solidFill>
                            <a:schemeClr val="tx1"/>
                          </a:solidFill>
                          <a:latin typeface="Arial" panose="020B0604020202020204" pitchFamily="34" charset="0"/>
                          <a:ea typeface="+mn-ea"/>
                          <a:cs typeface="+mn-cs"/>
                        </a:rPr>
                        <a:t>アクセス権限は、</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仕様書の</a:t>
                      </a:r>
                      <a:r>
                        <a:rPr kumimoji="0" lang="ja-JP" altLang="en-US" sz="900" kern="1200" dirty="0">
                          <a:solidFill>
                            <a:schemeClr val="tx1"/>
                          </a:solidFill>
                          <a:latin typeface="Arial" panose="020B0604020202020204" pitchFamily="34" charset="0"/>
                          <a:ea typeface="+mn-ea"/>
                          <a:cs typeface="+mn-cs"/>
                        </a:rPr>
                        <a:t>新規作成</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編集機能と連携することで権限管理ができる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solidFill>
                            <a:schemeClr val="tx1"/>
                          </a:solidFill>
                          <a:latin typeface="Arial" panose="020B0604020202020204" pitchFamily="34" charset="0"/>
                        </a:rPr>
                        <a:t>Azure SQL Table</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することによってアクセスコントロールできる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solidFill>
                            <a:schemeClr val="tx1"/>
                          </a:solidFill>
                          <a:latin typeface="Arial" panose="020B0604020202020204" pitchFamily="34" charset="0"/>
                        </a:rPr>
                        <a:t>一覧系（検索結果）は、</a:t>
                      </a:r>
                      <a:r>
                        <a:rPr kumimoji="0" lang="en-US" altLang="ja-JP" sz="900" dirty="0" err="1">
                          <a:solidFill>
                            <a:schemeClr val="tx1"/>
                          </a:solidFill>
                          <a:latin typeface="Arial" panose="020B0604020202020204" pitchFamily="34" charset="0"/>
                        </a:rPr>
                        <a:t>Sql</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条件でアクセス可能の文書のみで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solidFill>
                            <a:schemeClr val="tx1"/>
                          </a:solidFill>
                          <a:latin typeface="Arial" panose="020B0604020202020204" pitchFamily="34" charset="0"/>
                        </a:rPr>
                        <a:t>仕様書の詳細画面直接開く場合、カレントログインユーザのアクセス可否を再度判断する（直接</a:t>
                      </a:r>
                      <a:r>
                        <a:rPr kumimoji="0" lang="en-US" altLang="ja-JP" sz="900" dirty="0" err="1">
                          <a:solidFill>
                            <a:schemeClr val="tx1"/>
                          </a:solidFill>
                          <a:latin typeface="Arial" panose="020B0604020202020204" pitchFamily="34" charset="0"/>
                        </a:rPr>
                        <a:t>Url</a:t>
                      </a:r>
                      <a:r>
                        <a:rPr kumimoji="0" lang="ja-JP" altLang="en-US" sz="900" dirty="0">
                          <a:solidFill>
                            <a:schemeClr val="tx1"/>
                          </a:solidFill>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ファイルの権限設定）は紐付く仕様書の権限に従う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に保存されている添付ファイルのアクセス権限（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する時に対象添付ファイルに対して仕様書に定義したアクセス権限を設定することで制約できます。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rgbClr val="FF0000"/>
                          </a:solidFill>
                          <a:latin typeface="Arial" panose="020B0604020202020204" pitchFamily="34" charset="0"/>
                          <a:ea typeface="+mn-ea"/>
                          <a:cs typeface="+mn-cs"/>
                        </a:rPr>
                        <a:t>Upload</a:t>
                      </a:r>
                      <a:r>
                        <a:rPr kumimoji="0" lang="ja-JP" altLang="en-US" sz="900" kern="1200" dirty="0">
                          <a:solidFill>
                            <a:srgbClr val="FF0000"/>
                          </a:solidFill>
                          <a:latin typeface="Arial" panose="020B0604020202020204" pitchFamily="34" charset="0"/>
                          <a:ea typeface="+mn-ea"/>
                          <a:cs typeface="+mn-cs"/>
                        </a:rPr>
                        <a:t>ファイルに該当する権限を付与する</a:t>
                      </a:r>
                      <a:r>
                        <a:rPr kumimoji="0" lang="ja-JP" altLang="en-US" sz="900" kern="1200" dirty="0">
                          <a:solidFill>
                            <a:schemeClr val="tx1"/>
                          </a:solidFill>
                          <a:latin typeface="Arial" panose="020B0604020202020204" pitchFamily="34" charset="0"/>
                          <a:ea typeface="+mn-ea"/>
                          <a:cs typeface="+mn-cs"/>
                        </a:rPr>
                        <a:t>（ファイル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も編集⇒閲覧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権限</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で管理される権限</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405579" y="2591925"/>
            <a:ext cx="4814316" cy="2459878"/>
          </a:xfrm>
          <a:prstGeom prst="rect">
            <a:avLst/>
          </a:prstGeom>
        </p:spPr>
      </p:pic>
      <p:pic>
        <p:nvPicPr>
          <p:cNvPr id="1026" name="Picture 2" descr="Share SharePoint files or folders - Microsoft Support">
            <a:extLst>
              <a:ext uri="{FF2B5EF4-FFF2-40B4-BE49-F238E27FC236}">
                <a16:creationId xmlns:a16="http://schemas.microsoft.com/office/drawing/2014/main" id="{F06D48CA-BC62-02F8-29DC-D269FD6F3A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8494" y="4417533"/>
            <a:ext cx="1630880" cy="1205977"/>
          </a:xfrm>
          <a:prstGeom prst="rect">
            <a:avLst/>
          </a:prstGeom>
          <a:noFill/>
          <a:extLst>
            <a:ext uri="{909E8E84-426E-40DD-AFC4-6F175D3DCCD1}">
              <a14:hiddenFill xmlns:a14="http://schemas.microsoft.com/office/drawing/2010/main">
                <a:solidFill>
                  <a:srgbClr val="FFFFFF"/>
                </a:solidFill>
              </a14:hiddenFill>
            </a:ext>
          </a:extLst>
        </p:spPr>
      </p:pic>
      <p:sp>
        <p:nvSpPr>
          <p:cNvPr id="18" name="矢印: 下 17">
            <a:extLst>
              <a:ext uri="{FF2B5EF4-FFF2-40B4-BE49-F238E27FC236}">
                <a16:creationId xmlns:a16="http://schemas.microsoft.com/office/drawing/2014/main" id="{949B0A6D-60BC-E983-E991-6B0AC3B687FE}"/>
              </a:ext>
            </a:extLst>
          </p:cNvPr>
          <p:cNvSpPr/>
          <p:nvPr/>
        </p:nvSpPr>
        <p:spPr>
          <a:xfrm>
            <a:off x="1667540" y="3669732"/>
            <a:ext cx="181695" cy="1205977"/>
          </a:xfrm>
          <a:prstGeom prst="down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985B5FA5-1D14-A2BC-C281-E5CC22E4ED5D}"/>
              </a:ext>
            </a:extLst>
          </p:cNvPr>
          <p:cNvSpPr txBox="1"/>
          <p:nvPr/>
        </p:nvSpPr>
        <p:spPr>
          <a:xfrm>
            <a:off x="1758387" y="3923308"/>
            <a:ext cx="2616295" cy="553998"/>
          </a:xfrm>
          <a:prstGeom prst="rect">
            <a:avLst/>
          </a:prstGeom>
          <a:noFill/>
        </p:spPr>
        <p:txBody>
          <a:bodyPr wrap="square">
            <a:spAutoFit/>
          </a:bodyPr>
          <a:lstStyle/>
          <a:p>
            <a:r>
              <a:rPr kumimoji="0" lang="ja-JP" altLang="en-US" sz="900" dirty="0">
                <a:solidFill>
                  <a:srgbClr val="FF0000"/>
                </a:solidFill>
                <a:latin typeface="Arial" panose="020B0604020202020204" pitchFamily="34" charset="0"/>
              </a:rPr>
              <a:t>添付ファイルのアクセス権限は</a:t>
            </a:r>
            <a:endParaRPr kumimoji="0" lang="en-US" altLang="ja-JP" sz="900" dirty="0">
              <a:solidFill>
                <a:srgbClr val="FF0000"/>
              </a:solidFill>
              <a:latin typeface="Arial" panose="020B0604020202020204" pitchFamily="34" charset="0"/>
            </a:endParaRPr>
          </a:p>
          <a:p>
            <a:r>
              <a:rPr kumimoji="0" lang="ja-JP" altLang="en-US" sz="900" dirty="0">
                <a:solidFill>
                  <a:srgbClr val="FF0000"/>
                </a:solidFill>
                <a:latin typeface="Arial" panose="020B0604020202020204" pitchFamily="34" charset="0"/>
              </a:rPr>
              <a:t>紐付く仕様書のアクセス権限に従う</a:t>
            </a:r>
            <a:endParaRPr kumimoji="0" lang="en-US" altLang="ja-JP" sz="900" dirty="0">
              <a:solidFill>
                <a:srgbClr val="FF0000"/>
              </a:solidFill>
              <a:latin typeface="Arial" panose="020B0604020202020204" pitchFamily="34" charset="0"/>
            </a:endParaRPr>
          </a:p>
          <a:p>
            <a:r>
              <a:rPr kumimoji="0" lang="en-US" altLang="ja-JP" sz="600" dirty="0">
                <a:solidFill>
                  <a:srgbClr val="FF0000"/>
                </a:solidFill>
                <a:latin typeface="Arial" panose="020B0604020202020204" pitchFamily="34" charset="0"/>
              </a:rPr>
              <a:t>※ SPO </a:t>
            </a:r>
            <a:r>
              <a:rPr kumimoji="0" lang="ja-JP" altLang="en-US" sz="600" dirty="0">
                <a:solidFill>
                  <a:srgbClr val="FF0000"/>
                </a:solidFill>
                <a:latin typeface="Arial" panose="020B0604020202020204" pitchFamily="34" charset="0"/>
              </a:rPr>
              <a:t>には</a:t>
            </a:r>
            <a:r>
              <a:rPr kumimoji="0" lang="en-US" altLang="ja-JP" sz="600" dirty="0">
                <a:solidFill>
                  <a:srgbClr val="FF0000"/>
                </a:solidFill>
                <a:latin typeface="Arial" panose="020B0604020202020204" pitchFamily="34" charset="0"/>
              </a:rPr>
              <a:t> DB</a:t>
            </a:r>
            <a:r>
              <a:rPr kumimoji="0" lang="ja-JP" altLang="en-US" sz="600" dirty="0">
                <a:solidFill>
                  <a:srgbClr val="FF0000"/>
                </a:solidFill>
                <a:latin typeface="Arial" panose="020B0604020202020204" pitchFamily="34" charset="0"/>
              </a:rPr>
              <a:t>に定義された権限グループにないため、権限グループ所属する</a:t>
            </a:r>
            <a:r>
              <a:rPr kumimoji="0" lang="ja-JP" altLang="en-US" sz="600" b="1" u="sng" dirty="0">
                <a:solidFill>
                  <a:srgbClr val="FF0000"/>
                </a:solidFill>
                <a:latin typeface="Arial" panose="020B0604020202020204" pitchFamily="34" charset="0"/>
              </a:rPr>
              <a:t>すべてのユーザ</a:t>
            </a:r>
            <a:r>
              <a:rPr kumimoji="0" lang="ja-JP" altLang="en-US" sz="600" dirty="0">
                <a:solidFill>
                  <a:srgbClr val="FF0000"/>
                </a:solidFill>
                <a:latin typeface="Arial" panose="020B0604020202020204" pitchFamily="34" charset="0"/>
              </a:rPr>
              <a:t>に対して個別権限を付与する</a:t>
            </a:r>
          </a:p>
        </p:txBody>
      </p:sp>
      <p:pic>
        <p:nvPicPr>
          <p:cNvPr id="5" name="図 4">
            <a:extLst>
              <a:ext uri="{FF2B5EF4-FFF2-40B4-BE49-F238E27FC236}">
                <a16:creationId xmlns:a16="http://schemas.microsoft.com/office/drawing/2014/main" id="{0BFE3A5F-4E33-B81C-E1B2-0CD0F7459078}"/>
              </a:ext>
            </a:extLst>
          </p:cNvPr>
          <p:cNvPicPr>
            <a:picLocks noChangeAspect="1"/>
          </p:cNvPicPr>
          <p:nvPr/>
        </p:nvPicPr>
        <p:blipFill>
          <a:blip r:embed="rId5"/>
          <a:stretch>
            <a:fillRect/>
          </a:stretch>
        </p:blipFill>
        <p:spPr>
          <a:xfrm>
            <a:off x="412951" y="2525826"/>
            <a:ext cx="2383990" cy="1299361"/>
          </a:xfrm>
          <a:prstGeom prst="rect">
            <a:avLst/>
          </a:prstGeom>
        </p:spPr>
      </p:pic>
    </p:spTree>
    <p:extLst>
      <p:ext uri="{BB962C8B-B14F-4D97-AF65-F5344CB8AC3E}">
        <p14:creationId xmlns:p14="http://schemas.microsoft.com/office/powerpoint/2010/main" val="765173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449688345"/>
              </p:ext>
            </p:extLst>
          </p:nvPr>
        </p:nvGraphicFramePr>
        <p:xfrm>
          <a:off x="453572" y="867273"/>
          <a:ext cx="11284856" cy="543126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仕様書の定型データの検索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gridSpan="2">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solidFill>
                            <a:schemeClr val="tx1"/>
                          </a:solidFill>
                          <a:latin typeface="Arial" panose="020B0604020202020204" pitchFamily="34" charset="0"/>
                        </a:rPr>
                        <a:t>する</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ことによってアクセスコントロールできる</a:t>
                      </a:r>
                      <a:endParaRPr kumimoji="0" lang="ja-JP" altLang="en-US" sz="900" dirty="0">
                        <a:solidFill>
                          <a:schemeClr val="tx1"/>
                        </a:solidFill>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仕様書の定型データの権限制限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vMerge="1">
                  <a:txBody>
                    <a:bodyPr/>
                    <a:lstStyle/>
                    <a:p>
                      <a:endParaRPr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仕様書の添付ファイルの内容から検索キーワードを含むファイルを検索し、該当添付ファイルの所有仕様書レコードを画面に表示する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」機能を利用で実現できる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機能を利用で実現できる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アクセス権限ありの仕様書（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）の添付ファイルのみはログインユーザの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画面に表示し、承認状態により、編集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閲覧のみが可能とする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の権限チェック仕組みを利用で実現できる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a:t>
                      </a:r>
                      <a:r>
                        <a:rPr kumimoji="0" lang="en-US" altLang="ja-JP" sz="900" b="1" kern="1200" dirty="0">
                          <a:solidFill>
                            <a:srgbClr val="C00000"/>
                          </a:solidFill>
                          <a:latin typeface="Arial" panose="020B0604020202020204" pitchFamily="34" charset="0"/>
                          <a:ea typeface="+mn-ea"/>
                          <a:cs typeface="+mn-cs"/>
                        </a:rPr>
                        <a:t>SPO</a:t>
                      </a:r>
                      <a:r>
                        <a:rPr kumimoji="0" lang="ja-JP" altLang="en-US" sz="900" b="1" kern="1200" dirty="0">
                          <a:solidFill>
                            <a:srgbClr val="C00000"/>
                          </a:solidFill>
                          <a:latin typeface="Arial" panose="020B0604020202020204" pitchFamily="34" charset="0"/>
                          <a:ea typeface="+mn-ea"/>
                          <a:cs typeface="+mn-cs"/>
                        </a:rPr>
                        <a:t>の機能を利用</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時点でファイル毎に設定する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済のファイルに対して、関係添付ファイルを権限見直すことで対応</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7831" y="4241577"/>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2676872575"/>
              </p:ext>
            </p:extLst>
          </p:nvPr>
        </p:nvGraphicFramePr>
        <p:xfrm>
          <a:off x="2324608" y="5147529"/>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dirty="0"/>
                        <a:t>主な役割</a:t>
                      </a:r>
                    </a:p>
                  </a:txBody>
                  <a:tcPr marL="40112" marR="40112" marT="20056" marB="20056" anchor="ctr"/>
                </a:tc>
                <a:tc>
                  <a:txBody>
                    <a:bodyPr/>
                    <a:lstStyle/>
                    <a:p>
                      <a:r>
                        <a:rPr lang="ja-JP" altLang="en-US" sz="600" dirty="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dirty="0"/>
                        <a:t>Office 365 Outlook</a:t>
                      </a:r>
                      <a:endParaRPr lang="de-DE" sz="600" dirty="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dirty="0"/>
                        <a:t>Office 365 Groups</a:t>
                      </a:r>
                      <a:endParaRPr lang="de-DE" sz="600" dirty="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7544523" y="1982070"/>
            <a:ext cx="2187995" cy="598392"/>
          </a:xfrm>
          <a:prstGeom prst="rect">
            <a:avLst/>
          </a:prstGeom>
        </p:spPr>
      </p:pic>
      <p:pic>
        <p:nvPicPr>
          <p:cNvPr id="2050" name="Picture 2" descr="Microsoft Graph を使用してカスタム データを使用して Microsoft Search を拡張する - Microsoft Graph  | Microsoft Learn">
            <a:extLst>
              <a:ext uri="{FF2B5EF4-FFF2-40B4-BE49-F238E27FC236}">
                <a16:creationId xmlns:a16="http://schemas.microsoft.com/office/drawing/2014/main" id="{8D380253-D92F-F37C-C5E8-C19245CF6A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18852" y="1079123"/>
            <a:ext cx="1899739" cy="902947"/>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30B3DE47-6330-5419-3AAF-F17BDAA7F5F7}"/>
              </a:ext>
            </a:extLst>
          </p:cNvPr>
          <p:cNvSpPr txBox="1"/>
          <p:nvPr/>
        </p:nvSpPr>
        <p:spPr>
          <a:xfrm>
            <a:off x="8953220" y="2176835"/>
            <a:ext cx="759900" cy="230832"/>
          </a:xfrm>
          <a:prstGeom prst="rect">
            <a:avLst/>
          </a:prstGeom>
          <a:noFill/>
        </p:spPr>
        <p:txBody>
          <a:bodyPr wrap="square" rtlCol="0">
            <a:spAutoFit/>
          </a:bodyPr>
          <a:lstStyle/>
          <a:p>
            <a:r>
              <a:rPr kumimoji="1" lang="en-US" altLang="ja-JP" sz="900" dirty="0">
                <a:solidFill>
                  <a:srgbClr val="0070C0"/>
                </a:solidFill>
              </a:rPr>
              <a:t>Front end</a:t>
            </a:r>
            <a:endParaRPr kumimoji="1" lang="ja-JP" altLang="en-US" sz="900" dirty="0">
              <a:solidFill>
                <a:srgbClr val="0070C0"/>
              </a:solidFill>
            </a:endParaRPr>
          </a:p>
        </p:txBody>
      </p:sp>
      <p:sp>
        <p:nvSpPr>
          <p:cNvPr id="9" name="テキスト ボックス 8">
            <a:extLst>
              <a:ext uri="{FF2B5EF4-FFF2-40B4-BE49-F238E27FC236}">
                <a16:creationId xmlns:a16="http://schemas.microsoft.com/office/drawing/2014/main" id="{2D91E257-6E96-85A9-59E0-FFF85CF63D75}"/>
              </a:ext>
            </a:extLst>
          </p:cNvPr>
          <p:cNvSpPr txBox="1"/>
          <p:nvPr/>
        </p:nvSpPr>
        <p:spPr>
          <a:xfrm>
            <a:off x="10581440" y="1765078"/>
            <a:ext cx="759900" cy="230832"/>
          </a:xfrm>
          <a:prstGeom prst="rect">
            <a:avLst/>
          </a:prstGeom>
          <a:noFill/>
        </p:spPr>
        <p:txBody>
          <a:bodyPr wrap="square" rtlCol="0">
            <a:spAutoFit/>
          </a:bodyPr>
          <a:lstStyle/>
          <a:p>
            <a:r>
              <a:rPr kumimoji="1" lang="en-US" altLang="ja-JP" sz="900" dirty="0">
                <a:solidFill>
                  <a:srgbClr val="0070C0"/>
                </a:solidFill>
              </a:rPr>
              <a:t>Back End</a:t>
            </a:r>
            <a:endParaRPr kumimoji="1" lang="ja-JP" altLang="en-US" sz="900" dirty="0">
              <a:solidFill>
                <a:srgbClr val="0070C0"/>
              </a:solidFill>
            </a:endParaRPr>
          </a:p>
        </p:txBody>
      </p:sp>
      <p:sp>
        <p:nvSpPr>
          <p:cNvPr id="10" name="矢印: 上カーブ 9">
            <a:extLst>
              <a:ext uri="{FF2B5EF4-FFF2-40B4-BE49-F238E27FC236}">
                <a16:creationId xmlns:a16="http://schemas.microsoft.com/office/drawing/2014/main" id="{83EA7370-CCA8-6FED-C1B1-44C0CF79D4A0}"/>
              </a:ext>
            </a:extLst>
          </p:cNvPr>
          <p:cNvSpPr/>
          <p:nvPr/>
        </p:nvSpPr>
        <p:spPr>
          <a:xfrm rot="20002720">
            <a:off x="9776085" y="2075807"/>
            <a:ext cx="690888" cy="269369"/>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29259702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043424529"/>
              </p:ext>
            </p:extLst>
          </p:nvPr>
        </p:nvGraphicFramePr>
        <p:xfrm>
          <a:off x="414336" y="1068576"/>
          <a:ext cx="11363328" cy="5255221"/>
        </p:xfrm>
        <a:graphic>
          <a:graphicData uri="http://schemas.openxmlformats.org/drawingml/2006/table">
            <a:tbl>
              <a:tblPr firstRow="1">
                <a:tableStyleId>{2D5ABB26-0587-4C30-8999-92F81FD0307C}</a:tableStyleId>
              </a:tblPr>
              <a:tblGrid>
                <a:gridCol w="1987167">
                  <a:extLst>
                    <a:ext uri="{9D8B030D-6E8A-4147-A177-3AD203B41FA5}">
                      <a16:colId xmlns:a16="http://schemas.microsoft.com/office/drawing/2014/main" val="307087368"/>
                    </a:ext>
                  </a:extLst>
                </a:gridCol>
                <a:gridCol w="4600266">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6133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980315">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solidFill>
                            <a:schemeClr val="tx1"/>
                          </a:solidFill>
                        </a:rPr>
                        <a:t>で実現できる</a:t>
                      </a:r>
                      <a:endParaRPr lang="en-US" altLang="ja-JP" sz="1000" b="1"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Trigger: PowerApps</a:t>
                      </a:r>
                      <a:r>
                        <a:rPr kumimoji="0" lang="zh-CN" altLang="zh-CN" sz="900" dirty="0">
                          <a:latin typeface="Arial" panose="020B0604020202020204" pitchFamily="34" charset="0"/>
                        </a:rPr>
                        <a:t>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a:t>
                      </a:r>
                      <a:r>
                        <a:rPr kumimoji="0" lang="en-US" altLang="ja-JP" sz="900" dirty="0">
                          <a:latin typeface="Arial" panose="020B0604020202020204" pitchFamily="34" charset="0"/>
                        </a:rPr>
                        <a:t>ZIP</a:t>
                      </a:r>
                      <a:r>
                        <a:rPr kumimoji="0" lang="zh-CN" altLang="zh-CN" sz="900" dirty="0">
                          <a:latin typeface="Arial" panose="020B0604020202020204" pitchFamily="34" charset="0"/>
                        </a:rPr>
                        <a:t>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zh-CN" altLang="zh-CN" sz="900" dirty="0">
                          <a:latin typeface="Arial" panose="020B0604020202020204" pitchFamily="34" charset="0"/>
                        </a:rPr>
                        <a:t>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solidFill>
                            <a:schemeClr val="tx1"/>
                          </a:solidFill>
                        </a:rPr>
                        <a:t>PowerApps</a:t>
                      </a:r>
                      <a:r>
                        <a:rPr lang="ja-JP" altLang="en-US" sz="1000" b="1" dirty="0">
                          <a:solidFill>
                            <a:schemeClr val="tx1"/>
                          </a:solidFill>
                        </a:rPr>
                        <a:t> にて実現できる</a:t>
                      </a:r>
                      <a:r>
                        <a:rPr lang="ja-JP" altLang="en-US" sz="1000" dirty="0">
                          <a:solidFill>
                            <a:schemeClr val="tx1"/>
                          </a:solidFill>
                        </a:rPr>
                        <a:t>。詳細は下記：</a:t>
                      </a:r>
                      <a:endParaRPr lang="en-US" altLang="ja-JP" sz="1000"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solidFill>
                            <a:schemeClr val="tx1"/>
                          </a:solidFill>
                          <a:latin typeface="Yu Gothic UI" panose="020B0500000000000000" pitchFamily="50" charset="-128"/>
                          <a:ea typeface="Yu Gothic UI" panose="020B0500000000000000" pitchFamily="50" charset="-128"/>
                        </a:rPr>
                        <a:t>Web </a:t>
                      </a:r>
                      <a:r>
                        <a:rPr lang="ja-JP" altLang="en-US" sz="900" dirty="0">
                          <a:solidFill>
                            <a:schemeClr val="tx1"/>
                          </a:solidFill>
                          <a:latin typeface="Yu Gothic UI" panose="020B0500000000000000" pitchFamily="50" charset="-128"/>
                          <a:ea typeface="Yu Gothic UI" panose="020B0500000000000000" pitchFamily="50" charset="-128"/>
                        </a:rPr>
                        <a:t>ページを埋め込むの</a:t>
                      </a:r>
                      <a:r>
                        <a:rPr lang="en-US" altLang="ja-JP" sz="900" dirty="0">
                          <a:solidFill>
                            <a:schemeClr val="tx1"/>
                          </a:solidFill>
                          <a:latin typeface="Yu Gothic UI" panose="020B0500000000000000" pitchFamily="50" charset="-128"/>
                          <a:ea typeface="Yu Gothic UI" panose="020B0500000000000000" pitchFamily="50" charset="-128"/>
                        </a:rPr>
                        <a:t>HTML text </a:t>
                      </a:r>
                      <a:r>
                        <a:rPr lang="ja-JP" altLang="en-US" sz="900" dirty="0">
                          <a:solidFill>
                            <a:schemeClr val="tx1"/>
                          </a:solidFill>
                          <a:latin typeface="Yu Gothic UI" panose="020B0500000000000000" pitchFamily="50" charset="-128"/>
                          <a:ea typeface="Yu Gothic UI" panose="020B0500000000000000" pitchFamily="50" charset="-128"/>
                        </a:rPr>
                        <a:t>コントロール（または </a:t>
                      </a:r>
                      <a:r>
                        <a:rPr lang="en-US" altLang="ja-JP" sz="900" dirty="0">
                          <a:solidFill>
                            <a:schemeClr val="tx1"/>
                          </a:solidFill>
                          <a:latin typeface="Yu Gothic UI" panose="020B0500000000000000" pitchFamily="50" charset="-128"/>
                          <a:ea typeface="Yu Gothic UI" panose="020B0500000000000000" pitchFamily="50" charset="-128"/>
                        </a:rPr>
                        <a:t>WebView </a:t>
                      </a:r>
                      <a:r>
                        <a:rPr lang="ja-JP" altLang="en-US" sz="900" dirty="0">
                          <a:solidFill>
                            <a:schemeClr val="tx1"/>
                          </a:solidFill>
                          <a:latin typeface="Yu Gothic UI" panose="020B0500000000000000" pitchFamily="50" charset="-128"/>
                          <a:ea typeface="Yu Gothic UI" panose="020B0500000000000000" pitchFamily="50" charset="-128"/>
                        </a:rPr>
                        <a:t>コントロール）により</a:t>
                      </a:r>
                      <a:r>
                        <a:rPr lang="en-US" altLang="ja-JP" sz="900" dirty="0">
                          <a:solidFill>
                            <a:schemeClr val="tx1"/>
                          </a:solidFill>
                          <a:latin typeface="Yu Gothic UI" panose="020B0500000000000000" pitchFamily="50" charset="-128"/>
                          <a:ea typeface="Yu Gothic UI" panose="020B0500000000000000" pitchFamily="50" charset="-128"/>
                        </a:rPr>
                        <a:t>Java Script</a:t>
                      </a:r>
                      <a:r>
                        <a:rPr lang="ja-JP" altLang="en-US" sz="900" dirty="0">
                          <a:solidFill>
                            <a:schemeClr val="tx1"/>
                          </a:solidFill>
                          <a:latin typeface="Yu Gothic UI" panose="020B0500000000000000" pitchFamily="50" charset="-128"/>
                          <a:ea typeface="Yu Gothic UI" panose="020B0500000000000000" pitchFamily="50" charset="-128"/>
                        </a:rPr>
                        <a:t>を導入</a:t>
                      </a:r>
                      <a:endParaRPr lang="en-US" altLang="ja-JP" sz="900" dirty="0">
                        <a:solidFill>
                          <a:schemeClr val="tx1"/>
                        </a:solidFill>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solidFill>
                            <a:schemeClr val="tx1"/>
                          </a:solidFill>
                          <a:latin typeface="Arial" panose="020B0604020202020204" pitchFamily="34" charset="0"/>
                        </a:rPr>
                        <a:t>上記</a:t>
                      </a:r>
                      <a:r>
                        <a:rPr kumimoji="0" lang="en-US" altLang="ja-JP" sz="900" dirty="0">
                          <a:solidFill>
                            <a:schemeClr val="tx1"/>
                          </a:solidFill>
                          <a:latin typeface="Arial" panose="020B0604020202020204" pitchFamily="34" charset="0"/>
                        </a:rPr>
                        <a:t>No.3</a:t>
                      </a:r>
                      <a:r>
                        <a:rPr kumimoji="0" lang="ja-JP" altLang="en-US" sz="900" dirty="0">
                          <a:solidFill>
                            <a:schemeClr val="tx1"/>
                          </a:solidFill>
                          <a:latin typeface="Arial" panose="020B0604020202020204" pitchFamily="34" charset="0"/>
                        </a:rPr>
                        <a:t>で導入された</a:t>
                      </a:r>
                      <a:r>
                        <a:rPr kumimoji="0" lang="en-US" altLang="ja-JP" sz="900" dirty="0">
                          <a:solidFill>
                            <a:schemeClr val="tx1"/>
                          </a:solidFill>
                          <a:latin typeface="Arial" panose="020B0604020202020204" pitchFamily="34" charset="0"/>
                        </a:rPr>
                        <a:t>JavaScript</a:t>
                      </a:r>
                      <a:r>
                        <a:rPr kumimoji="0" lang="ja-JP" altLang="en-US" sz="900" dirty="0">
                          <a:solidFill>
                            <a:schemeClr val="tx1"/>
                          </a:solidFill>
                          <a:latin typeface="Arial" panose="020B0604020202020204" pitchFamily="34" charset="0"/>
                        </a:rPr>
                        <a:t>を利用し、</a:t>
                      </a:r>
                      <a:r>
                        <a:rPr kumimoji="0" lang="en-US" altLang="ja-JP" sz="900" dirty="0">
                          <a:solidFill>
                            <a:schemeClr val="tx1"/>
                          </a:solidFill>
                          <a:latin typeface="Arial" panose="020B0604020202020204" pitchFamily="34" charset="0"/>
                        </a:rPr>
                        <a:t>No.1</a:t>
                      </a:r>
                      <a:r>
                        <a:rPr kumimoji="0" lang="ja-JP" altLang="en-US" sz="900" dirty="0">
                          <a:solidFill>
                            <a:schemeClr val="tx1"/>
                          </a:solidFill>
                          <a:latin typeface="Arial" panose="020B0604020202020204" pitchFamily="34" charset="0"/>
                        </a:rPr>
                        <a:t>の添付添付ファイルを</a:t>
                      </a:r>
                      <a:r>
                        <a:rPr kumimoji="0" lang="en-US" altLang="ja-JP" sz="900" dirty="0">
                          <a:solidFill>
                            <a:schemeClr val="tx1"/>
                          </a:solidFill>
                          <a:latin typeface="Arial" panose="020B0604020202020204" pitchFamily="34" charset="0"/>
                        </a:rPr>
                        <a:t>Local Directory</a:t>
                      </a:r>
                      <a:r>
                        <a:rPr kumimoji="0" lang="ja-JP" altLang="en-US" sz="900" dirty="0">
                          <a:solidFill>
                            <a:schemeClr val="tx1"/>
                          </a:solidFill>
                          <a:latin typeface="Arial" panose="020B0604020202020204" pitchFamily="34" charset="0"/>
                        </a:rPr>
                        <a:t>に保存する（</a:t>
                      </a:r>
                      <a:r>
                        <a:rPr kumimoji="0" lang="en-US" altLang="ja-JP" sz="900" dirty="0">
                          <a:solidFill>
                            <a:schemeClr val="tx1"/>
                          </a:solidFill>
                          <a:latin typeface="Arial" panose="020B0604020202020204" pitchFamily="34" charset="0"/>
                        </a:rPr>
                        <a:t>JavaScript </a:t>
                      </a:r>
                      <a:r>
                        <a:rPr kumimoji="0" lang="ja-JP" altLang="en-US" sz="900" dirty="0">
                          <a:solidFill>
                            <a:schemeClr val="tx1"/>
                          </a:solidFill>
                          <a:latin typeface="Arial" panose="020B0604020202020204" pitchFamily="34" charset="0"/>
                        </a:rPr>
                        <a:t>によりの</a:t>
                      </a:r>
                      <a:r>
                        <a:rPr kumimoji="0" lang="en-US" altLang="ja-JP" sz="900" dirty="0">
                          <a:solidFill>
                            <a:schemeClr val="tx1"/>
                          </a:solidFill>
                          <a:latin typeface="Arial" panose="020B0604020202020204" pitchFamily="34" charset="0"/>
                        </a:rPr>
                        <a:t>Local File System</a:t>
                      </a:r>
                      <a:r>
                        <a:rPr kumimoji="0" lang="ja-JP" altLang="en-US" sz="900" dirty="0">
                          <a:solidFill>
                            <a:schemeClr val="tx1"/>
                          </a:solidFill>
                          <a:latin typeface="Arial" panose="020B0604020202020204" pitchFamily="34" charset="0"/>
                        </a:rPr>
                        <a:t>アクセスすための</a:t>
                      </a:r>
                      <a:r>
                        <a:rPr kumimoji="0" lang="en-US" altLang="ja-JP" sz="900" dirty="0">
                          <a:solidFill>
                            <a:schemeClr val="tx1"/>
                          </a:solidFill>
                          <a:latin typeface="Arial" panose="020B0604020202020204" pitchFamily="34" charset="0"/>
                        </a:rPr>
                        <a:t>Security</a:t>
                      </a:r>
                      <a:r>
                        <a:rPr kumimoji="0" lang="ja-JP" altLang="en-US" sz="900" dirty="0">
                          <a:solidFill>
                            <a:schemeClr val="tx1"/>
                          </a:solidFill>
                          <a:latin typeface="Arial" panose="020B0604020202020204" pitchFamily="34" charset="0"/>
                        </a:rPr>
                        <a:t>設定が必要）</a:t>
                      </a:r>
                      <a:endParaRPr kumimoji="0" lang="en-US" altLang="zh-CN" sz="900" dirty="0">
                        <a:solidFill>
                          <a:schemeClr val="tx1"/>
                        </a:solidFill>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solidFill>
                            <a:schemeClr val="tx1"/>
                          </a:solidFill>
                          <a:latin typeface="Arial" panose="020B0604020202020204" pitchFamily="34" charset="0"/>
                        </a:rPr>
                        <a:t>※</a:t>
                      </a:r>
                      <a:r>
                        <a:rPr kumimoji="0" lang="ja-JP" altLang="en-US" sz="900" dirty="0">
                          <a:solidFill>
                            <a:schemeClr val="tx1"/>
                          </a:solidFill>
                          <a:latin typeface="Arial" panose="020B0604020202020204" pitchFamily="34" charset="0"/>
                        </a:rPr>
                        <a:t>　</a:t>
                      </a:r>
                      <a:r>
                        <a:rPr kumimoji="0" lang="en-US" altLang="ja-JP" sz="900" dirty="0">
                          <a:solidFill>
                            <a:schemeClr val="tx1"/>
                          </a:solidFill>
                          <a:latin typeface="Arial" panose="020B0604020202020204" pitchFamily="34" charset="0"/>
                        </a:rPr>
                        <a:t>No.4</a:t>
                      </a:r>
                      <a:r>
                        <a:rPr kumimoji="0" lang="ja-JP" altLang="en-US" sz="900" dirty="0">
                          <a:solidFill>
                            <a:schemeClr val="tx1"/>
                          </a:solidFill>
                          <a:latin typeface="Arial" panose="020B0604020202020204" pitchFamily="34" charset="0"/>
                        </a:rPr>
                        <a:t>のファイルの</a:t>
                      </a:r>
                      <a:r>
                        <a:rPr kumimoji="0" lang="zh-CN" altLang="zh-CN" sz="900" dirty="0">
                          <a:solidFill>
                            <a:schemeClr val="tx1"/>
                          </a:solidFill>
                          <a:latin typeface="Arial" panose="020B0604020202020204" pitchFamily="34" charset="0"/>
                        </a:rPr>
                        <a:t>保存先</a:t>
                      </a:r>
                      <a:r>
                        <a:rPr kumimoji="0" lang="ja-JP" altLang="en-US" sz="900" dirty="0">
                          <a:solidFill>
                            <a:schemeClr val="tx1"/>
                          </a:solidFill>
                          <a:latin typeface="Arial" panose="020B0604020202020204" pitchFamily="34" charset="0"/>
                        </a:rPr>
                        <a:t>取得は複数ファイルでも一回のみ</a:t>
                      </a:r>
                      <a:endParaRPr kumimoji="0" lang="en-US" altLang="ja-JP" sz="900" dirty="0">
                        <a:solidFill>
                          <a:schemeClr val="tx1"/>
                        </a:solidFill>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solidFill>
                            <a:schemeClr val="tx1"/>
                          </a:solidFill>
                          <a:latin typeface="Arial" panose="020B0604020202020204" pitchFamily="34" charset="0"/>
                        </a:rPr>
                        <a:t>前提：</a:t>
                      </a:r>
                      <a:endParaRPr kumimoji="0" lang="en-US" altLang="ja-JP" sz="900" b="1" dirty="0">
                        <a:solidFill>
                          <a:schemeClr val="tx1"/>
                        </a:solidFill>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solidFill>
                            <a:schemeClr val="tx1"/>
                          </a:solidFill>
                          <a:latin typeface="Arial" panose="020B0604020202020204" pitchFamily="34" charset="0"/>
                        </a:rPr>
                        <a:t>　社内標準ブラウザ</a:t>
                      </a:r>
                      <a:r>
                        <a:rPr kumimoji="0" lang="en-US" altLang="zh-CN" sz="900" dirty="0">
                          <a:solidFill>
                            <a:schemeClr val="tx1"/>
                          </a:solidFill>
                          <a:latin typeface="Arial" panose="020B0604020202020204" pitchFamily="34" charset="0"/>
                        </a:rPr>
                        <a:t>Chrome</a:t>
                      </a:r>
                      <a:r>
                        <a:rPr kumimoji="0" lang="ja-JP" altLang="en-US" sz="900" dirty="0">
                          <a:solidFill>
                            <a:schemeClr val="tx1"/>
                          </a:solidFill>
                          <a:latin typeface="Arial" panose="020B0604020202020204" pitchFamily="34" charset="0"/>
                        </a:rPr>
                        <a:t>に、</a:t>
                      </a:r>
                      <a:r>
                        <a:rPr kumimoji="0" lang="en-US" altLang="ja-JP" sz="900" dirty="0">
                          <a:solidFill>
                            <a:schemeClr val="tx1"/>
                          </a:solidFill>
                          <a:latin typeface="Arial" panose="020B0604020202020204" pitchFamily="34" charset="0"/>
                        </a:rPr>
                        <a:t>Java Script</a:t>
                      </a:r>
                      <a:r>
                        <a:rPr kumimoji="0" lang="ja-JP" altLang="en-US" sz="900" dirty="0">
                          <a:solidFill>
                            <a:schemeClr val="tx1"/>
                          </a:solidFill>
                          <a:latin typeface="Arial" panose="020B0604020202020204" pitchFamily="34" charset="0"/>
                        </a:rPr>
                        <a:t>はローカルディレクトリに</a:t>
                      </a:r>
                      <a:endParaRPr kumimoji="0" lang="en-US" altLang="ja-JP" sz="900" dirty="0">
                        <a:solidFill>
                          <a:schemeClr val="tx1"/>
                        </a:solidFill>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solidFill>
                            <a:schemeClr val="tx1"/>
                          </a:solidFill>
                          <a:latin typeface="Arial" panose="020B0604020202020204" pitchFamily="34" charset="0"/>
                        </a:rPr>
                        <a:t>　書出す、読込権限を付与する</a:t>
                      </a:r>
                      <a:endParaRPr kumimoji="0" lang="zh-CN" altLang="zh-CN" sz="900" dirty="0">
                        <a:solidFill>
                          <a:schemeClr val="tx1"/>
                        </a:solidFill>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89817">
                <a:tc>
                  <a:txBody>
                    <a:bodyPr/>
                    <a:lstStyle/>
                    <a:p>
                      <a:r>
                        <a:rPr lang="ja-JP" altLang="en-US" sz="1100" dirty="0"/>
                        <a:t>複数添付ファイル纏めて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44557">
                <a:tc>
                  <a:txBody>
                    <a:bodyPr/>
                    <a:lstStyle/>
                    <a:p>
                      <a:r>
                        <a:rPr lang="ja-JP" altLang="en-US" sz="1100" dirty="0"/>
                        <a:t>複数添付ファイル一括個別ファイルとしてダウンロード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下記が論理的にできる（</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33008">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746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a:t>
                      </a:r>
                      <a:r>
                        <a:rPr kumimoji="0" lang="ja-JP" altLang="en-US" sz="900" kern="1200" dirty="0">
                          <a:solidFill>
                            <a:srgbClr val="FF0000"/>
                          </a:solidFill>
                          <a:latin typeface="Arial" panose="020B0604020202020204" pitchFamily="34" charset="0"/>
                          <a:ea typeface="+mn-ea"/>
                          <a:cs typeface="+mn-cs"/>
                        </a:rPr>
                        <a:t>できる</a:t>
                      </a:r>
                      <a:r>
                        <a:rPr kumimoji="0" lang="ja-JP" altLang="en-US" sz="900" kern="1200" dirty="0">
                          <a:solidFill>
                            <a:schemeClr val="tx1"/>
                          </a:solidFill>
                          <a:latin typeface="Arial" panose="020B0604020202020204" pitchFamily="34" charset="0"/>
                          <a:ea typeface="+mn-ea"/>
                          <a:cs typeface="+mn-cs"/>
                        </a:rPr>
                        <a:t>（実績あり）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4715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45488" y="3439437"/>
            <a:ext cx="2668824" cy="790866"/>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416849515"/>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solidFill>
                            <a:schemeClr val="tx1"/>
                          </a:solidFill>
                        </a:rPr>
                        <a:t>Grid</a:t>
                      </a:r>
                      <a:r>
                        <a:rPr lang="ja-JP" altLang="en-US" sz="900" dirty="0">
                          <a:solidFill>
                            <a:schemeClr val="tx1"/>
                          </a:solidFill>
                        </a:rPr>
                        <a:t>形式の列の表示／非表示</a:t>
                      </a:r>
                      <a:r>
                        <a:rPr lang="zh-CN" altLang="en-US" sz="900" dirty="0">
                          <a:solidFill>
                            <a:schemeClr val="tx1"/>
                          </a:solidFill>
                        </a:rPr>
                        <a:t>，</a:t>
                      </a:r>
                      <a:r>
                        <a:rPr lang="ja-JP" altLang="en-US" sz="900" dirty="0">
                          <a:solidFill>
                            <a:schemeClr val="tx1"/>
                          </a:solidFill>
                        </a:rPr>
                        <a:t>表示順、幅情報が設定することで実現できる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ユーザは画面</a:t>
                      </a:r>
                      <a:r>
                        <a:rPr lang="en-US" altLang="ja-JP" sz="900" dirty="0">
                          <a:solidFill>
                            <a:schemeClr val="tx1"/>
                          </a:solidFill>
                        </a:rPr>
                        <a:t>Grid</a:t>
                      </a:r>
                      <a:r>
                        <a:rPr lang="ja-JP" altLang="en-US" sz="900" dirty="0">
                          <a:solidFill>
                            <a:schemeClr val="tx1"/>
                          </a:solidFill>
                        </a:rPr>
                        <a:t>毎に独自設定することで実現できる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a:t>
            </a:r>
            <a:r>
              <a:rPr lang="ja-JP" altLang="en-US" sz="1600" dirty="0">
                <a:solidFill>
                  <a:srgbClr val="FF0000"/>
                </a:solidFill>
              </a:rPr>
              <a:t>開発</a:t>
            </a:r>
            <a:r>
              <a:rPr kumimoji="1" lang="ja-JP" altLang="en-US" sz="1600" dirty="0">
                <a:solidFill>
                  <a:srgbClr val="FF0000"/>
                </a:solidFill>
              </a:rPr>
              <a:t>コスト増、ユーザの管理作業増につながる恐れがあり、必須でなければ、推奨しません。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1573392209"/>
              </p:ext>
            </p:extLst>
          </p:nvPr>
        </p:nvGraphicFramePr>
        <p:xfrm>
          <a:off x="414336" y="890751"/>
          <a:ext cx="11284857" cy="5428233"/>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288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2273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54312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0408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660022">
                <a:tc>
                  <a:txBody>
                    <a:bodyPr/>
                    <a:lstStyle/>
                    <a:p>
                      <a:r>
                        <a:rPr lang="en-US" altLang="ja-JP" sz="1050" dirty="0"/>
                        <a:t>HA</a:t>
                      </a:r>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0408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0408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361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5" name="図 4">
            <a:extLst>
              <a:ext uri="{FF2B5EF4-FFF2-40B4-BE49-F238E27FC236}">
                <a16:creationId xmlns:a16="http://schemas.microsoft.com/office/drawing/2014/main" id="{4151152B-5050-BBAB-7042-32B6D79363B7}"/>
              </a:ext>
            </a:extLst>
          </p:cNvPr>
          <p:cNvPicPr>
            <a:picLocks noChangeAspect="1"/>
          </p:cNvPicPr>
          <p:nvPr/>
        </p:nvPicPr>
        <p:blipFill>
          <a:blip r:embed="rId3"/>
          <a:stretch>
            <a:fillRect/>
          </a:stretch>
        </p:blipFill>
        <p:spPr>
          <a:xfrm>
            <a:off x="4625704" y="3708400"/>
            <a:ext cx="7256330" cy="2142926"/>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dirty="0"/>
              <a:t>機能一覧</a:t>
            </a:r>
            <a:r>
              <a:rPr lang="en-US" altLang="ja-JP" sz="1600" dirty="0">
                <a:solidFill>
                  <a:srgbClr val="FF0000"/>
                </a:solidFill>
              </a:rPr>
              <a:t>※</a:t>
            </a:r>
            <a:r>
              <a:rPr lang="ja-JP" altLang="en-US" sz="1600" dirty="0">
                <a:solidFill>
                  <a:srgbClr val="FF0000"/>
                </a:solidFill>
              </a:rPr>
              <a:t>ご提示頂いた「</a:t>
            </a:r>
            <a:r>
              <a:rPr lang="en-US" altLang="ja-JP" sz="1600" dirty="0">
                <a:solidFill>
                  <a:srgbClr val="FF0000"/>
                </a:solidFill>
              </a:rPr>
              <a:t>【</a:t>
            </a:r>
            <a:r>
              <a:rPr lang="ja-JP" altLang="en-US" sz="1600" dirty="0">
                <a:solidFill>
                  <a:srgbClr val="FF0000"/>
                </a:solidFill>
              </a:rPr>
              <a:t>新アプリ</a:t>
            </a:r>
            <a:r>
              <a:rPr lang="en-US" altLang="ja-JP" sz="1600" dirty="0">
                <a:solidFill>
                  <a:srgbClr val="FF0000"/>
                </a:solidFill>
              </a:rPr>
              <a:t>】</a:t>
            </a:r>
            <a:r>
              <a:rPr lang="ja-JP" altLang="en-US" sz="1600" dirty="0">
                <a:solidFill>
                  <a:srgbClr val="FF0000"/>
                </a:solidFill>
              </a:rPr>
              <a:t>機能要件一覧 </a:t>
            </a:r>
            <a:r>
              <a:rPr lang="en-US" altLang="ja-JP" sz="1600" dirty="0">
                <a:solidFill>
                  <a:srgbClr val="FF0000"/>
                </a:solidFill>
              </a:rPr>
              <a:t>V1.1.xlsx</a:t>
            </a:r>
            <a:r>
              <a:rPr lang="ja-JP" altLang="en-US" sz="1600" dirty="0">
                <a:solidFill>
                  <a:srgbClr val="FF0000"/>
                </a:solidFill>
              </a:rPr>
              <a:t>」の中項目単位で抽出</a:t>
            </a:r>
            <a:endParaRPr lang="ja-JP" altLang="en-US" dirty="0">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dirty="0"/>
              <a:t>機能一覧</a:t>
            </a:r>
            <a:endParaRPr lang="ja-JP" altLang="en-US" dirty="0">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dirty="0"/>
              <a:t>機能一覧</a:t>
            </a:r>
            <a:endParaRPr lang="ja-JP" altLang="en-US" dirty="0">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dirty="0"/>
              <a:t>機能一覧</a:t>
            </a:r>
            <a:endParaRPr lang="ja-JP" altLang="en-US" dirty="0">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64689-F7E0-D2F9-56FF-F8587D583D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49342F-9EFE-C639-81D0-71975EF6ACFC}"/>
              </a:ext>
            </a:extLst>
          </p:cNvPr>
          <p:cNvSpPr>
            <a:spLocks noGrp="1"/>
          </p:cNvSpPr>
          <p:nvPr>
            <p:ph type="title"/>
          </p:nvPr>
        </p:nvSpPr>
        <p:spPr>
          <a:xfrm>
            <a:off x="414336" y="255263"/>
            <a:ext cx="9327072" cy="683629"/>
          </a:xfrm>
        </p:spPr>
        <p:txBody>
          <a:bodyPr>
            <a:normAutofit/>
          </a:bodyPr>
          <a:lstStyle/>
          <a:p>
            <a:r>
              <a:rPr lang="ja-JP" altLang="en-US" dirty="0"/>
              <a:t>プロジェクト重要検討事項</a:t>
            </a:r>
            <a:endParaRPr lang="zh-CN" altLang="en-US" dirty="0"/>
          </a:p>
        </p:txBody>
      </p:sp>
      <p:graphicFrame>
        <p:nvGraphicFramePr>
          <p:cNvPr id="4" name="表 3">
            <a:extLst>
              <a:ext uri="{FF2B5EF4-FFF2-40B4-BE49-F238E27FC236}">
                <a16:creationId xmlns:a16="http://schemas.microsoft.com/office/drawing/2014/main" id="{D1F2B9F7-D95B-1715-0897-B3D4CFA7E58A}"/>
              </a:ext>
            </a:extLst>
          </p:cNvPr>
          <p:cNvGraphicFramePr>
            <a:graphicFrameLocks noGrp="1"/>
          </p:cNvGraphicFramePr>
          <p:nvPr>
            <p:extLst>
              <p:ext uri="{D42A27DB-BD31-4B8C-83A1-F6EECF244321}">
                <p14:modId xmlns:p14="http://schemas.microsoft.com/office/powerpoint/2010/main" val="251365849"/>
              </p:ext>
            </p:extLst>
          </p:nvPr>
        </p:nvGraphicFramePr>
        <p:xfrm>
          <a:off x="532873" y="938893"/>
          <a:ext cx="11126254" cy="5307904"/>
        </p:xfrm>
        <a:graphic>
          <a:graphicData uri="http://schemas.openxmlformats.org/drawingml/2006/table">
            <a:tbl>
              <a:tblPr firstRow="1" bandRow="1">
                <a:tableStyleId>{7DF18680-E054-41AD-8BC1-D1AEF772440D}</a:tableStyleId>
              </a:tblPr>
              <a:tblGrid>
                <a:gridCol w="375261">
                  <a:extLst>
                    <a:ext uri="{9D8B030D-6E8A-4147-A177-3AD203B41FA5}">
                      <a16:colId xmlns:a16="http://schemas.microsoft.com/office/drawing/2014/main" val="2481844383"/>
                    </a:ext>
                  </a:extLst>
                </a:gridCol>
                <a:gridCol w="1878715">
                  <a:extLst>
                    <a:ext uri="{9D8B030D-6E8A-4147-A177-3AD203B41FA5}">
                      <a16:colId xmlns:a16="http://schemas.microsoft.com/office/drawing/2014/main" val="2412485662"/>
                    </a:ext>
                  </a:extLst>
                </a:gridCol>
                <a:gridCol w="846461">
                  <a:extLst>
                    <a:ext uri="{9D8B030D-6E8A-4147-A177-3AD203B41FA5}">
                      <a16:colId xmlns:a16="http://schemas.microsoft.com/office/drawing/2014/main" val="1209637643"/>
                    </a:ext>
                  </a:extLst>
                </a:gridCol>
                <a:gridCol w="846461">
                  <a:extLst>
                    <a:ext uri="{9D8B030D-6E8A-4147-A177-3AD203B41FA5}">
                      <a16:colId xmlns:a16="http://schemas.microsoft.com/office/drawing/2014/main" val="1385327848"/>
                    </a:ext>
                  </a:extLst>
                </a:gridCol>
                <a:gridCol w="747011">
                  <a:extLst>
                    <a:ext uri="{9D8B030D-6E8A-4147-A177-3AD203B41FA5}">
                      <a16:colId xmlns:a16="http://schemas.microsoft.com/office/drawing/2014/main" val="240944020"/>
                    </a:ext>
                  </a:extLst>
                </a:gridCol>
                <a:gridCol w="6432345">
                  <a:extLst>
                    <a:ext uri="{9D8B030D-6E8A-4147-A177-3AD203B41FA5}">
                      <a16:colId xmlns:a16="http://schemas.microsoft.com/office/drawing/2014/main" val="187323411"/>
                    </a:ext>
                  </a:extLst>
                </a:gridCol>
              </a:tblGrid>
              <a:tr h="276624">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リスクあり</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bg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対象</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276624">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データ移行時の整合性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移行</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会社毎に実施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276624">
                <a:tc>
                  <a:txBody>
                    <a:bodyPr/>
                    <a:lstStyle/>
                    <a:p>
                      <a:pPr marL="0" algn="ctr" defTabSz="914400" rtl="0" eaLnBrk="1" fontAlgn="b" latinLnBrk="0" hangingPunct="1"/>
                      <a:r>
                        <a:rPr lang="en-US" altLang="ja-JP" sz="1100" b="0" u="none" strike="noStrike" kern="1200" dirty="0">
                          <a:solidFill>
                            <a:schemeClr val="tx1"/>
                          </a:solidFill>
                          <a:effectLst/>
                          <a:latin typeface="+mn-lt"/>
                          <a:ea typeface="+mn-ea"/>
                          <a:cs typeface="+mn-cs"/>
                        </a:rPr>
                        <a:t>2</a:t>
                      </a:r>
                      <a:endParaRPr lang="ja-JP" altLang="en-US"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Office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統合の互換性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File Batch</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 </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Download</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Html Page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JavaScript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で複数ファイルを指定場所にそれぞれ保存の実機検証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4200175862"/>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Guest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ユーザの対応</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1757612833"/>
                  </a:ext>
                </a:extLst>
              </a:tr>
              <a:tr h="1106495">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各社の具体仕様面（操作面含む）に差異が出る</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具体業務</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本質的にはこれは現行要件の変更、変更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57891935"/>
                  </a:ext>
                </a:extLst>
              </a:tr>
              <a:tr h="8819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閲覧権限ありの仕様書の添付ファイルのみが直接叩き開く（オンライン編集含む）の実機検証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閲覧権限ありの仕様書の添付ファイルのみが検索結果に出るの実機検証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00835017"/>
                  </a:ext>
                </a:extLst>
              </a:tr>
              <a:tr h="829871">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7</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添付ファイルの権限制御の性能検証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機能面に実績があるので、</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主に性能観点の確認。</a:t>
                      </a:r>
                      <a:endPar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en-US" altLang="ja-JP" sz="1100" kern="1200" dirty="0">
                          <a:solidFill>
                            <a:schemeClr val="tx1"/>
                          </a:solidFill>
                          <a:latin typeface="Arial" panose="020B0604020202020204" pitchFamily="34" charset="0"/>
                          <a:ea typeface="+mn-ea"/>
                          <a:cs typeface="+mn-cs"/>
                        </a:rPr>
                        <a:t>※</a:t>
                      </a:r>
                      <a:r>
                        <a:rPr kumimoji="0" lang="ja-JP" altLang="en-US" sz="1100" kern="1200" dirty="0">
                          <a:solidFill>
                            <a:schemeClr val="tx1"/>
                          </a:solidFill>
                          <a:latin typeface="Arial" panose="020B0604020202020204" pitchFamily="34" charset="0"/>
                          <a:ea typeface="+mn-ea"/>
                          <a:cs typeface="+mn-cs"/>
                        </a:rPr>
                        <a:t>　</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Group(DB</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で管理される論理</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が変更されるときに、すでに登録済みの仕様書の添付ファイルに対して、承認フローの状態に合わせて、</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に保存する添付ファイル毎のユーザ毎の権限再設定</a:t>
                      </a:r>
                    </a:p>
                  </a:txBody>
                  <a:tcPr marL="0" marR="0" marT="0" marB="0" anchor="ctr"/>
                </a:tc>
                <a:extLst>
                  <a:ext uri="{0D108BD9-81ED-4DB2-BD59-A6C34878D82A}">
                    <a16:rowId xmlns:a16="http://schemas.microsoft.com/office/drawing/2014/main" val="2592905887"/>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9</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全体性能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Facility</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Dummy</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データを利用した性能評価、</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年間データ、</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20000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ユーザを想定で、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Sizing</a:t>
                      </a:r>
                    </a:p>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（一覧、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Export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中心）</a:t>
                      </a:r>
                    </a:p>
                  </a:txBody>
                  <a:tcPr marL="0" marR="0" marT="0" marB="0" anchor="ctr"/>
                </a:tc>
                <a:extLst>
                  <a:ext uri="{0D108BD9-81ED-4DB2-BD59-A6C34878D82A}">
                    <a16:rowId xmlns:a16="http://schemas.microsoft.com/office/drawing/2014/main" val="3562567830"/>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利用者は必要な項目に応じてビューの設定</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要検討</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043138237"/>
                  </a:ext>
                </a:extLst>
              </a:tr>
            </a:tbl>
          </a:graphicData>
        </a:graphic>
      </p:graphicFrame>
    </p:spTree>
    <p:extLst>
      <p:ext uri="{BB962C8B-B14F-4D97-AF65-F5344CB8AC3E}">
        <p14:creationId xmlns:p14="http://schemas.microsoft.com/office/powerpoint/2010/main" val="13258863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65B37-079E-4621-E6A1-D4D3ABF71AF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5DC5037-33B3-F5A8-9A9B-9180AA6742ED}"/>
              </a:ext>
            </a:extLst>
          </p:cNvPr>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28024763-2637-B1F5-D64F-BDA01A756097}"/>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F2D43134-EC2A-1320-E944-9688421C95EA}"/>
              </a:ext>
            </a:extLst>
          </p:cNvPr>
          <p:cNvSpPr/>
          <p:nvPr/>
        </p:nvSpPr>
        <p:spPr bwMode="gray">
          <a:xfrm>
            <a:off x="1238487" y="1953321"/>
            <a:ext cx="2754964" cy="262504"/>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algn="ctr" fontAlgn="b"/>
            <a:r>
              <a:rPr kumimoji="0" lang="ja-JP" altLang="en-US" sz="1200" kern="0" dirty="0">
                <a:solidFill>
                  <a:srgbClr val="000000"/>
                </a:solidFill>
                <a:latin typeface="Arial"/>
                <a:ea typeface="Yu Gothic UI"/>
                <a:cs typeface="Arial" panose="020B0604020202020204" pitchFamily="34" charset="0"/>
              </a:rPr>
              <a:t>要件定義理解、仕様確認</a:t>
            </a:r>
          </a:p>
        </p:txBody>
      </p:sp>
      <p:sp>
        <p:nvSpPr>
          <p:cNvPr id="12" name="四角形: 角を丸くする 11">
            <a:extLst>
              <a:ext uri="{FF2B5EF4-FFF2-40B4-BE49-F238E27FC236}">
                <a16:creationId xmlns:a16="http://schemas.microsoft.com/office/drawing/2014/main" id="{C107AF1B-881D-F0E1-8FE6-1AEB4D3022EC}"/>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システム設計（画面）</a:t>
            </a:r>
          </a:p>
        </p:txBody>
      </p:sp>
      <p:sp>
        <p:nvSpPr>
          <p:cNvPr id="13" name="四角形: 角を丸くする 12">
            <a:extLst>
              <a:ext uri="{FF2B5EF4-FFF2-40B4-BE49-F238E27FC236}">
                <a16:creationId xmlns:a16="http://schemas.microsoft.com/office/drawing/2014/main" id="{4DFB5ABB-0E71-B8E7-5E59-CB963147CFD3}"/>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開発単体、結合試験</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すべてパターンをカバー</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(10</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部署程度</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A438ED60-12DC-DC8C-09A5-221461DF8618}"/>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1D07EFFF-C2F3-75D8-2400-9B5E036311FA}"/>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AE7A92AD-BD85-372B-74DE-7E054C9664A4}"/>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7E29CAC-A901-EB76-CA59-D3A7821AF6E3}"/>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7205E5CB-276D-E47F-208B-77273075D6E4}"/>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AA13CB4-9610-AD46-F7D9-3341091336E7}"/>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AC48EE47-079D-783F-E544-9A189C06D16D}"/>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7A83CE27-8FBA-DA6B-6425-07C5AF50C7E1}"/>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A68DDC3B-10CD-F423-F5E8-E0A5C5498DD7}"/>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394F86B6-8CD3-3C65-9DAF-7D7BF1ED332F}"/>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445D4A36-746C-EB35-F7EF-FA1B870CA843}"/>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DA17DDF1-8DD1-5EE5-446B-9E7B5D69199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0CAE35ED-3D04-A665-42F3-AA5C20D855C3}"/>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8850596D-F2C3-F204-CF0E-C15AB7D0632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6F87F9A2-D21D-F5A1-F71F-17A8D7D99A1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B3A17B5B-E598-F1A5-C9D7-3226AB7B19C7}"/>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86B4C42-B58B-D290-3107-C9EFFC00DFAF}"/>
              </a:ext>
            </a:extLst>
          </p:cNvPr>
          <p:cNvSpPr/>
          <p:nvPr/>
        </p:nvSpPr>
        <p:spPr bwMode="gray">
          <a:xfrm>
            <a:off x="1236849" y="2363173"/>
            <a:ext cx="2177307"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lvl="0" algn="ctr" fontAlgn="base">
              <a:spcBef>
                <a:spcPct val="0"/>
              </a:spcBef>
              <a:spcAft>
                <a:spcPct val="0"/>
              </a:spcAft>
              <a:defRPr/>
            </a:pPr>
            <a:r>
              <a:rPr lang="ja-JP" altLang="en-US" sz="1200" dirty="0">
                <a:solidFill>
                  <a:schemeClr val="tx1"/>
                </a:solidFill>
              </a:rPr>
              <a:t>構造設計＆</a:t>
            </a:r>
            <a:r>
              <a:rPr lang="en-US" altLang="ja-JP" sz="1200" dirty="0">
                <a:solidFill>
                  <a:schemeClr val="tx1"/>
                </a:solidFill>
              </a:rPr>
              <a:t>POC</a:t>
            </a:r>
            <a:endPar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endParaRPr>
          </a:p>
        </p:txBody>
      </p:sp>
      <p:cxnSp>
        <p:nvCxnSpPr>
          <p:cNvPr id="44" name="直線コネクタ 43">
            <a:extLst>
              <a:ext uri="{FF2B5EF4-FFF2-40B4-BE49-F238E27FC236}">
                <a16:creationId xmlns:a16="http://schemas.microsoft.com/office/drawing/2014/main" id="{9C2B0C8D-B716-65F2-C868-270853D3EB9C}"/>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7CEA5C84-1E69-72F3-FD5B-32FD04446BFA}"/>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1"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POC</a:t>
            </a: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・製造工程の概算見積</a:t>
            </a: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D27F703A-E61F-56C5-8C41-BBF3168FD21E}"/>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0C9BDF41-92C5-8248-8160-ECAD1F61F913}"/>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5141F68C-7A5B-A2D2-A73F-42ED08DBFA9F}"/>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0F452686-3E39-0A52-CCF0-18D2CA2484BA}"/>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49F660E1-D11F-57DE-CAF9-CAC095A7BA9F}"/>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05579155-6BA7-3E59-F5A8-FB7A218D19F0}"/>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Round3</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86F9785E-007D-1BCB-75A7-A39AD03FCA47}"/>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A0E8404E-386C-CFFA-DF97-03B7E450C544}"/>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9977DAB9-0C17-1F9A-4B9D-EB046AF6A6B1}"/>
              </a:ext>
            </a:extLst>
          </p:cNvPr>
          <p:cNvSpPr/>
          <p:nvPr/>
        </p:nvSpPr>
        <p:spPr bwMode="gray">
          <a:xfrm>
            <a:off x="1236849" y="2775159"/>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2803AC68-3BCE-4FD9-0DD7-86F8B6984539}"/>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Round1 </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74939399-2281-94CB-EC22-9B08172CB81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Round</a:t>
            </a:r>
            <a:r>
              <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２展開</a:t>
            </a:r>
            <a:endPar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データ移行と受入</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対応</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65" name="四角形: 角を丸くする 64">
            <a:extLst>
              <a:ext uri="{FF2B5EF4-FFF2-40B4-BE49-F238E27FC236}">
                <a16:creationId xmlns:a16="http://schemas.microsoft.com/office/drawing/2014/main" id="{A0592155-6DA1-FAD7-1A1C-4BD215B1642C}"/>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Round3</a:t>
            </a:r>
            <a:r>
              <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展開</a:t>
            </a:r>
            <a:endPar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（データ移行と受入</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対応</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66" name="直線コネクタ 65">
            <a:extLst>
              <a:ext uri="{FF2B5EF4-FFF2-40B4-BE49-F238E27FC236}">
                <a16:creationId xmlns:a16="http://schemas.microsoft.com/office/drawing/2014/main" id="{AAF15E5E-DD10-6CE7-512D-3B13735B4547}"/>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8F9CC12C-432C-A845-7AE2-714E51D67214}"/>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696C7525-BF4C-15EE-667C-387E91C37642}"/>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2C0AB001-8F84-B4C2-AB40-2E2458A0150B}"/>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72498D41-D631-0D0B-8187-574209529682}"/>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107190CD-2A78-A2C7-02D2-23FFD2896D13}"/>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FBEC3BB5-C8FC-6A0E-31DF-26689B441FC5}"/>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0E7D35CA-037F-CC93-EAEA-24158C4F5585}"/>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7" name="テキスト ボックス 6">
            <a:extLst>
              <a:ext uri="{FF2B5EF4-FFF2-40B4-BE49-F238E27FC236}">
                <a16:creationId xmlns:a16="http://schemas.microsoft.com/office/drawing/2014/main" id="{F1C308A9-6186-221A-EE6A-7A6A28CC0F50}"/>
              </a:ext>
            </a:extLst>
          </p:cNvPr>
          <p:cNvSpPr txBox="1"/>
          <p:nvPr/>
        </p:nvSpPr>
        <p:spPr>
          <a:xfrm>
            <a:off x="4033732" y="2587937"/>
            <a:ext cx="6766132"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graphicFrame>
        <p:nvGraphicFramePr>
          <p:cNvPr id="9" name="表 8">
            <a:extLst>
              <a:ext uri="{FF2B5EF4-FFF2-40B4-BE49-F238E27FC236}">
                <a16:creationId xmlns:a16="http://schemas.microsoft.com/office/drawing/2014/main" id="{3314AD2A-418D-785B-B887-306FA70A215D}"/>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25BCE0B0-1F5F-45BE-B802-E388599E127D}"/>
              </a:ext>
            </a:extLst>
          </p:cNvPr>
          <p:cNvSpPr txBox="1"/>
          <p:nvPr/>
        </p:nvSpPr>
        <p:spPr>
          <a:xfrm>
            <a:off x="311630" y="3622150"/>
            <a:ext cx="6766560"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Round1</a:t>
            </a:r>
            <a:r>
              <a:rPr kumimoji="1" lang="ja-JP" altLang="en-US" sz="8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対象機能想定</a:t>
            </a:r>
          </a:p>
        </p:txBody>
      </p:sp>
      <p:sp>
        <p:nvSpPr>
          <p:cNvPr id="4" name="四角形: 角を丸くする 3">
            <a:extLst>
              <a:ext uri="{FF2B5EF4-FFF2-40B4-BE49-F238E27FC236}">
                <a16:creationId xmlns:a16="http://schemas.microsoft.com/office/drawing/2014/main" id="{FEBE013F-CF39-1C75-A02D-82D9ACC3F784}"/>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 Round3</a:t>
            </a:r>
            <a:r>
              <a:rPr kumimoji="1" lang="ja-JP" altLang="en-US"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に関する説明：</a:t>
            </a:r>
            <a:endParaRPr kumimoji="1" lang="en-US" altLang="ja-JP"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システム全体は一つ</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App</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になるため、</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Round2,3</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の主作業は移行作業</a:t>
            </a: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移行ツールの入力となる</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DB</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ファイルの差異の対応</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入力データの差異によりの</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Data mapping</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の見直す</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ツール実行</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移行前後データの比較、差異分析、必要によりの対応、移行報告</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会社・組織の業務差異</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表現差異対応、エンハンス要件がない限り、</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 Round3</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のリリース自体は不要</a:t>
            </a: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 Round2, Round3</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の本質は：</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 Round2, Round3</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対象会社の履歴が利用可能時期のみ</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p:txBody>
      </p:sp>
      <p:sp>
        <p:nvSpPr>
          <p:cNvPr id="5" name="テキスト ボックス 4">
            <a:extLst>
              <a:ext uri="{FF2B5EF4-FFF2-40B4-BE49-F238E27FC236}">
                <a16:creationId xmlns:a16="http://schemas.microsoft.com/office/drawing/2014/main" id="{12DD182B-5953-4742-68E2-0A9449153500}"/>
              </a:ext>
            </a:extLst>
          </p:cNvPr>
          <p:cNvSpPr txBox="1"/>
          <p:nvPr/>
        </p:nvSpPr>
        <p:spPr>
          <a:xfrm>
            <a:off x="414336" y="735600"/>
            <a:ext cx="11469807"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下記スケジュールは弊社の想定で、ご要望に合わせて開始時間について、調整することが可能で、相談させてください。</a:t>
            </a:r>
          </a:p>
        </p:txBody>
      </p:sp>
    </p:spTree>
    <p:extLst>
      <p:ext uri="{BB962C8B-B14F-4D97-AF65-F5344CB8AC3E}">
        <p14:creationId xmlns:p14="http://schemas.microsoft.com/office/powerpoint/2010/main" val="23793186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F7B92-3F1E-27BF-1C31-F060DE95529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66E1130-DD44-1DE0-DCB1-3F3901C213E7}"/>
              </a:ext>
            </a:extLst>
          </p:cNvPr>
          <p:cNvSpPr>
            <a:spLocks noGrp="1"/>
          </p:cNvSpPr>
          <p:nvPr>
            <p:ph type="title"/>
          </p:nvPr>
        </p:nvSpPr>
        <p:spPr>
          <a:xfrm>
            <a:off x="414336" y="255263"/>
            <a:ext cx="9327072" cy="683629"/>
          </a:xfrm>
        </p:spPr>
        <p:txBody>
          <a:bodyPr/>
          <a:lstStyle/>
          <a:p>
            <a:r>
              <a:rPr lang="ja-JP" altLang="en-US" dirty="0"/>
              <a:t>見積もり</a:t>
            </a:r>
            <a:endParaRPr lang="ja-JP" altLang="en-US" dirty="0">
              <a:effectLst/>
            </a:endParaRPr>
          </a:p>
        </p:txBody>
      </p:sp>
      <p:graphicFrame>
        <p:nvGraphicFramePr>
          <p:cNvPr id="3" name="表 2">
            <a:extLst>
              <a:ext uri="{FF2B5EF4-FFF2-40B4-BE49-F238E27FC236}">
                <a16:creationId xmlns:a16="http://schemas.microsoft.com/office/drawing/2014/main" id="{3A0EC75A-ACD8-6A52-BDD7-07A4CBA07989}"/>
              </a:ext>
            </a:extLst>
          </p:cNvPr>
          <p:cNvGraphicFramePr>
            <a:graphicFrameLocks noGrp="1"/>
          </p:cNvGraphicFramePr>
          <p:nvPr/>
        </p:nvGraphicFramePr>
        <p:xfrm>
          <a:off x="479552" y="836571"/>
          <a:ext cx="11219955" cy="527669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17802">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p>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a:t>
                      </a:r>
                      <a:r>
                        <a:rPr lang="en-US" altLang="ja-JP" sz="1050" b="0" u="none" strike="noStrike" kern="1200" dirty="0">
                          <a:solidFill>
                            <a:schemeClr val="tx1"/>
                          </a:solidFill>
                          <a:effectLst/>
                          <a:latin typeface="+mn-lt"/>
                          <a:ea typeface="+mn-ea"/>
                          <a:cs typeface="+mn-cs"/>
                        </a:rPr>
                        <a:t>Facility</a:t>
                      </a:r>
                      <a:r>
                        <a:rPr lang="ja-JP" altLang="en-US" sz="1050" b="0" u="none" strike="noStrike" kern="1200" dirty="0">
                          <a:solidFill>
                            <a:schemeClr val="tx1"/>
                          </a:solidFill>
                          <a:effectLst/>
                          <a:latin typeface="+mn-lt"/>
                          <a:ea typeface="+mn-ea"/>
                          <a:cs typeface="+mn-cs"/>
                        </a:rPr>
                        <a:t>含む）</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3375774082"/>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128.06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部署に平均１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部署は変更調整のみで、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部署に平均１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部署は変更調整のみで、（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BA3100D5-796F-5967-01B4-CF61C9289AC2}"/>
              </a:ext>
            </a:extLst>
          </p:cNvPr>
          <p:cNvSpPr txBox="1"/>
          <p:nvPr/>
        </p:nvSpPr>
        <p:spPr>
          <a:xfrm>
            <a:off x="453136" y="6086581"/>
            <a:ext cx="828040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工数：</a:t>
            </a: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175.06MM</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、費用： </a:t>
            </a: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1.26</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億</a:t>
            </a:r>
          </a:p>
        </p:txBody>
      </p:sp>
    </p:spTree>
    <p:extLst>
      <p:ext uri="{BB962C8B-B14F-4D97-AF65-F5344CB8AC3E}">
        <p14:creationId xmlns:p14="http://schemas.microsoft.com/office/powerpoint/2010/main" val="34190709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494723"/>
          </a:xfrm>
        </p:spPr>
        <p:txBody>
          <a:bodyPr>
            <a:normAutofit fontScale="90000"/>
          </a:bodyPr>
          <a:lstStyle/>
          <a:p>
            <a:r>
              <a:rPr lang="zh-CN" altLang="en-US" dirty="0">
                <a:latin typeface="游ゴシック Light" panose="020B0300000000000000" pitchFamily="50" charset="-128"/>
                <a:ea typeface="游ゴシック Light" panose="020B0300000000000000" pitchFamily="50" charset="-128"/>
              </a:rPr>
              <a:t>結論</a:t>
            </a:r>
            <a:endParaRPr lang="zh-CN" altLang="en-US" dirty="0">
              <a:effectLst/>
              <a:latin typeface="游ゴシック Light" panose="020B0300000000000000" pitchFamily="50" charset="-128"/>
              <a:ea typeface="游ゴシック Light" panose="020B0300000000000000" pitchFamily="50" charset="-128"/>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a:t>
            </a:r>
            <a:r>
              <a:rPr kumimoji="0" lang="en-US" altLang="ja-JP" dirty="0">
                <a:latin typeface="Arial" panose="020B0604020202020204" pitchFamily="34" charset="0"/>
              </a:rPr>
              <a:t>Power  Platform</a:t>
            </a:r>
            <a:r>
              <a:rPr kumimoji="0" lang="ja-JP" altLang="en-US" dirty="0">
                <a:latin typeface="Arial" panose="020B0604020202020204" pitchFamily="34" charset="0"/>
              </a:rPr>
              <a:t>にて</a:t>
            </a:r>
            <a:r>
              <a:rPr kumimoji="0" lang="zh-CN" altLang="zh-CN" dirty="0">
                <a:latin typeface="Arial" panose="020B0604020202020204" pitchFamily="34" charset="0"/>
              </a:rPr>
              <a:t>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extLst>
                    <a:ext uri="{A12FA001-AC4F-418D-AE19-62706E023703}">
                      <ahyp:hlinkClr xmlns:ahyp="http://schemas.microsoft.com/office/drawing/2018/hyperlinkcolor" val="tx"/>
                    </a:ext>
                  </a:extLst>
                </a:hlinkClick>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この見積は、仕様書定型データを</a:t>
            </a:r>
            <a:r>
              <a:rPr kumimoji="0" lang="en-US" altLang="ja-JP" dirty="0">
                <a:latin typeface="Arial" panose="020B0604020202020204" pitchFamily="34" charset="0"/>
              </a:rPr>
              <a:t>Azure SQL</a:t>
            </a:r>
            <a:r>
              <a:rPr kumimoji="0" lang="ja-JP" altLang="en-US" dirty="0">
                <a:latin typeface="Arial" panose="020B0604020202020204" pitchFamily="34" charset="0"/>
              </a:rPr>
              <a:t>に管理、添付ファイルは</a:t>
            </a:r>
            <a:r>
              <a:rPr kumimoji="0" lang="en-US" altLang="ja-JP" dirty="0">
                <a:latin typeface="Arial" panose="020B0604020202020204" pitchFamily="34" charset="0"/>
              </a:rPr>
              <a:t>SPO</a:t>
            </a:r>
            <a:r>
              <a:rPr kumimoji="0" lang="ja-JP" altLang="en-US" dirty="0">
                <a:latin typeface="Arial" panose="020B0604020202020204" pitchFamily="34" charset="0"/>
              </a:rPr>
              <a:t>に管理の前提とする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solidFill>
                  <a:prstClr val="black"/>
                </a:solidFill>
                <a:latin typeface="Arial" panose="020B0604020202020204" pitchFamily="34" charset="0"/>
              </a:rPr>
              <a:t>作業用クラウド環境、</a:t>
            </a:r>
            <a:r>
              <a:rPr kumimoji="0" lang="en-US" altLang="ja-JP" dirty="0">
                <a:solidFill>
                  <a:prstClr val="black"/>
                </a:solidFill>
                <a:latin typeface="Arial" panose="020B0604020202020204" pitchFamily="34" charset="0"/>
              </a:rPr>
              <a:t>Azure License</a:t>
            </a:r>
            <a:r>
              <a:rPr kumimoji="0" lang="ja-JP" altLang="en-US" dirty="0">
                <a:solidFill>
                  <a:prstClr val="black"/>
                </a:solidFill>
                <a:latin typeface="Arial" panose="020B0604020202020204" pitchFamily="34" charset="0"/>
              </a:rPr>
              <a:t>含む各種ライセンス</a:t>
            </a:r>
            <a:r>
              <a:rPr kumimoji="0" lang="en-US" altLang="ja-JP" dirty="0">
                <a:solidFill>
                  <a:prstClr val="black"/>
                </a:solidFill>
                <a:latin typeface="Arial" panose="020B0604020202020204" pitchFamily="34" charset="0"/>
              </a:rPr>
              <a:t>/</a:t>
            </a:r>
            <a:r>
              <a:rPr kumimoji="0" lang="ja-JP" altLang="en-US" dirty="0">
                <a:solidFill>
                  <a:prstClr val="black"/>
                </a:solidFill>
                <a:latin typeface="Arial" panose="020B0604020202020204" pitchFamily="34" charset="0"/>
              </a:rPr>
              <a:t>開発環境は</a:t>
            </a:r>
            <a:r>
              <a:rPr kumimoji="0" lang="en-US" altLang="ja-JP" dirty="0">
                <a:solidFill>
                  <a:prstClr val="black"/>
                </a:solidFill>
                <a:latin typeface="Arial" panose="020B0604020202020204" pitchFamily="34" charset="0"/>
              </a:rPr>
              <a:t>MCC</a:t>
            </a:r>
            <a:r>
              <a:rPr kumimoji="0" lang="ja-JP" altLang="en-US" dirty="0">
                <a:solidFill>
                  <a:prstClr val="black"/>
                </a:solidFill>
                <a:latin typeface="Arial" panose="020B0604020202020204" pitchFamily="34" charset="0"/>
              </a:rPr>
              <a:t>により提供する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MAX 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4216C17B-9ACF-4273-9EF4-F7A543FAF213}">
  <ds:schemaRefs/>
</ds:datastoreItem>
</file>

<file path=docProps/app.xml><?xml version="1.0" encoding="utf-8"?>
<Properties xmlns="http://schemas.openxmlformats.org/officeDocument/2006/extended-properties" xmlns:vt="http://schemas.openxmlformats.org/officeDocument/2006/docPropsVTypes">
  <Template>MCG_jp_rev1</Template>
  <TotalTime>6452</TotalTime>
  <Words>15666</Words>
  <Application>Microsoft Office PowerPoint</Application>
  <PresentationFormat>ワイド画面</PresentationFormat>
  <Paragraphs>1875</Paragraphs>
  <Slides>35</Slides>
  <Notes>33</Notes>
  <HiddenSlides>0</HiddenSlides>
  <MMClips>0</MMClips>
  <ScaleCrop>false</ScaleCrop>
  <HeadingPairs>
    <vt:vector size="8" baseType="variant">
      <vt:variant>
        <vt:lpstr>使用されているフォント</vt:lpstr>
      </vt:variant>
      <vt:variant>
        <vt:i4>13</vt:i4>
      </vt:variant>
      <vt:variant>
        <vt:lpstr>テーマ</vt:lpstr>
      </vt:variant>
      <vt:variant>
        <vt:i4>6</vt:i4>
      </vt:variant>
      <vt:variant>
        <vt:lpstr>埋め込まれた OLE サーバー</vt:lpstr>
      </vt:variant>
      <vt:variant>
        <vt:i4>1</vt:i4>
      </vt:variant>
      <vt:variant>
        <vt:lpstr>スライド タイトル</vt:lpstr>
      </vt:variant>
      <vt:variant>
        <vt:i4>35</vt:i4>
      </vt:variant>
    </vt:vector>
  </HeadingPairs>
  <TitlesOfParts>
    <vt:vector size="55" baseType="lpstr">
      <vt:lpstr>Meiryo UI</vt:lpstr>
      <vt:lpstr>ＭＳ Ｐゴシック</vt:lpstr>
      <vt:lpstr>Yu Gothic UI</vt:lpstr>
      <vt:lpstr>游ゴシック</vt:lpstr>
      <vt:lpstr>游ゴシック Light</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提案要旨</vt:lpstr>
      <vt:lpstr>ストレージの選定理由（ AzureSQL＋SPO）</vt:lpstr>
      <vt:lpstr>全体アーキテクチャ</vt:lpstr>
      <vt:lpstr>システム概要</vt:lpstr>
      <vt:lpstr>スケジュール</vt:lpstr>
      <vt:lpstr>見積もり</vt:lpstr>
      <vt:lpstr>結論</vt:lpstr>
      <vt:lpstr>PowerPoint プレゼンテーション</vt:lpstr>
      <vt:lpstr>前書き</vt:lpstr>
      <vt:lpstr>PowerPoint プレゼンテーション</vt:lpstr>
      <vt:lpstr>提案の背景</vt:lpstr>
      <vt:lpstr>システム概要</vt:lpstr>
      <vt:lpstr>ストレージの比較</vt:lpstr>
      <vt:lpstr>ストレージの評価</vt:lpstr>
      <vt:lpstr>ストレージの選定理由（ AzureSQL＋SPO）</vt:lpstr>
      <vt:lpstr>全体アーキテクチャ</vt:lpstr>
      <vt:lpstr>要件の実現（メイン機能）</vt:lpstr>
      <vt:lpstr>要件／ソリューション－添付ファイル管理（編集を含む）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プロジェクト重要検討事項</vt:lpstr>
      <vt:lpstr>スケジュール</vt:lpstr>
      <vt:lpstr>見積もり</vt:lpstr>
      <vt:lpstr>結論</vt:lpstr>
      <vt:lpstr>備考</vt:lpstr>
      <vt:lpstr>サポートとメンテナンス－瑕疵範囲、保守提案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73</cp:revision>
  <dcterms:created xsi:type="dcterms:W3CDTF">2023-05-25T05:41:00Z</dcterms:created>
  <dcterms:modified xsi:type="dcterms:W3CDTF">2025-10-15T15:57:35Z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