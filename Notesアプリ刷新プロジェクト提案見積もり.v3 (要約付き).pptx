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45"/>
  </p:notesMasterIdLst>
  <p:handoutMasterIdLst>
    <p:handoutMasterId r:id="rId46"/>
  </p:handoutMasterIdLst>
  <p:sldIdLst>
    <p:sldId id="16772939" r:id="rId10"/>
    <p:sldId id="16776416" r:id="rId11"/>
    <p:sldId id="16776418" r:id="rId12"/>
    <p:sldId id="16776417" r:id="rId13"/>
    <p:sldId id="16776419" r:id="rId14"/>
    <p:sldId id="16776420" r:id="rId15"/>
    <p:sldId id="16776421" r:id="rId16"/>
    <p:sldId id="16776422" r:id="rId17"/>
    <p:sldId id="16776423" r:id="rId18"/>
    <p:sldId id="16776365" r:id="rId19"/>
    <p:sldId id="16776366" r:id="rId20"/>
    <p:sldId id="16776367" r:id="rId21"/>
    <p:sldId id="16776368" r:id="rId22"/>
    <p:sldId id="16776409" r:id="rId23"/>
    <p:sldId id="16776410" r:id="rId24"/>
    <p:sldId id="16776411" r:id="rId25"/>
    <p:sldId id="16776369" r:id="rId26"/>
    <p:sldId id="16776413" r:id="rId27"/>
    <p:sldId id="16776371" r:id="rId28"/>
    <p:sldId id="16776406" r:id="rId29"/>
    <p:sldId id="16776405" r:id="rId30"/>
    <p:sldId id="16776373" r:id="rId31"/>
    <p:sldId id="16776407" r:id="rId32"/>
    <p:sldId id="16776376" r:id="rId33"/>
    <p:sldId id="16776408" r:id="rId34"/>
    <p:sldId id="16776380" r:id="rId35"/>
    <p:sldId id="16776381" r:id="rId36"/>
    <p:sldId id="16776382" r:id="rId37"/>
    <p:sldId id="16776383" r:id="rId38"/>
    <p:sldId id="16776415" r:id="rId39"/>
    <p:sldId id="16776424" r:id="rId40"/>
    <p:sldId id="16776426" r:id="rId41"/>
    <p:sldId id="16776387" r:id="rId42"/>
    <p:sldId id="16776388" r:id="rId43"/>
    <p:sldId id="16776391" r:id="rId44"/>
  </p:sldIdLst>
  <p:sldSz cx="12192000" cy="6858000"/>
  <p:notesSz cx="6858000" cy="9144000"/>
  <p:custDataLst>
    <p:tags r:id="rId47"/>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416"/>
            <p14:sldId id="16776418"/>
            <p14:sldId id="16776417"/>
            <p14:sldId id="16776419"/>
            <p14:sldId id="16776420"/>
            <p14:sldId id="16776421"/>
            <p14:sldId id="16776422"/>
            <p14:sldId id="16776423"/>
            <p14:sldId id="16776365"/>
            <p14:sldId id="16776366"/>
            <p14:sldId id="16776367"/>
            <p14:sldId id="16776368"/>
            <p14:sldId id="16776409"/>
            <p14:sldId id="16776410"/>
            <p14:sldId id="16776411"/>
            <p14:sldId id="16776369"/>
            <p14:sldId id="16776413"/>
            <p14:sldId id="16776371"/>
            <p14:sldId id="16776406"/>
            <p14:sldId id="16776405"/>
            <p14:sldId id="16776373"/>
            <p14:sldId id="16776407"/>
            <p14:sldId id="16776376"/>
            <p14:sldId id="16776408"/>
            <p14:sldId id="16776380"/>
            <p14:sldId id="16776381"/>
            <p14:sldId id="16776382"/>
            <p14:sldId id="16776383"/>
            <p14:sldId id="16776415"/>
            <p14:sldId id="16776424"/>
            <p14:sldId id="16776426"/>
            <p14:sldId id="16776387"/>
            <p14:sldId id="16776388"/>
            <p14:sldId id="167763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9718" autoAdjust="0"/>
  </p:normalViewPr>
  <p:slideViewPr>
    <p:cSldViewPr snapToGrid="0">
      <p:cViewPr varScale="1">
        <p:scale>
          <a:sx n="129" d="100"/>
          <a:sy n="129" d="100"/>
        </p:scale>
        <p:origin x="106" y="6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2025/10/17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2025/10/17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4EB0-FE8B-B5F3-F3FF-A91381E0FB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E9D9DF-C6BE-0141-AA37-61770B7352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6B6A8D-4471-6AB2-C3F2-F1FD030EA23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BEFB6D9-7AC5-95EF-4AF9-5286738D340E}"/>
              </a:ext>
            </a:extLst>
          </p:cNvPr>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extLst>
      <p:ext uri="{BB962C8B-B14F-4D97-AF65-F5344CB8AC3E}">
        <p14:creationId xmlns:p14="http://schemas.microsoft.com/office/powerpoint/2010/main" val="1533877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4BA3-72CB-1962-CEC9-48CD13C028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2A0F96-C3FF-9E33-DFE6-AAE8BA2BE7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CCA6C9-0673-276C-60D1-40FAF2649D32}"/>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F29A1730-601B-842C-4F27-58A6CE531E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942505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C03A5-0C7D-E47A-3583-AF6DF164F2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895C01-D89A-9398-E365-CDC72F4261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6F881-9293-7F24-7835-3EFC41C0BE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C2945E0-42A8-9502-F08B-97C35C8715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3639296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F8BD-6A4C-DC3E-1A81-A2D146F5D6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6244B0-4083-E30B-68FA-ED105DA580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5C1AED-7E56-090B-DDCB-2B29640883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26CD347-1592-E0BE-CDA7-B966731EA3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498462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E84A-DA2A-1D87-697F-3F29A1634B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7B0F6C-7DBE-17E1-6362-5932AA6565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445A00-6E58-BC2F-66D4-E8CB6224DEC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B3FA2904-7A1B-0138-871A-BCF75B8915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484868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68B3-0CCC-4F11-2E49-D680D44458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B36E07-11F3-036D-152A-649BB86A94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821971-9486-FABE-27C2-9987275AB6B6}"/>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BF74242-762D-19BF-5924-401C8CF9CB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725273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78D84-0030-B7DD-2FF1-CBC7077375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6D92A8-355C-0FED-72DF-E1F19FAAA6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65D96C-9DF7-06EF-6873-B6903652B5D4}"/>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D1B4A19E-4535-2E28-F1CE-447DC2DB12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2596427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4DB5-9D3E-82B5-99D6-4A89C55493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E0686C-208C-E4DA-964C-9DDDF3383D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D29B4-D5FF-EABE-E37D-16D0AD2B145D}"/>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714522-4EFC-A835-32BF-144C70714889}"/>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3928067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6DCA-105F-A480-A7B3-9FE3F59512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C35DB4-3900-98B3-8FAA-D45314B7E07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DFE5AE-E8F5-A1C2-1C69-21B9014D5619}"/>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1F04E894-CDA8-D4D0-2DBB-37554A4913D3}"/>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1198931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60C2-EF7E-723B-FD74-5CBE546F59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A7CF87-EC32-2ED9-C501-903291220D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5F037AC-D9A6-D8E9-4FF0-DBCFC9B6E2E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20D3BE-DA1B-836B-3A38-DBCC771C391A}"/>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754331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fontAlgn="ctr"/>
            <a:r>
              <a:rPr lang="de-DE" altLang="ja-JP" dirty="0"/>
              <a:t>Can view </a:t>
            </a:r>
            <a:r>
              <a:rPr lang="ja-JP" altLang="en-US" dirty="0"/>
              <a:t>⇒　閲覧 </a:t>
            </a:r>
            <a:r>
              <a:rPr lang="en-US" altLang="ja-JP" dirty="0"/>
              <a:t>(</a:t>
            </a:r>
            <a:r>
              <a:rPr lang="de-DE" altLang="ja-JP" dirty="0"/>
              <a:t>Read)</a:t>
            </a:r>
            <a:r>
              <a:rPr lang="ja-JP" altLang="en-US" dirty="0"/>
              <a:t>　⇒　　サイトやドキュメントを</a:t>
            </a:r>
            <a:r>
              <a:rPr lang="ja-JP" altLang="en-US" b="1" dirty="0"/>
              <a:t>表示</a:t>
            </a:r>
            <a:r>
              <a:rPr lang="ja-JP" altLang="en-US" dirty="0"/>
              <a:t>できます。ファイルを開いて読むことはできますが、内容を変更したり、新しいアイテムを追加したりすることはできません。</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download</a:t>
            </a:r>
            <a:r>
              <a:rPr lang="ja-JP" altLang="en-US" dirty="0"/>
              <a:t>　⇒　閲覧 </a:t>
            </a:r>
            <a:r>
              <a:rPr lang="en-US" altLang="ja-JP" dirty="0"/>
              <a:t>(</a:t>
            </a:r>
            <a:r>
              <a:rPr lang="de-DE" altLang="ja-JP" dirty="0"/>
              <a:t>Read)</a:t>
            </a:r>
            <a:r>
              <a:rPr lang="ja-JP" altLang="en-US" dirty="0"/>
              <a:t>　⇒　　「閲覧」権限の一部として、ファイルを開くだけでなく、</a:t>
            </a:r>
            <a:r>
              <a:rPr lang="ja-JP" altLang="en-US" b="1" dirty="0"/>
              <a:t>自分のローカルデバイスにコピーとしてダウンロード</a:t>
            </a:r>
            <a:r>
              <a:rPr lang="ja-JP" altLang="en-US" dirty="0"/>
              <a:t>できます。</a:t>
            </a:r>
            <a:endParaRPr lang="en-US" altLang="ja-JP" dirty="0"/>
          </a:p>
          <a:p>
            <a:pPr marL="0" marR="0" lvl="0" indent="0" algn="l" defTabSz="914400" rtl="0" eaLnBrk="1" fontAlgn="ctr" latinLnBrk="0" hangingPunct="1">
              <a:lnSpc>
                <a:spcPct val="100000"/>
              </a:lnSpc>
              <a:spcBef>
                <a:spcPts val="0"/>
              </a:spcBef>
              <a:spcAft>
                <a:spcPts val="0"/>
              </a:spcAft>
              <a:buClrTx/>
              <a:buSzTx/>
              <a:buFontTx/>
              <a:buNone/>
              <a:tabLst/>
              <a:defRPr/>
            </a:pPr>
            <a:r>
              <a:rPr lang="de-DE" altLang="ja-JP" dirty="0"/>
              <a:t>Can review </a:t>
            </a:r>
            <a:r>
              <a:rPr lang="ja-JP" altLang="en-US" dirty="0"/>
              <a:t>⇒　</a:t>
            </a:r>
            <a:r>
              <a:rPr lang="ja-JP" altLang="en-US" b="1" dirty="0"/>
              <a:t>投稿 </a:t>
            </a:r>
            <a:r>
              <a:rPr lang="en-US" altLang="ja-JP" b="1" dirty="0"/>
              <a:t>(Contribute)</a:t>
            </a:r>
            <a:r>
              <a:rPr lang="ja-JP" altLang="en-US" dirty="0"/>
              <a:t> の拡張、または </a:t>
            </a:r>
            <a:r>
              <a:rPr lang="ja-JP" altLang="en-US" b="1" dirty="0"/>
              <a:t>カスタム　</a:t>
            </a:r>
            <a:r>
              <a:rPr lang="ja-JP" altLang="en-US" dirty="0"/>
              <a:t>⇒　　ファイルを</a:t>
            </a:r>
            <a:r>
              <a:rPr lang="ja-JP" altLang="en-US" b="1" dirty="0"/>
              <a:t>閲覧</a:t>
            </a:r>
            <a:r>
              <a:rPr lang="ja-JP" altLang="en-US" dirty="0"/>
              <a:t>し、</a:t>
            </a:r>
            <a:r>
              <a:rPr lang="ja-JP" altLang="en-US" b="1" dirty="0"/>
              <a:t>コメントを追加</a:t>
            </a:r>
            <a:r>
              <a:rPr lang="ja-JP" altLang="en-US" dirty="0"/>
              <a:t>したり、ドキュメントの</a:t>
            </a:r>
            <a:r>
              <a:rPr lang="ja-JP" altLang="en-US" b="1" dirty="0"/>
              <a:t>承認プロセスに参加</a:t>
            </a:r>
            <a:r>
              <a:rPr lang="ja-JP" altLang="en-US" dirty="0"/>
              <a:t>したりできます。コンテンツの</a:t>
            </a:r>
            <a:r>
              <a:rPr lang="ja-JP" altLang="en-US" b="1" dirty="0"/>
              <a:t>直接的な編集・削除は含まない</a:t>
            </a:r>
            <a:r>
              <a:rPr lang="ja-JP" altLang="en-US" dirty="0"/>
              <a:t>ことが一般的です。</a:t>
            </a:r>
            <a:endParaRPr lang="en-US" altLang="ja-JP" dirty="0"/>
          </a:p>
          <a:p>
            <a:r>
              <a:rPr lang="de-DE" altLang="ja-JP" dirty="0"/>
              <a:t>Can edit</a:t>
            </a:r>
            <a:r>
              <a:rPr lang="ja-JP" altLang="en-US" dirty="0"/>
              <a:t>　⇒　編集 </a:t>
            </a:r>
            <a:r>
              <a:rPr lang="en-US" altLang="ja-JP" dirty="0"/>
              <a:t>(</a:t>
            </a:r>
            <a:r>
              <a:rPr lang="de-DE" altLang="ja-JP" dirty="0"/>
              <a:t>Edit)</a:t>
            </a:r>
            <a:r>
              <a:rPr lang="ja-JP" altLang="en-US" dirty="0"/>
              <a:t>　⇒　　</a:t>
            </a:r>
            <a:r>
              <a:rPr lang="ja-JP" altLang="en-US" b="1" dirty="0"/>
              <a:t>アイテムの追加、編集、削除</a:t>
            </a:r>
            <a:r>
              <a:rPr lang="ja-JP" altLang="en-US" dirty="0"/>
              <a:t>ができます。ドキュメントライブラリ内のファイルを直接修正したり、リストに新しいアイテムを追加したりできます。</a:t>
            </a:r>
            <a:br>
              <a:rPr lang="en-US" altLang="ja-JP" dirty="0"/>
            </a:br>
            <a:br>
              <a:rPr lang="en-US" altLang="ja-JP" dirty="0"/>
            </a:br>
            <a:br>
              <a:rPr lang="en-US" altLang="ja-JP" dirty="0"/>
            </a:br>
            <a:r>
              <a:rPr lang="en-US" altLang="ja-JP" b="1" dirty="0"/>
              <a:t>1. </a:t>
            </a:r>
            <a:r>
              <a:rPr lang="ja-JP" altLang="en-US" b="1" dirty="0"/>
              <a:t>閲覧 </a:t>
            </a:r>
            <a:r>
              <a:rPr lang="en-US" altLang="ja-JP" b="1" dirty="0"/>
              <a:t>(Read) </a:t>
            </a:r>
            <a:r>
              <a:rPr lang="ja-JP" altLang="en-US" b="1" dirty="0"/>
              <a:t>権限：</a:t>
            </a:r>
            <a:r>
              <a:rPr lang="en-US" altLang="ja-JP" b="1" dirty="0"/>
              <a:t>Can view, Can download</a:t>
            </a:r>
          </a:p>
          <a:p>
            <a:r>
              <a:rPr lang="ja-JP" altLang="en-US" dirty="0"/>
              <a:t>これが最も制限された権限レベルです。</a:t>
            </a:r>
          </a:p>
          <a:p>
            <a:r>
              <a:rPr lang="ja-JP" altLang="en-US" b="1" dirty="0"/>
              <a:t>できること</a:t>
            </a:r>
            <a:r>
              <a:rPr lang="en-US" altLang="ja-JP" b="1" dirty="0"/>
              <a:t>:</a:t>
            </a:r>
            <a:endParaRPr lang="ja-JP" altLang="en-US" dirty="0"/>
          </a:p>
          <a:p>
            <a:pPr lvl="1"/>
            <a:r>
              <a:rPr lang="ja-JP" altLang="en-US" b="1" dirty="0"/>
              <a:t>ファイルの表示</a:t>
            </a:r>
            <a:r>
              <a:rPr lang="en-US" altLang="ja-JP" b="1" dirty="0"/>
              <a:t>/</a:t>
            </a:r>
            <a:r>
              <a:rPr lang="ja-JP" altLang="en-US" b="1" dirty="0"/>
              <a:t>プレビュー </a:t>
            </a:r>
            <a:r>
              <a:rPr lang="en-US" altLang="ja-JP" b="1" dirty="0"/>
              <a:t>(Can view):</a:t>
            </a:r>
            <a:r>
              <a:rPr lang="ja-JP" altLang="en-US" dirty="0"/>
              <a:t> ドキュメントやリストアイテムの内容を見ることができます。</a:t>
            </a:r>
          </a:p>
          <a:p>
            <a:pPr lvl="1"/>
            <a:r>
              <a:rPr lang="ja-JP" altLang="en-US" b="1" dirty="0"/>
              <a:t>ダウンロード </a:t>
            </a:r>
            <a:r>
              <a:rPr lang="en-US" altLang="ja-JP" b="1" dirty="0"/>
              <a:t>(Can download):</a:t>
            </a:r>
            <a:r>
              <a:rPr lang="ja-JP" altLang="en-US" dirty="0"/>
              <a:t> ファイルをローカルに保存できます。</a:t>
            </a:r>
          </a:p>
          <a:p>
            <a:pPr lvl="1"/>
            <a:r>
              <a:rPr lang="ja-JP" altLang="en-US" b="1" dirty="0"/>
              <a:t>バージョン履歴の表示</a:t>
            </a:r>
            <a:r>
              <a:rPr lang="en-US" altLang="ja-JP" b="1" dirty="0"/>
              <a:t>:</a:t>
            </a:r>
            <a:r>
              <a:rPr lang="ja-JP" altLang="en-US" dirty="0"/>
              <a:t> アイテムの変更履歴を見ることができます。</a:t>
            </a:r>
          </a:p>
          <a:p>
            <a:r>
              <a:rPr lang="ja-JP" altLang="en-US" b="1" dirty="0"/>
              <a:t>できないこと</a:t>
            </a:r>
            <a:r>
              <a:rPr lang="en-US" altLang="ja-JP" b="1" dirty="0"/>
              <a:t>:</a:t>
            </a:r>
            <a:endParaRPr lang="ja-JP" altLang="en-US" dirty="0"/>
          </a:p>
          <a:p>
            <a:pPr lvl="1"/>
            <a:r>
              <a:rPr lang="ja-JP" altLang="en-US" b="1" dirty="0"/>
              <a:t>ファイルの変更、編集、削除、名前の変更。</a:t>
            </a:r>
            <a:endParaRPr lang="ja-JP" altLang="en-US" dirty="0"/>
          </a:p>
          <a:p>
            <a:pPr lvl="1"/>
            <a:r>
              <a:rPr lang="ja-JP" altLang="en-US" b="1" dirty="0"/>
              <a:t>新しいファイルの追加。</a:t>
            </a:r>
            <a:endParaRPr lang="ja-JP" altLang="en-US" dirty="0"/>
          </a:p>
          <a:p>
            <a:r>
              <a:rPr lang="en-US" altLang="ja-JP" b="1" dirty="0"/>
              <a:t>2. </a:t>
            </a:r>
            <a:r>
              <a:rPr lang="ja-JP" altLang="en-US" b="1" dirty="0"/>
              <a:t>編集 </a:t>
            </a:r>
            <a:r>
              <a:rPr lang="en-US" altLang="ja-JP" b="1" dirty="0"/>
              <a:t>(Edit) </a:t>
            </a:r>
            <a:r>
              <a:rPr lang="ja-JP" altLang="en-US" b="1" dirty="0"/>
              <a:t>権限：</a:t>
            </a:r>
            <a:r>
              <a:rPr lang="en-US" altLang="ja-JP" b="1" dirty="0"/>
              <a:t>Can edit</a:t>
            </a:r>
          </a:p>
          <a:p>
            <a:r>
              <a:rPr lang="ja-JP" altLang="en-US" dirty="0"/>
              <a:t>これはサイトの日常的なコンテンツ管理に最も使われる権限です。</a:t>
            </a:r>
          </a:p>
          <a:p>
            <a:r>
              <a:rPr lang="ja-JP" altLang="en-US" b="1" dirty="0"/>
              <a:t>できること</a:t>
            </a:r>
            <a:r>
              <a:rPr lang="en-US" altLang="ja-JP" b="1" dirty="0"/>
              <a:t>:</a:t>
            </a:r>
            <a:endParaRPr lang="ja-JP" altLang="en-US" dirty="0"/>
          </a:p>
          <a:p>
            <a:pPr lvl="1"/>
            <a:r>
              <a:rPr lang="ja-JP" altLang="en-US" dirty="0"/>
              <a:t>「閲覧」権限のすべて。</a:t>
            </a:r>
          </a:p>
          <a:p>
            <a:pPr lvl="1"/>
            <a:r>
              <a:rPr lang="ja-JP" altLang="en-US" b="1" dirty="0"/>
              <a:t>アイテムの追加、変更、削除 </a:t>
            </a:r>
            <a:r>
              <a:rPr lang="en-US" altLang="ja-JP" b="1" dirty="0"/>
              <a:t>(Can edit):</a:t>
            </a:r>
            <a:r>
              <a:rPr lang="ja-JP" altLang="en-US" dirty="0"/>
              <a:t> ドキュメントの内容を修正したり、ライブラリから削除したり、リストに新しい項目を追加したりできます。</a:t>
            </a:r>
          </a:p>
          <a:p>
            <a:pPr lvl="1"/>
            <a:r>
              <a:rPr lang="ja-JP" altLang="en-US" b="1" dirty="0"/>
              <a:t>自分の</a:t>
            </a:r>
            <a:r>
              <a:rPr lang="ja-JP" altLang="en-US" dirty="0"/>
              <a:t>アイテムを管理（承認プロセスをバイパスして公開など）。</a:t>
            </a:r>
          </a:p>
          <a:p>
            <a:r>
              <a:rPr lang="en-US" altLang="ja-JP" b="1" dirty="0"/>
              <a:t>3. </a:t>
            </a:r>
            <a:r>
              <a:rPr lang="ja-JP" altLang="en-US" b="1" dirty="0"/>
              <a:t>レビュー </a:t>
            </a:r>
            <a:r>
              <a:rPr lang="en-US" altLang="ja-JP" b="1" dirty="0"/>
              <a:t>(Can review) </a:t>
            </a:r>
            <a:r>
              <a:rPr lang="ja-JP" altLang="en-US" b="1" dirty="0"/>
              <a:t>の位置づけ</a:t>
            </a:r>
          </a:p>
          <a:p>
            <a:r>
              <a:rPr lang="ja-JP" altLang="en-US" dirty="0"/>
              <a:t>「</a:t>
            </a:r>
            <a:r>
              <a:rPr lang="en-US" altLang="ja-JP" dirty="0"/>
              <a:t>Can review</a:t>
            </a:r>
            <a:r>
              <a:rPr lang="ja-JP" altLang="en-US" dirty="0"/>
              <a:t>」という権限は標準の </a:t>
            </a:r>
            <a:r>
              <a:rPr lang="en-US" altLang="ja-JP" dirty="0"/>
              <a:t>SharePoint </a:t>
            </a:r>
            <a:r>
              <a:rPr lang="ja-JP" altLang="en-US" dirty="0"/>
              <a:t>権限レベル名にはありませんが、通常、次のいずれかの状態を指します。</a:t>
            </a:r>
          </a:p>
          <a:p>
            <a:r>
              <a:rPr lang="ja-JP" altLang="en-US" b="1" dirty="0"/>
              <a:t>「投稿 </a:t>
            </a:r>
            <a:r>
              <a:rPr lang="en-US" altLang="ja-JP" b="1" dirty="0"/>
              <a:t>(Contribute)</a:t>
            </a:r>
            <a:r>
              <a:rPr lang="ja-JP" altLang="en-US" b="1" dirty="0"/>
              <a:t>」権限</a:t>
            </a:r>
            <a:r>
              <a:rPr lang="en-US" altLang="ja-JP" b="1" dirty="0"/>
              <a:t>:</a:t>
            </a:r>
            <a:r>
              <a:rPr lang="ja-JP" altLang="en-US" dirty="0"/>
              <a:t> 「編集」権限に近く、ファイルの追加・編集はできますが、サイト自体の設定変更はできません。レビューアーが</a:t>
            </a:r>
            <a:r>
              <a:rPr lang="ja-JP" altLang="en-US" b="1" dirty="0"/>
              <a:t>コメント追加や軽微な修正</a:t>
            </a:r>
            <a:r>
              <a:rPr lang="ja-JP" altLang="en-US" dirty="0"/>
              <a:t>を求められる場合に適用されます。</a:t>
            </a:r>
          </a:p>
          <a:p>
            <a:r>
              <a:rPr lang="ja-JP" altLang="en-US" b="1" dirty="0"/>
              <a:t>承認機能の一部</a:t>
            </a:r>
            <a:r>
              <a:rPr lang="en-US" altLang="ja-JP" b="1" dirty="0"/>
              <a:t>:</a:t>
            </a:r>
            <a:r>
              <a:rPr lang="ja-JP" altLang="en-US" dirty="0"/>
              <a:t> ドキュメントライブラリで</a:t>
            </a:r>
            <a:r>
              <a:rPr lang="ja-JP" altLang="en-US" b="1" dirty="0"/>
              <a:t>コンテンツ承認</a:t>
            </a:r>
            <a:r>
              <a:rPr lang="ja-JP" altLang="en-US" dirty="0"/>
              <a:t>が有効になっている場合、ユーザーがファイルにコメントを残し、そのドキュメントを</a:t>
            </a:r>
            <a:r>
              <a:rPr lang="ja-JP" altLang="en-US" b="1" dirty="0"/>
              <a:t>承認または却下</a:t>
            </a:r>
            <a:r>
              <a:rPr lang="ja-JP" altLang="en-US" dirty="0"/>
              <a:t>する役割を担うことを意味します。この場合、ユーザーは必ずしも「編集」権限を持っている必要はありません。</a:t>
            </a:r>
          </a:p>
          <a:p>
            <a:pPr marL="0" marR="0" lvl="0" indent="0" algn="l" defTabSz="914400" rtl="0" eaLnBrk="1" fontAlgn="ctr" latinLnBrk="0" hangingPunct="1">
              <a:lnSpc>
                <a:spcPct val="100000"/>
              </a:lnSpc>
              <a:spcBef>
                <a:spcPts val="0"/>
              </a:spcBef>
              <a:spcAft>
                <a:spcPts val="0"/>
              </a:spcAft>
              <a:buClrTx/>
              <a:buSzTx/>
              <a:buFontTx/>
              <a:buNone/>
              <a:tabLst/>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extLst>
      <p:ext uri="{BB962C8B-B14F-4D97-AF65-F5344CB8AC3E}">
        <p14:creationId xmlns:p14="http://schemas.microsoft.com/office/powerpoint/2010/main" val="950143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extLst>
      <p:ext uri="{BB962C8B-B14F-4D97-AF65-F5344CB8AC3E}">
        <p14:creationId xmlns:p14="http://schemas.microsoft.com/office/powerpoint/2010/main" val="2147904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23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3536337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26</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28</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B4B0-9C44-9EB0-5384-D60E826E40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430AB3-3FFB-328A-4516-04C0BBA207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6D59E68-8CC3-99B0-D6CC-DE1819E4055E}"/>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56444E0C-523B-DD7B-329E-C1F4D4806FA9}"/>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3119669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2398-7517-C1ED-44A5-535B9544C3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6AE16E-DAF4-21DD-A55E-C54E081A14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160E1E-D613-38A6-D23E-027DC13AE19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32D8F59-164C-2E26-8CD4-AB89B41EE2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1595321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09525-11E4-43B3-3F3A-81C521E293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C60E61-74B2-536B-A168-1E1B336003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E4D13C-DD98-BA29-06A6-B756EAB170B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EE000B8-A64A-4C11-176F-8F10E9F7BC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E9B8F7-F11D-7247-854D-760B01224C6A}" type="slidenum">
              <a:rPr kumimoji="1" lang="ja-JP" altLang="en-US" sz="1200" b="0" i="0" u="none" strike="noStrike" kern="1200" cap="none" spc="0" normalizeH="0" baseline="0" noProof="0" smtClean="0">
                <a:ln>
                  <a:noFill/>
                </a:ln>
                <a:solidFill>
                  <a:prstClr val="black"/>
                </a:solidFill>
                <a:effectLst/>
                <a:uLnTx/>
                <a:uFillTx/>
                <a:latin typeface="游ゴシック"/>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1200" b="0" i="0" u="none" strike="noStrike" kern="1200" cap="none" spc="0" normalizeH="0" baseline="0" noProof="0">
              <a:ln>
                <a:noFill/>
              </a:ln>
              <a:solidFill>
                <a:prstClr val="black"/>
              </a:solidFill>
              <a:effectLst/>
              <a:uLnTx/>
              <a:uFillTx/>
              <a:latin typeface="游ゴシック"/>
              <a:ea typeface="游ゴシック" panose="020B0400000000000000" pitchFamily="50" charset="-128"/>
              <a:cs typeface="+mn-cs"/>
            </a:endParaRPr>
          </a:p>
        </p:txBody>
      </p:sp>
    </p:spTree>
    <p:extLst>
      <p:ext uri="{BB962C8B-B14F-4D97-AF65-F5344CB8AC3E}">
        <p14:creationId xmlns:p14="http://schemas.microsoft.com/office/powerpoint/2010/main" val="13558215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10/17/2025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10/17/2025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10/17/2025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18.xml"/><Relationship Id="rId1" Type="http://schemas.openxmlformats.org/officeDocument/2006/relationships/slideLayout" Target="../slideLayouts/slideLayout8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9.xml"/><Relationship Id="rId1" Type="http://schemas.openxmlformats.org/officeDocument/2006/relationships/slideLayout" Target="../slideLayouts/slideLayout81.xml"/><Relationship Id="rId5" Type="http://schemas.openxmlformats.org/officeDocument/2006/relationships/image" Target="../media/image29.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8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learn.microsoft.com/ja-jp/graph/search-concept-overview"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1.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AZURE </a:t>
            </a:r>
            <a:r>
              <a:rPr lang="en-US" altLang="ja-JP" sz="3600" dirty="0" err="1"/>
              <a:t>Sql</a:t>
            </a:r>
            <a:r>
              <a:rPr lang="en-US" altLang="ja-JP" sz="3600" dirty="0"/>
              <a:t>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dirty="0"/>
              <a:t>株式会社　</a:t>
            </a:r>
            <a:r>
              <a:rPr lang="en-US" altLang="ja-JP" dirty="0"/>
              <a:t>GCJ</a:t>
            </a:r>
            <a:endParaRPr lang="ja-JP" altLang="en-US" dirty="0"/>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A20DC-86C9-59D8-0C67-248DB1AA96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C0D805-7A93-404A-DCBA-1A997737F1AB}"/>
              </a:ext>
            </a:extLst>
          </p:cNvPr>
          <p:cNvSpPr>
            <a:spLocks noGrp="1"/>
          </p:cNvSpPr>
          <p:nvPr>
            <p:ph type="title"/>
          </p:nvPr>
        </p:nvSpPr>
        <p:spPr/>
        <p:txBody>
          <a:bodyPr>
            <a:noAutofit/>
          </a:bodyPr>
          <a:lstStyle/>
          <a:p>
            <a:r>
              <a:rPr kumimoji="1" lang="ja-JP" altLang="en-US" dirty="0"/>
              <a:t>提案要旨</a:t>
            </a:r>
          </a:p>
        </p:txBody>
      </p:sp>
      <p:sp>
        <p:nvSpPr>
          <p:cNvPr id="15" name="テキスト ボックス 14">
            <a:extLst>
              <a:ext uri="{FF2B5EF4-FFF2-40B4-BE49-F238E27FC236}">
                <a16:creationId xmlns:a16="http://schemas.microsoft.com/office/drawing/2014/main" id="{CB0F2A1C-1710-588B-3693-29F1830997B2}"/>
              </a:ext>
            </a:extLst>
          </p:cNvPr>
          <p:cNvSpPr txBox="1"/>
          <p:nvPr/>
        </p:nvSpPr>
        <p:spPr>
          <a:xfrm>
            <a:off x="503700" y="748145"/>
            <a:ext cx="11191220" cy="999314"/>
          </a:xfrm>
          <a:prstGeom prst="roundRect">
            <a:avLst>
              <a:gd name="adj" fmla="val 10463"/>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p>
            <a:r>
              <a:rPr lang="ja-JP" altLang="en-US" sz="1600" dirty="0">
                <a:latin typeface="Yu Gothic UI" panose="020B0500000000000000" pitchFamily="50" charset="-128"/>
                <a:ea typeface="Yu Gothic UI" panose="020B0500000000000000" pitchFamily="50" charset="-128"/>
              </a:rPr>
              <a:t>貴社が推奨・利用している技術基盤を基に、</a:t>
            </a:r>
            <a:r>
              <a:rPr kumimoji="0" lang="en-US" altLang="ja-JP" sz="1600" dirty="0">
                <a:latin typeface="Arial" panose="020B0604020202020204" pitchFamily="34" charset="0"/>
              </a:rPr>
              <a:t> 3</a:t>
            </a:r>
            <a:r>
              <a:rPr kumimoji="0" lang="en-US" altLang="ja-JP" sz="1600" baseline="30000" dirty="0">
                <a:latin typeface="Arial" panose="020B0604020202020204" pitchFamily="34" charset="0"/>
              </a:rPr>
              <a:t>rd</a:t>
            </a:r>
            <a:r>
              <a:rPr kumimoji="0" lang="en-US" altLang="ja-JP" sz="1600" dirty="0">
                <a:latin typeface="Arial" panose="020B0604020202020204" pitchFamily="34" charset="0"/>
              </a:rPr>
              <a:t> Party</a:t>
            </a:r>
            <a:r>
              <a:rPr kumimoji="0" lang="ja-JP" altLang="en-US" sz="1600" dirty="0">
                <a:latin typeface="Arial" panose="020B0604020202020204" pitchFamily="34" charset="0"/>
              </a:rPr>
              <a:t>の</a:t>
            </a:r>
            <a:r>
              <a:rPr kumimoji="0" lang="en-US" altLang="ja-JP" sz="1600" dirty="0">
                <a:latin typeface="Arial" panose="020B0604020202020204" pitchFamily="34" charset="0"/>
              </a:rPr>
              <a:t>CMS</a:t>
            </a:r>
            <a:r>
              <a:rPr kumimoji="0" lang="ja-JP" altLang="en-US" sz="1600" dirty="0">
                <a:latin typeface="Arial" panose="020B0604020202020204" pitchFamily="34" charset="0"/>
              </a:rPr>
              <a:t>パッケージを利用せず、</a:t>
            </a:r>
            <a:r>
              <a:rPr lang="ja-JP" altLang="en-US" sz="1600" dirty="0">
                <a:latin typeface="Yu Gothic UI" panose="020B0500000000000000" pitchFamily="50" charset="-128"/>
                <a:ea typeface="Yu Gothic UI" panose="020B0500000000000000" pitchFamily="50" charset="-128"/>
              </a:rPr>
              <a:t>構築と運用のコストを抑えることを優先に</a:t>
            </a:r>
            <a:endParaRPr lang="en-US" altLang="ja-JP" sz="1600" dirty="0">
              <a:latin typeface="Yu Gothic UI" panose="020B0500000000000000" pitchFamily="50" charset="-128"/>
              <a:ea typeface="Yu Gothic UI" panose="020B0500000000000000" pitchFamily="50" charset="-128"/>
            </a:endParaRPr>
          </a:p>
          <a:p>
            <a:r>
              <a:rPr lang="en-US" altLang="ja-JP" sz="2000" dirty="0" err="1">
                <a:latin typeface="Yu Gothic UI" panose="020B0500000000000000" pitchFamily="50" charset="-128"/>
                <a:ea typeface="Yu Gothic UI" panose="020B0500000000000000" pitchFamily="50" charset="-128"/>
              </a:rPr>
              <a:t>PowerPlatform</a:t>
            </a:r>
            <a:r>
              <a:rPr lang="ja-JP" altLang="en-US" sz="2000" dirty="0">
                <a:latin typeface="Yu Gothic UI" panose="020B0500000000000000" pitchFamily="50" charset="-128"/>
                <a:ea typeface="Yu Gothic UI" panose="020B0500000000000000" pitchFamily="50" charset="-128"/>
              </a:rPr>
              <a:t>（貴社推奨）</a:t>
            </a:r>
            <a:r>
              <a:rPr lang="en-US" altLang="ja-JP" sz="2000" dirty="0">
                <a:latin typeface="Yu Gothic UI" panose="020B0500000000000000" pitchFamily="50" charset="-128"/>
                <a:ea typeface="Yu Gothic UI" panose="020B0500000000000000" pitchFamily="50" charset="-128"/>
              </a:rPr>
              <a:t>+Office365</a:t>
            </a:r>
            <a:r>
              <a:rPr lang="ja-JP" altLang="en-US" sz="2000" dirty="0">
                <a:latin typeface="Yu Gothic UI" panose="020B0500000000000000" pitchFamily="50" charset="-128"/>
                <a:ea typeface="Yu Gothic UI" panose="020B0500000000000000" pitchFamily="50" charset="-128"/>
              </a:rPr>
              <a:t>（</a:t>
            </a:r>
            <a:r>
              <a:rPr lang="en-US" altLang="ja-JP" sz="2000" dirty="0">
                <a:latin typeface="Yu Gothic UI" panose="020B0500000000000000" pitchFamily="50" charset="-128"/>
                <a:ea typeface="Yu Gothic UI" panose="020B0500000000000000" pitchFamily="50" charset="-128"/>
              </a:rPr>
              <a:t>Office</a:t>
            </a:r>
            <a:r>
              <a:rPr lang="ja-JP" altLang="en-US" sz="2000" dirty="0">
                <a:latin typeface="Yu Gothic UI" panose="020B0500000000000000" pitchFamily="50" charset="-128"/>
                <a:ea typeface="Yu Gothic UI" panose="020B0500000000000000" pitchFamily="50" charset="-128"/>
              </a:rPr>
              <a:t>機能と</a:t>
            </a:r>
            <a:r>
              <a:rPr lang="en-US" altLang="ja-JP" sz="2000" dirty="0">
                <a:latin typeface="Yu Gothic UI" panose="020B0500000000000000" pitchFamily="50" charset="-128"/>
                <a:ea typeface="Yu Gothic UI" panose="020B0500000000000000" pitchFamily="50" charset="-128"/>
              </a:rPr>
              <a:t>SharePoint</a:t>
            </a:r>
            <a:r>
              <a:rPr lang="ja-JP" altLang="en-US" sz="2000" dirty="0">
                <a:latin typeface="Yu Gothic UI" panose="020B0500000000000000" pitchFamily="50" charset="-128"/>
                <a:ea typeface="Yu Gothic UI" panose="020B0500000000000000" pitchFamily="50" charset="-128"/>
              </a:rPr>
              <a:t>）</a:t>
            </a:r>
            <a:r>
              <a:rPr lang="en-US" altLang="ja-JP" sz="2000" dirty="0">
                <a:latin typeface="Yu Gothic UI" panose="020B0500000000000000" pitchFamily="50" charset="-128"/>
                <a:ea typeface="Yu Gothic UI" panose="020B0500000000000000" pitchFamily="50" charset="-128"/>
              </a:rPr>
              <a:t>+Azure SQL</a:t>
            </a:r>
            <a:r>
              <a:rPr lang="ja-JP" altLang="en-US" sz="2000" dirty="0">
                <a:latin typeface="Yu Gothic UI" panose="020B0500000000000000" pitchFamily="50" charset="-128"/>
                <a:ea typeface="Yu Gothic UI" panose="020B0500000000000000" pitchFamily="50" charset="-128"/>
              </a:rPr>
              <a:t>（パフォーマンス保証）</a:t>
            </a:r>
            <a:r>
              <a:rPr lang="ja-JP" altLang="en-US" sz="1600" dirty="0">
                <a:latin typeface="Yu Gothic UI" panose="020B0500000000000000" pitchFamily="50" charset="-128"/>
                <a:ea typeface="Yu Gothic UI" panose="020B0500000000000000" pitchFamily="50" charset="-128"/>
              </a:rPr>
              <a:t>での構築方法を提案させていただきます。</a:t>
            </a:r>
            <a:endParaRPr kumimoji="1" lang="ja-JP" altLang="en-US" sz="1600" dirty="0">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2394198E-A861-68BE-4265-BB260738D875}"/>
              </a:ext>
            </a:extLst>
          </p:cNvPr>
          <p:cNvSpPr txBox="1"/>
          <p:nvPr/>
        </p:nvSpPr>
        <p:spPr>
          <a:xfrm>
            <a:off x="5205154" y="1871007"/>
            <a:ext cx="6483146" cy="4421289"/>
          </a:xfrm>
          <a:prstGeom prst="roundRect">
            <a:avLst>
              <a:gd name="adj" fmla="val 3427"/>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defPPr>
              <a:defRPr lang="ja-JP"/>
            </a:defPPr>
            <a:lvl1pPr>
              <a:defRPr sz="1600">
                <a:latin typeface="Yu Gothic UI" panose="020B0500000000000000" pitchFamily="50" charset="-128"/>
                <a:ea typeface="Yu Gothic UI" panose="020B0500000000000000" pitchFamily="50" charset="-128"/>
              </a:defRPr>
            </a:lvl1pPr>
            <a:lvl2pPr marL="742950" lvl="1" indent="-285750">
              <a:buFont typeface="Arial" panose="020B0604020202020204" pitchFamily="34" charset="0"/>
              <a:buChar char="•"/>
              <a:defRPr sz="1600"/>
            </a:lvl2pPr>
            <a:lvl3pPr marL="1200150" lvl="2" indent="-285750">
              <a:buFont typeface="Arial" panose="020B0604020202020204" pitchFamily="34" charset="0"/>
              <a:buChar char="•"/>
              <a:defRPr sz="1600"/>
            </a:lvl3pPr>
          </a:lstStyle>
          <a:p>
            <a:r>
              <a:rPr lang="ja-JP" altLang="en-US" dirty="0"/>
              <a:t>ソリューション</a:t>
            </a:r>
            <a:endParaRPr lang="en-US" altLang="ja-JP" dirty="0"/>
          </a:p>
          <a:p>
            <a:r>
              <a:rPr lang="ja-JP" altLang="en-US" dirty="0"/>
              <a:t>１．添付ファイル管理</a:t>
            </a:r>
            <a:endParaRPr lang="en-US" altLang="ja-JP" dirty="0"/>
          </a:p>
          <a:p>
            <a:pPr marL="1028700" lvl="1"/>
            <a:r>
              <a:rPr lang="en-US" altLang="ja-JP" sz="1400" dirty="0"/>
              <a:t>SharePoint</a:t>
            </a:r>
            <a:r>
              <a:rPr lang="ja-JP" altLang="en-US" sz="1400" dirty="0"/>
              <a:t>をストレージとして採用することで</a:t>
            </a:r>
            <a:r>
              <a:rPr lang="en-US" altLang="ja-JP" sz="1400" dirty="0"/>
              <a:t>SharePoint</a:t>
            </a:r>
            <a:r>
              <a:rPr lang="ja-JP" altLang="en-US" sz="1400" dirty="0"/>
              <a:t>サービスで提供している機能を利用</a:t>
            </a:r>
            <a:endParaRPr lang="en-US" altLang="ja-JP" sz="1400" dirty="0"/>
          </a:p>
          <a:p>
            <a:pPr lvl="2">
              <a:buFont typeface="Gill Sans MT" panose="020B0502020104020203" pitchFamily="34" charset="0"/>
              <a:buChar char="–"/>
            </a:pPr>
            <a:r>
              <a:rPr lang="ja-JP" altLang="en-US" sz="1400" dirty="0"/>
              <a:t>貴社推奨の</a:t>
            </a:r>
            <a:r>
              <a:rPr lang="en-US" altLang="ja-JP" sz="1400" dirty="0"/>
              <a:t>Office365</a:t>
            </a:r>
            <a:r>
              <a:rPr lang="ja-JP" altLang="en-US" sz="1400" dirty="0"/>
              <a:t>環境でオンライン編集</a:t>
            </a:r>
            <a:endParaRPr lang="en-US" altLang="ja-JP" sz="1400" dirty="0"/>
          </a:p>
          <a:p>
            <a:pPr lvl="2">
              <a:buFont typeface="Gill Sans MT" panose="020B0502020104020203" pitchFamily="34" charset="0"/>
              <a:buChar char="–"/>
            </a:pPr>
            <a:r>
              <a:rPr lang="ja-JP" altLang="en-US" sz="1400" dirty="0"/>
              <a:t>権限管理（</a:t>
            </a:r>
            <a:r>
              <a:rPr lang="en-US" altLang="ja-JP" sz="1400" dirty="0"/>
              <a:t>SPO</a:t>
            </a:r>
            <a:r>
              <a:rPr lang="ja-JP" altLang="en-US" sz="1400" dirty="0"/>
              <a:t>での直接アクセスを防止）</a:t>
            </a:r>
            <a:endParaRPr lang="en-US" altLang="ja-JP" sz="1400" dirty="0"/>
          </a:p>
          <a:p>
            <a:pPr marL="1028700" lvl="1"/>
            <a:r>
              <a:rPr lang="en-US" altLang="ja-JP" sz="1400" dirty="0"/>
              <a:t>SharePoint</a:t>
            </a:r>
            <a:r>
              <a:rPr lang="ja-JP" altLang="en-US" sz="1400" dirty="0"/>
              <a:t>サービスを提供している機能をカスタマイズして利用</a:t>
            </a:r>
            <a:endParaRPr lang="en-US" altLang="ja-JP" sz="1400" dirty="0"/>
          </a:p>
          <a:p>
            <a:pPr lvl="2">
              <a:buFont typeface="Gill Sans MT" panose="020B0502020104020203" pitchFamily="34" charset="0"/>
              <a:buChar char="–"/>
            </a:pPr>
            <a:r>
              <a:rPr lang="ja-JP" altLang="en-US" sz="1400" dirty="0"/>
              <a:t>一括ダウンロード</a:t>
            </a:r>
            <a:endParaRPr lang="en-US" altLang="ja-JP" sz="1400" dirty="0"/>
          </a:p>
          <a:p>
            <a:pPr lvl="2">
              <a:buFont typeface="Gill Sans MT" panose="020B0502020104020203" pitchFamily="34" charset="0"/>
              <a:buChar char="–"/>
            </a:pPr>
            <a:r>
              <a:rPr lang="ja-JP" altLang="en-US" sz="1400" dirty="0"/>
              <a:t>検索</a:t>
            </a:r>
            <a:endParaRPr lang="en-US" altLang="ja-JP" sz="1400" dirty="0"/>
          </a:p>
          <a:p>
            <a:r>
              <a:rPr lang="ja-JP" altLang="en-US" dirty="0"/>
              <a:t>２．権限管理</a:t>
            </a:r>
            <a:endParaRPr lang="en-US" altLang="ja-JP" dirty="0"/>
          </a:p>
          <a:p>
            <a:pPr marL="1028700" lvl="1"/>
            <a:r>
              <a:rPr lang="en-US" altLang="ja-JP" sz="1400" dirty="0"/>
              <a:t>PowerApps</a:t>
            </a:r>
            <a:r>
              <a:rPr lang="ja-JP" altLang="en-US" sz="1400" dirty="0"/>
              <a:t>のログインユーザ権限で管理</a:t>
            </a:r>
            <a:endParaRPr lang="en-US" altLang="ja-JP" sz="1400" dirty="0"/>
          </a:p>
          <a:p>
            <a:pPr marL="1028700" lvl="1"/>
            <a:r>
              <a:rPr lang="ja-JP" altLang="en-US" sz="1400" dirty="0"/>
              <a:t>ファイルのアクセス権限設定で管理</a:t>
            </a:r>
            <a:endParaRPr lang="en-US" altLang="ja-JP" sz="1400" dirty="0"/>
          </a:p>
          <a:p>
            <a:r>
              <a:rPr lang="ja-JP" altLang="en-US" dirty="0"/>
              <a:t>３．パフォーマンス</a:t>
            </a:r>
            <a:endParaRPr lang="en-US" altLang="ja-JP" dirty="0"/>
          </a:p>
          <a:p>
            <a:pPr marL="1028700" lvl="1"/>
            <a:r>
              <a:rPr lang="en-US" altLang="ja-JP" sz="1400" dirty="0" err="1"/>
              <a:t>AzureSQL</a:t>
            </a:r>
            <a:r>
              <a:rPr lang="ja-JP" altLang="en-US" sz="1400" dirty="0"/>
              <a:t>を採用で定型データを扱うパフォーマンスを保証</a:t>
            </a:r>
            <a:endParaRPr lang="en-US" altLang="ja-JP" sz="1400" dirty="0"/>
          </a:p>
          <a:p>
            <a:pPr marL="1028700" lvl="1"/>
            <a:r>
              <a:rPr lang="en-US" altLang="ja-JP" sz="1400" dirty="0"/>
              <a:t>SharePoint</a:t>
            </a:r>
            <a:r>
              <a:rPr lang="ja-JP" altLang="en-US" sz="1400" dirty="0"/>
              <a:t>を採用で検索のパフォーマンスを保証</a:t>
            </a:r>
            <a:endParaRPr lang="en-US" altLang="ja-JP" sz="1400" dirty="0"/>
          </a:p>
          <a:p>
            <a:pPr marL="1028700" lvl="1"/>
            <a:r>
              <a:rPr lang="ja-JP" altLang="en-US" sz="1400" dirty="0"/>
              <a:t>提案しているアーキテクチャはスケーラビリティが可能</a:t>
            </a:r>
            <a:endParaRPr lang="en-US" altLang="ja-JP" sz="1400" dirty="0"/>
          </a:p>
        </p:txBody>
      </p:sp>
      <p:sp>
        <p:nvSpPr>
          <p:cNvPr id="4" name="テキスト ボックス 3">
            <a:extLst>
              <a:ext uri="{FF2B5EF4-FFF2-40B4-BE49-F238E27FC236}">
                <a16:creationId xmlns:a16="http://schemas.microsoft.com/office/drawing/2014/main" id="{739356BF-8AE5-F7F1-D33F-9087BFFA66EF}"/>
              </a:ext>
            </a:extLst>
          </p:cNvPr>
          <p:cNvSpPr txBox="1"/>
          <p:nvPr/>
        </p:nvSpPr>
        <p:spPr>
          <a:xfrm>
            <a:off x="503700" y="1871008"/>
            <a:ext cx="3617337" cy="4421289"/>
          </a:xfrm>
          <a:prstGeom prst="roundRect">
            <a:avLst>
              <a:gd name="adj" fmla="val 5563"/>
            </a:avLst>
          </a:prstGeom>
          <a:solidFill>
            <a:schemeClr val="accent6">
              <a:lumMod val="20000"/>
              <a:lumOff val="80000"/>
            </a:schemeClr>
          </a:solidFill>
          <a:ln w="6350" cap="flat" cmpd="sng" algn="ctr">
            <a:solidFill>
              <a:schemeClr val="accent6">
                <a:lumMod val="60000"/>
                <a:lumOff val="40000"/>
              </a:schemeClr>
            </a:solidFill>
            <a:prstDash val="solid"/>
            <a:round/>
            <a:headEnd type="oval" w="med" len="med"/>
            <a:tailEnd type="oval" w="med" len="med"/>
          </a:ln>
        </p:spPr>
        <p:txBody>
          <a:bodyPr wrap="square" lIns="36000" tIns="36000" rIns="36000" bIns="36000" rtlCol="0" anchor="ctr" anchorCtr="0">
            <a:noAutofit/>
          </a:bodyPr>
          <a:lstStyle>
            <a:defPPr>
              <a:defRPr lang="ja-JP"/>
            </a:defPPr>
            <a:lvl1pPr>
              <a:defRPr sz="1600">
                <a:latin typeface="Yu Gothic UI" panose="020B0500000000000000" pitchFamily="50" charset="-128"/>
                <a:ea typeface="Yu Gothic UI" panose="020B0500000000000000" pitchFamily="50" charset="-128"/>
              </a:defRPr>
            </a:lvl1pPr>
          </a:lstStyle>
          <a:p>
            <a:r>
              <a:rPr lang="ja-JP" altLang="en-US" dirty="0"/>
              <a:t>要件（メイン）</a:t>
            </a:r>
            <a:endParaRPr lang="en-US" altLang="ja-JP" dirty="0"/>
          </a:p>
          <a:p>
            <a:r>
              <a:rPr lang="ja-JP" altLang="en-US" dirty="0"/>
              <a:t>１．添付ファイル管理</a:t>
            </a:r>
            <a:endParaRPr lang="en-US" altLang="ja-JP" dirty="0"/>
          </a:p>
          <a:p>
            <a:pPr marL="742950" lvl="1" indent="-285750">
              <a:buFont typeface="Arial" panose="020B0604020202020204" pitchFamily="34" charset="0"/>
              <a:buChar char="•"/>
            </a:pPr>
            <a:r>
              <a:rPr lang="ja-JP" altLang="en-US" sz="1600" dirty="0"/>
              <a:t>オンライン編集</a:t>
            </a:r>
            <a:endParaRPr lang="en-US" altLang="ja-JP" sz="1600" dirty="0"/>
          </a:p>
          <a:p>
            <a:pPr marL="742950" lvl="1" indent="-285750">
              <a:buFont typeface="Arial" panose="020B0604020202020204" pitchFamily="34" charset="0"/>
              <a:buChar char="•"/>
            </a:pPr>
            <a:r>
              <a:rPr lang="ja-JP" altLang="en-US" sz="1600" dirty="0"/>
              <a:t>一括ダウンロード</a:t>
            </a:r>
            <a:endParaRPr lang="en-US" altLang="ja-JP" sz="1600" dirty="0"/>
          </a:p>
          <a:p>
            <a:pPr marL="742950" lvl="1" indent="-285750">
              <a:buFont typeface="Arial" panose="020B0604020202020204" pitchFamily="34" charset="0"/>
              <a:buChar char="•"/>
            </a:pPr>
            <a:r>
              <a:rPr lang="ja-JP" altLang="en-US" sz="1600" dirty="0"/>
              <a:t>検索</a:t>
            </a:r>
            <a:endParaRPr lang="en-US" altLang="ja-JP" sz="1600" dirty="0"/>
          </a:p>
          <a:p>
            <a:pPr marL="742950" lvl="1" indent="-285750">
              <a:buFont typeface="Arial" panose="020B0604020202020204" pitchFamily="34" charset="0"/>
              <a:buChar char="•"/>
            </a:pPr>
            <a:r>
              <a:rPr lang="ja-JP" altLang="en-US" sz="1600" dirty="0"/>
              <a:t>権限管理</a:t>
            </a:r>
            <a:endParaRPr lang="en-US" altLang="ja-JP" sz="1600" dirty="0"/>
          </a:p>
          <a:p>
            <a:r>
              <a:rPr lang="ja-JP" altLang="en-US" dirty="0"/>
              <a:t>２．権限管理</a:t>
            </a:r>
            <a:endParaRPr lang="en-US" altLang="ja-JP" dirty="0"/>
          </a:p>
          <a:p>
            <a:pPr marL="742950" lvl="1" indent="-285750">
              <a:buFont typeface="Arial" panose="020B0604020202020204" pitchFamily="34" charset="0"/>
              <a:buChar char="•"/>
            </a:pPr>
            <a:r>
              <a:rPr lang="ja-JP" altLang="en-US" sz="1600" dirty="0"/>
              <a:t>定型データ</a:t>
            </a:r>
            <a:endParaRPr lang="en-US" altLang="ja-JP" sz="1600" dirty="0"/>
          </a:p>
          <a:p>
            <a:pPr marL="742950" lvl="1" indent="-285750">
              <a:buFont typeface="Arial" panose="020B0604020202020204" pitchFamily="34" charset="0"/>
              <a:buChar char="•"/>
            </a:pPr>
            <a:r>
              <a:rPr lang="ja-JP" altLang="en-US" sz="1600" dirty="0"/>
              <a:t>添付ファイル</a:t>
            </a:r>
            <a:endParaRPr lang="en-US" altLang="ja-JP" sz="1600" dirty="0"/>
          </a:p>
          <a:p>
            <a:pPr marL="1200150" lvl="2" indent="-285750">
              <a:buFont typeface="Gill Sans MT" panose="020B0502020104020203" pitchFamily="34" charset="0"/>
              <a:buChar char="–"/>
            </a:pPr>
            <a:r>
              <a:rPr lang="ja-JP" altLang="en-US" sz="1400" dirty="0"/>
              <a:t>ソリューション内</a:t>
            </a:r>
            <a:endParaRPr lang="en-US" altLang="ja-JP" sz="1400" dirty="0"/>
          </a:p>
          <a:p>
            <a:pPr marL="1200150" lvl="2" indent="-285750">
              <a:buFont typeface="Gill Sans MT" panose="020B0502020104020203" pitchFamily="34" charset="0"/>
              <a:buChar char="–"/>
            </a:pPr>
            <a:r>
              <a:rPr lang="ja-JP" altLang="en-US" sz="1400" dirty="0"/>
              <a:t>ストレージでの直アクセス</a:t>
            </a:r>
            <a:endParaRPr lang="en-US" altLang="ja-JP" sz="1400" dirty="0"/>
          </a:p>
          <a:p>
            <a:r>
              <a:rPr lang="ja-JP" altLang="en-US" dirty="0"/>
              <a:t>３．パフォーマンス</a:t>
            </a:r>
            <a:endParaRPr lang="en-US" altLang="ja-JP" dirty="0"/>
          </a:p>
          <a:p>
            <a:pPr marL="742950" lvl="1" indent="-285750">
              <a:buFont typeface="Arial" panose="020B0604020202020204" pitchFamily="34" charset="0"/>
              <a:buChar char="•"/>
            </a:pPr>
            <a:r>
              <a:rPr lang="ja-JP" altLang="en-US" sz="1600" dirty="0"/>
              <a:t>定型データ</a:t>
            </a:r>
            <a:endParaRPr lang="en-US" altLang="ja-JP" sz="1600" dirty="0"/>
          </a:p>
          <a:p>
            <a:pPr marL="742950" lvl="1" indent="-285750">
              <a:buFont typeface="Arial" panose="020B0604020202020204" pitchFamily="34" charset="0"/>
              <a:buChar char="•"/>
            </a:pPr>
            <a:r>
              <a:rPr lang="ja-JP" altLang="en-US" sz="1600" dirty="0"/>
              <a:t>添付ファイル</a:t>
            </a:r>
            <a:endParaRPr lang="en-US" altLang="ja-JP" sz="1600" dirty="0"/>
          </a:p>
          <a:p>
            <a:pPr marL="742950" lvl="1" indent="-285750">
              <a:buFont typeface="Arial" panose="020B0604020202020204" pitchFamily="34" charset="0"/>
              <a:buChar char="•"/>
            </a:pPr>
            <a:r>
              <a:rPr lang="ja-JP" altLang="en-US" sz="1600" dirty="0"/>
              <a:t>スケーラビリティなど</a:t>
            </a:r>
            <a:endParaRPr lang="en-US" altLang="ja-JP" sz="1600" dirty="0"/>
          </a:p>
          <a:p>
            <a:endParaRPr lang="ja-JP" altLang="en-US" dirty="0"/>
          </a:p>
        </p:txBody>
      </p:sp>
      <p:sp>
        <p:nvSpPr>
          <p:cNvPr id="7" name="矢印: ストライプ 6">
            <a:extLst>
              <a:ext uri="{FF2B5EF4-FFF2-40B4-BE49-F238E27FC236}">
                <a16:creationId xmlns:a16="http://schemas.microsoft.com/office/drawing/2014/main" id="{6EF6EDAA-C91B-B641-5B12-146140D5DA6A}"/>
              </a:ext>
            </a:extLst>
          </p:cNvPr>
          <p:cNvSpPr/>
          <p:nvPr/>
        </p:nvSpPr>
        <p:spPr>
          <a:xfrm>
            <a:off x="4162566" y="2865511"/>
            <a:ext cx="995585" cy="2432279"/>
          </a:xfrm>
          <a:prstGeom prst="stripedRightArrow">
            <a:avLst>
              <a:gd name="adj1" fmla="val 50000"/>
              <a:gd name="adj2" fmla="val 50429"/>
            </a:avLst>
          </a:prstGeom>
          <a:solidFill>
            <a:schemeClr val="accent6">
              <a:lumMod val="40000"/>
              <a:lumOff val="60000"/>
            </a:schemeClr>
          </a:solidFill>
          <a:ln w="6350" cap="flat" cmpd="sng" algn="ctr">
            <a:solidFill>
              <a:schemeClr val="bg1">
                <a:lumMod val="85000"/>
              </a:schemeClr>
            </a:solidFill>
            <a:prstDash val="solid"/>
            <a:round/>
            <a:headEnd type="oval" w="med" len="med"/>
            <a:tailEnd type="oval" w="med" len="med"/>
          </a:ln>
        </p:spPr>
        <p:txBody>
          <a:bodyPr wrap="square" lIns="36000" tIns="36000" rIns="36000" bIns="36000" rtlCol="0" anchor="ctr" anchorCtr="0">
            <a:noAutofit/>
          </a:bodyPr>
          <a:lstStyle/>
          <a:p>
            <a:endParaRPr lang="ja-JP" altLang="en-US" sz="1600">
              <a:solidFill>
                <a:schemeClr val="tx1"/>
              </a:solidFill>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33840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87E4C-8248-073F-637E-5F0AE8C7F8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6D2A8D-9D0C-8E9F-E5AB-707EFD4B6465}"/>
              </a:ext>
            </a:extLst>
          </p:cNvPr>
          <p:cNvSpPr>
            <a:spLocks noGrp="1"/>
          </p:cNvSpPr>
          <p:nvPr>
            <p:ph type="title"/>
          </p:nvPr>
        </p:nvSpPr>
        <p:spPr>
          <a:xfrm>
            <a:off x="414336" y="255263"/>
            <a:ext cx="9327072" cy="683629"/>
          </a:xfrm>
        </p:spPr>
        <p:txBody>
          <a:bodyPr>
            <a:normAutofit/>
          </a:bodyPr>
          <a:lstStyle/>
          <a:p>
            <a:r>
              <a:rPr lang="ja-JP" altLang="en-US" dirty="0"/>
              <a:t>ストレージの選定理由（</a:t>
            </a:r>
            <a:r>
              <a:rPr kumimoji="1" lang="en-US" altLang="ja-JP" b="1" cap="none" dirty="0">
                <a:ea typeface="游ゴシック" panose="020B0400000000000000" pitchFamily="50" charset="-128"/>
              </a:rPr>
              <a:t> </a:t>
            </a:r>
            <a:r>
              <a:rPr kumimoji="1" lang="en-US" altLang="ja-JP" b="1" cap="none" dirty="0" err="1">
                <a:ea typeface="游ゴシック" panose="020B0400000000000000" pitchFamily="50" charset="-128"/>
              </a:rPr>
              <a:t>AzureSQL</a:t>
            </a:r>
            <a:r>
              <a:rPr kumimoji="1" lang="ja-JP" altLang="en-US" b="1" cap="none" dirty="0">
                <a:ea typeface="游ゴシック" panose="020B0400000000000000" pitchFamily="50" charset="-128"/>
              </a:rPr>
              <a:t>＋</a:t>
            </a:r>
            <a:r>
              <a:rPr kumimoji="1" lang="en-US" altLang="ja-JP" b="1" cap="none" dirty="0">
                <a:ea typeface="游ゴシック" panose="020B0400000000000000" pitchFamily="50" charset="-128"/>
              </a:rPr>
              <a:t>SPO</a:t>
            </a:r>
            <a:r>
              <a:rPr lang="ja-JP" altLang="en-US" dirty="0"/>
              <a:t>）</a:t>
            </a:r>
          </a:p>
        </p:txBody>
      </p:sp>
      <p:sp>
        <p:nvSpPr>
          <p:cNvPr id="6" name="テキスト ボックス 5">
            <a:extLst>
              <a:ext uri="{FF2B5EF4-FFF2-40B4-BE49-F238E27FC236}">
                <a16:creationId xmlns:a16="http://schemas.microsoft.com/office/drawing/2014/main" id="{649D838A-25FC-01C2-F3EE-632B87B0CDF3}"/>
              </a:ext>
            </a:extLst>
          </p:cNvPr>
          <p:cNvSpPr txBox="1"/>
          <p:nvPr/>
        </p:nvSpPr>
        <p:spPr>
          <a:xfrm>
            <a:off x="273718" y="836099"/>
            <a:ext cx="11412096" cy="3607891"/>
          </a:xfrm>
          <a:prstGeom prst="roundRect">
            <a:avLst>
              <a:gd name="adj" fmla="val 4337"/>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On promise Gateway</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のネットワークボトルネックを解消</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が提供している性能保証を考慮して、想定しているユーザ数に対するパフォーマンスへの配慮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が統合した機能を生かして、システムの構成を単純化にし、運用保守コストへの配慮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lvl="0" indent="-285750">
              <a:buFont typeface="Arial" panose="020B0604020202020204" pitchFamily="34" charset="0"/>
              <a:buChar char="•"/>
              <a:defRPr/>
            </a:pPr>
            <a:r>
              <a:rPr lang="ja-JP" altLang="en-US" sz="1600" dirty="0"/>
              <a:t>添付ファイルの検索サポートは弱いので、添付ファイルのストレージに適切ではないと判断</a:t>
            </a:r>
            <a:endParaRPr lang="en-US" altLang="ja-JP" sz="1600" dirty="0"/>
          </a:p>
          <a:p>
            <a:pPr marL="285750" lvl="0" indent="-285750">
              <a:buFont typeface="Arial" panose="020B0604020202020204" pitchFamily="34" charset="0"/>
              <a:buChar char="•"/>
              <a:defRPr/>
            </a:pPr>
            <a:r>
              <a:rPr lang="ja-JP" altLang="en-US" sz="1600" dirty="0">
                <a:solidFill>
                  <a:prstClr val="black"/>
                </a:solidFill>
                <a:latin typeface="Gill Sans MT"/>
                <a:ea typeface="游ゴシック" panose="020B0400000000000000" pitchFamily="50" charset="-128"/>
              </a:rPr>
              <a:t>添付フィルのオンライン編集を対応できないので、添付ファイルのストレージに適切ではないと判断</a:t>
            </a:r>
            <a:endParaRPr lang="en-US" altLang="ja-JP" sz="1600" dirty="0">
              <a:solidFill>
                <a:prstClr val="black"/>
              </a:solidFill>
              <a:latin typeface="Gill Sans MT"/>
              <a:ea typeface="游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AzureSQL</a:t>
            </a:r>
            <a:r>
              <a:rPr kumimoji="1" lang="en-US" altLang="ja-JP" sz="160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が提供している検索機能を生かすことで、ソリューションが簡単になり、性能の保証と構築・保守コストへの配慮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のアクセス管理機能を生かして、ソリューションが簡単になり、セキュリティーへの配慮</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SharePoint</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が提供しているオンライン編集機能で、ユーザ要件の実現</a:t>
            </a:r>
            <a:endPar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大量ファイルを扱うによるパフォーマンスへの影響をソリューションで対応が必要であるが、その他の提供機能と比較してデメリットが少ない</a:t>
            </a:r>
            <a:endParaRPr kumimoji="1" lang="en-US" altLang="ja-JP" sz="14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Tree>
    <p:extLst>
      <p:ext uri="{BB962C8B-B14F-4D97-AF65-F5344CB8AC3E}">
        <p14:creationId xmlns:p14="http://schemas.microsoft.com/office/powerpoint/2010/main" val="3318443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9491-DDC9-F3E2-3CBB-B246517765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05A140-C69E-2A6E-89A3-1E6DC728AD52}"/>
              </a:ext>
            </a:extLst>
          </p:cNvPr>
          <p:cNvSpPr>
            <a:spLocks noGrp="1"/>
          </p:cNvSpPr>
          <p:nvPr>
            <p:ph type="title"/>
          </p:nvPr>
        </p:nvSpPr>
        <p:spPr>
          <a:xfrm>
            <a:off x="414336" y="255264"/>
            <a:ext cx="9292768" cy="592530"/>
          </a:xfrm>
        </p:spPr>
        <p:txBody>
          <a:bodyPr>
            <a:normAutofit/>
          </a:bodyPr>
          <a:lstStyle/>
          <a:p>
            <a:r>
              <a:rPr lang="ja-JP" altLang="en-US" dirty="0"/>
              <a:t>全体アーキテクチャ</a:t>
            </a:r>
            <a:endParaRPr lang="ja-JP" altLang="en-US" sz="20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9C0B7B95-7F59-B41A-1BE7-2D8CE615366B}"/>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4CD766C6-178B-B5DF-E2AC-8534B69A9518}"/>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A144736-B169-61B5-EC15-3B4F7559D797}"/>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4951F1CB-164C-4DB5-6997-2470E2D4A7ED}"/>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E9F1955-78EC-6EBD-2413-A81D5F1B0F4B}"/>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43F7E8C8-464D-8510-F56C-ADADABB1B01E}"/>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FAB885E4-2FA7-7CC8-2E33-8D0A130C58DA}"/>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78948DB8-18C8-CF15-F746-AE1FC5CDC845}"/>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85361DF1-D474-896E-93A2-C4D320D8FA22}"/>
              </a:ext>
            </a:extLst>
          </p:cNvPr>
          <p:cNvSpPr txBox="1"/>
          <p:nvPr/>
        </p:nvSpPr>
        <p:spPr>
          <a:xfrm>
            <a:off x="2191820" y="2530293"/>
            <a:ext cx="323221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https://apps.powerapps.com/play/e/</a:t>
            </a:r>
            <a:r>
              <a:rPr kumimoji="1" lang="en-US" altLang="ja-JP"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xxx</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313CF296-17E8-8786-1D99-DBFDC3893460}"/>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4AF9AEF4-EE9F-CA3F-3AF3-4457113F3666}"/>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BB02464C-DC7B-8FE8-2928-FF38E4A63FF2}"/>
              </a:ext>
            </a:extLst>
          </p:cNvPr>
          <p:cNvSpPr txBox="1"/>
          <p:nvPr/>
        </p:nvSpPr>
        <p:spPr>
          <a:xfrm>
            <a:off x="921423" y="1098218"/>
            <a:ext cx="127039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Share Point</a:t>
            </a:r>
            <a:endParaRPr kumimoji="1" lang="ja-JP" altLang="en-US" sz="14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sp>
        <p:nvSpPr>
          <p:cNvPr id="26" name="テキスト ボックス 25">
            <a:extLst>
              <a:ext uri="{FF2B5EF4-FFF2-40B4-BE49-F238E27FC236}">
                <a16:creationId xmlns:a16="http://schemas.microsoft.com/office/drawing/2014/main" id="{06E1021F-66EF-2A81-27D3-0BEC6301C2DB}"/>
              </a:ext>
            </a:extLst>
          </p:cNvPr>
          <p:cNvSpPr txBox="1"/>
          <p:nvPr/>
        </p:nvSpPr>
        <p:spPr>
          <a:xfrm>
            <a:off x="1750098" y="1365503"/>
            <a:ext cx="5667794" cy="5309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添付ファイルの</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Direct Access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SPO</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に保存されているファイルのアクセス権限（</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Read/Edit/</a:t>
            </a:r>
            <a:r>
              <a:rPr kumimoji="1" lang="en-US" altLang="ja-JP" sz="900" b="0" i="0" u="none" strike="noStrike" kern="1200" cap="none" spc="0" normalizeH="0" baseline="0" noProof="0" dirty="0" err="1">
                <a:ln>
                  <a:noFill/>
                </a:ln>
                <a:solidFill>
                  <a:srgbClr val="FF0000"/>
                </a:solidFill>
                <a:effectLst/>
                <a:uLnTx/>
                <a:uFillTx/>
                <a:latin typeface="Gill Sans MT"/>
                <a:ea typeface="游ゴシック" panose="020B0400000000000000" pitchFamily="50" charset="-128"/>
                <a:cs typeface="+mn-cs"/>
              </a:rPr>
              <a:t>Downoad</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）は、</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SPO</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に直接にアクセスするときも有効にすることで、添付ファイル</a:t>
            </a:r>
            <a:r>
              <a:rPr kumimoji="1" lang="en-US" altLang="ja-JP"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Upload</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する時に定義したアクセス権限を設定することで制約</a:t>
            </a:r>
            <a:r>
              <a:rPr lang="ja-JP" altLang="en-US" sz="900" dirty="0">
                <a:solidFill>
                  <a:srgbClr val="FF0000"/>
                </a:solidFill>
                <a:latin typeface="Gill Sans MT"/>
                <a:ea typeface="游ゴシック" panose="020B0400000000000000" pitchFamily="50" charset="-128"/>
              </a:rPr>
              <a:t>できます</a:t>
            </a:r>
            <a:r>
              <a:rPr kumimoji="1" lang="ja-JP" altLang="en-US" sz="900" b="0" i="0" u="none" strike="noStrike" kern="1200" cap="none" spc="0" normalizeH="0" baseline="0" noProof="0" dirty="0">
                <a:ln>
                  <a:noFill/>
                </a:ln>
                <a:solidFill>
                  <a:srgbClr val="FF0000"/>
                </a:solidFill>
                <a:effectLst/>
                <a:uLnTx/>
                <a:uFillTx/>
                <a:latin typeface="Gill Sans MT"/>
                <a:ea typeface="游ゴシック" panose="020B0400000000000000" pitchFamily="50" charset="-128"/>
                <a:cs typeface="+mn-cs"/>
              </a:rPr>
              <a:t>。</a:t>
            </a:r>
          </a:p>
        </p:txBody>
      </p:sp>
      <p:sp>
        <p:nvSpPr>
          <p:cNvPr id="29" name="テキスト ボックス 28">
            <a:extLst>
              <a:ext uri="{FF2B5EF4-FFF2-40B4-BE49-F238E27FC236}">
                <a16:creationId xmlns:a16="http://schemas.microsoft.com/office/drawing/2014/main" id="{E8630675-26FB-8F06-5705-31FAB453F993}"/>
              </a:ext>
            </a:extLst>
          </p:cNvPr>
          <p:cNvSpPr txBox="1"/>
          <p:nvPr/>
        </p:nvSpPr>
        <p:spPr>
          <a:xfrm>
            <a:off x="5015821" y="1877305"/>
            <a:ext cx="334774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Table/View/Stored Procedure Access</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9BF2D267-2ABA-C305-A0AA-E82D16BB11BB}"/>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D428C30-912B-CEDF-D639-BF34DF0763EA}"/>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3BF027A2-3BE5-D548-E782-A942F3044C5F}"/>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466C4BF2-C5BA-2AD0-E1DE-40E630DD8C41}"/>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4EF53DF1-3A7E-B81B-9292-E51080785853}"/>
              </a:ext>
            </a:extLst>
          </p:cNvPr>
          <p:cNvSpPr txBox="1"/>
          <p:nvPr/>
        </p:nvSpPr>
        <p:spPr>
          <a:xfrm>
            <a:off x="8636852" y="5626186"/>
            <a:ext cx="26775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システム利用者</a:t>
            </a:r>
            <a:endParaRPr kumimoji="1" lang="en-US" altLang="ja-JP"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rPr>
              <a:t>PowerApps/Power BI/</a:t>
            </a:r>
            <a:r>
              <a:rPr kumimoji="1" lang="en-US" altLang="ja-JP"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Office 365</a:t>
            </a:r>
            <a:r>
              <a:rPr kumimoji="1" lang="en-US" altLang="zh-CN" sz="900" b="0"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rPr>
              <a:t> </a:t>
            </a:r>
            <a:r>
              <a:rPr kumimoji="1" lang="ja-JP" altLang="en-US" sz="9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画面</a:t>
            </a:r>
          </a:p>
        </p:txBody>
      </p:sp>
      <p:sp>
        <p:nvSpPr>
          <p:cNvPr id="56" name="テキスト ボックス 55">
            <a:extLst>
              <a:ext uri="{FF2B5EF4-FFF2-40B4-BE49-F238E27FC236}">
                <a16:creationId xmlns:a16="http://schemas.microsoft.com/office/drawing/2014/main" id="{FC87B1CE-6F40-F804-C5F9-A6C85C2C466B}"/>
              </a:ext>
            </a:extLst>
          </p:cNvPr>
          <p:cNvSpPr txBox="1"/>
          <p:nvPr/>
        </p:nvSpPr>
        <p:spPr>
          <a:xfrm>
            <a:off x="8155961" y="2330601"/>
            <a:ext cx="1330939"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Operator/Admin</a:t>
            </a:r>
            <a:endParaRPr kumimoji="1" lang="ja-JP" altLang="en-US" sz="11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sp>
        <p:nvSpPr>
          <p:cNvPr id="60" name="フローチャート: 判断 59">
            <a:extLst>
              <a:ext uri="{FF2B5EF4-FFF2-40B4-BE49-F238E27FC236}">
                <a16:creationId xmlns:a16="http://schemas.microsoft.com/office/drawing/2014/main" id="{0D090403-53BF-F09C-BAAD-31EF3046C514}"/>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61" name="コネクタ: カギ線 60">
            <a:extLst>
              <a:ext uri="{FF2B5EF4-FFF2-40B4-BE49-F238E27FC236}">
                <a16:creationId xmlns:a16="http://schemas.microsoft.com/office/drawing/2014/main" id="{51055D7A-1147-E984-D2C4-2FBC01125B89}"/>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90E92520-5D71-4648-E423-1EF5DD3BBD8C}"/>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AC05164B-D9A5-10A5-2648-FE22CD92F0AE}"/>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24" name="フローチャート: 判断 1023">
            <a:extLst>
              <a:ext uri="{FF2B5EF4-FFF2-40B4-BE49-F238E27FC236}">
                <a16:creationId xmlns:a16="http://schemas.microsoft.com/office/drawing/2014/main" id="{10F4A5CC-BDB7-FEF3-B6C2-3364F30682FB}"/>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29" name="コネクタ: カギ線 1028">
            <a:extLst>
              <a:ext uri="{FF2B5EF4-FFF2-40B4-BE49-F238E27FC236}">
                <a16:creationId xmlns:a16="http://schemas.microsoft.com/office/drawing/2014/main" id="{23C05401-5241-8FCB-E54F-F00113BB438F}"/>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0F958885-DB7D-C4DD-AC6C-595C8CD57198}"/>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33" name="コネクタ: カギ線 1032">
            <a:extLst>
              <a:ext uri="{FF2B5EF4-FFF2-40B4-BE49-F238E27FC236}">
                <a16:creationId xmlns:a16="http://schemas.microsoft.com/office/drawing/2014/main" id="{EB2B3CCC-9FDB-7FD8-5ED5-A9E66A7922B2}"/>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8F79977E-0F15-8C98-D8F4-1EF491343122}"/>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35" name="テキスト ボックス 1034">
            <a:extLst>
              <a:ext uri="{FF2B5EF4-FFF2-40B4-BE49-F238E27FC236}">
                <a16:creationId xmlns:a16="http://schemas.microsoft.com/office/drawing/2014/main" id="{B4031953-23BE-A145-B118-595B835E8613}"/>
              </a:ext>
            </a:extLst>
          </p:cNvPr>
          <p:cNvSpPr txBox="1"/>
          <p:nvPr/>
        </p:nvSpPr>
        <p:spPr>
          <a:xfrm>
            <a:off x="3717215" y="919407"/>
            <a:ext cx="284844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rPr>
              <a:t>Microsoft Data Center</a:t>
            </a:r>
            <a:endPar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endParaRPr>
          </a:p>
        </p:txBody>
      </p:sp>
      <p:sp>
        <p:nvSpPr>
          <p:cNvPr id="1037" name="テキスト ボックス 1036">
            <a:extLst>
              <a:ext uri="{FF2B5EF4-FFF2-40B4-BE49-F238E27FC236}">
                <a16:creationId xmlns:a16="http://schemas.microsoft.com/office/drawing/2014/main" id="{3DCE5DC7-CDF3-2757-34C2-0308E4344C3E}"/>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MCC</a:t>
            </a:r>
            <a:r>
              <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様</a:t>
            </a:r>
            <a:r>
              <a:rPr kumimoji="1" lang="en-US" altLang="ja-JP"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 </a:t>
            </a:r>
            <a:r>
              <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a:cs typeface="+mn-cs"/>
              </a:rPr>
              <a:t>環境（AWS含む）</a:t>
            </a:r>
            <a:endParaRPr kumimoji="1" lang="ja-JP" altLang="en-US" sz="1800" b="0" i="0" u="none" strike="noStrike" kern="1200" cap="none" spc="0" normalizeH="0" baseline="0" noProof="0" dirty="0">
              <a:ln w="0"/>
              <a:solidFill>
                <a:srgbClr val="B71E42"/>
              </a:solidFill>
              <a:effectLst>
                <a:outerShdw blurRad="38100" dist="25400" dir="5400000" algn="ctr" rotWithShape="0">
                  <a:srgbClr val="6E747A">
                    <a:alpha val="43000"/>
                  </a:srgbClr>
                </a:outerShdw>
              </a:effectLst>
              <a:uLnTx/>
              <a:uFillTx/>
              <a:latin typeface="Gill Sans MT"/>
              <a:ea typeface="游ゴシック" panose="020B0400000000000000" pitchFamily="50" charset="-128"/>
              <a:cs typeface="+mn-cs"/>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7CD0260-63BC-9A10-F6F2-B6EB39BB5DD4}"/>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4B85614A-F0B2-1E58-FCD7-18B3BD8A3554}"/>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9954D27-710C-58E2-FECF-D26BCCA4EC3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7C9261AD-8C1A-ECEB-1B25-7A635758739D}"/>
              </a:ext>
            </a:extLst>
          </p:cNvPr>
          <p:cNvSpPr txBox="1"/>
          <p:nvPr/>
        </p:nvSpPr>
        <p:spPr>
          <a:xfrm>
            <a:off x="4487023" y="4170561"/>
            <a:ext cx="2538877"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文書</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Transaction</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データ</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各種マスタ（属性データ</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定型データ）</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1043" name="コネクタ: カギ線 1042">
            <a:extLst>
              <a:ext uri="{FF2B5EF4-FFF2-40B4-BE49-F238E27FC236}">
                <a16:creationId xmlns:a16="http://schemas.microsoft.com/office/drawing/2014/main" id="{4AC597C0-7D53-EED4-D15B-DC4CA3E3229E}"/>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55977592-AD26-D528-B773-C62683CD8427}"/>
              </a:ext>
            </a:extLst>
          </p:cNvPr>
          <p:cNvSpPr txBox="1"/>
          <p:nvPr/>
        </p:nvSpPr>
        <p:spPr>
          <a:xfrm>
            <a:off x="352525" y="4391627"/>
            <a:ext cx="183188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Automation Flow</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1045" name="テキスト ボックス 1044">
            <a:extLst>
              <a:ext uri="{FF2B5EF4-FFF2-40B4-BE49-F238E27FC236}">
                <a16:creationId xmlns:a16="http://schemas.microsoft.com/office/drawing/2014/main" id="{F9E56C4F-83CC-5C34-95FF-45FE1568A057}"/>
              </a:ext>
            </a:extLst>
          </p:cNvPr>
          <p:cNvSpPr txBox="1"/>
          <p:nvPr/>
        </p:nvSpPr>
        <p:spPr>
          <a:xfrm>
            <a:off x="1631700" y="3769698"/>
            <a:ext cx="1057324"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業務処理</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1046" name="コネクタ: カギ線 1045">
            <a:extLst>
              <a:ext uri="{FF2B5EF4-FFF2-40B4-BE49-F238E27FC236}">
                <a16:creationId xmlns:a16="http://schemas.microsoft.com/office/drawing/2014/main" id="{C43C0C1F-8E30-AEE3-4A91-2C1DC1A32363}"/>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AAD234A4-7A75-AB98-67BE-6969FCA0639D}"/>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49" name="フローチャート: 判断 1048">
            <a:extLst>
              <a:ext uri="{FF2B5EF4-FFF2-40B4-BE49-F238E27FC236}">
                <a16:creationId xmlns:a16="http://schemas.microsoft.com/office/drawing/2014/main" id="{4888C9F0-420A-2446-7ED6-6769DA3484ED}"/>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2" name="フローチャート: 判断 1051">
            <a:extLst>
              <a:ext uri="{FF2B5EF4-FFF2-40B4-BE49-F238E27FC236}">
                <a16:creationId xmlns:a16="http://schemas.microsoft.com/office/drawing/2014/main" id="{DF3BF86F-6F40-0F63-1899-760595D4C885}"/>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3" name="フローチャート: 判断 1052">
            <a:extLst>
              <a:ext uri="{FF2B5EF4-FFF2-40B4-BE49-F238E27FC236}">
                <a16:creationId xmlns:a16="http://schemas.microsoft.com/office/drawing/2014/main" id="{75038324-DC17-1AE9-681E-7DBF0502E5DE}"/>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5" name="テキスト ボックス 1054">
            <a:extLst>
              <a:ext uri="{FF2B5EF4-FFF2-40B4-BE49-F238E27FC236}">
                <a16:creationId xmlns:a16="http://schemas.microsoft.com/office/drawing/2014/main" id="{812398FB-7F8C-ABBA-EA6E-F6DA3B4B5552}"/>
              </a:ext>
            </a:extLst>
          </p:cNvPr>
          <p:cNvSpPr txBox="1"/>
          <p:nvPr/>
        </p:nvSpPr>
        <p:spPr>
          <a:xfrm>
            <a:off x="3155238" y="3604670"/>
            <a:ext cx="171797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Table/View/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Stored Procedure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Access</a:t>
            </a:r>
            <a:endPar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1057" name="フローチャート: 判断 1056">
            <a:extLst>
              <a:ext uri="{FF2B5EF4-FFF2-40B4-BE49-F238E27FC236}">
                <a16:creationId xmlns:a16="http://schemas.microsoft.com/office/drawing/2014/main" id="{7AEED97C-B8A2-FE38-C447-3539EC2C9D82}"/>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58" name="フローチャート: 判断 1057">
            <a:extLst>
              <a:ext uri="{FF2B5EF4-FFF2-40B4-BE49-F238E27FC236}">
                <a16:creationId xmlns:a16="http://schemas.microsoft.com/office/drawing/2014/main" id="{707F8DE5-7F21-B613-7629-653515CC5D63}"/>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59" name="コネクタ: カギ線 1058">
            <a:extLst>
              <a:ext uri="{FF2B5EF4-FFF2-40B4-BE49-F238E27FC236}">
                <a16:creationId xmlns:a16="http://schemas.microsoft.com/office/drawing/2014/main" id="{5192E52C-EC8F-D4CF-6C0E-FE8EDA633E78}"/>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15B9987C-1562-224A-0368-37D8D588B77A}"/>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56077A53-21CA-4491-FDF8-2E7E449143B8}"/>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cxnSp>
        <p:nvCxnSpPr>
          <p:cNvPr id="1062" name="コネクタ: カギ線 1061">
            <a:extLst>
              <a:ext uri="{FF2B5EF4-FFF2-40B4-BE49-F238E27FC236}">
                <a16:creationId xmlns:a16="http://schemas.microsoft.com/office/drawing/2014/main" id="{87B3357D-8948-33EB-0A04-D16433D177A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FB479D44-CC95-AB8A-4FD5-D217FD982B3B}"/>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A5FC2A9D-2CB6-9DE3-1C98-CA80EB21FB46}"/>
              </a:ext>
            </a:extLst>
          </p:cNvPr>
          <p:cNvSpPr txBox="1"/>
          <p:nvPr/>
        </p:nvSpPr>
        <p:spPr>
          <a:xfrm>
            <a:off x="615706" y="2273257"/>
            <a:ext cx="1057324" cy="5770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社員、組織、役職リスト</a:t>
            </a:r>
            <a:endPar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添付ファイル</a:t>
            </a:r>
          </a:p>
        </p:txBody>
      </p:sp>
      <p:sp>
        <p:nvSpPr>
          <p:cNvPr id="1067" name="四角形: 角を丸くする 1066">
            <a:extLst>
              <a:ext uri="{FF2B5EF4-FFF2-40B4-BE49-F238E27FC236}">
                <a16:creationId xmlns:a16="http://schemas.microsoft.com/office/drawing/2014/main" id="{58CE53F0-A598-FD50-6B1B-FBFBD732F5E6}"/>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1069" name="テキスト ボックス 1068">
            <a:extLst>
              <a:ext uri="{FF2B5EF4-FFF2-40B4-BE49-F238E27FC236}">
                <a16:creationId xmlns:a16="http://schemas.microsoft.com/office/drawing/2014/main" id="{B038B31D-5E2E-840D-FB28-25FDCA73783E}"/>
              </a:ext>
            </a:extLst>
          </p:cNvPr>
          <p:cNvSpPr txBox="1"/>
          <p:nvPr/>
        </p:nvSpPr>
        <p:spPr>
          <a:xfrm>
            <a:off x="9800604" y="1160613"/>
            <a:ext cx="111226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F94E4EC7-7FDF-573C-712D-79CA66BF0544}"/>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D6CEC24E-5377-F72A-7D73-53D736841579}"/>
              </a:ext>
            </a:extLst>
          </p:cNvPr>
          <p:cNvSpPr txBox="1"/>
          <p:nvPr/>
        </p:nvSpPr>
        <p:spPr>
          <a:xfrm>
            <a:off x="10634114" y="1590262"/>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Apps</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10480C48-96F3-281E-1065-2E021EB42A9C}"/>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8613977B-C539-CB24-6736-D9FC473F2252}"/>
              </a:ext>
            </a:extLst>
          </p:cNvPr>
          <p:cNvSpPr txBox="1"/>
          <p:nvPr/>
        </p:nvSpPr>
        <p:spPr>
          <a:xfrm>
            <a:off x="10634114" y="2178546"/>
            <a:ext cx="114860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Automate Flow</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7471962F-A904-C92E-6A8B-C91D98F1DCF4}"/>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B03FE45A-9341-678F-3245-935B448E6952}"/>
              </a:ext>
            </a:extLst>
          </p:cNvPr>
          <p:cNvSpPr txBox="1"/>
          <p:nvPr/>
        </p:nvSpPr>
        <p:spPr>
          <a:xfrm>
            <a:off x="10634114" y="2971408"/>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Power BI</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AC8572E4-15B9-1936-27BC-823C16EEAED0}"/>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DAA10548-0438-0037-A4B7-2048F30CF937}"/>
              </a:ext>
            </a:extLst>
          </p:cNvPr>
          <p:cNvSpPr txBox="1"/>
          <p:nvPr/>
        </p:nvSpPr>
        <p:spPr>
          <a:xfrm>
            <a:off x="10634114" y="3580894"/>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Share Point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B8F45309-E46A-D111-A597-6F53F4CDC322}"/>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12DE7656-5A43-8900-FA8D-DE77EF6EDE03}"/>
              </a:ext>
            </a:extLst>
          </p:cNvPr>
          <p:cNvSpPr txBox="1"/>
          <p:nvPr/>
        </p:nvSpPr>
        <p:spPr>
          <a:xfrm>
            <a:off x="10634114" y="4151150"/>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Azure </a:t>
            </a:r>
            <a:r>
              <a:rPr kumimoji="1" lang="en-US" altLang="ja-JP" sz="105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Sql</a:t>
            </a: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 </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Service</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098" name="Picture 2" descr="Sql Server Icons For Windows PNG Transparent Background, Free Download  #11351 - FreeIconsPNG">
            <a:extLst>
              <a:ext uri="{FF2B5EF4-FFF2-40B4-BE49-F238E27FC236}">
                <a16:creationId xmlns:a16="http://schemas.microsoft.com/office/drawing/2014/main" id="{A7828EF4-F790-FC75-1FE1-5E60E17EDBB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5DCCCBBD-9DFC-31D3-4C5C-A2065685A6AF}"/>
              </a:ext>
            </a:extLst>
          </p:cNvPr>
          <p:cNvSpPr txBox="1"/>
          <p:nvPr/>
        </p:nvSpPr>
        <p:spPr>
          <a:xfrm>
            <a:off x="10646735" y="4730277"/>
            <a:ext cx="1148602"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err="1">
                <a:ln>
                  <a:noFill/>
                </a:ln>
                <a:solidFill>
                  <a:prstClr val="black"/>
                </a:solidFill>
                <a:effectLst/>
                <a:uLnTx/>
                <a:uFillTx/>
                <a:latin typeface="Gill Sans MT"/>
                <a:ea typeface="游ゴシック" panose="020B0400000000000000" pitchFamily="50" charset="-128"/>
                <a:cs typeface="+mn-cs"/>
              </a:rPr>
              <a:t>Dvlp</a:t>
            </a: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/Operator Tools</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C027B644-BBC4-FE32-AC50-67DEF55BB5D9}"/>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E526694E-A66C-9472-FC18-6BC717DD26FE}"/>
              </a:ext>
            </a:extLst>
          </p:cNvPr>
          <p:cNvSpPr txBox="1"/>
          <p:nvPr/>
        </p:nvSpPr>
        <p:spPr>
          <a:xfrm>
            <a:off x="10633746" y="5187682"/>
            <a:ext cx="1148602"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Office 365</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Tree>
    <p:extLst>
      <p:ext uri="{BB962C8B-B14F-4D97-AF65-F5344CB8AC3E}">
        <p14:creationId xmlns:p14="http://schemas.microsoft.com/office/powerpoint/2010/main" val="2794701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9A3D7-9C93-2297-B2DA-CD47C5C198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E419D49-E959-CE30-0A7E-0FE519AD5B89}"/>
              </a:ext>
            </a:extLst>
          </p:cNvPr>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a:extLst>
              <a:ext uri="{FF2B5EF4-FFF2-40B4-BE49-F238E27FC236}">
                <a16:creationId xmlns:a16="http://schemas.microsoft.com/office/drawing/2014/main" id="{8302E118-6275-2499-605F-690F8C7DD255}"/>
              </a:ext>
            </a:extLst>
          </p:cNvPr>
          <p:cNvSpPr txBox="1"/>
          <p:nvPr/>
        </p:nvSpPr>
        <p:spPr>
          <a:xfrm>
            <a:off x="414337" y="782995"/>
            <a:ext cx="11386504" cy="5368423"/>
          </a:xfrm>
          <a:prstGeom prst="roundRect">
            <a:avLst>
              <a:gd name="adj" fmla="val 3136"/>
            </a:avLst>
          </a:prstGeom>
          <a:solidFill>
            <a:schemeClr val="accent6">
              <a:lumMod val="20000"/>
              <a:lumOff val="80000"/>
            </a:schemeClr>
          </a:solidFill>
          <a:ln w="9525" cap="flat" cmpd="sng" algn="ctr">
            <a:noFill/>
            <a:prstDash val="solid"/>
            <a:round/>
            <a:headEnd type="oval" w="med" len="med"/>
            <a:tailEnd type="oval" w="med" len="med"/>
          </a:ln>
        </p:spPr>
        <p:txBody>
          <a:bodyPr wrap="square" lIns="36000" tIns="36000" rIns="36000" bIns="36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システム構成</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Office365</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と</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SQL </a:t>
            </a: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を利用してシステム構築し、パフォーマンスを配慮した上に、添付ファイル管理、オンライン編集、一括ダウンロード、検索機能を実現。</a:t>
            </a:r>
            <a:endPar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フロントエンド</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 Canvas App</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で構築。</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ユーザーインターフェースとして、文書の作成</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閲覧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編集画面を提供。</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データベース</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SQL </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をメインのデータストレージとして使用し、文書のメタデータ（文書</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ID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、日付、ステータスなど）を格納し、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Dataverse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と連携し、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PowerApps</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からのアクセス可能に。</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ファイルストレージとしては、</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SharePoint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を使用し、</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Office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PDF</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）を保存。</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ワークフロー</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Power Automate</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で実現（例</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ファイル編集後の同期、文書の承認プロセス）。</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セキュリティ</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Microsoft Entra ID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AD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）で認証。ロールベースアクセス制御（</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RBAC</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）を適用。</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機能要件</a:t>
            </a:r>
            <a:r>
              <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オンライン編集</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承認プロセス（</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Workflow</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）制御</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複数ファイルをユーザローカルへ指定場所にダウンロード</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添付ファイルの内容に指定キーワードで検索</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その他システム要件：</a:t>
            </a:r>
            <a:endParaRPr kumimoji="1" lang="en-US" altLang="ja-JP" sz="14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利用ユーザー数（</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Azure AD</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あり）・・・最小利用人数　約５０００ユーザーのケースと、最大利用人数　約１００００ユーザーのケース二つパターン　</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同時接続数・・・約５００人</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オンラインリクエスト件数・・・約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2,000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件</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バッチ処理件数・・・約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件</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日</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データ容量・・・約</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650 GB</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　</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現行</a:t>
            </a:r>
            <a:r>
              <a:rPr kumimoji="1" lang="en-US" altLang="ja-JP" sz="1200" b="0" i="0" u="none" strike="noStrike" kern="1200" cap="none" spc="0" normalizeH="0" baseline="0" noProof="0" dirty="0" err="1">
                <a:ln>
                  <a:noFill/>
                </a:ln>
                <a:solidFill>
                  <a:prstClr val="black"/>
                </a:solidFill>
                <a:effectLst/>
                <a:uLnTx/>
                <a:uFillTx/>
                <a:latin typeface="Yu Gothic UI" panose="020B0500000000000000" pitchFamily="50" charset="-128"/>
                <a:ea typeface="Yu Gothic UI" panose="020B0500000000000000" pitchFamily="50" charset="-128"/>
                <a:cs typeface="+mn-cs"/>
              </a:rPr>
              <a:t>NotesDB</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ベースの２倍を想定。添付ファイル含む</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検索性・・・レコードデータだけでなく、添付ファイルの中身のフリーワード検索が可能</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応答時間・・・インデックスありで５秒以内、インデックスなしで</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10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秒～</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60</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秒</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添付ファイルの直接編集機能・・・現時点では、</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GCJ</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社からの提案のパターンと、ユーザー側で添付ファイルをダウンロード＆アップロードで実現するパターンとの</a:t>
            </a:r>
            <a:r>
              <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2</a:t>
            </a:r>
            <a:r>
              <a:rPr kumimoji="1" lang="ja-JP" altLang="en-US"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rPr>
              <a:t>パターンを想定</a:t>
            </a:r>
            <a:endParaRPr kumimoji="1" lang="en-US" altLang="ja-JP" sz="1200" b="0"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cs typeface="+mn-cs"/>
            </a:endParaRPr>
          </a:p>
        </p:txBody>
      </p:sp>
    </p:spTree>
    <p:extLst>
      <p:ext uri="{BB962C8B-B14F-4D97-AF65-F5344CB8AC3E}">
        <p14:creationId xmlns:p14="http://schemas.microsoft.com/office/powerpoint/2010/main" val="960442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5D6A-4635-BD4B-D111-5C3F54F604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F82C4A-08A3-DCF6-9DD0-6D95B77955AE}"/>
              </a:ext>
            </a:extLst>
          </p:cNvPr>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2B577A86-469E-88E9-0325-382A7C708B02}"/>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solidFill>
              <a:srgbClr val="0070C0"/>
            </a:solidFill>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230C96D7-3FA5-68B5-2C8E-7BA1BB1587F6}"/>
              </a:ext>
            </a:extLst>
          </p:cNvPr>
          <p:cNvSpPr/>
          <p:nvPr/>
        </p:nvSpPr>
        <p:spPr bwMode="gray">
          <a:xfrm>
            <a:off x="1238487" y="1953321"/>
            <a:ext cx="2754964" cy="262504"/>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algn="ctr" fontAlgn="b"/>
            <a:r>
              <a:rPr kumimoji="0" lang="ja-JP" altLang="en-US" sz="1200" kern="0" dirty="0">
                <a:solidFill>
                  <a:srgbClr val="000000"/>
                </a:solidFill>
                <a:latin typeface="Arial"/>
                <a:ea typeface="Yu Gothic UI"/>
                <a:cs typeface="Arial" panose="020B0604020202020204" pitchFamily="34" charset="0"/>
              </a:rPr>
              <a:t>要件定義理解、仕様確認</a:t>
            </a:r>
          </a:p>
        </p:txBody>
      </p:sp>
      <p:sp>
        <p:nvSpPr>
          <p:cNvPr id="12" name="四角形: 角を丸くする 11">
            <a:extLst>
              <a:ext uri="{FF2B5EF4-FFF2-40B4-BE49-F238E27FC236}">
                <a16:creationId xmlns:a16="http://schemas.microsoft.com/office/drawing/2014/main" id="{22EAB42A-F16D-1B9B-1F91-97A03BA3B4E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システム設計（画面）</a:t>
            </a:r>
          </a:p>
        </p:txBody>
      </p:sp>
      <p:sp>
        <p:nvSpPr>
          <p:cNvPr id="13" name="四角形: 角を丸くする 12">
            <a:extLst>
              <a:ext uri="{FF2B5EF4-FFF2-40B4-BE49-F238E27FC236}">
                <a16:creationId xmlns:a16="http://schemas.microsoft.com/office/drawing/2014/main" id="{B17A8A22-C360-B052-CEF6-E61B90C0B75C}"/>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開発単体、結合試験</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すべてパターンをカバー</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(10</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部署程度</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A6448D76-67DC-5F37-1066-E9D40CD02BB2}"/>
              </a:ext>
            </a:extLst>
          </p:cNvPr>
          <p:cNvSpPr/>
          <p:nvPr/>
        </p:nvSpPr>
        <p:spPr bwMode="gray">
          <a:xfrm>
            <a:off x="4067773" y="3867352"/>
            <a:ext cx="2845949"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36654B2B-F681-E74F-C183-4C26345C4CB1}"/>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69E2BEE-B802-A9F1-DF8A-F748A77B8265}"/>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D46046EE-7C09-902A-CCB4-F0FD1E31C59F}"/>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3403EE9-A065-3193-30E6-C37FDFA53FC6}"/>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E2C2B145-6548-8D39-E2C6-BE856588924B}"/>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D99F65B-AA28-033D-386E-6CA19DD7C41D}"/>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C7DBF06-E04F-3373-48E2-C440C5C512AB}"/>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D42FEB4-6B06-79CF-5522-D0F0FAC85FC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34AE9C86-5DAF-E772-D6FC-C836F78D3B2B}"/>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1E2AE3E3-4F21-9CBF-D6A8-9B215A112681}"/>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A3A54D4F-3A74-C4B7-A1DC-9D1326C7069E}"/>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D7664006-9661-8AA4-E792-E8A8434AD1EC}"/>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464F11D9-EC09-A100-6C62-7433BF3D9FB1}"/>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9A155A-5B39-2D6A-51C7-970F9D33A80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EEDB1827-0364-E6E9-6B57-71E49BA27F47}"/>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69D96C6B-261A-94F5-9742-256B0618F278}"/>
              </a:ext>
            </a:extLst>
          </p:cNvPr>
          <p:cNvSpPr/>
          <p:nvPr/>
        </p:nvSpPr>
        <p:spPr bwMode="gray">
          <a:xfrm>
            <a:off x="1236849" y="2363173"/>
            <a:ext cx="2177307"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lvl="0" algn="ctr" fontAlgn="base">
              <a:spcBef>
                <a:spcPct val="0"/>
              </a:spcBef>
              <a:spcAft>
                <a:spcPct val="0"/>
              </a:spcAft>
              <a:defRPr/>
            </a:pPr>
            <a:r>
              <a:rPr lang="ja-JP" altLang="en-US" sz="1200" dirty="0">
                <a:solidFill>
                  <a:schemeClr val="tx1"/>
                </a:solidFill>
              </a:rPr>
              <a:t>構造設計＆</a:t>
            </a:r>
            <a:r>
              <a:rPr lang="en-US" altLang="ja-JP" sz="1200" dirty="0">
                <a:solidFill>
                  <a:schemeClr val="tx1"/>
                </a:solidFill>
              </a:rPr>
              <a:t>POC</a:t>
            </a:r>
            <a:endPar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endParaRPr>
          </a:p>
        </p:txBody>
      </p:sp>
      <p:cxnSp>
        <p:nvCxnSpPr>
          <p:cNvPr id="44" name="直線コネクタ 43">
            <a:extLst>
              <a:ext uri="{FF2B5EF4-FFF2-40B4-BE49-F238E27FC236}">
                <a16:creationId xmlns:a16="http://schemas.microsoft.com/office/drawing/2014/main" id="{65B500DB-353E-C646-ADC8-0A76B5CB0188}"/>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1A9CB833-016B-242F-1463-5C9BFB28FA81}"/>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1"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POC</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・製造工程の概算見積</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DF902E31-E2B8-7162-8B4B-9AD9BB610DFC}"/>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A0E82062-9E6A-2638-8A2F-5DC1087902EB}"/>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5C9C10AC-EAD6-1DA2-966D-E9414E8B7987}"/>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92577933-E1F6-226D-4056-8247DF51D490}"/>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AD1DA8DD-C9E7-F836-881C-F2D562E04B4B}"/>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1D4FF8AC-D428-6457-105B-0F58F231B247}"/>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EBCB9FD6-0C6D-1707-F42B-7F944A1487E4}"/>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FF0E3E63-DA39-50C6-57E3-8931DFF82214}"/>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A70C045E-7BD4-E6CB-3584-3147D05C20A4}"/>
              </a:ext>
            </a:extLst>
          </p:cNvPr>
          <p:cNvSpPr/>
          <p:nvPr/>
        </p:nvSpPr>
        <p:spPr bwMode="gray">
          <a:xfrm>
            <a:off x="1236849" y="2775159"/>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236A6D0F-8942-CE66-B013-8AF91EBD87FE}"/>
              </a:ext>
            </a:extLst>
          </p:cNvPr>
          <p:cNvSpPr/>
          <p:nvPr/>
        </p:nvSpPr>
        <p:spPr bwMode="gray">
          <a:xfrm>
            <a:off x="6956848" y="3864809"/>
            <a:ext cx="1321801"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Round1 </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01B73093-0CCA-548A-2FFA-347968BA7764}"/>
              </a:ext>
            </a:extLst>
          </p:cNvPr>
          <p:cNvSpPr/>
          <p:nvPr/>
        </p:nvSpPr>
        <p:spPr bwMode="gray">
          <a:xfrm>
            <a:off x="7157754" y="4540383"/>
            <a:ext cx="2275409"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２展開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65" name="四角形: 角を丸くする 64">
            <a:extLst>
              <a:ext uri="{FF2B5EF4-FFF2-40B4-BE49-F238E27FC236}">
                <a16:creationId xmlns:a16="http://schemas.microsoft.com/office/drawing/2014/main" id="{6AD8FF22-48F0-3EDB-A541-797D91E734FE}"/>
              </a:ext>
            </a:extLst>
          </p:cNvPr>
          <p:cNvSpPr/>
          <p:nvPr/>
        </p:nvSpPr>
        <p:spPr bwMode="gray">
          <a:xfrm>
            <a:off x="9511469" y="5150883"/>
            <a:ext cx="1778718"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Round3</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66" name="直線コネクタ 65">
            <a:extLst>
              <a:ext uri="{FF2B5EF4-FFF2-40B4-BE49-F238E27FC236}">
                <a16:creationId xmlns:a16="http://schemas.microsoft.com/office/drawing/2014/main" id="{E7F0D5ED-5933-DE94-D599-1F10CCEDB260}"/>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0AD354CD-0D71-2DBE-0AD1-08F85674D7B0}"/>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6FCE6AAF-3DEA-AE92-6F00-05FDA7CF63B8}"/>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61A3E713-1264-3663-705A-35567FFCFADB}"/>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2CB616B-8A1D-B35C-5A7B-9FCBE7B10945}"/>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96CFDE14-CA97-9E49-1BA6-60CC218871AF}"/>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1CD27798-3FE5-A43A-3450-1E84CFE1EC6B}"/>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C147A661-F258-1D2E-FBE3-514D755494A6}"/>
              </a:ext>
            </a:extLst>
          </p:cNvPr>
          <p:cNvSpPr/>
          <p:nvPr/>
        </p:nvSpPr>
        <p:spPr>
          <a:xfrm>
            <a:off x="6679939" y="3108382"/>
            <a:ext cx="2085351" cy="1068931"/>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D41F9312-782B-4153-382F-122228773B2B}"/>
              </a:ext>
            </a:extLst>
          </p:cNvPr>
          <p:cNvSpPr txBox="1"/>
          <p:nvPr/>
        </p:nvSpPr>
        <p:spPr>
          <a:xfrm>
            <a:off x="4033732" y="2587937"/>
            <a:ext cx="67661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graphicFrame>
        <p:nvGraphicFramePr>
          <p:cNvPr id="9" name="表 8">
            <a:extLst>
              <a:ext uri="{FF2B5EF4-FFF2-40B4-BE49-F238E27FC236}">
                <a16:creationId xmlns:a16="http://schemas.microsoft.com/office/drawing/2014/main" id="{B66829E4-789E-216F-F3DC-C861ECAE46A4}"/>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C702C9C8-33E8-D3B8-9029-7D5B2B315322}"/>
              </a:ext>
            </a:extLst>
          </p:cNvPr>
          <p:cNvSpPr txBox="1"/>
          <p:nvPr/>
        </p:nvSpPr>
        <p:spPr>
          <a:xfrm>
            <a:off x="311630" y="3622150"/>
            <a:ext cx="67665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Round1</a:t>
            </a:r>
            <a:r>
              <a:rPr kumimoji="1" lang="ja-JP" altLang="en-US"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対象機能想定</a:t>
            </a:r>
          </a:p>
        </p:txBody>
      </p:sp>
      <p:sp>
        <p:nvSpPr>
          <p:cNvPr id="4" name="四角形: 角を丸くする 3">
            <a:extLst>
              <a:ext uri="{FF2B5EF4-FFF2-40B4-BE49-F238E27FC236}">
                <a16:creationId xmlns:a16="http://schemas.microsoft.com/office/drawing/2014/main" id="{945A44B2-4077-231F-4CBD-D5A2C5112F05}"/>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に関する説明：</a:t>
            </a:r>
            <a:endPar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システム全体は一つ</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App</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になるため、</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の主作業は移行作業</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移行ツールの入力となる</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DB</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ファイルの差異の対応</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入力データの差異によりの</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Data mapping</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の見直す</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ツール実行</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移行前後データの比較、差異分析、必要によりの対応、移行報告</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会社・組織の業務差異</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表現差異対応、エンハンス要件がない限り、</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のリリース自体は不要</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の本質は：</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対象部署の履歴が利用可能時期のみ</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B02C6532-98F9-F9CB-4A8C-A2BEE7073D4C}"/>
              </a:ext>
            </a:extLst>
          </p:cNvPr>
          <p:cNvSpPr txBox="1"/>
          <p:nvPr/>
        </p:nvSpPr>
        <p:spPr>
          <a:xfrm>
            <a:off x="414336" y="735600"/>
            <a:ext cx="1146980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下記スケジュールは弊社の想定で、ご要望に合わせて開始時間について、調整することが可能で、相談させてください。</a:t>
            </a:r>
          </a:p>
        </p:txBody>
      </p:sp>
    </p:spTree>
    <p:extLst>
      <p:ext uri="{BB962C8B-B14F-4D97-AF65-F5344CB8AC3E}">
        <p14:creationId xmlns:p14="http://schemas.microsoft.com/office/powerpoint/2010/main" val="281135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5AF9E-18AA-8E32-0A94-86C1A92284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6B15A7-7877-8073-8E20-8ED08F2E19EC}"/>
              </a:ext>
            </a:extLst>
          </p:cNvPr>
          <p:cNvSpPr>
            <a:spLocks noGrp="1"/>
          </p:cNvSpPr>
          <p:nvPr>
            <p:ph type="title"/>
          </p:nvPr>
        </p:nvSpPr>
        <p:spPr>
          <a:xfrm>
            <a:off x="414336" y="255263"/>
            <a:ext cx="9327072" cy="683629"/>
          </a:xfrm>
        </p:spPr>
        <p:txBody>
          <a:bodyPr/>
          <a:lstStyle/>
          <a:p>
            <a:r>
              <a:rPr lang="ja-JP" altLang="en-US" dirty="0"/>
              <a:t>見積もり</a:t>
            </a:r>
            <a:endParaRPr lang="ja-JP" altLang="en-US" dirty="0">
              <a:effectLst/>
            </a:endParaRPr>
          </a:p>
        </p:txBody>
      </p:sp>
      <p:graphicFrame>
        <p:nvGraphicFramePr>
          <p:cNvPr id="3" name="表 2">
            <a:extLst>
              <a:ext uri="{FF2B5EF4-FFF2-40B4-BE49-F238E27FC236}">
                <a16:creationId xmlns:a16="http://schemas.microsoft.com/office/drawing/2014/main" id="{1424756A-34A5-E83D-E8E4-8C2423C7A02D}"/>
              </a:ext>
            </a:extLst>
          </p:cNvPr>
          <p:cNvGraphicFramePr>
            <a:graphicFrameLocks noGrp="1"/>
          </p:cNvGraphicFramePr>
          <p:nvPr>
            <p:extLst>
              <p:ext uri="{D42A27DB-BD31-4B8C-83A1-F6EECF244321}">
                <p14:modId xmlns:p14="http://schemas.microsoft.com/office/powerpoint/2010/main" val="3960249483"/>
              </p:ext>
            </p:extLst>
          </p:nvPr>
        </p:nvGraphicFramePr>
        <p:xfrm>
          <a:off x="479552" y="836571"/>
          <a:ext cx="11219955" cy="5276694"/>
        </p:xfrm>
        <a:graphic>
          <a:graphicData uri="http://schemas.openxmlformats.org/drawingml/2006/table">
            <a:tbl>
              <a:tblPr firstRow="1" bandRow="1">
                <a:tableStyleId>{7DF18680-E054-41AD-8BC1-D1AEF772440D}</a:tableStyleId>
              </a:tblPr>
              <a:tblGrid>
                <a:gridCol w="1981682">
                  <a:extLst>
                    <a:ext uri="{9D8B030D-6E8A-4147-A177-3AD203B41FA5}">
                      <a16:colId xmlns:a16="http://schemas.microsoft.com/office/drawing/2014/main" val="1822749168"/>
                    </a:ext>
                  </a:extLst>
                </a:gridCol>
                <a:gridCol w="1063255">
                  <a:extLst>
                    <a:ext uri="{9D8B030D-6E8A-4147-A177-3AD203B41FA5}">
                      <a16:colId xmlns:a16="http://schemas.microsoft.com/office/drawing/2014/main" val="1141317570"/>
                    </a:ext>
                  </a:extLst>
                </a:gridCol>
                <a:gridCol w="8175018">
                  <a:extLst>
                    <a:ext uri="{9D8B030D-6E8A-4147-A177-3AD203B41FA5}">
                      <a16:colId xmlns:a16="http://schemas.microsoft.com/office/drawing/2014/main" val="371397195"/>
                    </a:ext>
                  </a:extLst>
                </a:gridCol>
              </a:tblGrid>
              <a:tr h="137622">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788202">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部署の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部署の差分解析は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17802">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p>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a:t>
                      </a:r>
                      <a:r>
                        <a:rPr lang="en-US" altLang="ja-JP" sz="1050" b="0" u="none" strike="noStrike" kern="1200" dirty="0">
                          <a:solidFill>
                            <a:schemeClr val="tx1"/>
                          </a:solidFill>
                          <a:effectLst/>
                          <a:latin typeface="+mn-lt"/>
                          <a:ea typeface="+mn-ea"/>
                          <a:cs typeface="+mn-cs"/>
                        </a:rPr>
                        <a:t>Facility</a:t>
                      </a:r>
                      <a:r>
                        <a:rPr lang="ja-JP" altLang="en-US" sz="1050" b="0" u="none" strike="noStrike" kern="1200" dirty="0">
                          <a:solidFill>
                            <a:schemeClr val="tx1"/>
                          </a:solidFill>
                          <a:effectLst/>
                          <a:latin typeface="+mn-lt"/>
                          <a:ea typeface="+mn-ea"/>
                          <a:cs typeface="+mn-cs"/>
                        </a:rPr>
                        <a:t>含む）</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ー先行作業工数小計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16</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3375774082"/>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31367">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351203">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ー開発工数小計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128.06</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1301011314"/>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で</a:t>
                      </a:r>
                    </a:p>
                  </a:txBody>
                  <a:tcPr marL="0" marR="0" marT="0" marB="0" anchor="ctr"/>
                </a:tc>
                <a:extLst>
                  <a:ext uri="{0D108BD9-81ED-4DB2-BD59-A6C34878D82A}">
                    <a16:rowId xmlns:a16="http://schemas.microsoft.com/office/drawing/2014/main" val="3197948973"/>
                  </a:ext>
                </a:extLst>
              </a:tr>
              <a:tr h="26273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rPr>
                        <a:t>部署</a:t>
                      </a:r>
                      <a:r>
                        <a:rPr lang="ja-JP" altLang="en-US" sz="1050" b="0" u="none" strike="noStrike" kern="1200" dirty="0">
                          <a:solidFill>
                            <a:schemeClr val="tx1"/>
                          </a:solidFill>
                          <a:effectLst/>
                          <a:latin typeface="+mn-lt"/>
                          <a:ea typeface="+mn-ea"/>
                          <a:cs typeface="+mn-cs"/>
                        </a:rPr>
                        <a:t>、残り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r h="26273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1" u="none" strike="noStrike" kern="1200" dirty="0">
                          <a:solidFill>
                            <a:srgbClr val="0070C0"/>
                          </a:solidFill>
                          <a:effectLst/>
                          <a:latin typeface="+mn-lt"/>
                          <a:ea typeface="+mn-ea"/>
                          <a:cs typeface="+mn-cs"/>
                        </a:rPr>
                        <a:t>ー</a:t>
                      </a:r>
                      <a:r>
                        <a:rPr lang="ja-JP" altLang="en-US" sz="1050" b="1" u="none" strike="noStrike" kern="1200">
                          <a:solidFill>
                            <a:srgbClr val="0070C0"/>
                          </a:solidFill>
                          <a:effectLst/>
                          <a:latin typeface="+mn-lt"/>
                          <a:ea typeface="+mn-ea"/>
                          <a:cs typeface="+mn-cs"/>
                        </a:rPr>
                        <a:t>検収、初期サポート</a:t>
                      </a:r>
                      <a:r>
                        <a:rPr lang="ja-JP" altLang="en-US" sz="1050" b="1" u="none" strike="noStrike" kern="1200" dirty="0">
                          <a:solidFill>
                            <a:srgbClr val="0070C0"/>
                          </a:solidFill>
                          <a:effectLst/>
                          <a:latin typeface="+mn-lt"/>
                          <a:ea typeface="+mn-ea"/>
                          <a:cs typeface="+mn-cs"/>
                        </a:rPr>
                        <a:t>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31</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550416032"/>
                  </a:ext>
                </a:extLst>
              </a:tr>
            </a:tbl>
          </a:graphicData>
        </a:graphic>
      </p:graphicFrame>
      <p:sp>
        <p:nvSpPr>
          <p:cNvPr id="4" name="テキスト ボックス 3">
            <a:extLst>
              <a:ext uri="{FF2B5EF4-FFF2-40B4-BE49-F238E27FC236}">
                <a16:creationId xmlns:a16="http://schemas.microsoft.com/office/drawing/2014/main" id="{43B46341-D05B-44F5-EFC5-045640234706}"/>
              </a:ext>
            </a:extLst>
          </p:cNvPr>
          <p:cNvSpPr txBox="1"/>
          <p:nvPr/>
        </p:nvSpPr>
        <p:spPr>
          <a:xfrm>
            <a:off x="453136" y="6086581"/>
            <a:ext cx="8280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工数：</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175.06MM</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、費用： </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1.26</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億</a:t>
            </a:r>
          </a:p>
        </p:txBody>
      </p:sp>
    </p:spTree>
    <p:extLst>
      <p:ext uri="{BB962C8B-B14F-4D97-AF65-F5344CB8AC3E}">
        <p14:creationId xmlns:p14="http://schemas.microsoft.com/office/powerpoint/2010/main" val="1166079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0576-690F-BC70-D1E4-D6016D1D6C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6EA804-F2DA-1304-6228-A37D45949E1F}"/>
              </a:ext>
            </a:extLst>
          </p:cNvPr>
          <p:cNvSpPr>
            <a:spLocks noGrp="1"/>
          </p:cNvSpPr>
          <p:nvPr>
            <p:ph type="title"/>
          </p:nvPr>
        </p:nvSpPr>
        <p:spPr>
          <a:xfrm>
            <a:off x="414336" y="255263"/>
            <a:ext cx="9327072" cy="528509"/>
          </a:xfrm>
        </p:spPr>
        <p:txBody>
          <a:bodyPr>
            <a:normAutofit fontScale="90000"/>
          </a:bodyPr>
          <a:lstStyle/>
          <a:p>
            <a:r>
              <a:rPr lang="zh-CN" altLang="en-US" dirty="0">
                <a:latin typeface="游ゴシック Light" panose="020B0300000000000000" pitchFamily="50" charset="-128"/>
                <a:ea typeface="游ゴシック Light" panose="020B0300000000000000" pitchFamily="50" charset="-128"/>
              </a:rPr>
              <a:t>結論</a:t>
            </a:r>
            <a:endParaRPr lang="zh-CN" altLang="en-US" dirty="0">
              <a:effectLst/>
              <a:latin typeface="游ゴシック Light" panose="020B0300000000000000" pitchFamily="50" charset="-128"/>
              <a:ea typeface="游ゴシック Light" panose="020B0300000000000000" pitchFamily="50" charset="-128"/>
            </a:endParaRPr>
          </a:p>
        </p:txBody>
      </p:sp>
      <p:sp>
        <p:nvSpPr>
          <p:cNvPr id="15" name="テキスト ボックス 14">
            <a:extLst>
              <a:ext uri="{FF2B5EF4-FFF2-40B4-BE49-F238E27FC236}">
                <a16:creationId xmlns:a16="http://schemas.microsoft.com/office/drawing/2014/main" id="{C9AB1EB2-C2F5-0A37-64A9-EBB077072794}"/>
              </a:ext>
            </a:extLst>
          </p:cNvPr>
          <p:cNvSpPr txBox="1"/>
          <p:nvPr/>
        </p:nvSpPr>
        <p:spPr>
          <a:xfrm>
            <a:off x="414336" y="783772"/>
            <a:ext cx="11490793" cy="4170614"/>
          </a:xfrm>
          <a:prstGeom prst="roundRect">
            <a:avLst>
              <a:gd name="adj" fmla="val 5705"/>
            </a:avLst>
          </a:prstGeom>
          <a:solidFill>
            <a:schemeClr val="accent6">
              <a:lumMod val="20000"/>
              <a:lumOff val="80000"/>
            </a:schemeClr>
          </a:solid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提案のまとめ: </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本方案により、効率的でセキュアな</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文書</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管理を</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Power  Platform</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にて</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実現。</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3</a:t>
            </a:r>
            <a:r>
              <a:rPr kumimoji="0" lang="en-US" altLang="ja-JP" sz="1800" b="0" i="0" u="none" strike="noStrike" kern="1200" cap="none" spc="0" normalizeH="0" baseline="30000" noProof="0" dirty="0">
                <a:ln>
                  <a:noFill/>
                </a:ln>
                <a:solidFill>
                  <a:prstClr val="black"/>
                </a:solidFill>
                <a:effectLst/>
                <a:uLnTx/>
                <a:uFillTx/>
                <a:latin typeface="Arial" panose="020B0604020202020204" pitchFamily="34" charset="0"/>
                <a:ea typeface="游ゴシック" panose="020B0400000000000000" pitchFamily="50" charset="-128"/>
                <a:cs typeface="+mn-cs"/>
              </a:rPr>
              <a:t>rd</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 Party</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の</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CMS</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パッケージを導入せず、</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10</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年間数億のライセンス費用節約</a:t>
            </a: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次ステップ:</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Q/A</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ミーティングの日程調整（必要に応じてセッティング）</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本方案</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に合意が取れた場合、社内稟議に必要となる期間の確認</a:t>
            </a:r>
            <a:endPar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連絡先: </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hlinkClick r:id="rId3">
                  <a:extLst>
                    <a:ext uri="{A12FA001-AC4F-418D-AE19-62706E023703}">
                      <ahyp:hlinkClr xmlns:ahyp="http://schemas.microsoft.com/office/drawing/2018/hyperlinkcolor" val="tx"/>
                    </a:ext>
                  </a:extLst>
                </a:hlinkClick>
              </a:rPr>
              <a:t>yli@gcsoft-jp.com</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zdhe@gcsoft-jp.com</a:t>
            </a:r>
            <a:endParaRPr kumimoji="0" lang="zh-CN"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rPr>
              <a:t>cc: admin@gcsoft-jp.com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前提条件：</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この見積は、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11/30</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まで有効とする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この見積は、仕様書定型データを</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Azure SQL</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に管理、添付ファイルは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SPO</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に管理の前提とする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作業用クラウド環境、</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Azure License</a:t>
            </a:r>
            <a:r>
              <a:rPr kumimoji="0" lang="ja-JP" altLang="en-US" dirty="0">
                <a:solidFill>
                  <a:prstClr val="black"/>
                </a:solidFill>
                <a:latin typeface="Arial" panose="020B0604020202020204" pitchFamily="34" charset="0"/>
                <a:ea typeface="游ゴシック" panose="020B0400000000000000" pitchFamily="50" charset="-128"/>
              </a:rPr>
              <a:t>含む各種ライセンス</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開発環境は</a:t>
            </a:r>
            <a:r>
              <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MCC</a:t>
            </a:r>
            <a:r>
              <a:rPr kumimoji="0" lang="ja-JP" altLang="en-US"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rPr>
              <a:t>により提供する</a:t>
            </a:r>
            <a:endParaRPr kumimoji="0" lang="en-US" altLang="ja-JP" sz="1800" b="0" i="0" u="none" strike="noStrike" kern="1200" cap="none" spc="0" normalizeH="0" baseline="0" noProof="0" dirty="0">
              <a:ln>
                <a:noFill/>
              </a:ln>
              <a:solidFill>
                <a:prstClr val="black"/>
              </a:solidFill>
              <a:effectLst/>
              <a:uLnTx/>
              <a:uFillTx/>
              <a:latin typeface="Arial" panose="020B0604020202020204" pitchFamily="34" charset="0"/>
              <a:ea typeface="游ゴシック" panose="020B0400000000000000" pitchFamily="50" charset="-128"/>
              <a:cs typeface="+mn-cs"/>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mn-cs"/>
            </a:endParaRPr>
          </a:p>
        </p:txBody>
      </p:sp>
    </p:spTree>
    <p:extLst>
      <p:ext uri="{BB962C8B-B14F-4D97-AF65-F5344CB8AC3E}">
        <p14:creationId xmlns:p14="http://schemas.microsoft.com/office/powerpoint/2010/main" val="2327027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41B6318-84F6-278F-959E-A463A2310F0A}"/>
              </a:ext>
            </a:extLst>
          </p:cNvPr>
          <p:cNvSpPr>
            <a:spLocks noGrp="1"/>
          </p:cNvSpPr>
          <p:nvPr>
            <p:ph sz="quarter" idx="10"/>
          </p:nvPr>
        </p:nvSpPr>
        <p:spPr>
          <a:xfrm>
            <a:off x="320675" y="1946218"/>
            <a:ext cx="11550650" cy="1004800"/>
          </a:xfrm>
        </p:spPr>
        <p:txBody>
          <a:bodyPr>
            <a:normAutofit/>
          </a:bodyPr>
          <a:lstStyle/>
          <a:p>
            <a:pPr marL="0" indent="0" algn="ctr">
              <a:buNone/>
            </a:pPr>
            <a:r>
              <a:rPr kumimoji="1" lang="ja-JP" altLang="en-US" sz="4000" dirty="0"/>
              <a:t>以下提案書詳細</a:t>
            </a:r>
          </a:p>
        </p:txBody>
      </p:sp>
    </p:spTree>
    <p:extLst>
      <p:ext uri="{BB962C8B-B14F-4D97-AF65-F5344CB8AC3E}">
        <p14:creationId xmlns:p14="http://schemas.microsoft.com/office/powerpoint/2010/main" val="3138843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前書き</a:t>
            </a:r>
            <a:endParaRPr kumimoji="1" lang="ja-JP" altLang="en-US" dirty="0"/>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dirty="0">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dirty="0">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dirty="0">
              <a:latin typeface="Yu Gothic UI" panose="020B0500000000000000" pitchFamily="50" charset="-128"/>
              <a:ea typeface="Yu Gothic UI" panose="020B0500000000000000" pitchFamily="50" charset="-128"/>
            </a:endParaRPr>
          </a:p>
          <a:p>
            <a:r>
              <a:rPr lang="ja-JP" altLang="en-US" dirty="0">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dirty="0">
              <a:latin typeface="Yu Gothic UI" panose="020B0500000000000000" pitchFamily="50" charset="-128"/>
              <a:ea typeface="Yu Gothic UI" panose="020B0500000000000000" pitchFamily="50" charset="-128"/>
            </a:endParaRPr>
          </a:p>
          <a:p>
            <a:r>
              <a:rPr lang="en-US" altLang="ja-JP" dirty="0">
                <a:latin typeface="Yu Gothic UI" panose="020B0500000000000000" pitchFamily="50" charset="-128"/>
                <a:ea typeface="Yu Gothic UI" panose="020B0500000000000000" pitchFamily="50" charset="-128"/>
              </a:rPr>
              <a:t>		</a:t>
            </a:r>
            <a:r>
              <a:rPr lang="en-US" altLang="ja-JP" sz="2800" dirty="0">
                <a:latin typeface="Yu Gothic UI" panose="020B0500000000000000" pitchFamily="50" charset="-128"/>
                <a:ea typeface="Yu Gothic UI" panose="020B0500000000000000" pitchFamily="50" charset="-128"/>
              </a:rPr>
              <a:t>PowerPlatform+Office365+Azure SQL</a:t>
            </a:r>
          </a:p>
          <a:p>
            <a:r>
              <a:rPr lang="ja-JP" altLang="en-US" dirty="0">
                <a:latin typeface="Yu Gothic UI" panose="020B0500000000000000" pitchFamily="50" charset="-128"/>
                <a:ea typeface="Yu Gothic UI" panose="020B0500000000000000" pitchFamily="50" charset="-128"/>
              </a:rPr>
              <a:t>での構築方法を提案させていただきます。</a:t>
            </a:r>
            <a:endParaRPr lang="en-US" altLang="ja-JP"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dirty="0">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t>ストレージの比較</a:t>
            </a:r>
            <a:endParaRPr lang="en-US" altLang="ja-JP" sz="1600" dirty="0"/>
          </a:p>
          <a:p>
            <a:pPr marL="285750" indent="-285750">
              <a:buFont typeface="Arial" panose="020B0604020202020204" pitchFamily="34" charset="0"/>
              <a:buChar char="•"/>
            </a:pPr>
            <a:r>
              <a:rPr lang="ja-JP" altLang="en-US" sz="1600" dirty="0"/>
              <a:t>ストレージの評価</a:t>
            </a:r>
            <a:endParaRPr lang="en-US" altLang="ja-JP" sz="1600" dirty="0"/>
          </a:p>
          <a:p>
            <a:pPr marL="285750" indent="-285750">
              <a:buFont typeface="Arial" panose="020B0604020202020204" pitchFamily="34" charset="0"/>
              <a:buChar char="•"/>
            </a:pPr>
            <a:r>
              <a:rPr lang="ja-JP" altLang="en-US" sz="1600" dirty="0"/>
              <a:t>ストレージの選定理由</a:t>
            </a:r>
            <a:endParaRPr lang="en-US" altLang="ja-JP" sz="1600" dirty="0"/>
          </a:p>
          <a:p>
            <a:pPr marL="285750" indent="-285750">
              <a:buFont typeface="Arial" panose="020B0604020202020204" pitchFamily="34" charset="0"/>
              <a:buChar char="•"/>
            </a:pPr>
            <a:r>
              <a:rPr lang="ja-JP" altLang="en-US" sz="1600" dirty="0"/>
              <a:t>全体アーキテクチャ</a:t>
            </a:r>
            <a:endParaRPr lang="en-US" altLang="ja-JP" sz="1600" dirty="0"/>
          </a:p>
          <a:p>
            <a:pPr marL="285750" indent="-285750">
              <a:buFont typeface="Arial" panose="020B0604020202020204" pitchFamily="34" charset="0"/>
              <a:buChar char="•"/>
            </a:pPr>
            <a:r>
              <a:rPr lang="ja-JP" altLang="en-US" sz="1600" dirty="0"/>
              <a:t>要件の実現（メイン機能）</a:t>
            </a:r>
            <a:endParaRPr lang="en-US" altLang="ja-JP" sz="1600" dirty="0"/>
          </a:p>
          <a:p>
            <a:pPr marL="285750" indent="-285750">
              <a:buFont typeface="Arial" panose="020B0604020202020204" pitchFamily="34" charset="0"/>
              <a:buChar char="•"/>
            </a:pPr>
            <a:r>
              <a:rPr lang="ja-JP" altLang="en-US" sz="1600" dirty="0"/>
              <a:t>要件</a:t>
            </a:r>
            <a:r>
              <a:rPr lang="en-US" altLang="ja-JP" sz="1600" dirty="0"/>
              <a:t>/</a:t>
            </a:r>
            <a:r>
              <a:rPr lang="ja-JP" altLang="en-US" sz="1600" dirty="0"/>
              <a:t>ソリューション</a:t>
            </a:r>
            <a:endParaRPr lang="en-US" altLang="ja-JP" sz="1600" dirty="0"/>
          </a:p>
          <a:p>
            <a:pPr marL="742950" lvl="1" indent="-285750">
              <a:buFont typeface="Arial" panose="020B0604020202020204" pitchFamily="34" charset="0"/>
              <a:buChar char="•"/>
            </a:pPr>
            <a:r>
              <a:rPr lang="ja-JP" altLang="en-US" sz="1400" dirty="0"/>
              <a:t>添付ファイル管理（編集を含む）</a:t>
            </a:r>
            <a:endParaRPr lang="en-US" altLang="ja-JP" sz="1400" dirty="0"/>
          </a:p>
          <a:p>
            <a:pPr marL="742950" lvl="1" indent="-285750">
              <a:buFont typeface="Arial" panose="020B0604020202020204" pitchFamily="34" charset="0"/>
              <a:buChar char="•"/>
            </a:pPr>
            <a:r>
              <a:rPr lang="ja-JP" altLang="en-US" sz="1400" dirty="0"/>
              <a:t>権限管理</a:t>
            </a:r>
            <a:endParaRPr lang="en-US" altLang="ja-JP" sz="1400" dirty="0"/>
          </a:p>
          <a:p>
            <a:pPr marL="742950" lvl="1" indent="-285750">
              <a:buFont typeface="Arial" panose="020B0604020202020204" pitchFamily="34" charset="0"/>
              <a:buChar char="•"/>
            </a:pPr>
            <a:r>
              <a:rPr lang="ja-JP" altLang="en-US" sz="1400" dirty="0"/>
              <a:t>検索機能</a:t>
            </a:r>
            <a:endParaRPr lang="en-US" altLang="ja-JP" sz="1400" dirty="0"/>
          </a:p>
          <a:p>
            <a:pPr marL="742950" lvl="1" indent="-285750">
              <a:buFont typeface="Arial" panose="020B0604020202020204" pitchFamily="34" charset="0"/>
              <a:buChar char="•"/>
            </a:pPr>
            <a:r>
              <a:rPr lang="ja-JP" altLang="en-US" sz="1400" dirty="0"/>
              <a:t>一括ダウンロード機能</a:t>
            </a:r>
            <a:endParaRPr lang="en-US" altLang="ja-JP" sz="1400" dirty="0"/>
          </a:p>
          <a:p>
            <a:pPr marL="742950" lvl="1" indent="-285750">
              <a:buFont typeface="Arial" panose="020B0604020202020204" pitchFamily="34" charset="0"/>
              <a:buChar char="•"/>
            </a:pPr>
            <a:r>
              <a:rPr lang="ja-JP" altLang="en-US" sz="1400" dirty="0"/>
              <a:t>ユーザ別の属性管理（</a:t>
            </a:r>
            <a:r>
              <a:rPr lang="en-US" altLang="ja-JP" sz="1400" dirty="0"/>
              <a:t>Option</a:t>
            </a:r>
            <a:r>
              <a:rPr lang="ja-JP" altLang="en-US" sz="1400" dirty="0"/>
              <a:t>）</a:t>
            </a:r>
            <a:endParaRPr lang="en-US" altLang="ja-JP" sz="1400" dirty="0"/>
          </a:p>
          <a:p>
            <a:pPr marL="742950" lvl="1" indent="-285750">
              <a:buFont typeface="Arial" panose="020B0604020202020204" pitchFamily="34" charset="0"/>
              <a:buChar char="•"/>
            </a:pPr>
            <a:r>
              <a:rPr lang="ja-JP" altLang="en-US" sz="1400" dirty="0"/>
              <a:t>非機能要件（パフォーマンス、</a:t>
            </a:r>
            <a:r>
              <a:rPr lang="en-US" altLang="ja-JP" sz="1400" dirty="0"/>
              <a:t>HA</a:t>
            </a:r>
            <a:r>
              <a:rPr lang="ja-JP" altLang="en-US" sz="1400" dirty="0"/>
              <a:t>など）</a:t>
            </a:r>
            <a:endParaRPr lang="en-US" altLang="ja-JP" sz="1400" dirty="0"/>
          </a:p>
          <a:p>
            <a:pPr marL="742950" lvl="1" indent="-285750">
              <a:buFont typeface="Arial" panose="020B0604020202020204" pitchFamily="34" charset="0"/>
              <a:buChar char="•"/>
            </a:pPr>
            <a:r>
              <a:rPr lang="ja-JP" altLang="en-US" sz="1400" dirty="0"/>
              <a:t>データ移行</a:t>
            </a:r>
            <a:endParaRPr lang="en-US" altLang="ja-JP" sz="14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プロジェクト重要検討事項</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ja-JP" altLang="en-US" sz="1400" dirty="0"/>
              <a:t>サポートとメンテナンス－瑕疵範囲、保守提案</a:t>
            </a:r>
            <a:endParaRPr lang="en-US" altLang="ja-JP" sz="1400" dirty="0"/>
          </a:p>
        </p:txBody>
      </p:sp>
      <p:sp>
        <p:nvSpPr>
          <p:cNvPr id="3" name="タイトル 1">
            <a:extLst>
              <a:ext uri="{FF2B5EF4-FFF2-40B4-BE49-F238E27FC236}">
                <a16:creationId xmlns:a16="http://schemas.microsoft.com/office/drawing/2014/main" id="{0FF4EC80-8596-5D54-C4BC-E52BEA3A7CC4}"/>
              </a:ext>
            </a:extLst>
          </p:cNvPr>
          <p:cNvSpPr txBox="1">
            <a:spLocks/>
          </p:cNvSpPr>
          <p:nvPr/>
        </p:nvSpPr>
        <p:spPr>
          <a:xfrm>
            <a:off x="414337" y="209788"/>
            <a:ext cx="9327072" cy="36933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kumimoji="0" lang="ja-JP" altLang="en-US" dirty="0"/>
              <a:t>目次</a:t>
            </a: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提案の背景</a:t>
            </a:r>
            <a:endParaRPr kumimoji="1" lang="ja-JP" altLang="en-US" dirty="0"/>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324E-E92D-D5A1-F8CB-DFBA1B4BCD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39F42E-2427-3507-E203-456B4AD6255A}"/>
              </a:ext>
            </a:extLst>
          </p:cNvPr>
          <p:cNvSpPr>
            <a:spLocks noGrp="1"/>
          </p:cNvSpPr>
          <p:nvPr>
            <p:ph type="title"/>
          </p:nvPr>
        </p:nvSpPr>
        <p:spPr>
          <a:xfrm>
            <a:off x="414336" y="260076"/>
            <a:ext cx="9327072" cy="683629"/>
          </a:xfrm>
        </p:spPr>
        <p:txBody>
          <a:bodyPr>
            <a:normAutofit/>
          </a:bodyPr>
          <a:lstStyle/>
          <a:p>
            <a:r>
              <a:rPr lang="ja-JP" altLang="en-US" dirty="0"/>
              <a:t>ストレージの比較</a:t>
            </a:r>
          </a:p>
        </p:txBody>
      </p:sp>
      <p:graphicFrame>
        <p:nvGraphicFramePr>
          <p:cNvPr id="5" name="表 4">
            <a:extLst>
              <a:ext uri="{FF2B5EF4-FFF2-40B4-BE49-F238E27FC236}">
                <a16:creationId xmlns:a16="http://schemas.microsoft.com/office/drawing/2014/main" id="{3A6FBDD2-A439-C0DC-4D69-5232C77809C4}"/>
              </a:ext>
            </a:extLst>
          </p:cNvPr>
          <p:cNvGraphicFramePr>
            <a:graphicFrameLocks noGrp="1"/>
          </p:cNvGraphicFramePr>
          <p:nvPr>
            <p:extLst>
              <p:ext uri="{D42A27DB-BD31-4B8C-83A1-F6EECF244321}">
                <p14:modId xmlns:p14="http://schemas.microsoft.com/office/powerpoint/2010/main" val="713359367"/>
              </p:ext>
            </p:extLst>
          </p:nvPr>
        </p:nvGraphicFramePr>
        <p:xfrm>
          <a:off x="273718" y="959094"/>
          <a:ext cx="11723915" cy="5359261"/>
        </p:xfrm>
        <a:graphic>
          <a:graphicData uri="http://schemas.openxmlformats.org/drawingml/2006/table">
            <a:tbl>
              <a:tblPr firstRow="1">
                <a:tableStyleId>{2D5ABB26-0587-4C30-8999-92F81FD0307C}</a:tableStyleId>
              </a:tblPr>
              <a:tblGrid>
                <a:gridCol w="686402">
                  <a:extLst>
                    <a:ext uri="{9D8B030D-6E8A-4147-A177-3AD203B41FA5}">
                      <a16:colId xmlns:a16="http://schemas.microsoft.com/office/drawing/2014/main" val="2689841149"/>
                    </a:ext>
                  </a:extLst>
                </a:gridCol>
                <a:gridCol w="1119672">
                  <a:extLst>
                    <a:ext uri="{9D8B030D-6E8A-4147-A177-3AD203B41FA5}">
                      <a16:colId xmlns:a16="http://schemas.microsoft.com/office/drawing/2014/main" val="20000"/>
                    </a:ext>
                  </a:extLst>
                </a:gridCol>
                <a:gridCol w="1806127">
                  <a:extLst>
                    <a:ext uri="{9D8B030D-6E8A-4147-A177-3AD203B41FA5}">
                      <a16:colId xmlns:a16="http://schemas.microsoft.com/office/drawing/2014/main" val="20001"/>
                    </a:ext>
                  </a:extLst>
                </a:gridCol>
                <a:gridCol w="2015359">
                  <a:extLst>
                    <a:ext uri="{9D8B030D-6E8A-4147-A177-3AD203B41FA5}">
                      <a16:colId xmlns:a16="http://schemas.microsoft.com/office/drawing/2014/main" val="2142441908"/>
                    </a:ext>
                  </a:extLst>
                </a:gridCol>
                <a:gridCol w="2044377">
                  <a:extLst>
                    <a:ext uri="{9D8B030D-6E8A-4147-A177-3AD203B41FA5}">
                      <a16:colId xmlns:a16="http://schemas.microsoft.com/office/drawing/2014/main" val="20002"/>
                    </a:ext>
                  </a:extLst>
                </a:gridCol>
                <a:gridCol w="1852863">
                  <a:extLst>
                    <a:ext uri="{9D8B030D-6E8A-4147-A177-3AD203B41FA5}">
                      <a16:colId xmlns:a16="http://schemas.microsoft.com/office/drawing/2014/main" val="20003"/>
                    </a:ext>
                  </a:extLst>
                </a:gridCol>
                <a:gridCol w="2199115">
                  <a:extLst>
                    <a:ext uri="{9D8B030D-6E8A-4147-A177-3AD203B41FA5}">
                      <a16:colId xmlns:a16="http://schemas.microsoft.com/office/drawing/2014/main" val="20004"/>
                    </a:ext>
                  </a:extLst>
                </a:gridCol>
              </a:tblGrid>
              <a:tr h="210866">
                <a:tc>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ja-JP" altLang="en-US" sz="700" dirty="0"/>
                        <a:t>項目</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SQL Server 2022</a:t>
                      </a:r>
                      <a:r>
                        <a:rPr lang="en-US" altLang="ja-JP" sz="700" dirty="0">
                          <a:effectLst/>
                        </a:rPr>
                        <a:t>(</a:t>
                      </a:r>
                      <a:r>
                        <a:rPr lang="ja-JP" altLang="en-US" sz="700" dirty="0">
                          <a:effectLst/>
                        </a:rPr>
                        <a:t>オンプレミス</a:t>
                      </a:r>
                      <a:r>
                        <a:rPr lang="en-US" altLang="ja-JP" sz="700" dirty="0">
                          <a:effectLst/>
                        </a:rPr>
                        <a:t>DB</a:t>
                      </a:r>
                      <a:r>
                        <a:rPr lang="en-US" sz="7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effectLst/>
                        </a:rPr>
                        <a:t>Azure SQL Database (</a:t>
                      </a:r>
                      <a:r>
                        <a:rPr lang="ja-JP" altLang="en-US" sz="700" kern="1200" dirty="0">
                          <a:solidFill>
                            <a:schemeClr val="tx1"/>
                          </a:solidFill>
                          <a:effectLst/>
                          <a:latin typeface="+mn-lt"/>
                          <a:ea typeface="+mn-ea"/>
                          <a:cs typeface="+mn-cs"/>
                        </a:rPr>
                        <a:t>クラウド</a:t>
                      </a:r>
                      <a:r>
                        <a:rPr lang="de-DE" altLang="ja-JP" sz="700" kern="1200" dirty="0">
                          <a:solidFill>
                            <a:schemeClr val="tx1"/>
                          </a:solidFill>
                          <a:effectLst/>
                          <a:latin typeface="+mn-lt"/>
                          <a:ea typeface="+mn-ea"/>
                          <a:cs typeface="+mn-cs"/>
                        </a:rPr>
                        <a:t>PaaS)</a:t>
                      </a:r>
                      <a:r>
                        <a:rPr lang="en-US" altLang="ja-JP" sz="700" kern="1200" dirty="0">
                          <a:solidFill>
                            <a:schemeClr val="tx1"/>
                          </a:solidFill>
                          <a:effectLst/>
                          <a:latin typeface="+mn-lt"/>
                          <a:ea typeface="+mn-ea"/>
                          <a:cs typeface="+mn-cs"/>
                        </a:rPr>
                        <a:t>-</a:t>
                      </a:r>
                      <a:r>
                        <a:rPr lang="ja-JP" altLang="en-US" sz="700" b="1" kern="1200" dirty="0">
                          <a:solidFill>
                            <a:srgbClr val="00B050"/>
                          </a:solidFill>
                          <a:effectLst/>
                          <a:latin typeface="+mn-lt"/>
                          <a:ea typeface="+mn-ea"/>
                          <a:cs typeface="+mn-cs"/>
                        </a:rPr>
                        <a:t>定型データ保存に推奨</a:t>
                      </a:r>
                      <a:endParaRPr lang="de-DE" altLang="ja-JP" sz="7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700" b="1" dirty="0"/>
                        <a:t>SharePoint Online</a:t>
                      </a:r>
                      <a:r>
                        <a:rPr lang="en-US" altLang="ja-JP" sz="700" kern="1200" dirty="0">
                          <a:solidFill>
                            <a:schemeClr val="tx1"/>
                          </a:solidFill>
                          <a:effectLst/>
                          <a:latin typeface="+mn-lt"/>
                          <a:ea typeface="+mn-ea"/>
                          <a:cs typeface="+mn-cs"/>
                        </a:rPr>
                        <a:t>-</a:t>
                      </a:r>
                      <a:r>
                        <a:rPr lang="ja-JP" altLang="en-US" sz="700" b="1" dirty="0">
                          <a:solidFill>
                            <a:srgbClr val="00B050"/>
                          </a:solidFill>
                        </a:rPr>
                        <a:t>ファイル保存に</a:t>
                      </a:r>
                      <a:r>
                        <a:rPr kumimoji="1" lang="ja-JP" altLang="en-US" sz="700" b="1" dirty="0">
                          <a:solidFill>
                            <a:srgbClr val="00B050"/>
                          </a:solidFill>
                        </a:rPr>
                        <a:t>推奨</a:t>
                      </a:r>
                      <a:endParaRPr lang="de-DE" sz="7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117682">
                <a:tc rowSpan="4">
                  <a:txBody>
                    <a:bodyPr/>
                    <a:lstStyle/>
                    <a:p>
                      <a:r>
                        <a:rPr lang="ja-JP" altLang="en-US" sz="700" b="1" kern="1200" dirty="0">
                          <a:solidFill>
                            <a:schemeClr val="dk1"/>
                          </a:solidFill>
                          <a:latin typeface="+mn-lt"/>
                          <a:ea typeface="+mn-ea"/>
                          <a:cs typeface="+mn-cs"/>
                        </a:rPr>
                        <a:t>機能制限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最大サイズ</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rPr>
                        <a:t>データベースサイズに依存 </a:t>
                      </a:r>
                      <a:r>
                        <a:rPr lang="en-US" altLang="ja-JP" sz="600" dirty="0">
                          <a:solidFill>
                            <a:srgbClr val="00B050"/>
                          </a:solidFill>
                        </a:rPr>
                        <a:t>(</a:t>
                      </a:r>
                      <a:r>
                        <a:rPr lang="ja-JP" altLang="en-US" sz="600" dirty="0">
                          <a:solidFill>
                            <a:srgbClr val="00B050"/>
                          </a:solidFill>
                        </a:rPr>
                        <a:t>一般的に非常に大きい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300MB (</a:t>
                      </a:r>
                      <a:r>
                        <a:rPr lang="ja-JP" altLang="en-US" sz="600" dirty="0">
                          <a:solidFill>
                            <a:srgbClr val="00B050"/>
                          </a:solidFill>
                        </a:rPr>
                        <a:t>レコードあたり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dirty="0">
                          <a:solidFill>
                            <a:srgbClr val="00B050"/>
                          </a:solidFill>
                        </a:rPr>
                        <a:t>データベース</a:t>
                      </a:r>
                      <a:r>
                        <a:rPr lang="en-US" altLang="ja-JP" sz="600" dirty="0">
                          <a:solidFill>
                            <a:srgbClr val="00B050"/>
                          </a:solidFill>
                        </a:rPr>
                        <a:t>/</a:t>
                      </a:r>
                      <a:r>
                        <a:rPr lang="ja-JP" altLang="en-US" sz="600" dirty="0">
                          <a:solidFill>
                            <a:srgbClr val="00B050"/>
                          </a:solidFill>
                        </a:rPr>
                        <a:t>サーバー設定に依存 </a:t>
                      </a:r>
                      <a:r>
                        <a:rPr lang="en-US" altLang="ja-JP" sz="600" dirty="0">
                          <a:solidFill>
                            <a:srgbClr val="00B050"/>
                          </a:solidFill>
                        </a:rPr>
                        <a:t>(</a:t>
                      </a:r>
                      <a:r>
                        <a:rPr lang="ja-JP" altLang="en-US" sz="600" dirty="0">
                          <a:solidFill>
                            <a:srgbClr val="00B050"/>
                          </a:solidFill>
                        </a:rPr>
                        <a:t>一般的に大きい</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15GB (</a:t>
                      </a:r>
                      <a:r>
                        <a:rPr lang="ja-JP" altLang="en-US" sz="600" dirty="0">
                          <a:solidFill>
                            <a:srgbClr val="00B050"/>
                          </a:solidFill>
                        </a:rPr>
                        <a:t>ファイルあたり</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ネイティブ全文検索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altLang="ja-JP" sz="600" dirty="0">
                          <a:solidFill>
                            <a:srgbClr val="00B050"/>
                          </a:solidFill>
                        </a:rPr>
                        <a:t>Full-Text Search</a:t>
                      </a:r>
                      <a:r>
                        <a:rPr lang="ja-JP" altLang="en-US" sz="600" dirty="0">
                          <a:solidFill>
                            <a:srgbClr val="00B050"/>
                          </a:solidFill>
                        </a:rPr>
                        <a:t>機能</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 Server 2022</a:t>
                      </a:r>
                      <a:r>
                        <a:rPr lang="ja-JP" altLang="en-US" sz="600" dirty="0">
                          <a:solidFill>
                            <a:srgbClr val="00B050"/>
                          </a:solidFill>
                          <a:effectLst/>
                        </a:rPr>
                        <a:t>はサードパーティ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やカスタム拡張で柔軟性が高く、大規模</a:t>
                      </a:r>
                      <a:r>
                        <a:rPr lang="en-US" altLang="ja-JP" sz="600" dirty="0">
                          <a:solidFill>
                            <a:srgbClr val="00B050"/>
                          </a:solidFill>
                          <a:effectLst/>
                        </a:rPr>
                        <a:t>/</a:t>
                      </a:r>
                      <a:r>
                        <a:rPr lang="ja-JP" altLang="en-US" sz="600" dirty="0">
                          <a:solidFill>
                            <a:srgbClr val="00B050"/>
                          </a:solidFill>
                          <a:effectLst/>
                        </a:rPr>
                        <a:t>複雑な検索に適。</a:t>
                      </a:r>
                      <a:r>
                        <a:rPr lang="en-US" altLang="ja-JP" sz="600" dirty="0">
                          <a:solidFill>
                            <a:srgbClr val="C00000"/>
                          </a:solidFill>
                          <a:effectLst/>
                        </a:rPr>
                        <a:t>Azure SQL</a:t>
                      </a:r>
                      <a:r>
                        <a:rPr lang="ja-JP" altLang="en-US" sz="600" dirty="0">
                          <a:solidFill>
                            <a:srgbClr val="C00000"/>
                          </a:solidFill>
                          <a:effectLst/>
                        </a:rPr>
                        <a:t>は基本に十分だが、カスタマイズ性に欠ける。</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kern="1200" dirty="0">
                          <a:solidFill>
                            <a:srgbClr val="00B050"/>
                          </a:solidFill>
                          <a:latin typeface="+mn-lt"/>
                          <a:ea typeface="+mn-ea"/>
                          <a:cs typeface="+mn-cs"/>
                        </a:rPr>
                        <a:t>はい</a:t>
                      </a:r>
                      <a:r>
                        <a:rPr lang="ja-JP" altLang="en-US" sz="600" kern="1200" dirty="0">
                          <a:solidFill>
                            <a:schemeClr val="tx1"/>
                          </a:solidFill>
                          <a:latin typeface="+mn-lt"/>
                          <a:ea typeface="+mn-ea"/>
                          <a:cs typeface="+mn-cs"/>
                        </a:rPr>
                        <a:t> </a:t>
                      </a:r>
                      <a:r>
                        <a:rPr lang="en-US" altLang="ja-JP" sz="600" kern="1200" dirty="0">
                          <a:solidFill>
                            <a:schemeClr val="tx1"/>
                          </a:solidFill>
                          <a:latin typeface="+mn-lt"/>
                          <a:ea typeface="+mn-ea"/>
                          <a:cs typeface="+mn-cs"/>
                        </a:rPr>
                        <a:t>(</a:t>
                      </a:r>
                      <a:r>
                        <a:rPr lang="en-US" altLang="ja-JP" sz="600" kern="1200" dirty="0" err="1">
                          <a:solidFill>
                            <a:schemeClr val="tx1"/>
                          </a:solidFill>
                          <a:latin typeface="+mn-lt"/>
                          <a:ea typeface="+mn-ea"/>
                          <a:cs typeface="+mn-cs"/>
                        </a:rPr>
                        <a:t>pg_trgm</a:t>
                      </a:r>
                      <a:r>
                        <a:rPr lang="en-US" altLang="ja-JP" sz="600" kern="1200" dirty="0">
                          <a:solidFill>
                            <a:schemeClr val="tx1"/>
                          </a:solidFill>
                          <a:latin typeface="+mn-lt"/>
                          <a:ea typeface="+mn-ea"/>
                          <a:cs typeface="+mn-cs"/>
                        </a:rPr>
                        <a:t> </a:t>
                      </a:r>
                      <a:r>
                        <a:rPr lang="ja-JP" altLang="en-US" sz="600" kern="1200" dirty="0">
                          <a:solidFill>
                            <a:schemeClr val="tx1"/>
                          </a:solidFill>
                          <a:latin typeface="+mn-lt"/>
                          <a:ea typeface="+mn-ea"/>
                          <a:cs typeface="+mn-cs"/>
                        </a:rPr>
                        <a:t>拡張など</a:t>
                      </a:r>
                      <a:r>
                        <a:rPr lang="en-US" altLang="ja-JP" sz="600" kern="1200" dirty="0">
                          <a:solidFill>
                            <a:schemeClr val="tx1"/>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テキスト抽出機能</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SQL Server </a:t>
                      </a:r>
                      <a:r>
                        <a:rPr lang="ja-JP" altLang="en-US" sz="600" dirty="0">
                          <a:solidFill>
                            <a:srgbClr val="C00000"/>
                          </a:solidFill>
                        </a:rPr>
                        <a:t>の機能に依存</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 SQL</a:t>
                      </a:r>
                      <a:r>
                        <a:rPr lang="ja-JP" altLang="en-US" sz="600" dirty="0">
                          <a:solidFill>
                            <a:srgbClr val="00B050"/>
                          </a:solidFill>
                          <a:effectLst/>
                        </a:rPr>
                        <a:t>はクラウド</a:t>
                      </a:r>
                      <a:r>
                        <a:rPr lang="en-US" altLang="ja-JP" sz="600" dirty="0">
                          <a:solidFill>
                            <a:srgbClr val="00B050"/>
                          </a:solidFill>
                          <a:effectLst/>
                        </a:rPr>
                        <a:t>AI</a:t>
                      </a:r>
                      <a:r>
                        <a:rPr lang="ja-JP" altLang="en-US" sz="600" dirty="0">
                          <a:solidFill>
                            <a:srgbClr val="00B050"/>
                          </a:solidFill>
                          <a:effectLst/>
                        </a:rPr>
                        <a:t>連携で高度な抽出（例</a:t>
                      </a:r>
                      <a:r>
                        <a:rPr lang="en-US" altLang="ja-JP" sz="600" dirty="0">
                          <a:solidFill>
                            <a:srgbClr val="00B050"/>
                          </a:solidFill>
                          <a:effectLst/>
                        </a:rPr>
                        <a:t>: </a:t>
                      </a:r>
                      <a:r>
                        <a:rPr lang="ja-JP" altLang="en-US" sz="600" dirty="0">
                          <a:solidFill>
                            <a:srgbClr val="00B050"/>
                          </a:solidFill>
                          <a:effectLst/>
                        </a:rPr>
                        <a:t>自然言語処理）が可能だ</a:t>
                      </a:r>
                      <a:r>
                        <a:rPr lang="ja-JP" altLang="en-US" sz="600" dirty="0">
                          <a:effectLst/>
                        </a:rPr>
                        <a:t>が、</a:t>
                      </a:r>
                      <a:r>
                        <a:rPr lang="ja-JP" altLang="en-US" sz="600" dirty="0">
                          <a:solidFill>
                            <a:srgbClr val="C0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de-DE" sz="600" dirty="0">
                          <a:solidFill>
                            <a:srgbClr val="C00000"/>
                          </a:solidFill>
                        </a:rPr>
                        <a:t>Dataverse Search </a:t>
                      </a:r>
                      <a:r>
                        <a:rPr lang="ja-JP" altLang="en-US" sz="600" dirty="0">
                          <a:solidFill>
                            <a:srgbClr val="C00000"/>
                          </a:solidFill>
                        </a:rPr>
                        <a:t>が内部で行う</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の検索機能が自動で行う</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264114">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非テキスト検索</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rPr>
                        <a:t>限定的 </a:t>
                      </a:r>
                      <a:r>
                        <a:rPr lang="en-US" altLang="ja-JP" sz="600" kern="1200" dirty="0">
                          <a:solidFill>
                            <a:srgbClr val="C00000"/>
                          </a:solidFill>
                        </a:rPr>
                        <a:t>(</a:t>
                      </a:r>
                      <a:r>
                        <a:rPr lang="ja-JP" altLang="en-US" sz="600" kern="1200" dirty="0">
                          <a:solidFill>
                            <a:srgbClr val="C00000"/>
                          </a:solidFill>
                        </a:rPr>
                        <a:t>インデックスやクエリによる</a:t>
                      </a:r>
                      <a:r>
                        <a:rPr lang="en-US" altLang="ja-JP" sz="600" kern="1200" dirty="0">
                          <a:solidFill>
                            <a:srgbClr val="C00000"/>
                          </a:solidFill>
                        </a:rPr>
                        <a:t>)</a:t>
                      </a:r>
                      <a:r>
                        <a:rPr lang="ja-JP" altLang="en-US" sz="600" kern="1200" dirty="0">
                          <a:solidFill>
                            <a:srgbClr val="C00000"/>
                          </a:solidFill>
                        </a:rPr>
                        <a:t>　ネイティブでは画像</a:t>
                      </a:r>
                      <a:r>
                        <a:rPr lang="en-US" altLang="ja-JP" sz="600" kern="1200" dirty="0">
                          <a:solidFill>
                            <a:srgbClr val="C00000"/>
                          </a:solidFill>
                        </a:rPr>
                        <a:t>/</a:t>
                      </a:r>
                      <a:r>
                        <a:rPr lang="ja-JP" altLang="en-US" sz="600" kern="1200" dirty="0">
                          <a:solidFill>
                            <a:srgbClr val="C00000"/>
                          </a:solidFill>
                        </a:rPr>
                        <a:t>動画内容の認識非対応。カスタム開発に依存。</a:t>
                      </a:r>
                      <a:endParaRPr lang="ja-JP" altLang="en-US" sz="600" kern="1200" dirty="0">
                        <a:solidFill>
                          <a:srgbClr val="C0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C00000"/>
                          </a:solidFill>
                          <a:effectLst/>
                        </a:rPr>
                        <a:t>Azure SQL</a:t>
                      </a:r>
                      <a:r>
                        <a:rPr lang="ja-JP" altLang="en-US" sz="600" dirty="0">
                          <a:solidFill>
                            <a:srgbClr val="C00000"/>
                          </a:solidFill>
                          <a:effectLst/>
                        </a:rPr>
                        <a:t>は</a:t>
                      </a:r>
                      <a:r>
                        <a:rPr lang="en-US" altLang="ja-JP" sz="600" dirty="0">
                          <a:solidFill>
                            <a:srgbClr val="C00000"/>
                          </a:solidFill>
                          <a:effectLst/>
                        </a:rPr>
                        <a:t>AI Search</a:t>
                      </a:r>
                      <a:r>
                        <a:rPr lang="ja-JP" altLang="en-US" sz="600" dirty="0">
                          <a:solidFill>
                            <a:srgbClr val="C00000"/>
                          </a:solidFill>
                          <a:effectLst/>
                        </a:rPr>
                        <a:t>連携で高度な非テキスト検索（例</a:t>
                      </a:r>
                      <a:r>
                        <a:rPr lang="en-US" altLang="ja-JP" sz="600" dirty="0">
                          <a:solidFill>
                            <a:srgbClr val="C00000"/>
                          </a:solidFill>
                          <a:effectLst/>
                        </a:rPr>
                        <a:t>: </a:t>
                      </a:r>
                      <a:r>
                        <a:rPr lang="ja-JP" altLang="en-US" sz="600" dirty="0">
                          <a:solidFill>
                            <a:srgbClr val="C00000"/>
                          </a:solidFill>
                          <a:effectLst/>
                        </a:rPr>
                        <a:t>画像認識）が容易だが、コスト</a:t>
                      </a:r>
                      <a:r>
                        <a:rPr lang="en-US" altLang="ja-JP" sz="600" dirty="0">
                          <a:solidFill>
                            <a:srgbClr val="C00000"/>
                          </a:solidFill>
                          <a:effectLst/>
                        </a:rPr>
                        <a:t>/</a:t>
                      </a:r>
                      <a:r>
                        <a:rPr lang="ja-JP" altLang="en-US" sz="600" dirty="0">
                          <a:solidFill>
                            <a:srgbClr val="C0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メタデータ検索が中心</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C00000"/>
                          </a:solidFill>
                        </a:rPr>
                        <a:t>限定的</a:t>
                      </a:r>
                      <a:r>
                        <a:rPr lang="ja-JP" altLang="en-US" sz="600" dirty="0">
                          <a:solidFill>
                            <a:srgbClr val="C00000"/>
                          </a:solidFill>
                        </a:rPr>
                        <a:t> </a:t>
                      </a:r>
                      <a:r>
                        <a:rPr lang="en-US" altLang="ja-JP" sz="600" dirty="0">
                          <a:solidFill>
                            <a:srgbClr val="C00000"/>
                          </a:solidFill>
                        </a:rPr>
                        <a:t>(</a:t>
                      </a:r>
                      <a:r>
                        <a:rPr lang="ja-JP" altLang="en-US" sz="600" dirty="0">
                          <a:solidFill>
                            <a:srgbClr val="C00000"/>
                          </a:solidFill>
                        </a:rPr>
                        <a:t>拡張機能や外部ツールが必要</a:t>
                      </a:r>
                      <a:r>
                        <a:rPr lang="en-US" altLang="ja-JP" sz="6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はい</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メタデータ検索、ファイルプロパティ検索</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184242">
                <a:tc rowSpan="2">
                  <a:txBody>
                    <a:bodyPr/>
                    <a:lstStyle/>
                    <a:p>
                      <a:r>
                        <a:rPr lang="ja-JP" altLang="en-US" sz="7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Apps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直接接続（</a:t>
                      </a:r>
                      <a:r>
                        <a:rPr lang="en-US" altLang="ja-JP" sz="600" dirty="0">
                          <a:solidFill>
                            <a:srgbClr val="00B050"/>
                          </a:solidFill>
                          <a:effectLst/>
                        </a:rPr>
                        <a:t>Gateway</a:t>
                      </a:r>
                      <a:r>
                        <a:rPr lang="ja-JP" altLang="en-US" sz="600" dirty="0">
                          <a:solidFill>
                            <a:srgbClr val="00B050"/>
                          </a:solidFill>
                          <a:effectLst/>
                        </a:rPr>
                        <a:t>不要）。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ファイル添付</a:t>
                      </a:r>
                      <a:r>
                        <a:rPr lang="en-US" altLang="ja-JP" sz="600" dirty="0">
                          <a:solidFill>
                            <a:srgbClr val="00B050"/>
                          </a:solidFill>
                          <a:effectLst/>
                        </a:rPr>
                        <a:t>: </a:t>
                      </a:r>
                      <a:r>
                        <a:rPr lang="ja-JP" altLang="en-US" sz="600" dirty="0">
                          <a:solidFill>
                            <a:srgbClr val="00B050"/>
                          </a:solidFill>
                          <a:effectLst/>
                        </a:rPr>
                        <a:t>ネイティブサポート、</a:t>
                      </a:r>
                      <a:r>
                        <a:rPr lang="en-US" altLang="ja-JP" sz="600" dirty="0">
                          <a:solidFill>
                            <a:srgbClr val="00B050"/>
                          </a:solidFill>
                          <a:effectLst/>
                        </a:rPr>
                        <a:t>Blob</a:t>
                      </a:r>
                      <a:r>
                        <a:rPr lang="ja-JP" altLang="en-US" sz="6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84242">
                <a:tc vMerge="1">
                  <a:txBody>
                    <a:bodyPr/>
                    <a:lstStyle/>
                    <a:p>
                      <a:endParaRPr lang="ja-JP" altLang="en-US" sz="7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b="1" dirty="0"/>
                        <a:t>Power Automate </a:t>
                      </a:r>
                      <a:r>
                        <a:rPr lang="ja-JP" altLang="en-US" sz="700" b="1" dirty="0"/>
                        <a:t>統合</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カスタムコネクタ、</a:t>
                      </a:r>
                      <a:r>
                        <a:rPr lang="en-US" altLang="ja-JP" sz="600" dirty="0">
                          <a:solidFill>
                            <a:srgbClr val="00B050"/>
                          </a:solidFill>
                        </a:rPr>
                        <a:t>SQL Server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SQL</a:t>
                      </a:r>
                      <a:r>
                        <a:rPr lang="ja-JP" altLang="en-US" sz="600" dirty="0">
                          <a:solidFill>
                            <a:srgbClr val="00B050"/>
                          </a:solidFill>
                          <a:effectLst/>
                        </a:rPr>
                        <a:t>コネクタ直接使用。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ファイルハンドリング</a:t>
                      </a:r>
                      <a:r>
                        <a:rPr lang="en-US" altLang="ja-JP" sz="600" dirty="0">
                          <a:solidFill>
                            <a:srgbClr val="00B050"/>
                          </a:solidFill>
                          <a:effectLst/>
                        </a:rPr>
                        <a:t>: Blob</a:t>
                      </a:r>
                      <a:r>
                        <a:rPr lang="ja-JP" altLang="en-US" sz="6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ja-JP" altLang="en-US" sz="600" dirty="0">
                          <a:solidFill>
                            <a:srgbClr val="00B050"/>
                          </a:solidFill>
                        </a:rPr>
                        <a:t>ネイティブコネクタ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可能</a:t>
                      </a:r>
                      <a:r>
                        <a:rPr lang="ja-JP" altLang="en-US" sz="600" dirty="0">
                          <a:solidFill>
                            <a:srgbClr val="00B050"/>
                          </a:solidFill>
                        </a:rPr>
                        <a:t> </a:t>
                      </a:r>
                      <a:r>
                        <a:rPr lang="en-US" altLang="ja-JP" sz="600" dirty="0">
                          <a:solidFill>
                            <a:srgbClr val="00B050"/>
                          </a:solidFill>
                        </a:rPr>
                        <a:t>(</a:t>
                      </a:r>
                      <a:r>
                        <a:rPr lang="ja-JP" altLang="en-US" sz="600" dirty="0">
                          <a:solidFill>
                            <a:srgbClr val="C00000"/>
                          </a:solidFill>
                        </a:rPr>
                        <a:t>カスタムコネクタ</a:t>
                      </a:r>
                      <a:r>
                        <a:rPr lang="ja-JP" altLang="en-US" sz="600" dirty="0">
                          <a:solidFill>
                            <a:srgbClr val="00B050"/>
                          </a:solidFill>
                        </a:rPr>
                        <a:t>、</a:t>
                      </a:r>
                      <a:r>
                        <a:rPr lang="en-US" altLang="ja-JP" sz="600" dirty="0">
                          <a:solidFill>
                            <a:srgbClr val="00B050"/>
                          </a:solidFill>
                        </a:rPr>
                        <a:t>PostgreSQL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600" b="1" dirty="0">
                          <a:solidFill>
                            <a:srgbClr val="00B050"/>
                          </a:solidFill>
                        </a:rPr>
                        <a:t>直接統合</a:t>
                      </a:r>
                      <a:r>
                        <a:rPr lang="ja-JP" altLang="en-US" sz="600" dirty="0">
                          <a:solidFill>
                            <a:srgbClr val="00B050"/>
                          </a:solidFill>
                        </a:rPr>
                        <a:t> </a:t>
                      </a:r>
                      <a:r>
                        <a:rPr lang="en-US" altLang="ja-JP" sz="600" dirty="0">
                          <a:solidFill>
                            <a:srgbClr val="00B050"/>
                          </a:solidFill>
                        </a:rPr>
                        <a:t>(</a:t>
                      </a:r>
                      <a:r>
                        <a:rPr lang="de-DE" sz="600" dirty="0">
                          <a:solidFill>
                            <a:srgbClr val="00B050"/>
                          </a:solidFill>
                        </a:rPr>
                        <a:t>SharePoint </a:t>
                      </a:r>
                      <a:r>
                        <a:rPr lang="ja-JP" altLang="en-US" sz="600" dirty="0">
                          <a:solidFill>
                            <a:srgbClr val="00B050"/>
                          </a:solidFill>
                        </a:rPr>
                        <a:t>コネクタ</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43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t>必要なライセンス</a:t>
                      </a:r>
                      <a:endParaRPr lang="ja-JP" altLang="en-US" sz="7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600" kern="1200" dirty="0">
                          <a:solidFill>
                            <a:srgbClr val="00B050"/>
                          </a:solidFill>
                          <a:effectLst/>
                          <a:latin typeface="+mn-lt"/>
                          <a:ea typeface="+mn-ea"/>
                          <a:cs typeface="+mn-cs"/>
                        </a:rPr>
                        <a:t>SQL Server Enterprise/Standard (Full-Text Search </a:t>
                      </a:r>
                      <a:r>
                        <a:rPr lang="ja-JP" altLang="en-US" sz="600" kern="1200" dirty="0">
                          <a:solidFill>
                            <a:srgbClr val="00B050"/>
                          </a:solidFill>
                          <a:effectLst/>
                          <a:latin typeface="+mn-lt"/>
                          <a:ea typeface="+mn-ea"/>
                          <a:cs typeface="+mn-cs"/>
                        </a:rPr>
                        <a:t>は追加費用なし</a:t>
                      </a:r>
                      <a:r>
                        <a:rPr lang="en-US" altLang="ja-JP" sz="600" kern="1200" dirty="0">
                          <a:solidFill>
                            <a:srgbClr val="00B050"/>
                          </a:solidFill>
                          <a:effectLst/>
                          <a:latin typeface="+mn-lt"/>
                          <a:ea typeface="+mn-ea"/>
                          <a:cs typeface="+mn-cs"/>
                        </a:rPr>
                        <a:t>)</a:t>
                      </a:r>
                      <a:r>
                        <a:rPr lang="ja-JP" altLang="en-US" sz="600" kern="1200" dirty="0">
                          <a:solidFill>
                            <a:srgbClr val="00B050"/>
                          </a:solidFill>
                          <a:effectLst/>
                          <a:latin typeface="+mn-lt"/>
                          <a:ea typeface="+mn-ea"/>
                          <a:cs typeface="+mn-cs"/>
                        </a:rPr>
                        <a:t> 、</a:t>
                      </a:r>
                      <a:r>
                        <a:rPr lang="ja-JP" altLang="en-US" sz="600" kern="1200" dirty="0">
                          <a:solidFill>
                            <a:srgbClr val="C00000"/>
                          </a:solidFill>
                          <a:effectLst/>
                        </a:rPr>
                        <a:t>ライセンスが複雑でコスト高。 </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ファイルの大容量ストレージに不向き（</a:t>
                      </a:r>
                      <a:r>
                        <a:rPr lang="en-US" altLang="ja-JP" sz="600" kern="1200" dirty="0">
                          <a:solidFill>
                            <a:srgbClr val="C00000"/>
                          </a:solidFill>
                          <a:effectLst/>
                        </a:rPr>
                        <a:t>Blob</a:t>
                      </a:r>
                      <a:r>
                        <a:rPr lang="ja-JP" altLang="en-US" sz="600" kern="1200" dirty="0">
                          <a:solidFill>
                            <a:srgbClr val="C00000"/>
                          </a:solidFill>
                          <a:effectLst/>
                        </a:rPr>
                        <a:t>推奨）。 </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従量課金</a:t>
                      </a:r>
                      <a:r>
                        <a:rPr lang="en-US" altLang="ja-JP" sz="600" kern="1200" dirty="0">
                          <a:solidFill>
                            <a:schemeClr val="tx1"/>
                          </a:solidFill>
                          <a:effectLst/>
                        </a:rPr>
                        <a:t>: Basic $5/</a:t>
                      </a:r>
                      <a:r>
                        <a:rPr lang="ja-JP" altLang="en-US" sz="600" kern="1200" dirty="0">
                          <a:solidFill>
                            <a:schemeClr val="tx1"/>
                          </a:solidFill>
                          <a:effectLst/>
                        </a:rPr>
                        <a:t>月</a:t>
                      </a:r>
                      <a:r>
                        <a:rPr lang="en-US" altLang="ja-JP" sz="600" kern="1200" dirty="0">
                          <a:solidFill>
                            <a:schemeClr val="tx1"/>
                          </a:solidFill>
                          <a:effectLst/>
                        </a:rPr>
                        <a:t>〜</a:t>
                      </a:r>
                      <a:r>
                        <a:rPr lang="ja-JP" altLang="en-US" sz="600" kern="1200" dirty="0">
                          <a:solidFill>
                            <a:schemeClr val="tx1"/>
                          </a:solidFill>
                          <a:effectLst/>
                        </a:rPr>
                        <a:t>、</a:t>
                      </a:r>
                      <a:r>
                        <a:rPr lang="en-US" altLang="ja-JP" sz="600" kern="1200" dirty="0" err="1">
                          <a:solidFill>
                            <a:schemeClr val="tx1"/>
                          </a:solidFill>
                          <a:effectLst/>
                        </a:rPr>
                        <a:t>vCore</a:t>
                      </a:r>
                      <a:r>
                        <a:rPr lang="en-US" altLang="ja-JP" sz="600" kern="1200" dirty="0">
                          <a:solidFill>
                            <a:schemeClr val="tx1"/>
                          </a:solidFill>
                          <a:effectLst/>
                        </a:rPr>
                        <a:t> $0.5/</a:t>
                      </a:r>
                      <a:r>
                        <a:rPr lang="ja-JP" altLang="en-US" sz="600" kern="1200" dirty="0">
                          <a:solidFill>
                            <a:schemeClr val="tx1"/>
                          </a:solidFill>
                          <a:effectLst/>
                        </a:rPr>
                        <a:t>時間</a:t>
                      </a:r>
                      <a:r>
                        <a:rPr lang="en-US" altLang="ja-JP" sz="600" kern="1200" dirty="0">
                          <a:solidFill>
                            <a:schemeClr val="tx1"/>
                          </a:solidFill>
                          <a:effectLst/>
                        </a:rPr>
                        <a:t>〜</a:t>
                      </a:r>
                      <a:r>
                        <a:rPr lang="ja-JP" altLang="en-US" sz="600" kern="1200" dirty="0">
                          <a:solidFill>
                            <a:schemeClr val="tx1"/>
                          </a:solidFill>
                          <a:effectLst/>
                        </a:rPr>
                        <a:t>（ストレージ</a:t>
                      </a:r>
                      <a:r>
                        <a:rPr lang="en-US" altLang="ja-JP" sz="600" kern="1200" dirty="0">
                          <a:solidFill>
                            <a:schemeClr val="tx1"/>
                          </a:solidFill>
                          <a:effectLst/>
                        </a:rPr>
                        <a:t>$0.10/GB/</a:t>
                      </a:r>
                      <a:r>
                        <a:rPr lang="ja-JP" altLang="en-US" sz="600" kern="1200" dirty="0">
                          <a:solidFill>
                            <a:schemeClr val="tx1"/>
                          </a:solidFill>
                          <a:effectLst/>
                        </a:rPr>
                        <a:t>月）。 </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chemeClr val="tx1"/>
                          </a:solidFill>
                          <a:effectLst/>
                        </a:rPr>
                        <a:t>ファイル</a:t>
                      </a:r>
                      <a:r>
                        <a:rPr lang="en-US" altLang="ja-JP" sz="600" kern="1200" dirty="0">
                          <a:solidFill>
                            <a:schemeClr val="tx1"/>
                          </a:solidFill>
                          <a:effectLst/>
                        </a:rPr>
                        <a:t>: </a:t>
                      </a:r>
                      <a:r>
                        <a:rPr lang="ja-JP" altLang="en-US" sz="600" kern="1200" dirty="0">
                          <a:solidFill>
                            <a:schemeClr val="tx1"/>
                          </a:solidFill>
                          <a:effectLst/>
                        </a:rPr>
                        <a:t>標準料金内、</a:t>
                      </a:r>
                      <a:r>
                        <a:rPr lang="en-US" altLang="ja-JP" sz="600" kern="1200" dirty="0">
                          <a:solidFill>
                            <a:schemeClr val="tx1"/>
                          </a:solidFill>
                          <a:effectLst/>
                        </a:rPr>
                        <a:t>Blob</a:t>
                      </a:r>
                      <a:r>
                        <a:rPr lang="ja-JP" altLang="en-US" sz="600" kern="1200" dirty="0">
                          <a:solidFill>
                            <a:schemeClr val="tx1"/>
                          </a:solidFill>
                          <a:effectLst/>
                        </a:rPr>
                        <a:t>追加で</a:t>
                      </a:r>
                      <a:r>
                        <a:rPr lang="en-US" altLang="ja-JP" sz="600" kern="1200" dirty="0">
                          <a:solidFill>
                            <a:schemeClr val="tx1"/>
                          </a:solidFill>
                          <a:effectLst/>
                        </a:rPr>
                        <a:t>$0.02/GB/</a:t>
                      </a:r>
                      <a:r>
                        <a:rPr lang="ja-JP" altLang="en-US" sz="600" kern="1200" dirty="0">
                          <a:solidFill>
                            <a:schemeClr val="tx1"/>
                          </a:solidFill>
                          <a:effectLst/>
                        </a:rPr>
                        <a:t>月。</a:t>
                      </a:r>
                      <a:endParaRPr lang="en-US" altLang="ja-JP" sz="6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latin typeface="+mn-lt"/>
                          <a:ea typeface="+mn-ea"/>
                          <a:cs typeface="+mn-cs"/>
                        </a:rPr>
                        <a:t>ファイルの</a:t>
                      </a:r>
                      <a:r>
                        <a:rPr lang="en-US" altLang="ja-JP" sz="600" kern="1200" dirty="0">
                          <a:solidFill>
                            <a:srgbClr val="C00000"/>
                          </a:solidFill>
                          <a:effectLst/>
                          <a:latin typeface="+mn-lt"/>
                          <a:ea typeface="+mn-ea"/>
                          <a:cs typeface="+mn-cs"/>
                        </a:rPr>
                        <a:t>Search</a:t>
                      </a:r>
                      <a:r>
                        <a:rPr lang="ja-JP" altLang="en-US" sz="600" kern="1200" dirty="0">
                          <a:solidFill>
                            <a:srgbClr val="C00000"/>
                          </a:solidFill>
                          <a:effectLst/>
                          <a:latin typeface="+mn-lt"/>
                          <a:ea typeface="+mn-ea"/>
                          <a:cs typeface="+mn-cs"/>
                        </a:rPr>
                        <a:t>には、外部サービス依存</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dirty="0">
                          <a:solidFill>
                            <a:srgbClr val="00B050"/>
                          </a:solidFill>
                        </a:rPr>
                        <a:t>Microsoft Dataverse </a:t>
                      </a:r>
                      <a:r>
                        <a:rPr lang="ja-JP" altLang="en-US" sz="600" dirty="0">
                          <a:solidFill>
                            <a:srgbClr val="00B050"/>
                          </a:solidFill>
                        </a:rPr>
                        <a:t>ライセンス </a:t>
                      </a:r>
                      <a:r>
                        <a:rPr lang="en-US" altLang="ja-JP" sz="600" dirty="0">
                          <a:solidFill>
                            <a:srgbClr val="00B050"/>
                          </a:solidFill>
                        </a:rPr>
                        <a:t>(Dynamics 365 </a:t>
                      </a:r>
                      <a:r>
                        <a:rPr lang="ja-JP" altLang="en-US" sz="600" dirty="0">
                          <a:solidFill>
                            <a:srgbClr val="00B050"/>
                          </a:solidFill>
                        </a:rPr>
                        <a:t>または </a:t>
                      </a:r>
                      <a:r>
                        <a:rPr lang="en-US" altLang="ja-JP" sz="600" dirty="0">
                          <a:solidFill>
                            <a:srgbClr val="00B050"/>
                          </a:solidFill>
                        </a:rPr>
                        <a:t>Power Apps Premium </a:t>
                      </a:r>
                      <a:r>
                        <a:rPr lang="ja-JP" altLang="en-US" sz="600" dirty="0">
                          <a:solidFill>
                            <a:srgbClr val="00B050"/>
                          </a:solidFill>
                        </a:rPr>
                        <a:t>ライセンスに含まれる場合あり</a:t>
                      </a:r>
                      <a:r>
                        <a:rPr lang="en-US" altLang="ja-JP" sz="6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容量制限（</a:t>
                      </a:r>
                      <a:r>
                        <a:rPr lang="en-US" altLang="ja-JP" sz="600" dirty="0">
                          <a:solidFill>
                            <a:srgbClr val="C00000"/>
                          </a:solidFill>
                          <a:effectLst/>
                        </a:rPr>
                        <a:t>DB/</a:t>
                      </a:r>
                      <a:r>
                        <a:rPr lang="ja-JP" altLang="en-US" sz="600" dirty="0">
                          <a:solidFill>
                            <a:srgbClr val="C00000"/>
                          </a:solidFill>
                          <a:effectLst/>
                        </a:rPr>
                        <a:t>ファイル</a:t>
                      </a:r>
                      <a:r>
                        <a:rPr lang="en-US" altLang="ja-JP" sz="600" dirty="0">
                          <a:solidFill>
                            <a:srgbClr val="C00000"/>
                          </a:solidFill>
                          <a:effectLst/>
                        </a:rPr>
                        <a:t>/</a:t>
                      </a:r>
                      <a:r>
                        <a:rPr lang="ja-JP" altLang="en-US" sz="600" dirty="0">
                          <a:solidFill>
                            <a:srgbClr val="C00000"/>
                          </a:solidFill>
                          <a:effectLst/>
                        </a:rPr>
                        <a:t>ログ別）と高コスト。 </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600" kern="1200" dirty="0">
                          <a:solidFill>
                            <a:schemeClr val="tx1"/>
                          </a:solidFill>
                          <a:latin typeface="+mn-lt"/>
                          <a:ea typeface="+mn-ea"/>
                          <a:cs typeface="+mn-cs"/>
                        </a:rPr>
                        <a:t>PostgreSQL </a:t>
                      </a:r>
                      <a:r>
                        <a:rPr lang="ja-JP" altLang="en-US" sz="600" kern="1200" dirty="0">
                          <a:solidFill>
                            <a:schemeClr val="tx1"/>
                          </a:solidFill>
                          <a:latin typeface="+mn-lt"/>
                          <a:ea typeface="+mn-ea"/>
                          <a:cs typeface="+mn-cs"/>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600" kern="1200" dirty="0">
                          <a:solidFill>
                            <a:srgbClr val="00B050"/>
                          </a:solidFill>
                          <a:latin typeface="+mn-lt"/>
                          <a:ea typeface="+mn-ea"/>
                          <a:cs typeface="+mn-cs"/>
                        </a:rPr>
                        <a:t>Microsoft</a:t>
                      </a:r>
                      <a:r>
                        <a:rPr lang="de-DE" sz="600" dirty="0">
                          <a:solidFill>
                            <a:srgbClr val="00B050"/>
                          </a:solidFill>
                        </a:rPr>
                        <a:t> 365 </a:t>
                      </a:r>
                      <a:r>
                        <a:rPr lang="ja-JP" altLang="en-US" sz="600" dirty="0">
                          <a:solidFill>
                            <a:srgbClr val="00B050"/>
                          </a:solidFill>
                        </a:rPr>
                        <a:t>ライセンス </a:t>
                      </a:r>
                      <a:r>
                        <a:rPr lang="en-US" altLang="ja-JP" sz="600" dirty="0">
                          <a:solidFill>
                            <a:srgbClr val="00B050"/>
                          </a:solidFill>
                        </a:rPr>
                        <a:t>(</a:t>
                      </a:r>
                      <a:r>
                        <a:rPr lang="de-DE" sz="600" dirty="0">
                          <a:solidFill>
                            <a:srgbClr val="00B050"/>
                          </a:solidFill>
                        </a:rPr>
                        <a:t>SharePoint Online </a:t>
                      </a:r>
                      <a:r>
                        <a:rPr lang="ja-JP" altLang="en-US" sz="600" dirty="0">
                          <a:solidFill>
                            <a:srgbClr val="00B050"/>
                          </a:solidFill>
                        </a:rPr>
                        <a:t>を含むプラン</a:t>
                      </a:r>
                      <a:r>
                        <a:rPr lang="en-US" altLang="ja-JP" sz="6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423859">
                <a:tc gridSpan="2">
                  <a:txBody>
                    <a:bodyPr/>
                    <a:lstStyle/>
                    <a:p>
                      <a:r>
                        <a:rPr lang="ja-JP" altLang="en-US" sz="7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latin typeface="+mn-lt"/>
                          <a:ea typeface="+mn-ea"/>
                          <a:cs typeface="+mn-cs"/>
                        </a:rPr>
                        <a:t>完全マネージドで高可用性・自動バックアップ。</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スケーラビリティが高く、ファイルは</a:t>
                      </a:r>
                      <a:r>
                        <a:rPr lang="en-US" altLang="ja-JP" sz="600" dirty="0">
                          <a:solidFill>
                            <a:srgbClr val="00B050"/>
                          </a:solidFill>
                          <a:effectLst/>
                        </a:rPr>
                        <a:t>Blob</a:t>
                      </a:r>
                      <a:r>
                        <a:rPr lang="ja-JP" altLang="en-US" sz="600" dirty="0">
                          <a:solidFill>
                            <a:srgbClr val="00B050"/>
                          </a:solidFill>
                          <a:effectLst/>
                        </a:rPr>
                        <a:t>統合で拡張。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Azure</a:t>
                      </a:r>
                      <a:r>
                        <a:rPr lang="ja-JP" altLang="en-US" sz="600" dirty="0">
                          <a:solidFill>
                            <a:srgbClr val="00B050"/>
                          </a:solidFill>
                          <a:effectLst/>
                        </a:rPr>
                        <a:t>エコシステムとの親和性抜群。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セキュリティ・スケーラビリティ高く、</a:t>
                      </a:r>
                      <a:r>
                        <a:rPr lang="en-US" altLang="ja-JP" sz="600" kern="1200" dirty="0">
                          <a:solidFill>
                            <a:srgbClr val="00B050"/>
                          </a:solidFill>
                          <a:effectLst/>
                        </a:rPr>
                        <a:t>Power Apps</a:t>
                      </a:r>
                      <a:r>
                        <a:rPr lang="ja-JP" altLang="en-US" sz="600" kern="1200" dirty="0">
                          <a:solidFill>
                            <a:srgbClr val="00B050"/>
                          </a:solidFill>
                          <a:effectLst/>
                        </a:rPr>
                        <a:t>統合。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ビジネスアプリ向けに最適化。</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セットアップ複雑でメンテナンス負荷。 </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Backup/</a:t>
                      </a:r>
                      <a:r>
                        <a:rPr lang="en-US" altLang="ja-JP" sz="600" kern="1200" dirty="0" err="1">
                          <a:solidFill>
                            <a:srgbClr val="C00000"/>
                          </a:solidFill>
                          <a:effectLst/>
                        </a:rPr>
                        <a:t>Restory</a:t>
                      </a:r>
                      <a:r>
                        <a:rPr lang="en-US" altLang="ja-JP" sz="600" kern="1200" dirty="0">
                          <a:solidFill>
                            <a:srgbClr val="C00000"/>
                          </a:solidFill>
                          <a:effectLst/>
                        </a:rPr>
                        <a:t>/Monitoring</a:t>
                      </a:r>
                      <a:r>
                        <a:rPr lang="ja-JP" altLang="en-US" sz="600" kern="1200" dirty="0">
                          <a:solidFill>
                            <a:srgbClr val="C00000"/>
                          </a:solidFill>
                          <a:effectLst/>
                        </a:rPr>
                        <a:t>の独自実現が必要</a:t>
                      </a:r>
                      <a:endParaRPr lang="en-US" altLang="ja-JP" sz="600" kern="12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C00000"/>
                          </a:solidFill>
                          <a:effectLst/>
                        </a:rPr>
                        <a:t>添付ファイルの格納よりストレージの膨大化が避けず、初期</a:t>
                      </a:r>
                      <a:r>
                        <a:rPr lang="en-US" altLang="ja-JP" sz="600" kern="1200" dirty="0">
                          <a:solidFill>
                            <a:srgbClr val="C00000"/>
                          </a:solidFill>
                          <a:effectLst/>
                        </a:rPr>
                        <a:t>Sizing</a:t>
                      </a:r>
                      <a:r>
                        <a:rPr lang="ja-JP" altLang="en-US" sz="600" kern="1200" dirty="0">
                          <a:solidFill>
                            <a:srgbClr val="C00000"/>
                          </a:solidFill>
                          <a:effectLst/>
                        </a:rPr>
                        <a:t>と運用によりのリソース管理が必要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latin typeface="+mn-lt"/>
                          <a:ea typeface="+mn-ea"/>
                          <a:cs typeface="+mn-cs"/>
                        </a:rPr>
                        <a:t>契約済みの</a:t>
                      </a:r>
                      <a:r>
                        <a:rPr lang="en-US" altLang="ja-JP" sz="600" kern="1200" dirty="0">
                          <a:solidFill>
                            <a:srgbClr val="00B050"/>
                          </a:solidFill>
                          <a:latin typeface="+mn-lt"/>
                          <a:ea typeface="+mn-ea"/>
                          <a:cs typeface="+mn-cs"/>
                        </a:rPr>
                        <a:t>PAAS</a:t>
                      </a:r>
                      <a:r>
                        <a:rPr lang="ja-JP" altLang="en-US" sz="600" kern="1200" dirty="0">
                          <a:solidFill>
                            <a:srgbClr val="00B050"/>
                          </a:solidFill>
                          <a:latin typeface="+mn-lt"/>
                          <a:ea typeface="+mn-ea"/>
                          <a:cs typeface="+mn-cs"/>
                        </a:rPr>
                        <a:t>の容量そのまま利用</a:t>
                      </a:r>
                      <a:endParaRPr lang="en-US" altLang="zh-CN" sz="600"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84242">
                <a:tc gridSpan="2">
                  <a:txBody>
                    <a:bodyPr/>
                    <a:lstStyle/>
                    <a:p>
                      <a:r>
                        <a:rPr lang="ja-JP" altLang="en-US" sz="7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kern="1200" dirty="0">
                          <a:solidFill>
                            <a:srgbClr val="C00000"/>
                          </a:solidFill>
                          <a:effectLst/>
                        </a:rPr>
                        <a:t>Full</a:t>
                      </a:r>
                      <a:r>
                        <a:rPr lang="ja-JP" altLang="en-US" sz="600" kern="1200" dirty="0">
                          <a:solidFill>
                            <a:srgbClr val="C00000"/>
                          </a:solidFill>
                          <a:effectLst/>
                        </a:rPr>
                        <a:t> </a:t>
                      </a:r>
                      <a:r>
                        <a:rPr lang="en-US" altLang="ja-JP" sz="600" kern="1200" dirty="0">
                          <a:solidFill>
                            <a:srgbClr val="C00000"/>
                          </a:solidFill>
                          <a:effectLst/>
                        </a:rPr>
                        <a:t>Text Search</a:t>
                      </a:r>
                      <a:r>
                        <a:rPr lang="ja-JP" altLang="en-US" sz="600" kern="1200" dirty="0">
                          <a:solidFill>
                            <a:srgbClr val="C00000"/>
                          </a:solidFill>
                          <a:effectLst/>
                        </a:rPr>
                        <a:t>バグ報告あり（クエリ結果の不整合）。</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a:t>
                      </a:r>
                      <a:endParaRPr lang="ja-JP" altLang="en-US"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503731">
                <a:tc gridSpan="2">
                  <a:txBody>
                    <a:bodyPr/>
                    <a:lstStyle/>
                    <a:p>
                      <a:pPr marL="0" algn="l" defTabSz="914400" rtl="0" eaLnBrk="1" latinLnBrk="0" hangingPunct="1"/>
                      <a:r>
                        <a:rPr lang="ja-JP" altLang="en-US" sz="7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フルテキスト検索でコンテンツ検索が効率的。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kern="1200" dirty="0">
                          <a:solidFill>
                            <a:srgbClr val="00B050"/>
                          </a:solidFill>
                          <a:effectLst/>
                        </a:rPr>
                        <a:t>高性能で大規模データに強い。</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kern="1200" dirty="0">
                          <a:solidFill>
                            <a:srgbClr val="C00000"/>
                          </a:solidFill>
                          <a:effectLst/>
                        </a:rPr>
                        <a:t>ネットワークボトルネックが発生しやすい（</a:t>
                      </a:r>
                      <a:r>
                        <a:rPr lang="en-US" altLang="ja-JP" sz="600" b="1" u="sng" kern="1200" dirty="0">
                          <a:solidFill>
                            <a:srgbClr val="C00000"/>
                          </a:solidFill>
                          <a:effectLst/>
                        </a:rPr>
                        <a:t>AWS-Azure</a:t>
                      </a:r>
                      <a:r>
                        <a:rPr lang="ja-JP" altLang="en-US" sz="600" b="1" u="sng" kern="1200" dirty="0">
                          <a:solidFill>
                            <a:srgbClr val="C00000"/>
                          </a:solidFill>
                          <a:effectLst/>
                        </a:rPr>
                        <a:t>間の遅延</a:t>
                      </a:r>
                      <a:r>
                        <a:rPr lang="en-US" altLang="ja-JP" sz="600" b="1" u="sng" kern="1200" dirty="0">
                          <a:solidFill>
                            <a:srgbClr val="C00000"/>
                          </a:solidFill>
                          <a:effectLst/>
                        </a:rPr>
                        <a:t>: 50-200ms</a:t>
                      </a:r>
                      <a:r>
                        <a:rPr lang="ja-JP" altLang="en-US" sz="600" b="1" u="sng" kern="1200" dirty="0">
                          <a:solidFill>
                            <a:srgbClr val="C00000"/>
                          </a:solidFill>
                          <a:effectLst/>
                        </a:rPr>
                        <a:t>程度、データ転送量次第でボトルネック）。大規模クエリで顕著。</a:t>
                      </a:r>
                      <a:endParaRPr lang="ja-JP" altLang="en-US" sz="6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リレーショナルクエリとコンテンツ検索（フルテキスト）がネイティブサポート。 </a:t>
                      </a:r>
                      <a:endParaRPr lang="en-US" altLang="ja-JP" sz="6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6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複雑なクエリでパフォーマンス低下。 </a:t>
                      </a:r>
                      <a:endParaRPr lang="ja-JP" altLang="en-US" sz="6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ACID</a:t>
                      </a:r>
                      <a:r>
                        <a:rPr lang="ja-JP" altLang="en-US" sz="600" dirty="0">
                          <a:solidFill>
                            <a:srgbClr val="00B050"/>
                          </a:solidFill>
                          <a:effectLst/>
                        </a:rPr>
                        <a:t>準拠で信頼性高く、拡張性良好。 </a:t>
                      </a:r>
                      <a:r>
                        <a:rPr lang="en-US" altLang="ja-JP" sz="600" dirty="0">
                          <a:solidFill>
                            <a:srgbClr val="00B050"/>
                          </a:solidFill>
                          <a:effectLst/>
                        </a:rPr>
                        <a:t>- </a:t>
                      </a:r>
                      <a:r>
                        <a:rPr lang="ja-JP" altLang="en-US" sz="600" dirty="0">
                          <a:solidFill>
                            <a:srgbClr val="00B050"/>
                          </a:solidFill>
                          <a:effectLst/>
                        </a:rPr>
                        <a:t>カスタム拡張（</a:t>
                      </a:r>
                      <a:r>
                        <a:rPr lang="en-US" altLang="ja-JP" sz="600" dirty="0" err="1">
                          <a:solidFill>
                            <a:srgbClr val="00B050"/>
                          </a:solidFill>
                          <a:effectLst/>
                        </a:rPr>
                        <a:t>pg_trgm</a:t>
                      </a:r>
                      <a:r>
                        <a:rPr lang="ja-JP" altLang="en-US" sz="600" dirty="0">
                          <a:solidFill>
                            <a:srgbClr val="00B050"/>
                          </a:solidFill>
                          <a:effectLst/>
                        </a:rPr>
                        <a:t>など）でファイル検索強化。</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b="1" u="sng" dirty="0">
                          <a:solidFill>
                            <a:srgbClr val="C00000"/>
                          </a:solidFill>
                          <a:effectLst/>
                        </a:rPr>
                        <a:t>大容量ファイルストレージに不向き（</a:t>
                      </a:r>
                      <a:r>
                        <a:rPr lang="en-US" altLang="ja-JP" sz="600" b="1" u="sng" dirty="0">
                          <a:solidFill>
                            <a:srgbClr val="C00000"/>
                          </a:solidFill>
                          <a:effectLst/>
                        </a:rPr>
                        <a:t>TOAST</a:t>
                      </a:r>
                      <a:r>
                        <a:rPr lang="ja-JP" altLang="en-US" sz="600" b="1" u="sng" dirty="0">
                          <a:solidFill>
                            <a:srgbClr val="C00000"/>
                          </a:solidFill>
                          <a:effectLst/>
                        </a:rPr>
                        <a:t>使用でパフォーマンス低下）</a:t>
                      </a:r>
                      <a:r>
                        <a:rPr lang="ja-JP" altLang="en-US" sz="600" u="sng" dirty="0">
                          <a:solidFill>
                            <a:srgbClr val="C00000"/>
                          </a:solidFill>
                          <a:effectLst/>
                        </a:rPr>
                        <a:t>。 </a:t>
                      </a:r>
                      <a:endParaRPr lang="en-US" altLang="ja-JP" sz="600" u="sng"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C00000"/>
                          </a:solidFill>
                          <a:effectLst/>
                        </a:rPr>
                        <a:t>商用サポート別途必要。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ファイル中心のストレージでメタデータによる関係性管理。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強力な検索（</a:t>
                      </a:r>
                      <a:r>
                        <a:rPr lang="en-US" altLang="ja-JP" sz="600" dirty="0">
                          <a:solidFill>
                            <a:srgbClr val="00B050"/>
                          </a:solidFill>
                          <a:effectLst/>
                        </a:rPr>
                        <a:t>Microsoft Search</a:t>
                      </a:r>
                      <a:r>
                        <a:rPr lang="ja-JP" altLang="en-US" sz="600" dirty="0">
                          <a:solidFill>
                            <a:srgbClr val="00B050"/>
                          </a:solidFill>
                          <a:effectLst/>
                        </a:rPr>
                        <a:t>）でコンテンツ抽出優秀。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600" dirty="0">
                          <a:solidFill>
                            <a:srgbClr val="00B050"/>
                          </a:solidFill>
                          <a:effectLst/>
                        </a:rPr>
                        <a:t>コラボレーション・バージョン管理がネイティブ。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600" dirty="0">
                          <a:solidFill>
                            <a:srgbClr val="00B050"/>
                          </a:solidFill>
                          <a:effectLst/>
                        </a:rPr>
                        <a:t>M365</a:t>
                      </a:r>
                      <a:r>
                        <a:rPr lang="ja-JP" altLang="en-US" sz="600" dirty="0">
                          <a:solidFill>
                            <a:srgbClr val="00B050"/>
                          </a:solidFill>
                          <a:effectLst/>
                        </a:rPr>
                        <a:t>統合でユーザー友好。</a:t>
                      </a:r>
                    </a:p>
                    <a:p>
                      <a:endParaRPr lang="en-US" altLang="zh-CN"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503731">
                <a:tc rowSpan="5">
                  <a:txBody>
                    <a:bodyPr/>
                    <a:lstStyle/>
                    <a:p>
                      <a:pPr marL="0" algn="l" defTabSz="914400" rtl="0" eaLnBrk="1" latinLnBrk="0" hangingPunct="1"/>
                      <a:r>
                        <a:rPr lang="ja-JP" altLang="en-US" sz="7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ltLang="ja-JP" sz="600" kern="1200" dirty="0">
                          <a:solidFill>
                            <a:srgbClr val="C00000"/>
                          </a:solidFill>
                          <a:effectLst/>
                        </a:rPr>
                        <a:t>On-premises data gateway</a:t>
                      </a:r>
                      <a:r>
                        <a:rPr lang="ja-JP" altLang="de-DE" sz="600" kern="1200" dirty="0">
                          <a:solidFill>
                            <a:srgbClr val="C00000"/>
                          </a:solidFill>
                          <a:effectLst/>
                        </a:rPr>
                        <a:t>（</a:t>
                      </a:r>
                      <a:r>
                        <a:rPr lang="ja-JP" altLang="en-US" sz="600" kern="1200" dirty="0">
                          <a:solidFill>
                            <a:srgbClr val="C00000"/>
                          </a:solidFill>
                          <a:effectLst/>
                        </a:rPr>
                        <a:t>以下、</a:t>
                      </a:r>
                      <a:r>
                        <a:rPr lang="de-DE" altLang="ja-JP" sz="600" kern="1200" dirty="0">
                          <a:solidFill>
                            <a:srgbClr val="C00000"/>
                          </a:solidFill>
                          <a:effectLst/>
                        </a:rPr>
                        <a:t>Gateway</a:t>
                      </a:r>
                      <a:r>
                        <a:rPr lang="ja-JP" altLang="de-DE" sz="600" kern="1200" dirty="0">
                          <a:solidFill>
                            <a:srgbClr val="C00000"/>
                          </a:solidFill>
                          <a:effectLst/>
                        </a:rPr>
                        <a:t>）</a:t>
                      </a:r>
                      <a:r>
                        <a:rPr lang="ja-JP" altLang="en-US" sz="600" kern="1200" dirty="0">
                          <a:solidFill>
                            <a:srgbClr val="C00000"/>
                          </a:solidFill>
                          <a:effectLst/>
                        </a:rPr>
                        <a:t>のインストールが必要。</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C00000"/>
                          </a:solidFill>
                          <a:effectLst/>
                        </a:rPr>
                        <a:t>作業量高：サーバー</a:t>
                      </a:r>
                      <a:r>
                        <a:rPr lang="en-US" altLang="ja-JP" sz="600" kern="1200" dirty="0">
                          <a:solidFill>
                            <a:srgbClr val="C00000"/>
                          </a:solidFill>
                          <a:effectLst/>
                        </a:rPr>
                        <a:t>OS</a:t>
                      </a:r>
                      <a:r>
                        <a:rPr lang="ja-JP" altLang="en-US" sz="600" kern="1200" dirty="0">
                          <a:solidFill>
                            <a:srgbClr val="C00000"/>
                          </a:solidFill>
                          <a:effectLst/>
                        </a:rPr>
                        <a:t>インストール、</a:t>
                      </a:r>
                      <a:r>
                        <a:rPr lang="en-US" altLang="ja-JP" sz="600" kern="1200" dirty="0">
                          <a:solidFill>
                            <a:srgbClr val="C00000"/>
                          </a:solidFill>
                          <a:effectLst/>
                        </a:rPr>
                        <a:t>DB</a:t>
                      </a:r>
                      <a:r>
                        <a:rPr lang="ja-JP" altLang="en-US" sz="600" kern="1200" dirty="0">
                          <a:solidFill>
                            <a:srgbClr val="C00000"/>
                          </a:solidFill>
                          <a:effectLst/>
                        </a:rPr>
                        <a:t>セットアップ、セキュリティ設定、バックアップ構成が必要。デバッグでツール（</a:t>
                      </a:r>
                      <a:r>
                        <a:rPr lang="en-US" altLang="ja-JP" sz="600" kern="1200" dirty="0">
                          <a:solidFill>
                            <a:srgbClr val="C00000"/>
                          </a:solidFill>
                          <a:effectLst/>
                        </a:rPr>
                        <a:t>SSMS</a:t>
                      </a:r>
                      <a:r>
                        <a:rPr lang="ja-JP" altLang="en-US" sz="600" kern="1200" dirty="0">
                          <a:solidFill>
                            <a:srgbClr val="C00000"/>
                          </a:solidFill>
                          <a:effectLst/>
                        </a:rPr>
                        <a:t>）導入、テストがすべて必要。</a:t>
                      </a:r>
                      <a:endParaRPr lang="en-US" altLang="ja-JP" sz="6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Azure</a:t>
                      </a:r>
                      <a:r>
                        <a:rPr lang="ja-JP" altLang="en-US" sz="600" dirty="0">
                          <a:solidFill>
                            <a:srgbClr val="00B050"/>
                          </a:solidFill>
                          <a:effectLst/>
                        </a:rPr>
                        <a:t>ポータルで数分でデプロイ。</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デバッグは</a:t>
                      </a:r>
                      <a:r>
                        <a:rPr lang="en-US" altLang="ja-JP" sz="600" dirty="0">
                          <a:solidFill>
                            <a:srgbClr val="00B050"/>
                          </a:solidFill>
                          <a:effectLst/>
                        </a:rPr>
                        <a:t>Azure</a:t>
                      </a:r>
                      <a:r>
                        <a:rPr lang="ja-JP" altLang="en-US" sz="600" dirty="0">
                          <a:solidFill>
                            <a:srgbClr val="00B050"/>
                          </a:solidFill>
                          <a:effectLst/>
                        </a:rPr>
                        <a:t>ツールで即時、学習曲線短め（数時間）。</a:t>
                      </a:r>
                      <a:endParaRPr lang="en-US" altLang="ja-JP" sz="6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作業量低：</a:t>
                      </a:r>
                      <a:r>
                        <a:rPr lang="en-US" altLang="ja-JP" sz="600" dirty="0">
                          <a:solidFill>
                            <a:srgbClr val="00B050"/>
                          </a:solidFill>
                          <a:effectLst/>
                        </a:rPr>
                        <a:t>Microsoft 365</a:t>
                      </a:r>
                      <a:r>
                        <a:rPr lang="ja-JP" altLang="en-US" sz="600" dirty="0">
                          <a:solidFill>
                            <a:srgbClr val="00B050"/>
                          </a:solidFill>
                          <a:effectLst/>
                        </a:rPr>
                        <a:t>統合で即時セットアップ。デバッグは</a:t>
                      </a:r>
                      <a:r>
                        <a:rPr lang="en-US" altLang="ja-JP" sz="600" dirty="0">
                          <a:solidFill>
                            <a:srgbClr val="00B050"/>
                          </a:solidFill>
                          <a:effectLst/>
                        </a:rPr>
                        <a:t>Power Platform</a:t>
                      </a:r>
                      <a:r>
                        <a:rPr lang="ja-JP" altLang="en-US" sz="600" dirty="0">
                          <a:solidFill>
                            <a:srgbClr val="00B050"/>
                          </a:solidFill>
                          <a:effectLst/>
                        </a:rPr>
                        <a:t>ツールで簡単</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弊社実績があり、</a:t>
                      </a:r>
                    </a:p>
                    <a:p>
                      <a:pPr marL="0" indent="0">
                        <a:buFont typeface="Arial" panose="020B0604020202020204" pitchFamily="34" charset="0"/>
                        <a:buNone/>
                      </a:pPr>
                      <a:endParaRPr lang="en-US" altLang="ja-JP" sz="6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作業量中：インストール（</a:t>
                      </a:r>
                      <a:r>
                        <a:rPr lang="en-US" altLang="ja-JP" sz="600" dirty="0">
                          <a:solidFill>
                            <a:srgbClr val="C00000"/>
                          </a:solidFill>
                          <a:effectLst/>
                        </a:rPr>
                        <a:t>Docker</a:t>
                      </a:r>
                      <a:r>
                        <a:rPr lang="ja-JP" altLang="en-US" sz="600" dirty="0">
                          <a:solidFill>
                            <a:srgbClr val="C00000"/>
                          </a:solidFill>
                          <a:effectLst/>
                        </a:rPr>
                        <a:t>推奨）、構成（インデックス</a:t>
                      </a:r>
                      <a:r>
                        <a:rPr lang="en-US" altLang="ja-JP" sz="600" dirty="0">
                          <a:solidFill>
                            <a:srgbClr val="C00000"/>
                          </a:solidFill>
                          <a:effectLst/>
                        </a:rPr>
                        <a:t>/</a:t>
                      </a:r>
                      <a:r>
                        <a:rPr lang="ja-JP" altLang="en-US" sz="600" dirty="0">
                          <a:solidFill>
                            <a:srgbClr val="C00000"/>
                          </a:solidFill>
                          <a:effectLst/>
                        </a:rPr>
                        <a:t>検索設定）で複難。</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C00000"/>
                          </a:solidFill>
                          <a:effectLst/>
                        </a:rPr>
                        <a:t>デバッグツール（</a:t>
                      </a:r>
                      <a:r>
                        <a:rPr lang="en-US" altLang="ja-JP" sz="600" dirty="0" err="1">
                          <a:solidFill>
                            <a:srgbClr val="C00000"/>
                          </a:solidFill>
                          <a:effectLst/>
                        </a:rPr>
                        <a:t>pgAdmin</a:t>
                      </a:r>
                      <a:r>
                        <a:rPr lang="ja-JP" altLang="en-US" sz="600" dirty="0">
                          <a:solidFill>
                            <a:srgbClr val="C00000"/>
                          </a:solidFill>
                          <a:effectLst/>
                        </a:rPr>
                        <a:t>）で中程度。</a:t>
                      </a:r>
                      <a:endParaRPr lang="en-US" altLang="ja-JP" sz="600" dirty="0">
                        <a:solidFill>
                          <a:srgbClr val="C0000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effectLst/>
                        </a:rPr>
                        <a:t>下記以外に個別環境構築不要</a:t>
                      </a:r>
                      <a:endParaRPr lang="en-US" altLang="ja-JP" sz="600" dirty="0">
                        <a:effectLst/>
                      </a:endParaRPr>
                    </a:p>
                    <a:p>
                      <a:pPr marL="0" indent="0">
                        <a:buFont typeface="Arial" panose="020B0604020202020204" pitchFamily="34" charset="0"/>
                        <a:buNone/>
                      </a:pPr>
                      <a:r>
                        <a:rPr lang="en-US" altLang="ja-JP" sz="600" dirty="0">
                          <a:effectLst/>
                        </a:rPr>
                        <a:t>Microsoft Search</a:t>
                      </a:r>
                      <a:r>
                        <a:rPr lang="ja-JP" altLang="en-US" sz="600" dirty="0">
                          <a:effectLst/>
                        </a:rPr>
                        <a:t>の実現には、</a:t>
                      </a:r>
                      <a:endParaRPr lang="en-US" altLang="ja-JP" sz="600" dirty="0">
                        <a:effectLst/>
                      </a:endParaRPr>
                    </a:p>
                    <a:p>
                      <a:pPr marL="228600" indent="-228600">
                        <a:buFont typeface="+mj-lt"/>
                        <a:buAutoNum type="arabicPeriod"/>
                      </a:pPr>
                      <a:r>
                        <a:rPr lang="en-US" altLang="ja-JP" sz="600" dirty="0">
                          <a:solidFill>
                            <a:srgbClr val="C00000"/>
                          </a:solidFill>
                        </a:rPr>
                        <a:t>Azure AD</a:t>
                      </a:r>
                      <a:r>
                        <a:rPr lang="ja-JP" altLang="en-US" sz="600" dirty="0">
                          <a:solidFill>
                            <a:srgbClr val="C00000"/>
                          </a:solidFill>
                        </a:rPr>
                        <a:t>に事前の</a:t>
                      </a:r>
                      <a:r>
                        <a:rPr lang="en-US" altLang="ja-JP" sz="600" dirty="0">
                          <a:solidFill>
                            <a:srgbClr val="C00000"/>
                          </a:solidFill>
                        </a:rPr>
                        <a:t>App</a:t>
                      </a:r>
                      <a:r>
                        <a:rPr lang="ja-JP" altLang="en-US" sz="600" dirty="0">
                          <a:solidFill>
                            <a:srgbClr val="C00000"/>
                          </a:solidFill>
                        </a:rPr>
                        <a:t>登録が必須</a:t>
                      </a:r>
                      <a:endParaRPr lang="en-US" altLang="ja-JP" sz="600" dirty="0">
                        <a:solidFill>
                          <a:srgbClr val="C00000"/>
                        </a:solidFill>
                      </a:endParaRPr>
                    </a:p>
                    <a:p>
                      <a:pPr marL="228600" indent="-228600">
                        <a:buFont typeface="+mj-lt"/>
                        <a:buAutoNum type="arabicPeriod"/>
                      </a:pPr>
                      <a:r>
                        <a:rPr lang="en-US" altLang="zh-CN" sz="600" dirty="0" err="1">
                          <a:solidFill>
                            <a:srgbClr val="C00000"/>
                          </a:solidFill>
                        </a:rPr>
                        <a:t>GraphAPI</a:t>
                      </a:r>
                      <a:r>
                        <a:rPr lang="ja-JP" altLang="en-US" sz="600" dirty="0">
                          <a:solidFill>
                            <a:srgbClr val="C00000"/>
                          </a:solidFill>
                        </a:rPr>
                        <a:t>コールが必要</a:t>
                      </a:r>
                      <a:endParaRPr lang="en-US" altLang="ja-JP" sz="600"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343986">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kern="1200" dirty="0">
                          <a:solidFill>
                            <a:schemeClr val="dk1"/>
                          </a:solidFill>
                          <a:latin typeface="+mn-lt"/>
                          <a:ea typeface="+mn-ea"/>
                          <a:cs typeface="+mn-cs"/>
                        </a:rPr>
                        <a:t>業務ロジックの実装</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強力なリレーショナル機能（</a:t>
                      </a:r>
                      <a:r>
                        <a:rPr lang="en-US" altLang="ja-JP" sz="600" kern="1200" dirty="0">
                          <a:solidFill>
                            <a:srgbClr val="00B050"/>
                          </a:solidFill>
                          <a:effectLst/>
                        </a:rPr>
                        <a:t>FILESTREAM</a:t>
                      </a:r>
                      <a:r>
                        <a:rPr lang="ja-JP" altLang="en-US" sz="600" kern="1200" dirty="0">
                          <a:solidFill>
                            <a:srgbClr val="00B050"/>
                          </a:solidFill>
                          <a:effectLst/>
                        </a:rPr>
                        <a:t>でファイルストレージ対応）。 </a:t>
                      </a:r>
                      <a:endParaRPr lang="en-US" altLang="ja-JP" sz="600" kern="12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6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低コードでリレーショナルモデル構築容易（テーブル間関係）。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リストよりスケールするが、</a:t>
                      </a:r>
                      <a:r>
                        <a:rPr lang="en-US" altLang="ja-JP" sz="600" kern="1200" dirty="0">
                          <a:solidFill>
                            <a:srgbClr val="C00000"/>
                          </a:solidFill>
                          <a:effectLst/>
                          <a:latin typeface="+mn-lt"/>
                          <a:ea typeface="+mn-ea"/>
                          <a:cs typeface="+mn-cs"/>
                        </a:rPr>
                        <a:t>SQL</a:t>
                      </a:r>
                      <a:r>
                        <a:rPr lang="ja-JP" altLang="en-US" sz="600" kern="1200" dirty="0">
                          <a:solidFill>
                            <a:srgbClr val="C00000"/>
                          </a:solidFill>
                          <a:effectLst/>
                          <a:latin typeface="+mn-lt"/>
                          <a:ea typeface="+mn-ea"/>
                          <a:cs typeface="+mn-cs"/>
                        </a:rPr>
                        <a:t>ほど柔軟でない。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無料で</a:t>
                      </a:r>
                      <a:r>
                        <a:rPr lang="ja-JP" altLang="en-US" sz="600" kern="1200" dirty="0">
                          <a:solidFill>
                            <a:srgbClr val="00B050"/>
                          </a:solidFill>
                          <a:effectLst/>
                        </a:rPr>
                        <a:t>強力な</a:t>
                      </a:r>
                      <a:r>
                        <a:rPr lang="ja-JP" altLang="en-US" sz="600" dirty="0">
                          <a:solidFill>
                            <a:srgbClr val="00B050"/>
                          </a:solidFill>
                          <a:effectLst/>
                        </a:rPr>
                        <a:t>フルリレーショナル（</a:t>
                      </a:r>
                      <a:r>
                        <a:rPr lang="en-US" altLang="ja-JP" sz="600" dirty="0">
                          <a:solidFill>
                            <a:srgbClr val="00B050"/>
                          </a:solidFill>
                          <a:effectLst/>
                        </a:rPr>
                        <a:t>JSON</a:t>
                      </a:r>
                      <a:r>
                        <a:rPr lang="ja-JP" altLang="en-US" sz="600" dirty="0">
                          <a:solidFill>
                            <a:srgbClr val="00B050"/>
                          </a:solidFill>
                          <a:effectLst/>
                        </a:rPr>
                        <a:t>サポートで柔軟）。 </a:t>
                      </a:r>
                      <a:endParaRPr lang="en-US" altLang="ja-JP" sz="6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chemeClr val="tx1"/>
                          </a:solidFill>
                          <a:effectLst/>
                          <a:latin typeface="+mn-lt"/>
                          <a:ea typeface="+mn-ea"/>
                          <a:cs typeface="+mn-cs"/>
                        </a:rPr>
                        <a:t>N/A</a:t>
                      </a:r>
                      <a:r>
                        <a:rPr lang="ja-JP" altLang="en-US" sz="600" kern="1200" dirty="0">
                          <a:solidFill>
                            <a:schemeClr val="tx1"/>
                          </a:solidFill>
                          <a:effectLst/>
                          <a:latin typeface="+mn-lt"/>
                          <a:ea typeface="+mn-ea"/>
                          <a:cs typeface="+mn-cs"/>
                        </a:rPr>
                        <a:t>（定型データは</a:t>
                      </a:r>
                      <a:r>
                        <a:rPr lang="en-US" altLang="ja-JP" sz="600" kern="1200" dirty="0">
                          <a:solidFill>
                            <a:schemeClr val="tx1"/>
                          </a:solidFill>
                          <a:effectLst/>
                          <a:latin typeface="+mn-lt"/>
                          <a:ea typeface="+mn-ea"/>
                          <a:cs typeface="+mn-cs"/>
                        </a:rPr>
                        <a:t>SPO</a:t>
                      </a:r>
                      <a:r>
                        <a:rPr lang="ja-JP" altLang="en-US" sz="600" kern="1200" dirty="0">
                          <a:solidFill>
                            <a:schemeClr val="tx1"/>
                          </a:solidFill>
                          <a:effectLst/>
                          <a:latin typeface="+mn-lt"/>
                          <a:ea typeface="+mn-ea"/>
                          <a:cs typeface="+mn-cs"/>
                        </a:rPr>
                        <a:t>で管理しない）</a:t>
                      </a:r>
                      <a:endParaRPr lang="en-US" altLang="ja-JP" sz="6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343986">
                <a:tc vMerge="1">
                  <a:txBody>
                    <a:bodyPr/>
                    <a:lstStyle/>
                    <a:p>
                      <a:endParaRPr kumimoji="1" lang="ja-JP" altLang="en-US"/>
                    </a:p>
                  </a:txBody>
                  <a:tcPr/>
                </a:tc>
                <a:tc>
                  <a:txBody>
                    <a:bodyPr/>
                    <a:lstStyle/>
                    <a:p>
                      <a:r>
                        <a:rPr lang="ja-JP" altLang="en-US" sz="700" b="1" kern="1200" dirty="0">
                          <a:solidFill>
                            <a:schemeClr val="dk1"/>
                          </a:solidFill>
                          <a:latin typeface="+mn-lt"/>
                          <a:ea typeface="+mn-ea"/>
                          <a:cs typeface="+mn-cs"/>
                        </a:rPr>
                        <a:t>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endParaRPr lang="en-US" altLang="ja-JP" sz="600"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サードパーティ</a:t>
                      </a:r>
                      <a:r>
                        <a:rPr lang="en-US" altLang="ja-JP" sz="600" dirty="0" err="1">
                          <a:solidFill>
                            <a:srgbClr val="00B050"/>
                          </a:solidFill>
                          <a:effectLst/>
                        </a:rPr>
                        <a:t>IFilter</a:t>
                      </a:r>
                      <a:r>
                        <a:rPr lang="ja-JP" altLang="en-US" sz="600" dirty="0">
                          <a:solidFill>
                            <a:srgbClr val="00B050"/>
                          </a:solidFill>
                          <a:effectLst/>
                        </a:rPr>
                        <a:t>やカスタム拡張で柔軟性が高い</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SQL</a:t>
                      </a:r>
                      <a:r>
                        <a:rPr lang="ja-JP" altLang="en-US" sz="600" kern="1200" dirty="0">
                          <a:solidFill>
                            <a:srgbClr val="00B050"/>
                          </a:solidFill>
                          <a:effectLst/>
                          <a:latin typeface="+mn-lt"/>
                          <a:ea typeface="+mn-ea"/>
                          <a:cs typeface="+mn-cs"/>
                        </a:rPr>
                        <a:t>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添付ファイル検索は</a:t>
                      </a:r>
                      <a:r>
                        <a:rPr lang="de-DE" altLang="ja-JP" sz="600" dirty="0">
                          <a:solidFill>
                            <a:srgbClr val="00B050"/>
                          </a:solidFill>
                        </a:rPr>
                        <a:t>Full-Text Search</a:t>
                      </a:r>
                      <a:r>
                        <a:rPr lang="ja-JP" altLang="en-US" sz="600" dirty="0">
                          <a:solidFill>
                            <a:srgbClr val="00B050"/>
                          </a:solidFill>
                        </a:rPr>
                        <a:t>機能で容易、</a:t>
                      </a:r>
                      <a:r>
                        <a:rPr lang="ja-JP" altLang="en-US" sz="600" dirty="0">
                          <a:solidFill>
                            <a:srgbClr val="C00000"/>
                          </a:solidFill>
                          <a:effectLst/>
                        </a:rPr>
                        <a:t>カスタマイズ性に欠ける</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ファイル添付と</a:t>
                      </a:r>
                      <a:r>
                        <a:rPr lang="en-US" altLang="ja-JP" sz="600" kern="1200" dirty="0">
                          <a:solidFill>
                            <a:srgbClr val="00B050"/>
                          </a:solidFill>
                          <a:effectLst/>
                        </a:rPr>
                        <a:t>AI</a:t>
                      </a:r>
                      <a:r>
                        <a:rPr lang="ja-JP" altLang="en-US" sz="600" kern="1200" dirty="0">
                          <a:solidFill>
                            <a:srgbClr val="00B050"/>
                          </a:solidFill>
                          <a:effectLst/>
                        </a:rPr>
                        <a:t>駆動検索（</a:t>
                      </a:r>
                      <a:r>
                        <a:rPr lang="en-US" altLang="ja-JP" sz="600" kern="1200" dirty="0">
                          <a:solidFill>
                            <a:srgbClr val="00B050"/>
                          </a:solidFill>
                          <a:effectLst/>
                        </a:rPr>
                        <a:t>Dataverse Search</a:t>
                      </a:r>
                      <a:r>
                        <a:rPr lang="ja-JP" altLang="en-US" sz="600" kern="1200" dirty="0">
                          <a:solidFill>
                            <a:srgbClr val="00B050"/>
                          </a:solidFill>
                          <a:effectLst/>
                        </a:rPr>
                        <a:t>）が強み。 </a:t>
                      </a:r>
                      <a:endParaRPr lang="en-US" altLang="ja-JP" sz="600" kern="12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kern="1200" dirty="0">
                          <a:solidFill>
                            <a:srgbClr val="C00000"/>
                          </a:solidFill>
                          <a:effectLst/>
                        </a:rPr>
                        <a:t>Power Apps</a:t>
                      </a:r>
                      <a:r>
                        <a:rPr lang="ja-JP" altLang="en-US" sz="600" kern="1200" dirty="0">
                          <a:solidFill>
                            <a:srgbClr val="C00000"/>
                          </a:solidFill>
                          <a:effectLst/>
                        </a:rPr>
                        <a:t>の</a:t>
                      </a:r>
                      <a:r>
                        <a:rPr lang="en-US" altLang="ja-JP" sz="600" kern="1200" dirty="0">
                          <a:solidFill>
                            <a:srgbClr val="C00000"/>
                          </a:solidFill>
                          <a:effectLst/>
                        </a:rPr>
                        <a:t>Delegation</a:t>
                      </a:r>
                      <a:r>
                        <a:rPr lang="ja-JP" altLang="en-US" sz="600" kern="1200" dirty="0">
                          <a:solidFill>
                            <a:srgbClr val="C00000"/>
                          </a:solidFill>
                          <a:effectLst/>
                        </a:rPr>
                        <a:t>機能に制限あり（</a:t>
                      </a:r>
                      <a:r>
                        <a:rPr lang="en-US" altLang="ja-JP" sz="600" kern="1200" dirty="0">
                          <a:solidFill>
                            <a:srgbClr val="C00000"/>
                          </a:solidFill>
                          <a:effectLst/>
                        </a:rPr>
                        <a:t>MAX 2000</a:t>
                      </a:r>
                      <a:r>
                        <a:rPr lang="ja-JP" altLang="en-US" sz="600" kern="1200" dirty="0">
                          <a:solidFill>
                            <a:srgbClr val="C00000"/>
                          </a:solidFill>
                          <a:effectLst/>
                        </a:rPr>
                        <a:t>件</a:t>
                      </a:r>
                      <a:r>
                        <a:rPr lang="en-US" altLang="ja-JP" sz="600" kern="1200" dirty="0">
                          <a:solidFill>
                            <a:srgbClr val="C00000"/>
                          </a:solidFill>
                          <a:effectLst/>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latin typeface="+mn-lt"/>
                          <a:ea typeface="+mn-ea"/>
                          <a:cs typeface="+mn-cs"/>
                        </a:rPr>
                        <a:t>定型データの検索は</a:t>
                      </a:r>
                      <a:r>
                        <a:rPr lang="en-US" altLang="ja-JP" sz="600" kern="1200" dirty="0">
                          <a:solidFill>
                            <a:srgbClr val="00B050"/>
                          </a:solidFill>
                          <a:effectLst/>
                          <a:latin typeface="+mn-lt"/>
                          <a:ea typeface="+mn-ea"/>
                          <a:cs typeface="+mn-cs"/>
                        </a:rPr>
                        <a:t>Filter</a:t>
                      </a:r>
                      <a:r>
                        <a:rPr lang="ja-JP" altLang="en-US" sz="600" kern="1200" dirty="0">
                          <a:solidFill>
                            <a:srgbClr val="00B050"/>
                          </a:solidFill>
                          <a:effectLst/>
                          <a:latin typeface="+mn-lt"/>
                          <a:ea typeface="+mn-ea"/>
                          <a:cs typeface="+mn-cs"/>
                        </a:rPr>
                        <a:t>機能で容易</a:t>
                      </a:r>
                      <a:endParaRPr lang="en-US" altLang="ja-JP" sz="6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フルテキスト検索（</a:t>
                      </a:r>
                      <a:r>
                        <a:rPr lang="en-US" altLang="ja-JP" sz="600" dirty="0" err="1">
                          <a:solidFill>
                            <a:srgbClr val="00B050"/>
                          </a:solidFill>
                          <a:effectLst/>
                        </a:rPr>
                        <a:t>tsvector</a:t>
                      </a:r>
                      <a:r>
                        <a:rPr lang="ja-JP" altLang="en-US" sz="600" dirty="0">
                          <a:solidFill>
                            <a:srgbClr val="00B050"/>
                          </a:solidFill>
                          <a:effectLst/>
                        </a:rPr>
                        <a:t>）が強力でコンテンツ検索対応。 </a:t>
                      </a:r>
                      <a:endParaRPr lang="en-US" altLang="ja-JP" sz="600" dirty="0">
                        <a:solidFill>
                          <a:srgbClr val="00B050"/>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dirty="0">
                          <a:solidFill>
                            <a:srgbClr val="C00000"/>
                          </a:solidFill>
                          <a:effectLst/>
                        </a:rPr>
                        <a:t>Microsoft Search</a:t>
                      </a:r>
                      <a:r>
                        <a:rPr lang="ja-JP" altLang="en-US" sz="600" dirty="0">
                          <a:solidFill>
                            <a:srgbClr val="C00000"/>
                          </a:solidFill>
                          <a:effectLst/>
                        </a:rPr>
                        <a:t>（</a:t>
                      </a:r>
                      <a:r>
                        <a:rPr lang="en-US" altLang="ja-JP" sz="600" dirty="0" err="1">
                          <a:solidFill>
                            <a:srgbClr val="C00000"/>
                          </a:solidFill>
                          <a:effectLst/>
                        </a:rPr>
                        <a:t>GraphAPI</a:t>
                      </a:r>
                      <a:r>
                        <a:rPr lang="ja-JP" altLang="en-US" sz="600" dirty="0">
                          <a:solidFill>
                            <a:srgbClr val="C00000"/>
                          </a:solidFill>
                          <a:effectLst/>
                        </a:rPr>
                        <a:t>）で実現。</a:t>
                      </a: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6411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kern="1200" dirty="0">
                          <a:solidFill>
                            <a:srgbClr val="00B050"/>
                          </a:solidFill>
                          <a:effectLst/>
                        </a:rPr>
                        <a:t>実績があり</a:t>
                      </a:r>
                      <a:endParaRPr lang="ja-JP" altLang="en-US" sz="6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600" dirty="0">
                          <a:solidFill>
                            <a:srgbClr val="00B050"/>
                          </a:solidFill>
                          <a:effectLst/>
                        </a:rPr>
                        <a:t>弊社</a:t>
                      </a:r>
                      <a:r>
                        <a:rPr lang="en-US" altLang="ja-JP" sz="600" dirty="0">
                          <a:solidFill>
                            <a:srgbClr val="00B050"/>
                          </a:solidFill>
                          <a:effectLst/>
                        </a:rPr>
                        <a:t>Azure SQL</a:t>
                      </a:r>
                      <a:r>
                        <a:rPr lang="ja-JP" altLang="en-US" sz="600" dirty="0">
                          <a:solidFill>
                            <a:srgbClr val="00B050"/>
                          </a:solidFill>
                          <a:effectLst/>
                        </a:rPr>
                        <a:t>ベースの実案件の実績がないが、検証経緯があり（ファイル以外には</a:t>
                      </a:r>
                      <a:r>
                        <a:rPr lang="en-US" altLang="ja-JP" sz="600" dirty="0" err="1">
                          <a:solidFill>
                            <a:srgbClr val="00B050"/>
                          </a:solidFill>
                          <a:effectLst/>
                        </a:rPr>
                        <a:t>Sqlserver</a:t>
                      </a:r>
                      <a:r>
                        <a:rPr lang="ja-JP" altLang="en-US" sz="600" dirty="0">
                          <a:solidFill>
                            <a:srgbClr val="00B050"/>
                          </a:solidFill>
                          <a:effectLst/>
                        </a:rPr>
                        <a:t>　</a:t>
                      </a:r>
                      <a:r>
                        <a:rPr lang="en-US" altLang="ja-JP" sz="600" dirty="0">
                          <a:solidFill>
                            <a:srgbClr val="00B050"/>
                          </a:solidFill>
                          <a:effectLst/>
                        </a:rPr>
                        <a:t>2022</a:t>
                      </a:r>
                      <a:r>
                        <a:rPr lang="ja-JP" altLang="en-US" sz="600" dirty="0">
                          <a:solidFill>
                            <a:srgbClr val="00B050"/>
                          </a:solidFill>
                          <a:effectLst/>
                        </a:rPr>
                        <a:t>とは差異がない）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600" dirty="0">
                          <a:solidFill>
                            <a:srgbClr val="00B050"/>
                          </a:solidFill>
                        </a:rPr>
                        <a:t>実績あり</a:t>
                      </a:r>
                      <a:endParaRPr lang="en-US" altLang="ja-JP" sz="6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C00000"/>
                          </a:solidFill>
                          <a:effectLst/>
                        </a:rPr>
                        <a:t>Power</a:t>
                      </a:r>
                      <a:r>
                        <a:rPr lang="ja-JP" altLang="en-US" sz="600" dirty="0">
                          <a:solidFill>
                            <a:srgbClr val="C00000"/>
                          </a:solidFill>
                          <a:effectLst/>
                        </a:rPr>
                        <a:t> </a:t>
                      </a:r>
                      <a:r>
                        <a:rPr lang="en-US" altLang="ja-JP" sz="600" dirty="0">
                          <a:solidFill>
                            <a:srgbClr val="C00000"/>
                          </a:solidFill>
                          <a:effectLst/>
                        </a:rPr>
                        <a:t>Platform</a:t>
                      </a:r>
                      <a:r>
                        <a:rPr lang="ja-JP" altLang="en-US" sz="600" dirty="0">
                          <a:solidFill>
                            <a:srgbClr val="C00000"/>
                          </a:solidFill>
                          <a:effectLst/>
                        </a:rPr>
                        <a:t>との連携には実績がない、</a:t>
                      </a:r>
                      <a:r>
                        <a:rPr lang="en-US" altLang="ja-JP" sz="600" dirty="0">
                          <a:solidFill>
                            <a:srgbClr val="C00000"/>
                          </a:solidFill>
                          <a:effectLst/>
                        </a:rPr>
                        <a:t>POC</a:t>
                      </a:r>
                      <a:r>
                        <a:rPr lang="ja-JP" altLang="en-US" sz="600" dirty="0">
                          <a:solidFill>
                            <a:srgbClr val="C00000"/>
                          </a:solidFill>
                          <a:effectLst/>
                        </a:rPr>
                        <a:t>範囲は拡大。</a:t>
                      </a:r>
                      <a:endParaRPr lang="en-US" altLang="ja-JP" sz="6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600" dirty="0">
                          <a:solidFill>
                            <a:srgbClr val="00B050"/>
                          </a:solidFill>
                          <a:effectLst/>
                        </a:rPr>
                        <a:t>Microsoft Search(Graph API)</a:t>
                      </a:r>
                      <a:r>
                        <a:rPr lang="ja-JP" altLang="en-US" sz="600" dirty="0">
                          <a:solidFill>
                            <a:srgbClr val="00B050"/>
                          </a:solidFill>
                          <a:effectLst/>
                        </a:rPr>
                        <a:t>の弊社実績があり</a:t>
                      </a:r>
                      <a:endParaRPr lang="en-US" altLang="ja-JP" sz="600" dirty="0">
                        <a:solidFill>
                          <a:srgbClr val="00B050"/>
                        </a:solidFill>
                        <a:effectLst/>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23859">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700" b="1" kern="1200" dirty="0">
                          <a:solidFill>
                            <a:schemeClr val="dk1"/>
                          </a:solidFill>
                          <a:latin typeface="+mn-lt"/>
                          <a:ea typeface="+mn-ea"/>
                          <a:cs typeface="+mn-cs"/>
                        </a:rPr>
                        <a:t>設計・実装の特別考慮</a:t>
                      </a:r>
                      <a:endParaRPr lang="en-US" altLang="ja-JP" sz="700" b="1" kern="1200" dirty="0">
                        <a:solidFill>
                          <a:schemeClr val="dk1"/>
                        </a:solidFill>
                        <a:latin typeface="+mn-lt"/>
                        <a:ea typeface="+mn-ea"/>
                        <a:cs typeface="+mn-cs"/>
                      </a:endParaRPr>
                    </a:p>
                    <a:p>
                      <a:r>
                        <a:rPr lang="en-US" altLang="ja-JP" sz="700" b="1" kern="1200" dirty="0">
                          <a:solidFill>
                            <a:schemeClr val="dk1"/>
                          </a:solidFill>
                          <a:latin typeface="+mn-lt"/>
                          <a:ea typeface="+mn-ea"/>
                          <a:cs typeface="+mn-cs"/>
                        </a:rPr>
                        <a:t>(</a:t>
                      </a:r>
                      <a:r>
                        <a:rPr lang="ja-JP" altLang="en-US" sz="700" b="1" kern="1200" dirty="0">
                          <a:solidFill>
                            <a:schemeClr val="dk1"/>
                          </a:solidFill>
                          <a:latin typeface="+mn-lt"/>
                          <a:ea typeface="+mn-ea"/>
                          <a:cs typeface="+mn-cs"/>
                        </a:rPr>
                        <a:t>権限</a:t>
                      </a:r>
                      <a:r>
                        <a:rPr lang="en-US" altLang="ja-JP" sz="700" b="1" kern="1200" dirty="0">
                          <a:solidFill>
                            <a:schemeClr val="dk1"/>
                          </a:solidFill>
                          <a:latin typeface="+mn-lt"/>
                          <a:ea typeface="+mn-ea"/>
                          <a:cs typeface="+mn-cs"/>
                        </a:rPr>
                        <a:t>)</a:t>
                      </a:r>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900" b="1" kern="1200" dirty="0">
                          <a:solidFill>
                            <a:schemeClr val="tx1"/>
                          </a:solidFill>
                          <a:effectLst/>
                          <a:latin typeface="+mn-lt"/>
                          <a:ea typeface="+mn-ea"/>
                          <a:cs typeface="+mn-cs"/>
                        </a:rPr>
                        <a:t>-</a:t>
                      </a:r>
                      <a:endParaRPr lang="ja-JP" altLang="en-US" sz="9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600" kern="1200" dirty="0">
                          <a:solidFill>
                            <a:srgbClr val="C00000"/>
                          </a:solidFill>
                          <a:effectLst/>
                          <a:latin typeface="+mn-lt"/>
                          <a:ea typeface="+mn-ea"/>
                          <a:cs typeface="+mn-cs"/>
                        </a:rPr>
                        <a:t>SharePoint</a:t>
                      </a:r>
                      <a:r>
                        <a:rPr lang="ja-JP" altLang="en-US" sz="600" kern="1200" dirty="0">
                          <a:solidFill>
                            <a:srgbClr val="C00000"/>
                          </a:solidFill>
                          <a:effectLst/>
                          <a:latin typeface="+mn-lt"/>
                          <a:ea typeface="+mn-ea"/>
                          <a:cs typeface="+mn-cs"/>
                        </a:rPr>
                        <a:t>に置いている添付ファイルの権限管理が必要（実績があり）</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r>
                        <a:rPr lang="ja-JP" altLang="en-US" sz="600" kern="1200" dirty="0">
                          <a:solidFill>
                            <a:srgbClr val="C00000"/>
                          </a:solidFill>
                          <a:effectLst/>
                          <a:latin typeface="+mn-lt"/>
                          <a:ea typeface="+mn-ea"/>
                          <a:cs typeface="+mn-cs"/>
                        </a:rPr>
                        <a:t>論理</a:t>
                      </a:r>
                      <a:r>
                        <a:rPr lang="en-US" altLang="ja-JP" sz="600" kern="1200" dirty="0">
                          <a:solidFill>
                            <a:srgbClr val="C00000"/>
                          </a:solidFill>
                          <a:effectLst/>
                          <a:latin typeface="+mn-lt"/>
                          <a:ea typeface="+mn-ea"/>
                          <a:cs typeface="+mn-cs"/>
                        </a:rPr>
                        <a:t>Group</a:t>
                      </a:r>
                      <a:r>
                        <a:rPr lang="ja-JP" altLang="en-US" sz="600" kern="1200" dirty="0">
                          <a:solidFill>
                            <a:srgbClr val="C00000"/>
                          </a:solidFill>
                          <a:effectLst/>
                          <a:latin typeface="+mn-lt"/>
                          <a:ea typeface="+mn-ea"/>
                          <a:cs typeface="+mn-cs"/>
                        </a:rPr>
                        <a:t>が変更された場合、登録済みの仕様書添付ファイルに対して再設定が必要</a:t>
                      </a:r>
                      <a:endParaRPr lang="en-US" altLang="ja-JP" sz="600" kern="1200" dirty="0">
                        <a:solidFill>
                          <a:srgbClr val="C00000"/>
                        </a:solidFill>
                        <a:effectLst/>
                        <a:latin typeface="+mn-lt"/>
                        <a:ea typeface="+mn-ea"/>
                        <a:cs typeface="+mn-cs"/>
                      </a:endParaRPr>
                    </a:p>
                    <a:p>
                      <a:pPr marL="0" indent="0" algn="l" defTabSz="914400" rtl="0" eaLnBrk="1" latinLnBrk="0" hangingPunct="1">
                        <a:buFont typeface="Arial" panose="020B0604020202020204" pitchFamily="34" charset="0"/>
                        <a:buNone/>
                      </a:pPr>
                      <a:endParaRPr lang="en-US" altLang="ja-JP" sz="6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6" name="テキスト ボックス 5">
            <a:extLst>
              <a:ext uri="{FF2B5EF4-FFF2-40B4-BE49-F238E27FC236}">
                <a16:creationId xmlns:a16="http://schemas.microsoft.com/office/drawing/2014/main" id="{2ACDC925-AF97-854B-68F7-31FDCC8F04E2}"/>
              </a:ext>
            </a:extLst>
          </p:cNvPr>
          <p:cNvSpPr txBox="1"/>
          <p:nvPr/>
        </p:nvSpPr>
        <p:spPr>
          <a:xfrm>
            <a:off x="273718" y="682095"/>
            <a:ext cx="11412096" cy="276999"/>
          </a:xfrm>
          <a:prstGeom prst="rect">
            <a:avLst/>
          </a:prstGeom>
          <a:noFill/>
        </p:spPr>
        <p:txBody>
          <a:bodyPr wrap="square" rtlCol="0">
            <a:spAutoFit/>
          </a:bodyPr>
          <a:lstStyle/>
          <a:p>
            <a:r>
              <a:rPr lang="ja-JP" altLang="en-US" sz="1200" dirty="0">
                <a:solidFill>
                  <a:srgbClr val="FF0000"/>
                </a:solidFill>
              </a:rPr>
              <a:t>本案件でなりえるストレージについて、下記の評価項目について比較を行い、その結果を</a:t>
            </a:r>
            <a:r>
              <a:rPr kumimoji="1" lang="ja-JP" altLang="en-US" sz="1200" dirty="0">
                <a:solidFill>
                  <a:srgbClr val="FF0000"/>
                </a:solidFill>
              </a:rPr>
              <a:t>表にまとめた。</a:t>
            </a:r>
            <a:endParaRPr kumimoji="1" lang="en-US" altLang="ja-JP" sz="1400" b="1" dirty="0">
              <a:solidFill>
                <a:srgbClr val="FF0000"/>
              </a:solidFill>
            </a:endParaRPr>
          </a:p>
        </p:txBody>
      </p:sp>
    </p:spTree>
    <p:extLst>
      <p:ext uri="{BB962C8B-B14F-4D97-AF65-F5344CB8AC3E}">
        <p14:creationId xmlns:p14="http://schemas.microsoft.com/office/powerpoint/2010/main" val="101473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5146-47DF-A6E3-4EFF-D8B92D4820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02FF0C-CED3-3935-A58D-B604EE783CF5}"/>
              </a:ext>
            </a:extLst>
          </p:cNvPr>
          <p:cNvSpPr>
            <a:spLocks noGrp="1"/>
          </p:cNvSpPr>
          <p:nvPr>
            <p:ph type="title"/>
          </p:nvPr>
        </p:nvSpPr>
        <p:spPr>
          <a:xfrm>
            <a:off x="414336" y="255263"/>
            <a:ext cx="9327072" cy="683629"/>
          </a:xfrm>
        </p:spPr>
        <p:txBody>
          <a:bodyPr>
            <a:normAutofit/>
          </a:bodyPr>
          <a:lstStyle/>
          <a:p>
            <a:r>
              <a:rPr lang="ja-JP" altLang="en-US" dirty="0"/>
              <a:t>ストレージの評価</a:t>
            </a:r>
          </a:p>
        </p:txBody>
      </p:sp>
      <p:graphicFrame>
        <p:nvGraphicFramePr>
          <p:cNvPr id="5" name="表 4">
            <a:extLst>
              <a:ext uri="{FF2B5EF4-FFF2-40B4-BE49-F238E27FC236}">
                <a16:creationId xmlns:a16="http://schemas.microsoft.com/office/drawing/2014/main" id="{C0E8CF2F-B9FE-4574-119C-F285BA61248C}"/>
              </a:ext>
            </a:extLst>
          </p:cNvPr>
          <p:cNvGraphicFramePr>
            <a:graphicFrameLocks noGrp="1"/>
          </p:cNvGraphicFramePr>
          <p:nvPr>
            <p:extLst>
              <p:ext uri="{D42A27DB-BD31-4B8C-83A1-F6EECF244321}">
                <p14:modId xmlns:p14="http://schemas.microsoft.com/office/powerpoint/2010/main" val="4039698271"/>
              </p:ext>
            </p:extLst>
          </p:nvPr>
        </p:nvGraphicFramePr>
        <p:xfrm>
          <a:off x="294143" y="1833698"/>
          <a:ext cx="11459480" cy="3981976"/>
        </p:xfrm>
        <a:graphic>
          <a:graphicData uri="http://schemas.openxmlformats.org/drawingml/2006/table">
            <a:tbl>
              <a:tblPr firstRow="1">
                <a:tableStyleId>{2D5ABB26-0587-4C30-8999-92F81FD0307C}</a:tableStyleId>
              </a:tblPr>
              <a:tblGrid>
                <a:gridCol w="670920">
                  <a:extLst>
                    <a:ext uri="{9D8B030D-6E8A-4147-A177-3AD203B41FA5}">
                      <a16:colId xmlns:a16="http://schemas.microsoft.com/office/drawing/2014/main" val="2689841149"/>
                    </a:ext>
                  </a:extLst>
                </a:gridCol>
                <a:gridCol w="1094418">
                  <a:extLst>
                    <a:ext uri="{9D8B030D-6E8A-4147-A177-3AD203B41FA5}">
                      <a16:colId xmlns:a16="http://schemas.microsoft.com/office/drawing/2014/main" val="20000"/>
                    </a:ext>
                  </a:extLst>
                </a:gridCol>
                <a:gridCol w="1765389">
                  <a:extLst>
                    <a:ext uri="{9D8B030D-6E8A-4147-A177-3AD203B41FA5}">
                      <a16:colId xmlns:a16="http://schemas.microsoft.com/office/drawing/2014/main" val="20001"/>
                    </a:ext>
                  </a:extLst>
                </a:gridCol>
                <a:gridCol w="1969902">
                  <a:extLst>
                    <a:ext uri="{9D8B030D-6E8A-4147-A177-3AD203B41FA5}">
                      <a16:colId xmlns:a16="http://schemas.microsoft.com/office/drawing/2014/main" val="2142441908"/>
                    </a:ext>
                  </a:extLst>
                </a:gridCol>
                <a:gridCol w="2017082">
                  <a:extLst>
                    <a:ext uri="{9D8B030D-6E8A-4147-A177-3AD203B41FA5}">
                      <a16:colId xmlns:a16="http://schemas.microsoft.com/office/drawing/2014/main" val="20002"/>
                    </a:ext>
                  </a:extLst>
                </a:gridCol>
                <a:gridCol w="1698176">
                  <a:extLst>
                    <a:ext uri="{9D8B030D-6E8A-4147-A177-3AD203B41FA5}">
                      <a16:colId xmlns:a16="http://schemas.microsoft.com/office/drawing/2014/main" val="20003"/>
                    </a:ext>
                  </a:extLst>
                </a:gridCol>
                <a:gridCol w="2243593">
                  <a:extLst>
                    <a:ext uri="{9D8B030D-6E8A-4147-A177-3AD203B41FA5}">
                      <a16:colId xmlns:a16="http://schemas.microsoft.com/office/drawing/2014/main" val="20004"/>
                    </a:ext>
                  </a:extLst>
                </a:gridCol>
              </a:tblGrid>
              <a:tr h="211254">
                <a:tc gridSpan="2">
                  <a:txBody>
                    <a:bodyPr/>
                    <a:lstStyle/>
                    <a:p>
                      <a:r>
                        <a:rPr lang="ja-JP" altLang="en-US" sz="9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SQL Server 2022</a:t>
                      </a:r>
                      <a:r>
                        <a:rPr lang="en-US" altLang="ja-JP" sz="900" dirty="0">
                          <a:effectLst/>
                        </a:rPr>
                        <a:t>(</a:t>
                      </a:r>
                      <a:r>
                        <a:rPr lang="ja-JP" altLang="en-US" sz="900" dirty="0">
                          <a:effectLst/>
                        </a:rPr>
                        <a:t>オンプレミス</a:t>
                      </a:r>
                      <a:r>
                        <a:rPr lang="en-US" altLang="ja-JP" sz="900" dirty="0">
                          <a:effectLst/>
                        </a:rPr>
                        <a:t>DB</a:t>
                      </a:r>
                      <a:r>
                        <a:rPr lang="en-US" sz="9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900" dirty="0">
                          <a:effectLst/>
                        </a:rPr>
                        <a:t>Azure SQL Database (</a:t>
                      </a:r>
                      <a:r>
                        <a:rPr lang="ja-JP" altLang="en-US" sz="900" kern="1200" dirty="0">
                          <a:solidFill>
                            <a:schemeClr val="tx1"/>
                          </a:solidFill>
                          <a:effectLst/>
                          <a:latin typeface="+mn-lt"/>
                          <a:ea typeface="+mn-ea"/>
                          <a:cs typeface="+mn-cs"/>
                        </a:rPr>
                        <a:t>クラウド</a:t>
                      </a:r>
                      <a:r>
                        <a:rPr lang="de-DE" altLang="ja-JP" sz="900" kern="1200" dirty="0">
                          <a:solidFill>
                            <a:schemeClr val="tx1"/>
                          </a:solidFill>
                          <a:effectLst/>
                          <a:latin typeface="+mn-lt"/>
                          <a:ea typeface="+mn-ea"/>
                          <a:cs typeface="+mn-cs"/>
                        </a:rPr>
                        <a:t>PaaS)</a:t>
                      </a:r>
                      <a:r>
                        <a:rPr lang="en-US" altLang="ja-JP" sz="900" kern="1200" dirty="0">
                          <a:solidFill>
                            <a:schemeClr val="tx1"/>
                          </a:solidFill>
                          <a:effectLst/>
                          <a:latin typeface="+mn-lt"/>
                          <a:ea typeface="+mn-ea"/>
                          <a:cs typeface="+mn-cs"/>
                        </a:rPr>
                        <a:t>-</a:t>
                      </a:r>
                      <a:r>
                        <a:rPr lang="ja-JP" altLang="en-US" sz="900" b="1" kern="1200" dirty="0">
                          <a:solidFill>
                            <a:srgbClr val="00B050"/>
                          </a:solidFill>
                          <a:effectLst/>
                          <a:latin typeface="+mn-lt"/>
                          <a:ea typeface="+mn-ea"/>
                          <a:cs typeface="+mn-cs"/>
                        </a:rPr>
                        <a:t>定型データ保存に推奨</a:t>
                      </a:r>
                      <a:endParaRPr lang="de-DE" altLang="ja-JP" sz="9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900" b="1" dirty="0"/>
                        <a:t>SharePoint Online</a:t>
                      </a:r>
                      <a:r>
                        <a:rPr lang="en-US" altLang="ja-JP" sz="900" kern="1200" dirty="0">
                          <a:solidFill>
                            <a:schemeClr val="tx1"/>
                          </a:solidFill>
                          <a:effectLst/>
                          <a:latin typeface="+mn-lt"/>
                          <a:ea typeface="+mn-ea"/>
                          <a:cs typeface="+mn-cs"/>
                        </a:rPr>
                        <a:t>-</a:t>
                      </a:r>
                      <a:r>
                        <a:rPr lang="ja-JP" altLang="en-US" sz="900" b="1" dirty="0">
                          <a:solidFill>
                            <a:srgbClr val="00B050"/>
                          </a:solidFill>
                        </a:rPr>
                        <a:t>ファイル保存に</a:t>
                      </a:r>
                      <a:r>
                        <a:rPr kumimoji="1" lang="ja-JP" altLang="en-US" sz="900" b="1" dirty="0">
                          <a:solidFill>
                            <a:srgbClr val="00B050"/>
                          </a:solidFill>
                        </a:rPr>
                        <a:t>推奨</a:t>
                      </a:r>
                      <a:endParaRPr lang="de-DE" sz="9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307083">
                <a:tc>
                  <a:txBody>
                    <a:bodyPr/>
                    <a:lstStyle/>
                    <a:p>
                      <a:r>
                        <a:rPr lang="ja-JP" altLang="en-US" sz="800" b="1" kern="1200" dirty="0">
                          <a:solidFill>
                            <a:schemeClr val="dk1"/>
                          </a:solidFill>
                          <a:latin typeface="+mn-lt"/>
                          <a:ea typeface="+mn-ea"/>
                          <a:cs typeface="+mn-cs"/>
                        </a:rPr>
                        <a:t>インテグレーション</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900" b="1" dirty="0"/>
                        <a:t>Power Apps/</a:t>
                      </a:r>
                      <a:r>
                        <a:rPr lang="de-DE" altLang="ja-JP" sz="900" b="1" dirty="0"/>
                        <a:t>Automate</a:t>
                      </a:r>
                      <a:r>
                        <a:rPr lang="de-DE" sz="900" b="1" dirty="0"/>
                        <a:t> </a:t>
                      </a:r>
                      <a:r>
                        <a:rPr lang="ja-JP" altLang="en-US" sz="900" b="1" dirty="0"/>
                        <a:t>統合</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800" b="1" dirty="0">
                          <a:solidFill>
                            <a:srgbClr val="C00000"/>
                          </a:solidFill>
                        </a:rPr>
                        <a:t>×</a:t>
                      </a:r>
                      <a:r>
                        <a:rPr lang="ja-JP" altLang="en-US" sz="800" dirty="0">
                          <a:solidFill>
                            <a:srgbClr val="C00000"/>
                          </a:solidFill>
                        </a:rPr>
                        <a:t>　カスタムコネクタの作成は一気に技術リスクを高める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rPr>
                        <a:t>〇</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115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ラインセス</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必要なライセンス</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en-US" altLang="ja-JP" sz="800" b="1"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800" b="1" dirty="0">
                          <a:solidFill>
                            <a:srgbClr val="00B050"/>
                          </a:solidFill>
                          <a:effectLst/>
                        </a:rPr>
                        <a:t>〇</a:t>
                      </a:r>
                      <a:endParaRPr lang="ja-JP" altLang="en-US"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2330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dk1"/>
                          </a:solidFill>
                          <a:latin typeface="+mn-lt"/>
                          <a:ea typeface="+mn-ea"/>
                          <a:cs typeface="+mn-cs"/>
                        </a:rPr>
                        <a:t>運用</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dirty="0"/>
                        <a:t>添付ファイル以外</a:t>
                      </a:r>
                      <a:endParaRPr lang="ja-JP" altLang="en-US" sz="9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latin typeface="+mn-lt"/>
                          <a:ea typeface="+mn-ea"/>
                          <a:cs typeface="+mn-cs"/>
                        </a:rPr>
                        <a:t>〇</a:t>
                      </a:r>
                      <a:endParaRPr lang="en-US" altLang="ja-JP" sz="800" b="1"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ー</a:t>
                      </a:r>
                      <a:endParaRPr lang="en-US" altLang="zh-CN" sz="800" b="1"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06285698"/>
                  </a:ext>
                </a:extLst>
              </a:tr>
              <a:tr h="11542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tx1"/>
                          </a:solidFill>
                          <a:latin typeface="+mn-lt"/>
                          <a:ea typeface="+mn-ea"/>
                          <a:cs typeface="+mn-cs"/>
                        </a:rPr>
                        <a:t>添付ファイル</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a:solidFill>
                            <a:srgbClr val="00B050"/>
                          </a:solidFill>
                          <a:effectLst/>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chemeClr val="tx1"/>
                          </a:solidFill>
                          <a:effectLst/>
                        </a:rPr>
                        <a:t>△</a:t>
                      </a:r>
                      <a:endParaRPr lang="en-US" altLang="ja-JP" sz="800" b="1"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kern="1200" dirty="0">
                          <a:solidFill>
                            <a:srgbClr val="00B050"/>
                          </a:solidFill>
                          <a:latin typeface="+mn-lt"/>
                          <a:ea typeface="+mn-ea"/>
                          <a:cs typeface="+mn-cs"/>
                        </a:rPr>
                        <a:t>〇</a:t>
                      </a:r>
                      <a:endParaRPr lang="en-US" altLang="zh-CN" sz="800" b="1" kern="1200" dirty="0">
                        <a:solidFill>
                          <a:srgbClr val="00B05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49484509"/>
                  </a:ext>
                </a:extLst>
              </a:tr>
              <a:tr h="189958">
                <a:tc gridSpan="2">
                  <a:txBody>
                    <a:bodyPr/>
                    <a:lstStyle/>
                    <a:p>
                      <a:r>
                        <a:rPr lang="ja-JP" altLang="en-US" sz="900" b="1" kern="1200" dirty="0">
                          <a:solidFill>
                            <a:schemeClr val="dk1"/>
                          </a:solidFill>
                          <a:latin typeface="+mn-lt"/>
                          <a:ea typeface="+mn-ea"/>
                          <a:cs typeface="+mn-cs"/>
                        </a:rPr>
                        <a:t>製品の安定性</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kern="1200" dirty="0">
                          <a:solidFill>
                            <a:schemeClr val="tx1"/>
                          </a:solidFill>
                          <a:effectLst/>
                        </a:rPr>
                        <a:t>△ </a:t>
                      </a:r>
                      <a:r>
                        <a:rPr lang="ja-JP" altLang="en-US" sz="800" kern="1200" dirty="0">
                          <a:solidFill>
                            <a:srgbClr val="C00000"/>
                          </a:solidFill>
                          <a:effectLst/>
                        </a:rPr>
                        <a:t> </a:t>
                      </a:r>
                      <a:r>
                        <a:rPr lang="en-US" altLang="ja-JP" sz="800" kern="1200" dirty="0">
                          <a:solidFill>
                            <a:srgbClr val="C00000"/>
                          </a:solidFill>
                          <a:effectLst/>
                        </a:rPr>
                        <a:t>Full</a:t>
                      </a:r>
                      <a:r>
                        <a:rPr lang="ja-JP" altLang="en-US" sz="800" kern="1200" dirty="0">
                          <a:solidFill>
                            <a:srgbClr val="C00000"/>
                          </a:solidFill>
                          <a:effectLst/>
                        </a:rPr>
                        <a:t> </a:t>
                      </a:r>
                      <a:r>
                        <a:rPr lang="en-US" altLang="ja-JP" sz="800" kern="1200" dirty="0">
                          <a:solidFill>
                            <a:srgbClr val="C00000"/>
                          </a:solidFill>
                          <a:effectLst/>
                        </a:rPr>
                        <a:t>Text Search</a:t>
                      </a:r>
                      <a:r>
                        <a:rPr lang="ja-JP" altLang="en-US" sz="800" kern="1200" dirty="0">
                          <a:solidFill>
                            <a:srgbClr val="C00000"/>
                          </a:solidFill>
                          <a:effectLst/>
                        </a:rPr>
                        <a:t>バグ報告あり（クエリ結果の不整合）。</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ー</a:t>
                      </a:r>
                      <a:endParaRPr kumimoji="0" lang="en-US" altLang="zh-CN" sz="800" b="1" i="0" u="none" strike="noStrike" kern="1200" cap="none" spc="0" normalizeH="0" baseline="0" noProof="0" dirty="0">
                        <a:ln>
                          <a:noFill/>
                        </a:ln>
                        <a:solidFill>
                          <a:prstClr val="black"/>
                        </a:solidFill>
                        <a:effectLst/>
                        <a:uLnTx/>
                        <a:uFillTx/>
                        <a:latin typeface="Gill Sans MT"/>
                        <a:ea typeface="等线" panose="02010600030101010101" pitchFamily="2" charset="-122"/>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360322">
                <a:tc gridSpan="2">
                  <a:txBody>
                    <a:bodyPr/>
                    <a:lstStyle/>
                    <a:p>
                      <a:pPr marL="0" algn="l" defTabSz="914400" rtl="0" eaLnBrk="1" latinLnBrk="0" hangingPunct="1"/>
                      <a:r>
                        <a:rPr lang="ja-JP" altLang="en-US" sz="900" b="1" kern="1200" dirty="0">
                          <a:solidFill>
                            <a:schemeClr val="dk1"/>
                          </a:solidFill>
                          <a:latin typeface="+mn-lt"/>
                          <a:ea typeface="+mn-ea"/>
                          <a:cs typeface="+mn-cs"/>
                        </a:rPr>
                        <a:t>性能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7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u="sng" kern="1200" dirty="0">
                          <a:solidFill>
                            <a:srgbClr val="C00000"/>
                          </a:solidFill>
                          <a:effectLst/>
                        </a:rPr>
                        <a:t>×</a:t>
                      </a:r>
                      <a:r>
                        <a:rPr lang="ja-JP" altLang="en-US" sz="800" b="1" u="sng" kern="1200" dirty="0">
                          <a:solidFill>
                            <a:srgbClr val="C00000"/>
                          </a:solidFill>
                          <a:effectLst/>
                        </a:rPr>
                        <a:t> </a:t>
                      </a:r>
                      <a:r>
                        <a:rPr lang="en-US" altLang="ja-JP" sz="800" b="1" u="sng" kern="1200" dirty="0">
                          <a:solidFill>
                            <a:srgbClr val="C00000"/>
                          </a:solidFill>
                          <a:effectLst/>
                        </a:rPr>
                        <a:t>On</a:t>
                      </a:r>
                      <a:r>
                        <a:rPr lang="ja-JP" altLang="en-US" sz="800" b="1" u="sng" kern="1200" dirty="0">
                          <a:solidFill>
                            <a:srgbClr val="C00000"/>
                          </a:solidFill>
                          <a:effectLst/>
                        </a:rPr>
                        <a:t> </a:t>
                      </a:r>
                      <a:r>
                        <a:rPr lang="en-US" altLang="ja-JP" sz="800" b="1" u="sng" kern="1200" dirty="0" err="1">
                          <a:solidFill>
                            <a:srgbClr val="C00000"/>
                          </a:solidFill>
                          <a:effectLst/>
                        </a:rPr>
                        <a:t>promsise</a:t>
                      </a:r>
                      <a:r>
                        <a:rPr lang="en-US" altLang="ja-JP" sz="800" b="1" u="sng" kern="1200" dirty="0">
                          <a:solidFill>
                            <a:srgbClr val="C00000"/>
                          </a:solidFill>
                          <a:effectLst/>
                        </a:rPr>
                        <a:t> Gateway</a:t>
                      </a:r>
                      <a:r>
                        <a:rPr lang="ja-JP" altLang="en-US" sz="800" b="1" u="sng" kern="1200" dirty="0">
                          <a:solidFill>
                            <a:srgbClr val="C00000"/>
                          </a:solidFill>
                          <a:effectLst/>
                        </a:rPr>
                        <a:t>のネットワークボトルネックが発生しやすい。大規模クエリで顕著。</a:t>
                      </a:r>
                      <a:endParaRPr lang="ja-JP" altLang="en-US" sz="800" b="1" u="sng"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1" dirty="0">
                          <a:solidFill>
                            <a:srgbClr val="C00000"/>
                          </a:solidFill>
                          <a:effectLst/>
                        </a:rPr>
                        <a:t>×</a:t>
                      </a:r>
                      <a:r>
                        <a:rPr lang="ja-JP" altLang="en-US" sz="800" b="1" dirty="0">
                          <a:solidFill>
                            <a:srgbClr val="C00000"/>
                          </a:solidFill>
                          <a:effectLst/>
                        </a:rPr>
                        <a:t> </a:t>
                      </a:r>
                      <a:r>
                        <a:rPr lang="ja-JP" altLang="en-US" sz="800" dirty="0">
                          <a:solidFill>
                            <a:srgbClr val="C00000"/>
                          </a:solidFill>
                          <a:effectLst/>
                        </a:rPr>
                        <a:t>複雑なクエリでパフォーマンス低下。 </a:t>
                      </a:r>
                      <a:endParaRPr lang="ja-JP" altLang="en-US" sz="800" kern="1200" dirty="0">
                        <a:solidFill>
                          <a:schemeClr val="dk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C00000"/>
                          </a:solidFill>
                          <a:effectLst/>
                        </a:rPr>
                        <a:t>×</a:t>
                      </a:r>
                      <a:r>
                        <a:rPr lang="ja-JP" altLang="en-US" sz="800" dirty="0">
                          <a:solidFill>
                            <a:srgbClr val="C00000"/>
                          </a:solidFill>
                          <a:effectLst/>
                        </a:rPr>
                        <a:t> </a:t>
                      </a:r>
                      <a:r>
                        <a:rPr lang="ja-JP" altLang="en-US" sz="800" b="0" dirty="0">
                          <a:solidFill>
                            <a:srgbClr val="C00000"/>
                          </a:solidFill>
                          <a:effectLst/>
                        </a:rPr>
                        <a:t>大容量ファイルストレージに不向き（</a:t>
                      </a:r>
                      <a:r>
                        <a:rPr lang="en-US" altLang="ja-JP" sz="800" b="0" dirty="0">
                          <a:solidFill>
                            <a:srgbClr val="C00000"/>
                          </a:solidFill>
                          <a:effectLst/>
                        </a:rPr>
                        <a:t>TOAST</a:t>
                      </a:r>
                      <a:r>
                        <a:rPr lang="ja-JP" altLang="en-US" sz="800" b="0" dirty="0">
                          <a:solidFill>
                            <a:srgbClr val="C00000"/>
                          </a:solidFill>
                          <a:effectLst/>
                        </a:rPr>
                        <a:t>使用でパフォーマンス低下）</a:t>
                      </a:r>
                      <a:r>
                        <a:rPr lang="ja-JP" altLang="en-US" sz="800" dirty="0">
                          <a:solidFill>
                            <a:srgbClr val="C00000"/>
                          </a:solidFill>
                          <a:effectLst/>
                        </a:rPr>
                        <a:t>。 </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800" b="1" dirty="0">
                          <a:solidFill>
                            <a:srgbClr val="00B050"/>
                          </a:solidFill>
                          <a:effectLst/>
                        </a:rPr>
                        <a:t>〇</a:t>
                      </a:r>
                      <a:endParaRPr lang="en-US" altLang="zh-CN"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115424">
                <a:tc rowSpan="6">
                  <a:txBody>
                    <a:bodyPr/>
                    <a:lstStyle/>
                    <a:p>
                      <a:pPr marL="0" algn="l" defTabSz="914400" rtl="0" eaLnBrk="1" latinLnBrk="0" hangingPunct="1"/>
                      <a:r>
                        <a:rPr lang="ja-JP" altLang="en-US" sz="800" b="1" kern="1200" dirty="0">
                          <a:solidFill>
                            <a:schemeClr val="dk1"/>
                          </a:solidFill>
                          <a:latin typeface="+mn-lt"/>
                          <a:ea typeface="+mn-ea"/>
                          <a:cs typeface="+mn-cs"/>
                        </a:rPr>
                        <a:t>ディリバリ</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インフラ、環境構築</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rPr>
                        <a:t>△</a:t>
                      </a:r>
                      <a:r>
                        <a:rPr lang="ja-JP" altLang="en-US" sz="800" kern="1200" dirty="0">
                          <a:solidFill>
                            <a:srgbClr val="C00000"/>
                          </a:solidFill>
                          <a:effectLst/>
                        </a:rPr>
                        <a:t>　独自構築</a:t>
                      </a:r>
                      <a:endParaRPr lang="en-US" altLang="ja-JP" sz="800" kern="12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rgbClr val="00B050"/>
                          </a:solidFill>
                          <a:effectLst/>
                        </a:rPr>
                        <a:t>〇</a:t>
                      </a:r>
                      <a:endParaRPr lang="en-US" altLang="ja-JP" sz="800" b="1"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a:t>
                      </a:r>
                      <a:r>
                        <a:rPr lang="ja-JP" altLang="en-US" sz="800" dirty="0">
                          <a:solidFill>
                            <a:srgbClr val="C00000"/>
                          </a:solidFill>
                          <a:effectLst/>
                        </a:rPr>
                        <a:t>　</a:t>
                      </a:r>
                      <a:r>
                        <a:rPr lang="ja-JP" altLang="en-US" sz="800" kern="1200" dirty="0">
                          <a:solidFill>
                            <a:srgbClr val="C00000"/>
                          </a:solidFill>
                          <a:effectLst/>
                        </a:rPr>
                        <a:t>独自構築</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669198767"/>
                  </a:ext>
                </a:extLst>
              </a:tr>
              <a:tr h="115424">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b="1" kern="1200" dirty="0">
                          <a:solidFill>
                            <a:schemeClr val="dk1"/>
                          </a:solidFill>
                          <a:latin typeface="+mn-lt"/>
                          <a:ea typeface="+mn-ea"/>
                          <a:cs typeface="+mn-cs"/>
                        </a:rPr>
                        <a:t>業務機能実現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1" i="0" u="none" strike="noStrike" kern="1200" cap="none" spc="0" normalizeH="0" baseline="0" noProof="0" dirty="0">
                        <a:ln>
                          <a:noFill/>
                        </a:ln>
                        <a:solidFill>
                          <a:srgbClr val="C0000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r>
                        <a:rPr lang="en-US" altLang="ja-JP" sz="800" kern="1200" dirty="0">
                          <a:solidFill>
                            <a:srgbClr val="C00000"/>
                          </a:solidFill>
                          <a:effectLst/>
                          <a:latin typeface="+mn-lt"/>
                          <a:ea typeface="+mn-ea"/>
                          <a:cs typeface="+mn-cs"/>
                        </a:rPr>
                        <a:t>SQL</a:t>
                      </a:r>
                      <a:r>
                        <a:rPr lang="ja-JP" altLang="en-US" sz="800" kern="1200" dirty="0">
                          <a:solidFill>
                            <a:srgbClr val="C00000"/>
                          </a:solidFill>
                          <a:effectLst/>
                          <a:latin typeface="+mn-lt"/>
                          <a:ea typeface="+mn-ea"/>
                          <a:cs typeface="+mn-cs"/>
                        </a:rPr>
                        <a:t>ほど柔軟でない</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C00000"/>
                          </a:solidFill>
                          <a:effectLst/>
                          <a:latin typeface="+mn-lt"/>
                          <a:ea typeface="+mn-ea"/>
                          <a:cs typeface="+mn-cs"/>
                        </a:rPr>
                        <a:t>定型データの検索に</a:t>
                      </a:r>
                      <a:r>
                        <a:rPr lang="en-US" altLang="ja-JP" sz="800" kern="1200" dirty="0">
                          <a:solidFill>
                            <a:srgbClr val="C00000"/>
                          </a:solidFill>
                          <a:effectLst/>
                          <a:latin typeface="+mn-lt"/>
                          <a:ea typeface="+mn-ea"/>
                          <a:cs typeface="+mn-cs"/>
                        </a:rPr>
                        <a:t>Power Apps</a:t>
                      </a:r>
                      <a:r>
                        <a:rPr lang="ja-JP" altLang="en-US" sz="800" kern="1200" dirty="0">
                          <a:solidFill>
                            <a:srgbClr val="C00000"/>
                          </a:solidFill>
                          <a:effectLst/>
                          <a:latin typeface="+mn-lt"/>
                          <a:ea typeface="+mn-ea"/>
                          <a:cs typeface="+mn-cs"/>
                        </a:rPr>
                        <a:t>の</a:t>
                      </a:r>
                      <a:r>
                        <a:rPr lang="en-US" altLang="ja-JP" sz="800" kern="1200" dirty="0">
                          <a:solidFill>
                            <a:srgbClr val="C00000"/>
                          </a:solidFill>
                          <a:effectLst/>
                          <a:latin typeface="+mn-lt"/>
                          <a:ea typeface="+mn-ea"/>
                          <a:cs typeface="+mn-cs"/>
                        </a:rPr>
                        <a:t>Delegation</a:t>
                      </a:r>
                      <a:r>
                        <a:rPr lang="ja-JP" altLang="en-US" sz="800" kern="1200" dirty="0">
                          <a:solidFill>
                            <a:srgbClr val="C00000"/>
                          </a:solidFill>
                          <a:effectLst/>
                          <a:latin typeface="+mn-lt"/>
                          <a:ea typeface="+mn-ea"/>
                          <a:cs typeface="+mn-cs"/>
                        </a:rPr>
                        <a:t>機能に制限あり（</a:t>
                      </a:r>
                      <a:r>
                        <a:rPr lang="en-US" altLang="ja-JP" sz="800" kern="1200" dirty="0">
                          <a:solidFill>
                            <a:srgbClr val="C00000"/>
                          </a:solidFill>
                          <a:effectLst/>
                          <a:latin typeface="+mn-lt"/>
                          <a:ea typeface="+mn-ea"/>
                          <a:cs typeface="+mn-cs"/>
                        </a:rPr>
                        <a:t>MAX 2000</a:t>
                      </a:r>
                      <a:r>
                        <a:rPr lang="ja-JP" altLang="en-US" sz="800" kern="1200" dirty="0">
                          <a:solidFill>
                            <a:srgbClr val="C00000"/>
                          </a:solidFill>
                          <a:effectLst/>
                          <a:latin typeface="+mn-lt"/>
                          <a:ea typeface="+mn-ea"/>
                          <a:cs typeface="+mn-cs"/>
                        </a:rPr>
                        <a:t>件</a:t>
                      </a:r>
                      <a:r>
                        <a:rPr lang="en-US" altLang="ja-JP" sz="800" kern="1200" dirty="0">
                          <a:solidFill>
                            <a:srgbClr val="C00000"/>
                          </a:solidFill>
                          <a:effectLst/>
                          <a:latin typeface="+mn-lt"/>
                          <a:ea typeface="+mn-ea"/>
                          <a:cs typeface="+mn-cs"/>
                        </a:rPr>
                        <a:t>)</a:t>
                      </a:r>
                      <a:endParaRPr lang="ja-JP" altLang="en-US"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buFont typeface="Arial" panose="020B0604020202020204" pitchFamily="34" charset="0"/>
                        <a:buNone/>
                      </a:pPr>
                      <a:r>
                        <a:rPr lang="ja-JP" altLang="en-US" sz="800" b="1" dirty="0">
                          <a:solidFill>
                            <a:srgbClr val="00B050"/>
                          </a:solidFill>
                          <a:effectLst/>
                        </a:rPr>
                        <a:t>〇</a:t>
                      </a:r>
                      <a:endParaRPr lang="en-US" altLang="ja-JP" sz="800" b="1"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49740188"/>
                  </a:ext>
                </a:extLst>
              </a:tr>
              <a:tr h="216424">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定型検索機能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rPr>
                        <a:t>〇</a:t>
                      </a:r>
                      <a:endParaRPr kumimoji="0" lang="en-US" altLang="ja-JP" sz="800" b="0" i="0" u="none" strike="noStrike" kern="1200" cap="none" spc="0" normalizeH="0" baseline="0" noProof="0" dirty="0">
                        <a:ln>
                          <a:noFill/>
                        </a:ln>
                        <a:solidFill>
                          <a:srgbClr val="00B050"/>
                        </a:solidFill>
                        <a:effectLst/>
                        <a:uLnTx/>
                        <a:uFillTx/>
                        <a:latin typeface="Gill Sans MT"/>
                        <a:ea typeface="游ゴシック" panose="020B0400000000000000" pitchFamily="50" charset="-128"/>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　</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60454792"/>
                  </a:ext>
                </a:extLst>
              </a:tr>
              <a:tr h="275140">
                <a:tc vMerge="1">
                  <a:txBody>
                    <a:bodyPr/>
                    <a:lstStyle/>
                    <a:p>
                      <a:endParaRPr kumimoji="1" lang="ja-JP" altLang="en-US"/>
                    </a:p>
                  </a:txBody>
                  <a:tcPr/>
                </a:tc>
                <a:tc>
                  <a:txBody>
                    <a:bodyPr/>
                    <a:lstStyle/>
                    <a:p>
                      <a:r>
                        <a:rPr lang="ja-JP" altLang="en-US" sz="900" b="1" kern="1200" dirty="0">
                          <a:solidFill>
                            <a:schemeClr val="dk1"/>
                          </a:solidFill>
                          <a:latin typeface="+mn-lt"/>
                          <a:ea typeface="+mn-ea"/>
                          <a:cs typeface="+mn-cs"/>
                        </a:rPr>
                        <a:t>添付ファイルの検索機能</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latin typeface="+mn-lt"/>
                          <a:ea typeface="+mn-ea"/>
                          <a:cs typeface="+mn-cs"/>
                        </a:rPr>
                        <a:t>定型データの検索：　〇</a:t>
                      </a:r>
                      <a:endParaRPr lang="en-US" altLang="ja-JP" sz="800" kern="1200" dirty="0">
                        <a:solidFill>
                          <a:srgbClr val="00B05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chemeClr val="tx1"/>
                          </a:solidFill>
                          <a:effectLst/>
                          <a:latin typeface="+mn-lt"/>
                          <a:ea typeface="+mn-ea"/>
                          <a:cs typeface="+mn-cs"/>
                        </a:rPr>
                        <a:t>添付ファイルの検索：△</a:t>
                      </a:r>
                      <a:r>
                        <a:rPr lang="ja-JP" altLang="en-US" sz="800" kern="1200" dirty="0">
                          <a:solidFill>
                            <a:srgbClr val="C00000"/>
                          </a:solidFill>
                          <a:effectLst/>
                          <a:latin typeface="+mn-lt"/>
                          <a:ea typeface="+mn-ea"/>
                          <a:cs typeface="+mn-cs"/>
                        </a:rPr>
                        <a:t>（</a:t>
                      </a:r>
                      <a:r>
                        <a:rPr lang="en-US" altLang="ja-JP" sz="800" kern="1200" dirty="0">
                          <a:solidFill>
                            <a:srgbClr val="C00000"/>
                          </a:solidFill>
                          <a:effectLst/>
                          <a:latin typeface="+mn-lt"/>
                          <a:ea typeface="+mn-ea"/>
                          <a:cs typeface="+mn-cs"/>
                        </a:rPr>
                        <a:t>Bug</a:t>
                      </a:r>
                      <a:r>
                        <a:rPr lang="ja-JP" altLang="en-US" sz="800" kern="1200" dirty="0">
                          <a:solidFill>
                            <a:srgbClr val="C00000"/>
                          </a:solidFill>
                          <a:effectLst/>
                          <a:latin typeface="+mn-lt"/>
                          <a:ea typeface="+mn-ea"/>
                          <a:cs typeface="+mn-cs"/>
                        </a:rPr>
                        <a:t>リポートあり）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tx1"/>
                          </a:solidFill>
                          <a:effectLst/>
                          <a:latin typeface="+mn-lt"/>
                          <a:ea typeface="+mn-ea"/>
                          <a:cs typeface="+mn-cs"/>
                        </a:rPr>
                        <a:t>△ </a:t>
                      </a:r>
                      <a:r>
                        <a:rPr lang="ja-JP" altLang="en-US" sz="800" kern="1200" dirty="0">
                          <a:solidFill>
                            <a:srgbClr val="00B050"/>
                          </a:solidFill>
                          <a:effectLst/>
                          <a:latin typeface="+mn-lt"/>
                          <a:ea typeface="+mn-ea"/>
                          <a:cs typeface="+mn-cs"/>
                        </a:rPr>
                        <a:t>基本機能はできているが、</a:t>
                      </a:r>
                      <a:r>
                        <a:rPr lang="ja-JP" altLang="en-US" sz="800" dirty="0">
                          <a:solidFill>
                            <a:srgbClr val="C00000"/>
                          </a:solidFill>
                          <a:effectLst/>
                        </a:rPr>
                        <a:t>カスタマイズ性に欠ける</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kern="1200" dirty="0">
                          <a:solidFill>
                            <a:srgbClr val="C00000"/>
                          </a:solidFill>
                          <a:effectLst/>
                          <a:latin typeface="+mn-lt"/>
                          <a:ea typeface="+mn-ea"/>
                          <a:cs typeface="+mn-cs"/>
                        </a:rPr>
                        <a:t>×</a:t>
                      </a:r>
                      <a:r>
                        <a:rPr lang="ja-JP" altLang="en-US" sz="800" b="1" kern="1200" dirty="0">
                          <a:solidFill>
                            <a:srgbClr val="00B050"/>
                          </a:solidFill>
                          <a:effectLst/>
                          <a:latin typeface="+mn-lt"/>
                          <a:ea typeface="+mn-ea"/>
                          <a:cs typeface="+mn-cs"/>
                        </a:rPr>
                        <a:t>　</a:t>
                      </a:r>
                      <a:r>
                        <a:rPr lang="ja-JP" altLang="en-US" sz="800" kern="1200" dirty="0">
                          <a:solidFill>
                            <a:srgbClr val="C00000"/>
                          </a:solidFill>
                          <a:effectLst/>
                          <a:latin typeface="+mn-lt"/>
                          <a:ea typeface="+mn-ea"/>
                          <a:cs typeface="+mn-cs"/>
                        </a:rPr>
                        <a:t>テキスト抽出機能、非テキスト検索のサポートが限定的</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dirty="0">
                          <a:solidFill>
                            <a:schemeClr val="tx1"/>
                          </a:solidFill>
                          <a:effectLst/>
                        </a:rPr>
                        <a:t>△</a:t>
                      </a:r>
                      <a:r>
                        <a:rPr lang="en-US" altLang="ja-JP" sz="800" b="1" kern="1200" dirty="0">
                          <a:solidFill>
                            <a:schemeClr val="tx1"/>
                          </a:solidFill>
                          <a:effectLst/>
                          <a:latin typeface="+mn-lt"/>
                          <a:ea typeface="+mn-ea"/>
                          <a:cs typeface="+mn-cs"/>
                        </a:rPr>
                        <a:t> </a:t>
                      </a:r>
                      <a:r>
                        <a:rPr lang="ja-JP" altLang="en-US" sz="800" kern="1200" dirty="0">
                          <a:solidFill>
                            <a:schemeClr val="tx1"/>
                          </a:solidFill>
                          <a:effectLst/>
                          <a:latin typeface="+mn-lt"/>
                          <a:ea typeface="+mn-ea"/>
                          <a:cs typeface="+mn-cs"/>
                        </a:rPr>
                        <a:t>独自対応が必要</a:t>
                      </a:r>
                      <a:r>
                        <a:rPr lang="ja-JP" altLang="en-US" sz="800" dirty="0">
                          <a:solidFill>
                            <a:schemeClr val="tx1"/>
                          </a:solidFill>
                          <a:effectLst/>
                        </a:rPr>
                        <a:t> </a:t>
                      </a:r>
                      <a:endParaRPr lang="en-US" altLang="ja-JP" sz="8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b="1" dirty="0">
                          <a:solidFill>
                            <a:srgbClr val="00B050"/>
                          </a:solidFill>
                          <a:effectLst/>
                        </a:rPr>
                        <a:t>〇</a:t>
                      </a:r>
                      <a:r>
                        <a:rPr lang="ja-JP" altLang="en-US" sz="800" dirty="0">
                          <a:solidFill>
                            <a:srgbClr val="C00000"/>
                          </a:solidFill>
                          <a:effectLst/>
                        </a:rPr>
                        <a:t> </a:t>
                      </a:r>
                      <a:r>
                        <a:rPr lang="en-US" altLang="ja-JP" sz="800" dirty="0">
                          <a:solidFill>
                            <a:schemeClr val="tx1"/>
                          </a:solidFill>
                          <a:effectLst/>
                        </a:rPr>
                        <a:t>Microsoft Search</a:t>
                      </a:r>
                      <a:r>
                        <a:rPr lang="ja-JP" altLang="en-US" sz="800" dirty="0">
                          <a:solidFill>
                            <a:schemeClr val="tx1"/>
                          </a:solidFill>
                          <a:effectLst/>
                        </a:rPr>
                        <a:t>（</a:t>
                      </a:r>
                      <a:r>
                        <a:rPr lang="en-US" altLang="ja-JP" sz="800" dirty="0">
                          <a:solidFill>
                            <a:schemeClr val="tx1"/>
                          </a:solidFill>
                          <a:effectLst/>
                        </a:rPr>
                        <a:t>Graph</a:t>
                      </a:r>
                      <a:r>
                        <a:rPr lang="ja-JP" altLang="en-US" sz="800" dirty="0">
                          <a:solidFill>
                            <a:schemeClr val="tx1"/>
                          </a:solidFill>
                          <a:effectLst/>
                        </a:rPr>
                        <a:t> </a:t>
                      </a:r>
                      <a:r>
                        <a:rPr lang="en-US" altLang="ja-JP" sz="800" dirty="0">
                          <a:solidFill>
                            <a:schemeClr val="tx1"/>
                          </a:solidFill>
                          <a:effectLst/>
                        </a:rPr>
                        <a:t>API</a:t>
                      </a:r>
                      <a:r>
                        <a:rPr lang="ja-JP" altLang="en-US" sz="800" dirty="0">
                          <a:solidFill>
                            <a:schemeClr val="tx1"/>
                          </a:solidFill>
                          <a:effectLst/>
                        </a:rPr>
                        <a:t>）で実現。</a:t>
                      </a:r>
                      <a:endParaRPr lang="en-US" altLang="ja-JP" sz="8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752301083"/>
                  </a:ext>
                </a:extLst>
              </a:tr>
              <a:tr h="275140">
                <a:tc vMerge="1">
                  <a:txBody>
                    <a:bodyPr/>
                    <a:lstStyle/>
                    <a:p>
                      <a:endParaRPr lang="ja-JP" altLang="en-US" sz="7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実績</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800" b="1" i="0" u="none" strike="noStrike" kern="1200" cap="none" spc="0" normalizeH="0" baseline="0" noProof="0" dirty="0">
                          <a:ln>
                            <a:noFill/>
                          </a:ln>
                          <a:solidFill>
                            <a:srgbClr val="00B050"/>
                          </a:solidFill>
                          <a:effectLst/>
                          <a:uLnTx/>
                          <a:uFillTx/>
                          <a:latin typeface="+mn-lt"/>
                          <a:ea typeface="+mn-ea"/>
                          <a:cs typeface="+mn-cs"/>
                        </a:rPr>
                        <a:t>〇</a:t>
                      </a:r>
                      <a:endParaRPr kumimoji="0" lang="en-US" altLang="ja-JP" sz="800" b="0" i="0" u="none" strike="noStrike" kern="1200" cap="none" spc="0" normalizeH="0" baseline="0" noProof="0" dirty="0">
                        <a:ln>
                          <a:noFill/>
                        </a:ln>
                        <a:solidFill>
                          <a:srgbClr val="00B050"/>
                        </a:solidFill>
                        <a:effectLst/>
                        <a:uLnTx/>
                        <a:uFillTx/>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chemeClr val="tx1"/>
                          </a:solidFill>
                          <a:effectLst/>
                        </a:rPr>
                        <a:t>△（評価のみだが、</a:t>
                      </a:r>
                      <a:r>
                        <a:rPr lang="en-US" altLang="ja-JP" sz="800" dirty="0">
                          <a:solidFill>
                            <a:schemeClr val="tx1"/>
                          </a:solidFill>
                          <a:effectLst/>
                        </a:rPr>
                        <a:t>Azure SQL</a:t>
                      </a:r>
                      <a:r>
                        <a:rPr lang="ja-JP" altLang="en-US" sz="800" dirty="0">
                          <a:solidFill>
                            <a:schemeClr val="tx1"/>
                          </a:solidFill>
                          <a:effectLst/>
                        </a:rPr>
                        <a:t>と</a:t>
                      </a:r>
                      <a:r>
                        <a:rPr lang="en-US" altLang="ja-JP" sz="800" dirty="0">
                          <a:solidFill>
                            <a:schemeClr val="tx1"/>
                          </a:solidFill>
                          <a:effectLst/>
                        </a:rPr>
                        <a:t>SQL</a:t>
                      </a:r>
                      <a:r>
                        <a:rPr lang="ja-JP" altLang="en-US" sz="800" dirty="0">
                          <a:solidFill>
                            <a:schemeClr val="tx1"/>
                          </a:solidFill>
                          <a:effectLst/>
                        </a:rPr>
                        <a:t> </a:t>
                      </a:r>
                      <a:r>
                        <a:rPr lang="en-US" altLang="ja-JP" sz="800" dirty="0">
                          <a:solidFill>
                            <a:schemeClr val="tx1"/>
                          </a:solidFill>
                          <a:effectLst/>
                        </a:rPr>
                        <a:t>Server</a:t>
                      </a:r>
                      <a:r>
                        <a:rPr lang="ja-JP" altLang="en-US" sz="800" dirty="0">
                          <a:solidFill>
                            <a:schemeClr val="tx1"/>
                          </a:solidFill>
                          <a:effectLst/>
                        </a:rPr>
                        <a:t> </a:t>
                      </a:r>
                      <a:r>
                        <a:rPr lang="en-US" altLang="ja-JP" sz="800" dirty="0">
                          <a:solidFill>
                            <a:schemeClr val="tx1"/>
                          </a:solidFill>
                          <a:effectLst/>
                        </a:rPr>
                        <a:t>2022</a:t>
                      </a:r>
                      <a:r>
                        <a:rPr lang="ja-JP" altLang="en-US" sz="800" dirty="0">
                          <a:solidFill>
                            <a:schemeClr val="tx1"/>
                          </a:solidFill>
                          <a:effectLst/>
                        </a:rPr>
                        <a:t>の定型データ管理には差異がないため、リスクがないと認識）</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kern="1200" dirty="0">
                          <a:solidFill>
                            <a:srgbClr val="00B050"/>
                          </a:solidFill>
                          <a:effectLst/>
                        </a:rPr>
                        <a:t>〇</a:t>
                      </a:r>
                      <a:endParaRPr lang="ja-JP" altLang="en-US" sz="8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ja-JP" sz="800" b="1" dirty="0">
                          <a:solidFill>
                            <a:srgbClr val="C00000"/>
                          </a:solidFill>
                          <a:effectLst/>
                        </a:rPr>
                        <a:t>×</a:t>
                      </a:r>
                      <a:r>
                        <a:rPr lang="ja-JP" altLang="en-US" sz="800" dirty="0">
                          <a:solidFill>
                            <a:srgbClr val="C00000"/>
                          </a:solidFill>
                          <a:effectLst/>
                        </a:rPr>
                        <a:t>　</a:t>
                      </a:r>
                      <a:r>
                        <a:rPr lang="en-US" altLang="ja-JP" sz="800" dirty="0">
                          <a:solidFill>
                            <a:srgbClr val="C00000"/>
                          </a:solidFill>
                          <a:effectLst/>
                        </a:rPr>
                        <a:t>Power</a:t>
                      </a:r>
                      <a:r>
                        <a:rPr lang="ja-JP" altLang="en-US" sz="800" dirty="0">
                          <a:solidFill>
                            <a:srgbClr val="C00000"/>
                          </a:solidFill>
                          <a:effectLst/>
                        </a:rPr>
                        <a:t> </a:t>
                      </a:r>
                      <a:r>
                        <a:rPr lang="en-US" altLang="ja-JP" sz="800" dirty="0">
                          <a:solidFill>
                            <a:srgbClr val="C00000"/>
                          </a:solidFill>
                          <a:effectLst/>
                        </a:rPr>
                        <a:t>Platform</a:t>
                      </a:r>
                      <a:r>
                        <a:rPr lang="ja-JP" altLang="en-US" sz="800" dirty="0">
                          <a:solidFill>
                            <a:srgbClr val="C00000"/>
                          </a:solidFill>
                          <a:effectLst/>
                        </a:rPr>
                        <a:t>連携に実績ない</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dirty="0">
                          <a:solidFill>
                            <a:srgbClr val="00B050"/>
                          </a:solidFill>
                          <a:effectLst/>
                        </a:rPr>
                        <a:t>〇</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260201674"/>
                  </a:ext>
                </a:extLst>
              </a:tr>
              <a:tr h="445503">
                <a:tc vMerge="1">
                  <a:txBody>
                    <a:bodyPr/>
                    <a:lstStyle/>
                    <a:p>
                      <a:pPr marL="0" algn="l" defTabSz="914400" rtl="0" eaLnBrk="1" latinLnBrk="0" hangingPunct="1"/>
                      <a:endParaRPr lang="ja-JP" altLang="en-US" sz="7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900" b="1" kern="1200" dirty="0">
                          <a:solidFill>
                            <a:schemeClr val="dk1"/>
                          </a:solidFill>
                          <a:latin typeface="+mn-lt"/>
                          <a:ea typeface="+mn-ea"/>
                          <a:cs typeface="+mn-cs"/>
                        </a:rPr>
                        <a:t>設計・実装の特別考慮</a:t>
                      </a:r>
                      <a:endParaRPr lang="en-US" altLang="ja-JP" sz="900" b="1" kern="1200" dirty="0">
                        <a:solidFill>
                          <a:schemeClr val="dk1"/>
                        </a:solidFill>
                        <a:latin typeface="+mn-lt"/>
                        <a:ea typeface="+mn-ea"/>
                        <a:cs typeface="+mn-cs"/>
                      </a:endParaRPr>
                    </a:p>
                    <a:p>
                      <a:r>
                        <a:rPr lang="en-US" altLang="ja-JP" sz="900" b="1" kern="1200" dirty="0">
                          <a:solidFill>
                            <a:schemeClr val="dk1"/>
                          </a:solidFill>
                          <a:latin typeface="+mn-lt"/>
                          <a:ea typeface="+mn-ea"/>
                          <a:cs typeface="+mn-cs"/>
                        </a:rPr>
                        <a:t>(</a:t>
                      </a:r>
                      <a:r>
                        <a:rPr lang="ja-JP" altLang="en-US" sz="900" b="1" kern="1200" dirty="0">
                          <a:solidFill>
                            <a:schemeClr val="dk1"/>
                          </a:solidFill>
                          <a:latin typeface="+mn-lt"/>
                          <a:ea typeface="+mn-ea"/>
                          <a:cs typeface="+mn-cs"/>
                        </a:rPr>
                        <a:t>権限</a:t>
                      </a:r>
                      <a:r>
                        <a:rPr lang="en-US" altLang="ja-JP" sz="900" b="1" kern="1200" dirty="0">
                          <a:solidFill>
                            <a:schemeClr val="dk1"/>
                          </a:solidFill>
                          <a:latin typeface="+mn-lt"/>
                          <a:ea typeface="+mn-ea"/>
                          <a:cs typeface="+mn-cs"/>
                        </a:rPr>
                        <a:t>)</a:t>
                      </a:r>
                      <a:endParaRPr lang="ja-JP" altLang="en-US" sz="9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ja-JP" altLang="en-US" sz="800" b="1" kern="1200" dirty="0">
                          <a:solidFill>
                            <a:schemeClr val="dk1"/>
                          </a:solidFill>
                          <a:latin typeface="+mn-lt"/>
                          <a:ea typeface="+mn-ea"/>
                          <a:cs typeface="+mn-cs"/>
                        </a:rPr>
                        <a:t>ー</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ja-JP" altLang="en-US" sz="800" dirty="0">
                        <a:solidFill>
                          <a:srgbClr val="00B05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ja-JP" altLang="en-US" sz="800" b="1" kern="1200" dirty="0">
                          <a:solidFill>
                            <a:schemeClr val="dk1"/>
                          </a:solidFill>
                          <a:latin typeface="+mn-lt"/>
                          <a:ea typeface="+mn-ea"/>
                          <a:cs typeface="+mn-cs"/>
                        </a:rPr>
                        <a:t>ー</a:t>
                      </a:r>
                      <a:endParaRPr lang="en-US" altLang="ja-JP" sz="80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800" b="1" kern="1200" dirty="0">
                          <a:solidFill>
                            <a:schemeClr val="dk1"/>
                          </a:solidFill>
                          <a:latin typeface="+mn-lt"/>
                          <a:ea typeface="+mn-ea"/>
                          <a:cs typeface="+mn-cs"/>
                        </a:rPr>
                        <a:t>ー</a:t>
                      </a:r>
                      <a:endParaRPr lang="en-US" altLang="ja-JP" sz="8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ja-JP" altLang="en-US" sz="800" kern="1200" dirty="0">
                          <a:solidFill>
                            <a:schemeClr val="tx1"/>
                          </a:solidFill>
                          <a:effectLst/>
                          <a:latin typeface="+mn-lt"/>
                          <a:ea typeface="+mn-ea"/>
                          <a:cs typeface="+mn-cs"/>
                        </a:rPr>
                        <a:t>△　</a:t>
                      </a:r>
                      <a:endParaRPr lang="en-US" altLang="ja-JP" sz="800" kern="1200" dirty="0">
                        <a:solidFill>
                          <a:schemeClr val="tx1"/>
                        </a:solidFill>
                        <a:effectLst/>
                        <a:latin typeface="+mn-lt"/>
                        <a:ea typeface="+mn-ea"/>
                        <a:cs typeface="+mn-cs"/>
                      </a:endParaRPr>
                    </a:p>
                    <a:p>
                      <a:pPr marL="0" indent="0" algn="l" defTabSz="914400" rtl="0" eaLnBrk="1" latinLnBrk="0" hangingPunct="1">
                        <a:buFont typeface="Arial" panose="020B0604020202020204" pitchFamily="34" charset="0"/>
                        <a:buNone/>
                      </a:pPr>
                      <a:r>
                        <a:rPr lang="en-US" altLang="ja-JP" sz="800" kern="1200" dirty="0">
                          <a:solidFill>
                            <a:srgbClr val="C00000"/>
                          </a:solidFill>
                          <a:effectLst/>
                          <a:latin typeface="+mn-lt"/>
                          <a:ea typeface="+mn-ea"/>
                          <a:cs typeface="+mn-cs"/>
                        </a:rPr>
                        <a:t>SharePoint</a:t>
                      </a:r>
                      <a:r>
                        <a:rPr lang="ja-JP" altLang="en-US" sz="800" kern="1200" dirty="0">
                          <a:solidFill>
                            <a:srgbClr val="C00000"/>
                          </a:solidFill>
                          <a:effectLst/>
                          <a:latin typeface="+mn-lt"/>
                          <a:ea typeface="+mn-ea"/>
                          <a:cs typeface="+mn-cs"/>
                        </a:rPr>
                        <a:t>に置いている添付ファイルは</a:t>
                      </a:r>
                      <a:r>
                        <a:rPr lang="en-US" altLang="ja-JP" sz="800" kern="1200" dirty="0">
                          <a:solidFill>
                            <a:srgbClr val="C00000"/>
                          </a:solidFill>
                          <a:effectLst/>
                          <a:latin typeface="+mn-lt"/>
                          <a:ea typeface="+mn-ea"/>
                          <a:cs typeface="+mn-cs"/>
                        </a:rPr>
                        <a:t>Direct</a:t>
                      </a:r>
                      <a:r>
                        <a:rPr lang="ja-JP" altLang="en-US" sz="800" kern="1200" dirty="0">
                          <a:solidFill>
                            <a:srgbClr val="C00000"/>
                          </a:solidFill>
                          <a:effectLst/>
                          <a:latin typeface="+mn-lt"/>
                          <a:ea typeface="+mn-ea"/>
                          <a:cs typeface="+mn-cs"/>
                        </a:rPr>
                        <a:t>あ</a:t>
                      </a:r>
                      <a:r>
                        <a:rPr lang="en-US" altLang="ja-JP" sz="800" kern="1200" dirty="0">
                          <a:solidFill>
                            <a:srgbClr val="C00000"/>
                          </a:solidFill>
                          <a:effectLst/>
                          <a:latin typeface="+mn-lt"/>
                          <a:ea typeface="+mn-ea"/>
                          <a:cs typeface="+mn-cs"/>
                        </a:rPr>
                        <a:t>Access</a:t>
                      </a:r>
                      <a:r>
                        <a:rPr lang="ja-JP" altLang="en-US" sz="800" kern="1200" dirty="0">
                          <a:solidFill>
                            <a:srgbClr val="C00000"/>
                          </a:solidFill>
                          <a:effectLst/>
                          <a:latin typeface="+mn-lt"/>
                          <a:ea typeface="+mn-ea"/>
                          <a:cs typeface="+mn-cs"/>
                        </a:rPr>
                        <a:t>のため、個別ファイルレベルの権限付与が必須</a:t>
                      </a:r>
                      <a:endParaRPr lang="en-US" altLang="ja-JP" sz="8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4" name="テキスト ボックス 3">
            <a:extLst>
              <a:ext uri="{FF2B5EF4-FFF2-40B4-BE49-F238E27FC236}">
                <a16:creationId xmlns:a16="http://schemas.microsoft.com/office/drawing/2014/main" id="{03B5C205-C213-AC35-BFF9-8FA23463B000}"/>
              </a:ext>
            </a:extLst>
          </p:cNvPr>
          <p:cNvSpPr txBox="1"/>
          <p:nvPr/>
        </p:nvSpPr>
        <p:spPr>
          <a:xfrm>
            <a:off x="234042" y="818409"/>
            <a:ext cx="11723915" cy="954107"/>
          </a:xfrm>
          <a:prstGeom prst="rect">
            <a:avLst/>
          </a:prstGeom>
          <a:noFill/>
        </p:spPr>
        <p:txBody>
          <a:bodyPr wrap="square">
            <a:spAutoFit/>
          </a:bodyPr>
          <a:lstStyle/>
          <a:p>
            <a:r>
              <a:rPr lang="ja-JP" altLang="en-US" sz="1400" dirty="0"/>
              <a:t>ストレージに関して下記表で羅列した項目について評価を行った。評価の基準は下記の以下の</a:t>
            </a:r>
            <a:r>
              <a:rPr lang="en-US" altLang="ja-JP" sz="1400" dirty="0"/>
              <a:t>2</a:t>
            </a:r>
            <a:r>
              <a:rPr lang="ja-JP" altLang="en-US" sz="1400" dirty="0"/>
              <a:t>点である。</a:t>
            </a:r>
            <a:endParaRPr lang="en-US" altLang="ja-JP" sz="1400" dirty="0"/>
          </a:p>
          <a:p>
            <a:pPr marL="342900" indent="-342900">
              <a:buFont typeface="+mj-lt"/>
              <a:buAutoNum type="arabicPeriod"/>
            </a:pPr>
            <a:r>
              <a:rPr lang="ja-JP" altLang="en-US" sz="1400" dirty="0"/>
              <a:t>過去の実績有無。</a:t>
            </a:r>
            <a:endParaRPr lang="en-US" altLang="ja-JP" sz="1400" dirty="0"/>
          </a:p>
          <a:p>
            <a:pPr marL="342900" indent="-342900">
              <a:buFont typeface="+mj-lt"/>
              <a:buAutoNum type="arabicPeriod"/>
            </a:pPr>
            <a:r>
              <a:rPr lang="ja-JP" altLang="en-US" sz="1400" dirty="0"/>
              <a:t>業務機能の実装ロジックの実現複雑さとロジック性能の考慮</a:t>
            </a:r>
            <a:endParaRPr lang="en-US" altLang="ja-JP" sz="1400" dirty="0"/>
          </a:p>
          <a:p>
            <a:r>
              <a:rPr lang="ja-JP" altLang="en-US" sz="1400" dirty="0"/>
              <a:t>評価の結果：ストレージは</a:t>
            </a:r>
            <a:r>
              <a:rPr lang="en-US" altLang="ja-JP" sz="1400" dirty="0" err="1"/>
              <a:t>AzureSQL</a:t>
            </a:r>
            <a:r>
              <a:rPr lang="ja-JP" altLang="en-US" sz="1400" dirty="0"/>
              <a:t>＋</a:t>
            </a:r>
            <a:r>
              <a:rPr lang="en-US" altLang="ja-JP" sz="1400" dirty="0"/>
              <a:t>SPO</a:t>
            </a:r>
            <a:r>
              <a:rPr lang="ja-JP" altLang="en-US" sz="1400" dirty="0"/>
              <a:t>を採用する</a:t>
            </a:r>
            <a:endParaRPr lang="en-US" altLang="ja-JP" sz="1400" dirty="0"/>
          </a:p>
        </p:txBody>
      </p:sp>
    </p:spTree>
    <p:extLst>
      <p:ext uri="{BB962C8B-B14F-4D97-AF65-F5344CB8AC3E}">
        <p14:creationId xmlns:p14="http://schemas.microsoft.com/office/powerpoint/2010/main" val="3028644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ストレージの選定理由（</a:t>
            </a:r>
            <a:r>
              <a:rPr kumimoji="1" lang="en-US" altLang="ja-JP" b="1" cap="none" dirty="0">
                <a:ea typeface="游ゴシック" panose="020B0400000000000000" pitchFamily="50" charset="-128"/>
              </a:rPr>
              <a:t> </a:t>
            </a:r>
            <a:r>
              <a:rPr kumimoji="1" lang="en-US" altLang="ja-JP" b="1" cap="none" dirty="0" err="1">
                <a:ea typeface="游ゴシック" panose="020B0400000000000000" pitchFamily="50" charset="-128"/>
              </a:rPr>
              <a:t>AzureSQL</a:t>
            </a:r>
            <a:r>
              <a:rPr kumimoji="1" lang="ja-JP" altLang="en-US" b="1" cap="none" dirty="0">
                <a:ea typeface="游ゴシック" panose="020B0400000000000000" pitchFamily="50" charset="-128"/>
              </a:rPr>
              <a:t>＋</a:t>
            </a:r>
            <a:r>
              <a:rPr kumimoji="1" lang="en-US" altLang="ja-JP" b="1" cap="none" dirty="0">
                <a:ea typeface="游ゴシック" panose="020B0400000000000000" pitchFamily="50" charset="-128"/>
              </a:rPr>
              <a:t>SPO</a:t>
            </a:r>
            <a:r>
              <a:rPr lang="ja-JP" altLang="en-US" dirty="0"/>
              <a:t>）</a:t>
            </a:r>
          </a:p>
        </p:txBody>
      </p:sp>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836099"/>
            <a:ext cx="11412096" cy="4278094"/>
          </a:xfrm>
          <a:prstGeom prst="rect">
            <a:avLst/>
          </a:prstGeom>
          <a:noFill/>
        </p:spPr>
        <p:txBody>
          <a:bodyPr wrap="square" rtlCol="0">
            <a:spAutoFit/>
          </a:bodyPr>
          <a:lstStyle/>
          <a:p>
            <a:pPr lvl="0"/>
            <a:r>
              <a:rPr kumimoji="1" lang="en-US" altLang="ja-JP" sz="1600" b="1" i="0" u="none" strike="noStrike" kern="1200" cap="none" spc="0" normalizeH="0" baseline="0" noProof="0" dirty="0" err="1">
                <a:ln>
                  <a:noFill/>
                </a:ln>
                <a:effectLst/>
                <a:uLnTx/>
                <a:uFillTx/>
                <a:latin typeface="Gill Sans MT"/>
                <a:ea typeface="游ゴシック" panose="020B0400000000000000" pitchFamily="50" charset="-128"/>
                <a:cs typeface="+mn-cs"/>
              </a:rPr>
              <a:t>AzureSQL</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lvl="0" indent="-285750">
              <a:buFont typeface="Arial" panose="020B0604020202020204" pitchFamily="34" charset="0"/>
              <a:buChar char="•"/>
            </a:pPr>
            <a:r>
              <a:rPr lang="en-US" altLang="ja-JP" sz="1600" dirty="0"/>
              <a:t>On promise Gateway</a:t>
            </a:r>
            <a:r>
              <a:rPr lang="ja-JP" altLang="en-US" sz="1600" dirty="0"/>
              <a:t>のネットワークボトルネックを解消</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が提供している性能保証を考慮して、想定しているユーザ数に対するパフォーマンスへの配慮</a:t>
            </a:r>
            <a:endParaRPr lang="en-US" altLang="ja-JP"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err="1"/>
              <a:t>AzureSQL</a:t>
            </a:r>
            <a:r>
              <a:rPr lang="ja-JP" altLang="en-US" sz="1600" dirty="0"/>
              <a:t>が統合した機能を生かして、システムの構成を単純化にし、運用保守コストへの配慮</a:t>
            </a:r>
            <a:endParaRPr lang="en-US" altLang="ja-JP" sz="1600" dirty="0"/>
          </a:p>
          <a:p>
            <a:pPr marL="285750" lvl="0" indent="-285750">
              <a:buFont typeface="Arial" panose="020B0604020202020204" pitchFamily="34" charset="0"/>
              <a:buChar char="•"/>
              <a:defRPr/>
            </a:pPr>
            <a:r>
              <a:rPr lang="ja-JP" altLang="en-US" sz="1600" dirty="0"/>
              <a:t>添付ファイルの検索サポートは弱いので、添付ファイルのストレージに適切ではないと判断</a:t>
            </a:r>
            <a:endParaRPr lang="en-US" altLang="ja-JP" sz="16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1200" cap="none" spc="0" normalizeH="0" baseline="0" noProof="0" dirty="0">
                <a:ln>
                  <a:noFill/>
                </a:ln>
                <a:effectLst/>
                <a:uLnTx/>
                <a:uFillTx/>
                <a:latin typeface="Gill Sans MT"/>
                <a:ea typeface="游ゴシック" panose="020B0400000000000000" pitchFamily="50" charset="-128"/>
                <a:cs typeface="+mn-cs"/>
              </a:rPr>
              <a:t>添付フィルのオンライン編集を対応できないので、添付ファイルのストレージに適切ではないと判断</a:t>
            </a:r>
            <a:endParaRPr kumimoji="1" lang="en-US" altLang="ja-JP" sz="1600" b="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b="1" i="0" u="none" strike="noStrike" kern="1200" cap="none" spc="0" normalizeH="0" baseline="0" noProof="0" dirty="0">
                <a:ln>
                  <a:noFill/>
                </a:ln>
                <a:effectLst/>
                <a:uLnTx/>
                <a:uFillTx/>
                <a:latin typeface="Gill Sans MT"/>
                <a:ea typeface="游ゴシック" panose="020B0400000000000000" pitchFamily="50" charset="-128"/>
                <a:cs typeface="+mn-cs"/>
              </a:rPr>
              <a:t>の選定について</a:t>
            </a:r>
            <a:endParaRPr kumimoji="1" lang="en-US" altLang="ja-JP" sz="1600" b="1"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rPr>
              <a:t>SharePoint</a:t>
            </a:r>
            <a:r>
              <a:rPr kumimoji="1" lang="ja-JP" altLang="en-US" sz="1600" i="0" u="none" strike="noStrike" kern="1200" cap="none" spc="0" normalizeH="0" baseline="0" noProof="0" dirty="0">
                <a:ln>
                  <a:noFill/>
                </a:ln>
                <a:effectLst/>
                <a:uLnTx/>
                <a:uFillTx/>
                <a:latin typeface="Gill Sans MT"/>
                <a:ea typeface="游ゴシック" panose="020B0400000000000000" pitchFamily="50" charset="-128"/>
                <a:cs typeface="+mn-cs"/>
              </a:rPr>
              <a:t>が提供している検索機能を生かすことで、ソリューションが簡単になり、性能の保証と構築・保守コストへの配慮</a:t>
            </a:r>
            <a:endParaRPr kumimoji="1" lang="en-US" altLang="ja-JP" sz="160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のアクセス管理機能を生かして、ソリューションが簡単になり、セキュリティーへの配慮</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en-US" altLang="ja-JP" sz="1600" dirty="0">
                <a:latin typeface="Gill Sans MT"/>
                <a:ea typeface="游ゴシック" panose="020B0400000000000000" pitchFamily="50" charset="-128"/>
              </a:rPr>
              <a:t>SharePoint</a:t>
            </a:r>
            <a:r>
              <a:rPr lang="ja-JP" altLang="en-US" sz="1600" dirty="0">
                <a:latin typeface="Gill Sans MT"/>
                <a:ea typeface="游ゴシック" panose="020B0400000000000000" pitchFamily="50" charset="-128"/>
              </a:rPr>
              <a:t>が提供しているオンライン編集機能で、ユーザ要件の実現</a:t>
            </a:r>
            <a:endParaRPr lang="en-US" altLang="ja-JP" sz="1600" dirty="0">
              <a:latin typeface="Gill Sans MT"/>
              <a:ea typeface="游ゴシック" panose="020B0400000000000000" pitchFamily="50" charset="-128"/>
            </a:endParaRPr>
          </a:p>
          <a:p>
            <a:pPr marL="285750" indent="-285750">
              <a:buFont typeface="Arial" panose="020B0604020202020204" pitchFamily="34" charset="0"/>
              <a:buChar char="•"/>
              <a:defRPr/>
            </a:pPr>
            <a:r>
              <a:rPr lang="ja-JP" altLang="en-US" sz="1600" dirty="0">
                <a:latin typeface="Gill Sans MT"/>
                <a:ea typeface="游ゴシック" panose="020B0400000000000000" pitchFamily="50" charset="-128"/>
              </a:rPr>
              <a:t>大量ファイルを扱うによるパフォーマンスへの影響をソリューションで対応が必要であるが、その他の提供機能と比較してデメリットが少ない</a:t>
            </a:r>
            <a:endParaRPr lang="en-US" altLang="ja-JP" sz="1600" dirty="0">
              <a:latin typeface="Gill Sans MT"/>
              <a:ea typeface="游ゴシック" panose="020B0400000000000000" pitchFamily="50" charset="-128"/>
            </a:endParaRPr>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dirty="0"/>
              <a:t>全体アーキテクチャ</a:t>
            </a:r>
            <a:endParaRPr lang="ja-JP" altLang="en-US" sz="20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0098" y="1365503"/>
            <a:ext cx="5667794" cy="530915"/>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p>
          <a:p>
            <a:r>
              <a:rPr lang="en-US" altLang="ja-JP" sz="900" dirty="0">
                <a:solidFill>
                  <a:srgbClr val="FF0000"/>
                </a:solidFill>
              </a:rPr>
              <a:t>SPO</a:t>
            </a:r>
            <a:r>
              <a:rPr lang="ja-JP" altLang="en-US" sz="900" dirty="0">
                <a:solidFill>
                  <a:srgbClr val="FF0000"/>
                </a:solidFill>
              </a:rPr>
              <a:t>に保存されているファイルのアクセス権限（</a:t>
            </a:r>
            <a:r>
              <a:rPr lang="en-US" altLang="ja-JP" sz="900" dirty="0">
                <a:solidFill>
                  <a:srgbClr val="FF0000"/>
                </a:solidFill>
              </a:rPr>
              <a:t>Read/Edit/</a:t>
            </a:r>
            <a:r>
              <a:rPr lang="en-US" altLang="ja-JP" sz="900" dirty="0" err="1">
                <a:solidFill>
                  <a:srgbClr val="FF0000"/>
                </a:solidFill>
              </a:rPr>
              <a:t>Downoad</a:t>
            </a:r>
            <a:r>
              <a:rPr lang="ja-JP" altLang="en-US" sz="900" dirty="0">
                <a:solidFill>
                  <a:srgbClr val="FF0000"/>
                </a:solidFill>
              </a:rPr>
              <a:t>）は、</a:t>
            </a:r>
            <a:r>
              <a:rPr lang="en-US" altLang="ja-JP" sz="900" dirty="0">
                <a:solidFill>
                  <a:srgbClr val="FF0000"/>
                </a:solidFill>
              </a:rPr>
              <a:t>SPO</a:t>
            </a:r>
            <a:r>
              <a:rPr lang="ja-JP" altLang="en-US" sz="900" dirty="0">
                <a:solidFill>
                  <a:srgbClr val="FF0000"/>
                </a:solidFill>
              </a:rPr>
              <a:t>に直接にアクセスするときも有効にすることで、添付ファイル</a:t>
            </a:r>
            <a:r>
              <a:rPr lang="en-US" altLang="ja-JP" sz="900" dirty="0">
                <a:solidFill>
                  <a:srgbClr val="FF0000"/>
                </a:solidFill>
              </a:rPr>
              <a:t>Upload</a:t>
            </a:r>
            <a:r>
              <a:rPr lang="ja-JP" altLang="en-US" sz="900" dirty="0">
                <a:solidFill>
                  <a:srgbClr val="FF0000"/>
                </a:solidFill>
              </a:rPr>
              <a:t>する時に定義したアクセス権限を設定することで制約できます。</a:t>
            </a:r>
            <a:endParaRPr kumimoji="1" lang="ja-JP" altLang="en-US" sz="900" dirty="0">
              <a:solidFill>
                <a:srgbClr val="FF0000"/>
              </a:solidFill>
            </a:endParaRP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48F1A-B802-D149-C82C-94A6C978BB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C5381E-BAE4-4E71-8CA1-50E8C9FB34BE}"/>
              </a:ext>
            </a:extLst>
          </p:cNvPr>
          <p:cNvSpPr>
            <a:spLocks noGrp="1"/>
          </p:cNvSpPr>
          <p:nvPr>
            <p:ph type="title"/>
          </p:nvPr>
        </p:nvSpPr>
        <p:spPr/>
        <p:txBody>
          <a:bodyPr>
            <a:noAutofit/>
          </a:bodyPr>
          <a:lstStyle/>
          <a:p>
            <a:r>
              <a:rPr kumimoji="1" lang="ja-JP" altLang="en-US" dirty="0"/>
              <a:t>要件の実現（メイン機能）</a:t>
            </a:r>
          </a:p>
        </p:txBody>
      </p:sp>
      <p:sp>
        <p:nvSpPr>
          <p:cNvPr id="4" name="テキスト ボックス 3">
            <a:extLst>
              <a:ext uri="{FF2B5EF4-FFF2-40B4-BE49-F238E27FC236}">
                <a16:creationId xmlns:a16="http://schemas.microsoft.com/office/drawing/2014/main" id="{40DC9C1A-9B7D-DA37-7A46-AA52CA38B3F3}"/>
              </a:ext>
            </a:extLst>
          </p:cNvPr>
          <p:cNvSpPr txBox="1"/>
          <p:nvPr/>
        </p:nvSpPr>
        <p:spPr>
          <a:xfrm>
            <a:off x="414336" y="764418"/>
            <a:ext cx="11366184" cy="37871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2400" dirty="0"/>
              <a:t>提案したアーキテクチャでは下記の要件（メイン）が実現可能</a:t>
            </a:r>
            <a:endParaRPr lang="en-US" altLang="ja-JP" sz="2000" dirty="0"/>
          </a:p>
        </p:txBody>
      </p:sp>
      <p:sp>
        <p:nvSpPr>
          <p:cNvPr id="5" name="テキスト ボックス 4">
            <a:extLst>
              <a:ext uri="{FF2B5EF4-FFF2-40B4-BE49-F238E27FC236}">
                <a16:creationId xmlns:a16="http://schemas.microsoft.com/office/drawing/2014/main" id="{740DE17A-635C-296D-D582-BD854B6E9AF0}"/>
              </a:ext>
            </a:extLst>
          </p:cNvPr>
          <p:cNvSpPr txBox="1"/>
          <p:nvPr/>
        </p:nvSpPr>
        <p:spPr>
          <a:xfrm>
            <a:off x="284308" y="5562472"/>
            <a:ext cx="11172585"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effectLst/>
                <a:uLnTx/>
                <a:uFillTx/>
                <a:latin typeface="Gill Sans MT"/>
                <a:ea typeface="游ゴシック" panose="020B0400000000000000" pitchFamily="50" charset="-128"/>
                <a:cs typeface="+mn-cs"/>
              </a:rPr>
              <a:t>次ページより詳細について説明します。</a:t>
            </a:r>
            <a:endParaRPr kumimoji="1" lang="en-US" altLang="ja-JP" sz="1800" b="0" i="0" u="none" strike="noStrike" kern="1200" cap="none" spc="0" normalizeH="0" baseline="0" noProof="0" dirty="0">
              <a:ln>
                <a:noFill/>
              </a:ln>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1" i="0" u="none" strike="noStrike" kern="1200" cap="none" spc="0" normalizeH="0" baseline="0" noProof="0" dirty="0">
              <a:ln>
                <a:noFill/>
              </a:ln>
              <a:effectLst/>
              <a:uLnTx/>
              <a:uFillTx/>
              <a:latin typeface="Gill Sans MT"/>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A1E8D3B5-6211-F128-163F-FC4D4BA63EA2}"/>
              </a:ext>
            </a:extLst>
          </p:cNvPr>
          <p:cNvSpPr txBox="1"/>
          <p:nvPr/>
        </p:nvSpPr>
        <p:spPr>
          <a:xfrm>
            <a:off x="802765" y="1143128"/>
            <a:ext cx="10253162" cy="42894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2000" dirty="0"/>
              <a:t>★添付ファイル管理（編集を含む）</a:t>
            </a:r>
            <a:endParaRPr lang="en-US" altLang="ja-JP" sz="2000" dirty="0"/>
          </a:p>
          <a:p>
            <a:r>
              <a:rPr lang="en-US" altLang="ja-JP" sz="2000" dirty="0"/>
              <a:t>	</a:t>
            </a:r>
            <a:r>
              <a:rPr lang="ja-JP" altLang="en-US" sz="2000" dirty="0"/>
              <a:t>・オンライン編集</a:t>
            </a:r>
            <a:endParaRPr lang="en-US" altLang="ja-JP" sz="2000" dirty="0"/>
          </a:p>
          <a:p>
            <a:r>
              <a:rPr lang="en-US" altLang="ja-JP" sz="2000" dirty="0"/>
              <a:t>	</a:t>
            </a:r>
            <a:r>
              <a:rPr lang="ja-JP" altLang="en-US" sz="2000" dirty="0"/>
              <a:t>・検索機能</a:t>
            </a:r>
            <a:endParaRPr lang="en-US" altLang="ja-JP" sz="2000" dirty="0"/>
          </a:p>
          <a:p>
            <a:r>
              <a:rPr lang="en-US" altLang="ja-JP" sz="2000" dirty="0"/>
              <a:t>	</a:t>
            </a:r>
            <a:r>
              <a:rPr lang="ja-JP" altLang="en-US" sz="2000" dirty="0"/>
              <a:t>・一括ダウンロード機能</a:t>
            </a:r>
            <a:endParaRPr lang="en-US" altLang="ja-JP" sz="2000" dirty="0"/>
          </a:p>
          <a:p>
            <a:r>
              <a:rPr lang="ja-JP" altLang="en-US" sz="2000" dirty="0"/>
              <a:t>★権限管理</a:t>
            </a:r>
            <a:endParaRPr lang="en-US" altLang="ja-JP" sz="2000" dirty="0"/>
          </a:p>
          <a:p>
            <a:r>
              <a:rPr lang="en-US" altLang="ja-JP" sz="2000" dirty="0"/>
              <a:t>	</a:t>
            </a:r>
            <a:r>
              <a:rPr lang="ja-JP" altLang="en-US" sz="2000" dirty="0"/>
              <a:t>・定型データの権限は定義されたグループ（複数のユーザを管理）で管理</a:t>
            </a:r>
            <a:endParaRPr lang="en-US" altLang="ja-JP" sz="2000" dirty="0"/>
          </a:p>
          <a:p>
            <a:r>
              <a:rPr lang="en-US" altLang="ja-JP" sz="2000" dirty="0"/>
              <a:t>	</a:t>
            </a:r>
            <a:r>
              <a:rPr lang="ja-JP" altLang="en-US" sz="2000" dirty="0"/>
              <a:t>・定型データのユーザ単位・項目別での権限管理（</a:t>
            </a:r>
            <a:r>
              <a:rPr lang="en-US" altLang="ja-JP" sz="2000" dirty="0"/>
              <a:t>Option</a:t>
            </a:r>
            <a:r>
              <a:rPr lang="ja-JP" altLang="en-US" sz="2000" dirty="0"/>
              <a:t>）</a:t>
            </a:r>
            <a:endParaRPr lang="en-US" altLang="ja-JP" sz="2000" dirty="0"/>
          </a:p>
          <a:p>
            <a:pPr lvl="2"/>
            <a:r>
              <a:rPr lang="ja-JP" altLang="en-US" sz="2000" dirty="0"/>
              <a:t>・アクセス権限管理</a:t>
            </a:r>
            <a:endParaRPr lang="en-US" altLang="ja-JP" sz="2000" dirty="0"/>
          </a:p>
          <a:p>
            <a:r>
              <a:rPr lang="en-US" altLang="ja-JP" sz="2000" dirty="0"/>
              <a:t>		</a:t>
            </a:r>
            <a:r>
              <a:rPr lang="ja-JP" altLang="en-US" dirty="0"/>
              <a:t>*ソリューション内と</a:t>
            </a:r>
            <a:r>
              <a:rPr lang="en-US" altLang="ja-JP" dirty="0"/>
              <a:t>SPO</a:t>
            </a:r>
            <a:r>
              <a:rPr lang="ja-JP" altLang="en-US" dirty="0"/>
              <a:t>に直接アクセスの双方において</a:t>
            </a:r>
            <a:endParaRPr lang="en-US" altLang="ja-JP" sz="2000" dirty="0"/>
          </a:p>
          <a:p>
            <a:r>
              <a:rPr lang="ja-JP" altLang="en-US" sz="2000" dirty="0"/>
              <a:t>★非機能要件</a:t>
            </a:r>
            <a:endParaRPr lang="en-US" altLang="ja-JP" sz="2000" dirty="0"/>
          </a:p>
          <a:p>
            <a:r>
              <a:rPr lang="en-US" altLang="ja-JP" sz="2000" dirty="0"/>
              <a:t>	</a:t>
            </a:r>
            <a:r>
              <a:rPr lang="ja-JP" altLang="en-US" sz="2000" dirty="0"/>
              <a:t>・パフォーマンスの保証</a:t>
            </a:r>
            <a:endParaRPr lang="en-US" altLang="ja-JP" sz="2000" dirty="0"/>
          </a:p>
          <a:p>
            <a:r>
              <a:rPr lang="en-US" altLang="ja-JP" sz="2000" dirty="0"/>
              <a:t>	</a:t>
            </a:r>
            <a:r>
              <a:rPr lang="ja-JP" altLang="en-US" sz="2000" dirty="0"/>
              <a:t>・</a:t>
            </a:r>
            <a:r>
              <a:rPr lang="en-US" altLang="ja-JP" sz="2000" dirty="0"/>
              <a:t>HA</a:t>
            </a:r>
            <a:r>
              <a:rPr lang="ja-JP" altLang="en-US" sz="2000" dirty="0"/>
              <a:t>の保証</a:t>
            </a:r>
            <a:endParaRPr lang="en-US" altLang="ja-JP" sz="2000" dirty="0"/>
          </a:p>
          <a:p>
            <a:r>
              <a:rPr lang="ja-JP" altLang="en-US" sz="2000" dirty="0"/>
              <a:t>★データ移行</a:t>
            </a:r>
            <a:endParaRPr lang="en-US" altLang="ja-JP" sz="2000" dirty="0"/>
          </a:p>
          <a:p>
            <a:r>
              <a:rPr lang="en-US" altLang="ja-JP" sz="2000" dirty="0"/>
              <a:t>	</a:t>
            </a:r>
            <a:r>
              <a:rPr lang="ja-JP" altLang="en-US" sz="2000" dirty="0"/>
              <a:t>・移行ツールで実施可能</a:t>
            </a:r>
            <a:endParaRPr lang="en-US" altLang="ja-JP" sz="2000" dirty="0"/>
          </a:p>
        </p:txBody>
      </p:sp>
    </p:spTree>
    <p:extLst>
      <p:ext uri="{BB962C8B-B14F-4D97-AF65-F5344CB8AC3E}">
        <p14:creationId xmlns:p14="http://schemas.microsoft.com/office/powerpoint/2010/main" val="289965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11040602" cy="683629"/>
          </a:xfrm>
        </p:spPr>
        <p:txBody>
          <a:bodyPr>
            <a:noAutofit/>
          </a:bodyPr>
          <a:lstStyle/>
          <a:p>
            <a:r>
              <a:rPr lang="ja-JP" altLang="en-US" dirty="0"/>
              <a:t>要件／ソリューション－添付ファイル管理（編集を含む）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2696379614"/>
              </p:ext>
            </p:extLst>
          </p:nvPr>
        </p:nvGraphicFramePr>
        <p:xfrm>
          <a:off x="453571" y="757391"/>
          <a:ext cx="11284857" cy="5543446"/>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050" dirty="0">
                          <a:solidFill>
                            <a:schemeClr val="tx1"/>
                          </a:solidFill>
                        </a:rPr>
                        <a:t>仕様書管理</a:t>
                      </a:r>
                      <a:r>
                        <a:rPr lang="en-US" altLang="ja-JP" sz="1050" dirty="0">
                          <a:solidFill>
                            <a:schemeClr val="tx1"/>
                          </a:solidFill>
                        </a:rPr>
                        <a:t>TBL</a:t>
                      </a:r>
                      <a:r>
                        <a:rPr lang="ja-JP" altLang="en-US" sz="1050" dirty="0">
                          <a:solidFill>
                            <a:schemeClr val="tx1"/>
                          </a:solidFill>
                        </a:rPr>
                        <a:t>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solidFill>
                            <a:schemeClr val="tx1"/>
                          </a:solidFill>
                        </a:rPr>
                        <a:t>仕様書管理</a:t>
                      </a:r>
                      <a:r>
                        <a:rPr lang="en-US" altLang="ja-JP" sz="900" dirty="0">
                          <a:solidFill>
                            <a:schemeClr val="tx1"/>
                          </a:solidFill>
                        </a:rPr>
                        <a:t>TBL</a:t>
                      </a:r>
                      <a:r>
                        <a:rPr lang="ja-JP" altLang="en-US" sz="900" dirty="0">
                          <a:solidFill>
                            <a:schemeClr val="tx1"/>
                          </a:solidFill>
                        </a:rPr>
                        <a:t>に、添付ファイル（複数</a:t>
                      </a:r>
                      <a:r>
                        <a:rPr lang="en-US" altLang="ja-JP" sz="900" dirty="0">
                          <a:solidFill>
                            <a:schemeClr val="tx1"/>
                          </a:solidFill>
                        </a:rPr>
                        <a:t>)</a:t>
                      </a:r>
                      <a:r>
                        <a:rPr lang="ja-JP" altLang="en-US" sz="900" dirty="0">
                          <a:solidFill>
                            <a:schemeClr val="tx1"/>
                          </a:solidFill>
                        </a:rPr>
                        <a:t>のファイル</a:t>
                      </a:r>
                      <a:r>
                        <a:rPr lang="en-US" altLang="ja-JP" sz="900" dirty="0">
                          <a:solidFill>
                            <a:schemeClr val="tx1"/>
                          </a:solidFill>
                        </a:rPr>
                        <a:t>ID</a:t>
                      </a:r>
                      <a:r>
                        <a:rPr lang="ja-JP" altLang="en-US" sz="900" dirty="0">
                          <a:solidFill>
                            <a:schemeClr val="tx1"/>
                          </a:solidFill>
                        </a:rPr>
                        <a:t>、ファイル名情報、</a:t>
                      </a:r>
                      <a:r>
                        <a:rPr lang="en-US" altLang="ja-JP" sz="900" dirty="0" err="1">
                          <a:solidFill>
                            <a:schemeClr val="tx1"/>
                          </a:solidFill>
                        </a:rPr>
                        <a:t>Url</a:t>
                      </a:r>
                      <a:r>
                        <a:rPr lang="ja-JP" altLang="en-US" sz="900" dirty="0">
                          <a:solidFill>
                            <a:schemeClr val="tx1"/>
                          </a:solidFill>
                        </a:rPr>
                        <a:t>情報を保存、管理で実現ができる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05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Microsoft Search</a:t>
                      </a:r>
                      <a:r>
                        <a:rPr lang="ja-JP" altLang="en-US" sz="900" kern="1200" dirty="0">
                          <a:solidFill>
                            <a:schemeClr val="tx1"/>
                          </a:solidFill>
                          <a:latin typeface="+mn-lt"/>
                          <a:ea typeface="+mn-ea"/>
                          <a:cs typeface="+mn-cs"/>
                        </a:rPr>
                        <a:t>機能を利用</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900" kern="1200" dirty="0">
                          <a:solidFill>
                            <a:schemeClr val="tx1"/>
                          </a:solidFill>
                          <a:latin typeface="+mn-lt"/>
                          <a:ea typeface="+mn-ea"/>
                          <a:cs typeface="+mn-cs"/>
                        </a:rPr>
                        <a:t>実装には、</a:t>
                      </a:r>
                      <a:r>
                        <a:rPr lang="en-US" altLang="ja-JP" sz="900" kern="1200" dirty="0">
                          <a:solidFill>
                            <a:schemeClr val="tx1"/>
                          </a:solidFill>
                          <a:latin typeface="+mn-lt"/>
                          <a:ea typeface="+mn-ea"/>
                          <a:cs typeface="+mn-cs"/>
                        </a:rPr>
                        <a:t>Microsoft</a:t>
                      </a:r>
                      <a:r>
                        <a:rPr lang="ja-JP" altLang="en-US" sz="900" kern="1200" dirty="0">
                          <a:solidFill>
                            <a:schemeClr val="tx1"/>
                          </a:solidFill>
                          <a:latin typeface="+mn-lt"/>
                          <a:ea typeface="+mn-ea"/>
                          <a:cs typeface="+mn-cs"/>
                        </a:rPr>
                        <a:t> </a:t>
                      </a:r>
                      <a:r>
                        <a:rPr lang="en-US" altLang="ja-JP" sz="900" kern="1200" dirty="0" err="1">
                          <a:solidFill>
                            <a:schemeClr val="tx1"/>
                          </a:solidFill>
                          <a:latin typeface="+mn-lt"/>
                          <a:ea typeface="+mn-ea"/>
                          <a:cs typeface="+mn-cs"/>
                        </a:rPr>
                        <a:t>GraphAPI</a:t>
                      </a:r>
                      <a:r>
                        <a:rPr lang="ja-JP" altLang="en-US" sz="900" kern="1200" dirty="0">
                          <a:solidFill>
                            <a:schemeClr val="tx1"/>
                          </a:solidFill>
                          <a:latin typeface="+mn-lt"/>
                          <a:ea typeface="+mn-ea"/>
                          <a:cs typeface="+mn-cs"/>
                        </a:rPr>
                        <a:t>を利用</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00" kern="1200" dirty="0">
                          <a:solidFill>
                            <a:schemeClr val="tx1"/>
                          </a:solidFill>
                          <a:latin typeface="+mn-lt"/>
                          <a:ea typeface="+mn-ea"/>
                          <a:cs typeface="+mn-cs"/>
                        </a:rPr>
                        <a:t>添付ファイルの履歴管理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の履歴管理機能を利用（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8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添付ファイルの権限管理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の権限管理仕組みを利用（</a:t>
                      </a:r>
                      <a:r>
                        <a:rPr lang="en-US" altLang="ja-JP" sz="900" kern="1200" dirty="0">
                          <a:solidFill>
                            <a:schemeClr val="tx1"/>
                          </a:solidFill>
                          <a:latin typeface="+mn-lt"/>
                          <a:ea typeface="+mn-ea"/>
                          <a:cs typeface="+mn-cs"/>
                        </a:rPr>
                        <a:t>Power Automate Flow</a:t>
                      </a:r>
                      <a:r>
                        <a:rPr lang="ja-JP" altLang="en-US" sz="900" kern="1200" dirty="0">
                          <a:solidFill>
                            <a:schemeClr val="tx1"/>
                          </a:solidFill>
                          <a:latin typeface="+mn-lt"/>
                          <a:ea typeface="+mn-ea"/>
                          <a:cs typeface="+mn-cs"/>
                        </a:rPr>
                        <a:t>サポート）</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で実現ができる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22909428"/>
                  </a:ext>
                </a:extLst>
              </a:tr>
              <a:tr h="184794">
                <a:tc>
                  <a:txBody>
                    <a:bodyPr/>
                    <a:lstStyle/>
                    <a:p>
                      <a:r>
                        <a:rPr lang="ja-JP" altLang="en-US" sz="1000" kern="1200" dirty="0">
                          <a:solidFill>
                            <a:schemeClr val="tx1"/>
                          </a:solidFill>
                          <a:latin typeface="+mn-lt"/>
                          <a:ea typeface="+mn-ea"/>
                          <a:cs typeface="+mn-cs"/>
                        </a:rPr>
                        <a:t>サポートファイルタイプ（</a:t>
                      </a:r>
                      <a:r>
                        <a:rPr lang="en-US" altLang="ja-JP" sz="1000" kern="1200" dirty="0">
                          <a:solidFill>
                            <a:schemeClr val="tx1"/>
                          </a:solidFill>
                          <a:latin typeface="+mn-lt"/>
                          <a:ea typeface="+mn-ea"/>
                          <a:cs typeface="+mn-cs"/>
                        </a:rPr>
                        <a:t>Office</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Word, Excel, PowerPoint</a:t>
                      </a:r>
                      <a:r>
                        <a:rPr lang="ja-JP" altLang="en-US" sz="1000" kern="1200" dirty="0">
                          <a:solidFill>
                            <a:schemeClr val="tx1"/>
                          </a:solidFill>
                          <a:latin typeface="+mn-lt"/>
                          <a:ea typeface="+mn-ea"/>
                          <a:cs typeface="+mn-cs"/>
                        </a:rPr>
                        <a:t>）、</a:t>
                      </a:r>
                      <a:r>
                        <a:rPr lang="en-US" altLang="ja-JP" sz="1000" kern="1200" dirty="0">
                          <a:solidFill>
                            <a:schemeClr val="tx1"/>
                          </a:solidFill>
                          <a:latin typeface="+mn-lt"/>
                          <a:ea typeface="+mn-ea"/>
                          <a:cs typeface="+mn-cs"/>
                        </a:rPr>
                        <a:t>PDF</a:t>
                      </a:r>
                      <a:r>
                        <a:rPr lang="ja-JP" altLang="en-US" sz="100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900" kern="1200" dirty="0">
                          <a:solidFill>
                            <a:schemeClr val="tx1"/>
                          </a:solidFill>
                          <a:latin typeface="+mn-lt"/>
                          <a:ea typeface="+mn-ea"/>
                          <a:cs typeface="+mn-cs"/>
                        </a:rPr>
                        <a:t>SharePoint</a:t>
                      </a:r>
                      <a:r>
                        <a:rPr lang="ja-JP" altLang="en-US" sz="900" kern="1200" dirty="0">
                          <a:solidFill>
                            <a:schemeClr val="tx1"/>
                          </a:solidFill>
                          <a:latin typeface="+mn-lt"/>
                          <a:ea typeface="+mn-ea"/>
                          <a:cs typeface="+mn-cs"/>
                        </a:rPr>
                        <a:t>の機能で対応で</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きる</a:t>
                      </a:r>
                      <a:endParaRPr lang="en-US" altLang="ja-JP"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00" kern="1200" dirty="0">
                          <a:solidFill>
                            <a:schemeClr val="tx1"/>
                          </a:solidFill>
                          <a:latin typeface="+mn-lt"/>
                          <a:ea typeface="+mn-ea"/>
                          <a:cs typeface="+mn-cs"/>
                        </a:rPr>
                        <a:t>ファイルサイズ</a:t>
                      </a:r>
                      <a:r>
                        <a:rPr lang="en-US" altLang="ja-JP" sz="1000" kern="1200" dirty="0">
                          <a:solidFill>
                            <a:schemeClr val="tx1"/>
                          </a:solidFill>
                          <a:latin typeface="+mn-lt"/>
                          <a:ea typeface="+mn-ea"/>
                          <a:cs typeface="+mn-cs"/>
                        </a:rPr>
                        <a:t>: 50MB/</a:t>
                      </a:r>
                      <a:r>
                        <a:rPr lang="ja-JP" altLang="en-US" sz="100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kern="1200" dirty="0">
                          <a:solidFill>
                            <a:schemeClr val="tx1"/>
                          </a:solidFill>
                          <a:latin typeface="+mn-lt"/>
                          <a:ea typeface="+mn-ea"/>
                          <a:cs typeface="+mn-cs"/>
                        </a:rPr>
                        <a:t>PowerApps</a:t>
                      </a:r>
                      <a:r>
                        <a:rPr lang="ja-JP" altLang="en-US" sz="900" kern="1200" dirty="0">
                          <a:solidFill>
                            <a:schemeClr val="tx1"/>
                          </a:solidFill>
                          <a:latin typeface="+mn-lt"/>
                          <a:ea typeface="+mn-ea"/>
                          <a:cs typeface="+mn-cs"/>
                        </a:rPr>
                        <a:t>の内蔵</a:t>
                      </a:r>
                      <a:r>
                        <a:rPr lang="en-US" altLang="ja-JP" sz="900" kern="1200" dirty="0">
                          <a:solidFill>
                            <a:schemeClr val="tx1"/>
                          </a:solidFill>
                          <a:latin typeface="+mn-lt"/>
                          <a:ea typeface="+mn-ea"/>
                          <a:cs typeface="+mn-cs"/>
                        </a:rPr>
                        <a:t>File Download/Upload</a:t>
                      </a:r>
                      <a:r>
                        <a:rPr lang="ja-JP" altLang="en-US" sz="900" kern="1200" dirty="0">
                          <a:solidFill>
                            <a:schemeClr val="tx1"/>
                          </a:solidFill>
                          <a:latin typeface="+mn-lt"/>
                          <a:ea typeface="+mn-ea"/>
                          <a:cs typeface="+mn-cs"/>
                        </a:rPr>
                        <a:t>コントロールで対応（</a:t>
                      </a: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可能ファイルのサイズはカスタマイズ可能）</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ja-JP" altLang="en-US"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0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構造を多階層にし、一つの</a:t>
                      </a:r>
                      <a:r>
                        <a:rPr lang="en-US" altLang="ja-JP" sz="900" dirty="0">
                          <a:solidFill>
                            <a:schemeClr val="tx1"/>
                          </a:solidFill>
                          <a:latin typeface="Yu Gothic UI" panose="020B0500000000000000" pitchFamily="50" charset="-128"/>
                          <a:ea typeface="Yu Gothic UI" panose="020B0500000000000000" pitchFamily="50" charset="-128"/>
                        </a:rPr>
                        <a:t>Directory</a:t>
                      </a:r>
                      <a:r>
                        <a:rPr lang="ja-JP" altLang="en-US" sz="900" dirty="0">
                          <a:solidFill>
                            <a:schemeClr val="tx1"/>
                          </a:solidFill>
                          <a:latin typeface="Yu Gothic UI" panose="020B0500000000000000" pitchFamily="50" charset="-128"/>
                          <a:ea typeface="Yu Gothic UI" panose="020B0500000000000000" pitchFamily="50" charset="-128"/>
                        </a:rPr>
                        <a:t>にファイルを</a:t>
                      </a:r>
                      <a:r>
                        <a:rPr lang="en-US" altLang="ja-JP" sz="900" dirty="0">
                          <a:solidFill>
                            <a:schemeClr val="tx1"/>
                          </a:solidFill>
                          <a:latin typeface="Yu Gothic UI" panose="020B0500000000000000" pitchFamily="50" charset="-128"/>
                          <a:ea typeface="Yu Gothic UI" panose="020B0500000000000000" pitchFamily="50" charset="-128"/>
                        </a:rPr>
                        <a:t>1000</a:t>
                      </a:r>
                      <a:r>
                        <a:rPr lang="ja-JP" altLang="en-US" sz="900" dirty="0">
                          <a:solidFill>
                            <a:schemeClr val="tx1"/>
                          </a:solidFill>
                          <a:latin typeface="Yu Gothic UI" panose="020B0500000000000000" pitchFamily="50" charset="-128"/>
                          <a:ea typeface="Yu Gothic UI" panose="020B0500000000000000" pitchFamily="50" charset="-128"/>
                        </a:rPr>
                        <a:t>以内に抑えることでパフォーマンスを確保</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Download/</a:t>
                      </a:r>
                      <a:r>
                        <a:rPr lang="ja-JP" altLang="en-US" sz="100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900" kern="1200" dirty="0">
                          <a:solidFill>
                            <a:schemeClr val="tx1"/>
                          </a:solidFill>
                          <a:latin typeface="+mn-lt"/>
                          <a:ea typeface="+mn-ea"/>
                          <a:cs typeface="+mn-cs"/>
                        </a:rPr>
                        <a:t>データベーステーブルから</a:t>
                      </a:r>
                      <a:r>
                        <a:rPr lang="zh-CN" altLang="zh-CN" sz="900" kern="1200" dirty="0">
                          <a:solidFill>
                            <a:schemeClr val="tx1"/>
                          </a:solidFill>
                          <a:latin typeface="+mn-lt"/>
                          <a:ea typeface="+mn-ea"/>
                          <a:cs typeface="+mn-cs"/>
                        </a:rPr>
                        <a:t>選択</a:t>
                      </a:r>
                      <a:r>
                        <a:rPr lang="ja-JP" altLang="en-US" sz="900" kern="1200" dirty="0">
                          <a:solidFill>
                            <a:schemeClr val="tx1"/>
                          </a:solidFill>
                          <a:latin typeface="+mn-lt"/>
                          <a:ea typeface="+mn-ea"/>
                          <a:cs typeface="+mn-cs"/>
                        </a:rPr>
                        <a:t>対象の添付</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URLを取得</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r>
                        <a:rPr lang="zh-CN" altLang="zh-CN" sz="9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Power Apps</a:t>
                      </a:r>
                      <a:r>
                        <a:rPr lang="ja-JP" altLang="en-US" sz="900" kern="1200" dirty="0">
                          <a:solidFill>
                            <a:schemeClr val="tx1"/>
                          </a:solidFill>
                          <a:latin typeface="+mn-lt"/>
                          <a:ea typeface="+mn-ea"/>
                          <a:cs typeface="+mn-cs"/>
                        </a:rPr>
                        <a:t>の</a:t>
                      </a:r>
                      <a:r>
                        <a:rPr lang="en-US" altLang="ja-JP" sz="900" kern="1200" dirty="0">
                          <a:solidFill>
                            <a:schemeClr val="tx1"/>
                          </a:solidFill>
                          <a:latin typeface="+mn-lt"/>
                          <a:ea typeface="+mn-ea"/>
                          <a:cs typeface="+mn-cs"/>
                        </a:rPr>
                        <a:t>Launch</a:t>
                      </a:r>
                      <a:r>
                        <a:rPr lang="ja-JP" altLang="en-US" sz="900" kern="1200" dirty="0">
                          <a:solidFill>
                            <a:schemeClr val="tx1"/>
                          </a:solidFill>
                          <a:latin typeface="+mn-lt"/>
                          <a:ea typeface="+mn-ea"/>
                          <a:cs typeface="+mn-cs"/>
                        </a:rPr>
                        <a:t>機能を利用して実現</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r>
                        <a:rPr lang="zh-CN" altLang="zh-CN" sz="900" kern="1200" dirty="0">
                          <a:solidFill>
                            <a:schemeClr val="tx1"/>
                          </a:solidFill>
                          <a:latin typeface="+mn-lt"/>
                          <a:ea typeface="+mn-ea"/>
                          <a:cs typeface="+mn-cs"/>
                        </a:rPr>
                        <a:t>Office Onlineで</a:t>
                      </a:r>
                      <a:r>
                        <a:rPr lang="ja-JP" altLang="en-US" sz="900" kern="1200" dirty="0">
                          <a:solidFill>
                            <a:schemeClr val="tx1"/>
                          </a:solidFill>
                          <a:latin typeface="+mn-lt"/>
                          <a:ea typeface="+mn-ea"/>
                          <a:cs typeface="+mn-cs"/>
                        </a:rPr>
                        <a:t>直接</a:t>
                      </a:r>
                      <a:r>
                        <a:rPr lang="zh-CN" altLang="zh-CN" sz="900" kern="1200" dirty="0">
                          <a:solidFill>
                            <a:schemeClr val="tx1"/>
                          </a:solidFill>
                          <a:latin typeface="+mn-lt"/>
                          <a:ea typeface="+mn-ea"/>
                          <a:cs typeface="+mn-cs"/>
                        </a:rPr>
                        <a:t>開く（例: </a:t>
                      </a:r>
                      <a:r>
                        <a:rPr lang="zh-CN" altLang="zh-CN" sz="9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900" kern="1200" dirty="0">
                          <a:solidFill>
                            <a:schemeClr val="tx1"/>
                          </a:solidFill>
                          <a:latin typeface="+mn-lt"/>
                          <a:ea typeface="+mn-ea"/>
                          <a:cs typeface="+mn-cs"/>
                        </a:rPr>
                        <a:t>]）</a:t>
                      </a:r>
                      <a:r>
                        <a:rPr lang="en-US" altLang="ja-JP" sz="900" kern="1200" dirty="0" err="1">
                          <a:solidFill>
                            <a:schemeClr val="tx1"/>
                          </a:solidFill>
                          <a:latin typeface="+mn-lt"/>
                          <a:ea typeface="+mn-ea"/>
                          <a:cs typeface="+mn-cs"/>
                        </a:rPr>
                        <a:t>ReadOnly</a:t>
                      </a:r>
                      <a:r>
                        <a:rPr lang="en-US" altLang="ja-JP" sz="900" kern="1200" dirty="0">
                          <a:solidFill>
                            <a:schemeClr val="tx1"/>
                          </a:solidFill>
                          <a:latin typeface="+mn-lt"/>
                          <a:ea typeface="+mn-ea"/>
                          <a:cs typeface="+mn-cs"/>
                        </a:rPr>
                        <a:t>/</a:t>
                      </a:r>
                      <a:r>
                        <a:rPr lang="ja-JP" altLang="en-US" sz="900" kern="1200" dirty="0">
                          <a:solidFill>
                            <a:schemeClr val="tx1"/>
                          </a:solidFill>
                          <a:latin typeface="+mn-lt"/>
                          <a:ea typeface="+mn-ea"/>
                          <a:cs typeface="+mn-cs"/>
                        </a:rPr>
                        <a:t>編集モードは仕様に従って定義</a:t>
                      </a:r>
                      <a:endParaRPr lang="en-US" altLang="zh-CN" sz="9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kern="1200" dirty="0">
                          <a:solidFill>
                            <a:schemeClr val="tx1"/>
                          </a:solidFill>
                          <a:latin typeface="+mn-lt"/>
                          <a:ea typeface="+mn-ea"/>
                          <a:cs typeface="+mn-cs"/>
                        </a:rPr>
                        <a:t>ファイルの</a:t>
                      </a:r>
                      <a:r>
                        <a:rPr lang="en-US" altLang="ja-JP" sz="1000" kern="1200" dirty="0">
                          <a:solidFill>
                            <a:schemeClr val="tx1"/>
                          </a:solidFill>
                          <a:latin typeface="+mn-lt"/>
                          <a:ea typeface="+mn-ea"/>
                          <a:cs typeface="+mn-cs"/>
                        </a:rPr>
                        <a:t>Upload</a:t>
                      </a:r>
                      <a:endParaRPr lang="ja-JP" altLang="en-US" sz="10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900" kern="1200" dirty="0">
                          <a:solidFill>
                            <a:schemeClr val="tx1"/>
                          </a:solidFill>
                          <a:latin typeface="+mn-lt"/>
                          <a:ea typeface="+mn-ea"/>
                          <a:cs typeface="+mn-cs"/>
                        </a:rPr>
                        <a:t>Upload</a:t>
                      </a:r>
                      <a:r>
                        <a:rPr lang="ja-JP" altLang="en-US" sz="900" kern="1200" dirty="0">
                          <a:solidFill>
                            <a:schemeClr val="tx1"/>
                          </a:solidFill>
                          <a:latin typeface="+mn-lt"/>
                          <a:ea typeface="+mn-ea"/>
                          <a:cs typeface="+mn-cs"/>
                        </a:rPr>
                        <a:t>される</a:t>
                      </a:r>
                      <a:r>
                        <a:rPr lang="zh-CN" altLang="zh-CN" sz="900" kern="1200" dirty="0">
                          <a:solidFill>
                            <a:schemeClr val="tx1"/>
                          </a:solidFill>
                          <a:latin typeface="+mn-lt"/>
                          <a:ea typeface="+mn-ea"/>
                          <a:cs typeface="+mn-cs"/>
                        </a:rPr>
                        <a:t>ファイル</a:t>
                      </a:r>
                      <a:r>
                        <a:rPr lang="ja-JP" altLang="en-US" sz="900" kern="1200" dirty="0">
                          <a:solidFill>
                            <a:schemeClr val="tx1"/>
                          </a:solidFill>
                          <a:latin typeface="+mn-lt"/>
                          <a:ea typeface="+mn-ea"/>
                          <a:cs typeface="+mn-cs"/>
                        </a:rPr>
                        <a:t>のソリューションで定義した</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a:t>
                      </a:r>
                      <a:r>
                        <a:rPr lang="ja-JP" altLang="en-US" sz="900" kern="1200" dirty="0">
                          <a:solidFill>
                            <a:schemeClr val="tx1"/>
                          </a:solidFill>
                          <a:latin typeface="+mn-lt"/>
                          <a:ea typeface="+mn-ea"/>
                          <a:cs typeface="+mn-cs"/>
                        </a:rPr>
                        <a:t>を算出</a:t>
                      </a:r>
                      <a:r>
                        <a:rPr lang="zh-CN" altLang="zh-CN" sz="9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900" dirty="0">
                          <a:solidFill>
                            <a:schemeClr val="tx1"/>
                          </a:solidFill>
                        </a:rPr>
                        <a:t>ファイルを算出した</a:t>
                      </a:r>
                      <a:r>
                        <a:rPr lang="en-US" altLang="ja-JP" sz="900" kern="1200" dirty="0">
                          <a:solidFill>
                            <a:schemeClr val="tx1"/>
                          </a:solidFill>
                          <a:latin typeface="+mn-lt"/>
                          <a:ea typeface="+mn-ea"/>
                          <a:cs typeface="+mn-cs"/>
                        </a:rPr>
                        <a:t>SPO</a:t>
                      </a:r>
                      <a:r>
                        <a:rPr lang="ja-JP" altLang="en-US" sz="900" kern="1200" dirty="0">
                          <a:solidFill>
                            <a:schemeClr val="tx1"/>
                          </a:solidFill>
                          <a:latin typeface="+mn-lt"/>
                          <a:ea typeface="+mn-ea"/>
                          <a:cs typeface="+mn-cs"/>
                        </a:rPr>
                        <a:t> </a:t>
                      </a:r>
                      <a:r>
                        <a:rPr lang="zh-CN" altLang="zh-CN" sz="900" kern="1200" dirty="0">
                          <a:solidFill>
                            <a:schemeClr val="tx1"/>
                          </a:solidFill>
                          <a:latin typeface="+mn-lt"/>
                          <a:ea typeface="+mn-ea"/>
                          <a:cs typeface="+mn-cs"/>
                        </a:rPr>
                        <a:t>URL</a:t>
                      </a:r>
                      <a:r>
                        <a:rPr lang="ja-JP" altLang="en-US" sz="900" dirty="0">
                          <a:solidFill>
                            <a:schemeClr val="tx1"/>
                          </a:solidFill>
                        </a:rPr>
                        <a:t>に</a:t>
                      </a:r>
                      <a:r>
                        <a:rPr lang="en-US" altLang="ja-JP" sz="900" dirty="0">
                          <a:solidFill>
                            <a:schemeClr val="tx1"/>
                          </a:solidFill>
                        </a:rPr>
                        <a:t>Upload</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solidFill>
                            <a:schemeClr val="tx1"/>
                          </a:solidFill>
                        </a:rPr>
                        <a:t>ファイルの権限を設定（共有相手個人、組織のみに与える）</a:t>
                      </a:r>
                      <a:r>
                        <a:rPr kumimoji="0" lang="ja-JP" altLang="en-US" sz="900" b="0" i="0" u="none" strike="noStrike" kern="1200" cap="none" spc="0" normalizeH="0" baseline="0" noProof="0" dirty="0">
                          <a:ln>
                            <a:noFill/>
                          </a:ln>
                          <a:solidFill>
                            <a:schemeClr val="tx1"/>
                          </a:solidFill>
                          <a:effectLst/>
                          <a:uLnTx/>
                          <a:uFillTx/>
                          <a:latin typeface="+mn-lt"/>
                          <a:ea typeface="+mn-ea"/>
                          <a:cs typeface="+mn-cs"/>
                        </a:rPr>
                        <a:t>できる</a:t>
                      </a:r>
                      <a:endParaRPr lang="en-US" altLang="ja-JP" sz="900" dirty="0">
                        <a:solidFill>
                          <a:schemeClr val="tx1"/>
                        </a:solidFill>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900" dirty="0">
                          <a:solidFill>
                            <a:schemeClr val="tx1"/>
                          </a:solidFill>
                        </a:rPr>
                        <a:t>仕様書</a:t>
                      </a:r>
                      <a:r>
                        <a:rPr lang="en-US" altLang="ja-JP" sz="900" dirty="0">
                          <a:solidFill>
                            <a:schemeClr val="tx1"/>
                          </a:solidFill>
                        </a:rPr>
                        <a:t>Table</a:t>
                      </a:r>
                      <a:r>
                        <a:rPr lang="ja-JP" altLang="en-US" sz="900" dirty="0">
                          <a:solidFill>
                            <a:schemeClr val="tx1"/>
                          </a:solidFill>
                        </a:rPr>
                        <a:t>に添付ファイル情報を登録することで権限管理できる</a:t>
                      </a:r>
                      <a:endParaRPr lang="en-US" altLang="ja-JP" sz="90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kern="1200" dirty="0">
                          <a:solidFill>
                            <a:schemeClr val="tx1"/>
                          </a:solidFill>
                          <a:latin typeface="+mn-lt"/>
                          <a:ea typeface="+mn-ea"/>
                          <a:cs typeface="+mn-cs"/>
                        </a:rPr>
                        <a:t>ソリューションデータフロー</a:t>
                      </a:r>
                      <a:endParaRPr lang="en-US" altLang="ja-JP" sz="1050" b="1"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3" name="図 2">
            <a:extLst>
              <a:ext uri="{FF2B5EF4-FFF2-40B4-BE49-F238E27FC236}">
                <a16:creationId xmlns:a16="http://schemas.microsoft.com/office/drawing/2014/main" id="{66F8C394-8B67-198B-AD67-9AE5BA7B7BA5}"/>
              </a:ext>
            </a:extLst>
          </p:cNvPr>
          <p:cNvPicPr>
            <a:picLocks noChangeAspect="1"/>
          </p:cNvPicPr>
          <p:nvPr/>
        </p:nvPicPr>
        <p:blipFill>
          <a:blip r:embed="rId4"/>
          <a:stretch>
            <a:fillRect/>
          </a:stretch>
        </p:blipFill>
        <p:spPr>
          <a:xfrm>
            <a:off x="5030003" y="3306279"/>
            <a:ext cx="6573926" cy="3149392"/>
          </a:xfrm>
          <a:prstGeom prst="rect">
            <a:avLst/>
          </a:prstGeom>
        </p:spPr>
      </p:pic>
      <p:pic>
        <p:nvPicPr>
          <p:cNvPr id="8" name="図 7">
            <a:extLst>
              <a:ext uri="{FF2B5EF4-FFF2-40B4-BE49-F238E27FC236}">
                <a16:creationId xmlns:a16="http://schemas.microsoft.com/office/drawing/2014/main" id="{9579E1CA-8004-710B-ABF4-3CF24476591C}"/>
              </a:ext>
            </a:extLst>
          </p:cNvPr>
          <p:cNvPicPr>
            <a:picLocks noChangeAspect="1"/>
          </p:cNvPicPr>
          <p:nvPr/>
        </p:nvPicPr>
        <p:blipFill>
          <a:blip r:embed="rId5"/>
          <a:stretch>
            <a:fillRect/>
          </a:stretch>
        </p:blipFill>
        <p:spPr>
          <a:xfrm>
            <a:off x="1974080" y="5187218"/>
            <a:ext cx="2348563" cy="839009"/>
          </a:xfrm>
          <a:prstGeom prst="rect">
            <a:avLst/>
          </a:prstGeom>
        </p:spPr>
      </p:pic>
      <p:sp>
        <p:nvSpPr>
          <p:cNvPr id="10" name="矢印: 上カーブ 9">
            <a:extLst>
              <a:ext uri="{FF2B5EF4-FFF2-40B4-BE49-F238E27FC236}">
                <a16:creationId xmlns:a16="http://schemas.microsoft.com/office/drawing/2014/main" id="{EFD53EB5-2DF5-3837-D664-047A23D6F5BB}"/>
              </a:ext>
            </a:extLst>
          </p:cNvPr>
          <p:cNvSpPr/>
          <p:nvPr/>
        </p:nvSpPr>
        <p:spPr>
          <a:xfrm rot="2998930">
            <a:off x="1061115" y="5107853"/>
            <a:ext cx="953141" cy="339355"/>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
        <p:nvSpPr>
          <p:cNvPr id="6" name="テキスト ボックス 5">
            <a:extLst>
              <a:ext uri="{FF2B5EF4-FFF2-40B4-BE49-F238E27FC236}">
                <a16:creationId xmlns:a16="http://schemas.microsoft.com/office/drawing/2014/main" id="{2396854E-3FA1-0DE9-3B7A-3C45CCDF352D}"/>
              </a:ext>
            </a:extLst>
          </p:cNvPr>
          <p:cNvSpPr txBox="1"/>
          <p:nvPr/>
        </p:nvSpPr>
        <p:spPr>
          <a:xfrm>
            <a:off x="451684" y="5383103"/>
            <a:ext cx="1259980" cy="230832"/>
          </a:xfrm>
          <a:prstGeom prst="rect">
            <a:avLst/>
          </a:prstGeom>
          <a:noFill/>
        </p:spPr>
        <p:txBody>
          <a:bodyPr wrap="square">
            <a:spAutoFit/>
          </a:bodyPr>
          <a:lstStyle/>
          <a:p>
            <a:r>
              <a:rPr lang="ja-JP" altLang="en-US" sz="900" dirty="0"/>
              <a:t>ファイル</a:t>
            </a:r>
            <a:r>
              <a:rPr lang="en-US" altLang="ja-JP" sz="900" dirty="0"/>
              <a:t>ID</a:t>
            </a:r>
            <a:r>
              <a:rPr lang="ja-JP" altLang="en-US" sz="900" dirty="0"/>
              <a:t>で</a:t>
            </a:r>
            <a:r>
              <a:rPr lang="en-US" altLang="ja-JP" sz="900" dirty="0"/>
              <a:t>Link</a:t>
            </a:r>
            <a:endParaRPr lang="ja-JP" altLang="en-US" sz="900" dirty="0"/>
          </a:p>
        </p:txBody>
      </p:sp>
      <p:pic>
        <p:nvPicPr>
          <p:cNvPr id="5" name="図 4">
            <a:extLst>
              <a:ext uri="{FF2B5EF4-FFF2-40B4-BE49-F238E27FC236}">
                <a16:creationId xmlns:a16="http://schemas.microsoft.com/office/drawing/2014/main" id="{1C68BE6A-E4C9-E9C5-C905-F4CCD77F529E}"/>
              </a:ext>
            </a:extLst>
          </p:cNvPr>
          <p:cNvPicPr>
            <a:picLocks noChangeAspect="1"/>
          </p:cNvPicPr>
          <p:nvPr/>
        </p:nvPicPr>
        <p:blipFill>
          <a:blip r:embed="rId6"/>
          <a:stretch>
            <a:fillRect/>
          </a:stretch>
        </p:blipFill>
        <p:spPr>
          <a:xfrm>
            <a:off x="472067" y="3464970"/>
            <a:ext cx="2634712" cy="14360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要件／ソリューション－権限管理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extLst>
              <p:ext uri="{D42A27DB-BD31-4B8C-83A1-F6EECF244321}">
                <p14:modId xmlns:p14="http://schemas.microsoft.com/office/powerpoint/2010/main" val="715390910"/>
              </p:ext>
            </p:extLst>
          </p:nvPr>
        </p:nvGraphicFramePr>
        <p:xfrm>
          <a:off x="453572" y="804707"/>
          <a:ext cx="11284856" cy="564430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1669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39330">
                <a:tc>
                  <a:txBody>
                    <a:bodyPr/>
                    <a:lstStyle/>
                    <a:p>
                      <a:r>
                        <a:rPr kumimoji="0" lang="ja-JP" altLang="en-US" sz="900" kern="1200" dirty="0">
                          <a:solidFill>
                            <a:schemeClr val="tx1"/>
                          </a:solidFill>
                          <a:latin typeface="Arial" panose="020B0604020202020204" pitchFamily="34" charset="0"/>
                          <a:ea typeface="+mn-ea"/>
                          <a:cs typeface="+mn-cs"/>
                        </a:rPr>
                        <a:t>ログインユーザは</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のアクセス可否はコントロール可能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30764">
                <a:tc rowSpan="4">
                  <a:txBody>
                    <a:bodyPr/>
                    <a:lstStyle/>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仕様書単位に、仕様書アクセス権限</a:t>
                      </a:r>
                      <a:r>
                        <a:rPr kumimoji="0" lang="en-US" altLang="ja-JP" sz="900" kern="1200" dirty="0">
                          <a:solidFill>
                            <a:schemeClr val="tx1"/>
                          </a:solidFill>
                          <a:latin typeface="Arial" panose="020B0604020202020204" pitchFamily="34" charset="0"/>
                          <a:ea typeface="+mn-ea"/>
                          <a:cs typeface="+mn-cs"/>
                        </a:rPr>
                        <a:t>TBL</a:t>
                      </a:r>
                      <a:r>
                        <a:rPr kumimoji="0" lang="ja-JP" altLang="en-US" sz="900" kern="1200" dirty="0">
                          <a:solidFill>
                            <a:schemeClr val="tx1"/>
                          </a:solidFill>
                          <a:latin typeface="Arial" panose="020B0604020202020204" pitchFamily="34" charset="0"/>
                          <a:ea typeface="+mn-ea"/>
                          <a:cs typeface="+mn-cs"/>
                        </a:rPr>
                        <a:t>を設計、開示範囲（＝参照権限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権限の定義可能の画面を提供することで</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権限の定義ができる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添付ファイルの</a:t>
                      </a:r>
                      <a:r>
                        <a:rPr kumimoji="0" lang="ja-JP" altLang="en-US" sz="900" kern="1200" dirty="0">
                          <a:solidFill>
                            <a:schemeClr val="tx1"/>
                          </a:solidFill>
                          <a:latin typeface="Arial" panose="020B0604020202020204" pitchFamily="34" charset="0"/>
                          <a:ea typeface="+mn-ea"/>
                          <a:cs typeface="+mn-cs"/>
                        </a:rPr>
                        <a:t>アクセス権限は、</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仕様書の</a:t>
                      </a:r>
                      <a:r>
                        <a:rPr kumimoji="0" lang="ja-JP" altLang="en-US" sz="900" kern="1200" dirty="0">
                          <a:solidFill>
                            <a:schemeClr val="tx1"/>
                          </a:solidFill>
                          <a:latin typeface="Arial" panose="020B0604020202020204" pitchFamily="34" charset="0"/>
                          <a:ea typeface="+mn-ea"/>
                          <a:cs typeface="+mn-cs"/>
                        </a:rPr>
                        <a:t>新規作成</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編集機能と連携することで権限管理ができる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solidFill>
                            <a:schemeClr val="tx1"/>
                          </a:solidFill>
                          <a:latin typeface="Arial" panose="020B0604020202020204" pitchFamily="34" charset="0"/>
                        </a:rPr>
                        <a:t>Azure SQL Table</a:t>
                      </a:r>
                      <a:r>
                        <a:rPr kumimoji="0" lang="ja-JP" altLang="en-US" sz="900" dirty="0">
                          <a:solidFill>
                            <a:schemeClr val="tx1"/>
                          </a:solidFill>
                          <a:latin typeface="Arial" panose="020B0604020202020204" pitchFamily="34" charset="0"/>
                        </a:rPr>
                        <a:t>の</a:t>
                      </a:r>
                      <a:r>
                        <a:rPr kumimoji="0" lang="en-US" altLang="ja-JP" sz="900" dirty="0">
                          <a:solidFill>
                            <a:schemeClr val="tx1"/>
                          </a:solidFill>
                          <a:latin typeface="Arial" panose="020B0604020202020204" pitchFamily="34" charset="0"/>
                        </a:rPr>
                        <a:t>Where</a:t>
                      </a:r>
                      <a:r>
                        <a:rPr kumimoji="0" lang="ja-JP" altLang="en-US" sz="900" dirty="0">
                          <a:solidFill>
                            <a:schemeClr val="tx1"/>
                          </a:solidFill>
                          <a:latin typeface="Arial" panose="020B0604020202020204" pitchFamily="34" charset="0"/>
                        </a:rPr>
                        <a:t>条件で</a:t>
                      </a:r>
                      <a:r>
                        <a:rPr kumimoji="0" lang="en-US" altLang="ja-JP" sz="900" dirty="0">
                          <a:solidFill>
                            <a:schemeClr val="tx1"/>
                          </a:solidFill>
                          <a:latin typeface="Arial" panose="020B0604020202020204" pitchFamily="34" charset="0"/>
                        </a:rPr>
                        <a:t>Filter</a:t>
                      </a:r>
                      <a:r>
                        <a:rPr kumimoji="0" lang="ja-JP" altLang="en-US" sz="900" dirty="0">
                          <a:solidFill>
                            <a:schemeClr val="tx1"/>
                          </a:solidFill>
                          <a:latin typeface="Arial" panose="020B0604020202020204" pitchFamily="34" charset="0"/>
                        </a:rPr>
                        <a:t>することによってアクセスコントロールできる</a:t>
                      </a:r>
                      <a:endParaRPr kumimoji="0" lang="en-US" altLang="ja-JP" sz="900" dirty="0">
                        <a:solidFill>
                          <a:schemeClr val="tx1"/>
                        </a:solidFill>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solidFill>
                            <a:schemeClr val="tx1"/>
                          </a:solidFill>
                          <a:latin typeface="Arial" panose="020B0604020202020204" pitchFamily="34" charset="0"/>
                        </a:rPr>
                        <a:t>一覧系（検索結果）は、</a:t>
                      </a:r>
                      <a:r>
                        <a:rPr kumimoji="0" lang="en-US" altLang="ja-JP" sz="900" dirty="0" err="1">
                          <a:solidFill>
                            <a:schemeClr val="tx1"/>
                          </a:solidFill>
                          <a:latin typeface="Arial" panose="020B0604020202020204" pitchFamily="34" charset="0"/>
                        </a:rPr>
                        <a:t>Sql</a:t>
                      </a:r>
                      <a:r>
                        <a:rPr kumimoji="0" lang="ja-JP" altLang="en-US" sz="900" dirty="0">
                          <a:solidFill>
                            <a:schemeClr val="tx1"/>
                          </a:solidFill>
                          <a:latin typeface="Arial" panose="020B0604020202020204" pitchFamily="34" charset="0"/>
                        </a:rPr>
                        <a:t>の</a:t>
                      </a:r>
                      <a:r>
                        <a:rPr kumimoji="0" lang="en-US" altLang="ja-JP" sz="900" dirty="0">
                          <a:solidFill>
                            <a:schemeClr val="tx1"/>
                          </a:solidFill>
                          <a:latin typeface="Arial" panose="020B0604020202020204" pitchFamily="34" charset="0"/>
                        </a:rPr>
                        <a:t>Where</a:t>
                      </a:r>
                      <a:r>
                        <a:rPr kumimoji="0" lang="ja-JP" altLang="en-US" sz="900" dirty="0">
                          <a:solidFill>
                            <a:schemeClr val="tx1"/>
                          </a:solidFill>
                          <a:latin typeface="Arial" panose="020B0604020202020204" pitchFamily="34" charset="0"/>
                        </a:rPr>
                        <a:t>条件でアクセス可能の文書のみで</a:t>
                      </a:r>
                      <a:r>
                        <a:rPr kumimoji="0" lang="en-US" altLang="ja-JP" sz="900" dirty="0">
                          <a:solidFill>
                            <a:schemeClr val="tx1"/>
                          </a:solidFill>
                          <a:latin typeface="Arial" panose="020B0604020202020204" pitchFamily="34" charset="0"/>
                        </a:rPr>
                        <a:t>Filter</a:t>
                      </a:r>
                      <a:r>
                        <a:rPr kumimoji="0" lang="ja-JP" altLang="en-US" sz="900" dirty="0">
                          <a:solidFill>
                            <a:schemeClr val="tx1"/>
                          </a:solidFill>
                          <a:latin typeface="Arial" panose="020B0604020202020204" pitchFamily="34" charset="0"/>
                        </a:rPr>
                        <a:t>する</a:t>
                      </a:r>
                      <a:endParaRPr kumimoji="0" lang="en-US" altLang="ja-JP" sz="900" dirty="0">
                        <a:solidFill>
                          <a:schemeClr val="tx1"/>
                        </a:solidFill>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solidFill>
                            <a:schemeClr val="tx1"/>
                          </a:solidFill>
                          <a:latin typeface="Arial" panose="020B0604020202020204" pitchFamily="34" charset="0"/>
                        </a:rPr>
                        <a:t>仕様書の詳細画面直接開く場合、カレントログインユーザのアクセス可否を再度判断する（直接</a:t>
                      </a:r>
                      <a:r>
                        <a:rPr kumimoji="0" lang="en-US" altLang="ja-JP" sz="900" dirty="0" err="1">
                          <a:solidFill>
                            <a:schemeClr val="tx1"/>
                          </a:solidFill>
                          <a:latin typeface="Arial" panose="020B0604020202020204" pitchFamily="34" charset="0"/>
                        </a:rPr>
                        <a:t>Url</a:t>
                      </a:r>
                      <a:r>
                        <a:rPr kumimoji="0" lang="ja-JP" altLang="en-US" sz="900" dirty="0">
                          <a:solidFill>
                            <a:schemeClr val="tx1"/>
                          </a:solidFill>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実現案の一例であり、今回案件の組織定義・権限管理粒度に合わせて設計フェーズに、詳細化する予定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30764">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3933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0" fontAlgn="base" latinLnBrk="0" hangingPunct="0">
                        <a:lnSpc>
                          <a:spcPct val="100000"/>
                        </a:lnSpc>
                        <a:spcBef>
                          <a:spcPct val="0"/>
                        </a:spcBef>
                        <a:spcAft>
                          <a:spcPct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2669735">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3933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ファイルの権限設定）は紐付く仕様書の権限に従う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solidFill>
                            <a:srgbClr val="0070C0"/>
                          </a:solidFill>
                        </a:rPr>
                        <a:t>SPO</a:t>
                      </a:r>
                      <a:r>
                        <a:rPr lang="ja-JP" altLang="en-US" sz="900" b="1" dirty="0">
                          <a:solidFill>
                            <a:srgbClr val="0070C0"/>
                          </a:solidFill>
                        </a:rPr>
                        <a:t>に保存されている添付ファイルのアクセス権限（</a:t>
                      </a:r>
                      <a:r>
                        <a:rPr lang="en-US" altLang="ja-JP" sz="900" b="1" dirty="0">
                          <a:solidFill>
                            <a:srgbClr val="0070C0"/>
                          </a:solidFill>
                        </a:rPr>
                        <a:t>Read/Edit/</a:t>
                      </a:r>
                      <a:r>
                        <a:rPr lang="en-US" altLang="ja-JP" sz="900" b="1" dirty="0" err="1">
                          <a:solidFill>
                            <a:srgbClr val="0070C0"/>
                          </a:solidFill>
                        </a:rPr>
                        <a:t>Downoad</a:t>
                      </a:r>
                      <a:r>
                        <a:rPr lang="ja-JP" altLang="en-US" sz="900" b="1" dirty="0">
                          <a:solidFill>
                            <a:srgbClr val="0070C0"/>
                          </a:solidFill>
                        </a:rPr>
                        <a:t>）は、</a:t>
                      </a:r>
                      <a:r>
                        <a:rPr lang="en-US" altLang="ja-JP" sz="900" b="1" dirty="0">
                          <a:solidFill>
                            <a:srgbClr val="0070C0"/>
                          </a:solidFill>
                        </a:rPr>
                        <a:t>SPO</a:t>
                      </a:r>
                      <a:r>
                        <a:rPr lang="ja-JP" altLang="en-US" sz="900" b="1" dirty="0">
                          <a:solidFill>
                            <a:srgbClr val="0070C0"/>
                          </a:solidFill>
                        </a:rPr>
                        <a:t>に直接にアクセスするときも有効にすることで、添付ファイル</a:t>
                      </a:r>
                      <a:r>
                        <a:rPr lang="en-US" altLang="ja-JP" sz="900" b="1" dirty="0">
                          <a:solidFill>
                            <a:srgbClr val="0070C0"/>
                          </a:solidFill>
                        </a:rPr>
                        <a:t>Upload</a:t>
                      </a:r>
                      <a:r>
                        <a:rPr lang="ja-JP" altLang="en-US" sz="900" b="1" dirty="0">
                          <a:solidFill>
                            <a:srgbClr val="0070C0"/>
                          </a:solidFill>
                        </a:rPr>
                        <a:t>する時に対象添付ファイルに対して仕様書に定義したアクセス権限を設定することで制約できます。</a:t>
                      </a:r>
                      <a:endParaRPr lang="en-US" altLang="ja-JP" sz="900" b="1" dirty="0">
                        <a:solidFill>
                          <a:srgbClr val="0070C0"/>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rgbClr val="FF0000"/>
                          </a:solidFill>
                          <a:latin typeface="Arial" panose="020B0604020202020204" pitchFamily="34" charset="0"/>
                          <a:ea typeface="+mn-ea"/>
                          <a:cs typeface="+mn-cs"/>
                        </a:rPr>
                        <a:t>Upload</a:t>
                      </a:r>
                      <a:r>
                        <a:rPr kumimoji="0" lang="ja-JP" altLang="en-US" sz="900" kern="1200" dirty="0">
                          <a:solidFill>
                            <a:srgbClr val="FF0000"/>
                          </a:solidFill>
                          <a:latin typeface="Arial" panose="020B0604020202020204" pitchFamily="34" charset="0"/>
                          <a:ea typeface="+mn-ea"/>
                          <a:cs typeface="+mn-cs"/>
                        </a:rPr>
                        <a:t>ファイルに該当する権限を付与する</a:t>
                      </a:r>
                      <a:r>
                        <a:rPr kumimoji="0" lang="ja-JP" altLang="en-US" sz="900" kern="1200" dirty="0">
                          <a:solidFill>
                            <a:schemeClr val="tx1"/>
                          </a:solidFill>
                          <a:latin typeface="Arial" panose="020B0604020202020204" pitchFamily="34" charset="0"/>
                          <a:ea typeface="+mn-ea"/>
                          <a:cs typeface="+mn-cs"/>
                        </a:rPr>
                        <a:t>（ファイル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仕様書が承認完了の場合、該当する添付ファイルの作成者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も編集⇒閲覧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権限</a:t>
                      </a:r>
                      <a:r>
                        <a:rPr kumimoji="0" lang="en-US" altLang="ja-JP" sz="900" kern="1200" dirty="0">
                          <a:solidFill>
                            <a:schemeClr val="tx1"/>
                          </a:solidFill>
                          <a:latin typeface="Arial" panose="020B0604020202020204" pitchFamily="34" charset="0"/>
                          <a:ea typeface="+mn-ea"/>
                          <a:cs typeface="+mn-cs"/>
                        </a:rPr>
                        <a:t>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で管理される権限</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rgbClr val="FF0000"/>
                          </a:solidFill>
                          <a:latin typeface="Arial" panose="020B0604020202020204" pitchFamily="34" charset="0"/>
                          <a:ea typeface="+mn-ea"/>
                          <a:cs typeface="+mn-cs"/>
                        </a:rPr>
                        <a:t>（この処理のパフォーマンス（時間）を考慮して、非同期処理方式を採用する）</a:t>
                      </a:r>
                      <a:endParaRPr kumimoji="0" lang="en-US" altLang="ja-JP" sz="900" b="1" kern="1200" dirty="0">
                        <a:solidFill>
                          <a:srgbClr val="FF0000"/>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26795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27487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405579" y="2591925"/>
            <a:ext cx="4814316" cy="2459878"/>
          </a:xfrm>
          <a:prstGeom prst="rect">
            <a:avLst/>
          </a:prstGeom>
        </p:spPr>
      </p:pic>
      <p:pic>
        <p:nvPicPr>
          <p:cNvPr id="1026" name="Picture 2" descr="Share SharePoint files or folders - Microsoft Support">
            <a:extLst>
              <a:ext uri="{FF2B5EF4-FFF2-40B4-BE49-F238E27FC236}">
                <a16:creationId xmlns:a16="http://schemas.microsoft.com/office/drawing/2014/main" id="{F06D48CA-BC62-02F8-29DC-D269FD6F3A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94" y="4417533"/>
            <a:ext cx="1630880" cy="1205977"/>
          </a:xfrm>
          <a:prstGeom prst="rect">
            <a:avLst/>
          </a:prstGeom>
          <a:noFill/>
          <a:extLst>
            <a:ext uri="{909E8E84-426E-40DD-AFC4-6F175D3DCCD1}">
              <a14:hiddenFill xmlns:a14="http://schemas.microsoft.com/office/drawing/2010/main">
                <a:solidFill>
                  <a:srgbClr val="FFFFFF"/>
                </a:solidFill>
              </a14:hiddenFill>
            </a:ext>
          </a:extLst>
        </p:spPr>
      </p:pic>
      <p:sp>
        <p:nvSpPr>
          <p:cNvPr id="18" name="矢印: 下 17">
            <a:extLst>
              <a:ext uri="{FF2B5EF4-FFF2-40B4-BE49-F238E27FC236}">
                <a16:creationId xmlns:a16="http://schemas.microsoft.com/office/drawing/2014/main" id="{949B0A6D-60BC-E983-E991-6B0AC3B687FE}"/>
              </a:ext>
            </a:extLst>
          </p:cNvPr>
          <p:cNvSpPr/>
          <p:nvPr/>
        </p:nvSpPr>
        <p:spPr>
          <a:xfrm>
            <a:off x="1667540" y="3669732"/>
            <a:ext cx="181695" cy="1205977"/>
          </a:xfrm>
          <a:prstGeom prst="down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
        <p:nvSpPr>
          <p:cNvPr id="6" name="テキスト ボックス 5">
            <a:extLst>
              <a:ext uri="{FF2B5EF4-FFF2-40B4-BE49-F238E27FC236}">
                <a16:creationId xmlns:a16="http://schemas.microsoft.com/office/drawing/2014/main" id="{985B5FA5-1D14-A2BC-C281-E5CC22E4ED5D}"/>
              </a:ext>
            </a:extLst>
          </p:cNvPr>
          <p:cNvSpPr txBox="1"/>
          <p:nvPr/>
        </p:nvSpPr>
        <p:spPr>
          <a:xfrm>
            <a:off x="1758387" y="3923308"/>
            <a:ext cx="2616295" cy="553998"/>
          </a:xfrm>
          <a:prstGeom prst="rect">
            <a:avLst/>
          </a:prstGeom>
          <a:noFill/>
        </p:spPr>
        <p:txBody>
          <a:bodyPr wrap="square">
            <a:spAutoFit/>
          </a:bodyPr>
          <a:lstStyle/>
          <a:p>
            <a:r>
              <a:rPr kumimoji="0" lang="ja-JP" altLang="en-US" sz="900" dirty="0">
                <a:solidFill>
                  <a:srgbClr val="FF0000"/>
                </a:solidFill>
                <a:latin typeface="Arial" panose="020B0604020202020204" pitchFamily="34" charset="0"/>
              </a:rPr>
              <a:t>添付ファイルのアクセス権限は</a:t>
            </a:r>
            <a:endParaRPr kumimoji="0" lang="en-US" altLang="ja-JP" sz="900" dirty="0">
              <a:solidFill>
                <a:srgbClr val="FF0000"/>
              </a:solidFill>
              <a:latin typeface="Arial" panose="020B0604020202020204" pitchFamily="34" charset="0"/>
            </a:endParaRPr>
          </a:p>
          <a:p>
            <a:r>
              <a:rPr kumimoji="0" lang="ja-JP" altLang="en-US" sz="900" dirty="0">
                <a:solidFill>
                  <a:srgbClr val="FF0000"/>
                </a:solidFill>
                <a:latin typeface="Arial" panose="020B0604020202020204" pitchFamily="34" charset="0"/>
              </a:rPr>
              <a:t>紐付く仕様書のアクセス権限に従う</a:t>
            </a:r>
            <a:endParaRPr kumimoji="0" lang="en-US" altLang="ja-JP" sz="900" dirty="0">
              <a:solidFill>
                <a:srgbClr val="FF0000"/>
              </a:solidFill>
              <a:latin typeface="Arial" panose="020B0604020202020204" pitchFamily="34" charset="0"/>
            </a:endParaRPr>
          </a:p>
          <a:p>
            <a:r>
              <a:rPr kumimoji="0" lang="en-US" altLang="ja-JP" sz="600" dirty="0">
                <a:solidFill>
                  <a:srgbClr val="FF0000"/>
                </a:solidFill>
                <a:latin typeface="Arial" panose="020B0604020202020204" pitchFamily="34" charset="0"/>
              </a:rPr>
              <a:t>※ SPO </a:t>
            </a:r>
            <a:r>
              <a:rPr kumimoji="0" lang="ja-JP" altLang="en-US" sz="600" dirty="0">
                <a:solidFill>
                  <a:srgbClr val="FF0000"/>
                </a:solidFill>
                <a:latin typeface="Arial" panose="020B0604020202020204" pitchFamily="34" charset="0"/>
              </a:rPr>
              <a:t>には</a:t>
            </a:r>
            <a:r>
              <a:rPr kumimoji="0" lang="en-US" altLang="ja-JP" sz="600" dirty="0">
                <a:solidFill>
                  <a:srgbClr val="FF0000"/>
                </a:solidFill>
                <a:latin typeface="Arial" panose="020B0604020202020204" pitchFamily="34" charset="0"/>
              </a:rPr>
              <a:t> DB</a:t>
            </a:r>
            <a:r>
              <a:rPr kumimoji="0" lang="ja-JP" altLang="en-US" sz="600" dirty="0">
                <a:solidFill>
                  <a:srgbClr val="FF0000"/>
                </a:solidFill>
                <a:latin typeface="Arial" panose="020B0604020202020204" pitchFamily="34" charset="0"/>
              </a:rPr>
              <a:t>に定義された権限グループにないため、権限グループ所属する</a:t>
            </a:r>
            <a:r>
              <a:rPr kumimoji="0" lang="ja-JP" altLang="en-US" sz="600" b="1" u="sng" dirty="0">
                <a:solidFill>
                  <a:srgbClr val="FF0000"/>
                </a:solidFill>
                <a:latin typeface="Arial" panose="020B0604020202020204" pitchFamily="34" charset="0"/>
              </a:rPr>
              <a:t>すべてのユーザ</a:t>
            </a:r>
            <a:r>
              <a:rPr kumimoji="0" lang="ja-JP" altLang="en-US" sz="600" dirty="0">
                <a:solidFill>
                  <a:srgbClr val="FF0000"/>
                </a:solidFill>
                <a:latin typeface="Arial" panose="020B0604020202020204" pitchFamily="34" charset="0"/>
              </a:rPr>
              <a:t>に対して個別権限を付与する</a:t>
            </a:r>
          </a:p>
        </p:txBody>
      </p:sp>
      <p:pic>
        <p:nvPicPr>
          <p:cNvPr id="5" name="図 4">
            <a:extLst>
              <a:ext uri="{FF2B5EF4-FFF2-40B4-BE49-F238E27FC236}">
                <a16:creationId xmlns:a16="http://schemas.microsoft.com/office/drawing/2014/main" id="{0BFE3A5F-4E33-B81C-E1B2-0CD0F7459078}"/>
              </a:ext>
            </a:extLst>
          </p:cNvPr>
          <p:cNvPicPr>
            <a:picLocks noChangeAspect="1"/>
          </p:cNvPicPr>
          <p:nvPr/>
        </p:nvPicPr>
        <p:blipFill>
          <a:blip r:embed="rId5"/>
          <a:stretch>
            <a:fillRect/>
          </a:stretch>
        </p:blipFill>
        <p:spPr>
          <a:xfrm>
            <a:off x="412951" y="2525826"/>
            <a:ext cx="2383990" cy="1299361"/>
          </a:xfrm>
          <a:prstGeom prst="rect">
            <a:avLst/>
          </a:prstGeom>
        </p:spPr>
      </p:pic>
    </p:spTree>
    <p:extLst>
      <p:ext uri="{BB962C8B-B14F-4D97-AF65-F5344CB8AC3E}">
        <p14:creationId xmlns:p14="http://schemas.microsoft.com/office/powerpoint/2010/main" val="765173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要件／ソリューション－検索機能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449688345"/>
              </p:ext>
            </p:extLst>
          </p:nvPr>
        </p:nvGraphicFramePr>
        <p:xfrm>
          <a:off x="453572" y="867273"/>
          <a:ext cx="11284856" cy="543126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313944">
                  <a:extLst>
                    <a:ext uri="{9D8B030D-6E8A-4147-A177-3AD203B41FA5}">
                      <a16:colId xmlns:a16="http://schemas.microsoft.com/office/drawing/2014/main" val="1007415991"/>
                    </a:ext>
                  </a:extLst>
                </a:gridCol>
                <a:gridCol w="137777">
                  <a:extLst>
                    <a:ext uri="{9D8B030D-6E8A-4147-A177-3AD203B41FA5}">
                      <a16:colId xmlns:a16="http://schemas.microsoft.com/office/drawing/2014/main" val="78186435"/>
                    </a:ext>
                  </a:extLst>
                </a:gridCol>
                <a:gridCol w="6093931">
                  <a:extLst>
                    <a:ext uri="{9D8B030D-6E8A-4147-A177-3AD203B41FA5}">
                      <a16:colId xmlns:a16="http://schemas.microsoft.com/office/drawing/2014/main" val="467773725"/>
                    </a:ext>
                  </a:extLst>
                </a:gridCol>
              </a:tblGrid>
              <a:tr h="158935">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47451">
                <a:tc>
                  <a:txBody>
                    <a:bodyPr/>
                    <a:lstStyle/>
                    <a:p>
                      <a:r>
                        <a:rPr lang="ja-JP" altLang="en-US" sz="1100" dirty="0"/>
                        <a:t>仕様書の定型データの検索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gridSpan="2">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solidFill>
                            <a:schemeClr val="tx1"/>
                          </a:solidFill>
                          <a:latin typeface="Arial" panose="020B0604020202020204" pitchFamily="34" charset="0"/>
                        </a:rPr>
                        <a:t>する</a:t>
                      </a:r>
                      <a:r>
                        <a:rPr kumimoji="0" lang="ja-JP" alt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ことによってアクセスコントロールできる</a:t>
                      </a:r>
                      <a:endParaRPr kumimoji="0" lang="ja-JP" altLang="en-US" sz="900" dirty="0">
                        <a:solidFill>
                          <a:schemeClr val="tx1"/>
                        </a:solidFill>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hMerge="1">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47451">
                <a:tc>
                  <a:txBody>
                    <a:bodyPr/>
                    <a:lstStyle/>
                    <a:p>
                      <a:r>
                        <a:rPr lang="ja-JP" altLang="en-US" sz="1100" dirty="0"/>
                        <a:t>仕様書の定型データの権限制限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vMerge="1">
                  <a:txBody>
                    <a:bodyPr/>
                    <a:lstStyle/>
                    <a:p>
                      <a:endParaRPr dirty="0"/>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468050">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仕様書の添付ファイルの内容から検索キーワードを含むファイルを検索し、該当添付ファイルの所有仕様書レコードを画面に表示する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機能を利用で実現できる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64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アクセス権限ありの仕様書（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）の添付ファイルのみはログインユーザの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画面に表示し、承認状態により、編集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閲覧のみが可能とする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の権限チェック仕組みを利用で実現できる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C00000"/>
                          </a:solidFill>
                          <a:latin typeface="Arial" panose="020B0604020202020204" pitchFamily="34" charset="0"/>
                          <a:ea typeface="+mn-ea"/>
                          <a:cs typeface="+mn-cs"/>
                        </a:rPr>
                        <a:t>ログインユーザ</a:t>
                      </a:r>
                      <a:r>
                        <a:rPr kumimoji="0" lang="en-US" altLang="ja-JP" sz="900" kern="1200" dirty="0">
                          <a:solidFill>
                            <a:srgbClr val="C00000"/>
                          </a:solidFill>
                          <a:latin typeface="Arial" panose="020B0604020202020204" pitchFamily="34" charset="0"/>
                          <a:ea typeface="+mn-ea"/>
                          <a:cs typeface="+mn-cs"/>
                        </a:rPr>
                        <a:t>SPO</a:t>
                      </a:r>
                      <a:r>
                        <a:rPr kumimoji="0" lang="ja-JP" altLang="en-US" sz="900" kern="1200" dirty="0">
                          <a:solidFill>
                            <a:srgbClr val="C00000"/>
                          </a:solidFill>
                          <a:latin typeface="Arial" panose="020B0604020202020204" pitchFamily="34" charset="0"/>
                          <a:ea typeface="+mn-ea"/>
                          <a:cs typeface="+mn-cs"/>
                        </a:rPr>
                        <a:t>に読込可能のファイルのみが検索対象（検索時も同様、</a:t>
                      </a:r>
                      <a:r>
                        <a:rPr kumimoji="0" lang="en-US" altLang="ja-JP" sz="900" b="1" kern="1200" dirty="0">
                          <a:solidFill>
                            <a:srgbClr val="C00000"/>
                          </a:solidFill>
                          <a:latin typeface="Arial" panose="020B0604020202020204" pitchFamily="34" charset="0"/>
                          <a:ea typeface="+mn-ea"/>
                          <a:cs typeface="+mn-cs"/>
                        </a:rPr>
                        <a:t>SPO</a:t>
                      </a:r>
                      <a:r>
                        <a:rPr kumimoji="0" lang="ja-JP" altLang="en-US" sz="900" b="1" kern="1200" dirty="0">
                          <a:solidFill>
                            <a:srgbClr val="C00000"/>
                          </a:solidFill>
                          <a:latin typeface="Arial" panose="020B0604020202020204" pitchFamily="34" charset="0"/>
                          <a:ea typeface="+mn-ea"/>
                          <a:cs typeface="+mn-cs"/>
                        </a:rPr>
                        <a:t>の機能を利用</a:t>
                      </a:r>
                      <a:r>
                        <a:rPr kumimoji="0" lang="ja-JP" altLang="en-US" sz="900" kern="1200" dirty="0">
                          <a:solidFill>
                            <a:srgbClr val="C00000"/>
                          </a:solidFill>
                          <a:latin typeface="Arial" panose="020B0604020202020204" pitchFamily="34" charset="0"/>
                          <a:ea typeface="+mn-ea"/>
                          <a:cs typeface="+mn-cs"/>
                        </a:rPr>
                        <a:t>）</a:t>
                      </a:r>
                      <a:endParaRPr kumimoji="0" lang="en-US" altLang="ja-JP" sz="900" kern="1200" dirty="0">
                        <a:solidFill>
                          <a:srgbClr val="C0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時点でファイル毎に設定する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）に公開権限が変更された場合、或いは公開グループにユーザが増減された場合、すでに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済のファイルに対して、関係添付ファイルを権限見直すことで対応</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1687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b="1" dirty="0"/>
                        <a:t>Office 365 </a:t>
                      </a:r>
                      <a:r>
                        <a:rPr lang="ja-JP" altLang="en-US" sz="900" b="1" dirty="0"/>
                        <a:t>シリーズのデータオブジェクト（コネクタ）</a:t>
                      </a:r>
                      <a:r>
                        <a:rPr lang="ja-JP" altLang="en-US" sz="900" dirty="0"/>
                        <a:t>は、</a:t>
                      </a:r>
                      <a:endParaRPr lang="en-US" altLang="ja-JP" sz="900" dirty="0"/>
                    </a:p>
                    <a:p>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solidFill>
                            <a:srgbClr val="FF0000"/>
                          </a:solidFill>
                        </a:rPr>
                        <a:t>Microsoft</a:t>
                      </a:r>
                      <a:r>
                        <a:rPr lang="ja-JP" altLang="en-US" sz="900" b="1" dirty="0">
                          <a:solidFill>
                            <a:srgbClr val="FF0000"/>
                          </a:solidFill>
                        </a:rPr>
                        <a:t> </a:t>
                      </a:r>
                      <a:r>
                        <a:rPr lang="en-US" altLang="ja-JP" sz="900" b="1" dirty="0">
                          <a:solidFill>
                            <a:srgbClr val="FF0000"/>
                          </a:solidFill>
                        </a:rPr>
                        <a:t>Search</a:t>
                      </a:r>
                      <a:r>
                        <a:rPr lang="ja-JP" altLang="en-US" sz="900" b="1" dirty="0">
                          <a:solidFill>
                            <a:srgbClr val="FF0000"/>
                          </a:solidFill>
                        </a:rPr>
                        <a:t>のコネクタが提供されていないため、</a:t>
                      </a:r>
                      <a:r>
                        <a:rPr lang="en-US" altLang="ja-JP" sz="900" b="1" dirty="0">
                          <a:solidFill>
                            <a:srgbClr val="FF0000"/>
                          </a:solidFill>
                        </a:rPr>
                        <a:t>Power Apps</a:t>
                      </a:r>
                      <a:r>
                        <a:rPr lang="ja-JP" altLang="en-US" sz="900" b="1" dirty="0">
                          <a:solidFill>
                            <a:srgbClr val="FF0000"/>
                          </a:solidFill>
                        </a:rPr>
                        <a:t>から直接利用するのは必須。</a:t>
                      </a:r>
                      <a:endParaRPr kumimoji="0" lang="en-US" altLang="ja-JP" sz="900" b="1" kern="1200" dirty="0">
                        <a:solidFill>
                          <a:srgbClr val="FF0000"/>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141709">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7831" y="4241577"/>
            <a:ext cx="3653509" cy="1811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extLst>
              <p:ext uri="{D42A27DB-BD31-4B8C-83A1-F6EECF244321}">
                <p14:modId xmlns:p14="http://schemas.microsoft.com/office/powerpoint/2010/main" val="2676872575"/>
              </p:ext>
            </p:extLst>
          </p:nvPr>
        </p:nvGraphicFramePr>
        <p:xfrm>
          <a:off x="2324608" y="5147529"/>
          <a:ext cx="5161281" cy="983408"/>
        </p:xfrm>
        <a:graphic>
          <a:graphicData uri="http://schemas.openxmlformats.org/drawingml/2006/table">
            <a:tbl>
              <a:tblPr firstRow="1">
                <a:tableStyleId>{35758FB7-9AC5-4552-8A53-C91805E547FA}</a:tableStyleId>
              </a:tblPr>
              <a:tblGrid>
                <a:gridCol w="652467">
                  <a:extLst>
                    <a:ext uri="{9D8B030D-6E8A-4147-A177-3AD203B41FA5}">
                      <a16:colId xmlns:a16="http://schemas.microsoft.com/office/drawing/2014/main" val="2071358957"/>
                    </a:ext>
                  </a:extLst>
                </a:gridCol>
                <a:gridCol w="1579901">
                  <a:extLst>
                    <a:ext uri="{9D8B030D-6E8A-4147-A177-3AD203B41FA5}">
                      <a16:colId xmlns:a16="http://schemas.microsoft.com/office/drawing/2014/main" val="3815825157"/>
                    </a:ext>
                  </a:extLst>
                </a:gridCol>
                <a:gridCol w="960059">
                  <a:extLst>
                    <a:ext uri="{9D8B030D-6E8A-4147-A177-3AD203B41FA5}">
                      <a16:colId xmlns:a16="http://schemas.microsoft.com/office/drawing/2014/main" val="3610100658"/>
                    </a:ext>
                  </a:extLst>
                </a:gridCol>
                <a:gridCol w="1968854">
                  <a:extLst>
                    <a:ext uri="{9D8B030D-6E8A-4147-A177-3AD203B41FA5}">
                      <a16:colId xmlns:a16="http://schemas.microsoft.com/office/drawing/2014/main" val="2805758698"/>
                    </a:ext>
                  </a:extLst>
                </a:gridCol>
              </a:tblGrid>
              <a:tr h="69075">
                <a:tc>
                  <a:txBody>
                    <a:bodyPr/>
                    <a:lstStyle/>
                    <a:p>
                      <a:r>
                        <a:rPr lang="ja-JP" altLang="en-US" sz="600" dirty="0"/>
                        <a:t>コネクタ名</a:t>
                      </a:r>
                    </a:p>
                  </a:txBody>
                  <a:tcPr marL="40112" marR="40112" marT="20056" marB="20056" anchor="ctr"/>
                </a:tc>
                <a:tc>
                  <a:txBody>
                    <a:bodyPr/>
                    <a:lstStyle/>
                    <a:p>
                      <a:r>
                        <a:rPr lang="ja-JP" altLang="en-US" sz="600" dirty="0"/>
                        <a:t>主な役割</a:t>
                      </a:r>
                    </a:p>
                  </a:txBody>
                  <a:tcPr marL="40112" marR="40112" marT="20056" marB="20056" anchor="ctr"/>
                </a:tc>
                <a:tc>
                  <a:txBody>
                    <a:bodyPr/>
                    <a:lstStyle/>
                    <a:p>
                      <a:r>
                        <a:rPr lang="ja-JP" altLang="en-US" sz="600" dirty="0"/>
                        <a:t>データソース</a:t>
                      </a:r>
                    </a:p>
                  </a:txBody>
                  <a:tcPr marL="40112" marR="40112" marT="20056" marB="20056" anchor="ctr"/>
                </a:tc>
                <a:tc>
                  <a:txBody>
                    <a:bodyPr/>
                    <a:lstStyle/>
                    <a:p>
                      <a:r>
                        <a:rPr lang="ja-JP" altLang="en-US" sz="600"/>
                        <a:t>関係性</a:t>
                      </a:r>
                      <a:r>
                        <a:rPr lang="en-US" altLang="ja-JP" sz="600"/>
                        <a:t>/</a:t>
                      </a:r>
                      <a:r>
                        <a:rPr lang="ja-JP" altLang="en-US" sz="600"/>
                        <a:t>共通点</a:t>
                      </a:r>
                    </a:p>
                  </a:txBody>
                  <a:tcPr marL="40112" marR="40112" marT="20056" marB="20056" anchor="ctr"/>
                </a:tc>
                <a:extLst>
                  <a:ext uri="{0D108BD9-81ED-4DB2-BD59-A6C34878D82A}">
                    <a16:rowId xmlns:a16="http://schemas.microsoft.com/office/drawing/2014/main" val="1925658862"/>
                  </a:ext>
                </a:extLst>
              </a:tr>
              <a:tr h="202054">
                <a:tc>
                  <a:txBody>
                    <a:bodyPr/>
                    <a:lstStyle/>
                    <a:p>
                      <a:r>
                        <a:rPr lang="de-DE" sz="600" b="1" dirty="0"/>
                        <a:t>Office 365 Users</a:t>
                      </a:r>
                      <a:endParaRPr lang="de-DE" sz="600" dirty="0"/>
                    </a:p>
                  </a:txBody>
                  <a:tcPr marL="40112" marR="40112" marT="20056" marB="20056" anchor="ctr"/>
                </a:tc>
                <a:tc>
                  <a:txBody>
                    <a:bodyPr/>
                    <a:lstStyle/>
                    <a:p>
                      <a:r>
                        <a:rPr lang="ja-JP" altLang="en-US" sz="600" dirty="0"/>
                        <a:t>組織内のユーザー（名前、メールアドレス、部署など）の</a:t>
                      </a:r>
                      <a:r>
                        <a:rPr lang="ja-JP" altLang="en-US" sz="600" b="1" dirty="0"/>
                        <a:t>読み取り</a:t>
                      </a:r>
                      <a:r>
                        <a:rPr lang="ja-JP" altLang="en-US" sz="600" dirty="0"/>
                        <a:t>。</a:t>
                      </a:r>
                    </a:p>
                  </a:txBody>
                  <a:tcPr marL="40112" marR="40112" marT="20056" marB="20056" anchor="ctr"/>
                </a:tc>
                <a:tc>
                  <a:txBody>
                    <a:bodyPr/>
                    <a:lstStyle/>
                    <a:p>
                      <a:r>
                        <a:rPr lang="de-DE" sz="600" dirty="0"/>
                        <a:t>Microsoft Graph (Azure AD)</a:t>
                      </a:r>
                    </a:p>
                  </a:txBody>
                  <a:tcPr marL="40112" marR="40112" marT="20056" marB="20056" anchor="ctr"/>
                </a:tc>
                <a:tc>
                  <a:txBody>
                    <a:bodyPr/>
                    <a:lstStyle/>
                    <a:p>
                      <a:r>
                        <a:rPr lang="ja-JP" altLang="en-US" sz="600"/>
                        <a:t>ユーザー情報を取得する最も基本的なコネクタ。他の多くのサービスと共通の認証基盤（</a:t>
                      </a:r>
                      <a:r>
                        <a:rPr lang="en-US" altLang="ja-JP" sz="600"/>
                        <a:t>Azure AD</a:t>
                      </a:r>
                      <a:r>
                        <a:rPr lang="ja-JP" altLang="en-US" sz="600"/>
                        <a:t>）を使用します。</a:t>
                      </a:r>
                    </a:p>
                  </a:txBody>
                  <a:tcPr marL="40112" marR="40112" marT="20056" marB="20056" anchor="ctr"/>
                </a:tc>
                <a:extLst>
                  <a:ext uri="{0D108BD9-81ED-4DB2-BD59-A6C34878D82A}">
                    <a16:rowId xmlns:a16="http://schemas.microsoft.com/office/drawing/2014/main" val="3837482820"/>
                  </a:ext>
                </a:extLst>
              </a:tr>
              <a:tr h="202054">
                <a:tc>
                  <a:txBody>
                    <a:bodyPr/>
                    <a:lstStyle/>
                    <a:p>
                      <a:r>
                        <a:rPr lang="de-DE" sz="600" b="1" dirty="0"/>
                        <a:t>Office 365 Outlook</a:t>
                      </a:r>
                      <a:endParaRPr lang="de-DE" sz="600" dirty="0"/>
                    </a:p>
                  </a:txBody>
                  <a:tcPr marL="40112" marR="40112" marT="20056" marB="20056" anchor="ctr"/>
                </a:tc>
                <a:tc>
                  <a:txBody>
                    <a:bodyPr/>
                    <a:lstStyle/>
                    <a:p>
                      <a:r>
                        <a:rPr lang="ja-JP" altLang="en-US" sz="600" dirty="0"/>
                        <a:t>ユーザーの</a:t>
                      </a:r>
                      <a:r>
                        <a:rPr lang="ja-JP" altLang="en-US" sz="600" b="1" dirty="0"/>
                        <a:t>メールボックス、カレンダー</a:t>
                      </a:r>
                      <a:r>
                        <a:rPr lang="ja-JP" altLang="en-US" sz="600" dirty="0"/>
                        <a:t>へのアクセス（メール送信、イベントの読み書き）。</a:t>
                      </a:r>
                    </a:p>
                  </a:txBody>
                  <a:tcPr marL="40112" marR="40112" marT="20056" marB="20056" anchor="ctr"/>
                </a:tc>
                <a:tc>
                  <a:txBody>
                    <a:bodyPr/>
                    <a:lstStyle/>
                    <a:p>
                      <a:r>
                        <a:rPr lang="de-DE" sz="600" dirty="0"/>
                        <a:t>Exchange Online / Microsoft Graph</a:t>
                      </a:r>
                    </a:p>
                  </a:txBody>
                  <a:tcPr marL="40112" marR="40112" marT="20056" marB="20056" anchor="ctr"/>
                </a:tc>
                <a:tc>
                  <a:txBody>
                    <a:bodyPr/>
                    <a:lstStyle/>
                    <a:p>
                      <a:r>
                        <a:rPr lang="ja-JP" altLang="en-US" sz="600" dirty="0"/>
                        <a:t>ユーザー固有のメールやカレンダー操作に特化しています。認証は </a:t>
                      </a:r>
                      <a:r>
                        <a:rPr lang="en-US" altLang="ja-JP" sz="600" dirty="0"/>
                        <a:t>Users </a:t>
                      </a:r>
                      <a:r>
                        <a:rPr lang="ja-JP" altLang="en-US" sz="600" dirty="0"/>
                        <a:t>と同じく </a:t>
                      </a:r>
                      <a:r>
                        <a:rPr lang="en-US" altLang="ja-JP" sz="600" dirty="0"/>
                        <a:t>Microsoft 365 </a:t>
                      </a:r>
                      <a:r>
                        <a:rPr lang="ja-JP" altLang="en-US" sz="600" dirty="0"/>
                        <a:t>ユーザー認証です。</a:t>
                      </a:r>
                    </a:p>
                  </a:txBody>
                  <a:tcPr marL="40112" marR="40112" marT="20056" marB="20056" anchor="ctr"/>
                </a:tc>
                <a:extLst>
                  <a:ext uri="{0D108BD9-81ED-4DB2-BD59-A6C34878D82A}">
                    <a16:rowId xmlns:a16="http://schemas.microsoft.com/office/drawing/2014/main" val="1069455160"/>
                  </a:ext>
                </a:extLst>
              </a:tr>
              <a:tr h="202054">
                <a:tc>
                  <a:txBody>
                    <a:bodyPr/>
                    <a:lstStyle/>
                    <a:p>
                      <a:r>
                        <a:rPr lang="de-DE" sz="600" b="1" dirty="0"/>
                        <a:t>Office 365 Groups</a:t>
                      </a:r>
                      <a:endParaRPr lang="de-DE" sz="600" dirty="0"/>
                    </a:p>
                  </a:txBody>
                  <a:tcPr marL="40112" marR="40112" marT="20056" marB="20056" anchor="ctr"/>
                </a:tc>
                <a:tc>
                  <a:txBody>
                    <a:bodyPr/>
                    <a:lstStyle/>
                    <a:p>
                      <a:r>
                        <a:rPr lang="ja-JP" altLang="en-US" sz="600" dirty="0"/>
                        <a:t>組織内の </a:t>
                      </a:r>
                      <a:r>
                        <a:rPr lang="en-US" altLang="ja-JP" sz="600" b="1" dirty="0"/>
                        <a:t>Microsoft 365 </a:t>
                      </a:r>
                      <a:r>
                        <a:rPr lang="ja-JP" altLang="en-US" sz="600" b="1" dirty="0"/>
                        <a:t>グループ</a:t>
                      </a:r>
                      <a:r>
                        <a:rPr lang="ja-JP" altLang="en-US" sz="600" dirty="0"/>
                        <a:t>の情報取得と管理。</a:t>
                      </a:r>
                    </a:p>
                  </a:txBody>
                  <a:tcPr marL="40112" marR="40112" marT="20056" marB="20056" anchor="ctr"/>
                </a:tc>
                <a:tc>
                  <a:txBody>
                    <a:bodyPr/>
                    <a:lstStyle/>
                    <a:p>
                      <a:r>
                        <a:rPr lang="de-DE" sz="600" dirty="0"/>
                        <a:t>Microsoft Graph</a:t>
                      </a:r>
                    </a:p>
                  </a:txBody>
                  <a:tcPr marL="40112" marR="40112" marT="20056" marB="20056" anchor="ctr"/>
                </a:tc>
                <a:tc>
                  <a:txBody>
                    <a:bodyPr/>
                    <a:lstStyle/>
                    <a:p>
                      <a:r>
                        <a:rPr lang="ja-JP" altLang="en-US" sz="600" dirty="0"/>
                        <a:t>組織構造（グループ単位）の情報にアクセスします。</a:t>
                      </a:r>
                      <a:r>
                        <a:rPr lang="en-US" altLang="ja-JP" sz="600" dirty="0"/>
                        <a:t>Users </a:t>
                      </a:r>
                      <a:r>
                        <a:rPr lang="ja-JP" altLang="en-US" sz="600" dirty="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bl>
          </a:graphicData>
        </a:graphic>
      </p:graphicFrame>
      <p:pic>
        <p:nvPicPr>
          <p:cNvPr id="8" name="図 7">
            <a:extLst>
              <a:ext uri="{FF2B5EF4-FFF2-40B4-BE49-F238E27FC236}">
                <a16:creationId xmlns:a16="http://schemas.microsoft.com/office/drawing/2014/main" id="{AD73975E-A25D-320F-AE73-774135CFE90A}"/>
              </a:ext>
            </a:extLst>
          </p:cNvPr>
          <p:cNvPicPr>
            <a:picLocks noChangeAspect="1"/>
          </p:cNvPicPr>
          <p:nvPr/>
        </p:nvPicPr>
        <p:blipFill>
          <a:blip r:embed="rId6"/>
          <a:stretch>
            <a:fillRect/>
          </a:stretch>
        </p:blipFill>
        <p:spPr>
          <a:xfrm>
            <a:off x="7544523" y="1982070"/>
            <a:ext cx="2187995" cy="598392"/>
          </a:xfrm>
          <a:prstGeom prst="rect">
            <a:avLst/>
          </a:prstGeom>
        </p:spPr>
      </p:pic>
      <p:pic>
        <p:nvPicPr>
          <p:cNvPr id="2050" name="Picture 2" descr="Microsoft Graph を使用してカスタム データを使用して Microsoft Search を拡張する - Microsoft Graph  | Microsoft Learn">
            <a:extLst>
              <a:ext uri="{FF2B5EF4-FFF2-40B4-BE49-F238E27FC236}">
                <a16:creationId xmlns:a16="http://schemas.microsoft.com/office/drawing/2014/main" id="{8D380253-D92F-F37C-C5E8-C19245CF6A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8852" y="1079123"/>
            <a:ext cx="1899739" cy="902947"/>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0B3DE47-6330-5419-3AAF-F17BDAA7F5F7}"/>
              </a:ext>
            </a:extLst>
          </p:cNvPr>
          <p:cNvSpPr txBox="1"/>
          <p:nvPr/>
        </p:nvSpPr>
        <p:spPr>
          <a:xfrm>
            <a:off x="8953220" y="2176835"/>
            <a:ext cx="759900" cy="230832"/>
          </a:xfrm>
          <a:prstGeom prst="rect">
            <a:avLst/>
          </a:prstGeom>
          <a:noFill/>
        </p:spPr>
        <p:txBody>
          <a:bodyPr wrap="square" rtlCol="0">
            <a:spAutoFit/>
          </a:bodyPr>
          <a:lstStyle/>
          <a:p>
            <a:r>
              <a:rPr kumimoji="1" lang="en-US" altLang="ja-JP" sz="900" dirty="0">
                <a:solidFill>
                  <a:srgbClr val="0070C0"/>
                </a:solidFill>
              </a:rPr>
              <a:t>Front end</a:t>
            </a:r>
            <a:endParaRPr kumimoji="1" lang="ja-JP" altLang="en-US" sz="900" dirty="0">
              <a:solidFill>
                <a:srgbClr val="0070C0"/>
              </a:solidFill>
            </a:endParaRPr>
          </a:p>
        </p:txBody>
      </p:sp>
      <p:sp>
        <p:nvSpPr>
          <p:cNvPr id="9" name="テキスト ボックス 8">
            <a:extLst>
              <a:ext uri="{FF2B5EF4-FFF2-40B4-BE49-F238E27FC236}">
                <a16:creationId xmlns:a16="http://schemas.microsoft.com/office/drawing/2014/main" id="{2D91E257-6E96-85A9-59E0-FFF85CF63D75}"/>
              </a:ext>
            </a:extLst>
          </p:cNvPr>
          <p:cNvSpPr txBox="1"/>
          <p:nvPr/>
        </p:nvSpPr>
        <p:spPr>
          <a:xfrm>
            <a:off x="10581440" y="1765078"/>
            <a:ext cx="759900" cy="230832"/>
          </a:xfrm>
          <a:prstGeom prst="rect">
            <a:avLst/>
          </a:prstGeom>
          <a:noFill/>
        </p:spPr>
        <p:txBody>
          <a:bodyPr wrap="square" rtlCol="0">
            <a:spAutoFit/>
          </a:bodyPr>
          <a:lstStyle/>
          <a:p>
            <a:r>
              <a:rPr kumimoji="1" lang="en-US" altLang="ja-JP" sz="900" dirty="0">
                <a:solidFill>
                  <a:srgbClr val="0070C0"/>
                </a:solidFill>
              </a:rPr>
              <a:t>Back End</a:t>
            </a:r>
            <a:endParaRPr kumimoji="1" lang="ja-JP" altLang="en-US" sz="900" dirty="0">
              <a:solidFill>
                <a:srgbClr val="0070C0"/>
              </a:solidFill>
            </a:endParaRPr>
          </a:p>
        </p:txBody>
      </p:sp>
      <p:sp>
        <p:nvSpPr>
          <p:cNvPr id="10" name="矢印: 上カーブ 9">
            <a:extLst>
              <a:ext uri="{FF2B5EF4-FFF2-40B4-BE49-F238E27FC236}">
                <a16:creationId xmlns:a16="http://schemas.microsoft.com/office/drawing/2014/main" id="{83EA7370-CCA8-6FED-C1B1-44C0CF79D4A0}"/>
              </a:ext>
            </a:extLst>
          </p:cNvPr>
          <p:cNvSpPr/>
          <p:nvPr/>
        </p:nvSpPr>
        <p:spPr>
          <a:xfrm rot="20002720">
            <a:off x="9776085" y="2075807"/>
            <a:ext cx="690888" cy="269369"/>
          </a:xfrm>
          <a:prstGeom prst="curvedUpArrow">
            <a:avLst/>
          </a:prstGeom>
          <a:solidFill>
            <a:schemeClr val="accent3">
              <a:alpha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925970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043424529"/>
              </p:ext>
            </p:extLst>
          </p:nvPr>
        </p:nvGraphicFramePr>
        <p:xfrm>
          <a:off x="414336" y="1068576"/>
          <a:ext cx="11363328" cy="5255221"/>
        </p:xfrm>
        <a:graphic>
          <a:graphicData uri="http://schemas.openxmlformats.org/drawingml/2006/table">
            <a:tbl>
              <a:tblPr firstRow="1">
                <a:tableStyleId>{2D5ABB26-0587-4C30-8999-92F81FD0307C}</a:tableStyleId>
              </a:tblPr>
              <a:tblGrid>
                <a:gridCol w="1987167">
                  <a:extLst>
                    <a:ext uri="{9D8B030D-6E8A-4147-A177-3AD203B41FA5}">
                      <a16:colId xmlns:a16="http://schemas.microsoft.com/office/drawing/2014/main" val="307087368"/>
                    </a:ext>
                  </a:extLst>
                </a:gridCol>
                <a:gridCol w="4600266">
                  <a:extLst>
                    <a:ext uri="{9D8B030D-6E8A-4147-A177-3AD203B41FA5}">
                      <a16:colId xmlns:a16="http://schemas.microsoft.com/office/drawing/2014/main" val="1007415991"/>
                    </a:ext>
                  </a:extLst>
                </a:gridCol>
                <a:gridCol w="4775895">
                  <a:extLst>
                    <a:ext uri="{9D8B030D-6E8A-4147-A177-3AD203B41FA5}">
                      <a16:colId xmlns:a16="http://schemas.microsoft.com/office/drawing/2014/main" val="467773725"/>
                    </a:ext>
                  </a:extLst>
                </a:gridCol>
              </a:tblGrid>
              <a:tr h="26133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980315">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solidFill>
                            <a:schemeClr val="tx1"/>
                          </a:solidFill>
                        </a:rPr>
                        <a:t>で実現できる</a:t>
                      </a:r>
                      <a:endParaRPr lang="en-US" altLang="ja-JP" sz="1000" b="1"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solidFill>
                            <a:schemeClr val="tx1"/>
                          </a:solidFill>
                          <a:latin typeface="Arial" panose="020B0604020202020204" pitchFamily="34" charset="0"/>
                        </a:rPr>
                        <a:t>Trigger: PowerApps</a:t>
                      </a:r>
                      <a:r>
                        <a:rPr kumimoji="0" lang="zh-CN" altLang="zh-CN" sz="900" dirty="0">
                          <a:latin typeface="Arial" panose="020B0604020202020204" pitchFamily="34" charset="0"/>
                        </a:rPr>
                        <a:t>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a:t>
                      </a:r>
                      <a:r>
                        <a:rPr kumimoji="0" lang="en-US" altLang="ja-JP" sz="900" dirty="0">
                          <a:latin typeface="Arial" panose="020B0604020202020204" pitchFamily="34" charset="0"/>
                        </a:rPr>
                        <a:t>ZIP</a:t>
                      </a:r>
                      <a:r>
                        <a:rPr kumimoji="0" lang="zh-CN" altLang="zh-CN" sz="900" dirty="0">
                          <a:latin typeface="Arial" panose="020B0604020202020204" pitchFamily="34" charset="0"/>
                        </a:rPr>
                        <a:t>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zh-CN" altLang="zh-CN" sz="900" dirty="0">
                          <a:latin typeface="Arial" panose="020B0604020202020204" pitchFamily="34" charset="0"/>
                        </a:rPr>
                        <a:t>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solidFill>
                            <a:schemeClr val="tx1"/>
                          </a:solidFill>
                        </a:rPr>
                        <a:t>PowerApps</a:t>
                      </a:r>
                      <a:r>
                        <a:rPr lang="ja-JP" altLang="en-US" sz="1000" b="1" dirty="0">
                          <a:solidFill>
                            <a:schemeClr val="tx1"/>
                          </a:solidFill>
                        </a:rPr>
                        <a:t> にて実現できる</a:t>
                      </a:r>
                      <a:r>
                        <a:rPr lang="ja-JP" altLang="en-US" sz="1000" dirty="0">
                          <a:solidFill>
                            <a:schemeClr val="tx1"/>
                          </a:solidFill>
                        </a:rPr>
                        <a:t>。詳細は下記：</a:t>
                      </a:r>
                      <a:endParaRPr lang="en-US" altLang="ja-JP" sz="1000" dirty="0">
                        <a:solidFill>
                          <a:schemeClr val="tx1"/>
                        </a:solidFill>
                      </a:endParaRPr>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から添付ファイル情報取得</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solidFill>
                            <a:schemeClr val="tx1"/>
                          </a:solidFill>
                          <a:latin typeface="Yu Gothic UI" panose="020B0500000000000000" pitchFamily="50" charset="-128"/>
                          <a:ea typeface="Yu Gothic UI" panose="020B0500000000000000" pitchFamily="50" charset="-128"/>
                        </a:rPr>
                        <a:t>Web </a:t>
                      </a:r>
                      <a:r>
                        <a:rPr lang="ja-JP" altLang="en-US" sz="900" dirty="0">
                          <a:solidFill>
                            <a:schemeClr val="tx1"/>
                          </a:solidFill>
                          <a:latin typeface="Yu Gothic UI" panose="020B0500000000000000" pitchFamily="50" charset="-128"/>
                          <a:ea typeface="Yu Gothic UI" panose="020B0500000000000000" pitchFamily="50" charset="-128"/>
                        </a:rPr>
                        <a:t>ページを埋め込むの</a:t>
                      </a:r>
                      <a:r>
                        <a:rPr lang="en-US" altLang="ja-JP" sz="900" dirty="0">
                          <a:solidFill>
                            <a:schemeClr val="tx1"/>
                          </a:solidFill>
                          <a:latin typeface="Yu Gothic UI" panose="020B0500000000000000" pitchFamily="50" charset="-128"/>
                          <a:ea typeface="Yu Gothic UI" panose="020B0500000000000000" pitchFamily="50" charset="-128"/>
                        </a:rPr>
                        <a:t>HTML text </a:t>
                      </a:r>
                      <a:r>
                        <a:rPr lang="ja-JP" altLang="en-US" sz="900" dirty="0">
                          <a:solidFill>
                            <a:schemeClr val="tx1"/>
                          </a:solidFill>
                          <a:latin typeface="Yu Gothic UI" panose="020B0500000000000000" pitchFamily="50" charset="-128"/>
                          <a:ea typeface="Yu Gothic UI" panose="020B0500000000000000" pitchFamily="50" charset="-128"/>
                        </a:rPr>
                        <a:t>コントロール（または </a:t>
                      </a:r>
                      <a:r>
                        <a:rPr lang="en-US" altLang="ja-JP" sz="900" dirty="0">
                          <a:solidFill>
                            <a:schemeClr val="tx1"/>
                          </a:solidFill>
                          <a:latin typeface="Yu Gothic UI" panose="020B0500000000000000" pitchFamily="50" charset="-128"/>
                          <a:ea typeface="Yu Gothic UI" panose="020B0500000000000000" pitchFamily="50" charset="-128"/>
                        </a:rPr>
                        <a:t>WebView </a:t>
                      </a:r>
                      <a:r>
                        <a:rPr lang="ja-JP" altLang="en-US" sz="900" dirty="0">
                          <a:solidFill>
                            <a:schemeClr val="tx1"/>
                          </a:solidFill>
                          <a:latin typeface="Yu Gothic UI" panose="020B0500000000000000" pitchFamily="50" charset="-128"/>
                          <a:ea typeface="Yu Gothic UI" panose="020B0500000000000000" pitchFamily="50" charset="-128"/>
                        </a:rPr>
                        <a:t>コントロール）により</a:t>
                      </a:r>
                      <a:r>
                        <a:rPr lang="en-US" altLang="ja-JP" sz="900" dirty="0">
                          <a:solidFill>
                            <a:schemeClr val="tx1"/>
                          </a:solidFill>
                          <a:latin typeface="Yu Gothic UI" panose="020B0500000000000000" pitchFamily="50" charset="-128"/>
                          <a:ea typeface="Yu Gothic UI" panose="020B0500000000000000" pitchFamily="50" charset="-128"/>
                        </a:rPr>
                        <a:t>Java Script</a:t>
                      </a:r>
                      <a:r>
                        <a:rPr lang="ja-JP" altLang="en-US" sz="900" dirty="0">
                          <a:solidFill>
                            <a:schemeClr val="tx1"/>
                          </a:solidFill>
                          <a:latin typeface="Yu Gothic UI" panose="020B0500000000000000" pitchFamily="50" charset="-128"/>
                          <a:ea typeface="Yu Gothic UI" panose="020B0500000000000000" pitchFamily="50" charset="-128"/>
                        </a:rPr>
                        <a:t>を導入</a:t>
                      </a:r>
                      <a:endParaRPr lang="en-US" altLang="ja-JP" sz="900" dirty="0">
                        <a:solidFill>
                          <a:schemeClr val="tx1"/>
                        </a:solidFill>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solidFill>
                            <a:schemeClr val="tx1"/>
                          </a:solidFill>
                          <a:latin typeface="Arial" panose="020B0604020202020204" pitchFamily="34" charset="0"/>
                        </a:rPr>
                        <a:t>上記</a:t>
                      </a:r>
                      <a:r>
                        <a:rPr kumimoji="0" lang="en-US" altLang="ja-JP" sz="900" dirty="0">
                          <a:solidFill>
                            <a:schemeClr val="tx1"/>
                          </a:solidFill>
                          <a:latin typeface="Arial" panose="020B0604020202020204" pitchFamily="34" charset="0"/>
                        </a:rPr>
                        <a:t>No.3</a:t>
                      </a:r>
                      <a:r>
                        <a:rPr kumimoji="0" lang="ja-JP" altLang="en-US" sz="900" dirty="0">
                          <a:solidFill>
                            <a:schemeClr val="tx1"/>
                          </a:solidFill>
                          <a:latin typeface="Arial" panose="020B0604020202020204" pitchFamily="34" charset="0"/>
                        </a:rPr>
                        <a:t>で導入された</a:t>
                      </a:r>
                      <a:r>
                        <a:rPr kumimoji="0" lang="en-US" altLang="ja-JP" sz="900" dirty="0">
                          <a:solidFill>
                            <a:schemeClr val="tx1"/>
                          </a:solidFill>
                          <a:latin typeface="Arial" panose="020B0604020202020204" pitchFamily="34" charset="0"/>
                        </a:rPr>
                        <a:t>JavaScript</a:t>
                      </a:r>
                      <a:r>
                        <a:rPr kumimoji="0" lang="ja-JP" altLang="en-US" sz="900" dirty="0">
                          <a:solidFill>
                            <a:schemeClr val="tx1"/>
                          </a:solidFill>
                          <a:latin typeface="Arial" panose="020B0604020202020204" pitchFamily="34" charset="0"/>
                        </a:rPr>
                        <a:t>を利用し、</a:t>
                      </a:r>
                      <a:r>
                        <a:rPr kumimoji="0" lang="en-US" altLang="ja-JP" sz="900" dirty="0">
                          <a:solidFill>
                            <a:schemeClr val="tx1"/>
                          </a:solidFill>
                          <a:latin typeface="Arial" panose="020B0604020202020204" pitchFamily="34" charset="0"/>
                        </a:rPr>
                        <a:t>No.1</a:t>
                      </a:r>
                      <a:r>
                        <a:rPr kumimoji="0" lang="ja-JP" altLang="en-US" sz="900" dirty="0">
                          <a:solidFill>
                            <a:schemeClr val="tx1"/>
                          </a:solidFill>
                          <a:latin typeface="Arial" panose="020B0604020202020204" pitchFamily="34" charset="0"/>
                        </a:rPr>
                        <a:t>の添付添付ファイルを</a:t>
                      </a:r>
                      <a:r>
                        <a:rPr kumimoji="0" lang="en-US" altLang="ja-JP" sz="900" dirty="0">
                          <a:solidFill>
                            <a:schemeClr val="tx1"/>
                          </a:solidFill>
                          <a:latin typeface="Arial" panose="020B0604020202020204" pitchFamily="34" charset="0"/>
                        </a:rPr>
                        <a:t>Local Directory</a:t>
                      </a:r>
                      <a:r>
                        <a:rPr kumimoji="0" lang="ja-JP" altLang="en-US" sz="900" dirty="0">
                          <a:solidFill>
                            <a:schemeClr val="tx1"/>
                          </a:solidFill>
                          <a:latin typeface="Arial" panose="020B0604020202020204" pitchFamily="34" charset="0"/>
                        </a:rPr>
                        <a:t>に保存する（</a:t>
                      </a:r>
                      <a:r>
                        <a:rPr kumimoji="0" lang="en-US" altLang="ja-JP" sz="900" dirty="0">
                          <a:solidFill>
                            <a:schemeClr val="tx1"/>
                          </a:solidFill>
                          <a:latin typeface="Arial" panose="020B0604020202020204" pitchFamily="34" charset="0"/>
                        </a:rPr>
                        <a:t>JavaScript </a:t>
                      </a:r>
                      <a:r>
                        <a:rPr kumimoji="0" lang="ja-JP" altLang="en-US" sz="900" dirty="0">
                          <a:solidFill>
                            <a:schemeClr val="tx1"/>
                          </a:solidFill>
                          <a:latin typeface="Arial" panose="020B0604020202020204" pitchFamily="34" charset="0"/>
                        </a:rPr>
                        <a:t>によりの</a:t>
                      </a:r>
                      <a:r>
                        <a:rPr kumimoji="0" lang="en-US" altLang="ja-JP" sz="900" dirty="0">
                          <a:solidFill>
                            <a:schemeClr val="tx1"/>
                          </a:solidFill>
                          <a:latin typeface="Arial" panose="020B0604020202020204" pitchFamily="34" charset="0"/>
                        </a:rPr>
                        <a:t>Local File System</a:t>
                      </a:r>
                      <a:r>
                        <a:rPr kumimoji="0" lang="ja-JP" altLang="en-US" sz="900" dirty="0">
                          <a:solidFill>
                            <a:schemeClr val="tx1"/>
                          </a:solidFill>
                          <a:latin typeface="Arial" panose="020B0604020202020204" pitchFamily="34" charset="0"/>
                        </a:rPr>
                        <a:t>アクセスすための</a:t>
                      </a:r>
                      <a:r>
                        <a:rPr kumimoji="0" lang="en-US" altLang="ja-JP" sz="900" dirty="0">
                          <a:solidFill>
                            <a:schemeClr val="tx1"/>
                          </a:solidFill>
                          <a:latin typeface="Arial" panose="020B0604020202020204" pitchFamily="34" charset="0"/>
                        </a:rPr>
                        <a:t>Security</a:t>
                      </a:r>
                      <a:r>
                        <a:rPr kumimoji="0" lang="ja-JP" altLang="en-US" sz="900" dirty="0">
                          <a:solidFill>
                            <a:schemeClr val="tx1"/>
                          </a:solidFill>
                          <a:latin typeface="Arial" panose="020B0604020202020204" pitchFamily="34" charset="0"/>
                        </a:rPr>
                        <a:t>設定が必要）</a:t>
                      </a:r>
                      <a:endParaRPr kumimoji="0" lang="en-US" altLang="zh-CN" sz="900" dirty="0">
                        <a:solidFill>
                          <a:schemeClr val="tx1"/>
                        </a:solidFill>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solidFill>
                            <a:schemeClr val="tx1"/>
                          </a:solidFill>
                          <a:latin typeface="Arial" panose="020B0604020202020204" pitchFamily="34" charset="0"/>
                        </a:rPr>
                        <a:t>※</a:t>
                      </a:r>
                      <a:r>
                        <a:rPr kumimoji="0" lang="ja-JP" altLang="en-US" sz="900" dirty="0">
                          <a:solidFill>
                            <a:schemeClr val="tx1"/>
                          </a:solidFill>
                          <a:latin typeface="Arial" panose="020B0604020202020204" pitchFamily="34" charset="0"/>
                        </a:rPr>
                        <a:t>　</a:t>
                      </a:r>
                      <a:r>
                        <a:rPr kumimoji="0" lang="en-US" altLang="ja-JP" sz="900" dirty="0">
                          <a:solidFill>
                            <a:schemeClr val="tx1"/>
                          </a:solidFill>
                          <a:latin typeface="Arial" panose="020B0604020202020204" pitchFamily="34" charset="0"/>
                        </a:rPr>
                        <a:t>No.4</a:t>
                      </a:r>
                      <a:r>
                        <a:rPr kumimoji="0" lang="ja-JP" altLang="en-US" sz="900" dirty="0">
                          <a:solidFill>
                            <a:schemeClr val="tx1"/>
                          </a:solidFill>
                          <a:latin typeface="Arial" panose="020B0604020202020204" pitchFamily="34" charset="0"/>
                        </a:rPr>
                        <a:t>のファイルの</a:t>
                      </a:r>
                      <a:r>
                        <a:rPr kumimoji="0" lang="zh-CN" altLang="zh-CN" sz="900" dirty="0">
                          <a:solidFill>
                            <a:schemeClr val="tx1"/>
                          </a:solidFill>
                          <a:latin typeface="Arial" panose="020B0604020202020204" pitchFamily="34" charset="0"/>
                        </a:rPr>
                        <a:t>保存先</a:t>
                      </a:r>
                      <a:r>
                        <a:rPr kumimoji="0" lang="ja-JP" altLang="en-US" sz="900" dirty="0">
                          <a:solidFill>
                            <a:schemeClr val="tx1"/>
                          </a:solidFill>
                          <a:latin typeface="Arial" panose="020B0604020202020204" pitchFamily="34" charset="0"/>
                        </a:rPr>
                        <a:t>取得は複数ファイルでも一回のみ</a:t>
                      </a:r>
                      <a:endParaRPr kumimoji="0" lang="en-US" altLang="ja-JP" sz="900"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solidFill>
                            <a:schemeClr val="tx1"/>
                          </a:solidFill>
                          <a:latin typeface="Arial" panose="020B0604020202020204" pitchFamily="34" charset="0"/>
                        </a:rPr>
                        <a:t>前提：</a:t>
                      </a:r>
                      <a:endParaRPr kumimoji="0" lang="en-US" altLang="ja-JP" sz="900" b="1"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solidFill>
                            <a:schemeClr val="tx1"/>
                          </a:solidFill>
                          <a:latin typeface="Arial" panose="020B0604020202020204" pitchFamily="34" charset="0"/>
                        </a:rPr>
                        <a:t>　社内標準ブラウザ</a:t>
                      </a:r>
                      <a:r>
                        <a:rPr kumimoji="0" lang="en-US" altLang="zh-CN" sz="900" dirty="0">
                          <a:solidFill>
                            <a:schemeClr val="tx1"/>
                          </a:solidFill>
                          <a:latin typeface="Arial" panose="020B0604020202020204" pitchFamily="34" charset="0"/>
                        </a:rPr>
                        <a:t>Chrome</a:t>
                      </a:r>
                      <a:r>
                        <a:rPr kumimoji="0" lang="ja-JP" altLang="en-US" sz="900" dirty="0">
                          <a:solidFill>
                            <a:schemeClr val="tx1"/>
                          </a:solidFill>
                          <a:latin typeface="Arial" panose="020B0604020202020204" pitchFamily="34" charset="0"/>
                        </a:rPr>
                        <a:t>に、</a:t>
                      </a:r>
                      <a:r>
                        <a:rPr kumimoji="0" lang="en-US" altLang="ja-JP" sz="900" dirty="0">
                          <a:solidFill>
                            <a:schemeClr val="tx1"/>
                          </a:solidFill>
                          <a:latin typeface="Arial" panose="020B0604020202020204" pitchFamily="34" charset="0"/>
                        </a:rPr>
                        <a:t>Java Script</a:t>
                      </a:r>
                      <a:r>
                        <a:rPr kumimoji="0" lang="ja-JP" altLang="en-US" sz="900" dirty="0">
                          <a:solidFill>
                            <a:schemeClr val="tx1"/>
                          </a:solidFill>
                          <a:latin typeface="Arial" panose="020B0604020202020204" pitchFamily="34" charset="0"/>
                        </a:rPr>
                        <a:t>はローカルディレクトリに</a:t>
                      </a:r>
                      <a:endParaRPr kumimoji="0" lang="en-US" altLang="ja-JP" sz="900" dirty="0">
                        <a:solidFill>
                          <a:schemeClr val="tx1"/>
                        </a:solidFill>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solidFill>
                            <a:schemeClr val="tx1"/>
                          </a:solidFill>
                          <a:latin typeface="Arial" panose="020B0604020202020204" pitchFamily="34" charset="0"/>
                        </a:rPr>
                        <a:t>　書出す、読込権限を付与する</a:t>
                      </a:r>
                      <a:endParaRPr kumimoji="0" lang="zh-CN" altLang="zh-CN" sz="900" dirty="0">
                        <a:solidFill>
                          <a:schemeClr val="tx1"/>
                        </a:solidFill>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89817">
                <a:tc>
                  <a:txBody>
                    <a:bodyPr/>
                    <a:lstStyle/>
                    <a:p>
                      <a:r>
                        <a:rPr lang="ja-JP" altLang="en-US" sz="1100" dirty="0"/>
                        <a:t>複数添付ファイル纏めて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44557">
                <a:tc>
                  <a:txBody>
                    <a:bodyPr/>
                    <a:lstStyle/>
                    <a:p>
                      <a:r>
                        <a:rPr lang="ja-JP" altLang="en-US" sz="1100" dirty="0"/>
                        <a:t>複数添付ファイル一括個別ファイルとしてダウンロード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下記が論理的にできる（</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33008">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746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確実実現</a:t>
                      </a:r>
                      <a:r>
                        <a:rPr kumimoji="0" lang="ja-JP" altLang="en-US" sz="900" kern="1200" dirty="0">
                          <a:solidFill>
                            <a:srgbClr val="FF0000"/>
                          </a:solidFill>
                          <a:latin typeface="Arial" panose="020B0604020202020204" pitchFamily="34" charset="0"/>
                          <a:ea typeface="+mn-ea"/>
                          <a:cs typeface="+mn-cs"/>
                        </a:rPr>
                        <a:t>できる</a:t>
                      </a:r>
                      <a:r>
                        <a:rPr kumimoji="0" lang="ja-JP" altLang="en-US" sz="900" kern="1200" dirty="0">
                          <a:solidFill>
                            <a:schemeClr val="tx1"/>
                          </a:solidFill>
                          <a:latin typeface="Arial" panose="020B0604020202020204" pitchFamily="34" charset="0"/>
                          <a:ea typeface="+mn-ea"/>
                          <a:cs typeface="+mn-cs"/>
                        </a:rPr>
                        <a:t>（実績あり）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4715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時、複数</a:t>
                      </a:r>
                      <a:r>
                        <a:rPr kumimoji="0" lang="en-US" altLang="ja-JP" sz="900" kern="1200" dirty="0">
                          <a:solidFill>
                            <a:schemeClr val="tx1"/>
                          </a:solidFill>
                          <a:latin typeface="Arial" panose="020B0604020202020204" pitchFamily="34" charset="0"/>
                          <a:ea typeface="+mn-ea"/>
                          <a:cs typeface="+mn-cs"/>
                        </a:rPr>
                        <a:t>Office/Pdf</a:t>
                      </a:r>
                      <a:r>
                        <a:rPr kumimoji="0" lang="ja-JP" altLang="en-US" sz="900" kern="1200" dirty="0">
                          <a:solidFill>
                            <a:schemeClr val="tx1"/>
                          </a:solidFill>
                          <a:latin typeface="Arial" panose="020B0604020202020204" pitchFamily="34" charset="0"/>
                          <a:ea typeface="+mn-ea"/>
                          <a:cs typeface="+mn-cs"/>
                        </a:rPr>
                        <a:t>ファイルを</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したが、ダウンロード時、一つ</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ファイルとする。ユーザは添付ファイルを</a:t>
                      </a:r>
                      <a:r>
                        <a:rPr kumimoji="0" lang="en-US" altLang="ja-JP" sz="900" kern="1200" dirty="0">
                          <a:solidFill>
                            <a:schemeClr val="tx1"/>
                          </a:solidFill>
                          <a:latin typeface="Arial" panose="020B0604020202020204" pitchFamily="34" charset="0"/>
                          <a:ea typeface="+mn-ea"/>
                          <a:cs typeface="+mn-cs"/>
                        </a:rPr>
                        <a:t>Local</a:t>
                      </a:r>
                      <a:r>
                        <a:rPr kumimoji="0" lang="ja-JP" altLang="en-US" sz="900" kern="1200" dirty="0">
                          <a:solidFill>
                            <a:schemeClr val="tx1"/>
                          </a:solidFill>
                          <a:latin typeface="Arial" panose="020B0604020202020204" pitchFamily="34" charset="0"/>
                          <a:ea typeface="+mn-ea"/>
                          <a:cs typeface="+mn-cs"/>
                        </a:rPr>
                        <a:t>で確認するときに、</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を展開してから確認しないといけない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245488" y="3439437"/>
            <a:ext cx="2668824" cy="790866"/>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t>一括ダウンロード機能の要件のポイントは複数ファイル対応であり、前回の提案より、向上案も併せて提示します。</a:t>
            </a:r>
          </a:p>
        </p:txBody>
      </p:sp>
      <p:pic>
        <p:nvPicPr>
          <p:cNvPr id="5" name="図 4">
            <a:extLst>
              <a:ext uri="{FF2B5EF4-FFF2-40B4-BE49-F238E27FC236}">
                <a16:creationId xmlns:a16="http://schemas.microsoft.com/office/drawing/2014/main" id="{1789387A-77C1-1A06-2D60-A7A9E32FA611}"/>
              </a:ext>
            </a:extLst>
          </p:cNvPr>
          <p:cNvPicPr>
            <a:picLocks noChangeAspect="1"/>
          </p:cNvPicPr>
          <p:nvPr/>
        </p:nvPicPr>
        <p:blipFill>
          <a:blip r:embed="rId4"/>
          <a:stretch>
            <a:fillRect/>
          </a:stretch>
        </p:blipFill>
        <p:spPr>
          <a:xfrm>
            <a:off x="10774680" y="2343708"/>
            <a:ext cx="786830" cy="2026459"/>
          </a:xfrm>
          <a:prstGeom prst="rect">
            <a:avLst/>
          </a:prstGeom>
        </p:spPr>
      </p:pic>
      <p:sp>
        <p:nvSpPr>
          <p:cNvPr id="6" name="四角形: 角を丸くする 5">
            <a:extLst>
              <a:ext uri="{FF2B5EF4-FFF2-40B4-BE49-F238E27FC236}">
                <a16:creationId xmlns:a16="http://schemas.microsoft.com/office/drawing/2014/main" id="{08F1ABC6-D6DE-2BA1-DFB8-3DB9CFEA88CF}"/>
              </a:ext>
            </a:extLst>
          </p:cNvPr>
          <p:cNvSpPr/>
          <p:nvPr/>
        </p:nvSpPr>
        <p:spPr>
          <a:xfrm>
            <a:off x="10744200" y="3439437"/>
            <a:ext cx="846034" cy="128186"/>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0189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要件／ソリューション－ユーザ別の属性管理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3416849515"/>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solidFill>
                            <a:schemeClr val="tx1"/>
                          </a:solidFill>
                        </a:rPr>
                        <a:t>Grid</a:t>
                      </a:r>
                      <a:r>
                        <a:rPr lang="ja-JP" altLang="en-US" sz="900" dirty="0">
                          <a:solidFill>
                            <a:schemeClr val="tx1"/>
                          </a:solidFill>
                        </a:rPr>
                        <a:t>形式の列の表示／非表示</a:t>
                      </a:r>
                      <a:r>
                        <a:rPr lang="zh-CN" altLang="en-US" sz="900" dirty="0">
                          <a:solidFill>
                            <a:schemeClr val="tx1"/>
                          </a:solidFill>
                        </a:rPr>
                        <a:t>，</a:t>
                      </a:r>
                      <a:r>
                        <a:rPr lang="ja-JP" altLang="en-US" sz="900" dirty="0">
                          <a:solidFill>
                            <a:schemeClr val="tx1"/>
                          </a:solidFill>
                        </a:rPr>
                        <a:t>表示順、幅情報が設定することで実現できる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endParaRPr lang="en-US" altLang="ja-JP" sz="900" dirty="0"/>
                    </a:p>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solidFill>
                            <a:schemeClr val="tx1"/>
                          </a:solidFill>
                        </a:rPr>
                        <a:t>ユーザは画面</a:t>
                      </a:r>
                      <a:r>
                        <a:rPr lang="en-US" altLang="ja-JP" sz="900" dirty="0">
                          <a:solidFill>
                            <a:schemeClr val="tx1"/>
                          </a:solidFill>
                        </a:rPr>
                        <a:t>Grid</a:t>
                      </a:r>
                      <a:r>
                        <a:rPr lang="ja-JP" altLang="en-US" sz="900" dirty="0">
                          <a:solidFill>
                            <a:schemeClr val="tx1"/>
                          </a:solidFill>
                        </a:rPr>
                        <a:t>毎に独自設定することで実現できる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が膨大化し、永続化データの膨大化だけではなく、該当データをサクセスするによりのパフォーマンス低下恐れがある。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398206" y="2306320"/>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01931" y="682546"/>
            <a:ext cx="10868248" cy="584775"/>
          </a:xfrm>
          <a:prstGeom prst="rect">
            <a:avLst/>
          </a:prstGeom>
          <a:noFill/>
        </p:spPr>
        <p:txBody>
          <a:bodyPr wrap="square" rtlCol="0">
            <a:spAutoFit/>
          </a:bodyPr>
          <a:lstStyle/>
          <a:p>
            <a:r>
              <a:rPr kumimoji="1" lang="ja-JP" altLang="en-US" sz="1600" dirty="0">
                <a:solidFill>
                  <a:srgbClr val="FF0000"/>
                </a:solidFill>
              </a:rPr>
              <a:t>ユーザ別の属性管理は実現可能であり、パフォーマンス低下及び</a:t>
            </a:r>
            <a:r>
              <a:rPr lang="ja-JP" altLang="en-US" sz="1600" dirty="0">
                <a:solidFill>
                  <a:srgbClr val="FF0000"/>
                </a:solidFill>
              </a:rPr>
              <a:t>開発</a:t>
            </a:r>
            <a:r>
              <a:rPr kumimoji="1" lang="ja-JP" altLang="en-US" sz="1600" dirty="0">
                <a:solidFill>
                  <a:srgbClr val="FF0000"/>
                </a:solidFill>
              </a:rPr>
              <a:t>コスト増、ユーザの管理作業増につながる恐れがあり、必須でなければ、推奨しません。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要件／ソリューション－非機能要件</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1573392209"/>
              </p:ext>
            </p:extLst>
          </p:nvPr>
        </p:nvGraphicFramePr>
        <p:xfrm>
          <a:off x="414336" y="890751"/>
          <a:ext cx="11284857" cy="5428233"/>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288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2273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54312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0408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660022">
                <a:tc>
                  <a:txBody>
                    <a:bodyPr/>
                    <a:lstStyle/>
                    <a:p>
                      <a:r>
                        <a:rPr lang="en-US" altLang="ja-JP" sz="1050" dirty="0"/>
                        <a:t>HA</a:t>
                      </a:r>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データはすべてのレプリカに同時にコミットされるため、**非常に低いレイテンシー（待ち時間）**で高い可用性を実現します。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0408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0408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361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負荷分散</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kern="1200" dirty="0">
                        <a:solidFill>
                          <a:schemeClr val="tx1"/>
                        </a:solidFill>
                        <a:latin typeface="+mn-lt"/>
                        <a:ea typeface="+mn-ea"/>
                        <a:cs typeface="+mn-cs"/>
                      </a:endParaRPr>
                    </a:p>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a:t>
                      </a:r>
                      <a:r>
                        <a:rPr kumimoji="0" lang="ja-JP" altLang="en-US" sz="1000" dirty="0">
                          <a:latin typeface="Arial" panose="020B0604020202020204" pitchFamily="34" charset="0"/>
                        </a:rPr>
                        <a:t>は事前に</a:t>
                      </a:r>
                      <a:r>
                        <a:rPr kumimoji="0" lang="en-US" altLang="ja-JP" sz="1000" dirty="0">
                          <a:latin typeface="Arial" panose="020B0604020202020204" pitchFamily="34" charset="0"/>
                        </a:rPr>
                        <a:t>Facility</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graphicFrame>
        <p:nvGraphicFramePr>
          <p:cNvPr id="4" name="表 3">
            <a:extLst>
              <a:ext uri="{FF2B5EF4-FFF2-40B4-BE49-F238E27FC236}">
                <a16:creationId xmlns:a16="http://schemas.microsoft.com/office/drawing/2014/main" id="{FE571A1C-091B-BAC0-2C0A-3976BE308B16}"/>
              </a:ext>
            </a:extLst>
          </p:cNvPr>
          <p:cNvGraphicFramePr>
            <a:graphicFrameLocks noGrp="1"/>
          </p:cNvGraphicFramePr>
          <p:nvPr>
            <p:extLst>
              <p:ext uri="{D42A27DB-BD31-4B8C-83A1-F6EECF244321}">
                <p14:modId xmlns:p14="http://schemas.microsoft.com/office/powerpoint/2010/main" val="3976223472"/>
              </p:ext>
            </p:extLst>
          </p:nvPr>
        </p:nvGraphicFramePr>
        <p:xfrm>
          <a:off x="112815" y="4467705"/>
          <a:ext cx="2974770" cy="743832"/>
        </p:xfrm>
        <a:graphic>
          <a:graphicData uri="http://schemas.openxmlformats.org/drawingml/2006/table">
            <a:tbl>
              <a:tblPr>
                <a:tableStyleId>{2D5ABB26-0587-4C30-8999-92F81FD0307C}</a:tableStyleId>
              </a:tblPr>
              <a:tblGrid>
                <a:gridCol w="498764">
                  <a:extLst>
                    <a:ext uri="{9D8B030D-6E8A-4147-A177-3AD203B41FA5}">
                      <a16:colId xmlns:a16="http://schemas.microsoft.com/office/drawing/2014/main" val="3576838364"/>
                    </a:ext>
                  </a:extLst>
                </a:gridCol>
                <a:gridCol w="396681">
                  <a:extLst>
                    <a:ext uri="{9D8B030D-6E8A-4147-A177-3AD203B41FA5}">
                      <a16:colId xmlns:a16="http://schemas.microsoft.com/office/drawing/2014/main" val="3432411362"/>
                    </a:ext>
                  </a:extLst>
                </a:gridCol>
                <a:gridCol w="271216">
                  <a:extLst>
                    <a:ext uri="{9D8B030D-6E8A-4147-A177-3AD203B41FA5}">
                      <a16:colId xmlns:a16="http://schemas.microsoft.com/office/drawing/2014/main" val="1406044288"/>
                    </a:ext>
                  </a:extLst>
                </a:gridCol>
                <a:gridCol w="607008">
                  <a:extLst>
                    <a:ext uri="{9D8B030D-6E8A-4147-A177-3AD203B41FA5}">
                      <a16:colId xmlns:a16="http://schemas.microsoft.com/office/drawing/2014/main" val="159024894"/>
                    </a:ext>
                  </a:extLst>
                </a:gridCol>
                <a:gridCol w="1201101">
                  <a:extLst>
                    <a:ext uri="{9D8B030D-6E8A-4147-A177-3AD203B41FA5}">
                      <a16:colId xmlns:a16="http://schemas.microsoft.com/office/drawing/2014/main" val="809750389"/>
                    </a:ext>
                  </a:extLst>
                </a:gridCol>
              </a:tblGrid>
              <a:tr h="184444">
                <a:tc>
                  <a:txBody>
                    <a:bodyPr/>
                    <a:lstStyle/>
                    <a:p>
                      <a:pPr algn="l" fontAlgn="ctr">
                        <a:buNone/>
                      </a:pPr>
                      <a:r>
                        <a:rPr lang="ja-JP" altLang="en-US" sz="600" u="none" strike="noStrike" dirty="0">
                          <a:solidFill>
                            <a:srgbClr val="0070C0"/>
                          </a:solidFill>
                          <a:effectLst/>
                        </a:rPr>
                        <a:t>サービス階層</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高可用性</a:t>
                      </a:r>
                      <a:endParaRPr lang="en-US" altLang="ja-JP" sz="600" u="none" strike="noStrike" dirty="0">
                        <a:solidFill>
                          <a:srgbClr val="0070C0"/>
                        </a:solidFill>
                        <a:effectLst/>
                      </a:endParaRPr>
                    </a:p>
                    <a:p>
                      <a:pPr algn="l" fontAlgn="ctr"/>
                      <a:r>
                        <a:rPr lang="ja-JP" altLang="en-US" sz="600" u="none" strike="noStrike" dirty="0">
                          <a:solidFill>
                            <a:srgbClr val="0070C0"/>
                          </a:solidFill>
                          <a:effectLst/>
                        </a:rPr>
                        <a:t>モデル</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rPr>
                        <a:t>可用性</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de-DE" sz="600" u="none" strike="noStrike" dirty="0">
                          <a:solidFill>
                            <a:srgbClr val="0070C0"/>
                          </a:solidFill>
                          <a:effectLst/>
                        </a:rPr>
                        <a:t>RTO (</a:t>
                      </a:r>
                      <a:r>
                        <a:rPr lang="ja-JP" altLang="en-US" sz="600" u="none" strike="noStrike" dirty="0">
                          <a:solidFill>
                            <a:srgbClr val="0070C0"/>
                          </a:solidFill>
                          <a:effectLst/>
                        </a:rPr>
                        <a:t>回復時間の目標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RPO (</a:t>
                      </a:r>
                      <a:r>
                        <a:rPr lang="ja-JP" altLang="en-US" sz="600" u="none" strike="noStrike" dirty="0">
                          <a:solidFill>
                            <a:srgbClr val="0070C0"/>
                          </a:solidFill>
                          <a:effectLst/>
                        </a:rPr>
                        <a:t>回復ポイントの目標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19896608"/>
                  </a:ext>
                </a:extLst>
              </a:tr>
              <a:tr h="276666">
                <a:tc>
                  <a:txBody>
                    <a:bodyPr/>
                    <a:lstStyle/>
                    <a:p>
                      <a:pPr algn="l" fontAlgn="ctr"/>
                      <a:r>
                        <a:rPr lang="ja-JP" altLang="en-US" sz="600" u="none" strike="noStrike" dirty="0">
                          <a:solidFill>
                            <a:srgbClr val="0070C0"/>
                          </a:solidFill>
                          <a:effectLst/>
                        </a:rPr>
                        <a:t>汎用</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リモートストレージ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rPr>
                        <a:t>99.99%</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数十秒程度</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ゼロを目指すが、わずかなデータ損失の可能性あり</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53746224"/>
                  </a:ext>
                </a:extLst>
              </a:tr>
              <a:tr h="276666">
                <a:tc>
                  <a:txBody>
                    <a:bodyPr/>
                    <a:lstStyle/>
                    <a:p>
                      <a:pPr algn="l" fontAlgn="ctr"/>
                      <a:r>
                        <a:rPr lang="ja-JP" altLang="en-US" sz="600" u="none" strike="noStrike" dirty="0">
                          <a:solidFill>
                            <a:srgbClr val="0070C0"/>
                          </a:solidFill>
                          <a:effectLst/>
                        </a:rPr>
                        <a:t>ビジネスクリティカル</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ローカルストレージ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rPr>
                        <a:t>99.995%</a:t>
                      </a:r>
                      <a:endParaRPr lang="ja-JP" altLang="en-US"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30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5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437388293"/>
                  </a:ext>
                </a:extLst>
              </a:tr>
            </a:tbl>
          </a:graphicData>
        </a:graphic>
      </p:graphicFrame>
    </p:spTree>
    <p:extLst>
      <p:ext uri="{BB962C8B-B14F-4D97-AF65-F5344CB8AC3E}">
        <p14:creationId xmlns:p14="http://schemas.microsoft.com/office/powerpoint/2010/main" val="3321202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要件／ソリューションーデータ移行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extLst>
              <p:ext uri="{D42A27DB-BD31-4B8C-83A1-F6EECF244321}">
                <p14:modId xmlns:p14="http://schemas.microsoft.com/office/powerpoint/2010/main" val="1594632960"/>
              </p:ext>
            </p:extLst>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endParaRPr kumimoji="0" lang="en-US" altLang="ja-JP" sz="900" b="1"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extLst>
              <p:ext uri="{D42A27DB-BD31-4B8C-83A1-F6EECF244321}">
                <p14:modId xmlns:p14="http://schemas.microsoft.com/office/powerpoint/2010/main" val="955944901"/>
              </p:ext>
            </p:extLst>
          </p:nvPr>
        </p:nvGraphicFramePr>
        <p:xfrm>
          <a:off x="4734560" y="1513800"/>
          <a:ext cx="6659880" cy="1635801"/>
        </p:xfrm>
        <a:graphic>
          <a:graphicData uri="http://schemas.openxmlformats.org/drawingml/2006/table">
            <a:tbl>
              <a:tblPr firstRow="1" bandRow="1">
                <a:tableStyleId>{7DF18680-E054-41AD-8BC1-D1AEF772440D}</a:tableStyleId>
              </a:tblPr>
              <a:tblGrid>
                <a:gridCol w="2015229">
                  <a:extLst>
                    <a:ext uri="{9D8B030D-6E8A-4147-A177-3AD203B41FA5}">
                      <a16:colId xmlns:a16="http://schemas.microsoft.com/office/drawing/2014/main" val="2649257964"/>
                    </a:ext>
                  </a:extLst>
                </a:gridCol>
                <a:gridCol w="694056">
                  <a:extLst>
                    <a:ext uri="{9D8B030D-6E8A-4147-A177-3AD203B41FA5}">
                      <a16:colId xmlns:a16="http://schemas.microsoft.com/office/drawing/2014/main" val="3843299209"/>
                    </a:ext>
                  </a:extLst>
                </a:gridCol>
                <a:gridCol w="3950595">
                  <a:extLst>
                    <a:ext uri="{9D8B030D-6E8A-4147-A177-3AD203B41FA5}">
                      <a16:colId xmlns:a16="http://schemas.microsoft.com/office/drawing/2014/main" val="3345850908"/>
                    </a:ext>
                  </a:extLst>
                </a:gridCol>
              </a:tblGrid>
              <a:tr h="251662">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40895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723527">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251662">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5" name="図 4">
            <a:extLst>
              <a:ext uri="{FF2B5EF4-FFF2-40B4-BE49-F238E27FC236}">
                <a16:creationId xmlns:a16="http://schemas.microsoft.com/office/drawing/2014/main" id="{4151152B-5050-BBAB-7042-32B6D79363B7}"/>
              </a:ext>
            </a:extLst>
          </p:cNvPr>
          <p:cNvPicPr>
            <a:picLocks noChangeAspect="1"/>
          </p:cNvPicPr>
          <p:nvPr/>
        </p:nvPicPr>
        <p:blipFill>
          <a:blip r:embed="rId3"/>
          <a:stretch>
            <a:fillRect/>
          </a:stretch>
        </p:blipFill>
        <p:spPr>
          <a:xfrm>
            <a:off x="4625704" y="3708400"/>
            <a:ext cx="7256330" cy="2142926"/>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dirty="0"/>
              <a:t>機能一覧</a:t>
            </a:r>
            <a:r>
              <a:rPr lang="en-US" altLang="ja-JP" sz="1600" dirty="0">
                <a:solidFill>
                  <a:srgbClr val="FF0000"/>
                </a:solidFill>
              </a:rPr>
              <a:t>※</a:t>
            </a:r>
            <a:r>
              <a:rPr lang="ja-JP" altLang="en-US" sz="1600" dirty="0">
                <a:solidFill>
                  <a:srgbClr val="FF0000"/>
                </a:solidFill>
              </a:rPr>
              <a:t>ご提示頂いた「</a:t>
            </a:r>
            <a:r>
              <a:rPr lang="en-US" altLang="ja-JP" sz="1600" dirty="0">
                <a:solidFill>
                  <a:srgbClr val="FF0000"/>
                </a:solidFill>
              </a:rPr>
              <a:t>【</a:t>
            </a:r>
            <a:r>
              <a:rPr lang="ja-JP" altLang="en-US" sz="1600" dirty="0">
                <a:solidFill>
                  <a:srgbClr val="FF0000"/>
                </a:solidFill>
              </a:rPr>
              <a:t>新アプリ</a:t>
            </a:r>
            <a:r>
              <a:rPr lang="en-US" altLang="ja-JP" sz="1600" dirty="0">
                <a:solidFill>
                  <a:srgbClr val="FF0000"/>
                </a:solidFill>
              </a:rPr>
              <a:t>】</a:t>
            </a:r>
            <a:r>
              <a:rPr lang="ja-JP" altLang="en-US" sz="1600" dirty="0">
                <a:solidFill>
                  <a:srgbClr val="FF0000"/>
                </a:solidFill>
              </a:rPr>
              <a:t>機能要件一覧 </a:t>
            </a:r>
            <a:r>
              <a:rPr lang="en-US" altLang="ja-JP" sz="1600" dirty="0">
                <a:solidFill>
                  <a:srgbClr val="FF0000"/>
                </a:solidFill>
              </a:rPr>
              <a:t>V1.1.xlsx</a:t>
            </a:r>
            <a:r>
              <a:rPr lang="ja-JP" altLang="en-US" sz="1600" dirty="0">
                <a:solidFill>
                  <a:srgbClr val="FF0000"/>
                </a:solidFill>
              </a:rPr>
              <a:t>」の中項目単位で抽出</a:t>
            </a:r>
            <a:endParaRPr lang="ja-JP" altLang="en-US" dirty="0">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dirty="0"/>
              <a:t>機能一覧</a:t>
            </a:r>
            <a:endParaRPr lang="ja-JP" altLang="en-US" dirty="0">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4689-F7E0-D2F9-56FF-F8587D583D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49342F-9EFE-C639-81D0-71975EF6ACFC}"/>
              </a:ext>
            </a:extLst>
          </p:cNvPr>
          <p:cNvSpPr>
            <a:spLocks noGrp="1"/>
          </p:cNvSpPr>
          <p:nvPr>
            <p:ph type="title"/>
          </p:nvPr>
        </p:nvSpPr>
        <p:spPr>
          <a:xfrm>
            <a:off x="414336" y="255263"/>
            <a:ext cx="9327072" cy="683629"/>
          </a:xfrm>
        </p:spPr>
        <p:txBody>
          <a:bodyPr>
            <a:normAutofit/>
          </a:bodyPr>
          <a:lstStyle/>
          <a:p>
            <a:r>
              <a:rPr lang="ja-JP" altLang="en-US" dirty="0"/>
              <a:t>プロジェクト重要検討事項</a:t>
            </a:r>
            <a:endParaRPr lang="zh-CN" altLang="en-US" dirty="0"/>
          </a:p>
        </p:txBody>
      </p:sp>
      <p:graphicFrame>
        <p:nvGraphicFramePr>
          <p:cNvPr id="4" name="表 3">
            <a:extLst>
              <a:ext uri="{FF2B5EF4-FFF2-40B4-BE49-F238E27FC236}">
                <a16:creationId xmlns:a16="http://schemas.microsoft.com/office/drawing/2014/main" id="{D1F2B9F7-D95B-1715-0897-B3D4CFA7E58A}"/>
              </a:ext>
            </a:extLst>
          </p:cNvPr>
          <p:cNvGraphicFramePr>
            <a:graphicFrameLocks noGrp="1"/>
          </p:cNvGraphicFramePr>
          <p:nvPr>
            <p:extLst>
              <p:ext uri="{D42A27DB-BD31-4B8C-83A1-F6EECF244321}">
                <p14:modId xmlns:p14="http://schemas.microsoft.com/office/powerpoint/2010/main" val="251365849"/>
              </p:ext>
            </p:extLst>
          </p:nvPr>
        </p:nvGraphicFramePr>
        <p:xfrm>
          <a:off x="532873" y="938893"/>
          <a:ext cx="11126254" cy="5307904"/>
        </p:xfrm>
        <a:graphic>
          <a:graphicData uri="http://schemas.openxmlformats.org/drawingml/2006/table">
            <a:tbl>
              <a:tblPr firstRow="1" bandRow="1">
                <a:tableStyleId>{7DF18680-E054-41AD-8BC1-D1AEF772440D}</a:tableStyleId>
              </a:tblPr>
              <a:tblGrid>
                <a:gridCol w="375261">
                  <a:extLst>
                    <a:ext uri="{9D8B030D-6E8A-4147-A177-3AD203B41FA5}">
                      <a16:colId xmlns:a16="http://schemas.microsoft.com/office/drawing/2014/main" val="2481844383"/>
                    </a:ext>
                  </a:extLst>
                </a:gridCol>
                <a:gridCol w="1878715">
                  <a:extLst>
                    <a:ext uri="{9D8B030D-6E8A-4147-A177-3AD203B41FA5}">
                      <a16:colId xmlns:a16="http://schemas.microsoft.com/office/drawing/2014/main" val="2412485662"/>
                    </a:ext>
                  </a:extLst>
                </a:gridCol>
                <a:gridCol w="846461">
                  <a:extLst>
                    <a:ext uri="{9D8B030D-6E8A-4147-A177-3AD203B41FA5}">
                      <a16:colId xmlns:a16="http://schemas.microsoft.com/office/drawing/2014/main" val="1209637643"/>
                    </a:ext>
                  </a:extLst>
                </a:gridCol>
                <a:gridCol w="846461">
                  <a:extLst>
                    <a:ext uri="{9D8B030D-6E8A-4147-A177-3AD203B41FA5}">
                      <a16:colId xmlns:a16="http://schemas.microsoft.com/office/drawing/2014/main" val="1385327848"/>
                    </a:ext>
                  </a:extLst>
                </a:gridCol>
                <a:gridCol w="747011">
                  <a:extLst>
                    <a:ext uri="{9D8B030D-6E8A-4147-A177-3AD203B41FA5}">
                      <a16:colId xmlns:a16="http://schemas.microsoft.com/office/drawing/2014/main" val="240944020"/>
                    </a:ext>
                  </a:extLst>
                </a:gridCol>
                <a:gridCol w="6432345">
                  <a:extLst>
                    <a:ext uri="{9D8B030D-6E8A-4147-A177-3AD203B41FA5}">
                      <a16:colId xmlns:a16="http://schemas.microsoft.com/office/drawing/2014/main" val="187323411"/>
                    </a:ext>
                  </a:extLst>
                </a:gridCol>
              </a:tblGrid>
              <a:tr h="276624">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リスクあり</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bg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bg1"/>
                          </a:solidFill>
                          <a:effectLst/>
                          <a:latin typeface="Meiryo UI" panose="020B0604030504040204" pitchFamily="50" charset="-128"/>
                          <a:ea typeface="Meiryo UI" panose="020B0604030504040204" pitchFamily="50" charset="-128"/>
                          <a:cs typeface="+mn-cs"/>
                        </a:rPr>
                        <a:t>対象</a:t>
                      </a:r>
                      <a:endParaRPr lang="de-DE" sz="1100" b="0" i="0" u="none" strike="noStrike" kern="1200" dirty="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276624">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データ移行時の整合性</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移行</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会社毎に実施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276624">
                <a:tc>
                  <a:txBody>
                    <a:bodyPr/>
                    <a:lstStyle/>
                    <a:p>
                      <a:pPr marL="0" algn="ctr" defTabSz="914400" rtl="0" eaLnBrk="1" fontAlgn="b" latinLnBrk="0" hangingPunct="1"/>
                      <a:r>
                        <a:rPr lang="en-US" altLang="ja-JP" sz="1100" b="0" u="none" strike="noStrike" kern="1200" dirty="0">
                          <a:solidFill>
                            <a:schemeClr val="tx1"/>
                          </a:solidFill>
                          <a:effectLst/>
                          <a:latin typeface="+mn-lt"/>
                          <a:ea typeface="+mn-ea"/>
                          <a:cs typeface="+mn-cs"/>
                        </a:rPr>
                        <a:t>2</a:t>
                      </a:r>
                      <a:endParaRPr lang="ja-JP" altLang="en-US"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Office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統合の互換性</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2766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File Batch</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 </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Download</a:t>
                      </a: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Html Page</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JavaScript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で複数ファイルを指定場所にそれぞれ保存の実機検証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4200175862"/>
                  </a:ext>
                </a:extLst>
              </a:tr>
              <a:tr h="2766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Guest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ユーザの対応</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1757612833"/>
                  </a:ext>
                </a:extLst>
              </a:tr>
              <a:tr h="1106495">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各社の具体仕様面（操作面含む）に差異が出る</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具体業務</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本質的にはこれは現行要件の変更、変更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は段階的に移行を実施（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Notes</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歴史データが閲覧可能ように）、個別要望対応、検収</a:t>
                      </a:r>
                    </a:p>
                  </a:txBody>
                  <a:tcPr marL="0" marR="0" marT="0" marB="0" anchor="ctr"/>
                </a:tc>
                <a:extLst>
                  <a:ext uri="{0D108BD9-81ED-4DB2-BD59-A6C34878D82A}">
                    <a16:rowId xmlns:a16="http://schemas.microsoft.com/office/drawing/2014/main" val="2757891935"/>
                  </a:ext>
                </a:extLst>
              </a:tr>
              <a:tr h="881924">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添付ファイルの権限制御の検証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閲覧権限ありの仕様書の添付ファイルのみが直接叩き開く（オンライン編集含む）の実機検証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171450" marR="0" lvl="0" indent="-1714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閲覧権限ありの仕様書の添付ファイルのみが検索結果に出るの実機検証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00835017"/>
                  </a:ext>
                </a:extLst>
              </a:tr>
              <a:tr h="829871">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7</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添付ファイルの権限制御の性能検証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機能面に実績があるので、</a:t>
                      </a:r>
                      <a:r>
                        <a:rPr lang="ja-JP" altLang="en-US" sz="1100" b="0" i="0" u="none" strike="noStrike" kern="1200" dirty="0">
                          <a:solidFill>
                            <a:srgbClr val="FF0000"/>
                          </a:solidFill>
                          <a:effectLst/>
                          <a:latin typeface="Meiryo UI" panose="020B0604030504040204" pitchFamily="50" charset="-128"/>
                          <a:ea typeface="Meiryo UI" panose="020B0604030504040204" pitchFamily="50" charset="-128"/>
                          <a:cs typeface="+mn-cs"/>
                        </a:rPr>
                        <a:t>主に性能観点の確認。</a:t>
                      </a:r>
                      <a:endParaRPr lang="en-US" altLang="ja-JP" sz="1100" b="0" i="0" u="none" strike="noStrike" kern="1200" dirty="0">
                        <a:solidFill>
                          <a:srgbClr val="FF0000"/>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en-US" altLang="ja-JP" sz="1100" kern="1200" dirty="0">
                          <a:solidFill>
                            <a:schemeClr val="tx1"/>
                          </a:solidFill>
                          <a:latin typeface="Arial" panose="020B0604020202020204" pitchFamily="34" charset="0"/>
                          <a:ea typeface="+mn-ea"/>
                          <a:cs typeface="+mn-cs"/>
                        </a:rPr>
                        <a:t>※</a:t>
                      </a:r>
                      <a:r>
                        <a:rPr kumimoji="0" lang="ja-JP" altLang="en-US" sz="1100" kern="1200" dirty="0">
                          <a:solidFill>
                            <a:schemeClr val="tx1"/>
                          </a:solidFill>
                          <a:latin typeface="Arial" panose="020B0604020202020204" pitchFamily="34" charset="0"/>
                          <a:ea typeface="+mn-ea"/>
                          <a:cs typeface="+mn-cs"/>
                        </a:rPr>
                        <a:t>　</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Group(DB</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で管理される論理</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Group)</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が変更されるときに、すでに登録済みの仕様書の添付ファイルに対して、承認フローの状態に合わせて、</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に保存する添付ファイル毎のユーザ毎の権限再設定</a:t>
                      </a:r>
                    </a:p>
                  </a:txBody>
                  <a:tcPr marL="0" marR="0" marT="0" marB="0" anchor="ctr"/>
                </a:tc>
                <a:extLst>
                  <a:ext uri="{0D108BD9-81ED-4DB2-BD59-A6C34878D82A}">
                    <a16:rowId xmlns:a16="http://schemas.microsoft.com/office/drawing/2014/main" val="2592905887"/>
                  </a:ext>
                </a:extLst>
              </a:tr>
              <a:tr h="553247">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9</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全体性能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Facility</a:t>
                      </a: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noProof="0" dirty="0">
                          <a:solidFill>
                            <a:schemeClr val="tx1"/>
                          </a:solidFill>
                          <a:effectLst/>
                          <a:latin typeface="Meiryo UI" panose="020B0604030504040204" pitchFamily="50" charset="-128"/>
                          <a:ea typeface="Meiryo UI" panose="020B0604030504040204" pitchFamily="50" charset="-128"/>
                          <a:cs typeface="+mn-cs"/>
                        </a:rPr>
                        <a:t>○</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Dummy</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データを利用した性能評価、</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10</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年間データ、</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20000</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ユーザを想定で、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Sizing</a:t>
                      </a:r>
                    </a:p>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（一覧、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Export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中心）</a:t>
                      </a:r>
                    </a:p>
                  </a:txBody>
                  <a:tcPr marL="0" marR="0" marT="0" marB="0" anchor="ctr"/>
                </a:tc>
                <a:extLst>
                  <a:ext uri="{0D108BD9-81ED-4DB2-BD59-A6C34878D82A}">
                    <a16:rowId xmlns:a16="http://schemas.microsoft.com/office/drawing/2014/main" val="3562567830"/>
                  </a:ext>
                </a:extLst>
              </a:tr>
              <a:tr h="553247">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10</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利用者は必要な項目に応じてビューの設定</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性能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ctr" defTabSz="914400" rtl="0" eaLnBrk="1" fontAlgn="b" latinLnBrk="0" hangingPunct="1">
                        <a:lnSpc>
                          <a:spcPct val="100000"/>
                        </a:lnSpc>
                        <a:spcBef>
                          <a:spcPts val="0"/>
                        </a:spcBef>
                        <a:spcAft>
                          <a:spcPts val="0"/>
                        </a:spcAft>
                        <a:buClrTx/>
                        <a:buSzTx/>
                        <a:buFont typeface="+mj-lt"/>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〇</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ctr"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要検討</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主に性能観点の評価、性能評価次第、該当機能の本番機能対象にする・にしない（実装面の技術リスクがない）</a:t>
                      </a:r>
                    </a:p>
                  </a:txBody>
                  <a:tcPr marL="0" marR="0" marT="0" marB="0" anchor="ctr"/>
                </a:tc>
                <a:extLst>
                  <a:ext uri="{0D108BD9-81ED-4DB2-BD59-A6C34878D82A}">
                    <a16:rowId xmlns:a16="http://schemas.microsoft.com/office/drawing/2014/main" val="1043138237"/>
                  </a:ext>
                </a:extLst>
              </a:tr>
            </a:tbl>
          </a:graphicData>
        </a:graphic>
      </p:graphicFrame>
    </p:spTree>
    <p:extLst>
      <p:ext uri="{BB962C8B-B14F-4D97-AF65-F5344CB8AC3E}">
        <p14:creationId xmlns:p14="http://schemas.microsoft.com/office/powerpoint/2010/main" val="1325886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65B37-079E-4621-E6A1-D4D3ABF71A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DC5037-33B3-F5A8-9A9B-9180AA6742ED}"/>
              </a:ext>
            </a:extLst>
          </p:cNvPr>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28024763-2637-B1F5-D64F-BDA01A756097}"/>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solidFill>
              <a:srgbClr val="0070C0"/>
            </a:solidFill>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F2D43134-EC2A-1320-E944-9688421C95EA}"/>
              </a:ext>
            </a:extLst>
          </p:cNvPr>
          <p:cNvSpPr/>
          <p:nvPr/>
        </p:nvSpPr>
        <p:spPr bwMode="gray">
          <a:xfrm>
            <a:off x="1238487" y="1953321"/>
            <a:ext cx="2754964" cy="262504"/>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algn="ctr" fontAlgn="b"/>
            <a:r>
              <a:rPr kumimoji="0" lang="ja-JP" altLang="en-US" sz="1200" kern="0" dirty="0">
                <a:solidFill>
                  <a:srgbClr val="000000"/>
                </a:solidFill>
                <a:latin typeface="Arial"/>
                <a:ea typeface="Yu Gothic UI"/>
                <a:cs typeface="Arial" panose="020B0604020202020204" pitchFamily="34" charset="0"/>
              </a:rPr>
              <a:t>要件定義理解、仕様確認</a:t>
            </a:r>
          </a:p>
        </p:txBody>
      </p:sp>
      <p:sp>
        <p:nvSpPr>
          <p:cNvPr id="12" name="四角形: 角を丸くする 11">
            <a:extLst>
              <a:ext uri="{FF2B5EF4-FFF2-40B4-BE49-F238E27FC236}">
                <a16:creationId xmlns:a16="http://schemas.microsoft.com/office/drawing/2014/main" id="{C107AF1B-881D-F0E1-8FE6-1AEB4D3022EC}"/>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システム設計（画面）</a:t>
            </a:r>
          </a:p>
        </p:txBody>
      </p:sp>
      <p:sp>
        <p:nvSpPr>
          <p:cNvPr id="13" name="四角形: 角を丸くする 12">
            <a:extLst>
              <a:ext uri="{FF2B5EF4-FFF2-40B4-BE49-F238E27FC236}">
                <a16:creationId xmlns:a16="http://schemas.microsoft.com/office/drawing/2014/main" id="{4DFB5ABB-0E71-B8E7-5E59-CB963147CFD3}"/>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開発単体、結合試験</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すべてパターンをカバー</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(10</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部署程度</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A438ED60-12DC-DC8C-09A5-221461DF8618}"/>
              </a:ext>
            </a:extLst>
          </p:cNvPr>
          <p:cNvSpPr/>
          <p:nvPr/>
        </p:nvSpPr>
        <p:spPr bwMode="gray">
          <a:xfrm>
            <a:off x="4067773" y="3867352"/>
            <a:ext cx="2845949"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1D07EFFF-C2F3-75D8-2400-9B5E036311FA}"/>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AE7A92AD-BD85-372B-74DE-7E054C9664A4}"/>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7E29CAC-A901-EB76-CA59-D3A7821AF6E3}"/>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7205E5CB-276D-E47F-208B-77273075D6E4}"/>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AA13CB4-9610-AD46-F7D9-3341091336E7}"/>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C48EE47-079D-783F-E544-9A189C06D16D}"/>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7A83CE27-8FBA-DA6B-6425-07C5AF50C7E1}"/>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68DDC3B-10CD-F423-F5E8-E0A5C5498DD7}"/>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394F86B6-8CD3-3C65-9DAF-7D7BF1ED332F}"/>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445D4A36-746C-EB35-F7EF-FA1B870CA843}"/>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DA17DDF1-8DD1-5EE5-446B-9E7B5D69199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0CAE35ED-3D04-A665-42F3-AA5C20D855C3}"/>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8850596D-F2C3-F204-CF0E-C15AB7D0632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6F87F9A2-D21D-F5A1-F71F-17A8D7D99A1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B3A17B5B-E598-F1A5-C9D7-3226AB7B19C7}"/>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86B4C42-B58B-D290-3107-C9EFFC00DFAF}"/>
              </a:ext>
            </a:extLst>
          </p:cNvPr>
          <p:cNvSpPr/>
          <p:nvPr/>
        </p:nvSpPr>
        <p:spPr bwMode="gray">
          <a:xfrm>
            <a:off x="1236849" y="2363173"/>
            <a:ext cx="2177307"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lvl="0" algn="ctr" fontAlgn="base">
              <a:spcBef>
                <a:spcPct val="0"/>
              </a:spcBef>
              <a:spcAft>
                <a:spcPct val="0"/>
              </a:spcAft>
              <a:defRPr/>
            </a:pPr>
            <a:r>
              <a:rPr lang="ja-JP" altLang="en-US" sz="1200" dirty="0">
                <a:solidFill>
                  <a:schemeClr val="tx1"/>
                </a:solidFill>
              </a:rPr>
              <a:t>構造設計＆</a:t>
            </a:r>
            <a:r>
              <a:rPr lang="en-US" altLang="ja-JP" sz="1200" dirty="0">
                <a:solidFill>
                  <a:schemeClr val="tx1"/>
                </a:solidFill>
              </a:rPr>
              <a:t>POC</a:t>
            </a:r>
            <a:endPar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endParaRPr>
          </a:p>
        </p:txBody>
      </p:sp>
      <p:cxnSp>
        <p:nvCxnSpPr>
          <p:cNvPr id="44" name="直線コネクタ 43">
            <a:extLst>
              <a:ext uri="{FF2B5EF4-FFF2-40B4-BE49-F238E27FC236}">
                <a16:creationId xmlns:a16="http://schemas.microsoft.com/office/drawing/2014/main" id="{9C2B0C8D-B716-65F2-C868-270853D3EB9C}"/>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7CEA5C84-1E69-72F3-FD5B-32FD04446BFA}"/>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1"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POC</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・製造工程の概算見積</a:t>
            </a: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D27F703A-E61F-56C5-8C41-BBF3168FD21E}"/>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0C9BDF41-92C5-8248-8160-ECAD1F61F913}"/>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1"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5141F68C-7A5B-A2D2-A73F-42ED08DBFA9F}"/>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0F452686-3E39-0A52-CCF0-18D2CA2484BA}"/>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49F660E1-D11F-57DE-CAF9-CAC095A7BA9F}"/>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05579155-6BA7-3E59-F5A8-FB7A218D19F0}"/>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86F9785E-007D-1BCB-75A7-A39AD03FCA47}"/>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A0E8404E-386C-CFFA-DF97-03B7E450C544}"/>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9977DAB9-0C17-1F9A-4B9D-EB046AF6A6B1}"/>
              </a:ext>
            </a:extLst>
          </p:cNvPr>
          <p:cNvSpPr/>
          <p:nvPr/>
        </p:nvSpPr>
        <p:spPr bwMode="gray">
          <a:xfrm>
            <a:off x="1236849" y="2775159"/>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2803AC68-3BCE-4FD9-0DD7-86F8B6984539}"/>
              </a:ext>
            </a:extLst>
          </p:cNvPr>
          <p:cNvSpPr/>
          <p:nvPr/>
        </p:nvSpPr>
        <p:spPr bwMode="gray">
          <a:xfrm>
            <a:off x="6956848" y="3864809"/>
            <a:ext cx="1321801"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Round1 </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74939399-2281-94CB-EC22-9B08172CB810}"/>
              </a:ext>
            </a:extLst>
          </p:cNvPr>
          <p:cNvSpPr/>
          <p:nvPr/>
        </p:nvSpPr>
        <p:spPr bwMode="gray">
          <a:xfrm>
            <a:off x="7157754" y="4540383"/>
            <a:ext cx="2275409"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２展開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sp>
        <p:nvSpPr>
          <p:cNvPr id="65" name="四角形: 角を丸くする 64">
            <a:extLst>
              <a:ext uri="{FF2B5EF4-FFF2-40B4-BE49-F238E27FC236}">
                <a16:creationId xmlns:a16="http://schemas.microsoft.com/office/drawing/2014/main" id="{A0592155-6DA1-FAD7-1A1C-4BD215B1642C}"/>
              </a:ext>
            </a:extLst>
          </p:cNvPr>
          <p:cNvSpPr/>
          <p:nvPr/>
        </p:nvSpPr>
        <p:spPr bwMode="gray">
          <a:xfrm>
            <a:off x="9511469" y="5150883"/>
            <a:ext cx="1778718" cy="490942"/>
          </a:xfrm>
          <a:prstGeom prst="roundRect">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Round3</a:t>
            </a:r>
            <a:r>
              <a:rPr kumimoji="1" lang="ja-JP" altLang="en-US"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展開</a:t>
            </a:r>
            <a:endParaRPr kumimoji="1" lang="en-US" altLang="ja-JP" sz="12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（データ移行と受入</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対応</a:t>
            </a:r>
            <a:r>
              <a:rPr kumimoji="0" lang="en-US" altLang="ja-JP"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a:t>
            </a:r>
            <a:r>
              <a:rPr kumimoji="0" lang="ja-JP" altLang="en-US" sz="105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a:t>
            </a:r>
            <a:endParaRPr kumimoji="1" lang="ja-JP" altLang="en-US" sz="105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endParaRPr>
          </a:p>
        </p:txBody>
      </p:sp>
      <p:cxnSp>
        <p:nvCxnSpPr>
          <p:cNvPr id="66" name="直線コネクタ 65">
            <a:extLst>
              <a:ext uri="{FF2B5EF4-FFF2-40B4-BE49-F238E27FC236}">
                <a16:creationId xmlns:a16="http://schemas.microsoft.com/office/drawing/2014/main" id="{AAF15E5E-DD10-6CE7-512D-3B13735B4547}"/>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8F9CC12C-432C-A845-7AE2-714E51D67214}"/>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696C7525-BF4C-15EE-667C-387E91C37642}"/>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2C0AB001-8F84-B4C2-AB40-2E2458A0150B}"/>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72498D41-D631-0D0B-8187-574209529682}"/>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107190CD-2A78-A2C7-02D2-23FFD2896D13}"/>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FBEC3BB5-C8FC-6A0E-31DF-26689B441FC5}"/>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0E7D35CA-037F-CC93-EAEA-24158C4F5585}"/>
              </a:ext>
            </a:extLst>
          </p:cNvPr>
          <p:cNvSpPr/>
          <p:nvPr/>
        </p:nvSpPr>
        <p:spPr>
          <a:xfrm>
            <a:off x="6679939" y="3108382"/>
            <a:ext cx="2085351" cy="1068931"/>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Gill Sans MT"/>
              <a:ea typeface="游ゴシック" panose="020B0400000000000000" pitchFamily="50" charset="-128"/>
              <a:cs typeface="+mn-cs"/>
            </a:endParaRPr>
          </a:p>
        </p:txBody>
      </p:sp>
      <p:sp>
        <p:nvSpPr>
          <p:cNvPr id="7" name="テキスト ボックス 6">
            <a:extLst>
              <a:ext uri="{FF2B5EF4-FFF2-40B4-BE49-F238E27FC236}">
                <a16:creationId xmlns:a16="http://schemas.microsoft.com/office/drawing/2014/main" id="{F1C308A9-6186-221A-EE6A-7A6A28CC0F50}"/>
              </a:ext>
            </a:extLst>
          </p:cNvPr>
          <p:cNvSpPr txBox="1"/>
          <p:nvPr/>
        </p:nvSpPr>
        <p:spPr>
          <a:xfrm>
            <a:off x="4033732" y="2587937"/>
            <a:ext cx="67661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kumimoji="1" lang="ja-JP" altLang="en-US" sz="1200" b="0"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endParaRPr>
          </a:p>
        </p:txBody>
      </p:sp>
      <p:graphicFrame>
        <p:nvGraphicFramePr>
          <p:cNvPr id="9" name="表 8">
            <a:extLst>
              <a:ext uri="{FF2B5EF4-FFF2-40B4-BE49-F238E27FC236}">
                <a16:creationId xmlns:a16="http://schemas.microsoft.com/office/drawing/2014/main" id="{3314AD2A-418D-785B-B887-306FA70A215D}"/>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25BCE0B0-1F5F-45BE-B802-E388599E127D}"/>
              </a:ext>
            </a:extLst>
          </p:cNvPr>
          <p:cNvSpPr txBox="1"/>
          <p:nvPr/>
        </p:nvSpPr>
        <p:spPr>
          <a:xfrm>
            <a:off x="311630" y="3622150"/>
            <a:ext cx="676656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Round1</a:t>
            </a:r>
            <a:r>
              <a:rPr kumimoji="1" lang="ja-JP" altLang="en-US" sz="800" b="1" i="0" u="none" strike="noStrike" kern="1200" cap="none" spc="0" normalizeH="0" baseline="0" noProof="0">
                <a:ln>
                  <a:noFill/>
                </a:ln>
                <a:solidFill>
                  <a:prstClr val="black"/>
                </a:solidFill>
                <a:effectLst/>
                <a:uLnTx/>
                <a:uFillTx/>
                <a:latin typeface="Gill Sans MT"/>
                <a:ea typeface="游ゴシック" panose="020B0400000000000000" pitchFamily="50" charset="-128"/>
                <a:cs typeface="+mn-cs"/>
              </a:rPr>
              <a:t>対象機能想定</a:t>
            </a:r>
          </a:p>
        </p:txBody>
      </p:sp>
      <p:sp>
        <p:nvSpPr>
          <p:cNvPr id="4" name="四角形: 角を丸くする 3">
            <a:extLst>
              <a:ext uri="{FF2B5EF4-FFF2-40B4-BE49-F238E27FC236}">
                <a16:creationId xmlns:a16="http://schemas.microsoft.com/office/drawing/2014/main" id="{FEBE013F-CF39-1C75-A02D-82D9ACC3F784}"/>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に関する説明：</a:t>
            </a:r>
            <a:endParaRPr kumimoji="1" lang="en-US" altLang="ja-JP" sz="10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システム全体は一つ</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App</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になるため、</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の主作業は移行作業</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移行ツールの入力となる</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DB</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ファイルの差異の対応</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入力データの差異によりの</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Data mapping</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の見直す</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ツール実行</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移行前後データの比較、差異分析、必要によりの対応、移行報告</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会社・組織の業務差異</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表現差異対応、エンハンス要件がない限り、</a:t>
            </a:r>
            <a:r>
              <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Round2, Round3</a:t>
            </a:r>
            <a:r>
              <a:rPr kumimoji="1" lang="ja-JP" altLang="en-US"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のリリース自体は不要</a:t>
            </a:r>
            <a:endParaRPr kumimoji="1" lang="en-US" altLang="ja-JP" sz="8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の本質は：</a:t>
            </a:r>
            <a:r>
              <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 Round2, Round3</a:t>
            </a:r>
            <a:r>
              <a:rPr kumimoji="1" lang="ja-JP" altLang="en-US"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rPr>
              <a:t>対象会社の履歴が利用可能時期のみ</a:t>
            </a:r>
            <a:endParaRPr kumimoji="1" lang="en-US" altLang="ja-JP" sz="700" b="0" i="0" u="none" strike="noStrike" kern="1200" cap="none" spc="0" normalizeH="0" baseline="0" noProof="0" dirty="0">
              <a:ln>
                <a:noFill/>
              </a:ln>
              <a:solidFill>
                <a:srgbClr val="0070C0"/>
              </a:solidFill>
              <a:effectLst/>
              <a:uLnTx/>
              <a:uFillTx/>
              <a:latin typeface="Gill Sans MT"/>
              <a:ea typeface="游ゴシック" panose="020B0400000000000000" pitchFamily="50" charset="-128"/>
              <a:cs typeface="+mn-cs"/>
            </a:endParaRPr>
          </a:p>
        </p:txBody>
      </p:sp>
      <p:sp>
        <p:nvSpPr>
          <p:cNvPr id="5" name="テキスト ボックス 4">
            <a:extLst>
              <a:ext uri="{FF2B5EF4-FFF2-40B4-BE49-F238E27FC236}">
                <a16:creationId xmlns:a16="http://schemas.microsoft.com/office/drawing/2014/main" id="{12DD182B-5953-4742-68E2-0A9449153500}"/>
              </a:ext>
            </a:extLst>
          </p:cNvPr>
          <p:cNvSpPr txBox="1"/>
          <p:nvPr/>
        </p:nvSpPr>
        <p:spPr>
          <a:xfrm>
            <a:off x="414336" y="735600"/>
            <a:ext cx="1146980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下記スケジュールは弊社の想定で、ご要望に合わせて開始時間について、調整することが可能で、相談させてください。</a:t>
            </a:r>
          </a:p>
        </p:txBody>
      </p:sp>
    </p:spTree>
    <p:extLst>
      <p:ext uri="{BB962C8B-B14F-4D97-AF65-F5344CB8AC3E}">
        <p14:creationId xmlns:p14="http://schemas.microsoft.com/office/powerpoint/2010/main" val="2379318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B63A-A269-41E1-262D-D3147F22FA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4FA795-B486-6687-FDCA-70067EC925B7}"/>
              </a:ext>
            </a:extLst>
          </p:cNvPr>
          <p:cNvSpPr>
            <a:spLocks noGrp="1"/>
          </p:cNvSpPr>
          <p:nvPr>
            <p:ph type="title"/>
          </p:nvPr>
        </p:nvSpPr>
        <p:spPr>
          <a:xfrm>
            <a:off x="414336" y="255263"/>
            <a:ext cx="9327072" cy="683629"/>
          </a:xfrm>
        </p:spPr>
        <p:txBody>
          <a:bodyPr/>
          <a:lstStyle/>
          <a:p>
            <a:r>
              <a:rPr lang="ja-JP" altLang="en-US" dirty="0"/>
              <a:t>見積もり</a:t>
            </a:r>
            <a:endParaRPr lang="ja-JP" altLang="en-US" dirty="0">
              <a:effectLst/>
            </a:endParaRPr>
          </a:p>
        </p:txBody>
      </p:sp>
      <p:graphicFrame>
        <p:nvGraphicFramePr>
          <p:cNvPr id="3" name="表 2">
            <a:extLst>
              <a:ext uri="{FF2B5EF4-FFF2-40B4-BE49-F238E27FC236}">
                <a16:creationId xmlns:a16="http://schemas.microsoft.com/office/drawing/2014/main" id="{90F3B9A4-5E16-1951-2362-4FC5E707C7BD}"/>
              </a:ext>
            </a:extLst>
          </p:cNvPr>
          <p:cNvGraphicFramePr>
            <a:graphicFrameLocks noGrp="1"/>
          </p:cNvGraphicFramePr>
          <p:nvPr/>
        </p:nvGraphicFramePr>
        <p:xfrm>
          <a:off x="479552" y="836571"/>
          <a:ext cx="11219955" cy="5276694"/>
        </p:xfrm>
        <a:graphic>
          <a:graphicData uri="http://schemas.openxmlformats.org/drawingml/2006/table">
            <a:tbl>
              <a:tblPr firstRow="1" bandRow="1">
                <a:tableStyleId>{7DF18680-E054-41AD-8BC1-D1AEF772440D}</a:tableStyleId>
              </a:tblPr>
              <a:tblGrid>
                <a:gridCol w="1981682">
                  <a:extLst>
                    <a:ext uri="{9D8B030D-6E8A-4147-A177-3AD203B41FA5}">
                      <a16:colId xmlns:a16="http://schemas.microsoft.com/office/drawing/2014/main" val="1822749168"/>
                    </a:ext>
                  </a:extLst>
                </a:gridCol>
                <a:gridCol w="1063255">
                  <a:extLst>
                    <a:ext uri="{9D8B030D-6E8A-4147-A177-3AD203B41FA5}">
                      <a16:colId xmlns:a16="http://schemas.microsoft.com/office/drawing/2014/main" val="1141317570"/>
                    </a:ext>
                  </a:extLst>
                </a:gridCol>
                <a:gridCol w="8175018">
                  <a:extLst>
                    <a:ext uri="{9D8B030D-6E8A-4147-A177-3AD203B41FA5}">
                      <a16:colId xmlns:a16="http://schemas.microsoft.com/office/drawing/2014/main" val="371397195"/>
                    </a:ext>
                  </a:extLst>
                </a:gridCol>
              </a:tblGrid>
              <a:tr h="137622">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788202">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17802">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p>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a:t>
                      </a:r>
                      <a:r>
                        <a:rPr lang="en-US" altLang="ja-JP" sz="1050" b="0" u="none" strike="noStrike" kern="1200" dirty="0">
                          <a:solidFill>
                            <a:schemeClr val="tx1"/>
                          </a:solidFill>
                          <a:effectLst/>
                          <a:latin typeface="+mn-lt"/>
                          <a:ea typeface="+mn-ea"/>
                          <a:cs typeface="+mn-cs"/>
                        </a:rPr>
                        <a:t>Facility</a:t>
                      </a:r>
                      <a:r>
                        <a:rPr lang="ja-JP" altLang="en-US" sz="1050" b="0" u="none" strike="noStrike" kern="1200" dirty="0">
                          <a:solidFill>
                            <a:schemeClr val="tx1"/>
                          </a:solidFill>
                          <a:effectLst/>
                          <a:latin typeface="+mn-lt"/>
                          <a:ea typeface="+mn-ea"/>
                          <a:cs typeface="+mn-cs"/>
                        </a:rPr>
                        <a:t>含む）</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ー先行作業工数小計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16</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3375774082"/>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31367">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31367">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31367">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351203">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31367">
                <a:tc>
                  <a:txBody>
                    <a:bodyPr/>
                    <a:lstStyle/>
                    <a:p>
                      <a:pPr marL="0" algn="l" defTabSz="914400" rtl="0" eaLnBrk="1" fontAlgn="b" latinLnBrk="0" hangingPunct="1"/>
                      <a:r>
                        <a:rPr lang="ja-JP" altLang="en-US" sz="1050" b="1" u="none" strike="noStrike" kern="1200" dirty="0">
                          <a:solidFill>
                            <a:srgbClr val="0070C0"/>
                          </a:solidFill>
                          <a:effectLst/>
                          <a:latin typeface="+mn-lt"/>
                          <a:ea typeface="+mn-ea"/>
                          <a:cs typeface="+mn-cs"/>
                        </a:rPr>
                        <a:t>ー開発工数小計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128.06</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1301011314"/>
                  </a:ext>
                </a:extLst>
              </a:tr>
              <a:tr h="131367">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26273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部署に平均１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部署は変更調整のみで、（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r h="26273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b="1" u="none" strike="noStrike" kern="1200" dirty="0">
                          <a:solidFill>
                            <a:srgbClr val="0070C0"/>
                          </a:solidFill>
                          <a:effectLst/>
                          <a:latin typeface="+mn-lt"/>
                          <a:ea typeface="+mn-ea"/>
                          <a:cs typeface="+mn-cs"/>
                        </a:rPr>
                        <a:t>ー</a:t>
                      </a:r>
                      <a:r>
                        <a:rPr lang="ja-JP" altLang="en-US" sz="1050" b="1" u="none" strike="noStrike" kern="1200">
                          <a:solidFill>
                            <a:srgbClr val="0070C0"/>
                          </a:solidFill>
                          <a:effectLst/>
                          <a:latin typeface="+mn-lt"/>
                          <a:ea typeface="+mn-ea"/>
                          <a:cs typeface="+mn-cs"/>
                        </a:rPr>
                        <a:t>検収、初期サポート</a:t>
                      </a:r>
                      <a:r>
                        <a:rPr lang="ja-JP" altLang="en-US" sz="1050" b="1" u="none" strike="noStrike" kern="1200" dirty="0">
                          <a:solidFill>
                            <a:srgbClr val="0070C0"/>
                          </a:solidFill>
                          <a:effectLst/>
                          <a:latin typeface="+mn-lt"/>
                          <a:ea typeface="+mn-ea"/>
                          <a:cs typeface="+mn-cs"/>
                        </a:rPr>
                        <a:t>小計</a:t>
                      </a:r>
                    </a:p>
                  </a:txBody>
                  <a:tcPr marL="0" marR="0" marT="0" marB="0" anchor="ctr"/>
                </a:tc>
                <a:tc>
                  <a:txBody>
                    <a:bodyPr/>
                    <a:lstStyle/>
                    <a:p>
                      <a:pPr marL="0" algn="l" defTabSz="914400" rtl="0" eaLnBrk="1" fontAlgn="b" latinLnBrk="0" hangingPunct="1"/>
                      <a:r>
                        <a:rPr lang="en-US" altLang="ja-JP" sz="1050" b="1" u="none" strike="noStrike" kern="1200" dirty="0">
                          <a:solidFill>
                            <a:srgbClr val="0070C0"/>
                          </a:solidFill>
                          <a:effectLst/>
                          <a:latin typeface="+mn-lt"/>
                          <a:ea typeface="+mn-ea"/>
                          <a:cs typeface="+mn-cs"/>
                        </a:rPr>
                        <a:t>31</a:t>
                      </a:r>
                    </a:p>
                  </a:txBody>
                  <a:tcPr marL="0" marR="0" marT="0" marB="0" anchor="ctr"/>
                </a:tc>
                <a:tc>
                  <a:txBody>
                    <a:bodyPr/>
                    <a:lstStyle/>
                    <a:p>
                      <a:pPr marL="0" algn="l" defTabSz="914400" rtl="0" eaLnBrk="1" fontAlgn="b" latinLnBrk="0" hangingPunct="1"/>
                      <a:endParaRPr lang="ja-JP" altLang="en-US" sz="1050" b="1" u="none" strike="noStrike" kern="1200" dirty="0">
                        <a:solidFill>
                          <a:srgbClr val="0070C0"/>
                        </a:solidFill>
                        <a:effectLst/>
                        <a:latin typeface="+mn-lt"/>
                        <a:ea typeface="+mn-ea"/>
                        <a:cs typeface="+mn-cs"/>
                      </a:endParaRPr>
                    </a:p>
                  </a:txBody>
                  <a:tcPr marL="0" marR="0" marT="0" marB="0" anchor="ctr"/>
                </a:tc>
                <a:extLst>
                  <a:ext uri="{0D108BD9-81ED-4DB2-BD59-A6C34878D82A}">
                    <a16:rowId xmlns:a16="http://schemas.microsoft.com/office/drawing/2014/main" val="550416032"/>
                  </a:ext>
                </a:extLst>
              </a:tr>
            </a:tbl>
          </a:graphicData>
        </a:graphic>
      </p:graphicFrame>
      <p:sp>
        <p:nvSpPr>
          <p:cNvPr id="4" name="テキスト ボックス 3">
            <a:extLst>
              <a:ext uri="{FF2B5EF4-FFF2-40B4-BE49-F238E27FC236}">
                <a16:creationId xmlns:a16="http://schemas.microsoft.com/office/drawing/2014/main" id="{231D9319-B86F-1E4A-8CA2-405D2135F017}"/>
              </a:ext>
            </a:extLst>
          </p:cNvPr>
          <p:cNvSpPr txBox="1"/>
          <p:nvPr/>
        </p:nvSpPr>
        <p:spPr>
          <a:xfrm>
            <a:off x="453136" y="6086581"/>
            <a:ext cx="82804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工数：</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175.06MM</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、費用： </a:t>
            </a:r>
            <a:r>
              <a:rPr kumimoji="1" lang="en-US" altLang="ja-JP"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1.26</a:t>
            </a:r>
            <a:r>
              <a:rPr kumimoji="1" lang="ja-JP" altLang="en-US" sz="1600" b="0" i="0" u="none" strike="noStrike" kern="1200" cap="none" spc="0" normalizeH="0" baseline="0" noProof="0" dirty="0">
                <a:ln>
                  <a:noFill/>
                </a:ln>
                <a:solidFill>
                  <a:prstClr val="black"/>
                </a:solidFill>
                <a:effectLst/>
                <a:uLnTx/>
                <a:uFillTx/>
                <a:latin typeface="Gill Sans MT"/>
                <a:ea typeface="游ゴシック" panose="020B0400000000000000" pitchFamily="50" charset="-128"/>
                <a:cs typeface="+mn-cs"/>
              </a:rPr>
              <a:t>億</a:t>
            </a:r>
          </a:p>
        </p:txBody>
      </p:sp>
    </p:spTree>
    <p:extLst>
      <p:ext uri="{BB962C8B-B14F-4D97-AF65-F5344CB8AC3E}">
        <p14:creationId xmlns:p14="http://schemas.microsoft.com/office/powerpoint/2010/main" val="465167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494723"/>
          </a:xfrm>
        </p:spPr>
        <p:txBody>
          <a:bodyPr>
            <a:normAutofit fontScale="90000"/>
          </a:bodyPr>
          <a:lstStyle/>
          <a:p>
            <a:r>
              <a:rPr lang="zh-CN" altLang="en-US" dirty="0">
                <a:latin typeface="游ゴシック Light" panose="020B0300000000000000" pitchFamily="50" charset="-128"/>
                <a:ea typeface="游ゴシック Light" panose="020B0300000000000000" pitchFamily="50" charset="-128"/>
              </a:rPr>
              <a:t>結論</a:t>
            </a:r>
            <a:endParaRPr lang="zh-CN" altLang="en-US" dirty="0">
              <a:effectLst/>
              <a:latin typeface="游ゴシック Light" panose="020B0300000000000000" pitchFamily="50" charset="-128"/>
              <a:ea typeface="游ゴシック Light" panose="020B0300000000000000" pitchFamily="50" charset="-128"/>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a:t>
            </a:r>
            <a:r>
              <a:rPr kumimoji="0" lang="en-US" altLang="ja-JP" dirty="0">
                <a:latin typeface="Arial" panose="020B0604020202020204" pitchFamily="34" charset="0"/>
              </a:rPr>
              <a:t>Power  Platform</a:t>
            </a:r>
            <a:r>
              <a:rPr kumimoji="0" lang="ja-JP" altLang="en-US" dirty="0">
                <a:latin typeface="Arial" panose="020B0604020202020204" pitchFamily="34" charset="0"/>
              </a:rPr>
              <a:t>にて</a:t>
            </a:r>
            <a:r>
              <a:rPr kumimoji="0" lang="zh-CN" altLang="zh-CN" dirty="0">
                <a:latin typeface="Arial" panose="020B0604020202020204" pitchFamily="34" charset="0"/>
              </a:rPr>
              <a:t>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ミーティングの日程調整（必要に応じてセッティング）</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extLst>
                    <a:ext uri="{A12FA001-AC4F-418D-AE19-62706E023703}">
                      <ahyp:hlinkClr xmlns:ahyp="http://schemas.microsoft.com/office/drawing/2018/hyperlinkcolor" val="tx"/>
                    </a:ext>
                  </a:extLst>
                </a:hlinkClick>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この見積は、仕様書定型データを</a:t>
            </a:r>
            <a:r>
              <a:rPr kumimoji="0" lang="en-US" altLang="ja-JP" dirty="0">
                <a:latin typeface="Arial" panose="020B0604020202020204" pitchFamily="34" charset="0"/>
              </a:rPr>
              <a:t>Azure SQL</a:t>
            </a:r>
            <a:r>
              <a:rPr kumimoji="0" lang="ja-JP" altLang="en-US" dirty="0">
                <a:latin typeface="Arial" panose="020B0604020202020204" pitchFamily="34" charset="0"/>
              </a:rPr>
              <a:t>に管理、添付ファイルは</a:t>
            </a:r>
            <a:r>
              <a:rPr kumimoji="0" lang="en-US" altLang="ja-JP" dirty="0">
                <a:latin typeface="Arial" panose="020B0604020202020204" pitchFamily="34" charset="0"/>
              </a:rPr>
              <a:t>SPO</a:t>
            </a:r>
            <a:r>
              <a:rPr kumimoji="0" lang="ja-JP" altLang="en-US" dirty="0">
                <a:latin typeface="Arial" panose="020B0604020202020204" pitchFamily="34" charset="0"/>
              </a:rPr>
              <a:t>に管理の前提とする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solidFill>
                  <a:prstClr val="black"/>
                </a:solidFill>
                <a:latin typeface="Arial" panose="020B0604020202020204" pitchFamily="34" charset="0"/>
              </a:rPr>
              <a:t>作業用クラウド環境、</a:t>
            </a:r>
            <a:r>
              <a:rPr kumimoji="0" lang="en-US" altLang="ja-JP" dirty="0">
                <a:solidFill>
                  <a:prstClr val="black"/>
                </a:solidFill>
                <a:latin typeface="Arial" panose="020B0604020202020204" pitchFamily="34" charset="0"/>
              </a:rPr>
              <a:t>Azure License</a:t>
            </a:r>
            <a:r>
              <a:rPr kumimoji="0" lang="ja-JP" altLang="en-US" dirty="0">
                <a:solidFill>
                  <a:prstClr val="black"/>
                </a:solidFill>
                <a:latin typeface="Arial" panose="020B0604020202020204" pitchFamily="34" charset="0"/>
              </a:rPr>
              <a:t>含む各種ライセンス</a:t>
            </a:r>
            <a:r>
              <a:rPr kumimoji="0" lang="en-US" altLang="ja-JP" dirty="0">
                <a:solidFill>
                  <a:prstClr val="black"/>
                </a:solidFill>
                <a:latin typeface="Arial" panose="020B0604020202020204" pitchFamily="34" charset="0"/>
              </a:rPr>
              <a:t>/</a:t>
            </a:r>
            <a:r>
              <a:rPr kumimoji="0" lang="ja-JP" altLang="en-US" dirty="0">
                <a:solidFill>
                  <a:prstClr val="black"/>
                </a:solidFill>
                <a:latin typeface="Arial" panose="020B0604020202020204" pitchFamily="34" charset="0"/>
              </a:rPr>
              <a:t>開発環境は</a:t>
            </a:r>
            <a:r>
              <a:rPr kumimoji="0" lang="en-US" altLang="ja-JP" dirty="0">
                <a:solidFill>
                  <a:prstClr val="black"/>
                </a:solidFill>
                <a:latin typeface="Arial" panose="020B0604020202020204" pitchFamily="34" charset="0"/>
              </a:rPr>
              <a:t>MCC</a:t>
            </a:r>
            <a:r>
              <a:rPr kumimoji="0" lang="ja-JP" altLang="en-US" dirty="0">
                <a:solidFill>
                  <a:prstClr val="black"/>
                </a:solidFill>
                <a:latin typeface="Arial" panose="020B0604020202020204" pitchFamily="34" charset="0"/>
              </a:rPr>
              <a:t>により提供する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MAX 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16C17B-9ACF-4273-9EF4-F7A543FAF213}">
  <ds:schemaRefs/>
</ds:datastoreItem>
</file>

<file path=customXml/itemProps2.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CB922EE-95E3-497F-8326-C2ABF66A4B77}">
  <ds:schemaRefs/>
</ds:datastoreItem>
</file>

<file path=docProps/app.xml><?xml version="1.0" encoding="utf-8"?>
<Properties xmlns="http://schemas.openxmlformats.org/officeDocument/2006/extended-properties" xmlns:vt="http://schemas.openxmlformats.org/officeDocument/2006/docPropsVTypes">
  <Template>MCG_jp_rev1</Template>
  <TotalTime>6532</TotalTime>
  <Words>15725</Words>
  <Application>Microsoft Office PowerPoint</Application>
  <PresentationFormat>ワイド画面</PresentationFormat>
  <Paragraphs>1891</Paragraphs>
  <Slides>35</Slides>
  <Notes>33</Notes>
  <HiddenSlides>0</HiddenSlides>
  <MMClips>0</MMClips>
  <ScaleCrop>false</ScaleCrop>
  <HeadingPairs>
    <vt:vector size="8" baseType="variant">
      <vt:variant>
        <vt:lpstr>使用されているフォント</vt:lpstr>
      </vt:variant>
      <vt:variant>
        <vt:i4>13</vt:i4>
      </vt:variant>
      <vt:variant>
        <vt:lpstr>テーマ</vt:lpstr>
      </vt:variant>
      <vt:variant>
        <vt:i4>6</vt:i4>
      </vt:variant>
      <vt:variant>
        <vt:lpstr>埋め込まれた OLE サーバー</vt:lpstr>
      </vt:variant>
      <vt:variant>
        <vt:i4>1</vt:i4>
      </vt:variant>
      <vt:variant>
        <vt:lpstr>スライド タイトル</vt:lpstr>
      </vt:variant>
      <vt:variant>
        <vt:i4>35</vt:i4>
      </vt:variant>
    </vt:vector>
  </HeadingPairs>
  <TitlesOfParts>
    <vt:vector size="55" baseType="lpstr">
      <vt:lpstr>Meiryo UI</vt:lpstr>
      <vt:lpstr>ＭＳ Ｐゴシック</vt:lpstr>
      <vt:lpstr>Yu Gothic UI</vt:lpstr>
      <vt:lpstr>游ゴシック</vt:lpstr>
      <vt:lpstr>游ゴシック Light</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AZURE Sql 提案と見積</vt:lpstr>
      <vt:lpstr>提案要旨</vt:lpstr>
      <vt:lpstr>ストレージの選定理由（ AzureSQL＋SPO）</vt:lpstr>
      <vt:lpstr>全体アーキテクチャ</vt:lpstr>
      <vt:lpstr>システム概要</vt:lpstr>
      <vt:lpstr>スケジュール</vt:lpstr>
      <vt:lpstr>見積もり</vt:lpstr>
      <vt:lpstr>結論</vt:lpstr>
      <vt:lpstr>PowerPoint プレゼンテーション</vt:lpstr>
      <vt:lpstr>前書き</vt:lpstr>
      <vt:lpstr>PowerPoint プレゼンテーション</vt:lpstr>
      <vt:lpstr>提案の背景</vt:lpstr>
      <vt:lpstr>システム概要</vt:lpstr>
      <vt:lpstr>ストレージの比較</vt:lpstr>
      <vt:lpstr>ストレージの評価</vt:lpstr>
      <vt:lpstr>ストレージの選定理由（ AzureSQL＋SPO）</vt:lpstr>
      <vt:lpstr>全体アーキテクチャ</vt:lpstr>
      <vt:lpstr>要件の実現（メイン機能）</vt:lpstr>
      <vt:lpstr>要件／ソリューション－添付ファイル管理（編集を含む）</vt:lpstr>
      <vt:lpstr>要件／ソリューション－権限管理</vt:lpstr>
      <vt:lpstr>要件／ソリューション－検索機能</vt:lpstr>
      <vt:lpstr>要件／ソリューション－一括ダウンロード機能</vt:lpstr>
      <vt:lpstr>要件／ソリューション－ユーザ別の属性管理</vt:lpstr>
      <vt:lpstr>要件／ソリューション－非機能要件</vt:lpstr>
      <vt:lpstr>要件／ソリューションーデータ移行</vt:lpstr>
      <vt:lpstr>機能一覧※ご提示頂いた「【新アプリ】機能要件一覧 V1.1.xlsx」の中項目単位で抽出</vt:lpstr>
      <vt:lpstr>機能一覧</vt:lpstr>
      <vt:lpstr>機能一覧</vt:lpstr>
      <vt:lpstr>機能一覧</vt:lpstr>
      <vt:lpstr>プロジェクト重要検討事項</vt:lpstr>
      <vt:lpstr>スケジュール</vt:lpstr>
      <vt:lpstr>見積もり</vt:lpstr>
      <vt:lpstr>結論</vt:lpstr>
      <vt:lpstr>備考</vt:lpstr>
      <vt:lpstr>サポートとメンテナンス－瑕疵範囲、保守提案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78</cp:revision>
  <dcterms:created xsi:type="dcterms:W3CDTF">2023-05-25T05:41:00Z</dcterms:created>
  <dcterms:modified xsi:type="dcterms:W3CDTF">2025-10-16T18:05:01Z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