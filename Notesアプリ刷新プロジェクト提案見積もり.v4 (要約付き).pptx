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ags/tag4.xml" ContentType="application/vnd.openxmlformats-officedocument.presentationml.tags+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3.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5.xml" ContentType="application/vnd.openxmlformats-officedocument.theme+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6.xml" ContentType="application/vnd.openxmlformats-officedocument.theme+xml"/>
  <Override PartName="/ppt/tags/tag72.xml" ContentType="application/vnd.openxmlformats-officedocument.presentationml.tags+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 id="2147483653" r:id="rId5"/>
    <p:sldMasterId id="2147483657" r:id="rId6"/>
    <p:sldMasterId id="2147483674" r:id="rId7"/>
    <p:sldMasterId id="2147483698" r:id="rId8"/>
    <p:sldMasterId id="2147483722" r:id="rId9"/>
  </p:sldMasterIdLst>
  <p:notesMasterIdLst>
    <p:notesMasterId r:id="rId45"/>
  </p:notesMasterIdLst>
  <p:handoutMasterIdLst>
    <p:handoutMasterId r:id="rId46"/>
  </p:handoutMasterIdLst>
  <p:sldIdLst>
    <p:sldId id="16772939" r:id="rId10"/>
    <p:sldId id="16776416" r:id="rId11"/>
    <p:sldId id="16776418" r:id="rId12"/>
    <p:sldId id="16776417" r:id="rId13"/>
    <p:sldId id="16776419" r:id="rId14"/>
    <p:sldId id="16776420" r:id="rId15"/>
    <p:sldId id="16776421" r:id="rId16"/>
    <p:sldId id="16776422" r:id="rId17"/>
    <p:sldId id="16776423" r:id="rId18"/>
    <p:sldId id="16776365" r:id="rId19"/>
    <p:sldId id="16776366" r:id="rId20"/>
    <p:sldId id="16776367" r:id="rId21"/>
    <p:sldId id="16776368" r:id="rId22"/>
    <p:sldId id="16776409" r:id="rId23"/>
    <p:sldId id="16776410" r:id="rId24"/>
    <p:sldId id="16776411" r:id="rId25"/>
    <p:sldId id="16776369" r:id="rId26"/>
    <p:sldId id="16776413" r:id="rId27"/>
    <p:sldId id="16776371" r:id="rId28"/>
    <p:sldId id="16776406" r:id="rId29"/>
    <p:sldId id="16776405" r:id="rId30"/>
    <p:sldId id="16776373" r:id="rId31"/>
    <p:sldId id="16776407" r:id="rId32"/>
    <p:sldId id="16776376" r:id="rId33"/>
    <p:sldId id="16776408" r:id="rId34"/>
    <p:sldId id="16776380" r:id="rId35"/>
    <p:sldId id="16776381" r:id="rId36"/>
    <p:sldId id="16776382" r:id="rId37"/>
    <p:sldId id="16776383" r:id="rId38"/>
    <p:sldId id="16776415" r:id="rId39"/>
    <p:sldId id="16776424" r:id="rId40"/>
    <p:sldId id="16776426" r:id="rId41"/>
    <p:sldId id="16776387" r:id="rId42"/>
    <p:sldId id="16776388" r:id="rId43"/>
    <p:sldId id="16776391" r:id="rId44"/>
  </p:sldIdLst>
  <p:sldSz cx="12192000" cy="6858000"/>
  <p:notesSz cx="6858000" cy="9144000"/>
  <p:custDataLst>
    <p:tags r:id="rId47"/>
  </p:custData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ソリューション選定" id="{95B20763-887C-471D-AF38-718C3EA63DA8}">
          <p14:sldIdLst>
            <p14:sldId id="16772939"/>
            <p14:sldId id="16776416"/>
            <p14:sldId id="16776418"/>
            <p14:sldId id="16776417"/>
            <p14:sldId id="16776419"/>
            <p14:sldId id="16776420"/>
            <p14:sldId id="16776421"/>
            <p14:sldId id="16776422"/>
            <p14:sldId id="16776423"/>
            <p14:sldId id="16776365"/>
            <p14:sldId id="16776366"/>
            <p14:sldId id="16776367"/>
            <p14:sldId id="16776368"/>
            <p14:sldId id="16776409"/>
            <p14:sldId id="16776410"/>
            <p14:sldId id="16776411"/>
            <p14:sldId id="16776369"/>
            <p14:sldId id="16776413"/>
            <p14:sldId id="16776371"/>
            <p14:sldId id="16776406"/>
            <p14:sldId id="16776405"/>
            <p14:sldId id="16776373"/>
            <p14:sldId id="16776407"/>
            <p14:sldId id="16776376"/>
            <p14:sldId id="16776408"/>
            <p14:sldId id="16776380"/>
            <p14:sldId id="16776381"/>
            <p14:sldId id="16776382"/>
            <p14:sldId id="16776383"/>
            <p14:sldId id="16776415"/>
            <p14:sldId id="16776424"/>
            <p14:sldId id="16776426"/>
            <p14:sldId id="16776387"/>
            <p14:sldId id="16776388"/>
            <p14:sldId id="1677639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FBFBF"/>
    <a:srgbClr val="FFFFCC"/>
    <a:srgbClr val="B3BBBF"/>
    <a:srgbClr val="75787B"/>
    <a:srgbClr val="53565A"/>
    <a:srgbClr val="6F92CC"/>
    <a:srgbClr val="FFFF00"/>
    <a:srgbClr val="A7A8AA"/>
    <a:srgbClr val="B9B9B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主题样式 1 - 强调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5758FB7-9AC5-4552-8A53-C91805E547FA}" styleName="テーマ スタイル 1 - アクセント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79718" autoAdjust="0"/>
  </p:normalViewPr>
  <p:slideViewPr>
    <p:cSldViewPr snapToGrid="0">
      <p:cViewPr varScale="1">
        <p:scale>
          <a:sx n="129" d="100"/>
          <a:sy n="129" d="100"/>
        </p:scale>
        <p:origin x="106" y="66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tags" Target="tags/tag1.xml"/><Relationship Id="rId50" Type="http://schemas.openxmlformats.org/officeDocument/2006/relationships/theme" Target="theme/theme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viewProps" Target="viewProps.xml"/><Relationship Id="rId10" Type="http://schemas.openxmlformats.org/officeDocument/2006/relationships/slide" Target="slides/slide1.xml"/><Relationship Id="rId19" Type="http://schemas.openxmlformats.org/officeDocument/2006/relationships/slide" Target="slides/slide10.xml"/><Relationship Id="rId31" Type="http://schemas.openxmlformats.org/officeDocument/2006/relationships/slide" Target="slides/slide22.xml"/><Relationship Id="rId44" Type="http://schemas.openxmlformats.org/officeDocument/2006/relationships/slide" Target="slides/slide35.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presProps" Target="presProps.xml"/><Relationship Id="rId8" Type="http://schemas.openxmlformats.org/officeDocument/2006/relationships/slideMaster" Target="slideMasters/slideMaster5.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handoutMaster" Target="handoutMasters/handoutMaster1.xml"/><Relationship Id="rId20" Type="http://schemas.openxmlformats.org/officeDocument/2006/relationships/slide" Target="slides/slide11.xml"/><Relationship Id="rId41" Type="http://schemas.openxmlformats.org/officeDocument/2006/relationships/slide" Target="slides/slide32.xml"/><Relationship Id="rId1" Type="http://schemas.openxmlformats.org/officeDocument/2006/relationships/customXml" Target="../customXml/item1.xml"/><Relationship Id="rId6" Type="http://schemas.openxmlformats.org/officeDocument/2006/relationships/slideMaster" Target="slideMasters/slideMaster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F02A3B7-46B2-E94A-9EF8-D8D874E780F7}" type="datetimeFigureOut">
              <a:rPr kumimoji="1" lang="ja-JP" altLang="en-US" smtClean="0"/>
              <a:t>2025/10/20</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A6C1043-B07B-A34C-A6AD-E266C03B38C1}" type="slidenum">
              <a:rPr kumimoji="1" lang="ja-JP" altLang="en-US" smtClean="0"/>
              <a:t>‹#›</a:t>
            </a:fld>
            <a:endParaRPr kumimoji="1" lang="ja-JP"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2F1F98-6922-D549-90B4-4FEE2DCA453F}" type="datetimeFigureOut">
              <a:rPr kumimoji="1" lang="ja-JP" altLang="en-US" smtClean="0"/>
              <a:t>2025/10/20</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kumimoji="1" lang="ja-JP" altLang="en-US"/>
              <a:t>マスター テキストの書式設定
第 </a:t>
            </a:r>
            <a:r>
              <a:rPr kumimoji="1" lang="en-US" altLang="ja-JP"/>
              <a:t>2 </a:t>
            </a:r>
            <a:r>
              <a:rPr kumimoji="1" lang="ja-JP" altLang="en-US"/>
              <a:t>レベル
第 </a:t>
            </a:r>
            <a:r>
              <a:rPr kumimoji="1" lang="en-US" altLang="ja-JP"/>
              <a:t>3 </a:t>
            </a:r>
            <a:r>
              <a:rPr kumimoji="1" lang="ja-JP" altLang="en-US"/>
              <a:t>レベル
第 </a:t>
            </a:r>
            <a:r>
              <a:rPr kumimoji="1" lang="en-US" altLang="ja-JP"/>
              <a:t>4 </a:t>
            </a:r>
            <a:r>
              <a:rPr kumimoji="1" lang="ja-JP" altLang="en-US"/>
              <a:t>レベル
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E9B8F7-F11D-7247-854D-760B01224C6A}" type="slidenum">
              <a:rPr kumimoji="1" lang="ja-JP" altLang="en-US" smtClean="0"/>
              <a:t>‹#›</a:t>
            </a:fld>
            <a:endParaRPr kumimoji="1" lang="ja-JP"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1</a:t>
            </a:fld>
            <a:endParaRPr kumimoji="1" lang="ja-JP" altLang="en-US"/>
          </a:p>
        </p:txBody>
      </p:sp>
    </p:spTree>
    <p:extLst>
      <p:ext uri="{BB962C8B-B14F-4D97-AF65-F5344CB8AC3E}">
        <p14:creationId xmlns:p14="http://schemas.microsoft.com/office/powerpoint/2010/main" val="10725027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34EB0-FE8B-B5F3-F3FF-A91381E0FB4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7E9D9DF-C6BE-0141-AA37-61770B7352D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6B6A8D-4471-6AB2-C3F2-F1FD030EA232}"/>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CBEFB6D9-7AC5-95EF-4AF9-5286738D340E}"/>
              </a:ext>
            </a:extLst>
          </p:cNvPr>
          <p:cNvSpPr>
            <a:spLocks noGrp="1"/>
          </p:cNvSpPr>
          <p:nvPr>
            <p:ph type="sldNum" sz="quarter" idx="5"/>
          </p:nvPr>
        </p:nvSpPr>
        <p:spPr/>
        <p:txBody>
          <a:bodyPr/>
          <a:lstStyle/>
          <a:p>
            <a:fld id="{C3E9B8F7-F11D-7247-854D-760B01224C6A}" type="slidenum">
              <a:rPr kumimoji="1" lang="ja-JP" altLang="en-US" smtClean="0"/>
              <a:t>2</a:t>
            </a:fld>
            <a:endParaRPr kumimoji="1" lang="ja-JP" altLang="en-US"/>
          </a:p>
        </p:txBody>
      </p:sp>
    </p:spTree>
    <p:extLst>
      <p:ext uri="{BB962C8B-B14F-4D97-AF65-F5344CB8AC3E}">
        <p14:creationId xmlns:p14="http://schemas.microsoft.com/office/powerpoint/2010/main" val="15338770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44BA3-72CB-1962-CEC9-48CD13C0280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62A0F96-C3FF-9E33-DFE6-AAE8BA2BE77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9CCA6C9-0673-276C-60D1-40FAF2649D32}"/>
              </a:ext>
            </a:extLst>
          </p:cNvPr>
          <p:cNvSpPr>
            <a:spLocks noGrp="1"/>
          </p:cNvSpPr>
          <p:nvPr>
            <p:ph type="body" idx="1"/>
          </p:nvPr>
        </p:nvSpPr>
        <p:spPr/>
        <p:txBody>
          <a:bodyPr/>
          <a:lstStyle/>
          <a:p>
            <a:r>
              <a:rPr lang="ja-JP" altLang="en-US" b="1" dirty="0"/>
              <a:t>１</a:t>
            </a:r>
            <a:r>
              <a:rPr lang="en-US" altLang="ja-JP" b="1" dirty="0"/>
              <a:t>. </a:t>
            </a:r>
            <a:r>
              <a:rPr lang="ja-JP" altLang="en-US" b="1" dirty="0"/>
              <a:t>ネイティブ全文検索</a:t>
            </a:r>
          </a:p>
          <a:p>
            <a:r>
              <a:rPr lang="ja-JP" altLang="en-US" b="1" dirty="0">
                <a:effectLst/>
              </a:rPr>
              <a:t>定義</a:t>
            </a:r>
            <a:r>
              <a:rPr lang="ja-JP" altLang="en-US" dirty="0">
                <a:effectLst/>
              </a:rPr>
              <a:t>：データベースエンジン内で提供される、テキストデータの高速かつ柔軟な検索機能。ドキュメントやテキストフィールド（例</a:t>
            </a:r>
            <a:r>
              <a:rPr lang="en-US" altLang="ja-JP" dirty="0">
                <a:effectLst/>
              </a:rPr>
              <a:t>: PDF</a:t>
            </a:r>
            <a:r>
              <a:rPr lang="ja-JP" altLang="en-US" dirty="0">
                <a:effectLst/>
              </a:rPr>
              <a:t>、</a:t>
            </a:r>
            <a:r>
              <a:rPr lang="en-US" altLang="ja-JP" dirty="0">
                <a:effectLst/>
              </a:rPr>
              <a:t>Word</a:t>
            </a:r>
            <a:r>
              <a:rPr lang="ja-JP" altLang="en-US" dirty="0">
                <a:effectLst/>
              </a:rPr>
              <a:t>ファイルの内容、</a:t>
            </a:r>
            <a:r>
              <a:rPr lang="en-US" altLang="ja-JP" dirty="0">
                <a:effectLst/>
              </a:rPr>
              <a:t>VARCHAR</a:t>
            </a:r>
            <a:r>
              <a:rPr lang="ja-JP" altLang="en-US" dirty="0">
                <a:effectLst/>
              </a:rPr>
              <a:t>列）内の単語やフレーズを検索し、インデックスを利用して効率的に結果を返す。</a:t>
            </a:r>
          </a:p>
          <a:p>
            <a:br>
              <a:rPr kumimoji="1" lang="en-US" altLang="ja-JP" dirty="0">
                <a:latin typeface="Yu Gothic UI" panose="020B0500000000000000" pitchFamily="50" charset="-128"/>
                <a:ea typeface="Yu Gothic UI" panose="020B0500000000000000" pitchFamily="50" charset="-128"/>
              </a:rPr>
            </a:br>
            <a:r>
              <a:rPr lang="en-US" altLang="ja-JP" b="1" dirty="0"/>
              <a:t>2. </a:t>
            </a:r>
            <a:r>
              <a:rPr lang="ja-JP" altLang="en-US" b="1" dirty="0"/>
              <a:t>テキスト抽出機能</a:t>
            </a:r>
          </a:p>
          <a:p>
            <a:r>
              <a:rPr lang="ja-JP" altLang="en-US" b="1" dirty="0">
                <a:effectLst/>
              </a:rPr>
              <a:t>定義</a:t>
            </a:r>
            <a:r>
              <a:rPr lang="ja-JP" altLang="en-US" dirty="0">
                <a:effectLst/>
              </a:rPr>
              <a:t>：添付ファイル（例</a:t>
            </a:r>
            <a:r>
              <a:rPr lang="en-US" altLang="ja-JP" dirty="0">
                <a:effectLst/>
              </a:rPr>
              <a:t>: PDF</a:t>
            </a:r>
            <a:r>
              <a:rPr lang="ja-JP" altLang="en-US" dirty="0">
                <a:effectLst/>
              </a:rPr>
              <a:t>、画像、</a:t>
            </a:r>
            <a:r>
              <a:rPr lang="en-US" altLang="ja-JP" dirty="0">
                <a:effectLst/>
              </a:rPr>
              <a:t>Word</a:t>
            </a:r>
            <a:r>
              <a:rPr lang="ja-JP" altLang="en-US" dirty="0">
                <a:effectLst/>
              </a:rPr>
              <a:t>）からテキストやメタデータを自動的に抽出し、データベース内で検索や分析に利用できるようにする機能。</a:t>
            </a:r>
          </a:p>
          <a:p>
            <a:br>
              <a:rPr kumimoji="1" lang="en-US" altLang="ja-JP" dirty="0">
                <a:latin typeface="Yu Gothic UI" panose="020B0500000000000000" pitchFamily="50" charset="-128"/>
                <a:ea typeface="Yu Gothic UI" panose="020B0500000000000000" pitchFamily="50" charset="-128"/>
              </a:rPr>
            </a:br>
            <a:r>
              <a:rPr lang="en-US" altLang="ja-JP" b="1" dirty="0"/>
              <a:t>3. </a:t>
            </a:r>
            <a:r>
              <a:rPr lang="ja-JP" altLang="en-US" b="1" dirty="0"/>
              <a:t>非テキスト検索</a:t>
            </a:r>
          </a:p>
          <a:p>
            <a:r>
              <a:rPr lang="ja-JP" altLang="en-US" b="1" dirty="0">
                <a:effectLst/>
              </a:rPr>
              <a:t>定義</a:t>
            </a:r>
            <a:r>
              <a:rPr lang="ja-JP" altLang="en-US" dirty="0">
                <a:effectLst/>
              </a:rPr>
              <a:t>：テキスト以外のデータ（例</a:t>
            </a:r>
            <a:r>
              <a:rPr lang="en-US" altLang="ja-JP" dirty="0">
                <a:effectLst/>
              </a:rPr>
              <a:t>: </a:t>
            </a:r>
            <a:r>
              <a:rPr lang="ja-JP" altLang="en-US" dirty="0">
                <a:effectLst/>
              </a:rPr>
              <a:t>画像、動画、音声、バイナリファイル）やそのメタデータ（例</a:t>
            </a:r>
            <a:r>
              <a:rPr lang="en-US" altLang="ja-JP" dirty="0">
                <a:effectLst/>
              </a:rPr>
              <a:t>: </a:t>
            </a:r>
            <a:r>
              <a:rPr lang="ja-JP" altLang="en-US" dirty="0">
                <a:effectLst/>
              </a:rPr>
              <a:t>タグ、ファイル属性）を対象とした検索。画像内のオブジェクト認識やバイナリデータのハッシュ検索なども含む。</a:t>
            </a:r>
          </a:p>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dirty="0">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F29A1730-601B-842C-4F27-58A6CE531EF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E9B8F7-F11D-7247-854D-760B01224C6A}" type="slidenum">
              <a:rPr kumimoji="1" lang="ja-JP" altLang="en-US" sz="1200" b="0" i="0" u="none" strike="noStrike" kern="1200" cap="none" spc="0" normalizeH="0" baseline="0" noProof="0" smtClean="0">
                <a:ln>
                  <a:noFill/>
                </a:ln>
                <a:solidFill>
                  <a:prstClr val="black"/>
                </a:solidFill>
                <a:effectLst/>
                <a:uLnTx/>
                <a:uFillTx/>
                <a:latin typeface="游ゴシック"/>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1" lang="ja-JP" altLang="en-US" sz="1200" b="0" i="0" u="none" strike="noStrike" kern="1200" cap="none" spc="0" normalizeH="0" baseline="0" noProof="0">
              <a:ln>
                <a:noFill/>
              </a:ln>
              <a:solidFill>
                <a:prstClr val="black"/>
              </a:solidFill>
              <a:effectLst/>
              <a:uLnTx/>
              <a:uFillTx/>
              <a:latin typeface="游ゴシック"/>
              <a:ea typeface="游ゴシック" panose="020B0400000000000000" pitchFamily="50" charset="-128"/>
              <a:cs typeface="+mn-cs"/>
            </a:endParaRPr>
          </a:p>
        </p:txBody>
      </p:sp>
    </p:spTree>
    <p:extLst>
      <p:ext uri="{BB962C8B-B14F-4D97-AF65-F5344CB8AC3E}">
        <p14:creationId xmlns:p14="http://schemas.microsoft.com/office/powerpoint/2010/main" val="9425055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C03A5-0C7D-E47A-3583-AF6DF164F2B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0895C01-D89A-9398-E365-CDC72F42612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F36F881-9293-7F24-7835-3EFC41C0BEB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dirty="0">
                <a:latin typeface="Yu Gothic UI" panose="020B0500000000000000" pitchFamily="50" charset="-128"/>
                <a:ea typeface="Yu Gothic UI" panose="020B0500000000000000" pitchFamily="50" charset="-128"/>
              </a:rPr>
              <a:t>目的</a:t>
            </a:r>
            <a:r>
              <a:rPr kumimoji="1" lang="en-US" altLang="ja-JP" dirty="0">
                <a:latin typeface="Yu Gothic UI" panose="020B0500000000000000" pitchFamily="50" charset="-128"/>
                <a:ea typeface="Yu Gothic UI" panose="020B0500000000000000" pitchFamily="50" charset="-128"/>
              </a:rPr>
              <a:t>: </a:t>
            </a:r>
            <a:r>
              <a:rPr kumimoji="1" lang="ja-JP" altLang="en-US" dirty="0">
                <a:latin typeface="Yu Gothic UI" panose="020B0500000000000000" pitchFamily="50" charset="-128"/>
                <a:ea typeface="Yu Gothic UI" panose="020B0500000000000000" pitchFamily="50" charset="-128"/>
              </a:rPr>
              <a:t>システム全体像を提示し、技術方案の基盤を説明。</a:t>
            </a:r>
            <a:endParaRPr kumimoji="1" lang="en-US" altLang="ja-JP" dirty="0">
              <a:latin typeface="Yu Gothic UI" panose="020B0500000000000000" pitchFamily="50" charset="-128"/>
              <a:ea typeface="Yu Gothic UI" panose="020B0500000000000000" pitchFamily="50" charset="-128"/>
            </a:endParaRPr>
          </a:p>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dirty="0">
                <a:latin typeface="Yu Gothic UI" panose="020B0500000000000000" pitchFamily="50" charset="-128"/>
                <a:ea typeface="Yu Gothic UI" panose="020B0500000000000000" pitchFamily="50" charset="-128"/>
              </a:rPr>
              <a:t>図</a:t>
            </a:r>
            <a:r>
              <a:rPr kumimoji="1" lang="en-US" altLang="ja-JP" dirty="0">
                <a:latin typeface="Yu Gothic UI" panose="020B0500000000000000" pitchFamily="50" charset="-128"/>
                <a:ea typeface="Yu Gothic UI" panose="020B0500000000000000" pitchFamily="50" charset="-128"/>
              </a:rPr>
              <a:t>: </a:t>
            </a:r>
            <a:r>
              <a:rPr kumimoji="1" lang="ja-JP" altLang="en-US" dirty="0">
                <a:latin typeface="Yu Gothic UI" panose="020B0500000000000000" pitchFamily="50" charset="-128"/>
                <a:ea typeface="Yu Gothic UI" panose="020B0500000000000000" pitchFamily="50" charset="-128"/>
              </a:rPr>
              <a:t>アーキテクチャ図を挿入（</a:t>
            </a:r>
            <a:r>
              <a:rPr kumimoji="1" lang="en-US" altLang="ja-JP" dirty="0">
                <a:latin typeface="Yu Gothic UI" panose="020B0500000000000000" pitchFamily="50" charset="-128"/>
                <a:ea typeface="Yu Gothic UI" panose="020B0500000000000000" pitchFamily="50" charset="-128"/>
              </a:rPr>
              <a:t>PowerApps → Dataverse/SQL Server → SharePoint → Office 365</a:t>
            </a:r>
            <a:r>
              <a:rPr kumimoji="1" lang="ja-JP" altLang="en-US" dirty="0">
                <a:latin typeface="Yu Gothic UI" panose="020B0500000000000000" pitchFamily="50" charset="-128"/>
                <a:ea typeface="Yu Gothic UI" panose="020B0500000000000000" pitchFamily="50" charset="-128"/>
              </a:rPr>
              <a:t>）。</a:t>
            </a:r>
            <a:endParaRPr lang="en-US" altLang="ja-JP" dirty="0">
              <a:latin typeface="Yu Gothic UI" panose="020B0500000000000000" pitchFamily="50" charset="-128"/>
              <a:ea typeface="Yu Gothic UI" panose="020B0500000000000000" pitchFamily="50" charset="-128"/>
            </a:endParaRPr>
          </a:p>
          <a:p>
            <a:pPr marL="0" marR="0" lvl="0" indent="0" algn="l" defTabSz="914400" rtl="0" eaLnBrk="1" fontAlgn="auto" latinLnBrk="0" hangingPunct="1">
              <a:lnSpc>
                <a:spcPct val="100000"/>
              </a:lnSpc>
              <a:spcBef>
                <a:spcPts val="0"/>
              </a:spcBef>
              <a:spcAft>
                <a:spcPts val="0"/>
              </a:spcAft>
              <a:buClrTx/>
              <a:buSzTx/>
              <a:buFontTx/>
              <a:buNone/>
              <a:defRPr/>
            </a:pPr>
            <a:br>
              <a:rPr kumimoji="1" lang="en-US" altLang="ja-JP" dirty="0">
                <a:latin typeface="Yu Gothic UI" panose="020B0500000000000000" pitchFamily="50" charset="-128"/>
                <a:ea typeface="Yu Gothic UI" panose="020B0500000000000000" pitchFamily="50" charset="-128"/>
              </a:rPr>
            </a:br>
            <a:r>
              <a:rPr kumimoji="1" lang="ja-JP" altLang="en-US" dirty="0">
                <a:latin typeface="Yu Gothic UI" panose="020B0500000000000000" pitchFamily="50" charset="-128"/>
                <a:ea typeface="Yu Gothic UI" panose="020B0500000000000000" pitchFamily="50" charset="-128"/>
              </a:rPr>
              <a:t>なぜ添付ファイルは</a:t>
            </a:r>
            <a:r>
              <a:rPr kumimoji="1" lang="en-US" altLang="ja-JP" dirty="0" err="1">
                <a:latin typeface="Yu Gothic UI" panose="020B0500000000000000" pitchFamily="50" charset="-128"/>
                <a:ea typeface="Yu Gothic UI" panose="020B0500000000000000" pitchFamily="50" charset="-128"/>
              </a:rPr>
              <a:t>ShraePoint</a:t>
            </a:r>
            <a:r>
              <a:rPr kumimoji="1" lang="ja-JP" altLang="en-US" dirty="0">
                <a:latin typeface="Yu Gothic UI" panose="020B0500000000000000" pitchFamily="50" charset="-128"/>
                <a:ea typeface="Yu Gothic UI" panose="020B0500000000000000" pitchFamily="50" charset="-128"/>
              </a:rPr>
              <a:t>にお薦めなのか：</a:t>
            </a:r>
            <a:br>
              <a:rPr kumimoji="1" lang="en-US" altLang="ja-JP" dirty="0">
                <a:latin typeface="Yu Gothic UI" panose="020B0500000000000000" pitchFamily="50" charset="-128"/>
                <a:ea typeface="Yu Gothic UI" panose="020B0500000000000000" pitchFamily="50" charset="-128"/>
              </a:rPr>
            </a:br>
            <a:r>
              <a:rPr kumimoji="1" lang="ja-JP" altLang="en-US" dirty="0">
                <a:latin typeface="Yu Gothic UI" panose="020B0500000000000000" pitchFamily="50" charset="-128"/>
                <a:ea typeface="Yu Gothic UI" panose="020B0500000000000000" pitchFamily="50" charset="-128"/>
              </a:rPr>
              <a:t>１．</a:t>
            </a:r>
            <a:r>
              <a:rPr kumimoji="1" lang="en-US" altLang="ja-JP" dirty="0">
                <a:latin typeface="Yu Gothic UI" panose="020B0500000000000000" pitchFamily="50" charset="-128"/>
                <a:ea typeface="Yu Gothic UI" panose="020B0500000000000000" pitchFamily="50" charset="-128"/>
              </a:rPr>
              <a:t>SPO</a:t>
            </a:r>
            <a:r>
              <a:rPr kumimoji="1" lang="ja-JP" altLang="en-US" dirty="0">
                <a:latin typeface="Yu Gothic UI" panose="020B0500000000000000" pitchFamily="50" charset="-128"/>
                <a:ea typeface="Yu Gothic UI" panose="020B0500000000000000" pitchFamily="50" charset="-128"/>
              </a:rPr>
              <a:t>の検索機能を利用し、添付ファイルの検索は自然的にできる。（</a:t>
            </a:r>
            <a:r>
              <a:rPr kumimoji="1" lang="en-US" altLang="ja-JP" dirty="0" err="1">
                <a:latin typeface="Yu Gothic UI" panose="020B0500000000000000" pitchFamily="50" charset="-128"/>
                <a:ea typeface="Yu Gothic UI" panose="020B0500000000000000" pitchFamily="50" charset="-128"/>
              </a:rPr>
              <a:t>A.GraphAPI</a:t>
            </a:r>
            <a:r>
              <a:rPr kumimoji="1" lang="ja-JP" altLang="en-US" dirty="0">
                <a:latin typeface="Yu Gothic UI" panose="020B0500000000000000" pitchFamily="50" charset="-128"/>
                <a:ea typeface="Yu Gothic UI" panose="020B0500000000000000" pitchFamily="50" charset="-128"/>
              </a:rPr>
              <a:t>経由で必要 </a:t>
            </a:r>
            <a:r>
              <a:rPr kumimoji="1" lang="en-US" altLang="ja-JP" dirty="0">
                <a:latin typeface="Yu Gothic UI" panose="020B0500000000000000" pitchFamily="50" charset="-128"/>
                <a:ea typeface="Yu Gothic UI" panose="020B0500000000000000" pitchFamily="50" charset="-128"/>
              </a:rPr>
              <a:t>B.</a:t>
            </a:r>
            <a:r>
              <a:rPr kumimoji="1" lang="ja-JP" altLang="en-US" dirty="0">
                <a:latin typeface="Yu Gothic UI" panose="020B0500000000000000" pitchFamily="50" charset="-128"/>
                <a:ea typeface="Yu Gothic UI" panose="020B0500000000000000" pitchFamily="50" charset="-128"/>
              </a:rPr>
              <a:t>）</a:t>
            </a:r>
            <a:endParaRPr kumimoji="1" lang="en-US" altLang="ja-JP" dirty="0">
              <a:latin typeface="Yu Gothic UI" panose="020B0500000000000000" pitchFamily="50" charset="-128"/>
              <a:ea typeface="Yu Gothic UI" panose="020B0500000000000000" pitchFamily="50" charset="-128"/>
            </a:endParaRPr>
          </a:p>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dirty="0">
                <a:latin typeface="Yu Gothic UI" panose="020B0500000000000000" pitchFamily="50" charset="-128"/>
                <a:ea typeface="Yu Gothic UI" panose="020B0500000000000000" pitchFamily="50" charset="-128"/>
              </a:rPr>
              <a:t>２．</a:t>
            </a:r>
            <a:r>
              <a:rPr kumimoji="1" lang="en-US" altLang="zh-CN" dirty="0" err="1">
                <a:latin typeface="Yu Gothic UI" panose="020B0500000000000000" pitchFamily="50" charset="-128"/>
                <a:ea typeface="Yu Gothic UI" panose="020B0500000000000000" pitchFamily="50" charset="-128"/>
              </a:rPr>
              <a:t>Sqlserver</a:t>
            </a:r>
            <a:r>
              <a:rPr kumimoji="1" lang="ja-JP" altLang="en-US" dirty="0">
                <a:latin typeface="Yu Gothic UI" panose="020B0500000000000000" pitchFamily="50" charset="-128"/>
                <a:ea typeface="Yu Gothic UI" panose="020B0500000000000000" pitchFamily="50" charset="-128"/>
              </a:rPr>
              <a:t>もファイル内容を検索する機能をサポートしていますが、実案件の利用経験がないため、全面</a:t>
            </a:r>
            <a:r>
              <a:rPr kumimoji="1" lang="en-US" altLang="ja-JP" dirty="0">
                <a:latin typeface="Yu Gothic UI" panose="020B0500000000000000" pitchFamily="50" charset="-128"/>
                <a:ea typeface="Yu Gothic UI" panose="020B0500000000000000" pitchFamily="50" charset="-128"/>
              </a:rPr>
              <a:t>t</a:t>
            </a:r>
            <a:r>
              <a:rPr kumimoji="1" lang="ja-JP" altLang="en-US" dirty="0">
                <a:latin typeface="Yu Gothic UI" panose="020B0500000000000000" pitchFamily="50" charset="-128"/>
                <a:ea typeface="Yu Gothic UI" panose="020B0500000000000000" pitchFamily="50" charset="-128"/>
              </a:rPr>
              <a:t>的に検証が必要。</a:t>
            </a:r>
            <a:r>
              <a:rPr kumimoji="1" lang="en-US" altLang="ja-JP" dirty="0">
                <a:latin typeface="Yu Gothic UI" panose="020B0500000000000000" pitchFamily="50" charset="-128"/>
                <a:ea typeface="Yu Gothic UI" panose="020B0500000000000000" pitchFamily="50" charset="-128"/>
              </a:rPr>
              <a:t>POC</a:t>
            </a:r>
            <a:r>
              <a:rPr kumimoji="1" lang="ja-JP" altLang="en-US" dirty="0">
                <a:latin typeface="Yu Gothic UI" panose="020B0500000000000000" pitchFamily="50" charset="-128"/>
                <a:ea typeface="Yu Gothic UI" panose="020B0500000000000000" pitchFamily="50" charset="-128"/>
              </a:rPr>
              <a:t>の作業範囲が広がる、性能などの考慮・評価は複雑</a:t>
            </a:r>
            <a:endParaRPr kumimoji="1" lang="en-US" altLang="ja-JP" dirty="0">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7C2945E0-42A8-9502-F08B-97C35C87152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E9B8F7-F11D-7247-854D-760B01224C6A}" type="slidenum">
              <a:rPr kumimoji="1" lang="ja-JP" altLang="en-US" sz="1200" b="0" i="0" u="none" strike="noStrike" kern="1200" cap="none" spc="0" normalizeH="0" baseline="0" noProof="0" smtClean="0">
                <a:ln>
                  <a:noFill/>
                </a:ln>
                <a:solidFill>
                  <a:prstClr val="black"/>
                </a:solidFill>
                <a:effectLst/>
                <a:uLnTx/>
                <a:uFillTx/>
                <a:latin typeface="游ゴシック"/>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1" lang="ja-JP" altLang="en-US" sz="1200" b="0" i="0" u="none" strike="noStrike" kern="1200" cap="none" spc="0" normalizeH="0" baseline="0" noProof="0">
              <a:ln>
                <a:noFill/>
              </a:ln>
              <a:solidFill>
                <a:prstClr val="black"/>
              </a:solidFill>
              <a:effectLst/>
              <a:uLnTx/>
              <a:uFillTx/>
              <a:latin typeface="游ゴシック"/>
              <a:ea typeface="游ゴシック" panose="020B0400000000000000" pitchFamily="50" charset="-128"/>
              <a:cs typeface="+mn-cs"/>
            </a:endParaRPr>
          </a:p>
        </p:txBody>
      </p:sp>
    </p:spTree>
    <p:extLst>
      <p:ext uri="{BB962C8B-B14F-4D97-AF65-F5344CB8AC3E}">
        <p14:creationId xmlns:p14="http://schemas.microsoft.com/office/powerpoint/2010/main" val="36392963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1F8BD-6A4C-DC3E-1A81-A2D146F5D6F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86244B0-4083-E30B-68FA-ED105DA5800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F5C1AED-7E56-090B-DDCB-2B29640883C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a:latin typeface="Yu Gothic UI" panose="020B0500000000000000" pitchFamily="50" charset="-128"/>
                <a:ea typeface="Yu Gothic UI" panose="020B0500000000000000" pitchFamily="50" charset="-128"/>
              </a:rPr>
              <a:t>目的</a:t>
            </a:r>
            <a:r>
              <a:rPr kumimoji="1" lang="en-US" altLang="ja-JP">
                <a:latin typeface="Yu Gothic UI" panose="020B0500000000000000" pitchFamily="50" charset="-128"/>
                <a:ea typeface="Yu Gothic UI" panose="020B0500000000000000" pitchFamily="50" charset="-128"/>
              </a:rPr>
              <a:t>: </a:t>
            </a:r>
            <a:r>
              <a:rPr kumimoji="1" lang="ja-JP" altLang="en-US">
                <a:latin typeface="Yu Gothic UI" panose="020B0500000000000000" pitchFamily="50" charset="-128"/>
                <a:ea typeface="Yu Gothic UI" panose="020B0500000000000000" pitchFamily="50" charset="-128"/>
              </a:rPr>
              <a:t>システム全体像を提示し、技術方案の基盤を説明。</a:t>
            </a: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E26CD347-1592-E0BE-CDA7-B966731EA3F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E9B8F7-F11D-7247-854D-760B01224C6A}" type="slidenum">
              <a:rPr kumimoji="1" lang="ja-JP" altLang="en-US" sz="1200" b="0" i="0" u="none" strike="noStrike" kern="1200" cap="none" spc="0" normalizeH="0" baseline="0" noProof="0" smtClean="0">
                <a:ln>
                  <a:noFill/>
                </a:ln>
                <a:solidFill>
                  <a:prstClr val="black"/>
                </a:solidFill>
                <a:effectLst/>
                <a:uLnTx/>
                <a:uFillTx/>
                <a:latin typeface="游ゴシック"/>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1" lang="ja-JP" altLang="en-US" sz="1200" b="0" i="0" u="none" strike="noStrike" kern="1200" cap="none" spc="0" normalizeH="0" baseline="0" noProof="0">
              <a:ln>
                <a:noFill/>
              </a:ln>
              <a:solidFill>
                <a:prstClr val="black"/>
              </a:solidFill>
              <a:effectLst/>
              <a:uLnTx/>
              <a:uFillTx/>
              <a:latin typeface="游ゴシック"/>
              <a:ea typeface="游ゴシック" panose="020B0400000000000000" pitchFamily="50" charset="-128"/>
              <a:cs typeface="+mn-cs"/>
            </a:endParaRPr>
          </a:p>
        </p:txBody>
      </p:sp>
    </p:spTree>
    <p:extLst>
      <p:ext uri="{BB962C8B-B14F-4D97-AF65-F5344CB8AC3E}">
        <p14:creationId xmlns:p14="http://schemas.microsoft.com/office/powerpoint/2010/main" val="14984626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DE84A-DA2A-1D87-697F-3F29A1634BC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27B0F6C-7DBE-17E1-6362-5932AA6565D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3445A00-6E58-BC2F-66D4-E8CB6224DEC9}"/>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B3FA2904-7A1B-0138-871A-BCF75B8915B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E9B8F7-F11D-7247-854D-760B01224C6A}" type="slidenum">
              <a:rPr kumimoji="1" lang="ja-JP" altLang="en-US" sz="1200" b="0" i="0" u="none" strike="noStrike" kern="1200" cap="none" spc="0" normalizeH="0" baseline="0" noProof="0" smtClean="0">
                <a:ln>
                  <a:noFill/>
                </a:ln>
                <a:solidFill>
                  <a:prstClr val="black"/>
                </a:solidFill>
                <a:effectLst/>
                <a:uLnTx/>
                <a:uFillTx/>
                <a:latin typeface="游ゴシック"/>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1" lang="ja-JP" altLang="en-US" sz="1200" b="0" i="0" u="none" strike="noStrike" kern="1200" cap="none" spc="0" normalizeH="0" baseline="0" noProof="0">
              <a:ln>
                <a:noFill/>
              </a:ln>
              <a:solidFill>
                <a:prstClr val="black"/>
              </a:solidFill>
              <a:effectLst/>
              <a:uLnTx/>
              <a:uFillTx/>
              <a:latin typeface="游ゴシック"/>
              <a:ea typeface="游ゴシック" panose="020B0400000000000000" pitchFamily="50" charset="-128"/>
              <a:cs typeface="+mn-cs"/>
            </a:endParaRPr>
          </a:p>
        </p:txBody>
      </p:sp>
    </p:spTree>
    <p:extLst>
      <p:ext uri="{BB962C8B-B14F-4D97-AF65-F5344CB8AC3E}">
        <p14:creationId xmlns:p14="http://schemas.microsoft.com/office/powerpoint/2010/main" val="14848680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368B3-0CCC-4F11-2E49-D680D444581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4B36E07-11F3-036D-152A-649BB86A943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6821971-9486-FABE-27C2-9987275AB6B6}"/>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1BF74242-762D-19BF-5924-401C8CF9CB8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E9B8F7-F11D-7247-854D-760B01224C6A}" type="slidenum">
              <a:rPr kumimoji="1" lang="ja-JP" altLang="en-US" sz="1200" b="0" i="0" u="none" strike="noStrike" kern="1200" cap="none" spc="0" normalizeH="0" baseline="0" noProof="0" smtClean="0">
                <a:ln>
                  <a:noFill/>
                </a:ln>
                <a:solidFill>
                  <a:prstClr val="black"/>
                </a:solidFill>
                <a:effectLst/>
                <a:uLnTx/>
                <a:uFillTx/>
                <a:latin typeface="游ゴシック"/>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1" lang="ja-JP" altLang="en-US" sz="1200" b="0" i="0" u="none" strike="noStrike" kern="1200" cap="none" spc="0" normalizeH="0" baseline="0" noProof="0">
              <a:ln>
                <a:noFill/>
              </a:ln>
              <a:solidFill>
                <a:prstClr val="black"/>
              </a:solidFill>
              <a:effectLst/>
              <a:uLnTx/>
              <a:uFillTx/>
              <a:latin typeface="游ゴシック"/>
              <a:ea typeface="游ゴシック" panose="020B0400000000000000" pitchFamily="50" charset="-128"/>
              <a:cs typeface="+mn-cs"/>
            </a:endParaRPr>
          </a:p>
        </p:txBody>
      </p:sp>
    </p:spTree>
    <p:extLst>
      <p:ext uri="{BB962C8B-B14F-4D97-AF65-F5344CB8AC3E}">
        <p14:creationId xmlns:p14="http://schemas.microsoft.com/office/powerpoint/2010/main" val="27252735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78D84-0030-B7DD-2FF1-CBC7077375A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66D92A8-355C-0FED-72DF-E1F19FAAA6D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65D96C-9DF7-06EF-6873-B6903652B5D4}"/>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D1B4A19E-4535-2E28-F1CE-447DC2DB127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E9B8F7-F11D-7247-854D-760B01224C6A}" type="slidenum">
              <a:rPr kumimoji="1" lang="ja-JP" altLang="en-US" sz="1200" b="0" i="0" u="none" strike="noStrike" kern="1200" cap="none" spc="0" normalizeH="0" baseline="0" noProof="0" smtClean="0">
                <a:ln>
                  <a:noFill/>
                </a:ln>
                <a:solidFill>
                  <a:prstClr val="black"/>
                </a:solidFill>
                <a:effectLst/>
                <a:uLnTx/>
                <a:uFillTx/>
                <a:latin typeface="游ゴシック"/>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1" lang="ja-JP" altLang="en-US" sz="1200" b="0" i="0" u="none" strike="noStrike" kern="1200" cap="none" spc="0" normalizeH="0" baseline="0" noProof="0">
              <a:ln>
                <a:noFill/>
              </a:ln>
              <a:solidFill>
                <a:prstClr val="black"/>
              </a:solidFill>
              <a:effectLst/>
              <a:uLnTx/>
              <a:uFillTx/>
              <a:latin typeface="游ゴシック"/>
              <a:ea typeface="游ゴシック" panose="020B0400000000000000" pitchFamily="50" charset="-128"/>
              <a:cs typeface="+mn-cs"/>
            </a:endParaRPr>
          </a:p>
        </p:txBody>
      </p:sp>
    </p:spTree>
    <p:extLst>
      <p:ext uri="{BB962C8B-B14F-4D97-AF65-F5344CB8AC3E}">
        <p14:creationId xmlns:p14="http://schemas.microsoft.com/office/powerpoint/2010/main" val="25964274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10</a:t>
            </a:fld>
            <a:endParaRPr kumimoji="1" lang="ja-JP"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11</a:t>
            </a:fld>
            <a:endParaRPr kumimoji="1" lang="ja-JP"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12</a:t>
            </a:fld>
            <a:endParaRPr kumimoji="1" lang="ja-JP"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a:latin typeface="Yu Gothic UI" panose="020B0500000000000000" pitchFamily="50" charset="-128"/>
                <a:ea typeface="Yu Gothic UI" panose="020B0500000000000000" pitchFamily="50" charset="-128"/>
              </a:rPr>
              <a:t>目的</a:t>
            </a:r>
            <a:r>
              <a:rPr kumimoji="1" lang="en-US" altLang="ja-JP">
                <a:latin typeface="Yu Gothic UI" panose="020B0500000000000000" pitchFamily="50" charset="-128"/>
                <a:ea typeface="Yu Gothic UI" panose="020B0500000000000000" pitchFamily="50" charset="-128"/>
              </a:rPr>
              <a:t>: </a:t>
            </a:r>
            <a:r>
              <a:rPr kumimoji="1" lang="ja-JP" altLang="en-US">
                <a:latin typeface="Yu Gothic UI" panose="020B0500000000000000" pitchFamily="50" charset="-128"/>
                <a:ea typeface="Yu Gothic UI" panose="020B0500000000000000" pitchFamily="50" charset="-128"/>
              </a:rPr>
              <a:t>システム全体像を提示し、技術方案の基盤を説明。</a:t>
            </a: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13</a:t>
            </a:fld>
            <a:endParaRPr kumimoji="1" lang="ja-JP"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9F4DB5-9D3E-82B5-99D6-4A89C554938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1E0686C-208C-E4DA-964C-9DDDF3383DE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EBD29B4-D5FF-EABE-E37D-16D0AD2B145D}"/>
              </a:ext>
            </a:extLst>
          </p:cNvPr>
          <p:cNvSpPr>
            <a:spLocks noGrp="1"/>
          </p:cNvSpPr>
          <p:nvPr>
            <p:ph type="body" idx="1"/>
          </p:nvPr>
        </p:nvSpPr>
        <p:spPr/>
        <p:txBody>
          <a:bodyPr/>
          <a:lstStyle/>
          <a:p>
            <a:r>
              <a:rPr lang="ja-JP" altLang="en-US" b="1" dirty="0"/>
              <a:t>１</a:t>
            </a:r>
            <a:r>
              <a:rPr lang="en-US" altLang="ja-JP" b="1" dirty="0"/>
              <a:t>. </a:t>
            </a:r>
            <a:r>
              <a:rPr lang="ja-JP" altLang="en-US" b="1" dirty="0"/>
              <a:t>ネイティブ全文検索</a:t>
            </a:r>
          </a:p>
          <a:p>
            <a:r>
              <a:rPr lang="ja-JP" altLang="en-US" b="1" dirty="0">
                <a:effectLst/>
              </a:rPr>
              <a:t>定義</a:t>
            </a:r>
            <a:r>
              <a:rPr lang="ja-JP" altLang="en-US" dirty="0">
                <a:effectLst/>
              </a:rPr>
              <a:t>：データベースエンジン内で提供される、テキストデータの高速かつ柔軟な検索機能。ドキュメントやテキストフィールド（例</a:t>
            </a:r>
            <a:r>
              <a:rPr lang="en-US" altLang="ja-JP" dirty="0">
                <a:effectLst/>
              </a:rPr>
              <a:t>: PDF</a:t>
            </a:r>
            <a:r>
              <a:rPr lang="ja-JP" altLang="en-US" dirty="0">
                <a:effectLst/>
              </a:rPr>
              <a:t>、</a:t>
            </a:r>
            <a:r>
              <a:rPr lang="en-US" altLang="ja-JP" dirty="0">
                <a:effectLst/>
              </a:rPr>
              <a:t>Word</a:t>
            </a:r>
            <a:r>
              <a:rPr lang="ja-JP" altLang="en-US" dirty="0">
                <a:effectLst/>
              </a:rPr>
              <a:t>ファイルの内容、</a:t>
            </a:r>
            <a:r>
              <a:rPr lang="en-US" altLang="ja-JP" dirty="0">
                <a:effectLst/>
              </a:rPr>
              <a:t>VARCHAR</a:t>
            </a:r>
            <a:r>
              <a:rPr lang="ja-JP" altLang="en-US" dirty="0">
                <a:effectLst/>
              </a:rPr>
              <a:t>列）内の単語やフレーズを検索し、インデックスを利用して効率的に結果を返す。</a:t>
            </a:r>
          </a:p>
          <a:p>
            <a:br>
              <a:rPr kumimoji="1" lang="en-US" altLang="ja-JP" dirty="0">
                <a:latin typeface="Yu Gothic UI" panose="020B0500000000000000" pitchFamily="50" charset="-128"/>
                <a:ea typeface="Yu Gothic UI" panose="020B0500000000000000" pitchFamily="50" charset="-128"/>
              </a:rPr>
            </a:br>
            <a:r>
              <a:rPr lang="en-US" altLang="ja-JP" b="1" dirty="0"/>
              <a:t>2. </a:t>
            </a:r>
            <a:r>
              <a:rPr lang="ja-JP" altLang="en-US" b="1" dirty="0"/>
              <a:t>テキスト抽出機能</a:t>
            </a:r>
          </a:p>
          <a:p>
            <a:r>
              <a:rPr lang="ja-JP" altLang="en-US" b="1" dirty="0">
                <a:effectLst/>
              </a:rPr>
              <a:t>定義</a:t>
            </a:r>
            <a:r>
              <a:rPr lang="ja-JP" altLang="en-US" dirty="0">
                <a:effectLst/>
              </a:rPr>
              <a:t>：添付ファイル（例</a:t>
            </a:r>
            <a:r>
              <a:rPr lang="en-US" altLang="ja-JP" dirty="0">
                <a:effectLst/>
              </a:rPr>
              <a:t>: PDF</a:t>
            </a:r>
            <a:r>
              <a:rPr lang="ja-JP" altLang="en-US" dirty="0">
                <a:effectLst/>
              </a:rPr>
              <a:t>、画像、</a:t>
            </a:r>
            <a:r>
              <a:rPr lang="en-US" altLang="ja-JP" dirty="0">
                <a:effectLst/>
              </a:rPr>
              <a:t>Word</a:t>
            </a:r>
            <a:r>
              <a:rPr lang="ja-JP" altLang="en-US" dirty="0">
                <a:effectLst/>
              </a:rPr>
              <a:t>）からテキストやメタデータを自動的に抽出し、データベース内で検索や分析に利用できるようにする機能。</a:t>
            </a:r>
          </a:p>
          <a:p>
            <a:br>
              <a:rPr kumimoji="1" lang="en-US" altLang="ja-JP" dirty="0">
                <a:latin typeface="Yu Gothic UI" panose="020B0500000000000000" pitchFamily="50" charset="-128"/>
                <a:ea typeface="Yu Gothic UI" panose="020B0500000000000000" pitchFamily="50" charset="-128"/>
              </a:rPr>
            </a:br>
            <a:r>
              <a:rPr lang="en-US" altLang="ja-JP" b="1" dirty="0"/>
              <a:t>3. </a:t>
            </a:r>
            <a:r>
              <a:rPr lang="ja-JP" altLang="en-US" b="1" dirty="0"/>
              <a:t>非テキスト検索</a:t>
            </a:r>
          </a:p>
          <a:p>
            <a:r>
              <a:rPr lang="ja-JP" altLang="en-US" b="1" dirty="0">
                <a:effectLst/>
              </a:rPr>
              <a:t>定義</a:t>
            </a:r>
            <a:r>
              <a:rPr lang="ja-JP" altLang="en-US" dirty="0">
                <a:effectLst/>
              </a:rPr>
              <a:t>：テキスト以外のデータ（例</a:t>
            </a:r>
            <a:r>
              <a:rPr lang="en-US" altLang="ja-JP" dirty="0">
                <a:effectLst/>
              </a:rPr>
              <a:t>: </a:t>
            </a:r>
            <a:r>
              <a:rPr lang="ja-JP" altLang="en-US" dirty="0">
                <a:effectLst/>
              </a:rPr>
              <a:t>画像、動画、音声、バイナリファイル）やそのメタデータ（例</a:t>
            </a:r>
            <a:r>
              <a:rPr lang="en-US" altLang="ja-JP" dirty="0">
                <a:effectLst/>
              </a:rPr>
              <a:t>: </a:t>
            </a:r>
            <a:r>
              <a:rPr lang="ja-JP" altLang="en-US" dirty="0">
                <a:effectLst/>
              </a:rPr>
              <a:t>タグ、ファイル属性）を対象とした検索。画像内のオブジェクト認識やバイナリデータのハッシュ検索なども含む。</a:t>
            </a:r>
          </a:p>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dirty="0">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D4714522-4EFC-A835-32BF-144C70714889}"/>
              </a:ext>
            </a:extLst>
          </p:cNvPr>
          <p:cNvSpPr>
            <a:spLocks noGrp="1"/>
          </p:cNvSpPr>
          <p:nvPr>
            <p:ph type="sldNum" sz="quarter" idx="5"/>
          </p:nvPr>
        </p:nvSpPr>
        <p:spPr/>
        <p:txBody>
          <a:bodyPr/>
          <a:lstStyle/>
          <a:p>
            <a:fld id="{C3E9B8F7-F11D-7247-854D-760B01224C6A}" type="slidenum">
              <a:rPr kumimoji="1" lang="ja-JP" altLang="en-US" smtClean="0"/>
              <a:t>14</a:t>
            </a:fld>
            <a:endParaRPr kumimoji="1" lang="ja-JP" altLang="en-US"/>
          </a:p>
        </p:txBody>
      </p:sp>
    </p:spTree>
    <p:extLst>
      <p:ext uri="{BB962C8B-B14F-4D97-AF65-F5344CB8AC3E}">
        <p14:creationId xmlns:p14="http://schemas.microsoft.com/office/powerpoint/2010/main" val="39280675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96DCA-105F-A480-A7B3-9FE3F595129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AC35DB4-3900-98B3-8FAA-D45314B7E07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9DFE5AE-E8F5-A1C2-1C69-21B9014D5619}"/>
              </a:ext>
            </a:extLst>
          </p:cNvPr>
          <p:cNvSpPr>
            <a:spLocks noGrp="1"/>
          </p:cNvSpPr>
          <p:nvPr>
            <p:ph type="body" idx="1"/>
          </p:nvPr>
        </p:nvSpPr>
        <p:spPr/>
        <p:txBody>
          <a:bodyPr/>
          <a:lstStyle/>
          <a:p>
            <a:r>
              <a:rPr lang="ja-JP" altLang="en-US" b="1" dirty="0"/>
              <a:t>１</a:t>
            </a:r>
            <a:r>
              <a:rPr lang="en-US" altLang="ja-JP" b="1" dirty="0"/>
              <a:t>. </a:t>
            </a:r>
            <a:r>
              <a:rPr lang="ja-JP" altLang="en-US" b="1" dirty="0"/>
              <a:t>ネイティブ全文検索</a:t>
            </a:r>
          </a:p>
          <a:p>
            <a:r>
              <a:rPr lang="ja-JP" altLang="en-US" b="1" dirty="0">
                <a:effectLst/>
              </a:rPr>
              <a:t>定義</a:t>
            </a:r>
            <a:r>
              <a:rPr lang="ja-JP" altLang="en-US" dirty="0">
                <a:effectLst/>
              </a:rPr>
              <a:t>：データベースエンジン内で提供される、テキストデータの高速かつ柔軟な検索機能。ドキュメントやテキストフィールド（例</a:t>
            </a:r>
            <a:r>
              <a:rPr lang="en-US" altLang="ja-JP" dirty="0">
                <a:effectLst/>
              </a:rPr>
              <a:t>: PDF</a:t>
            </a:r>
            <a:r>
              <a:rPr lang="ja-JP" altLang="en-US" dirty="0">
                <a:effectLst/>
              </a:rPr>
              <a:t>、</a:t>
            </a:r>
            <a:r>
              <a:rPr lang="en-US" altLang="ja-JP" dirty="0">
                <a:effectLst/>
              </a:rPr>
              <a:t>Word</a:t>
            </a:r>
            <a:r>
              <a:rPr lang="ja-JP" altLang="en-US" dirty="0">
                <a:effectLst/>
              </a:rPr>
              <a:t>ファイルの内容、</a:t>
            </a:r>
            <a:r>
              <a:rPr lang="en-US" altLang="ja-JP" dirty="0">
                <a:effectLst/>
              </a:rPr>
              <a:t>VARCHAR</a:t>
            </a:r>
            <a:r>
              <a:rPr lang="ja-JP" altLang="en-US" dirty="0">
                <a:effectLst/>
              </a:rPr>
              <a:t>列）内の単語やフレーズを検索し、インデックスを利用して効率的に結果を返す。</a:t>
            </a:r>
          </a:p>
          <a:p>
            <a:br>
              <a:rPr kumimoji="1" lang="en-US" altLang="ja-JP" dirty="0">
                <a:latin typeface="Yu Gothic UI" panose="020B0500000000000000" pitchFamily="50" charset="-128"/>
                <a:ea typeface="Yu Gothic UI" panose="020B0500000000000000" pitchFamily="50" charset="-128"/>
              </a:rPr>
            </a:br>
            <a:r>
              <a:rPr lang="en-US" altLang="ja-JP" b="1" dirty="0"/>
              <a:t>2. </a:t>
            </a:r>
            <a:r>
              <a:rPr lang="ja-JP" altLang="en-US" b="1" dirty="0"/>
              <a:t>テキスト抽出機能</a:t>
            </a:r>
          </a:p>
          <a:p>
            <a:r>
              <a:rPr lang="ja-JP" altLang="en-US" b="1" dirty="0">
                <a:effectLst/>
              </a:rPr>
              <a:t>定義</a:t>
            </a:r>
            <a:r>
              <a:rPr lang="ja-JP" altLang="en-US" dirty="0">
                <a:effectLst/>
              </a:rPr>
              <a:t>：添付ファイル（例</a:t>
            </a:r>
            <a:r>
              <a:rPr lang="en-US" altLang="ja-JP" dirty="0">
                <a:effectLst/>
              </a:rPr>
              <a:t>: PDF</a:t>
            </a:r>
            <a:r>
              <a:rPr lang="ja-JP" altLang="en-US" dirty="0">
                <a:effectLst/>
              </a:rPr>
              <a:t>、画像、</a:t>
            </a:r>
            <a:r>
              <a:rPr lang="en-US" altLang="ja-JP" dirty="0">
                <a:effectLst/>
              </a:rPr>
              <a:t>Word</a:t>
            </a:r>
            <a:r>
              <a:rPr lang="ja-JP" altLang="en-US" dirty="0">
                <a:effectLst/>
              </a:rPr>
              <a:t>）からテキストやメタデータを自動的に抽出し、データベース内で検索や分析に利用できるようにする機能。</a:t>
            </a:r>
          </a:p>
          <a:p>
            <a:br>
              <a:rPr kumimoji="1" lang="en-US" altLang="ja-JP" dirty="0">
                <a:latin typeface="Yu Gothic UI" panose="020B0500000000000000" pitchFamily="50" charset="-128"/>
                <a:ea typeface="Yu Gothic UI" panose="020B0500000000000000" pitchFamily="50" charset="-128"/>
              </a:rPr>
            </a:br>
            <a:r>
              <a:rPr lang="en-US" altLang="ja-JP" b="1" dirty="0"/>
              <a:t>3. </a:t>
            </a:r>
            <a:r>
              <a:rPr lang="ja-JP" altLang="en-US" b="1" dirty="0"/>
              <a:t>非テキスト検索</a:t>
            </a:r>
          </a:p>
          <a:p>
            <a:r>
              <a:rPr lang="ja-JP" altLang="en-US" b="1" dirty="0">
                <a:effectLst/>
              </a:rPr>
              <a:t>定義</a:t>
            </a:r>
            <a:r>
              <a:rPr lang="ja-JP" altLang="en-US" dirty="0">
                <a:effectLst/>
              </a:rPr>
              <a:t>：テキスト以外のデータ（例</a:t>
            </a:r>
            <a:r>
              <a:rPr lang="en-US" altLang="ja-JP" dirty="0">
                <a:effectLst/>
              </a:rPr>
              <a:t>: </a:t>
            </a:r>
            <a:r>
              <a:rPr lang="ja-JP" altLang="en-US" dirty="0">
                <a:effectLst/>
              </a:rPr>
              <a:t>画像、動画、音声、バイナリファイル）やそのメタデータ（例</a:t>
            </a:r>
            <a:r>
              <a:rPr lang="en-US" altLang="ja-JP" dirty="0">
                <a:effectLst/>
              </a:rPr>
              <a:t>: </a:t>
            </a:r>
            <a:r>
              <a:rPr lang="ja-JP" altLang="en-US" dirty="0">
                <a:effectLst/>
              </a:rPr>
              <a:t>タグ、ファイル属性）を対象とした検索。画像内のオブジェクト認識やバイナリデータのハッシュ検索なども含む。</a:t>
            </a:r>
          </a:p>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dirty="0">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1F04E894-CDA8-D4D0-2DBB-37554A4913D3}"/>
              </a:ext>
            </a:extLst>
          </p:cNvPr>
          <p:cNvSpPr>
            <a:spLocks noGrp="1"/>
          </p:cNvSpPr>
          <p:nvPr>
            <p:ph type="sldNum" sz="quarter" idx="5"/>
          </p:nvPr>
        </p:nvSpPr>
        <p:spPr/>
        <p:txBody>
          <a:bodyPr/>
          <a:lstStyle/>
          <a:p>
            <a:fld id="{C3E9B8F7-F11D-7247-854D-760B01224C6A}" type="slidenum">
              <a:rPr kumimoji="1" lang="ja-JP" altLang="en-US" smtClean="0"/>
              <a:t>15</a:t>
            </a:fld>
            <a:endParaRPr kumimoji="1" lang="ja-JP" altLang="en-US"/>
          </a:p>
        </p:txBody>
      </p:sp>
    </p:spTree>
    <p:extLst>
      <p:ext uri="{BB962C8B-B14F-4D97-AF65-F5344CB8AC3E}">
        <p14:creationId xmlns:p14="http://schemas.microsoft.com/office/powerpoint/2010/main" val="11989314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b="1" dirty="0"/>
              <a:t>１</a:t>
            </a:r>
            <a:r>
              <a:rPr lang="en-US" altLang="ja-JP" b="1" dirty="0"/>
              <a:t>. </a:t>
            </a:r>
            <a:r>
              <a:rPr lang="ja-JP" altLang="en-US" b="1" dirty="0"/>
              <a:t>ネイティブ全文検索</a:t>
            </a:r>
          </a:p>
          <a:p>
            <a:r>
              <a:rPr lang="ja-JP" altLang="en-US" b="1" dirty="0">
                <a:effectLst/>
              </a:rPr>
              <a:t>定義</a:t>
            </a:r>
            <a:r>
              <a:rPr lang="ja-JP" altLang="en-US" dirty="0">
                <a:effectLst/>
              </a:rPr>
              <a:t>：データベースエンジン内で提供される、テキストデータの高速かつ柔軟な検索機能。ドキュメントやテキストフィールド（例</a:t>
            </a:r>
            <a:r>
              <a:rPr lang="en-US" altLang="ja-JP" dirty="0">
                <a:effectLst/>
              </a:rPr>
              <a:t>: PDF</a:t>
            </a:r>
            <a:r>
              <a:rPr lang="ja-JP" altLang="en-US" dirty="0">
                <a:effectLst/>
              </a:rPr>
              <a:t>、</a:t>
            </a:r>
            <a:r>
              <a:rPr lang="en-US" altLang="ja-JP" dirty="0">
                <a:effectLst/>
              </a:rPr>
              <a:t>Word</a:t>
            </a:r>
            <a:r>
              <a:rPr lang="ja-JP" altLang="en-US" dirty="0">
                <a:effectLst/>
              </a:rPr>
              <a:t>ファイルの内容、</a:t>
            </a:r>
            <a:r>
              <a:rPr lang="en-US" altLang="ja-JP" dirty="0">
                <a:effectLst/>
              </a:rPr>
              <a:t>VARCHAR</a:t>
            </a:r>
            <a:r>
              <a:rPr lang="ja-JP" altLang="en-US" dirty="0">
                <a:effectLst/>
              </a:rPr>
              <a:t>列）内の単語やフレーズを検索し、インデックスを利用して効率的に結果を返す。</a:t>
            </a:r>
          </a:p>
          <a:p>
            <a:br>
              <a:rPr kumimoji="1" lang="en-US" altLang="ja-JP" dirty="0">
                <a:latin typeface="Yu Gothic UI" panose="020B0500000000000000" pitchFamily="50" charset="-128"/>
                <a:ea typeface="Yu Gothic UI" panose="020B0500000000000000" pitchFamily="50" charset="-128"/>
              </a:rPr>
            </a:br>
            <a:r>
              <a:rPr lang="en-US" altLang="ja-JP" b="1" dirty="0"/>
              <a:t>2. </a:t>
            </a:r>
            <a:r>
              <a:rPr lang="ja-JP" altLang="en-US" b="1" dirty="0"/>
              <a:t>テキスト抽出機能</a:t>
            </a:r>
          </a:p>
          <a:p>
            <a:r>
              <a:rPr lang="ja-JP" altLang="en-US" b="1" dirty="0">
                <a:effectLst/>
              </a:rPr>
              <a:t>定義</a:t>
            </a:r>
            <a:r>
              <a:rPr lang="ja-JP" altLang="en-US" dirty="0">
                <a:effectLst/>
              </a:rPr>
              <a:t>：添付ファイル（例</a:t>
            </a:r>
            <a:r>
              <a:rPr lang="en-US" altLang="ja-JP" dirty="0">
                <a:effectLst/>
              </a:rPr>
              <a:t>: PDF</a:t>
            </a:r>
            <a:r>
              <a:rPr lang="ja-JP" altLang="en-US" dirty="0">
                <a:effectLst/>
              </a:rPr>
              <a:t>、画像、</a:t>
            </a:r>
            <a:r>
              <a:rPr lang="en-US" altLang="ja-JP" dirty="0">
                <a:effectLst/>
              </a:rPr>
              <a:t>Word</a:t>
            </a:r>
            <a:r>
              <a:rPr lang="ja-JP" altLang="en-US" dirty="0">
                <a:effectLst/>
              </a:rPr>
              <a:t>）からテキストやメタデータを自動的に抽出し、データベース内で検索や分析に利用できるようにする機能。</a:t>
            </a:r>
          </a:p>
          <a:p>
            <a:br>
              <a:rPr kumimoji="1" lang="en-US" altLang="ja-JP" dirty="0">
                <a:latin typeface="Yu Gothic UI" panose="020B0500000000000000" pitchFamily="50" charset="-128"/>
                <a:ea typeface="Yu Gothic UI" panose="020B0500000000000000" pitchFamily="50" charset="-128"/>
              </a:rPr>
            </a:br>
            <a:r>
              <a:rPr lang="en-US" altLang="ja-JP" b="1" dirty="0"/>
              <a:t>3. </a:t>
            </a:r>
            <a:r>
              <a:rPr lang="ja-JP" altLang="en-US" b="1" dirty="0"/>
              <a:t>非テキスト検索</a:t>
            </a:r>
          </a:p>
          <a:p>
            <a:r>
              <a:rPr lang="ja-JP" altLang="en-US" b="1" dirty="0">
                <a:effectLst/>
              </a:rPr>
              <a:t>定義</a:t>
            </a:r>
            <a:r>
              <a:rPr lang="ja-JP" altLang="en-US" dirty="0">
                <a:effectLst/>
              </a:rPr>
              <a:t>：テキスト以外のデータ（例</a:t>
            </a:r>
            <a:r>
              <a:rPr lang="en-US" altLang="ja-JP" dirty="0">
                <a:effectLst/>
              </a:rPr>
              <a:t>: </a:t>
            </a:r>
            <a:r>
              <a:rPr lang="ja-JP" altLang="en-US" dirty="0">
                <a:effectLst/>
              </a:rPr>
              <a:t>画像、動画、音声、バイナリファイル）やそのメタデータ（例</a:t>
            </a:r>
            <a:r>
              <a:rPr lang="en-US" altLang="ja-JP" dirty="0">
                <a:effectLst/>
              </a:rPr>
              <a:t>: </a:t>
            </a:r>
            <a:r>
              <a:rPr lang="ja-JP" altLang="en-US" dirty="0">
                <a:effectLst/>
              </a:rPr>
              <a:t>タグ、ファイル属性）を対象とした検索。画像内のオブジェクト認識やバイナリデータのハッシュ検索なども含む。</a:t>
            </a:r>
          </a:p>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dirty="0">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E9B8F7-F11D-7247-854D-760B01224C6A}" type="slidenum">
              <a:rPr kumimoji="1" lang="ja-JP" altLang="en-US" sz="1200" b="0" i="0" u="none" strike="noStrike" kern="1200" cap="none" spc="0" normalizeH="0" baseline="0" noProof="0" smtClean="0">
                <a:ln>
                  <a:noFill/>
                </a:ln>
                <a:solidFill>
                  <a:prstClr val="black"/>
                </a:solidFill>
                <a:effectLst/>
                <a:uLnTx/>
                <a:uFillTx/>
                <a:latin typeface="游ゴシック"/>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1" lang="ja-JP" altLang="en-US" sz="1200" b="0" i="0" u="none" strike="noStrike" kern="1200" cap="none" spc="0" normalizeH="0" baseline="0" noProof="0">
              <a:ln>
                <a:noFill/>
              </a:ln>
              <a:solidFill>
                <a:prstClr val="black"/>
              </a:solidFill>
              <a:effectLst/>
              <a:uLnTx/>
              <a:uFillTx/>
              <a:latin typeface="游ゴシック"/>
              <a:ea typeface="游ゴシック" panose="020B0400000000000000" pitchFamily="50" charset="-128"/>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dirty="0">
                <a:latin typeface="Yu Gothic UI" panose="020B0500000000000000" pitchFamily="50" charset="-128"/>
                <a:ea typeface="Yu Gothic UI" panose="020B0500000000000000" pitchFamily="50" charset="-128"/>
              </a:rPr>
              <a:t>目的</a:t>
            </a:r>
            <a:r>
              <a:rPr kumimoji="1" lang="en-US" altLang="ja-JP" dirty="0">
                <a:latin typeface="Yu Gothic UI" panose="020B0500000000000000" pitchFamily="50" charset="-128"/>
                <a:ea typeface="Yu Gothic UI" panose="020B0500000000000000" pitchFamily="50" charset="-128"/>
              </a:rPr>
              <a:t>: </a:t>
            </a:r>
            <a:r>
              <a:rPr kumimoji="1" lang="ja-JP" altLang="en-US" dirty="0">
                <a:latin typeface="Yu Gothic UI" panose="020B0500000000000000" pitchFamily="50" charset="-128"/>
                <a:ea typeface="Yu Gothic UI" panose="020B0500000000000000" pitchFamily="50" charset="-128"/>
              </a:rPr>
              <a:t>システム全体像を提示し、技術方案の基盤を説明。</a:t>
            </a:r>
            <a:endParaRPr kumimoji="1" lang="en-US" altLang="ja-JP" dirty="0">
              <a:latin typeface="Yu Gothic UI" panose="020B0500000000000000" pitchFamily="50" charset="-128"/>
              <a:ea typeface="Yu Gothic UI" panose="020B0500000000000000" pitchFamily="50" charset="-128"/>
            </a:endParaRPr>
          </a:p>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dirty="0">
                <a:latin typeface="Yu Gothic UI" panose="020B0500000000000000" pitchFamily="50" charset="-128"/>
                <a:ea typeface="Yu Gothic UI" panose="020B0500000000000000" pitchFamily="50" charset="-128"/>
              </a:rPr>
              <a:t>図</a:t>
            </a:r>
            <a:r>
              <a:rPr kumimoji="1" lang="en-US" altLang="ja-JP" dirty="0">
                <a:latin typeface="Yu Gothic UI" panose="020B0500000000000000" pitchFamily="50" charset="-128"/>
                <a:ea typeface="Yu Gothic UI" panose="020B0500000000000000" pitchFamily="50" charset="-128"/>
              </a:rPr>
              <a:t>: </a:t>
            </a:r>
            <a:r>
              <a:rPr kumimoji="1" lang="ja-JP" altLang="en-US" dirty="0">
                <a:latin typeface="Yu Gothic UI" panose="020B0500000000000000" pitchFamily="50" charset="-128"/>
                <a:ea typeface="Yu Gothic UI" panose="020B0500000000000000" pitchFamily="50" charset="-128"/>
              </a:rPr>
              <a:t>アーキテクチャ図を挿入（</a:t>
            </a:r>
            <a:r>
              <a:rPr kumimoji="1" lang="en-US" altLang="ja-JP" dirty="0">
                <a:latin typeface="Yu Gothic UI" panose="020B0500000000000000" pitchFamily="50" charset="-128"/>
                <a:ea typeface="Yu Gothic UI" panose="020B0500000000000000" pitchFamily="50" charset="-128"/>
              </a:rPr>
              <a:t>PowerApps → Dataverse/SQL Server → SharePoint → Office 365</a:t>
            </a:r>
            <a:r>
              <a:rPr kumimoji="1" lang="ja-JP" altLang="en-US" dirty="0">
                <a:latin typeface="Yu Gothic UI" panose="020B0500000000000000" pitchFamily="50" charset="-128"/>
                <a:ea typeface="Yu Gothic UI" panose="020B0500000000000000" pitchFamily="50" charset="-128"/>
              </a:rPr>
              <a:t>）。</a:t>
            </a:r>
            <a:endParaRPr lang="en-US" altLang="ja-JP" dirty="0">
              <a:latin typeface="Yu Gothic UI" panose="020B0500000000000000" pitchFamily="50" charset="-128"/>
              <a:ea typeface="Yu Gothic UI" panose="020B0500000000000000" pitchFamily="50" charset="-128"/>
            </a:endParaRPr>
          </a:p>
          <a:p>
            <a:pPr marL="0" marR="0" lvl="0" indent="0" algn="l" defTabSz="914400" rtl="0" eaLnBrk="1" fontAlgn="auto" latinLnBrk="0" hangingPunct="1">
              <a:lnSpc>
                <a:spcPct val="100000"/>
              </a:lnSpc>
              <a:spcBef>
                <a:spcPts val="0"/>
              </a:spcBef>
              <a:spcAft>
                <a:spcPts val="0"/>
              </a:spcAft>
              <a:buClrTx/>
              <a:buSzTx/>
              <a:buFontTx/>
              <a:buNone/>
              <a:defRPr/>
            </a:pPr>
            <a:br>
              <a:rPr kumimoji="1" lang="en-US" altLang="ja-JP" dirty="0">
                <a:latin typeface="Yu Gothic UI" panose="020B0500000000000000" pitchFamily="50" charset="-128"/>
                <a:ea typeface="Yu Gothic UI" panose="020B0500000000000000" pitchFamily="50" charset="-128"/>
              </a:rPr>
            </a:br>
            <a:r>
              <a:rPr kumimoji="1" lang="ja-JP" altLang="en-US" dirty="0">
                <a:latin typeface="Yu Gothic UI" panose="020B0500000000000000" pitchFamily="50" charset="-128"/>
                <a:ea typeface="Yu Gothic UI" panose="020B0500000000000000" pitchFamily="50" charset="-128"/>
              </a:rPr>
              <a:t>なぜ添付ファイルは</a:t>
            </a:r>
            <a:r>
              <a:rPr kumimoji="1" lang="en-US" altLang="ja-JP" dirty="0" err="1">
                <a:latin typeface="Yu Gothic UI" panose="020B0500000000000000" pitchFamily="50" charset="-128"/>
                <a:ea typeface="Yu Gothic UI" panose="020B0500000000000000" pitchFamily="50" charset="-128"/>
              </a:rPr>
              <a:t>ShraePoint</a:t>
            </a:r>
            <a:r>
              <a:rPr kumimoji="1" lang="ja-JP" altLang="en-US" dirty="0">
                <a:latin typeface="Yu Gothic UI" panose="020B0500000000000000" pitchFamily="50" charset="-128"/>
                <a:ea typeface="Yu Gothic UI" panose="020B0500000000000000" pitchFamily="50" charset="-128"/>
              </a:rPr>
              <a:t>にお薦めなのか：</a:t>
            </a:r>
            <a:br>
              <a:rPr kumimoji="1" lang="en-US" altLang="ja-JP" dirty="0">
                <a:latin typeface="Yu Gothic UI" panose="020B0500000000000000" pitchFamily="50" charset="-128"/>
                <a:ea typeface="Yu Gothic UI" panose="020B0500000000000000" pitchFamily="50" charset="-128"/>
              </a:rPr>
            </a:br>
            <a:r>
              <a:rPr kumimoji="1" lang="ja-JP" altLang="en-US" dirty="0">
                <a:latin typeface="Yu Gothic UI" panose="020B0500000000000000" pitchFamily="50" charset="-128"/>
                <a:ea typeface="Yu Gothic UI" panose="020B0500000000000000" pitchFamily="50" charset="-128"/>
              </a:rPr>
              <a:t>１．</a:t>
            </a:r>
            <a:r>
              <a:rPr kumimoji="1" lang="en-US" altLang="ja-JP" dirty="0">
                <a:latin typeface="Yu Gothic UI" panose="020B0500000000000000" pitchFamily="50" charset="-128"/>
                <a:ea typeface="Yu Gothic UI" panose="020B0500000000000000" pitchFamily="50" charset="-128"/>
              </a:rPr>
              <a:t>SPO</a:t>
            </a:r>
            <a:r>
              <a:rPr kumimoji="1" lang="ja-JP" altLang="en-US" dirty="0">
                <a:latin typeface="Yu Gothic UI" panose="020B0500000000000000" pitchFamily="50" charset="-128"/>
                <a:ea typeface="Yu Gothic UI" panose="020B0500000000000000" pitchFamily="50" charset="-128"/>
              </a:rPr>
              <a:t>の検索機能を利用し、添付ファイルの検索は自然的にできる。（</a:t>
            </a:r>
            <a:r>
              <a:rPr kumimoji="1" lang="en-US" altLang="ja-JP" dirty="0" err="1">
                <a:latin typeface="Yu Gothic UI" panose="020B0500000000000000" pitchFamily="50" charset="-128"/>
                <a:ea typeface="Yu Gothic UI" panose="020B0500000000000000" pitchFamily="50" charset="-128"/>
              </a:rPr>
              <a:t>A.GraphAPI</a:t>
            </a:r>
            <a:r>
              <a:rPr kumimoji="1" lang="ja-JP" altLang="en-US" dirty="0">
                <a:latin typeface="Yu Gothic UI" panose="020B0500000000000000" pitchFamily="50" charset="-128"/>
                <a:ea typeface="Yu Gothic UI" panose="020B0500000000000000" pitchFamily="50" charset="-128"/>
              </a:rPr>
              <a:t>経由で必要 </a:t>
            </a:r>
            <a:r>
              <a:rPr kumimoji="1" lang="en-US" altLang="ja-JP" dirty="0">
                <a:latin typeface="Yu Gothic UI" panose="020B0500000000000000" pitchFamily="50" charset="-128"/>
                <a:ea typeface="Yu Gothic UI" panose="020B0500000000000000" pitchFamily="50" charset="-128"/>
              </a:rPr>
              <a:t>B.</a:t>
            </a:r>
            <a:r>
              <a:rPr kumimoji="1" lang="ja-JP" altLang="en-US" dirty="0">
                <a:latin typeface="Yu Gothic UI" panose="020B0500000000000000" pitchFamily="50" charset="-128"/>
                <a:ea typeface="Yu Gothic UI" panose="020B0500000000000000" pitchFamily="50" charset="-128"/>
              </a:rPr>
              <a:t>）</a:t>
            </a:r>
            <a:endParaRPr kumimoji="1" lang="en-US" altLang="ja-JP" dirty="0">
              <a:latin typeface="Yu Gothic UI" panose="020B0500000000000000" pitchFamily="50" charset="-128"/>
              <a:ea typeface="Yu Gothic UI" panose="020B0500000000000000" pitchFamily="50" charset="-128"/>
            </a:endParaRPr>
          </a:p>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dirty="0">
                <a:latin typeface="Yu Gothic UI" panose="020B0500000000000000" pitchFamily="50" charset="-128"/>
                <a:ea typeface="Yu Gothic UI" panose="020B0500000000000000" pitchFamily="50" charset="-128"/>
              </a:rPr>
              <a:t>２．</a:t>
            </a:r>
            <a:r>
              <a:rPr kumimoji="1" lang="en-US" altLang="zh-CN" dirty="0" err="1">
                <a:latin typeface="Yu Gothic UI" panose="020B0500000000000000" pitchFamily="50" charset="-128"/>
                <a:ea typeface="Yu Gothic UI" panose="020B0500000000000000" pitchFamily="50" charset="-128"/>
              </a:rPr>
              <a:t>Sqlserver</a:t>
            </a:r>
            <a:r>
              <a:rPr kumimoji="1" lang="ja-JP" altLang="en-US" dirty="0">
                <a:latin typeface="Yu Gothic UI" panose="020B0500000000000000" pitchFamily="50" charset="-128"/>
                <a:ea typeface="Yu Gothic UI" panose="020B0500000000000000" pitchFamily="50" charset="-128"/>
              </a:rPr>
              <a:t>もファイル内容を検索する機能をサポートしていますが、実案件の利用経験がないため、全面</a:t>
            </a:r>
            <a:r>
              <a:rPr kumimoji="1" lang="en-US" altLang="ja-JP" dirty="0">
                <a:latin typeface="Yu Gothic UI" panose="020B0500000000000000" pitchFamily="50" charset="-128"/>
                <a:ea typeface="Yu Gothic UI" panose="020B0500000000000000" pitchFamily="50" charset="-128"/>
              </a:rPr>
              <a:t>t</a:t>
            </a:r>
            <a:r>
              <a:rPr kumimoji="1" lang="ja-JP" altLang="en-US" dirty="0">
                <a:latin typeface="Yu Gothic UI" panose="020B0500000000000000" pitchFamily="50" charset="-128"/>
                <a:ea typeface="Yu Gothic UI" panose="020B0500000000000000" pitchFamily="50" charset="-128"/>
              </a:rPr>
              <a:t>的に検証が必要。</a:t>
            </a:r>
            <a:r>
              <a:rPr kumimoji="1" lang="en-US" altLang="ja-JP" dirty="0">
                <a:latin typeface="Yu Gothic UI" panose="020B0500000000000000" pitchFamily="50" charset="-128"/>
                <a:ea typeface="Yu Gothic UI" panose="020B0500000000000000" pitchFamily="50" charset="-128"/>
              </a:rPr>
              <a:t>POC</a:t>
            </a:r>
            <a:r>
              <a:rPr kumimoji="1" lang="ja-JP" altLang="en-US" dirty="0">
                <a:latin typeface="Yu Gothic UI" panose="020B0500000000000000" pitchFamily="50" charset="-128"/>
                <a:ea typeface="Yu Gothic UI" panose="020B0500000000000000" pitchFamily="50" charset="-128"/>
              </a:rPr>
              <a:t>の作業範囲が広がる、性能などの考慮・評価は複雑</a:t>
            </a:r>
            <a:endParaRPr kumimoji="1" lang="en-US" altLang="ja-JP" dirty="0">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17</a:t>
            </a:fld>
            <a:endParaRPr kumimoji="1" lang="ja-JP"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C60C2-EF7E-723B-FD74-5CBE546F590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FA7CF87-EC32-2ED9-C501-903291220D8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5F037AC-D9A6-D8E9-4FF0-DBCFC9B6E2E8}"/>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B20D3BE-DA1B-836B-3A38-DBCC771C391A}"/>
              </a:ext>
            </a:extLst>
          </p:cNvPr>
          <p:cNvSpPr>
            <a:spLocks noGrp="1"/>
          </p:cNvSpPr>
          <p:nvPr>
            <p:ph type="sldNum" sz="quarter" idx="5"/>
          </p:nvPr>
        </p:nvSpPr>
        <p:spPr/>
        <p:txBody>
          <a:bodyPr/>
          <a:lstStyle/>
          <a:p>
            <a:fld id="{C3E9B8F7-F11D-7247-854D-760B01224C6A}" type="slidenum">
              <a:rPr kumimoji="1" lang="ja-JP" altLang="en-US" smtClean="0"/>
              <a:t>18</a:t>
            </a:fld>
            <a:endParaRPr kumimoji="1" lang="ja-JP" altLang="en-US"/>
          </a:p>
        </p:txBody>
      </p:sp>
    </p:spTree>
    <p:extLst>
      <p:ext uri="{BB962C8B-B14F-4D97-AF65-F5344CB8AC3E}">
        <p14:creationId xmlns:p14="http://schemas.microsoft.com/office/powerpoint/2010/main" val="7543310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19</a:t>
            </a:fld>
            <a:endParaRPr kumimoji="1" lang="ja-JP"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59C32-8A3B-7807-60D1-CDAF42CBCE1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47FA402-AFB8-30DA-D7D1-F36F5A30322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926BE4C-7293-47D6-EC8C-A01DEC10E37A}"/>
              </a:ext>
            </a:extLst>
          </p:cNvPr>
          <p:cNvSpPr>
            <a:spLocks noGrp="1"/>
          </p:cNvSpPr>
          <p:nvPr>
            <p:ph type="body" idx="1"/>
          </p:nvPr>
        </p:nvSpPr>
        <p:spPr/>
        <p:txBody>
          <a:bodyPr/>
          <a:lstStyle/>
          <a:p>
            <a:pPr fontAlgn="ctr"/>
            <a:r>
              <a:rPr lang="de-DE" altLang="ja-JP" dirty="0"/>
              <a:t>Can view </a:t>
            </a:r>
            <a:r>
              <a:rPr lang="ja-JP" altLang="en-US" dirty="0"/>
              <a:t>⇒　閲覧 </a:t>
            </a:r>
            <a:r>
              <a:rPr lang="en-US" altLang="ja-JP" dirty="0"/>
              <a:t>(</a:t>
            </a:r>
            <a:r>
              <a:rPr lang="de-DE" altLang="ja-JP" dirty="0"/>
              <a:t>Read)</a:t>
            </a:r>
            <a:r>
              <a:rPr lang="ja-JP" altLang="en-US" dirty="0"/>
              <a:t>　⇒　　サイトやドキュメントを</a:t>
            </a:r>
            <a:r>
              <a:rPr lang="ja-JP" altLang="en-US" b="1" dirty="0"/>
              <a:t>表示</a:t>
            </a:r>
            <a:r>
              <a:rPr lang="ja-JP" altLang="en-US" dirty="0"/>
              <a:t>できます。ファイルを開いて読むことはできますが、内容を変更したり、新しいアイテムを追加したりすることはできません。</a:t>
            </a:r>
            <a:endParaRPr lang="en-US" altLang="ja-JP" dirty="0"/>
          </a:p>
          <a:p>
            <a:pPr marL="0" marR="0" lvl="0" indent="0" algn="l" defTabSz="914400" rtl="0" eaLnBrk="1" fontAlgn="ctr" latinLnBrk="0" hangingPunct="1">
              <a:lnSpc>
                <a:spcPct val="100000"/>
              </a:lnSpc>
              <a:spcBef>
                <a:spcPts val="0"/>
              </a:spcBef>
              <a:spcAft>
                <a:spcPts val="0"/>
              </a:spcAft>
              <a:buClrTx/>
              <a:buSzTx/>
              <a:buFontTx/>
              <a:buNone/>
              <a:tabLst/>
              <a:defRPr/>
            </a:pPr>
            <a:r>
              <a:rPr lang="de-DE" altLang="ja-JP" dirty="0"/>
              <a:t>Can download</a:t>
            </a:r>
            <a:r>
              <a:rPr lang="ja-JP" altLang="en-US" dirty="0"/>
              <a:t>　⇒　閲覧 </a:t>
            </a:r>
            <a:r>
              <a:rPr lang="en-US" altLang="ja-JP" dirty="0"/>
              <a:t>(</a:t>
            </a:r>
            <a:r>
              <a:rPr lang="de-DE" altLang="ja-JP" dirty="0"/>
              <a:t>Read)</a:t>
            </a:r>
            <a:r>
              <a:rPr lang="ja-JP" altLang="en-US" dirty="0"/>
              <a:t>　⇒　　「閲覧」権限の一部として、ファイルを開くだけでなく、</a:t>
            </a:r>
            <a:r>
              <a:rPr lang="ja-JP" altLang="en-US" b="1" dirty="0"/>
              <a:t>自分のローカルデバイスにコピーとしてダウンロード</a:t>
            </a:r>
            <a:r>
              <a:rPr lang="ja-JP" altLang="en-US" dirty="0"/>
              <a:t>できます。</a:t>
            </a:r>
            <a:endParaRPr lang="en-US" altLang="ja-JP" dirty="0"/>
          </a:p>
          <a:p>
            <a:pPr marL="0" marR="0" lvl="0" indent="0" algn="l" defTabSz="914400" rtl="0" eaLnBrk="1" fontAlgn="ctr" latinLnBrk="0" hangingPunct="1">
              <a:lnSpc>
                <a:spcPct val="100000"/>
              </a:lnSpc>
              <a:spcBef>
                <a:spcPts val="0"/>
              </a:spcBef>
              <a:spcAft>
                <a:spcPts val="0"/>
              </a:spcAft>
              <a:buClrTx/>
              <a:buSzTx/>
              <a:buFontTx/>
              <a:buNone/>
              <a:tabLst/>
              <a:defRPr/>
            </a:pPr>
            <a:r>
              <a:rPr lang="de-DE" altLang="ja-JP" dirty="0"/>
              <a:t>Can review </a:t>
            </a:r>
            <a:r>
              <a:rPr lang="ja-JP" altLang="en-US" dirty="0"/>
              <a:t>⇒　</a:t>
            </a:r>
            <a:r>
              <a:rPr lang="ja-JP" altLang="en-US" b="1" dirty="0"/>
              <a:t>投稿 </a:t>
            </a:r>
            <a:r>
              <a:rPr lang="en-US" altLang="ja-JP" b="1" dirty="0"/>
              <a:t>(Contribute)</a:t>
            </a:r>
            <a:r>
              <a:rPr lang="ja-JP" altLang="en-US" dirty="0"/>
              <a:t> の拡張、または </a:t>
            </a:r>
            <a:r>
              <a:rPr lang="ja-JP" altLang="en-US" b="1" dirty="0"/>
              <a:t>カスタム　</a:t>
            </a:r>
            <a:r>
              <a:rPr lang="ja-JP" altLang="en-US" dirty="0"/>
              <a:t>⇒　　ファイルを</a:t>
            </a:r>
            <a:r>
              <a:rPr lang="ja-JP" altLang="en-US" b="1" dirty="0"/>
              <a:t>閲覧</a:t>
            </a:r>
            <a:r>
              <a:rPr lang="ja-JP" altLang="en-US" dirty="0"/>
              <a:t>し、</a:t>
            </a:r>
            <a:r>
              <a:rPr lang="ja-JP" altLang="en-US" b="1" dirty="0"/>
              <a:t>コメントを追加</a:t>
            </a:r>
            <a:r>
              <a:rPr lang="ja-JP" altLang="en-US" dirty="0"/>
              <a:t>したり、ドキュメントの</a:t>
            </a:r>
            <a:r>
              <a:rPr lang="ja-JP" altLang="en-US" b="1" dirty="0"/>
              <a:t>承認プロセスに参加</a:t>
            </a:r>
            <a:r>
              <a:rPr lang="ja-JP" altLang="en-US" dirty="0"/>
              <a:t>したりできます。コンテンツの</a:t>
            </a:r>
            <a:r>
              <a:rPr lang="ja-JP" altLang="en-US" b="1" dirty="0"/>
              <a:t>直接的な編集・削除は含まない</a:t>
            </a:r>
            <a:r>
              <a:rPr lang="ja-JP" altLang="en-US" dirty="0"/>
              <a:t>ことが一般的です。</a:t>
            </a:r>
            <a:endParaRPr lang="en-US" altLang="ja-JP" dirty="0"/>
          </a:p>
          <a:p>
            <a:r>
              <a:rPr lang="de-DE" altLang="ja-JP" dirty="0"/>
              <a:t>Can edit</a:t>
            </a:r>
            <a:r>
              <a:rPr lang="ja-JP" altLang="en-US" dirty="0"/>
              <a:t>　⇒　編集 </a:t>
            </a:r>
            <a:r>
              <a:rPr lang="en-US" altLang="ja-JP" dirty="0"/>
              <a:t>(</a:t>
            </a:r>
            <a:r>
              <a:rPr lang="de-DE" altLang="ja-JP" dirty="0"/>
              <a:t>Edit)</a:t>
            </a:r>
            <a:r>
              <a:rPr lang="ja-JP" altLang="en-US" dirty="0"/>
              <a:t>　⇒　　</a:t>
            </a:r>
            <a:r>
              <a:rPr lang="ja-JP" altLang="en-US" b="1" dirty="0"/>
              <a:t>アイテムの追加、編集、削除</a:t>
            </a:r>
            <a:r>
              <a:rPr lang="ja-JP" altLang="en-US" dirty="0"/>
              <a:t>ができます。ドキュメントライブラリ内のファイルを直接修正したり、リストに新しいアイテムを追加したりできます。</a:t>
            </a:r>
            <a:br>
              <a:rPr lang="en-US" altLang="ja-JP" dirty="0"/>
            </a:br>
            <a:br>
              <a:rPr lang="en-US" altLang="ja-JP" dirty="0"/>
            </a:br>
            <a:br>
              <a:rPr lang="en-US" altLang="ja-JP" dirty="0"/>
            </a:br>
            <a:r>
              <a:rPr lang="en-US" altLang="ja-JP" b="1" dirty="0"/>
              <a:t>1. </a:t>
            </a:r>
            <a:r>
              <a:rPr lang="ja-JP" altLang="en-US" b="1" dirty="0"/>
              <a:t>閲覧 </a:t>
            </a:r>
            <a:r>
              <a:rPr lang="en-US" altLang="ja-JP" b="1" dirty="0"/>
              <a:t>(Read) </a:t>
            </a:r>
            <a:r>
              <a:rPr lang="ja-JP" altLang="en-US" b="1" dirty="0"/>
              <a:t>権限：</a:t>
            </a:r>
            <a:r>
              <a:rPr lang="en-US" altLang="ja-JP" b="1" dirty="0"/>
              <a:t>Can view, Can download</a:t>
            </a:r>
          </a:p>
          <a:p>
            <a:r>
              <a:rPr lang="ja-JP" altLang="en-US" dirty="0"/>
              <a:t>これが最も制限された権限レベルです。</a:t>
            </a:r>
          </a:p>
          <a:p>
            <a:r>
              <a:rPr lang="ja-JP" altLang="en-US" b="1" dirty="0"/>
              <a:t>できること</a:t>
            </a:r>
            <a:r>
              <a:rPr lang="en-US" altLang="ja-JP" b="1" dirty="0"/>
              <a:t>:</a:t>
            </a:r>
            <a:endParaRPr lang="ja-JP" altLang="en-US" dirty="0"/>
          </a:p>
          <a:p>
            <a:pPr lvl="1"/>
            <a:r>
              <a:rPr lang="ja-JP" altLang="en-US" b="1" dirty="0"/>
              <a:t>ファイルの表示</a:t>
            </a:r>
            <a:r>
              <a:rPr lang="en-US" altLang="ja-JP" b="1" dirty="0"/>
              <a:t>/</a:t>
            </a:r>
            <a:r>
              <a:rPr lang="ja-JP" altLang="en-US" b="1" dirty="0"/>
              <a:t>プレビュー </a:t>
            </a:r>
            <a:r>
              <a:rPr lang="en-US" altLang="ja-JP" b="1" dirty="0"/>
              <a:t>(Can view):</a:t>
            </a:r>
            <a:r>
              <a:rPr lang="ja-JP" altLang="en-US" dirty="0"/>
              <a:t> ドキュメントやリストアイテムの内容を見ることができます。</a:t>
            </a:r>
          </a:p>
          <a:p>
            <a:pPr lvl="1"/>
            <a:r>
              <a:rPr lang="ja-JP" altLang="en-US" b="1" dirty="0"/>
              <a:t>ダウンロード </a:t>
            </a:r>
            <a:r>
              <a:rPr lang="en-US" altLang="ja-JP" b="1" dirty="0"/>
              <a:t>(Can download):</a:t>
            </a:r>
            <a:r>
              <a:rPr lang="ja-JP" altLang="en-US" dirty="0"/>
              <a:t> ファイルをローカルに保存できます。</a:t>
            </a:r>
          </a:p>
          <a:p>
            <a:pPr lvl="1"/>
            <a:r>
              <a:rPr lang="ja-JP" altLang="en-US" b="1" dirty="0"/>
              <a:t>バージョン履歴の表示</a:t>
            </a:r>
            <a:r>
              <a:rPr lang="en-US" altLang="ja-JP" b="1" dirty="0"/>
              <a:t>:</a:t>
            </a:r>
            <a:r>
              <a:rPr lang="ja-JP" altLang="en-US" dirty="0"/>
              <a:t> アイテムの変更履歴を見ることができます。</a:t>
            </a:r>
          </a:p>
          <a:p>
            <a:r>
              <a:rPr lang="ja-JP" altLang="en-US" b="1" dirty="0"/>
              <a:t>できないこと</a:t>
            </a:r>
            <a:r>
              <a:rPr lang="en-US" altLang="ja-JP" b="1" dirty="0"/>
              <a:t>:</a:t>
            </a:r>
            <a:endParaRPr lang="ja-JP" altLang="en-US" dirty="0"/>
          </a:p>
          <a:p>
            <a:pPr lvl="1"/>
            <a:r>
              <a:rPr lang="ja-JP" altLang="en-US" b="1" dirty="0"/>
              <a:t>ファイルの変更、編集、削除、名前の変更。</a:t>
            </a:r>
            <a:endParaRPr lang="ja-JP" altLang="en-US" dirty="0"/>
          </a:p>
          <a:p>
            <a:pPr lvl="1"/>
            <a:r>
              <a:rPr lang="ja-JP" altLang="en-US" b="1" dirty="0"/>
              <a:t>新しいファイルの追加。</a:t>
            </a:r>
            <a:endParaRPr lang="ja-JP" altLang="en-US" dirty="0"/>
          </a:p>
          <a:p>
            <a:r>
              <a:rPr lang="en-US" altLang="ja-JP" b="1" dirty="0"/>
              <a:t>2. </a:t>
            </a:r>
            <a:r>
              <a:rPr lang="ja-JP" altLang="en-US" b="1" dirty="0"/>
              <a:t>編集 </a:t>
            </a:r>
            <a:r>
              <a:rPr lang="en-US" altLang="ja-JP" b="1" dirty="0"/>
              <a:t>(Edit) </a:t>
            </a:r>
            <a:r>
              <a:rPr lang="ja-JP" altLang="en-US" b="1" dirty="0"/>
              <a:t>権限：</a:t>
            </a:r>
            <a:r>
              <a:rPr lang="en-US" altLang="ja-JP" b="1" dirty="0"/>
              <a:t>Can edit</a:t>
            </a:r>
          </a:p>
          <a:p>
            <a:r>
              <a:rPr lang="ja-JP" altLang="en-US" dirty="0"/>
              <a:t>これはサイトの日常的なコンテンツ管理に最も使われる権限です。</a:t>
            </a:r>
          </a:p>
          <a:p>
            <a:r>
              <a:rPr lang="ja-JP" altLang="en-US" b="1" dirty="0"/>
              <a:t>できること</a:t>
            </a:r>
            <a:r>
              <a:rPr lang="en-US" altLang="ja-JP" b="1" dirty="0"/>
              <a:t>:</a:t>
            </a:r>
            <a:endParaRPr lang="ja-JP" altLang="en-US" dirty="0"/>
          </a:p>
          <a:p>
            <a:pPr lvl="1"/>
            <a:r>
              <a:rPr lang="ja-JP" altLang="en-US" dirty="0"/>
              <a:t>「閲覧」権限のすべて。</a:t>
            </a:r>
          </a:p>
          <a:p>
            <a:pPr lvl="1"/>
            <a:r>
              <a:rPr lang="ja-JP" altLang="en-US" b="1" dirty="0"/>
              <a:t>アイテムの追加、変更、削除 </a:t>
            </a:r>
            <a:r>
              <a:rPr lang="en-US" altLang="ja-JP" b="1" dirty="0"/>
              <a:t>(Can edit):</a:t>
            </a:r>
            <a:r>
              <a:rPr lang="ja-JP" altLang="en-US" dirty="0"/>
              <a:t> ドキュメントの内容を修正したり、ライブラリから削除したり、リストに新しい項目を追加したりできます。</a:t>
            </a:r>
          </a:p>
          <a:p>
            <a:pPr lvl="1"/>
            <a:r>
              <a:rPr lang="ja-JP" altLang="en-US" b="1" dirty="0"/>
              <a:t>自分の</a:t>
            </a:r>
            <a:r>
              <a:rPr lang="ja-JP" altLang="en-US" dirty="0"/>
              <a:t>アイテムを管理（承認プロセスをバイパスして公開など）。</a:t>
            </a:r>
          </a:p>
          <a:p>
            <a:r>
              <a:rPr lang="en-US" altLang="ja-JP" b="1" dirty="0"/>
              <a:t>3. </a:t>
            </a:r>
            <a:r>
              <a:rPr lang="ja-JP" altLang="en-US" b="1" dirty="0"/>
              <a:t>レビュー </a:t>
            </a:r>
            <a:r>
              <a:rPr lang="en-US" altLang="ja-JP" b="1" dirty="0"/>
              <a:t>(Can review) </a:t>
            </a:r>
            <a:r>
              <a:rPr lang="ja-JP" altLang="en-US" b="1" dirty="0"/>
              <a:t>の位置づけ</a:t>
            </a:r>
          </a:p>
          <a:p>
            <a:r>
              <a:rPr lang="ja-JP" altLang="en-US" dirty="0"/>
              <a:t>「</a:t>
            </a:r>
            <a:r>
              <a:rPr lang="en-US" altLang="ja-JP" dirty="0"/>
              <a:t>Can review</a:t>
            </a:r>
            <a:r>
              <a:rPr lang="ja-JP" altLang="en-US" dirty="0"/>
              <a:t>」という権限は標準の </a:t>
            </a:r>
            <a:r>
              <a:rPr lang="en-US" altLang="ja-JP" dirty="0"/>
              <a:t>SharePoint </a:t>
            </a:r>
            <a:r>
              <a:rPr lang="ja-JP" altLang="en-US" dirty="0"/>
              <a:t>権限レベル名にはありませんが、通常、次のいずれかの状態を指します。</a:t>
            </a:r>
          </a:p>
          <a:p>
            <a:r>
              <a:rPr lang="ja-JP" altLang="en-US" b="1" dirty="0"/>
              <a:t>「投稿 </a:t>
            </a:r>
            <a:r>
              <a:rPr lang="en-US" altLang="ja-JP" b="1" dirty="0"/>
              <a:t>(Contribute)</a:t>
            </a:r>
            <a:r>
              <a:rPr lang="ja-JP" altLang="en-US" b="1" dirty="0"/>
              <a:t>」権限</a:t>
            </a:r>
            <a:r>
              <a:rPr lang="en-US" altLang="ja-JP" b="1" dirty="0"/>
              <a:t>:</a:t>
            </a:r>
            <a:r>
              <a:rPr lang="ja-JP" altLang="en-US" dirty="0"/>
              <a:t> 「編集」権限に近く、ファイルの追加・編集はできますが、サイト自体の設定変更はできません。レビューアーが</a:t>
            </a:r>
            <a:r>
              <a:rPr lang="ja-JP" altLang="en-US" b="1" dirty="0"/>
              <a:t>コメント追加や軽微な修正</a:t>
            </a:r>
            <a:r>
              <a:rPr lang="ja-JP" altLang="en-US" dirty="0"/>
              <a:t>を求められる場合に適用されます。</a:t>
            </a:r>
          </a:p>
          <a:p>
            <a:r>
              <a:rPr lang="ja-JP" altLang="en-US" b="1" dirty="0"/>
              <a:t>承認機能の一部</a:t>
            </a:r>
            <a:r>
              <a:rPr lang="en-US" altLang="ja-JP" b="1" dirty="0"/>
              <a:t>:</a:t>
            </a:r>
            <a:r>
              <a:rPr lang="ja-JP" altLang="en-US" dirty="0"/>
              <a:t> ドキュメントライブラリで</a:t>
            </a:r>
            <a:r>
              <a:rPr lang="ja-JP" altLang="en-US" b="1" dirty="0"/>
              <a:t>コンテンツ承認</a:t>
            </a:r>
            <a:r>
              <a:rPr lang="ja-JP" altLang="en-US" dirty="0"/>
              <a:t>が有効になっている場合、ユーザーがファイルにコメントを残し、そのドキュメントを</a:t>
            </a:r>
            <a:r>
              <a:rPr lang="ja-JP" altLang="en-US" b="1" dirty="0"/>
              <a:t>承認または却下</a:t>
            </a:r>
            <a:r>
              <a:rPr lang="ja-JP" altLang="en-US" dirty="0"/>
              <a:t>する役割を担うことを意味します。この場合、ユーザーは必ずしも「編集」権限を持っている必要はありません。</a:t>
            </a:r>
          </a:p>
          <a:p>
            <a:pPr marL="0" marR="0" lvl="0" indent="0" algn="l" defTabSz="914400" rtl="0" eaLnBrk="1" fontAlgn="ctr" latinLnBrk="0" hangingPunct="1">
              <a:lnSpc>
                <a:spcPct val="100000"/>
              </a:lnSpc>
              <a:spcBef>
                <a:spcPts val="0"/>
              </a:spcBef>
              <a:spcAft>
                <a:spcPts val="0"/>
              </a:spcAft>
              <a:buClrTx/>
              <a:buSzTx/>
              <a:buFontTx/>
              <a:buNone/>
              <a:tabLst/>
              <a:defRPr/>
            </a:pPr>
            <a:endParaRPr kumimoji="1" lang="en-US" altLang="ja-JP" dirty="0">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E7C8940F-77BE-467D-3121-4830BE0CB5B0}"/>
              </a:ext>
            </a:extLst>
          </p:cNvPr>
          <p:cNvSpPr>
            <a:spLocks noGrp="1"/>
          </p:cNvSpPr>
          <p:nvPr>
            <p:ph type="sldNum" sz="quarter" idx="5"/>
          </p:nvPr>
        </p:nvSpPr>
        <p:spPr/>
        <p:txBody>
          <a:bodyPr/>
          <a:lstStyle/>
          <a:p>
            <a:fld id="{C3E9B8F7-F11D-7247-854D-760B01224C6A}" type="slidenum">
              <a:rPr kumimoji="1" lang="ja-JP" altLang="en-US" smtClean="0"/>
              <a:t>20</a:t>
            </a:fld>
            <a:endParaRPr kumimoji="1" lang="ja-JP" altLang="en-US"/>
          </a:p>
        </p:txBody>
      </p:sp>
    </p:spTree>
    <p:extLst>
      <p:ext uri="{BB962C8B-B14F-4D97-AF65-F5344CB8AC3E}">
        <p14:creationId xmlns:p14="http://schemas.microsoft.com/office/powerpoint/2010/main" val="9501430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116B3-02E6-5531-FD14-4BA82832C6E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A21B6ED-0BD7-552D-76CE-20F5124440B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B93DB54-2C25-00C4-8E39-F2E72BE56DD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EDFE514B-AD19-0581-C615-B3B70697539D}"/>
              </a:ext>
            </a:extLst>
          </p:cNvPr>
          <p:cNvSpPr>
            <a:spLocks noGrp="1"/>
          </p:cNvSpPr>
          <p:nvPr>
            <p:ph type="sldNum" sz="quarter" idx="5"/>
          </p:nvPr>
        </p:nvSpPr>
        <p:spPr/>
        <p:txBody>
          <a:bodyPr/>
          <a:lstStyle/>
          <a:p>
            <a:fld id="{C3E9B8F7-F11D-7247-854D-760B01224C6A}" type="slidenum">
              <a:rPr kumimoji="1" lang="ja-JP" altLang="en-US" smtClean="0"/>
              <a:t>21</a:t>
            </a:fld>
            <a:endParaRPr kumimoji="1" lang="ja-JP" altLang="en-US"/>
          </a:p>
        </p:txBody>
      </p:sp>
    </p:spTree>
    <p:extLst>
      <p:ext uri="{BB962C8B-B14F-4D97-AF65-F5344CB8AC3E}">
        <p14:creationId xmlns:p14="http://schemas.microsoft.com/office/powerpoint/2010/main" val="42570331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22</a:t>
            </a:fld>
            <a:endParaRPr kumimoji="1" lang="ja-JP" altLang="en-US"/>
          </a:p>
        </p:txBody>
      </p:sp>
    </p:spTree>
    <p:extLst>
      <p:ext uri="{BB962C8B-B14F-4D97-AF65-F5344CB8AC3E}">
        <p14:creationId xmlns:p14="http://schemas.microsoft.com/office/powerpoint/2010/main" val="21479047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5284F-B645-3F3C-7AF9-49EF25B3BE0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BBEBA80-3587-5AA4-4CDA-0870DC478E6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1F2C7C9-2FF7-6A1B-C742-37D8D520A5B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643018EB-835C-A3EF-6808-851B94574BD5}"/>
              </a:ext>
            </a:extLst>
          </p:cNvPr>
          <p:cNvSpPr>
            <a:spLocks noGrp="1"/>
          </p:cNvSpPr>
          <p:nvPr>
            <p:ph type="sldNum" sz="quarter" idx="5"/>
          </p:nvPr>
        </p:nvSpPr>
        <p:spPr/>
        <p:txBody>
          <a:bodyPr/>
          <a:lstStyle/>
          <a:p>
            <a:fld id="{C3E9B8F7-F11D-7247-854D-760B01224C6A}" type="slidenum">
              <a:rPr kumimoji="1" lang="ja-JP" altLang="en-US" smtClean="0"/>
              <a:t>23</a:t>
            </a:fld>
            <a:endParaRPr kumimoji="1" lang="ja-JP" altLang="en-US"/>
          </a:p>
        </p:txBody>
      </p:sp>
    </p:spTree>
    <p:extLst>
      <p:ext uri="{BB962C8B-B14F-4D97-AF65-F5344CB8AC3E}">
        <p14:creationId xmlns:p14="http://schemas.microsoft.com/office/powerpoint/2010/main" val="30351142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24</a:t>
            </a:fld>
            <a:endParaRPr kumimoji="1" lang="ja-JP" altLang="en-US"/>
          </a:p>
        </p:txBody>
      </p:sp>
    </p:spTree>
    <p:extLst>
      <p:ext uri="{BB962C8B-B14F-4D97-AF65-F5344CB8AC3E}">
        <p14:creationId xmlns:p14="http://schemas.microsoft.com/office/powerpoint/2010/main" val="35363375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E5086-FEA4-8182-2DF2-FF3B3976EC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5ACD8B2-9A7D-CF27-A365-EB162C4203A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AF2687B-A564-6CED-8233-7882E19CD62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7B2DFC9A-279A-72CE-EF09-26DED9FFACAF}"/>
              </a:ext>
            </a:extLst>
          </p:cNvPr>
          <p:cNvSpPr>
            <a:spLocks noGrp="1"/>
          </p:cNvSpPr>
          <p:nvPr>
            <p:ph type="sldNum" sz="quarter" idx="5"/>
          </p:nvPr>
        </p:nvSpPr>
        <p:spPr/>
        <p:txBody>
          <a:bodyPr/>
          <a:lstStyle/>
          <a:p>
            <a:fld id="{C3E9B8F7-F11D-7247-854D-760B01224C6A}" type="slidenum">
              <a:rPr kumimoji="1" lang="ja-JP" altLang="en-US" smtClean="0"/>
              <a:t>25</a:t>
            </a:fld>
            <a:endParaRPr kumimoji="1" lang="ja-JP" altLang="en-US"/>
          </a:p>
        </p:txBody>
      </p:sp>
    </p:spTree>
    <p:extLst>
      <p:ext uri="{BB962C8B-B14F-4D97-AF65-F5344CB8AC3E}">
        <p14:creationId xmlns:p14="http://schemas.microsoft.com/office/powerpoint/2010/main" val="40404266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2BE7A-3C1E-9A27-A2F6-50CD11243B5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96904EF-56EB-9A0B-B830-0D83ECFDAE7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D16E471-B3B9-FC93-63F0-F1DA4A80F659}"/>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69D541E9-F7A5-B336-66A3-026D0C49E825}"/>
              </a:ext>
            </a:extLst>
          </p:cNvPr>
          <p:cNvSpPr>
            <a:spLocks noGrp="1"/>
          </p:cNvSpPr>
          <p:nvPr>
            <p:ph type="sldNum" sz="quarter" idx="5"/>
          </p:nvPr>
        </p:nvSpPr>
        <p:spPr/>
        <p:txBody>
          <a:bodyPr/>
          <a:lstStyle/>
          <a:p>
            <a:fld id="{C3E9B8F7-F11D-7247-854D-760B01224C6A}" type="slidenum">
              <a:rPr kumimoji="1" lang="ja-JP" altLang="en-US" smtClean="0"/>
              <a:t>26</a:t>
            </a:fld>
            <a:endParaRPr kumimoji="1" lang="ja-JP" altLang="en-US"/>
          </a:p>
        </p:txBody>
      </p:sp>
    </p:spTree>
    <p:extLst>
      <p:ext uri="{BB962C8B-B14F-4D97-AF65-F5344CB8AC3E}">
        <p14:creationId xmlns:p14="http://schemas.microsoft.com/office/powerpoint/2010/main" val="46258915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1E99A-065A-53FB-B12C-86B3C4D07D3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56AF1F1-8381-54D6-0E16-CF6BAEAEFFA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181877-2622-72DC-060B-FF82D2E9E2EC}"/>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349C3147-29AC-D045-6432-1C879D945198}"/>
              </a:ext>
            </a:extLst>
          </p:cNvPr>
          <p:cNvSpPr>
            <a:spLocks noGrp="1"/>
          </p:cNvSpPr>
          <p:nvPr>
            <p:ph type="sldNum" sz="quarter" idx="5"/>
          </p:nvPr>
        </p:nvSpPr>
        <p:spPr/>
        <p:txBody>
          <a:bodyPr/>
          <a:lstStyle/>
          <a:p>
            <a:fld id="{C3E9B8F7-F11D-7247-854D-760B01224C6A}" type="slidenum">
              <a:rPr kumimoji="1" lang="ja-JP" altLang="en-US" smtClean="0"/>
              <a:t>27</a:t>
            </a:fld>
            <a:endParaRPr kumimoji="1" lang="ja-JP" altLang="en-US"/>
          </a:p>
        </p:txBody>
      </p:sp>
    </p:spTree>
    <p:extLst>
      <p:ext uri="{BB962C8B-B14F-4D97-AF65-F5344CB8AC3E}">
        <p14:creationId xmlns:p14="http://schemas.microsoft.com/office/powerpoint/2010/main" val="9479503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F5477-B9C5-968F-8267-C2722AF412F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81F8CEE-F089-E7D4-4B8F-5A86B257C82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EB8F5C9-8CC9-63C1-BA40-5CEC62274C2F}"/>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1F7B5F1B-CF62-86D7-B33B-1AEF7EE1D0E7}"/>
              </a:ext>
            </a:extLst>
          </p:cNvPr>
          <p:cNvSpPr>
            <a:spLocks noGrp="1"/>
          </p:cNvSpPr>
          <p:nvPr>
            <p:ph type="sldNum" sz="quarter" idx="5"/>
          </p:nvPr>
        </p:nvSpPr>
        <p:spPr/>
        <p:txBody>
          <a:bodyPr/>
          <a:lstStyle/>
          <a:p>
            <a:fld id="{C3E9B8F7-F11D-7247-854D-760B01224C6A}" type="slidenum">
              <a:rPr kumimoji="1" lang="ja-JP" altLang="en-US" smtClean="0"/>
              <a:t>28</a:t>
            </a:fld>
            <a:endParaRPr kumimoji="1" lang="ja-JP" altLang="en-US"/>
          </a:p>
        </p:txBody>
      </p:sp>
    </p:spTree>
    <p:extLst>
      <p:ext uri="{BB962C8B-B14F-4D97-AF65-F5344CB8AC3E}">
        <p14:creationId xmlns:p14="http://schemas.microsoft.com/office/powerpoint/2010/main" val="358564123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F1E50-EC1A-D8DF-4FF3-368A7A33B67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78AD0F3-5045-CDA6-7FC3-4849CEFD811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0F9E384-5044-AC7D-8004-E99519885718}"/>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7B00E4D0-281F-5A87-1DC2-3EF8459EBBE5}"/>
              </a:ext>
            </a:extLst>
          </p:cNvPr>
          <p:cNvSpPr>
            <a:spLocks noGrp="1"/>
          </p:cNvSpPr>
          <p:nvPr>
            <p:ph type="sldNum" sz="quarter" idx="5"/>
          </p:nvPr>
        </p:nvSpPr>
        <p:spPr/>
        <p:txBody>
          <a:bodyPr/>
          <a:lstStyle/>
          <a:p>
            <a:fld id="{C3E9B8F7-F11D-7247-854D-760B01224C6A}" type="slidenum">
              <a:rPr kumimoji="1" lang="ja-JP" altLang="en-US" smtClean="0"/>
              <a:t>29</a:t>
            </a:fld>
            <a:endParaRPr kumimoji="1" lang="ja-JP" altLang="en-US"/>
          </a:p>
        </p:txBody>
      </p:sp>
    </p:spTree>
    <p:extLst>
      <p:ext uri="{BB962C8B-B14F-4D97-AF65-F5344CB8AC3E}">
        <p14:creationId xmlns:p14="http://schemas.microsoft.com/office/powerpoint/2010/main" val="32828585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8B4B0-9C44-9EB0-5384-D60E826E40A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B430AB3-3FFB-328A-4516-04C0BBA207E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6D59E68-8CC3-99B0-D6CC-DE1819E4055E}"/>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56444E0C-523B-DD7B-329E-C1F4D4806FA9}"/>
              </a:ext>
            </a:extLst>
          </p:cNvPr>
          <p:cNvSpPr>
            <a:spLocks noGrp="1"/>
          </p:cNvSpPr>
          <p:nvPr>
            <p:ph type="sldNum" sz="quarter" idx="5"/>
          </p:nvPr>
        </p:nvSpPr>
        <p:spPr/>
        <p:txBody>
          <a:bodyPr/>
          <a:lstStyle/>
          <a:p>
            <a:fld id="{C3E9B8F7-F11D-7247-854D-760B01224C6A}" type="slidenum">
              <a:rPr kumimoji="1" lang="ja-JP" altLang="en-US" smtClean="0"/>
              <a:t>30</a:t>
            </a:fld>
            <a:endParaRPr kumimoji="1" lang="ja-JP" altLang="en-US"/>
          </a:p>
        </p:txBody>
      </p:sp>
    </p:spTree>
    <p:extLst>
      <p:ext uri="{BB962C8B-B14F-4D97-AF65-F5344CB8AC3E}">
        <p14:creationId xmlns:p14="http://schemas.microsoft.com/office/powerpoint/2010/main" val="31196699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82398-7517-C1ED-44A5-535B9544C34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F6AE16E-DAF4-21DD-A55E-C54E081A14D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3160E1E-D613-38A6-D23E-027DC13AE190}"/>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432D8F59-164C-2E26-8CD4-AB89B41EE25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E9B8F7-F11D-7247-854D-760B01224C6A}" type="slidenum">
              <a:rPr kumimoji="1" lang="ja-JP" altLang="en-US" sz="1200" b="0" i="0" u="none" strike="noStrike" kern="1200" cap="none" spc="0" normalizeH="0" baseline="0" noProof="0" smtClean="0">
                <a:ln>
                  <a:noFill/>
                </a:ln>
                <a:solidFill>
                  <a:prstClr val="black"/>
                </a:solidFill>
                <a:effectLst/>
                <a:uLnTx/>
                <a:uFillTx/>
                <a:latin typeface="游ゴシック"/>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1" lang="ja-JP" altLang="en-US" sz="1200" b="0" i="0" u="none" strike="noStrike" kern="1200" cap="none" spc="0" normalizeH="0" baseline="0" noProof="0">
              <a:ln>
                <a:noFill/>
              </a:ln>
              <a:solidFill>
                <a:prstClr val="black"/>
              </a:solidFill>
              <a:effectLst/>
              <a:uLnTx/>
              <a:uFillTx/>
              <a:latin typeface="游ゴシック"/>
              <a:ea typeface="游ゴシック" panose="020B0400000000000000" pitchFamily="50" charset="-128"/>
              <a:cs typeface="+mn-cs"/>
            </a:endParaRPr>
          </a:p>
        </p:txBody>
      </p:sp>
    </p:spTree>
    <p:extLst>
      <p:ext uri="{BB962C8B-B14F-4D97-AF65-F5344CB8AC3E}">
        <p14:creationId xmlns:p14="http://schemas.microsoft.com/office/powerpoint/2010/main" val="115953219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09525-11E4-43B3-3F3A-81C521E293E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5C60E61-74B2-536B-A168-1E1B336003C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0E4D13C-DD98-BA29-06A6-B756EAB170BC}"/>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FEE000B8-A64A-4C11-176F-8F10E9F7BC6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E9B8F7-F11D-7247-854D-760B01224C6A}" type="slidenum">
              <a:rPr kumimoji="1" lang="ja-JP" altLang="en-US" sz="1200" b="0" i="0" u="none" strike="noStrike" kern="1200" cap="none" spc="0" normalizeH="0" baseline="0" noProof="0" smtClean="0">
                <a:ln>
                  <a:noFill/>
                </a:ln>
                <a:solidFill>
                  <a:prstClr val="black"/>
                </a:solidFill>
                <a:effectLst/>
                <a:uLnTx/>
                <a:uFillTx/>
                <a:latin typeface="游ゴシック"/>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1" lang="ja-JP" altLang="en-US" sz="1200" b="0" i="0" u="none" strike="noStrike" kern="1200" cap="none" spc="0" normalizeH="0" baseline="0" noProof="0">
              <a:ln>
                <a:noFill/>
              </a:ln>
              <a:solidFill>
                <a:prstClr val="black"/>
              </a:solidFill>
              <a:effectLst/>
              <a:uLnTx/>
              <a:uFillTx/>
              <a:latin typeface="游ゴシック"/>
              <a:ea typeface="游ゴシック" panose="020B0400000000000000" pitchFamily="50" charset="-128"/>
              <a:cs typeface="+mn-cs"/>
            </a:endParaRPr>
          </a:p>
        </p:txBody>
      </p:sp>
    </p:spTree>
    <p:extLst>
      <p:ext uri="{BB962C8B-B14F-4D97-AF65-F5344CB8AC3E}">
        <p14:creationId xmlns:p14="http://schemas.microsoft.com/office/powerpoint/2010/main" val="135582152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33</a:t>
            </a:fld>
            <a:endParaRPr kumimoji="1" lang="ja-JP"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35</a:t>
            </a:fld>
            <a:endParaRPr kumimoji="1" lang="ja-JP"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3.emf"/></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3.xml"/><Relationship Id="rId1" Type="http://schemas.openxmlformats.org/officeDocument/2006/relationships/tags" Target="../tags/tag6.xml"/><Relationship Id="rId5" Type="http://schemas.openxmlformats.org/officeDocument/2006/relationships/image" Target="../media/image6.png"/><Relationship Id="rId4" Type="http://schemas.openxmlformats.org/officeDocument/2006/relationships/image" Target="../media/image3.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3.xml"/><Relationship Id="rId1" Type="http://schemas.openxmlformats.org/officeDocument/2006/relationships/tags" Target="../tags/tag7.xml"/><Relationship Id="rId4" Type="http://schemas.openxmlformats.org/officeDocument/2006/relationships/image" Target="../media/image3.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3.xml"/><Relationship Id="rId1" Type="http://schemas.openxmlformats.org/officeDocument/2006/relationships/tags" Target="../tags/tag8.xml"/><Relationship Id="rId5" Type="http://schemas.openxmlformats.org/officeDocument/2006/relationships/image" Target="../media/image7.png"/><Relationship Id="rId4" Type="http://schemas.openxmlformats.org/officeDocument/2006/relationships/image" Target="../media/image3.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3.xml"/><Relationship Id="rId1" Type="http://schemas.openxmlformats.org/officeDocument/2006/relationships/tags" Target="../tags/tag9.xml"/><Relationship Id="rId4" Type="http://schemas.openxmlformats.org/officeDocument/2006/relationships/image" Target="../media/image3.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3.xml"/><Relationship Id="rId1" Type="http://schemas.openxmlformats.org/officeDocument/2006/relationships/tags" Target="../tags/tag10.xml"/><Relationship Id="rId4" Type="http://schemas.openxmlformats.org/officeDocument/2006/relationships/image" Target="../media/image3.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3.xml"/><Relationship Id="rId1" Type="http://schemas.openxmlformats.org/officeDocument/2006/relationships/tags" Target="../tags/tag11.xml"/><Relationship Id="rId4" Type="http://schemas.openxmlformats.org/officeDocument/2006/relationships/image" Target="../media/image3.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3.xml"/><Relationship Id="rId1" Type="http://schemas.openxmlformats.org/officeDocument/2006/relationships/tags" Target="../tags/tag12.xml"/><Relationship Id="rId4" Type="http://schemas.openxmlformats.org/officeDocument/2006/relationships/image" Target="../media/image3.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3.xml"/><Relationship Id="rId1" Type="http://schemas.openxmlformats.org/officeDocument/2006/relationships/tags" Target="../tags/tag13.xml"/><Relationship Id="rId4" Type="http://schemas.openxmlformats.org/officeDocument/2006/relationships/image" Target="../media/image3.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3.xml"/><Relationship Id="rId1" Type="http://schemas.openxmlformats.org/officeDocument/2006/relationships/tags" Target="../tags/tag14.xml"/><Relationship Id="rId4" Type="http://schemas.openxmlformats.org/officeDocument/2006/relationships/image" Target="../media/image3.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3.xml"/><Relationship Id="rId1" Type="http://schemas.openxmlformats.org/officeDocument/2006/relationships/tags" Target="../tags/tag15.xml"/><Relationship Id="rId4" Type="http://schemas.openxmlformats.org/officeDocument/2006/relationships/image" Target="../media/image3.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3.xml"/><Relationship Id="rId1" Type="http://schemas.openxmlformats.org/officeDocument/2006/relationships/tags" Target="../tags/tag16.xml"/><Relationship Id="rId4" Type="http://schemas.openxmlformats.org/officeDocument/2006/relationships/image" Target="../media/image3.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3.xml"/><Relationship Id="rId1" Type="http://schemas.openxmlformats.org/officeDocument/2006/relationships/tags" Target="../tags/tag17.xml"/><Relationship Id="rId4" Type="http://schemas.openxmlformats.org/officeDocument/2006/relationships/image" Target="../media/image3.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3.xml"/><Relationship Id="rId1" Type="http://schemas.openxmlformats.org/officeDocument/2006/relationships/tags" Target="../tags/tag18.xml"/><Relationship Id="rId6" Type="http://schemas.openxmlformats.org/officeDocument/2006/relationships/image" Target="../media/image8.png"/><Relationship Id="rId5" Type="http://schemas.openxmlformats.org/officeDocument/2006/relationships/image" Target="../media/image6.png"/><Relationship Id="rId4" Type="http://schemas.openxmlformats.org/officeDocument/2006/relationships/image" Target="../media/image3.emf"/></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3.xml"/><Relationship Id="rId1" Type="http://schemas.openxmlformats.org/officeDocument/2006/relationships/tags" Target="../tags/tag19.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3.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3.xml"/><Relationship Id="rId1" Type="http://schemas.openxmlformats.org/officeDocument/2006/relationships/tags" Target="../tags/tag20.xml"/><Relationship Id="rId6" Type="http://schemas.openxmlformats.org/officeDocument/2006/relationships/image" Target="../media/image8.png"/><Relationship Id="rId5" Type="http://schemas.openxmlformats.org/officeDocument/2006/relationships/image" Target="../media/image10.png"/><Relationship Id="rId4" Type="http://schemas.openxmlformats.org/officeDocument/2006/relationships/image" Target="../media/image3.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3.xml"/><Relationship Id="rId1" Type="http://schemas.openxmlformats.org/officeDocument/2006/relationships/tags" Target="../tags/tag21.xml"/><Relationship Id="rId6" Type="http://schemas.openxmlformats.org/officeDocument/2006/relationships/image" Target="../media/image9.png"/><Relationship Id="rId5" Type="http://schemas.openxmlformats.org/officeDocument/2006/relationships/image" Target="../media/image11.png"/><Relationship Id="rId4" Type="http://schemas.openxmlformats.org/officeDocument/2006/relationships/image" Target="../media/image3.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Master" Target="../slideMasters/slideMaster4.xml"/><Relationship Id="rId1" Type="http://schemas.openxmlformats.org/officeDocument/2006/relationships/tags" Target="../tags/tag23.xml"/><Relationship Id="rId5" Type="http://schemas.openxmlformats.org/officeDocument/2006/relationships/image" Target="../media/image6.png"/><Relationship Id="rId4" Type="http://schemas.openxmlformats.org/officeDocument/2006/relationships/image" Target="../media/image12.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Master" Target="../slideMasters/slideMaster4.xml"/><Relationship Id="rId1" Type="http://schemas.openxmlformats.org/officeDocument/2006/relationships/tags" Target="../tags/tag24.xml"/><Relationship Id="rId4" Type="http://schemas.openxmlformats.org/officeDocument/2006/relationships/image" Target="../media/image12.emf"/></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Master" Target="../slideMasters/slideMaster4.xml"/><Relationship Id="rId1" Type="http://schemas.openxmlformats.org/officeDocument/2006/relationships/tags" Target="../tags/tag25.xml"/><Relationship Id="rId5" Type="http://schemas.openxmlformats.org/officeDocument/2006/relationships/image" Target="../media/image7.png"/><Relationship Id="rId4" Type="http://schemas.openxmlformats.org/officeDocument/2006/relationships/image" Target="../media/image12.emf"/></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Master" Target="../slideMasters/slideMaster4.xml"/><Relationship Id="rId1" Type="http://schemas.openxmlformats.org/officeDocument/2006/relationships/tags" Target="../tags/tag26.xml"/><Relationship Id="rId4" Type="http://schemas.openxmlformats.org/officeDocument/2006/relationships/image" Target="../media/image12.emf"/></Relationships>
</file>

<file path=ppt/slideLayouts/_rels/slideLayout28.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28.xml"/><Relationship Id="rId1" Type="http://schemas.openxmlformats.org/officeDocument/2006/relationships/tags" Target="../tags/tag27.xml"/><Relationship Id="rId5" Type="http://schemas.openxmlformats.org/officeDocument/2006/relationships/image" Target="../media/image12.emf"/><Relationship Id="rId4" Type="http://schemas.openxmlformats.org/officeDocument/2006/relationships/oleObject" Target="../embeddings/oleObject26.bin"/></Relationships>
</file>

<file path=ppt/slideLayouts/_rels/slideLayout29.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Master" Target="../slideMasters/slideMaster4.xml"/><Relationship Id="rId1" Type="http://schemas.openxmlformats.org/officeDocument/2006/relationships/tags" Target="../tags/tag29.xml"/><Relationship Id="rId4" Type="http://schemas.openxmlformats.org/officeDocument/2006/relationships/image" Target="../media/image12.emf"/></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Master" Target="../slideMasters/slideMaster4.xml"/><Relationship Id="rId1" Type="http://schemas.openxmlformats.org/officeDocument/2006/relationships/tags" Target="../tags/tag30.xml"/><Relationship Id="rId4" Type="http://schemas.openxmlformats.org/officeDocument/2006/relationships/image" Target="../media/image12.emf"/></Relationships>
</file>

<file path=ppt/slideLayouts/_rels/slideLayout31.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4.xml"/><Relationship Id="rId1" Type="http://schemas.openxmlformats.org/officeDocument/2006/relationships/tags" Target="../tags/tag31.xml"/><Relationship Id="rId4" Type="http://schemas.openxmlformats.org/officeDocument/2006/relationships/image" Target="../media/image12.emf"/></Relationships>
</file>

<file path=ppt/slideLayouts/_rels/slideLayout32.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Master" Target="../slideMasters/slideMaster4.xml"/><Relationship Id="rId1" Type="http://schemas.openxmlformats.org/officeDocument/2006/relationships/tags" Target="../tags/tag32.xml"/><Relationship Id="rId4" Type="http://schemas.openxmlformats.org/officeDocument/2006/relationships/image" Target="../media/image12.emf"/></Relationships>
</file>

<file path=ppt/slideLayouts/_rels/slideLayout33.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Master" Target="../slideMasters/slideMaster4.xml"/><Relationship Id="rId1" Type="http://schemas.openxmlformats.org/officeDocument/2006/relationships/tags" Target="../tags/tag33.xml"/><Relationship Id="rId4" Type="http://schemas.openxmlformats.org/officeDocument/2006/relationships/image" Target="../media/image12.emf"/></Relationships>
</file>

<file path=ppt/slideLayouts/_rels/slideLayout34.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Master" Target="../slideMasters/slideMaster4.xml"/><Relationship Id="rId1" Type="http://schemas.openxmlformats.org/officeDocument/2006/relationships/tags" Target="../tags/tag34.xml"/><Relationship Id="rId4" Type="http://schemas.openxmlformats.org/officeDocument/2006/relationships/image" Target="../media/image12.emf"/></Relationships>
</file>

<file path=ppt/slideLayouts/_rels/slideLayout35.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Master" Target="../slideMasters/slideMaster4.xml"/><Relationship Id="rId1" Type="http://schemas.openxmlformats.org/officeDocument/2006/relationships/tags" Target="../tags/tag35.xml"/><Relationship Id="rId4" Type="http://schemas.openxmlformats.org/officeDocument/2006/relationships/image" Target="../media/image12.emf"/></Relationships>
</file>

<file path=ppt/slideLayouts/_rels/slideLayout36.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4.xml"/><Relationship Id="rId1" Type="http://schemas.openxmlformats.org/officeDocument/2006/relationships/tags" Target="../tags/tag36.xml"/><Relationship Id="rId6" Type="http://schemas.openxmlformats.org/officeDocument/2006/relationships/image" Target="../media/image13.png"/><Relationship Id="rId5" Type="http://schemas.openxmlformats.org/officeDocument/2006/relationships/image" Target="../media/image8.png"/><Relationship Id="rId4" Type="http://schemas.openxmlformats.org/officeDocument/2006/relationships/image" Target="../media/image12.emf"/></Relationships>
</file>

<file path=ppt/slideLayouts/_rels/slideLayout37.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Master" Target="../slideMasters/slideMaster4.xml"/><Relationship Id="rId1" Type="http://schemas.openxmlformats.org/officeDocument/2006/relationships/tags" Target="../tags/tag37.xml"/><Relationship Id="rId6" Type="http://schemas.openxmlformats.org/officeDocument/2006/relationships/image" Target="../media/image7.png"/><Relationship Id="rId5" Type="http://schemas.openxmlformats.org/officeDocument/2006/relationships/image" Target="../media/image9.png"/><Relationship Id="rId4" Type="http://schemas.openxmlformats.org/officeDocument/2006/relationships/image" Target="../media/image12.emf"/></Relationships>
</file>

<file path=ppt/slideLayouts/_rels/slideLayout38.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Master" Target="../slideMasters/slideMaster4.xml"/><Relationship Id="rId1" Type="http://schemas.openxmlformats.org/officeDocument/2006/relationships/tags" Target="../tags/tag38.xml"/><Relationship Id="rId6" Type="http://schemas.openxmlformats.org/officeDocument/2006/relationships/image" Target="../media/image10.png"/><Relationship Id="rId5" Type="http://schemas.openxmlformats.org/officeDocument/2006/relationships/image" Target="../media/image8.png"/><Relationship Id="rId4" Type="http://schemas.openxmlformats.org/officeDocument/2006/relationships/image" Target="../media/image12.emf"/></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Master" Target="../slideMasters/slideMaster4.xml"/><Relationship Id="rId1" Type="http://schemas.openxmlformats.org/officeDocument/2006/relationships/tags" Target="../tags/tag39.xml"/><Relationship Id="rId6" Type="http://schemas.openxmlformats.org/officeDocument/2006/relationships/image" Target="../media/image11.png"/><Relationship Id="rId5" Type="http://schemas.openxmlformats.org/officeDocument/2006/relationships/image" Target="../media/image9.png"/><Relationship Id="rId4" Type="http://schemas.openxmlformats.org/officeDocument/2006/relationships/image" Target="../media/image12.emf"/></Relationships>
</file>

<file path=ppt/slideLayouts/_rels/slideLayout40.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Master" Target="../slideMasters/slideMaster4.xml"/><Relationship Id="rId1" Type="http://schemas.openxmlformats.org/officeDocument/2006/relationships/tags" Target="../tags/tag40.xml"/><Relationship Id="rId4" Type="http://schemas.openxmlformats.org/officeDocument/2006/relationships/image" Target="../media/image3.emf"/></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Master" Target="../slideMasters/slideMaster4.xml"/><Relationship Id="rId1" Type="http://schemas.openxmlformats.org/officeDocument/2006/relationships/tags" Target="../tags/tag41.xml"/><Relationship Id="rId4" Type="http://schemas.openxmlformats.org/officeDocument/2006/relationships/image" Target="../media/image3.emf"/></Relationships>
</file>

<file path=ppt/slideLayouts/_rels/slideLayout42.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Master" Target="../slideMasters/slideMaster4.xml"/><Relationship Id="rId1" Type="http://schemas.openxmlformats.org/officeDocument/2006/relationships/tags" Target="../tags/tag42.xml"/><Relationship Id="rId4" Type="http://schemas.openxmlformats.org/officeDocument/2006/relationships/image" Target="../media/image3.emf"/></Relationships>
</file>

<file path=ppt/slideLayouts/_rels/slideLayout43.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Master" Target="../slideMasters/slideMaster4.xml"/><Relationship Id="rId1" Type="http://schemas.openxmlformats.org/officeDocument/2006/relationships/tags" Target="../tags/tag43.xml"/><Relationship Id="rId4" Type="http://schemas.openxmlformats.org/officeDocument/2006/relationships/image" Target="../media/image3.emf"/></Relationships>
</file>

<file path=ppt/slideLayouts/_rels/slideLayout44.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Master" Target="../slideMasters/slideMaster4.xml"/><Relationship Id="rId1" Type="http://schemas.openxmlformats.org/officeDocument/2006/relationships/tags" Target="../tags/tag44.xml"/><Relationship Id="rId4" Type="http://schemas.openxmlformats.org/officeDocument/2006/relationships/image" Target="../media/image3.emf"/></Relationships>
</file>

<file path=ppt/slideLayouts/_rels/slideLayout45.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Master" Target="../slideMasters/slideMaster4.xml"/><Relationship Id="rId1" Type="http://schemas.openxmlformats.org/officeDocument/2006/relationships/tags" Target="../tags/tag45.xml"/><Relationship Id="rId4" Type="http://schemas.openxmlformats.org/officeDocument/2006/relationships/image" Target="../media/image3.emf"/></Relationships>
</file>

<file path=ppt/slideLayouts/_rels/slideLayout46.xml.rels><?xml version="1.0" encoding="UTF-8" standalone="yes"?>
<Relationships xmlns="http://schemas.openxmlformats.org/package/2006/relationships"><Relationship Id="rId3" Type="http://schemas.openxmlformats.org/officeDocument/2006/relationships/oleObject" Target="../embeddings/oleObject44.bin"/><Relationship Id="rId7" Type="http://schemas.openxmlformats.org/officeDocument/2006/relationships/image" Target="../media/image15.jpeg"/><Relationship Id="rId2" Type="http://schemas.openxmlformats.org/officeDocument/2006/relationships/slideMaster" Target="../slideMasters/slideMaster4.xml"/><Relationship Id="rId1" Type="http://schemas.openxmlformats.org/officeDocument/2006/relationships/tags" Target="../tags/tag4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emf"/></Relationships>
</file>

<file path=ppt/slideLayouts/_rels/slideLayout47.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slideMaster" Target="../slideMasters/slideMaster5.xml"/><Relationship Id="rId1" Type="http://schemas.openxmlformats.org/officeDocument/2006/relationships/tags" Target="../tags/tag48.xml"/><Relationship Id="rId5" Type="http://schemas.openxmlformats.org/officeDocument/2006/relationships/image" Target="../media/image6.png"/><Relationship Id="rId4" Type="http://schemas.openxmlformats.org/officeDocument/2006/relationships/image" Target="../media/image12.emf"/></Relationships>
</file>

<file path=ppt/slideLayouts/_rels/slideLayout48.xml.rels><?xml version="1.0" encoding="UTF-8" standalone="yes"?>
<Relationships xmlns="http://schemas.openxmlformats.org/package/2006/relationships"><Relationship Id="rId3" Type="http://schemas.openxmlformats.org/officeDocument/2006/relationships/oleObject" Target="../embeddings/oleObject47.bin"/><Relationship Id="rId2" Type="http://schemas.openxmlformats.org/officeDocument/2006/relationships/slideMaster" Target="../slideMasters/slideMaster5.xml"/><Relationship Id="rId1" Type="http://schemas.openxmlformats.org/officeDocument/2006/relationships/tags" Target="../tags/tag49.xml"/><Relationship Id="rId4" Type="http://schemas.openxmlformats.org/officeDocument/2006/relationships/image" Target="../media/image12.emf"/></Relationships>
</file>

<file path=ppt/slideLayouts/_rels/slideLayout49.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slideMaster" Target="../slideMasters/slideMaster5.xml"/><Relationship Id="rId1" Type="http://schemas.openxmlformats.org/officeDocument/2006/relationships/tags" Target="../tags/tag50.xml"/><Relationship Id="rId5" Type="http://schemas.openxmlformats.org/officeDocument/2006/relationships/image" Target="../media/image7.png"/><Relationship Id="rId4" Type="http://schemas.openxmlformats.org/officeDocument/2006/relationships/image" Target="../media/image12.emf"/></Relationships>
</file>

<file path=ppt/slideLayouts/_rels/slideLayout50.xml.rels><?xml version="1.0" encoding="UTF-8" standalone="yes"?>
<Relationships xmlns="http://schemas.openxmlformats.org/package/2006/relationships"><Relationship Id="rId3" Type="http://schemas.openxmlformats.org/officeDocument/2006/relationships/oleObject" Target="../embeddings/oleObject49.bin"/><Relationship Id="rId2" Type="http://schemas.openxmlformats.org/officeDocument/2006/relationships/slideMaster" Target="../slideMasters/slideMaster5.xml"/><Relationship Id="rId1" Type="http://schemas.openxmlformats.org/officeDocument/2006/relationships/tags" Target="../tags/tag51.xml"/><Relationship Id="rId4" Type="http://schemas.openxmlformats.org/officeDocument/2006/relationships/image" Target="../media/image12.emf"/></Relationships>
</file>

<file path=ppt/slideLayouts/_rels/slideLayout51.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53.xml"/><Relationship Id="rId1" Type="http://schemas.openxmlformats.org/officeDocument/2006/relationships/tags" Target="../tags/tag52.xml"/><Relationship Id="rId5" Type="http://schemas.openxmlformats.org/officeDocument/2006/relationships/image" Target="../media/image12.emf"/><Relationship Id="rId4" Type="http://schemas.openxmlformats.org/officeDocument/2006/relationships/oleObject" Target="../embeddings/oleObject50.bin"/></Relationships>
</file>

<file path=ppt/slideLayouts/_rels/slideLayout52.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slideMaster" Target="../slideMasters/slideMaster5.xml"/><Relationship Id="rId1" Type="http://schemas.openxmlformats.org/officeDocument/2006/relationships/tags" Target="../tags/tag54.xml"/><Relationship Id="rId4" Type="http://schemas.openxmlformats.org/officeDocument/2006/relationships/image" Target="../media/image12.emf"/></Relationships>
</file>

<file path=ppt/slideLayouts/_rels/slideLayout53.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slideMaster" Target="../slideMasters/slideMaster5.xml"/><Relationship Id="rId1" Type="http://schemas.openxmlformats.org/officeDocument/2006/relationships/tags" Target="../tags/tag55.xml"/><Relationship Id="rId4" Type="http://schemas.openxmlformats.org/officeDocument/2006/relationships/image" Target="../media/image12.emf"/></Relationships>
</file>

<file path=ppt/slideLayouts/_rels/slideLayout54.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slideMaster" Target="../slideMasters/slideMaster5.xml"/><Relationship Id="rId1" Type="http://schemas.openxmlformats.org/officeDocument/2006/relationships/tags" Target="../tags/tag56.xml"/><Relationship Id="rId4" Type="http://schemas.openxmlformats.org/officeDocument/2006/relationships/image" Target="../media/image12.emf"/></Relationships>
</file>

<file path=ppt/slideLayouts/_rels/slideLayout55.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slideMaster" Target="../slideMasters/slideMaster5.xml"/><Relationship Id="rId1" Type="http://schemas.openxmlformats.org/officeDocument/2006/relationships/tags" Target="../tags/tag57.xml"/><Relationship Id="rId4" Type="http://schemas.openxmlformats.org/officeDocument/2006/relationships/image" Target="../media/image12.emf"/></Relationships>
</file>

<file path=ppt/slideLayouts/_rels/slideLayout56.xml.rels><?xml version="1.0" encoding="UTF-8" standalone="yes"?>
<Relationships xmlns="http://schemas.openxmlformats.org/package/2006/relationships"><Relationship Id="rId3" Type="http://schemas.openxmlformats.org/officeDocument/2006/relationships/oleObject" Target="../embeddings/oleObject55.bin"/><Relationship Id="rId2" Type="http://schemas.openxmlformats.org/officeDocument/2006/relationships/slideMaster" Target="../slideMasters/slideMaster5.xml"/><Relationship Id="rId1" Type="http://schemas.openxmlformats.org/officeDocument/2006/relationships/tags" Target="../tags/tag58.xml"/><Relationship Id="rId4" Type="http://schemas.openxmlformats.org/officeDocument/2006/relationships/image" Target="../media/image12.emf"/></Relationships>
</file>

<file path=ppt/slideLayouts/_rels/slideLayout57.xml.rels><?xml version="1.0" encoding="UTF-8" standalone="yes"?>
<Relationships xmlns="http://schemas.openxmlformats.org/package/2006/relationships"><Relationship Id="rId3" Type="http://schemas.openxmlformats.org/officeDocument/2006/relationships/oleObject" Target="../embeddings/oleObject56.bin"/><Relationship Id="rId2" Type="http://schemas.openxmlformats.org/officeDocument/2006/relationships/slideMaster" Target="../slideMasters/slideMaster5.xml"/><Relationship Id="rId1" Type="http://schemas.openxmlformats.org/officeDocument/2006/relationships/tags" Target="../tags/tag59.xml"/><Relationship Id="rId4" Type="http://schemas.openxmlformats.org/officeDocument/2006/relationships/image" Target="../media/image12.emf"/></Relationships>
</file>

<file path=ppt/slideLayouts/_rels/slideLayout58.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slideMaster" Target="../slideMasters/slideMaster5.xml"/><Relationship Id="rId1" Type="http://schemas.openxmlformats.org/officeDocument/2006/relationships/tags" Target="../tags/tag60.xml"/><Relationship Id="rId4" Type="http://schemas.openxmlformats.org/officeDocument/2006/relationships/image" Target="../media/image12.emf"/></Relationships>
</file>

<file path=ppt/slideLayouts/_rels/slideLayout59.xml.rels><?xml version="1.0" encoding="UTF-8" standalone="yes"?>
<Relationships xmlns="http://schemas.openxmlformats.org/package/2006/relationships"><Relationship Id="rId3" Type="http://schemas.openxmlformats.org/officeDocument/2006/relationships/oleObject" Target="../embeddings/oleObject58.bin"/><Relationship Id="rId2" Type="http://schemas.openxmlformats.org/officeDocument/2006/relationships/slideMaster" Target="../slideMasters/slideMaster5.xml"/><Relationship Id="rId1" Type="http://schemas.openxmlformats.org/officeDocument/2006/relationships/tags" Target="../tags/tag61.xml"/><Relationship Id="rId6" Type="http://schemas.openxmlformats.org/officeDocument/2006/relationships/image" Target="../media/image13.png"/><Relationship Id="rId5" Type="http://schemas.openxmlformats.org/officeDocument/2006/relationships/image" Target="../media/image8.png"/><Relationship Id="rId4" Type="http://schemas.openxmlformats.org/officeDocument/2006/relationships/image" Target="../media/image12.emf"/></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59.bin"/><Relationship Id="rId2" Type="http://schemas.openxmlformats.org/officeDocument/2006/relationships/slideMaster" Target="../slideMasters/slideMaster5.xml"/><Relationship Id="rId1" Type="http://schemas.openxmlformats.org/officeDocument/2006/relationships/tags" Target="../tags/tag62.xml"/><Relationship Id="rId6" Type="http://schemas.openxmlformats.org/officeDocument/2006/relationships/image" Target="../media/image7.png"/><Relationship Id="rId5" Type="http://schemas.openxmlformats.org/officeDocument/2006/relationships/image" Target="../media/image9.png"/><Relationship Id="rId4" Type="http://schemas.openxmlformats.org/officeDocument/2006/relationships/image" Target="../media/image12.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60.bin"/><Relationship Id="rId2" Type="http://schemas.openxmlformats.org/officeDocument/2006/relationships/slideMaster" Target="../slideMasters/slideMaster5.xml"/><Relationship Id="rId1" Type="http://schemas.openxmlformats.org/officeDocument/2006/relationships/tags" Target="../tags/tag63.xml"/><Relationship Id="rId6" Type="http://schemas.openxmlformats.org/officeDocument/2006/relationships/image" Target="../media/image10.png"/><Relationship Id="rId5" Type="http://schemas.openxmlformats.org/officeDocument/2006/relationships/image" Target="../media/image8.png"/><Relationship Id="rId4" Type="http://schemas.openxmlformats.org/officeDocument/2006/relationships/image" Target="../media/image12.emf"/></Relationships>
</file>

<file path=ppt/slideLayouts/_rels/slideLayout62.xml.rels><?xml version="1.0" encoding="UTF-8" standalone="yes"?>
<Relationships xmlns="http://schemas.openxmlformats.org/package/2006/relationships"><Relationship Id="rId3" Type="http://schemas.openxmlformats.org/officeDocument/2006/relationships/oleObject" Target="../embeddings/oleObject61.bin"/><Relationship Id="rId2" Type="http://schemas.openxmlformats.org/officeDocument/2006/relationships/slideMaster" Target="../slideMasters/slideMaster5.xml"/><Relationship Id="rId1" Type="http://schemas.openxmlformats.org/officeDocument/2006/relationships/tags" Target="../tags/tag64.xml"/><Relationship Id="rId6" Type="http://schemas.openxmlformats.org/officeDocument/2006/relationships/image" Target="../media/image11.png"/><Relationship Id="rId5" Type="http://schemas.openxmlformats.org/officeDocument/2006/relationships/image" Target="../media/image9.png"/><Relationship Id="rId4" Type="http://schemas.openxmlformats.org/officeDocument/2006/relationships/image" Target="../media/image12.emf"/></Relationships>
</file>

<file path=ppt/slideLayouts/_rels/slideLayout63.xml.rels><?xml version="1.0" encoding="UTF-8" standalone="yes"?>
<Relationships xmlns="http://schemas.openxmlformats.org/package/2006/relationships"><Relationship Id="rId3" Type="http://schemas.openxmlformats.org/officeDocument/2006/relationships/oleObject" Target="../embeddings/oleObject62.bin"/><Relationship Id="rId2" Type="http://schemas.openxmlformats.org/officeDocument/2006/relationships/slideMaster" Target="../slideMasters/slideMaster5.xml"/><Relationship Id="rId1" Type="http://schemas.openxmlformats.org/officeDocument/2006/relationships/tags" Target="../tags/tag65.xml"/><Relationship Id="rId4" Type="http://schemas.openxmlformats.org/officeDocument/2006/relationships/image" Target="../media/image3.emf"/></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63.bin"/><Relationship Id="rId2" Type="http://schemas.openxmlformats.org/officeDocument/2006/relationships/slideMaster" Target="../slideMasters/slideMaster5.xml"/><Relationship Id="rId1" Type="http://schemas.openxmlformats.org/officeDocument/2006/relationships/tags" Target="../tags/tag66.xml"/><Relationship Id="rId4" Type="http://schemas.openxmlformats.org/officeDocument/2006/relationships/image" Target="../media/image3.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64.bin"/><Relationship Id="rId2" Type="http://schemas.openxmlformats.org/officeDocument/2006/relationships/slideMaster" Target="../slideMasters/slideMaster5.xml"/><Relationship Id="rId1" Type="http://schemas.openxmlformats.org/officeDocument/2006/relationships/tags" Target="../tags/tag67.xml"/><Relationship Id="rId4" Type="http://schemas.openxmlformats.org/officeDocument/2006/relationships/image" Target="../media/image3.emf"/></Relationships>
</file>

<file path=ppt/slideLayouts/_rels/slideLayout66.xml.rels><?xml version="1.0" encoding="UTF-8" standalone="yes"?>
<Relationships xmlns="http://schemas.openxmlformats.org/package/2006/relationships"><Relationship Id="rId3" Type="http://schemas.openxmlformats.org/officeDocument/2006/relationships/oleObject" Target="../embeddings/oleObject65.bin"/><Relationship Id="rId2" Type="http://schemas.openxmlformats.org/officeDocument/2006/relationships/slideMaster" Target="../slideMasters/slideMaster5.xml"/><Relationship Id="rId1" Type="http://schemas.openxmlformats.org/officeDocument/2006/relationships/tags" Target="../tags/tag68.xml"/><Relationship Id="rId4" Type="http://schemas.openxmlformats.org/officeDocument/2006/relationships/image" Target="../media/image3.emf"/></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66.bin"/><Relationship Id="rId2" Type="http://schemas.openxmlformats.org/officeDocument/2006/relationships/slideMaster" Target="../slideMasters/slideMaster5.xml"/><Relationship Id="rId1" Type="http://schemas.openxmlformats.org/officeDocument/2006/relationships/tags" Target="../tags/tag69.xml"/><Relationship Id="rId4" Type="http://schemas.openxmlformats.org/officeDocument/2006/relationships/image" Target="../media/image3.emf"/></Relationships>
</file>

<file path=ppt/slideLayouts/_rels/slideLayout68.xml.rels><?xml version="1.0" encoding="UTF-8" standalone="yes"?>
<Relationships xmlns="http://schemas.openxmlformats.org/package/2006/relationships"><Relationship Id="rId3" Type="http://schemas.openxmlformats.org/officeDocument/2006/relationships/oleObject" Target="../embeddings/oleObject67.bin"/><Relationship Id="rId2" Type="http://schemas.openxmlformats.org/officeDocument/2006/relationships/slideMaster" Target="../slideMasters/slideMaster5.xml"/><Relationship Id="rId1" Type="http://schemas.openxmlformats.org/officeDocument/2006/relationships/tags" Target="../tags/tag70.xml"/><Relationship Id="rId4" Type="http://schemas.openxmlformats.org/officeDocument/2006/relationships/image" Target="../media/image3.emf"/></Relationships>
</file>

<file path=ppt/slideLayouts/_rels/slideLayout69.xml.rels><?xml version="1.0" encoding="UTF-8" standalone="yes"?>
<Relationships xmlns="http://schemas.openxmlformats.org/package/2006/relationships"><Relationship Id="rId3" Type="http://schemas.openxmlformats.org/officeDocument/2006/relationships/oleObject" Target="../embeddings/oleObject68.bin"/><Relationship Id="rId7" Type="http://schemas.openxmlformats.org/officeDocument/2006/relationships/image" Target="../media/image15.jpeg"/><Relationship Id="rId2" Type="http://schemas.openxmlformats.org/officeDocument/2006/relationships/slideMaster" Target="../slideMasters/slideMaster5.xml"/><Relationship Id="rId1" Type="http://schemas.openxmlformats.org/officeDocument/2006/relationships/tags" Target="../tags/tag7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emf"/></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basic_cover">
    <p:bg>
      <p:bgPr>
        <a:solidFill>
          <a:schemeClr val="bg1"/>
        </a:solidFill>
        <a:effectLst/>
      </p:bgPr>
    </p:bg>
    <p:spTree>
      <p:nvGrpSpPr>
        <p:cNvPr id="1" name=""/>
        <p:cNvGrpSpPr/>
        <p:nvPr/>
      </p:nvGrpSpPr>
      <p:grpSpPr>
        <a:xfrm>
          <a:off x="0" y="0"/>
          <a:ext cx="0" cy="0"/>
          <a:chOff x="0" y="0"/>
          <a:chExt cx="0" cy="0"/>
        </a:xfrm>
      </p:grpSpPr>
      <p:sp>
        <p:nvSpPr>
          <p:cNvPr id="56" name="正方形/長方形 55"/>
          <p:cNvSpPr/>
          <p:nvPr userDrawn="1"/>
        </p:nvSpPr>
        <p:spPr>
          <a:xfrm>
            <a:off x="119063" y="728663"/>
            <a:ext cx="11953875" cy="6012000"/>
          </a:xfrm>
          <a:prstGeom prst="rect">
            <a:avLst/>
          </a:prstGeom>
          <a:solidFill>
            <a:srgbClr val="EC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タイトル 66"/>
          <p:cNvSpPr>
            <a:spLocks noGrp="1"/>
          </p:cNvSpPr>
          <p:nvPr>
            <p:ph type="title" hasCustomPrompt="1"/>
          </p:nvPr>
        </p:nvSpPr>
        <p:spPr>
          <a:xfrm>
            <a:off x="750626" y="2520666"/>
            <a:ext cx="10925374" cy="1842043"/>
          </a:xfrm>
          <a:prstGeom prst="rect">
            <a:avLst/>
          </a:prstGeom>
          <a:noFill/>
        </p:spPr>
        <p:txBody>
          <a:bodyPr wrap="square" lIns="0" tIns="0" rIns="0" bIns="0" anchor="t">
            <a:noAutofit/>
          </a:bodyPr>
          <a:lstStyle>
            <a:lvl1pPr>
              <a:lnSpc>
                <a:spcPct val="95000"/>
              </a:lnSpc>
              <a:defRPr sz="4200" b="1" spc="-100" baseline="0">
                <a:latin typeface="+mj-lt"/>
                <a:ea typeface="+mj-ea"/>
              </a:defRPr>
            </a:lvl1pPr>
          </a:lstStyle>
          <a:p>
            <a:r>
              <a:rPr kumimoji="1" lang="ja-JP" altLang="en-US"/>
              <a:t>プレゼンテーション</a:t>
            </a:r>
            <a:r>
              <a:rPr kumimoji="1" lang="en-US" altLang="ja-JP"/>
              <a:t> </a:t>
            </a:r>
            <a:r>
              <a:rPr kumimoji="1" lang="ja-JP" altLang="en-US"/>
              <a:t>タイトル</a:t>
            </a:r>
            <a:br>
              <a:rPr kumimoji="1" lang="en-US" altLang="ja-JP"/>
            </a:br>
            <a:r>
              <a:rPr kumimoji="1" lang="ja-JP" altLang="en-US"/>
              <a:t>游ゴシック</a:t>
            </a:r>
            <a:r>
              <a:rPr kumimoji="1" lang="en-US" altLang="ja-JP"/>
              <a:t> Bold 42pt </a:t>
            </a:r>
            <a:br>
              <a:rPr kumimoji="1" lang="en-US" altLang="ja-JP"/>
            </a:br>
            <a:r>
              <a:rPr kumimoji="1" lang="ja-JP" altLang="en-US"/>
              <a:t>行間</a:t>
            </a:r>
            <a:r>
              <a:rPr kumimoji="1" lang="en-US" altLang="ja-JP"/>
              <a:t>0.95</a:t>
            </a:r>
            <a:endParaRPr kumimoji="1" lang="ja-JP" altLang="en-US"/>
          </a:p>
        </p:txBody>
      </p:sp>
      <p:sp>
        <p:nvSpPr>
          <p:cNvPr id="16" name="テキスト プレースホルダー 28"/>
          <p:cNvSpPr>
            <a:spLocks noGrp="1"/>
          </p:cNvSpPr>
          <p:nvPr>
            <p:ph type="body" sz="quarter" idx="11" hasCustomPrompt="1"/>
          </p:nvPr>
        </p:nvSpPr>
        <p:spPr>
          <a:xfrm>
            <a:off x="750626" y="4704321"/>
            <a:ext cx="10925374" cy="553998"/>
          </a:xfrm>
          <a:prstGeom prst="rect">
            <a:avLst/>
          </a:prstGeom>
          <a:noFill/>
        </p:spPr>
        <p:txBody>
          <a:bodyPr wrap="square" lIns="0" tIns="0" rIns="0" bIns="0" anchor="t" anchorCtr="0">
            <a:noAutofit/>
          </a:bodyPr>
          <a:lstStyle>
            <a:lvl1pPr marL="0" indent="0" defTabSz="158115">
              <a:lnSpc>
                <a:spcPct val="100000"/>
              </a:lnSpc>
              <a:spcBef>
                <a:spcPts val="0"/>
              </a:spcBef>
              <a:buNone/>
              <a:defRPr sz="1800" b="0" spc="-30" baseline="0">
                <a:latin typeface="+mj-lt"/>
                <a:ea typeface="+mj-ea"/>
              </a:defRPr>
            </a:lvl1pPr>
            <a:lvl2pPr marL="0" indent="0" defTabSz="158115">
              <a:buNone/>
              <a:defRPr sz="1400" b="1"/>
            </a:lvl2pPr>
            <a:lvl3pPr marL="0" indent="0" defTabSz="158115">
              <a:buNone/>
              <a:defRPr b="1"/>
            </a:lvl3pPr>
            <a:lvl4pPr marL="1371600" indent="0">
              <a:buNone/>
              <a:defRPr/>
            </a:lvl4pPr>
            <a:lvl5pPr marL="1828800" indent="0">
              <a:buNone/>
              <a:defRPr/>
            </a:lvl5pPr>
          </a:lstStyle>
          <a:p>
            <a:pPr lvl="0"/>
            <a:r>
              <a:rPr kumimoji="1" lang="ja-JP" altLang="en-US"/>
              <a:t>サブタイトル</a:t>
            </a:r>
            <a:r>
              <a:rPr kumimoji="1" lang="en-US" altLang="ja-JP"/>
              <a:t> </a:t>
            </a:r>
            <a:r>
              <a:rPr kumimoji="1" lang="ja-JP" altLang="en-US"/>
              <a:t>游ゴシック </a:t>
            </a:r>
            <a:r>
              <a:rPr kumimoji="1" lang="en-US" altLang="ja-JP"/>
              <a:t>Medium 18pt / </a:t>
            </a:r>
            <a:r>
              <a:rPr kumimoji="1" lang="ja-JP" altLang="en-US"/>
              <a:t>行間</a:t>
            </a:r>
            <a:r>
              <a:rPr kumimoji="1" lang="en-US" altLang="ja-JP"/>
              <a:t>1</a:t>
            </a:r>
            <a:br>
              <a:rPr kumimoji="1" lang="en-US" altLang="ja-JP"/>
            </a:br>
            <a:r>
              <a:rPr kumimoji="1" lang="ja-JP" altLang="en-US"/>
              <a:t>日付　　＊社外向け資料には、サブタイトル内に自社名を必ず記入してください。</a:t>
            </a:r>
            <a:endParaRPr kumimoji="1" lang="en-US" altLang="ja-JP"/>
          </a:p>
        </p:txBody>
      </p:sp>
      <p:sp>
        <p:nvSpPr>
          <p:cNvPr id="14" name="テキスト プレースホルダー 4"/>
          <p:cNvSpPr>
            <a:spLocks noGrp="1"/>
          </p:cNvSpPr>
          <p:nvPr>
            <p:ph type="body" sz="quarter" idx="17" hasCustomPrompt="1"/>
          </p:nvPr>
        </p:nvSpPr>
        <p:spPr>
          <a:xfrm>
            <a:off x="750627" y="1653463"/>
            <a:ext cx="10925373" cy="369332"/>
          </a:xfrm>
          <a:prstGeom prst="rect">
            <a:avLst/>
          </a:prstGeom>
        </p:spPr>
        <p:txBody>
          <a:bodyPr lIns="0" tIns="0" rIns="0" bIns="0" anchor="ctr">
            <a:noAutofit/>
          </a:bodyPr>
          <a:lstStyle>
            <a:lvl1pPr marL="0" indent="0">
              <a:spcBef>
                <a:spcPts val="0"/>
              </a:spcBef>
              <a:buNone/>
              <a:defRPr sz="2400" b="0" spc="-30"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タイトル</a:t>
            </a:r>
            <a:r>
              <a:rPr kumimoji="1" lang="en-US" altLang="ja-JP"/>
              <a:t> </a:t>
            </a:r>
            <a:r>
              <a:rPr kumimoji="1" lang="ja-JP" altLang="en-US"/>
              <a:t>游ゴシック </a:t>
            </a:r>
            <a:r>
              <a:rPr kumimoji="1" lang="en-US" altLang="ja-JP"/>
              <a:t>Medium 24pt</a:t>
            </a:r>
            <a:endParaRPr kumimoji="1" lang="ja-JP" altLang="en-US"/>
          </a:p>
        </p:txBody>
      </p:sp>
      <p:sp>
        <p:nvSpPr>
          <p:cNvPr id="13" name="テキスト ボックス 12"/>
          <p:cNvSpPr txBox="1"/>
          <p:nvPr userDrawn="1"/>
        </p:nvSpPr>
        <p:spPr>
          <a:xfrm>
            <a:off x="10768120" y="6397228"/>
            <a:ext cx="1188000" cy="241980"/>
          </a:xfrm>
          <a:prstGeom prst="rect">
            <a:avLst/>
          </a:prstGeom>
          <a:noFill/>
          <a:ln>
            <a:solidFill>
              <a:srgbClr val="FF0000"/>
            </a:solidFill>
          </a:ln>
        </p:spPr>
        <p:txBody>
          <a:bodyPr wrap="square" lIns="36000" tIns="36000" rIns="36000" bIns="36000" rtlCol="0" anchor="ctr">
            <a:spAutoFit/>
          </a:bodyPr>
          <a:lstStyle/>
          <a:p>
            <a:pPr algn="ctr"/>
            <a:r>
              <a:rPr kumimoji="1" lang="en-US" altLang="ja-JP" sz="1100" b="0" i="0">
                <a:solidFill>
                  <a:srgbClr val="FF0000"/>
                </a:solidFill>
                <a:latin typeface="+mj-lt"/>
                <a:ea typeface="MS Gothic" panose="020B0609070205080204" pitchFamily="49" charset="-128"/>
              </a:rPr>
              <a:t>CONFIDENTIAL</a:t>
            </a:r>
            <a:endParaRPr kumimoji="1" lang="ja-JP" altLang="en-US" sz="1100" b="0" i="0">
              <a:solidFill>
                <a:srgbClr val="FF0000"/>
              </a:solidFill>
              <a:latin typeface="+mj-lt"/>
              <a:ea typeface="MS Gothic" panose="020B0609070205080204" pitchFamily="49" charset="-128"/>
            </a:endParaRPr>
          </a:p>
        </p:txBody>
      </p:sp>
      <p:pic>
        <p:nvPicPr>
          <p:cNvPr id="2"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844538" y="101218"/>
            <a:ext cx="2228400" cy="45663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basic_section cover">
    <p:bg>
      <p:bgPr>
        <a:solidFill>
          <a:schemeClr val="bg1"/>
        </a:solidFill>
        <a:effectLst/>
      </p:bgPr>
    </p:bg>
    <p:spTree>
      <p:nvGrpSpPr>
        <p:cNvPr id="1" name=""/>
        <p:cNvGrpSpPr/>
        <p:nvPr/>
      </p:nvGrpSpPr>
      <p:grpSpPr>
        <a:xfrm>
          <a:off x="0" y="0"/>
          <a:ext cx="0" cy="0"/>
          <a:chOff x="0" y="0"/>
          <a:chExt cx="0" cy="0"/>
        </a:xfrm>
      </p:grpSpPr>
      <p:sp>
        <p:nvSpPr>
          <p:cNvPr id="9" name="正方形/長方形 8"/>
          <p:cNvSpPr/>
          <p:nvPr userDrawn="1"/>
        </p:nvSpPr>
        <p:spPr>
          <a:xfrm>
            <a:off x="119063" y="728663"/>
            <a:ext cx="11953875" cy="6012000"/>
          </a:xfrm>
          <a:prstGeom prst="rect">
            <a:avLst/>
          </a:prstGeom>
          <a:solidFill>
            <a:srgbClr val="EC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プレースホルダー 28"/>
          <p:cNvSpPr>
            <a:spLocks noGrp="1"/>
          </p:cNvSpPr>
          <p:nvPr>
            <p:ph type="body" sz="quarter" idx="11" hasCustomPrompt="1"/>
          </p:nvPr>
        </p:nvSpPr>
        <p:spPr>
          <a:xfrm>
            <a:off x="750626" y="4235913"/>
            <a:ext cx="10925374" cy="276999"/>
          </a:xfrm>
          <a:prstGeom prst="rect">
            <a:avLst/>
          </a:prstGeom>
          <a:noFill/>
        </p:spPr>
        <p:txBody>
          <a:bodyPr wrap="square" lIns="0" tIns="0" rIns="0" bIns="0" anchor="t" anchorCtr="0">
            <a:noAutofit/>
          </a:bodyPr>
          <a:lstStyle>
            <a:lvl1pPr marL="0" indent="0" defTabSz="158115">
              <a:lnSpc>
                <a:spcPct val="100000"/>
              </a:lnSpc>
              <a:spcBef>
                <a:spcPts val="500"/>
              </a:spcBef>
              <a:buNone/>
              <a:defRPr sz="1800" b="0" spc="-30" baseline="0">
                <a:latin typeface="+mj-lt"/>
                <a:ea typeface="+mj-ea"/>
              </a:defRPr>
            </a:lvl1pPr>
            <a:lvl2pPr marL="0" indent="0" defTabSz="158115">
              <a:buNone/>
              <a:defRPr sz="1400" b="1"/>
            </a:lvl2pPr>
            <a:lvl3pPr marL="0" indent="0" defTabSz="158115">
              <a:buNone/>
              <a:defRPr b="1"/>
            </a:lvl3pPr>
            <a:lvl4pPr marL="1371600" indent="0">
              <a:buNone/>
              <a:defRPr/>
            </a:lvl4pPr>
            <a:lvl5pPr marL="1828800" indent="0">
              <a:buNone/>
              <a:defRPr/>
            </a:lvl5pPr>
          </a:lstStyle>
          <a:p>
            <a:pPr lvl="0"/>
            <a:r>
              <a:rPr kumimoji="1" lang="ja-JP" altLang="en-US"/>
              <a:t>サブタイトル</a:t>
            </a:r>
            <a:r>
              <a:rPr kumimoji="1" lang="en-US" altLang="ja-JP"/>
              <a:t> </a:t>
            </a:r>
            <a:r>
              <a:rPr kumimoji="1" lang="ja-JP" altLang="en-US"/>
              <a:t>游ゴシック </a:t>
            </a:r>
            <a:r>
              <a:rPr kumimoji="1" lang="en-US" altLang="ja-JP"/>
              <a:t>Medium 18pt</a:t>
            </a:r>
          </a:p>
        </p:txBody>
      </p:sp>
      <p:sp>
        <p:nvSpPr>
          <p:cNvPr id="23" name="タイトル 22"/>
          <p:cNvSpPr>
            <a:spLocks noGrp="1"/>
          </p:cNvSpPr>
          <p:nvPr>
            <p:ph type="title" hasCustomPrompt="1"/>
          </p:nvPr>
        </p:nvSpPr>
        <p:spPr>
          <a:xfrm>
            <a:off x="750626" y="2867723"/>
            <a:ext cx="10925374" cy="1231106"/>
          </a:xfrm>
          <a:prstGeom prst="rect">
            <a:avLst/>
          </a:prstGeom>
        </p:spPr>
        <p:txBody>
          <a:bodyPr lIns="0" tIns="0" rIns="0" bIns="0" anchor="ctr">
            <a:noAutofit/>
          </a:bodyPr>
          <a:lstStyle>
            <a:lvl1pPr>
              <a:defRPr sz="4000"/>
            </a:lvl1pPr>
          </a:lstStyle>
          <a:p>
            <a:r>
              <a:rPr lang="ja-JP" altLang="en-US" sz="4000"/>
              <a:t>セクションタイトル</a:t>
            </a:r>
            <a:br>
              <a:rPr lang="en-US" altLang="ja-JP" sz="4000"/>
            </a:br>
            <a:r>
              <a:rPr lang="ja-JP" altLang="en-US" sz="4000"/>
              <a:t>游ゴシック</a:t>
            </a:r>
            <a:r>
              <a:rPr lang="en-US" altLang="ja-JP" sz="4000"/>
              <a:t> Bold 40pt / </a:t>
            </a:r>
            <a:r>
              <a:rPr lang="ja-JP" altLang="en-US" sz="4000"/>
              <a:t>行間</a:t>
            </a:r>
            <a:r>
              <a:rPr lang="en-US" altLang="ja-JP" sz="4000"/>
              <a:t>1</a:t>
            </a:r>
            <a:endParaRPr kumimoji="1" lang="ja-JP" altLang="en-US"/>
          </a:p>
        </p:txBody>
      </p:sp>
      <p:sp>
        <p:nvSpPr>
          <p:cNvPr id="2" name="テキスト ボックス 1"/>
          <p:cNvSpPr txBox="1"/>
          <p:nvPr userDrawn="1"/>
        </p:nvSpPr>
        <p:spPr>
          <a:xfrm>
            <a:off x="10768120" y="6397228"/>
            <a:ext cx="1188000" cy="241980"/>
          </a:xfrm>
          <a:prstGeom prst="rect">
            <a:avLst/>
          </a:prstGeom>
          <a:noFill/>
          <a:ln>
            <a:solidFill>
              <a:srgbClr val="FF0000"/>
            </a:solidFill>
          </a:ln>
        </p:spPr>
        <p:txBody>
          <a:bodyPr wrap="square" lIns="36000" tIns="36000" rIns="36000" bIns="36000" rtlCol="0" anchor="ctr">
            <a:spAutoFit/>
          </a:bodyPr>
          <a:lstStyle/>
          <a:p>
            <a:pPr algn="ctr"/>
            <a:r>
              <a:rPr kumimoji="1" lang="en-US" altLang="ja-JP" sz="1100" b="0" i="0">
                <a:solidFill>
                  <a:srgbClr val="FF0000"/>
                </a:solidFill>
                <a:latin typeface="+mj-lt"/>
                <a:ea typeface="MS Gothic" panose="020B0609070205080204" pitchFamily="49" charset="-128"/>
              </a:rPr>
              <a:t>CONFIDENTIAL</a:t>
            </a:r>
            <a:endParaRPr kumimoji="1" lang="ja-JP" altLang="en-US" sz="1100" b="0" i="0">
              <a:solidFill>
                <a:srgbClr val="FF0000"/>
              </a:solidFill>
              <a:latin typeface="+mj-lt"/>
              <a:ea typeface="MS Gothic" panose="020B0609070205080204" pitchFamily="49" charset="-128"/>
            </a:endParaRPr>
          </a:p>
        </p:txBody>
      </p:sp>
      <p:pic>
        <p:nvPicPr>
          <p:cNvPr id="4" name="Picture 2">
            <a:extLst>
              <a:ext uri="{FF2B5EF4-FFF2-40B4-BE49-F238E27FC236}">
                <a16:creationId xmlns:a16="http://schemas.microsoft.com/office/drawing/2014/main" id="{BB689C8C-FA0B-7055-CC34-997E7292425C}"/>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844538" y="101218"/>
            <a:ext cx="2228400" cy="45663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asic_text">
    <p:spTree>
      <p:nvGrpSpPr>
        <p:cNvPr id="1" name=""/>
        <p:cNvGrpSpPr/>
        <p:nvPr/>
      </p:nvGrpSpPr>
      <p:grpSpPr>
        <a:xfrm>
          <a:off x="0" y="0"/>
          <a:ext cx="0" cy="0"/>
          <a:chOff x="0" y="0"/>
          <a:chExt cx="0" cy="0"/>
        </a:xfrm>
      </p:grpSpPr>
      <p:sp>
        <p:nvSpPr>
          <p:cNvPr id="4" name="タイトル 3"/>
          <p:cNvSpPr>
            <a:spLocks noGrp="1"/>
          </p:cNvSpPr>
          <p:nvPr>
            <p:ph type="title" hasCustomPrompt="1"/>
          </p:nvPr>
        </p:nvSpPr>
        <p:spPr>
          <a:xfrm>
            <a:off x="414336" y="255264"/>
            <a:ext cx="9327072" cy="369332"/>
          </a:xfrm>
        </p:spPr>
        <p:txBody>
          <a:bodyPr/>
          <a:lstStyle/>
          <a:p>
            <a:r>
              <a:rPr kumimoji="1" lang="ja-JP" altLang="en-US"/>
              <a:t>タイトル</a:t>
            </a:r>
            <a:r>
              <a:rPr kumimoji="1" lang="en-US" altLang="ja-JP"/>
              <a:t> </a:t>
            </a:r>
            <a:r>
              <a:rPr kumimoji="1" lang="ja-JP" altLang="en-US"/>
              <a:t>游ゴシック</a:t>
            </a:r>
            <a:r>
              <a:rPr kumimoji="1" lang="en-US" altLang="ja-JP"/>
              <a:t>Bold 24pt</a:t>
            </a:r>
            <a:endParaRPr kumimoji="1" lang="ja-JP" altLang="en-US"/>
          </a:p>
        </p:txBody>
      </p:sp>
      <p:sp>
        <p:nvSpPr>
          <p:cNvPr id="15" name="コンテンツ プレースホルダー 14"/>
          <p:cNvSpPr>
            <a:spLocks noGrp="1"/>
          </p:cNvSpPr>
          <p:nvPr>
            <p:ph sz="quarter" idx="10" hasCustomPrompt="1"/>
          </p:nvPr>
        </p:nvSpPr>
        <p:spPr>
          <a:xfrm>
            <a:off x="414338" y="857251"/>
            <a:ext cx="11550650" cy="5380038"/>
          </a:xfrm>
        </p:spPr>
        <p:txBody>
          <a:bodyPr/>
          <a:lstStyle>
            <a:lvl1pPr>
              <a:lnSpc>
                <a:spcPct val="150000"/>
              </a:lnSpc>
              <a:defRPr sz="1600"/>
            </a:lvl1pPr>
            <a:lvl2pPr>
              <a:lnSpc>
                <a:spcPct val="150000"/>
              </a:lnSpc>
              <a:defRPr/>
            </a:lvl2pPr>
            <a:lvl3pPr>
              <a:lnSpc>
                <a:spcPct val="150000"/>
              </a:lnSpc>
              <a:defRPr/>
            </a:lvl3pPr>
            <a:lvl4pPr>
              <a:lnSpc>
                <a:spcPct val="150000"/>
              </a:lnSpc>
              <a:defRPr/>
            </a:lvl4pPr>
            <a:lvl5pPr>
              <a:lnSpc>
                <a:spcPct val="150000"/>
              </a:lnSpc>
              <a:defRPr/>
            </a:lvl5pPr>
          </a:lstStyle>
          <a:p>
            <a:pPr lvl="0"/>
            <a:r>
              <a:rPr kumimoji="1" lang="ja-JP" altLang="en-US"/>
              <a:t>本文テキスト</a:t>
            </a:r>
            <a:r>
              <a:rPr kumimoji="1" lang="en-US" altLang="ja-JP"/>
              <a:t> </a:t>
            </a:r>
            <a:r>
              <a:rPr kumimoji="1" lang="ja-JP" altLang="en-US"/>
              <a:t>游ゴシック </a:t>
            </a:r>
            <a:r>
              <a:rPr kumimoji="1" lang="en-US" altLang="ja-JP"/>
              <a:t>Medium 16pt / </a:t>
            </a:r>
            <a:r>
              <a:rPr kumimoji="1" lang="ja-JP" altLang="en-US"/>
              <a:t>行間</a:t>
            </a:r>
            <a:r>
              <a:rPr kumimoji="1" lang="en-US" altLang="ja-JP"/>
              <a:t>1.5</a:t>
            </a:r>
            <a:br>
              <a:rPr kumimoji="1" lang="en-US" altLang="ja-JP"/>
            </a:br>
            <a:r>
              <a:rPr kumimoji="1" lang="ja-JP" altLang="en-US"/>
              <a:t>テーマカラー：</a:t>
            </a:r>
            <a:r>
              <a:rPr kumimoji="1" lang="en-US" altLang="ja-JP"/>
              <a:t>Blue and Cool gray </a:t>
            </a:r>
          </a:p>
        </p:txBody>
      </p:sp>
      <p:sp>
        <p:nvSpPr>
          <p:cNvPr id="5" name="テキスト ボックス 4"/>
          <p:cNvSpPr txBox="1"/>
          <p:nvPr userDrawn="1"/>
        </p:nvSpPr>
        <p:spPr>
          <a:xfrm>
            <a:off x="10768120" y="6397228"/>
            <a:ext cx="1188000" cy="241980"/>
          </a:xfrm>
          <a:prstGeom prst="rect">
            <a:avLst/>
          </a:prstGeom>
          <a:noFill/>
          <a:ln>
            <a:solidFill>
              <a:srgbClr val="FF0000"/>
            </a:solidFill>
          </a:ln>
        </p:spPr>
        <p:txBody>
          <a:bodyPr wrap="square" lIns="36000" tIns="36000" rIns="36000" bIns="36000" rtlCol="0" anchor="ctr">
            <a:spAutoFit/>
          </a:bodyPr>
          <a:lstStyle/>
          <a:p>
            <a:pPr algn="ctr"/>
            <a:r>
              <a:rPr kumimoji="1" lang="en-US" altLang="ja-JP" sz="1100" b="0" i="0">
                <a:solidFill>
                  <a:srgbClr val="FF0000"/>
                </a:solidFill>
                <a:latin typeface="+mj-lt"/>
                <a:ea typeface="MS Gothic" panose="020B0609070205080204" pitchFamily="49" charset="-128"/>
              </a:rPr>
              <a:t>CONFIDENTIAL</a:t>
            </a:r>
            <a:endParaRPr kumimoji="1" lang="ja-JP" altLang="en-US" sz="1100" b="0" i="0">
              <a:solidFill>
                <a:srgbClr val="FF0000"/>
              </a:solidFill>
              <a:latin typeface="+mj-lt"/>
              <a:ea typeface="MS Gothic" panose="020B0609070205080204" pitchFamily="49" charset="-128"/>
            </a:endParaRPr>
          </a:p>
        </p:txBody>
      </p:sp>
      <p:pic>
        <p:nvPicPr>
          <p:cNvPr id="3" name="Picture 2">
            <a:extLst>
              <a:ext uri="{FF2B5EF4-FFF2-40B4-BE49-F238E27FC236}">
                <a16:creationId xmlns:a16="http://schemas.microsoft.com/office/drawing/2014/main" id="{BA094BBD-C310-6CA8-A0A6-B066056E0C1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844538" y="101218"/>
            <a:ext cx="2228400" cy="45663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基本版） タイトルのみ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sym typeface="+mn-lt"/>
              </a:defRPr>
            </a:lvl1pPr>
          </a:lstStyle>
          <a:p>
            <a:r>
              <a:rPr lang="en-GB" altLang="en-GB"/>
              <a:t>DT Power Library &amp; Appendix</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9"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600" b="1">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basic_cover">
    <p:bg>
      <p:bgPr>
        <a:solidFill>
          <a:schemeClr val="bg1"/>
        </a:solidFill>
        <a:effectLst/>
      </p:bgPr>
    </p:bg>
    <p:spTree>
      <p:nvGrpSpPr>
        <p:cNvPr id="1" name=""/>
        <p:cNvGrpSpPr/>
        <p:nvPr/>
      </p:nvGrpSpPr>
      <p:grpSpPr>
        <a:xfrm>
          <a:off x="0" y="0"/>
          <a:ext cx="0" cy="0"/>
          <a:chOff x="0" y="0"/>
          <a:chExt cx="0" cy="0"/>
        </a:xfrm>
      </p:grpSpPr>
      <p:sp>
        <p:nvSpPr>
          <p:cNvPr id="56" name="正方形/長方形 55"/>
          <p:cNvSpPr/>
          <p:nvPr userDrawn="1"/>
        </p:nvSpPr>
        <p:spPr>
          <a:xfrm>
            <a:off x="119063" y="728663"/>
            <a:ext cx="11953875" cy="6012000"/>
          </a:xfrm>
          <a:prstGeom prst="rect">
            <a:avLst/>
          </a:prstGeom>
          <a:solidFill>
            <a:srgbClr val="EC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タイトル 66"/>
          <p:cNvSpPr>
            <a:spLocks noGrp="1"/>
          </p:cNvSpPr>
          <p:nvPr>
            <p:ph type="title" hasCustomPrompt="1"/>
          </p:nvPr>
        </p:nvSpPr>
        <p:spPr>
          <a:xfrm>
            <a:off x="750626" y="2520666"/>
            <a:ext cx="10925374" cy="1842043"/>
          </a:xfrm>
          <a:prstGeom prst="rect">
            <a:avLst/>
          </a:prstGeom>
          <a:noFill/>
        </p:spPr>
        <p:txBody>
          <a:bodyPr wrap="square" lIns="0" tIns="0" rIns="0" bIns="0" anchor="t">
            <a:noAutofit/>
          </a:bodyPr>
          <a:lstStyle>
            <a:lvl1pPr>
              <a:lnSpc>
                <a:spcPct val="95000"/>
              </a:lnSpc>
              <a:defRPr sz="4200" b="1" spc="-100" baseline="0">
                <a:latin typeface="+mj-lt"/>
                <a:ea typeface="+mj-ea"/>
              </a:defRPr>
            </a:lvl1pPr>
          </a:lstStyle>
          <a:p>
            <a:r>
              <a:rPr kumimoji="1" lang="ja-JP" altLang="en-US"/>
              <a:t>プレゼンテーション</a:t>
            </a:r>
            <a:r>
              <a:rPr kumimoji="1" lang="en-US" altLang="ja-JP"/>
              <a:t> </a:t>
            </a:r>
            <a:r>
              <a:rPr kumimoji="1" lang="ja-JP" altLang="en-US"/>
              <a:t>タイトル</a:t>
            </a:r>
            <a:br>
              <a:rPr kumimoji="1" lang="en-US" altLang="ja-JP"/>
            </a:br>
            <a:r>
              <a:rPr kumimoji="1" lang="ja-JP" altLang="en-US"/>
              <a:t>游ゴシック</a:t>
            </a:r>
            <a:r>
              <a:rPr kumimoji="1" lang="en-US" altLang="ja-JP"/>
              <a:t> Bold 42pt </a:t>
            </a:r>
            <a:br>
              <a:rPr kumimoji="1" lang="en-US" altLang="ja-JP"/>
            </a:br>
            <a:r>
              <a:rPr kumimoji="1" lang="ja-JP" altLang="en-US"/>
              <a:t>行間</a:t>
            </a:r>
            <a:r>
              <a:rPr kumimoji="1" lang="en-US" altLang="ja-JP"/>
              <a:t>0.95</a:t>
            </a:r>
            <a:endParaRPr kumimoji="1" lang="ja-JP" altLang="en-US"/>
          </a:p>
        </p:txBody>
      </p:sp>
      <p:sp>
        <p:nvSpPr>
          <p:cNvPr id="16" name="テキスト プレースホルダー 28"/>
          <p:cNvSpPr>
            <a:spLocks noGrp="1"/>
          </p:cNvSpPr>
          <p:nvPr>
            <p:ph type="body" sz="quarter" idx="11" hasCustomPrompt="1"/>
          </p:nvPr>
        </p:nvSpPr>
        <p:spPr>
          <a:xfrm>
            <a:off x="750626" y="4704321"/>
            <a:ext cx="10925374" cy="553998"/>
          </a:xfrm>
          <a:prstGeom prst="rect">
            <a:avLst/>
          </a:prstGeom>
          <a:noFill/>
        </p:spPr>
        <p:txBody>
          <a:bodyPr wrap="square" lIns="0" tIns="0" rIns="0" bIns="0" anchor="t" anchorCtr="0">
            <a:noAutofit/>
          </a:bodyPr>
          <a:lstStyle>
            <a:lvl1pPr marL="0" indent="0" defTabSz="158115">
              <a:lnSpc>
                <a:spcPct val="100000"/>
              </a:lnSpc>
              <a:spcBef>
                <a:spcPts val="0"/>
              </a:spcBef>
              <a:buNone/>
              <a:defRPr sz="1800" b="0" spc="-30" baseline="0">
                <a:latin typeface="+mj-lt"/>
                <a:ea typeface="+mj-ea"/>
              </a:defRPr>
            </a:lvl1pPr>
            <a:lvl2pPr marL="0" indent="0" defTabSz="158115">
              <a:buNone/>
              <a:defRPr sz="1400" b="1"/>
            </a:lvl2pPr>
            <a:lvl3pPr marL="0" indent="0" defTabSz="158115">
              <a:buNone/>
              <a:defRPr b="1"/>
            </a:lvl3pPr>
            <a:lvl4pPr marL="1371600" indent="0">
              <a:buNone/>
              <a:defRPr/>
            </a:lvl4pPr>
            <a:lvl5pPr marL="1828800" indent="0">
              <a:buNone/>
              <a:defRPr/>
            </a:lvl5pPr>
          </a:lstStyle>
          <a:p>
            <a:pPr lvl="0"/>
            <a:r>
              <a:rPr kumimoji="1" lang="ja-JP" altLang="en-US"/>
              <a:t>サブタイトル</a:t>
            </a:r>
            <a:r>
              <a:rPr kumimoji="1" lang="en-US" altLang="ja-JP"/>
              <a:t> </a:t>
            </a:r>
            <a:r>
              <a:rPr kumimoji="1" lang="ja-JP" altLang="en-US"/>
              <a:t>游ゴシック </a:t>
            </a:r>
            <a:r>
              <a:rPr kumimoji="1" lang="en-US" altLang="ja-JP"/>
              <a:t>Medium 18pt / </a:t>
            </a:r>
            <a:r>
              <a:rPr kumimoji="1" lang="ja-JP" altLang="en-US"/>
              <a:t>行間</a:t>
            </a:r>
            <a:r>
              <a:rPr kumimoji="1" lang="en-US" altLang="ja-JP"/>
              <a:t>1</a:t>
            </a:r>
            <a:br>
              <a:rPr kumimoji="1" lang="en-US" altLang="ja-JP"/>
            </a:br>
            <a:r>
              <a:rPr kumimoji="1" lang="ja-JP" altLang="en-US"/>
              <a:t>日付　　＊社外向け資料には、サブタイトル内に自社名を必ず記入してください。</a:t>
            </a:r>
            <a:endParaRPr kumimoji="1" lang="en-US" altLang="ja-JP"/>
          </a:p>
        </p:txBody>
      </p:sp>
      <p:sp>
        <p:nvSpPr>
          <p:cNvPr id="14" name="テキスト プレースホルダー 4"/>
          <p:cNvSpPr>
            <a:spLocks noGrp="1"/>
          </p:cNvSpPr>
          <p:nvPr>
            <p:ph type="body" sz="quarter" idx="17" hasCustomPrompt="1"/>
          </p:nvPr>
        </p:nvSpPr>
        <p:spPr>
          <a:xfrm>
            <a:off x="750627" y="1653463"/>
            <a:ext cx="10925373" cy="369332"/>
          </a:xfrm>
          <a:prstGeom prst="rect">
            <a:avLst/>
          </a:prstGeom>
        </p:spPr>
        <p:txBody>
          <a:bodyPr lIns="0" tIns="0" rIns="0" bIns="0" anchor="ctr">
            <a:noAutofit/>
          </a:bodyPr>
          <a:lstStyle>
            <a:lvl1pPr marL="0" indent="0">
              <a:spcBef>
                <a:spcPts val="0"/>
              </a:spcBef>
              <a:buNone/>
              <a:defRPr sz="2400" b="0" spc="-30"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タイトル</a:t>
            </a:r>
            <a:r>
              <a:rPr kumimoji="1" lang="en-US" altLang="ja-JP"/>
              <a:t> </a:t>
            </a:r>
            <a:r>
              <a:rPr kumimoji="1" lang="ja-JP" altLang="en-US"/>
              <a:t>游ゴシック </a:t>
            </a:r>
            <a:r>
              <a:rPr kumimoji="1" lang="en-US" altLang="ja-JP"/>
              <a:t>Medium 24pt</a:t>
            </a:r>
            <a:endParaRPr kumimoji="1" lang="ja-JP" altLang="en-US"/>
          </a:p>
        </p:txBody>
      </p:sp>
      <p:pic>
        <p:nvPicPr>
          <p:cNvPr id="3" name="図 2" descr="テキスト&#10;&#10;中程度の精度で自動的に生成された説明"/>
          <p:cNvPicPr>
            <a:picLocks noChangeAspect="1"/>
          </p:cNvPicPr>
          <p:nvPr userDrawn="1"/>
        </p:nvPicPr>
        <p:blipFill>
          <a:blip r:embed="rId2"/>
          <a:stretch>
            <a:fillRect/>
          </a:stretch>
        </p:blipFill>
        <p:spPr>
          <a:xfrm>
            <a:off x="9930034" y="66263"/>
            <a:ext cx="2182024" cy="6624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basic_section cover">
    <p:bg>
      <p:bgPr>
        <a:solidFill>
          <a:schemeClr val="bg1"/>
        </a:solidFill>
        <a:effectLst/>
      </p:bgPr>
    </p:bg>
    <p:spTree>
      <p:nvGrpSpPr>
        <p:cNvPr id="1" name=""/>
        <p:cNvGrpSpPr/>
        <p:nvPr/>
      </p:nvGrpSpPr>
      <p:grpSpPr>
        <a:xfrm>
          <a:off x="0" y="0"/>
          <a:ext cx="0" cy="0"/>
          <a:chOff x="0" y="0"/>
          <a:chExt cx="0" cy="0"/>
        </a:xfrm>
      </p:grpSpPr>
      <p:sp>
        <p:nvSpPr>
          <p:cNvPr id="9" name="正方形/長方形 8"/>
          <p:cNvSpPr/>
          <p:nvPr userDrawn="1"/>
        </p:nvSpPr>
        <p:spPr>
          <a:xfrm>
            <a:off x="119063" y="728663"/>
            <a:ext cx="11953875" cy="6012000"/>
          </a:xfrm>
          <a:prstGeom prst="rect">
            <a:avLst/>
          </a:prstGeom>
          <a:solidFill>
            <a:srgbClr val="EC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プレースホルダー 28"/>
          <p:cNvSpPr>
            <a:spLocks noGrp="1"/>
          </p:cNvSpPr>
          <p:nvPr>
            <p:ph type="body" sz="quarter" idx="11" hasCustomPrompt="1"/>
          </p:nvPr>
        </p:nvSpPr>
        <p:spPr>
          <a:xfrm>
            <a:off x="750626" y="4235913"/>
            <a:ext cx="10925374" cy="276999"/>
          </a:xfrm>
          <a:prstGeom prst="rect">
            <a:avLst/>
          </a:prstGeom>
          <a:noFill/>
        </p:spPr>
        <p:txBody>
          <a:bodyPr wrap="square" lIns="0" tIns="0" rIns="0" bIns="0" anchor="t" anchorCtr="0">
            <a:noAutofit/>
          </a:bodyPr>
          <a:lstStyle>
            <a:lvl1pPr marL="0" indent="0" defTabSz="158115">
              <a:lnSpc>
                <a:spcPct val="100000"/>
              </a:lnSpc>
              <a:spcBef>
                <a:spcPts val="500"/>
              </a:spcBef>
              <a:buNone/>
              <a:defRPr sz="1800" b="0" spc="-30" baseline="0">
                <a:latin typeface="+mj-lt"/>
                <a:ea typeface="+mj-ea"/>
              </a:defRPr>
            </a:lvl1pPr>
            <a:lvl2pPr marL="0" indent="0" defTabSz="158115">
              <a:buNone/>
              <a:defRPr sz="1400" b="1"/>
            </a:lvl2pPr>
            <a:lvl3pPr marL="0" indent="0" defTabSz="158115">
              <a:buNone/>
              <a:defRPr b="1"/>
            </a:lvl3pPr>
            <a:lvl4pPr marL="1371600" indent="0">
              <a:buNone/>
              <a:defRPr/>
            </a:lvl4pPr>
            <a:lvl5pPr marL="1828800" indent="0">
              <a:buNone/>
              <a:defRPr/>
            </a:lvl5pPr>
          </a:lstStyle>
          <a:p>
            <a:pPr lvl="0"/>
            <a:r>
              <a:rPr kumimoji="1" lang="ja-JP" altLang="en-US"/>
              <a:t>サブタイトル</a:t>
            </a:r>
            <a:r>
              <a:rPr kumimoji="1" lang="en-US" altLang="ja-JP"/>
              <a:t> </a:t>
            </a:r>
            <a:r>
              <a:rPr kumimoji="1" lang="ja-JP" altLang="en-US"/>
              <a:t>游ゴシック </a:t>
            </a:r>
            <a:r>
              <a:rPr kumimoji="1" lang="en-US" altLang="ja-JP"/>
              <a:t>Medium 18pt</a:t>
            </a:r>
          </a:p>
        </p:txBody>
      </p:sp>
      <p:sp>
        <p:nvSpPr>
          <p:cNvPr id="23" name="タイトル 22"/>
          <p:cNvSpPr>
            <a:spLocks noGrp="1"/>
          </p:cNvSpPr>
          <p:nvPr>
            <p:ph type="title" hasCustomPrompt="1"/>
          </p:nvPr>
        </p:nvSpPr>
        <p:spPr>
          <a:xfrm>
            <a:off x="750626" y="2867723"/>
            <a:ext cx="10925374" cy="1231106"/>
          </a:xfrm>
          <a:prstGeom prst="rect">
            <a:avLst/>
          </a:prstGeom>
        </p:spPr>
        <p:txBody>
          <a:bodyPr lIns="0" tIns="0" rIns="0" bIns="0" anchor="ctr">
            <a:noAutofit/>
          </a:bodyPr>
          <a:lstStyle>
            <a:lvl1pPr>
              <a:defRPr sz="4000"/>
            </a:lvl1pPr>
          </a:lstStyle>
          <a:p>
            <a:r>
              <a:rPr lang="ja-JP" altLang="en-US" sz="4000"/>
              <a:t>セクションタイトル</a:t>
            </a:r>
            <a:br>
              <a:rPr lang="en-US" altLang="ja-JP" sz="4000"/>
            </a:br>
            <a:r>
              <a:rPr lang="ja-JP" altLang="en-US" sz="4000"/>
              <a:t>游ゴシック</a:t>
            </a:r>
            <a:r>
              <a:rPr lang="en-US" altLang="ja-JP" sz="4000"/>
              <a:t> Bold 40pt / </a:t>
            </a:r>
            <a:r>
              <a:rPr lang="ja-JP" altLang="en-US" sz="4000"/>
              <a:t>行間</a:t>
            </a:r>
            <a:r>
              <a:rPr lang="en-US" altLang="ja-JP" sz="4000"/>
              <a:t>1</a:t>
            </a:r>
            <a:endParaRPr kumimoji="1" lang="ja-JP" altLang="en-US"/>
          </a:p>
        </p:txBody>
      </p:sp>
      <p:pic>
        <p:nvPicPr>
          <p:cNvPr id="5" name="図 4" descr="テキスト&#10;&#10;中程度の精度で自動的に生成された説明"/>
          <p:cNvPicPr>
            <a:picLocks noChangeAspect="1"/>
          </p:cNvPicPr>
          <p:nvPr userDrawn="1"/>
        </p:nvPicPr>
        <p:blipFill>
          <a:blip r:embed="rId2"/>
          <a:stretch>
            <a:fillRect/>
          </a:stretch>
        </p:blipFill>
        <p:spPr>
          <a:xfrm>
            <a:off x="9930034" y="66263"/>
            <a:ext cx="2182024" cy="66240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basic_text">
    <p:spTree>
      <p:nvGrpSpPr>
        <p:cNvPr id="1" name=""/>
        <p:cNvGrpSpPr/>
        <p:nvPr/>
      </p:nvGrpSpPr>
      <p:grpSpPr>
        <a:xfrm>
          <a:off x="0" y="0"/>
          <a:ext cx="0" cy="0"/>
          <a:chOff x="0" y="0"/>
          <a:chExt cx="0" cy="0"/>
        </a:xfrm>
      </p:grpSpPr>
      <p:sp>
        <p:nvSpPr>
          <p:cNvPr id="4" name="タイトル 3"/>
          <p:cNvSpPr>
            <a:spLocks noGrp="1"/>
          </p:cNvSpPr>
          <p:nvPr>
            <p:ph type="title" hasCustomPrompt="1"/>
          </p:nvPr>
        </p:nvSpPr>
        <p:spPr>
          <a:xfrm>
            <a:off x="414336" y="255264"/>
            <a:ext cx="9327072" cy="369332"/>
          </a:xfrm>
        </p:spPr>
        <p:txBody>
          <a:bodyPr/>
          <a:lstStyle/>
          <a:p>
            <a:r>
              <a:rPr kumimoji="1" lang="ja-JP" altLang="en-US"/>
              <a:t>タイトル</a:t>
            </a:r>
            <a:r>
              <a:rPr kumimoji="1" lang="en-US" altLang="ja-JP"/>
              <a:t> </a:t>
            </a:r>
            <a:r>
              <a:rPr kumimoji="1" lang="ja-JP" altLang="en-US"/>
              <a:t>游ゴシック</a:t>
            </a:r>
            <a:r>
              <a:rPr kumimoji="1" lang="en-US" altLang="ja-JP"/>
              <a:t>Bold 24pt</a:t>
            </a:r>
            <a:endParaRPr kumimoji="1" lang="ja-JP" altLang="en-US"/>
          </a:p>
        </p:txBody>
      </p:sp>
      <p:sp>
        <p:nvSpPr>
          <p:cNvPr id="15" name="コンテンツ プレースホルダー 14"/>
          <p:cNvSpPr>
            <a:spLocks noGrp="1"/>
          </p:cNvSpPr>
          <p:nvPr>
            <p:ph sz="quarter" idx="10" hasCustomPrompt="1"/>
          </p:nvPr>
        </p:nvSpPr>
        <p:spPr>
          <a:xfrm>
            <a:off x="414338" y="865415"/>
            <a:ext cx="11550650" cy="5371874"/>
          </a:xfrm>
        </p:spPr>
        <p:txBody>
          <a:bodyPr/>
          <a:lstStyle>
            <a:lvl1pPr>
              <a:lnSpc>
                <a:spcPct val="150000"/>
              </a:lnSpc>
              <a:defRPr sz="1600"/>
            </a:lvl1pPr>
            <a:lvl2pPr>
              <a:lnSpc>
                <a:spcPct val="150000"/>
              </a:lnSpc>
              <a:defRPr/>
            </a:lvl2pPr>
            <a:lvl3pPr>
              <a:lnSpc>
                <a:spcPct val="150000"/>
              </a:lnSpc>
              <a:defRPr/>
            </a:lvl3pPr>
            <a:lvl4pPr>
              <a:lnSpc>
                <a:spcPct val="150000"/>
              </a:lnSpc>
              <a:defRPr/>
            </a:lvl4pPr>
            <a:lvl5pPr>
              <a:lnSpc>
                <a:spcPct val="150000"/>
              </a:lnSpc>
              <a:defRPr/>
            </a:lvl5pPr>
          </a:lstStyle>
          <a:p>
            <a:pPr lvl="0"/>
            <a:r>
              <a:rPr kumimoji="1" lang="ja-JP" altLang="en-US"/>
              <a:t>本文テキスト</a:t>
            </a:r>
            <a:r>
              <a:rPr kumimoji="1" lang="en-US" altLang="ja-JP"/>
              <a:t> </a:t>
            </a:r>
            <a:r>
              <a:rPr kumimoji="1" lang="ja-JP" altLang="en-US"/>
              <a:t>游ゴシック </a:t>
            </a:r>
            <a:r>
              <a:rPr kumimoji="1" lang="en-US" altLang="ja-JP"/>
              <a:t>Medium 16pt / </a:t>
            </a:r>
            <a:r>
              <a:rPr kumimoji="1" lang="ja-JP" altLang="en-US"/>
              <a:t>行間</a:t>
            </a:r>
            <a:r>
              <a:rPr kumimoji="1" lang="en-US" altLang="ja-JP"/>
              <a:t>1.5</a:t>
            </a:r>
            <a:br>
              <a:rPr kumimoji="1" lang="en-US" altLang="ja-JP"/>
            </a:br>
            <a:r>
              <a:rPr kumimoji="1" lang="ja-JP" altLang="en-US"/>
              <a:t>テーマカラー：</a:t>
            </a:r>
            <a:r>
              <a:rPr kumimoji="1" lang="en-US" altLang="ja-JP"/>
              <a:t>Blue and Cool gray </a:t>
            </a:r>
          </a:p>
        </p:txBody>
      </p:sp>
      <p:pic>
        <p:nvPicPr>
          <p:cNvPr id="3" name="図 2" descr="アイコン&#10;&#10;低い精度で自動的に生成された説明"/>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89431" y="66162"/>
            <a:ext cx="1441424" cy="662901"/>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基本版） タイトル_ ロゴ入り_A4">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105231" y="999000"/>
            <a:ext cx="5981538" cy="4860000"/>
          </a:xfrm>
          <a:prstGeom prst="rect">
            <a:avLst/>
          </a:prstGeom>
        </p:spPr>
        <p:txBody>
          <a:bodyPr/>
          <a:lstStyle>
            <a:lvl1pPr>
              <a:defRPr baseline="0">
                <a:latin typeface="+mn-lt"/>
                <a:ea typeface="+mn-ea"/>
                <a:cs typeface="+mn-cs"/>
                <a:sym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513969" y="5040009"/>
            <a:ext cx="5582769" cy="615553"/>
          </a:xfrm>
        </p:spPr>
        <p:txBody>
          <a:bodyPr vert="horz" anchor="b" anchorCtr="0">
            <a:noAutofit/>
          </a:bodyPr>
          <a:lstStyle>
            <a:lvl1pPr algn="l">
              <a:lnSpc>
                <a:spcPct val="100000"/>
              </a:lnSpc>
              <a:spcBef>
                <a:spcPts val="0"/>
              </a:spcBef>
              <a:spcAft>
                <a:spcPts val="0"/>
              </a:spcAft>
              <a:defRPr sz="2000" b="1" baseline="0">
                <a:solidFill>
                  <a:schemeClr val="tx1"/>
                </a:solidFill>
                <a:latin typeface="+mj-lt"/>
                <a:ea typeface="+mj-ea"/>
                <a:cs typeface="+mj-cs"/>
                <a:sym typeface="+mj-lt"/>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513969" y="5652009"/>
            <a:ext cx="5582769" cy="492443"/>
          </a:xfrm>
          <a:prstGeom prst="rect">
            <a:avLst/>
          </a:prstGeom>
        </p:spPr>
        <p:txBody>
          <a:bodyPr lIns="0" tIns="0" rIns="0" bIns="0" anchor="t" anchorCtr="0">
            <a:noAutofit/>
          </a:bodyPr>
          <a:lstStyle>
            <a:lvl1pPr marL="0" indent="0" algn="l">
              <a:lnSpc>
                <a:spcPct val="100000"/>
              </a:lnSpc>
              <a:spcBef>
                <a:spcPts val="0"/>
              </a:spcBef>
              <a:spcAft>
                <a:spcPts val="0"/>
              </a:spcAft>
              <a:buNone/>
              <a:defRPr sz="1600" baseline="0">
                <a:solidFill>
                  <a:schemeClr val="tx1"/>
                </a:solidFill>
                <a:latin typeface="+mn-lt"/>
                <a:ea typeface="+mn-ea"/>
                <a:cs typeface="+mn-cs"/>
                <a:sym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513968" y="6408003"/>
            <a:ext cx="5582769" cy="215444"/>
          </a:xfrm>
          <a:prstGeom prst="rect">
            <a:avLst/>
          </a:prstGeom>
        </p:spPr>
        <p:txBody>
          <a:bodyPr wrap="square" lIns="0" anchor="b" anchorCtr="0">
            <a:spAutoFit/>
          </a:bodyPr>
          <a:lstStyle>
            <a:lvl1pPr>
              <a:lnSpc>
                <a:spcPct val="100000"/>
              </a:lnSpc>
              <a:spcBef>
                <a:spcPts val="0"/>
              </a:spcBef>
              <a:spcAft>
                <a:spcPts val="0"/>
              </a:spcAft>
              <a:defRPr sz="1400" baseline="0">
                <a:solidFill>
                  <a:schemeClr val="tx1"/>
                </a:solidFill>
                <a:latin typeface="+mn-lt"/>
                <a:ea typeface="+mn-ea"/>
                <a:cs typeface="+mn-cs"/>
                <a:sym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6000" y="396000"/>
            <a:ext cx="5582769" cy="676800"/>
          </a:xfrm>
          <a:prstGeom prst="rect">
            <a:avLst/>
          </a:prstGeom>
        </p:spPr>
        <p:txBody>
          <a:bodyPr lIns="0">
            <a:normAutofit/>
          </a:bodyPr>
          <a:lstStyle>
            <a:lvl1pPr algn="r">
              <a:lnSpc>
                <a:spcPct val="100000"/>
              </a:lnSpc>
              <a:spcBef>
                <a:spcPts val="0"/>
              </a:spcBef>
              <a:defRPr sz="2200" baseline="0">
                <a:latin typeface="+mn-lt"/>
                <a:ea typeface="+mn-ea"/>
                <a:cs typeface="+mn-cs"/>
                <a:sym typeface="+mn-lt"/>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7" name="図 6"/>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bwMode="gray">
          <a:xfrm>
            <a:off x="512610" y="432000"/>
            <a:ext cx="2304000" cy="587972"/>
          </a:xfrm>
          <a:prstGeom prst="rect">
            <a:avLst/>
          </a:prstGeom>
        </p:spPr>
      </p:pic>
      <p:sp>
        <p:nvSpPr>
          <p:cNvPr id="6" name="日付プレースホルダー 5"/>
          <p:cNvSpPr>
            <a:spLocks noGrp="1"/>
          </p:cNvSpPr>
          <p:nvPr>
            <p:ph type="dt" sz="half" idx="13"/>
          </p:nvPr>
        </p:nvSpPr>
        <p:spPr bwMode="gray"/>
        <p:txBody>
          <a:bodyPr/>
          <a:lstStyle>
            <a:lvl1pPr>
              <a:defRPr>
                <a:cs typeface="+mn-cs"/>
              </a:defRPr>
            </a:lvl1pPr>
          </a:lstStyle>
          <a:p>
            <a:pPr algn="ctr"/>
            <a:r>
              <a:rPr lang="en-US"/>
              <a:t>&lt; Confidential &gt;</a:t>
            </a:r>
          </a:p>
        </p:txBody>
      </p:sp>
    </p:spTree>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基本版） タイトル ロゴ無_A4">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105231" y="999000"/>
            <a:ext cx="5981538" cy="4860000"/>
          </a:xfrm>
          <a:prstGeom prst="rect">
            <a:avLst/>
          </a:prstGeom>
        </p:spPr>
        <p:txBody>
          <a:bodyPr/>
          <a:lstStyle>
            <a:lvl1pPr>
              <a:defRPr>
                <a:latin typeface="+mn-lt"/>
                <a:ea typeface="+mn-ea"/>
                <a:cs typeface="+mn-cs"/>
                <a:sym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513969" y="5040009"/>
            <a:ext cx="5582769" cy="615553"/>
          </a:xfrm>
        </p:spPr>
        <p:txBody>
          <a:bodyPr vert="horz" anchor="b" anchorCtr="0">
            <a:noAutofit/>
          </a:bodyPr>
          <a:lstStyle>
            <a:lvl1pPr algn="l">
              <a:lnSpc>
                <a:spcPct val="100000"/>
              </a:lnSpc>
              <a:spcBef>
                <a:spcPts val="0"/>
              </a:spcBef>
              <a:spcAft>
                <a:spcPts val="0"/>
              </a:spcAft>
              <a:defRPr sz="2000" b="1" baseline="0">
                <a:solidFill>
                  <a:schemeClr val="tx1"/>
                </a:solidFill>
                <a:latin typeface="+mj-lt"/>
                <a:ea typeface="+mj-ea"/>
                <a:cs typeface="+mj-cs"/>
                <a:sym typeface="+mj-lt"/>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513969" y="5652009"/>
            <a:ext cx="5582769" cy="492443"/>
          </a:xfrm>
          <a:prstGeom prst="rect">
            <a:avLst/>
          </a:prstGeom>
        </p:spPr>
        <p:txBody>
          <a:bodyPr lIns="0" tIns="0" rIns="0" bIns="0" anchor="t" anchorCtr="0">
            <a:noAutofit/>
          </a:bodyPr>
          <a:lstStyle>
            <a:lvl1pPr marL="0" indent="0" algn="l">
              <a:lnSpc>
                <a:spcPct val="100000"/>
              </a:lnSpc>
              <a:spcBef>
                <a:spcPts val="0"/>
              </a:spcBef>
              <a:spcAft>
                <a:spcPts val="0"/>
              </a:spcAft>
              <a:buNone/>
              <a:defRPr sz="1600">
                <a:solidFill>
                  <a:schemeClr val="tx1"/>
                </a:solidFill>
                <a:latin typeface="+mn-lt"/>
                <a:ea typeface="+mn-ea"/>
                <a:cs typeface="+mn-cs"/>
                <a:sym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513968" y="6408003"/>
            <a:ext cx="5582769" cy="215444"/>
          </a:xfrm>
          <a:prstGeom prst="rect">
            <a:avLst/>
          </a:prstGeom>
        </p:spPr>
        <p:txBody>
          <a:bodyPr wrap="square" lIns="0" anchor="b" anchorCtr="0">
            <a:spAutoFit/>
          </a:bodyPr>
          <a:lstStyle>
            <a:lvl1pPr>
              <a:lnSpc>
                <a:spcPct val="100000"/>
              </a:lnSpc>
              <a:spcBef>
                <a:spcPts val="0"/>
              </a:spcBef>
              <a:spcAft>
                <a:spcPts val="0"/>
              </a:spcAft>
              <a:defRPr sz="1400">
                <a:solidFill>
                  <a:schemeClr val="tx1"/>
                </a:solidFill>
                <a:latin typeface="+mn-lt"/>
                <a:ea typeface="+mn-ea"/>
                <a:cs typeface="+mn-cs"/>
                <a:sym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p:cNvSpPr>
            <a:spLocks noGrp="1"/>
          </p:cNvSpPr>
          <p:nvPr>
            <p:ph type="dt" sz="half" idx="12"/>
          </p:nvPr>
        </p:nvSpPr>
        <p:spPr bwMode="gray"/>
        <p:txBody>
          <a:bodyPr/>
          <a:lstStyle>
            <a:lvl1pPr>
              <a:defRPr>
                <a:cs typeface="+mn-cs"/>
              </a:defRPr>
            </a:lvl1pPr>
          </a:lstStyle>
          <a:p>
            <a:pPr algn="ctr"/>
            <a:r>
              <a:rPr lang="en-US"/>
              <a:t>&lt; Confidential &gt;</a:t>
            </a:r>
          </a:p>
        </p:txBody>
      </p:sp>
    </p:spTree>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基本版） タイトル_ ロゴ入り_A4_黒">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105231" y="999000"/>
            <a:ext cx="5981538" cy="4860000"/>
          </a:xfrm>
          <a:prstGeom prst="rect">
            <a:avLst/>
          </a:prstGeom>
        </p:spPr>
        <p:txBody>
          <a:bodyPr/>
          <a:lstStyle>
            <a:lvl1pPr>
              <a:defRPr baseline="0">
                <a:latin typeface="+mn-lt"/>
                <a:ea typeface="+mn-ea"/>
                <a:cs typeface="+mn-cs"/>
                <a:sym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513969" y="5040009"/>
            <a:ext cx="5582769" cy="615553"/>
          </a:xfrm>
        </p:spPr>
        <p:txBody>
          <a:bodyPr vert="horz" anchor="b" anchorCtr="0">
            <a:noAutofit/>
          </a:bodyPr>
          <a:lstStyle>
            <a:lvl1pPr algn="l">
              <a:lnSpc>
                <a:spcPct val="100000"/>
              </a:lnSpc>
              <a:spcBef>
                <a:spcPts val="0"/>
              </a:spcBef>
              <a:spcAft>
                <a:spcPts val="0"/>
              </a:spcAft>
              <a:defRPr sz="2000" b="1" baseline="0">
                <a:solidFill>
                  <a:schemeClr val="bg1"/>
                </a:solidFill>
                <a:latin typeface="+mj-lt"/>
                <a:ea typeface="+mj-ea"/>
                <a:cs typeface="+mj-cs"/>
                <a:sym typeface="+mj-lt"/>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513969" y="5652009"/>
            <a:ext cx="5582769" cy="492443"/>
          </a:xfrm>
          <a:prstGeom prst="rect">
            <a:avLst/>
          </a:prstGeom>
        </p:spPr>
        <p:txBody>
          <a:bodyPr lIns="0" tIns="0" rIns="0" bIns="0" anchor="t" anchorCtr="0">
            <a:noAutofit/>
          </a:bodyPr>
          <a:lstStyle>
            <a:lvl1pPr marL="0" indent="0" algn="l">
              <a:lnSpc>
                <a:spcPct val="100000"/>
              </a:lnSpc>
              <a:spcBef>
                <a:spcPts val="0"/>
              </a:spcBef>
              <a:spcAft>
                <a:spcPts val="0"/>
              </a:spcAft>
              <a:buNone/>
              <a:defRPr sz="1600" baseline="0">
                <a:solidFill>
                  <a:schemeClr val="bg1"/>
                </a:solidFill>
                <a:latin typeface="+mn-lt"/>
                <a:ea typeface="+mn-ea"/>
                <a:cs typeface="+mn-cs"/>
                <a:sym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513968" y="6408003"/>
            <a:ext cx="5582769" cy="215444"/>
          </a:xfrm>
          <a:prstGeom prst="rect">
            <a:avLst/>
          </a:prstGeom>
        </p:spPr>
        <p:txBody>
          <a:bodyPr wrap="square" lIns="0" anchor="b" anchorCtr="0">
            <a:spAutoFit/>
          </a:bodyPr>
          <a:lstStyle>
            <a:lvl1pPr>
              <a:lnSpc>
                <a:spcPct val="100000"/>
              </a:lnSpc>
              <a:spcBef>
                <a:spcPts val="0"/>
              </a:spcBef>
              <a:spcAft>
                <a:spcPts val="0"/>
              </a:spcAft>
              <a:defRPr sz="1400" baseline="0">
                <a:solidFill>
                  <a:schemeClr val="bg1"/>
                </a:solidFill>
                <a:latin typeface="+mn-lt"/>
                <a:ea typeface="+mn-ea"/>
                <a:cs typeface="+mn-cs"/>
                <a:sym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6000" y="396000"/>
            <a:ext cx="5582769" cy="676800"/>
          </a:xfrm>
          <a:prstGeom prst="rect">
            <a:avLst/>
          </a:prstGeom>
        </p:spPr>
        <p:txBody>
          <a:bodyPr lIns="0">
            <a:normAutofit/>
          </a:bodyPr>
          <a:lstStyle>
            <a:lvl1pPr algn="r">
              <a:lnSpc>
                <a:spcPct val="100000"/>
              </a:lnSpc>
              <a:spcBef>
                <a:spcPts val="0"/>
              </a:spcBef>
              <a:defRPr sz="2200" baseline="0">
                <a:solidFill>
                  <a:schemeClr val="bg1"/>
                </a:solidFill>
                <a:latin typeface="+mn-lt"/>
                <a:ea typeface="+mn-ea"/>
                <a:cs typeface="+mn-cs"/>
                <a:sym typeface="+mn-lt"/>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513969" y="432000"/>
            <a:ext cx="2304000" cy="581488"/>
          </a:xfrm>
          <a:prstGeom prst="rect">
            <a:avLst/>
          </a:prstGeom>
        </p:spPr>
      </p:pic>
      <p:sp>
        <p:nvSpPr>
          <p:cNvPr id="6" name="日付プレースホルダー 5"/>
          <p:cNvSpPr>
            <a:spLocks noGrp="1"/>
          </p:cNvSpPr>
          <p:nvPr>
            <p:ph type="dt" sz="half" idx="13"/>
          </p:nvPr>
        </p:nvSpPr>
        <p:spPr bwMode="gray"/>
        <p:txBody>
          <a:bodyPr/>
          <a:lstStyle>
            <a:lvl1pPr>
              <a:defRPr>
                <a:cs typeface="+mn-cs"/>
              </a:defRPr>
            </a:lvl1pPr>
          </a:lstStyle>
          <a:p>
            <a:pPr algn="ctr"/>
            <a:r>
              <a:rPr lang="en-US"/>
              <a:t>&lt; Confidential &gt;</a:t>
            </a:r>
          </a:p>
        </p:txBody>
      </p:sp>
    </p:spTree>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基本版） タイトル ロゴ無_A4_黒">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105231" y="999000"/>
            <a:ext cx="5981538" cy="4860000"/>
          </a:xfrm>
          <a:prstGeom prst="rect">
            <a:avLst/>
          </a:prstGeom>
        </p:spPr>
        <p:txBody>
          <a:bodyPr/>
          <a:lstStyle>
            <a:lvl1pPr>
              <a:defRPr>
                <a:latin typeface="+mn-lt"/>
                <a:ea typeface="+mn-ea"/>
                <a:cs typeface="+mn-cs"/>
                <a:sym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513969" y="5040009"/>
            <a:ext cx="5582769" cy="615553"/>
          </a:xfrm>
        </p:spPr>
        <p:txBody>
          <a:bodyPr vert="horz" anchor="b" anchorCtr="0">
            <a:noAutofit/>
          </a:bodyPr>
          <a:lstStyle>
            <a:lvl1pPr algn="l">
              <a:lnSpc>
                <a:spcPct val="100000"/>
              </a:lnSpc>
              <a:spcBef>
                <a:spcPts val="0"/>
              </a:spcBef>
              <a:spcAft>
                <a:spcPts val="0"/>
              </a:spcAft>
              <a:defRPr sz="2000" b="1" baseline="0">
                <a:solidFill>
                  <a:schemeClr val="bg1"/>
                </a:solidFill>
                <a:latin typeface="+mj-lt"/>
                <a:ea typeface="+mj-ea"/>
                <a:cs typeface="+mj-cs"/>
                <a:sym typeface="+mj-lt"/>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513969" y="5652009"/>
            <a:ext cx="5582769" cy="492443"/>
          </a:xfrm>
          <a:prstGeom prst="rect">
            <a:avLst/>
          </a:prstGeom>
        </p:spPr>
        <p:txBody>
          <a:bodyPr lIns="0" tIns="0" rIns="0" bIns="0" anchor="t" anchorCtr="0">
            <a:noAutofit/>
          </a:bodyPr>
          <a:lstStyle>
            <a:lvl1pPr marL="0" indent="0" algn="l">
              <a:lnSpc>
                <a:spcPct val="100000"/>
              </a:lnSpc>
              <a:spcBef>
                <a:spcPts val="0"/>
              </a:spcBef>
              <a:spcAft>
                <a:spcPts val="0"/>
              </a:spcAft>
              <a:buNone/>
              <a:defRPr sz="1600">
                <a:solidFill>
                  <a:schemeClr val="bg1"/>
                </a:solidFill>
                <a:latin typeface="+mn-lt"/>
                <a:ea typeface="+mn-ea"/>
                <a:cs typeface="+mn-cs"/>
                <a:sym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513968" y="6408003"/>
            <a:ext cx="5582769" cy="215444"/>
          </a:xfrm>
          <a:prstGeom prst="rect">
            <a:avLst/>
          </a:prstGeom>
        </p:spPr>
        <p:txBody>
          <a:bodyPr wrap="square" lIns="0" anchor="b" anchorCtr="0">
            <a:spAutoFit/>
          </a:bodyPr>
          <a:lstStyle>
            <a:lvl1pPr>
              <a:lnSpc>
                <a:spcPct val="100000"/>
              </a:lnSpc>
              <a:spcBef>
                <a:spcPts val="0"/>
              </a:spcBef>
              <a:spcAft>
                <a:spcPts val="0"/>
              </a:spcAft>
              <a:defRPr sz="1400">
                <a:solidFill>
                  <a:schemeClr val="bg1"/>
                </a:solidFill>
                <a:latin typeface="+mn-lt"/>
                <a:ea typeface="+mn-ea"/>
                <a:cs typeface="+mn-cs"/>
                <a:sym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p:cNvSpPr>
            <a:spLocks noGrp="1"/>
          </p:cNvSpPr>
          <p:nvPr>
            <p:ph type="dt" sz="half" idx="12"/>
          </p:nvPr>
        </p:nvSpPr>
        <p:spPr bwMode="gray"/>
        <p:txBody>
          <a:bodyPr/>
          <a:lstStyle>
            <a:lvl1pPr>
              <a:defRPr>
                <a:cs typeface="+mn-cs"/>
              </a:defRPr>
            </a:lvl1pPr>
          </a:lstStyle>
          <a:p>
            <a:pPr algn="ctr"/>
            <a:r>
              <a:rPr lang="en-US"/>
              <a:t>&lt; Confidential &gt;</a:t>
            </a:r>
          </a:p>
        </p:txBody>
      </p:sp>
    </p:spTree>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基本版） 目次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13" name="Content Placeholder 3"/>
          <p:cNvSpPr>
            <a:spLocks noGrp="1"/>
          </p:cNvSpPr>
          <p:nvPr>
            <p:ph sz="quarter" idx="10"/>
          </p:nvPr>
        </p:nvSpPr>
        <p:spPr bwMode="gray">
          <a:xfrm>
            <a:off x="513233" y="1476000"/>
            <a:ext cx="5361231" cy="4824000"/>
          </a:xfrm>
          <a:prstGeom prst="rect">
            <a:avLst/>
          </a:prstGeom>
        </p:spPr>
        <p:txBody>
          <a:bodyPr/>
          <a:lstStyle>
            <a:lvl1pPr>
              <a:lnSpc>
                <a:spcPct val="110000"/>
              </a:lnSpc>
              <a:spcBef>
                <a:spcPts val="600"/>
              </a:spcBef>
              <a:tabLst>
                <a:tab pos="5448300" algn="r"/>
              </a:tabLst>
              <a:defRPr sz="1200">
                <a:latin typeface="+mn-lt"/>
                <a:ea typeface="+mn-ea"/>
                <a:cs typeface="+mn-cs"/>
                <a:sym typeface="+mn-lt"/>
              </a:defRPr>
            </a:lvl1pPr>
            <a:lvl2pPr>
              <a:lnSpc>
                <a:spcPct val="110000"/>
              </a:lnSpc>
              <a:spcBef>
                <a:spcPts val="600"/>
              </a:spcBef>
              <a:tabLst>
                <a:tab pos="5448300" algn="r"/>
              </a:tabLst>
              <a:defRPr sz="1200">
                <a:latin typeface="+mn-lt"/>
                <a:ea typeface="+mn-ea"/>
                <a:cs typeface="+mn-cs"/>
                <a:sym typeface="+mn-lt"/>
              </a:defRPr>
            </a:lvl2pPr>
            <a:lvl3pPr>
              <a:lnSpc>
                <a:spcPct val="110000"/>
              </a:lnSpc>
              <a:spcBef>
                <a:spcPts val="600"/>
              </a:spcBef>
              <a:tabLst>
                <a:tab pos="5448300" algn="r"/>
              </a:tabLst>
              <a:defRPr sz="1200">
                <a:latin typeface="+mn-lt"/>
                <a:ea typeface="+mn-ea"/>
                <a:cs typeface="+mn-cs"/>
                <a:sym typeface="+mn-lt"/>
              </a:defRPr>
            </a:lvl3pPr>
            <a:lvl4pPr>
              <a:lnSpc>
                <a:spcPct val="110000"/>
              </a:lnSpc>
              <a:spcBef>
                <a:spcPts val="600"/>
              </a:spcBef>
              <a:tabLst>
                <a:tab pos="5448300" algn="r"/>
              </a:tabLst>
              <a:defRPr sz="1200">
                <a:latin typeface="+mn-lt"/>
                <a:ea typeface="+mn-ea"/>
                <a:cs typeface="+mn-cs"/>
                <a:sym typeface="+mn-lt"/>
              </a:defRPr>
            </a:lvl4pPr>
            <a:lvl5pPr>
              <a:tabLst>
                <a:tab pos="5448300"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15" name="Content Placeholder 3"/>
          <p:cNvSpPr>
            <a:spLocks noGrp="1"/>
          </p:cNvSpPr>
          <p:nvPr>
            <p:ph sz="quarter" idx="20"/>
          </p:nvPr>
        </p:nvSpPr>
        <p:spPr bwMode="gray">
          <a:xfrm>
            <a:off x="6317538" y="1476000"/>
            <a:ext cx="5361231" cy="4824000"/>
          </a:xfrm>
          <a:prstGeom prst="rect">
            <a:avLst/>
          </a:prstGeom>
        </p:spPr>
        <p:txBody>
          <a:bodyPr/>
          <a:lstStyle>
            <a:lvl1pPr>
              <a:lnSpc>
                <a:spcPct val="110000"/>
              </a:lnSpc>
              <a:spcBef>
                <a:spcPts val="600"/>
              </a:spcBef>
              <a:tabLst>
                <a:tab pos="5448300" algn="r"/>
              </a:tabLst>
              <a:defRPr sz="1200">
                <a:latin typeface="+mn-lt"/>
                <a:ea typeface="+mn-ea"/>
                <a:cs typeface="+mn-cs"/>
                <a:sym typeface="+mn-lt"/>
              </a:defRPr>
            </a:lvl1pPr>
            <a:lvl2pPr>
              <a:lnSpc>
                <a:spcPct val="110000"/>
              </a:lnSpc>
              <a:spcBef>
                <a:spcPts val="600"/>
              </a:spcBef>
              <a:tabLst>
                <a:tab pos="5448300" algn="r"/>
              </a:tabLst>
              <a:defRPr sz="1200">
                <a:latin typeface="+mn-lt"/>
                <a:ea typeface="+mn-ea"/>
                <a:cs typeface="+mn-cs"/>
                <a:sym typeface="+mn-lt"/>
              </a:defRPr>
            </a:lvl2pPr>
            <a:lvl3pPr>
              <a:lnSpc>
                <a:spcPct val="110000"/>
              </a:lnSpc>
              <a:spcBef>
                <a:spcPts val="600"/>
              </a:spcBef>
              <a:tabLst>
                <a:tab pos="5448300" algn="r"/>
              </a:tabLst>
              <a:defRPr sz="1200">
                <a:latin typeface="+mn-lt"/>
                <a:ea typeface="+mn-ea"/>
                <a:cs typeface="+mn-cs"/>
                <a:sym typeface="+mn-lt"/>
              </a:defRPr>
            </a:lvl3pPr>
            <a:lvl4pPr>
              <a:lnSpc>
                <a:spcPct val="110000"/>
              </a:lnSpc>
              <a:spcBef>
                <a:spcPts val="600"/>
              </a:spcBef>
              <a:tabLst>
                <a:tab pos="5448300" algn="r"/>
              </a:tabLst>
              <a:defRPr sz="1200">
                <a:latin typeface="+mn-lt"/>
                <a:ea typeface="+mn-ea"/>
                <a:cs typeface="+mn-cs"/>
                <a:sym typeface="+mn-lt"/>
              </a:defRPr>
            </a:lvl4pPr>
            <a:lvl5pPr>
              <a:tabLst>
                <a:tab pos="5448300"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4" name="タイトル 3"/>
          <p:cNvSpPr>
            <a:spLocks noGrp="1"/>
          </p:cNvSpPr>
          <p:nvPr>
            <p:ph type="title"/>
          </p:nvPr>
        </p:nvSpPr>
        <p:spPr bwMode="gray"/>
        <p:txBody>
          <a:bodyPr vert="horz"/>
          <a:lstStyle>
            <a:lvl1pPr>
              <a:defRPr>
                <a:latin typeface="+mj-lt"/>
                <a:ea typeface="+mj-ea"/>
                <a:cs typeface="+mj-cs"/>
                <a:sym typeface="+mj-lt"/>
              </a:defRPr>
            </a:lvl1pPr>
          </a:lstStyle>
          <a:p>
            <a:r>
              <a:rPr kumimoji="1" lang="ja-JP" altLang="en-US"/>
              <a:t>マスター タイトルの書式設定</a:t>
            </a:r>
          </a:p>
        </p:txBody>
      </p:sp>
    </p:spTree>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基本版） 白紙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ー 2"/>
          <p:cNvSpPr>
            <a:spLocks noGrp="1"/>
          </p:cNvSpPr>
          <p:nvPr>
            <p:ph type="ftr" sz="quarter" idx="10"/>
          </p:nvPr>
        </p:nvSpPr>
        <p:spPr bwMode="gray"/>
        <p:txBody>
          <a:bodyPr/>
          <a:lstStyle>
            <a:lvl1pPr>
              <a:defRPr>
                <a:latin typeface="+mn-lt"/>
                <a:ea typeface="+mn-ea"/>
                <a:cs typeface="+mn-cs"/>
                <a:sym typeface="+mn-lt"/>
              </a:defRPr>
            </a:lvl1pPr>
          </a:lstStyle>
          <a:p>
            <a:r>
              <a:rPr lang="en-GB" altLang="en-GB"/>
              <a:t>DT Template A4</a:t>
            </a:r>
          </a:p>
        </p:txBody>
      </p:sp>
      <p:sp>
        <p:nvSpPr>
          <p:cNvPr id="4" name="スライド番号プレースホルダー 3"/>
          <p:cNvSpPr>
            <a:spLocks noGrp="1"/>
          </p:cNvSpPr>
          <p:nvPr>
            <p:ph type="sldNum" sz="quarter" idx="11"/>
          </p:nvPr>
        </p:nvSpPr>
        <p:spPr bwMode="gray"/>
        <p:txBody>
          <a:bodyPr/>
          <a:lstStyle>
            <a:lvl1pPr>
              <a:defRPr>
                <a:latin typeface="+mn-lt"/>
                <a:ea typeface="+mn-ea"/>
                <a:cs typeface="+mn-cs"/>
                <a:sym typeface="+mn-lt"/>
              </a:defRPr>
            </a:lvl1pPr>
          </a:lstStyle>
          <a:p>
            <a:fld id="{AA5FCFE5-FE56-4EF1-80A8-07776887C2A1}" type="slidenum">
              <a:rPr lang="ja-JP" altLang="en-US" smtClean="0"/>
              <a:t>‹#›</a:t>
            </a:fld>
            <a:endParaRPr lang="ja-JP" altLang="en-US"/>
          </a:p>
        </p:txBody>
      </p:sp>
      <p:sp>
        <p:nvSpPr>
          <p:cNvPr id="6" name="テキスト プレースホルダー 5"/>
          <p:cNvSpPr>
            <a:spLocks noGrp="1"/>
          </p:cNvSpPr>
          <p:nvPr>
            <p:ph type="body" sz="quarter" idx="12"/>
          </p:nvPr>
        </p:nvSpPr>
        <p:spPr bwMode="gray">
          <a:xfrm>
            <a:off x="2329846" y="2340000"/>
            <a:ext cx="7532308" cy="2520000"/>
          </a:xfrm>
          <a:prstGeom prst="rect">
            <a:avLst/>
          </a:prstGeom>
        </p:spPr>
        <p:txBody>
          <a:bodyPr/>
          <a:lstStyle>
            <a:lvl1pPr>
              <a:defRPr>
                <a:latin typeface="+mn-lt"/>
                <a:ea typeface="+mn-ea"/>
                <a:cs typeface="+mn-cs"/>
                <a:sym typeface="+mn-lt"/>
              </a:defRPr>
            </a:lvl1pPr>
          </a:lstStyle>
          <a:p>
            <a:pPr lvl="0"/>
            <a:r>
              <a:rPr kumimoji="1" lang="ja-JP" altLang="en-US"/>
              <a:t>マスター テキストの書式設定</a:t>
            </a:r>
          </a:p>
        </p:txBody>
      </p:sp>
    </p:spTree>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基本版） 中表紙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267199" y="2232000"/>
            <a:ext cx="6380308" cy="432000"/>
          </a:xfrm>
          <a:prstGeom prst="rect">
            <a:avLst/>
          </a:prstGeom>
          <a:noFill/>
        </p:spPr>
        <p:txBody>
          <a:bodyPr wrap="square" lIns="0" rIns="0" anchor="t" anchorCtr="0">
            <a:noAutofit/>
          </a:bodyPr>
          <a:lstStyle>
            <a:lvl1pPr marL="0" indent="0" algn="l">
              <a:lnSpc>
                <a:spcPct val="100000"/>
              </a:lnSpc>
              <a:spcBef>
                <a:spcPts val="0"/>
              </a:spcBef>
              <a:buNone/>
              <a:defRPr sz="2800" b="1" baseline="0">
                <a:solidFill>
                  <a:schemeClr val="tx1"/>
                </a:solidFill>
                <a:latin typeface="+mj-lt"/>
                <a:ea typeface="+mj-ea"/>
                <a:cs typeface="+mn-cs"/>
                <a:sym typeface="+mn-lt"/>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7" name="フッター プレースホルダ 6"/>
          <p:cNvSpPr>
            <a:spLocks noGrp="1"/>
          </p:cNvSpPr>
          <p:nvPr>
            <p:ph type="ftr" sz="quarter" idx="12"/>
          </p:nvPr>
        </p:nvSpPr>
        <p:spPr bwMode="gray"/>
        <p:txBody>
          <a:bodyPr/>
          <a:lstStyle>
            <a:lvl1pPr>
              <a:defRPr>
                <a:solidFill>
                  <a:schemeClr val="tx1"/>
                </a:solidFill>
                <a:latin typeface="+mn-lt"/>
                <a:ea typeface="+mn-ea"/>
                <a:cs typeface="+mn-cs"/>
                <a:sym typeface="+mn-lt"/>
              </a:defRPr>
            </a:lvl1pPr>
          </a:lstStyle>
          <a:p>
            <a:r>
              <a:rPr lang="en-GB" altLang="en-GB"/>
              <a:t>DT Template A4</a:t>
            </a:r>
          </a:p>
        </p:txBody>
      </p:sp>
    </p:spTree>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基本版） タイトルのみ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sym typeface="+mn-lt"/>
              </a:defRPr>
            </a:lvl1pPr>
          </a:lstStyle>
          <a:p>
            <a:r>
              <a:rPr lang="en-GB" altLang="en-GB"/>
              <a:t>DT Template A4</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9"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600" b="1">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基本版） タイトルのみ_Header上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sym typeface="+mn-lt"/>
              </a:defRPr>
            </a:lvl1pPr>
          </a:lstStyle>
          <a:p>
            <a:r>
              <a:rPr lang="en-GB" altLang="en-GB"/>
              <a:t>DT Template A4</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9" name="テキスト プレースホルダー 2"/>
          <p:cNvSpPr>
            <a:spLocks noGrp="1"/>
          </p:cNvSpPr>
          <p:nvPr>
            <p:ph type="body" sz="quarter" idx="15" hasCustomPrompt="1"/>
          </p:nvPr>
        </p:nvSpPr>
        <p:spPr bwMode="gray">
          <a:xfrm>
            <a:off x="513231" y="180000"/>
            <a:ext cx="11165538" cy="360000"/>
          </a:xfrm>
          <a:prstGeom prst="rect">
            <a:avLst/>
          </a:prstGeom>
        </p:spPr>
        <p:txBody>
          <a:bodyPr wrap="none" anchor="t" anchorCtr="0">
            <a:noAutofit/>
          </a:bodyPr>
          <a:lstStyle>
            <a:lvl1pPr>
              <a:lnSpc>
                <a:spcPct val="100000"/>
              </a:lnSpc>
              <a:spcBef>
                <a:spcPts val="0"/>
              </a:spcBef>
              <a:defRPr sz="2100" b="1" baseline="0">
                <a:solidFill>
                  <a:schemeClr val="tx1"/>
                </a:solidFill>
                <a:latin typeface="+mj-lt"/>
                <a:ea typeface="+mj-ea"/>
                <a:cs typeface="+mn-cs"/>
                <a:sym typeface="+mn-lt"/>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a:xfrm>
            <a:off x="512611" y="684000"/>
            <a:ext cx="11165538" cy="615600"/>
          </a:xfrm>
        </p:spPr>
        <p:txBody>
          <a:bodyPr vert="horz" anchor="t"/>
          <a:lstStyle>
            <a:lvl1pPr>
              <a:defRPr sz="1800" b="0" baseline="0">
                <a:latin typeface="+mn-lt"/>
                <a:ea typeface="+mn-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基本版） コンテンツ左サイド_レベル_A4">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7" name="コンテンツ プレースホルダ 2"/>
          <p:cNvSpPr>
            <a:spLocks noGrp="1"/>
          </p:cNvSpPr>
          <p:nvPr>
            <p:ph idx="1"/>
          </p:nvPr>
        </p:nvSpPr>
        <p:spPr bwMode="gray">
          <a:xfrm>
            <a:off x="512610" y="1476000"/>
            <a:ext cx="5361231" cy="4824000"/>
          </a:xfrm>
          <a:prstGeom prst="rect">
            <a:avLst/>
          </a:prstGeom>
        </p:spPr>
        <p:txBody>
          <a:bodyPr/>
          <a:lstStyle>
            <a:lvl1pPr>
              <a:lnSpc>
                <a:spcPct val="110000"/>
              </a:lnSpc>
              <a:spcBef>
                <a:spcPts val="600"/>
              </a:spcBef>
              <a:buNone/>
              <a:defRPr sz="1200" baseline="0">
                <a:latin typeface="+mn-lt"/>
                <a:ea typeface="+mn-ea"/>
                <a:cs typeface="+mn-cs"/>
                <a:sym typeface="+mn-lt"/>
              </a:defRPr>
            </a:lvl1pPr>
            <a:lvl2pPr marL="179705" indent="-179705">
              <a:lnSpc>
                <a:spcPct val="110000"/>
              </a:lnSpc>
              <a:spcBef>
                <a:spcPts val="600"/>
              </a:spcBef>
              <a:buFont typeface="Wingdings" panose="05000000000000000000" pitchFamily="2" charset="2"/>
              <a:buChar char="n"/>
              <a:defRPr sz="1200" baseline="0">
                <a:latin typeface="+mn-lt"/>
                <a:ea typeface="+mn-ea"/>
                <a:cs typeface="+mn-cs"/>
                <a:sym typeface="+mn-lt"/>
              </a:defRPr>
            </a:lvl2pPr>
            <a:lvl3pPr marL="360045" indent="-179705">
              <a:lnSpc>
                <a:spcPct val="110000"/>
              </a:lnSpc>
              <a:spcBef>
                <a:spcPts val="600"/>
              </a:spcBef>
              <a:buFont typeface="Wingdings" panose="05000000000000000000" pitchFamily="2" charset="2"/>
              <a:buChar char="Ø"/>
              <a:defRPr sz="1200" baseline="0">
                <a:latin typeface="+mn-lt"/>
                <a:ea typeface="+mn-ea"/>
                <a:cs typeface="+mn-cs"/>
                <a:sym typeface="+mn-lt"/>
              </a:defRPr>
            </a:lvl3pPr>
            <a:lvl4pPr marL="504190" marR="0" indent="-144145" algn="l" defTabSz="989330" rtl="0" eaLnBrk="1" fontAlgn="auto" latinLnBrk="0" hangingPunct="1">
              <a:lnSpc>
                <a:spcPct val="110000"/>
              </a:lnSpc>
              <a:spcBef>
                <a:spcPts val="600"/>
              </a:spcBef>
              <a:spcAft>
                <a:spcPts val="0"/>
              </a:spcAft>
              <a:buClrTx/>
              <a:buSzTx/>
              <a:buFont typeface="Arial" panose="020B0604020202020204" pitchFamily="34" charset="0"/>
              <a:buChar char="•"/>
              <a:defRPr sz="1200" baseline="0">
                <a:latin typeface="+mn-lt"/>
                <a:ea typeface="+mn-ea"/>
                <a:cs typeface="+mn-cs"/>
                <a:sym typeface="+mn-lt"/>
              </a:defRPr>
            </a:lvl4pPr>
            <a:lvl5pPr>
              <a:defRPr sz="12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6" name="スライド番号プレースホルダ 5"/>
          <p:cNvSpPr>
            <a:spLocks noGrp="1"/>
          </p:cNvSpPr>
          <p:nvPr>
            <p:ph type="sldNum" sz="quarter" idx="10"/>
          </p:nvPr>
        </p:nvSpPr>
        <p:spPr bwMode="gray"/>
        <p:txBody>
          <a:bodyPr/>
          <a:lstStyle>
            <a:lvl1pPr>
              <a:defRPr baseline="0">
                <a:solidFill>
                  <a:schemeClr val="tx1"/>
                </a:solidFill>
                <a:latin typeface="+mn-lt"/>
                <a:ea typeface="+mn-ea"/>
                <a:cs typeface="+mn-cs"/>
                <a:sym typeface="+mn-lt"/>
              </a:defRPr>
            </a:lvl1pPr>
          </a:lstStyle>
          <a:p>
            <a:fld id="{0822A2BF-4EE5-45F6-88E1-9AA10A8C672A}" type="slidenum">
              <a:rPr lang="ja-JP" altLang="en-US" smtClean="0"/>
              <a:t>‹#›</a:t>
            </a:fld>
            <a:endParaRPr lang="ja-JP" altLang="en-US"/>
          </a:p>
        </p:txBody>
      </p:sp>
      <p:sp>
        <p:nvSpPr>
          <p:cNvPr id="8" name="フッター プレースホルダ 7"/>
          <p:cNvSpPr>
            <a:spLocks noGrp="1"/>
          </p:cNvSpPr>
          <p:nvPr>
            <p:ph type="ftr" sz="quarter" idx="11"/>
          </p:nvPr>
        </p:nvSpPr>
        <p:spPr bwMode="gray"/>
        <p:txBody>
          <a:bodyPr/>
          <a:lstStyle>
            <a:lvl1pPr>
              <a:defRPr baseline="0">
                <a:solidFill>
                  <a:schemeClr val="tx1"/>
                </a:solidFill>
                <a:latin typeface="+mn-lt"/>
                <a:ea typeface="+mn-ea"/>
                <a:cs typeface="+mn-cs"/>
                <a:sym typeface="+mn-lt"/>
              </a:defRPr>
            </a:lvl1pPr>
          </a:lstStyle>
          <a:p>
            <a:r>
              <a:rPr lang="en-GB" altLang="en-GB"/>
              <a:t>DT Template A4</a:t>
            </a:r>
          </a:p>
        </p:txBody>
      </p:sp>
      <p:sp>
        <p:nvSpPr>
          <p:cNvPr id="3" name="テキスト プレースホルダー 2"/>
          <p:cNvSpPr>
            <a:spLocks noGrp="1"/>
          </p:cNvSpPr>
          <p:nvPr>
            <p:ph type="body" sz="quarter" idx="12"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基本版） コンテンツ両サイド_レベル_A4">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8" name="コンテンツ プレースホルダ 2"/>
          <p:cNvSpPr>
            <a:spLocks noGrp="1"/>
          </p:cNvSpPr>
          <p:nvPr>
            <p:ph idx="1"/>
          </p:nvPr>
        </p:nvSpPr>
        <p:spPr bwMode="gray">
          <a:xfrm>
            <a:off x="512610" y="1476000"/>
            <a:ext cx="5361231" cy="4824000"/>
          </a:xfrm>
          <a:prstGeom prst="rect">
            <a:avLst/>
          </a:prstGeom>
        </p:spPr>
        <p:txBody>
          <a:bodyPr/>
          <a:lstStyle>
            <a:lvl1pPr>
              <a:lnSpc>
                <a:spcPct val="110000"/>
              </a:lnSpc>
              <a:spcBef>
                <a:spcPts val="600"/>
              </a:spcBef>
              <a:buNone/>
              <a:defRPr sz="1200" baseline="0">
                <a:latin typeface="+mn-lt"/>
                <a:ea typeface="+mn-ea"/>
                <a:cs typeface="+mn-cs"/>
                <a:sym typeface="+mn-lt"/>
              </a:defRPr>
            </a:lvl1pPr>
            <a:lvl2pPr marL="179705" indent="-179705">
              <a:lnSpc>
                <a:spcPct val="110000"/>
              </a:lnSpc>
              <a:spcBef>
                <a:spcPts val="600"/>
              </a:spcBef>
              <a:buFont typeface="Wingdings" panose="05000000000000000000" pitchFamily="2" charset="2"/>
              <a:buChar char="n"/>
              <a:defRPr sz="1200" baseline="0">
                <a:latin typeface="+mn-lt"/>
                <a:ea typeface="+mn-ea"/>
                <a:cs typeface="+mn-cs"/>
                <a:sym typeface="+mn-lt"/>
              </a:defRPr>
            </a:lvl2pPr>
            <a:lvl3pPr marL="360045" indent="-179705">
              <a:lnSpc>
                <a:spcPct val="110000"/>
              </a:lnSpc>
              <a:spcBef>
                <a:spcPts val="600"/>
              </a:spcBef>
              <a:buFont typeface="Wingdings" panose="05000000000000000000" pitchFamily="2" charset="2"/>
              <a:buChar char="Ø"/>
              <a:defRPr sz="1200" baseline="0">
                <a:latin typeface="+mn-lt"/>
                <a:ea typeface="+mn-ea"/>
                <a:cs typeface="+mn-cs"/>
                <a:sym typeface="+mn-lt"/>
              </a:defRPr>
            </a:lvl3pPr>
            <a:lvl4pPr marL="504190" marR="0" indent="-144145" algn="l" defTabSz="989330" rtl="0" eaLnBrk="1" fontAlgn="auto" latinLnBrk="0" hangingPunct="1">
              <a:lnSpc>
                <a:spcPct val="110000"/>
              </a:lnSpc>
              <a:spcBef>
                <a:spcPts val="600"/>
              </a:spcBef>
              <a:spcAft>
                <a:spcPts val="0"/>
              </a:spcAft>
              <a:buClrTx/>
              <a:buSzTx/>
              <a:buFont typeface="Arial" panose="020B0604020202020204" pitchFamily="34" charset="0"/>
              <a:buChar char="•"/>
              <a:defRPr sz="1200"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コンテンツ プレースホルダ 2"/>
          <p:cNvSpPr>
            <a:spLocks noGrp="1"/>
          </p:cNvSpPr>
          <p:nvPr>
            <p:ph idx="12"/>
          </p:nvPr>
        </p:nvSpPr>
        <p:spPr bwMode="gray">
          <a:xfrm>
            <a:off x="6316785" y="1476000"/>
            <a:ext cx="5361231" cy="4824000"/>
          </a:xfrm>
          <a:prstGeom prst="rect">
            <a:avLst/>
          </a:prstGeom>
        </p:spPr>
        <p:txBody>
          <a:bodyPr/>
          <a:lstStyle>
            <a:lvl1pPr>
              <a:lnSpc>
                <a:spcPct val="110000"/>
              </a:lnSpc>
              <a:spcBef>
                <a:spcPts val="600"/>
              </a:spcBef>
              <a:buNone/>
              <a:defRPr sz="1200" baseline="0">
                <a:latin typeface="+mn-lt"/>
                <a:ea typeface="+mn-ea"/>
                <a:cs typeface="+mn-cs"/>
                <a:sym typeface="+mn-lt"/>
              </a:defRPr>
            </a:lvl1pPr>
            <a:lvl2pPr marL="179705" indent="-179705">
              <a:lnSpc>
                <a:spcPct val="110000"/>
              </a:lnSpc>
              <a:spcBef>
                <a:spcPts val="600"/>
              </a:spcBef>
              <a:buFont typeface="Wingdings" panose="05000000000000000000" pitchFamily="2" charset="2"/>
              <a:buChar char="n"/>
              <a:defRPr sz="1200" baseline="0">
                <a:latin typeface="+mn-lt"/>
                <a:ea typeface="+mn-ea"/>
                <a:cs typeface="+mn-cs"/>
                <a:sym typeface="+mn-lt"/>
              </a:defRPr>
            </a:lvl2pPr>
            <a:lvl3pPr marL="360045" indent="-179705">
              <a:lnSpc>
                <a:spcPct val="110000"/>
              </a:lnSpc>
              <a:spcBef>
                <a:spcPts val="600"/>
              </a:spcBef>
              <a:buFont typeface="Wingdings" panose="05000000000000000000" pitchFamily="2" charset="2"/>
              <a:buChar char="Ø"/>
              <a:defRPr sz="1200" baseline="0">
                <a:latin typeface="+mn-lt"/>
                <a:ea typeface="+mn-ea"/>
                <a:cs typeface="+mn-cs"/>
                <a:sym typeface="+mn-lt"/>
              </a:defRPr>
            </a:lvl3pPr>
            <a:lvl4pPr marL="504190" indent="-144145">
              <a:lnSpc>
                <a:spcPct val="110000"/>
              </a:lnSpc>
              <a:spcBef>
                <a:spcPts val="600"/>
              </a:spcBef>
              <a:buFont typeface="Arial" panose="020B0604020202020204" pitchFamily="34" charset="0"/>
              <a:buChar char="•"/>
              <a:defRPr sz="1200"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0" name="スライド番号プレースホルダ 9"/>
          <p:cNvSpPr>
            <a:spLocks noGrp="1"/>
          </p:cNvSpPr>
          <p:nvPr>
            <p:ph type="sldNum" sz="quarter" idx="13"/>
          </p:nvPr>
        </p:nvSpPr>
        <p:spPr bwMode="gray"/>
        <p:txBody>
          <a:bodyPr/>
          <a:lstStyle>
            <a:lvl1pPr>
              <a:defRPr baseline="0">
                <a:solidFill>
                  <a:schemeClr val="tx1"/>
                </a:solidFill>
                <a:latin typeface="+mn-lt"/>
                <a:ea typeface="+mn-ea"/>
                <a:cs typeface="+mn-cs"/>
                <a:sym typeface="+mn-lt"/>
              </a:defRPr>
            </a:lvl1pPr>
          </a:lstStyle>
          <a:p>
            <a:fld id="{A3EB1B23-9AF8-425B-BAD7-B9FA00F18833}" type="slidenum">
              <a:rPr lang="ja-JP" altLang="en-US" smtClean="0"/>
              <a:t>‹#›</a:t>
            </a:fld>
            <a:endParaRPr lang="ja-JP" altLang="en-US"/>
          </a:p>
        </p:txBody>
      </p:sp>
      <p:sp>
        <p:nvSpPr>
          <p:cNvPr id="11" name="フッター プレースホルダ 10"/>
          <p:cNvSpPr>
            <a:spLocks noGrp="1"/>
          </p:cNvSpPr>
          <p:nvPr>
            <p:ph type="ftr" sz="quarter" idx="14"/>
          </p:nvPr>
        </p:nvSpPr>
        <p:spPr bwMode="gray"/>
        <p:txBody>
          <a:bodyPr/>
          <a:lstStyle>
            <a:lvl1pPr>
              <a:defRPr baseline="0">
                <a:solidFill>
                  <a:schemeClr val="tx1"/>
                </a:solidFill>
                <a:latin typeface="+mn-lt"/>
                <a:ea typeface="+mn-ea"/>
                <a:cs typeface="+mn-cs"/>
                <a:sym typeface="+mn-lt"/>
              </a:defRPr>
            </a:lvl1pPr>
          </a:lstStyle>
          <a:p>
            <a:r>
              <a:rPr lang="en-GB" altLang="en-GB"/>
              <a:t>DT Template A4</a:t>
            </a:r>
          </a:p>
        </p:txBody>
      </p:sp>
      <p:sp>
        <p:nvSpPr>
          <p:cNvPr id="3"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13" name="テキスト プレースホルダー 2"/>
          <p:cNvSpPr>
            <a:spLocks noGrp="1"/>
          </p:cNvSpPr>
          <p:nvPr>
            <p:ph type="body" sz="quarter" idx="16" hasCustomPrompt="1"/>
          </p:nvPr>
        </p:nvSpPr>
        <p:spPr bwMode="gray">
          <a:xfrm>
            <a:off x="6316785" y="1008000"/>
            <a:ext cx="5361231"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hf hdr="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基本版） コンテンツ全面_レベル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6" name="コンテンツ プレースホルダ 2"/>
          <p:cNvSpPr>
            <a:spLocks noGrp="1"/>
          </p:cNvSpPr>
          <p:nvPr>
            <p:ph idx="1"/>
          </p:nvPr>
        </p:nvSpPr>
        <p:spPr bwMode="gray">
          <a:xfrm>
            <a:off x="513230" y="1476000"/>
            <a:ext cx="11165538" cy="4824000"/>
          </a:xfrm>
          <a:prstGeom prst="rect">
            <a:avLst/>
          </a:prstGeom>
        </p:spPr>
        <p:txBody>
          <a:bodyPr/>
          <a:lstStyle>
            <a:lvl1pPr>
              <a:lnSpc>
                <a:spcPct val="110000"/>
              </a:lnSpc>
              <a:spcBef>
                <a:spcPts val="600"/>
              </a:spcBef>
              <a:buFont typeface="Arial" panose="020B0604020202020204" pitchFamily="34" charset="0"/>
              <a:buNone/>
              <a:defRPr sz="1200" baseline="0">
                <a:latin typeface="+mn-lt"/>
                <a:ea typeface="+mn-ea"/>
                <a:cs typeface="+mn-cs"/>
                <a:sym typeface="+mn-lt"/>
              </a:defRPr>
            </a:lvl1pPr>
            <a:lvl2pPr marL="179705" indent="-179705">
              <a:lnSpc>
                <a:spcPct val="110000"/>
              </a:lnSpc>
              <a:spcBef>
                <a:spcPts val="600"/>
              </a:spcBef>
              <a:buFont typeface="Wingdings" panose="05000000000000000000" pitchFamily="2" charset="2"/>
              <a:buChar char="n"/>
              <a:defRPr sz="1200" baseline="0">
                <a:latin typeface="+mn-lt"/>
                <a:ea typeface="+mn-ea"/>
                <a:cs typeface="+mn-cs"/>
                <a:sym typeface="+mn-lt"/>
              </a:defRPr>
            </a:lvl2pPr>
            <a:lvl3pPr marL="360045" indent="-179705">
              <a:lnSpc>
                <a:spcPct val="110000"/>
              </a:lnSpc>
              <a:spcBef>
                <a:spcPts val="600"/>
              </a:spcBef>
              <a:buFont typeface="Wingdings" panose="05000000000000000000" pitchFamily="2" charset="2"/>
              <a:buChar char="Ø"/>
              <a:defRPr sz="1200" baseline="0">
                <a:latin typeface="+mn-lt"/>
                <a:ea typeface="+mn-ea"/>
                <a:cs typeface="+mn-cs"/>
                <a:sym typeface="+mn-lt"/>
              </a:defRPr>
            </a:lvl3pPr>
            <a:lvl4pPr marL="504190" indent="-144145">
              <a:lnSpc>
                <a:spcPct val="110000"/>
              </a:lnSpc>
              <a:spcBef>
                <a:spcPts val="600"/>
              </a:spcBef>
              <a:buFont typeface="Arial" panose="020B0604020202020204" pitchFamily="34" charset="0"/>
              <a:buChar char="•"/>
              <a:defRPr sz="1200"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スライド番号プレースホルダ 8"/>
          <p:cNvSpPr>
            <a:spLocks noGrp="1"/>
          </p:cNvSpPr>
          <p:nvPr>
            <p:ph type="sldNum" sz="quarter" idx="10"/>
          </p:nvPr>
        </p:nvSpPr>
        <p:spPr bwMode="gray"/>
        <p:txBody>
          <a:bodyPr/>
          <a:lstStyle>
            <a:lvl1pPr>
              <a:defRPr baseline="0">
                <a:solidFill>
                  <a:schemeClr val="tx1"/>
                </a:solidFill>
                <a:latin typeface="+mn-lt"/>
                <a:ea typeface="+mn-ea"/>
                <a:cs typeface="+mn-cs"/>
                <a:sym typeface="+mn-lt"/>
              </a:defRPr>
            </a:lvl1pPr>
          </a:lstStyle>
          <a:p>
            <a:fld id="{543A0986-838B-4D2A-A95C-8CB1738263FE}" type="slidenum">
              <a:rPr lang="ja-JP" altLang="en-US" smtClean="0"/>
              <a:t>‹#›</a:t>
            </a:fld>
            <a:endParaRPr lang="ja-JP" altLang="en-US"/>
          </a:p>
        </p:txBody>
      </p:sp>
      <p:sp>
        <p:nvSpPr>
          <p:cNvPr id="10" name="フッター プレースホルダ 9"/>
          <p:cNvSpPr>
            <a:spLocks noGrp="1"/>
          </p:cNvSpPr>
          <p:nvPr>
            <p:ph type="ftr" sz="quarter" idx="11"/>
          </p:nvPr>
        </p:nvSpPr>
        <p:spPr bwMode="gray"/>
        <p:txBody>
          <a:bodyPr/>
          <a:lstStyle>
            <a:lvl1pPr>
              <a:defRPr baseline="0">
                <a:solidFill>
                  <a:schemeClr val="tx1"/>
                </a:solidFill>
                <a:latin typeface="+mn-lt"/>
                <a:ea typeface="+mn-ea"/>
                <a:cs typeface="+mn-cs"/>
                <a:sym typeface="+mn-lt"/>
              </a:defRPr>
            </a:lvl1pPr>
          </a:lstStyle>
          <a:p>
            <a:r>
              <a:rPr lang="en-GB" altLang="en-GB"/>
              <a:t>DT Template A4</a:t>
            </a:r>
          </a:p>
        </p:txBody>
      </p:sp>
      <p:sp>
        <p:nvSpPr>
          <p:cNvPr id="8"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3" name="タイトル 2"/>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hf hdr="0"/>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白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7" name="テキスト ボックス 6"/>
          <p:cNvSpPr txBox="1"/>
          <p:nvPr userDrawn="1"/>
        </p:nvSpPr>
        <p:spPr bwMode="gray">
          <a:xfrm>
            <a:off x="9896858" y="6517424"/>
            <a:ext cx="1402628" cy="251544"/>
          </a:xfrm>
          <a:prstGeom prst="rect">
            <a:avLst/>
          </a:prstGeom>
          <a:noFill/>
        </p:spPr>
        <p:txBody>
          <a:bodyPr wrap="none" lIns="0" tIns="0" rIns="0" bIns="0" rtlCol="0">
            <a:spAutoFit/>
          </a:bodyPr>
          <a:lstStyle/>
          <a:p>
            <a:pPr algn="l">
              <a:lnSpc>
                <a:spcPts val="950"/>
              </a:lnSpc>
            </a:pPr>
            <a:r>
              <a:rPr kumimoji="1" lang="en-US" altLang="ja-JP" sz="800">
                <a:latin typeface="+mn-lt"/>
                <a:cs typeface="+mn-cs"/>
                <a:sym typeface="+mn-lt"/>
              </a:rPr>
              <a:t>Member of</a:t>
            </a:r>
            <a:br>
              <a:rPr kumimoji="1" lang="en-US" altLang="ja-JP" sz="800">
                <a:latin typeface="+mn-lt"/>
                <a:cs typeface="+mn-cs"/>
                <a:sym typeface="+mn-lt"/>
              </a:rPr>
            </a:br>
            <a:r>
              <a:rPr kumimoji="1" lang="en-US" altLang="ja-JP" sz="800" b="1">
                <a:latin typeface="+mn-lt"/>
                <a:cs typeface="+mn-cs"/>
                <a:sym typeface="+mn-lt"/>
              </a:rPr>
              <a:t>Deloitte Touche Tohmatsu Limited</a:t>
            </a:r>
            <a:endParaRPr kumimoji="1" lang="ja-JP" altLang="en-US" sz="800" b="1">
              <a:latin typeface="+mn-lt"/>
              <a:cs typeface="+mn-cs"/>
              <a:sym typeface="+mn-lt"/>
            </a:endParaRPr>
          </a:p>
        </p:txBody>
      </p:sp>
      <p:sp>
        <p:nvSpPr>
          <p:cNvPr id="14" name="テキスト プレースホルダー 13"/>
          <p:cNvSpPr>
            <a:spLocks noGrp="1"/>
          </p:cNvSpPr>
          <p:nvPr>
            <p:ph type="body" sz="quarter" idx="10"/>
          </p:nvPr>
        </p:nvSpPr>
        <p:spPr bwMode="gray">
          <a:xfrm>
            <a:off x="513969" y="6336003"/>
            <a:ext cx="8640000" cy="127856"/>
          </a:xfrm>
        </p:spPr>
        <p:txBody>
          <a:bodyPr anchor="b" anchorCtr="0">
            <a:spAutoFit/>
          </a:bodyPr>
          <a:lstStyle>
            <a:lvl1pPr>
              <a:defRPr sz="800">
                <a:cs typeface="+mn-cs"/>
              </a:defRPr>
            </a:lvl1pPr>
          </a:lstStyle>
          <a:p>
            <a:pPr lvl="0"/>
            <a:r>
              <a:rPr kumimoji="1" lang="ja-JP" altLang="en-US"/>
              <a:t>マスター テキストの書式設定</a:t>
            </a:r>
          </a:p>
        </p:txBody>
      </p:sp>
      <p:pic>
        <p:nvPicPr>
          <p:cNvPr id="18" name="図 17"/>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bwMode="gray">
          <a:xfrm>
            <a:off x="513969" y="432000"/>
            <a:ext cx="2304000" cy="587972"/>
          </a:xfrm>
          <a:prstGeom prst="rect">
            <a:avLst/>
          </a:prstGeom>
        </p:spPr>
      </p:pic>
      <p:sp>
        <p:nvSpPr>
          <p:cNvPr id="8" name="Text Box 37"/>
          <p:cNvSpPr txBox="1">
            <a:spLocks noChangeArrowheads="1"/>
          </p:cNvSpPr>
          <p:nvPr userDrawn="1"/>
        </p:nvSpPr>
        <p:spPr bwMode="gray">
          <a:xfrm>
            <a:off x="513969" y="6588000"/>
            <a:ext cx="5361231" cy="169200"/>
          </a:xfrm>
          <a:prstGeom prst="rect">
            <a:avLst/>
          </a:prstGeom>
          <a:noFill/>
          <a:ln w="9525">
            <a:noFill/>
            <a:miter lim="800000"/>
          </a:ln>
          <a:effectLst/>
        </p:spPr>
        <p:txBody>
          <a:bodyPr wrap="none" lIns="0" tIns="0" rIns="0" bIns="0" anchor="b" anchorCtr="0">
            <a:no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2022. For information, contact Deloitte Tohmatsu Group.</a:t>
            </a:r>
          </a:p>
        </p:txBody>
      </p:sp>
      <p:pic>
        <p:nvPicPr>
          <p:cNvPr id="4" name="図 3"/>
          <p:cNvPicPr>
            <a:picLocks noChangeAspect="1"/>
          </p:cNvPicPr>
          <p:nvPr userDrawn="1"/>
        </p:nvPicPr>
        <p:blipFill>
          <a:blip r:embed="rId6"/>
          <a:stretch>
            <a:fillRect/>
          </a:stretch>
        </p:blipFill>
        <p:spPr bwMode="gray">
          <a:xfrm>
            <a:off x="9908831" y="5472511"/>
            <a:ext cx="1772308" cy="873777"/>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黒_A4">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7" name="テキスト ボックス 6"/>
          <p:cNvSpPr txBox="1"/>
          <p:nvPr userDrawn="1"/>
        </p:nvSpPr>
        <p:spPr bwMode="gray">
          <a:xfrm>
            <a:off x="9896858" y="6517424"/>
            <a:ext cx="1402628" cy="251544"/>
          </a:xfrm>
          <a:prstGeom prst="rect">
            <a:avLst/>
          </a:prstGeom>
          <a:noFill/>
        </p:spPr>
        <p:txBody>
          <a:bodyPr wrap="none" lIns="0" tIns="0" rIns="0" bIns="0" rtlCol="0">
            <a:spAutoFit/>
          </a:bodyPr>
          <a:lstStyle/>
          <a:p>
            <a:pPr algn="l">
              <a:lnSpc>
                <a:spcPts val="950"/>
              </a:lnSpc>
            </a:pPr>
            <a:r>
              <a:rPr kumimoji="1" lang="en-US" altLang="ja-JP" sz="800">
                <a:solidFill>
                  <a:schemeClr val="bg1"/>
                </a:solidFill>
                <a:latin typeface="+mn-lt"/>
                <a:cs typeface="+mn-cs"/>
                <a:sym typeface="+mn-lt"/>
              </a:rPr>
              <a:t>Member of</a:t>
            </a:r>
            <a:br>
              <a:rPr kumimoji="1" lang="en-US" altLang="ja-JP" sz="800">
                <a:solidFill>
                  <a:schemeClr val="bg1"/>
                </a:solidFill>
                <a:latin typeface="+mn-lt"/>
                <a:cs typeface="+mn-cs"/>
                <a:sym typeface="+mn-lt"/>
              </a:rPr>
            </a:br>
            <a:r>
              <a:rPr kumimoji="1" lang="en-US" altLang="ja-JP" sz="800" b="1">
                <a:solidFill>
                  <a:schemeClr val="bg1"/>
                </a:solidFill>
                <a:latin typeface="+mn-lt"/>
                <a:cs typeface="+mn-cs"/>
                <a:sym typeface="+mn-lt"/>
              </a:rPr>
              <a:t>Deloitte Touche Tohmatsu Limited</a:t>
            </a:r>
            <a:endParaRPr kumimoji="1" lang="ja-JP" altLang="en-US" sz="800" b="1">
              <a:solidFill>
                <a:schemeClr val="bg1"/>
              </a:solidFill>
              <a:latin typeface="+mn-lt"/>
              <a:cs typeface="+mn-cs"/>
              <a:sym typeface="+mn-lt"/>
            </a:endParaRPr>
          </a:p>
        </p:txBody>
      </p:sp>
      <p:sp>
        <p:nvSpPr>
          <p:cNvPr id="11" name="テキスト プレースホルダー 13"/>
          <p:cNvSpPr>
            <a:spLocks noGrp="1"/>
          </p:cNvSpPr>
          <p:nvPr>
            <p:ph type="body" sz="quarter" idx="10"/>
          </p:nvPr>
        </p:nvSpPr>
        <p:spPr bwMode="gray">
          <a:xfrm>
            <a:off x="513969" y="6336003"/>
            <a:ext cx="8640000" cy="127856"/>
          </a:xfrm>
        </p:spPr>
        <p:txBody>
          <a:bodyPr anchor="b" anchorCtr="0">
            <a:spAutoFit/>
          </a:bodyPr>
          <a:lstStyle>
            <a:lvl1pPr>
              <a:defRPr sz="800">
                <a:solidFill>
                  <a:schemeClr val="bg1"/>
                </a:solidFill>
                <a:cs typeface="+mn-cs"/>
              </a:defRPr>
            </a:lvl1pPr>
          </a:lstStyle>
          <a:p>
            <a:pPr lvl="0"/>
            <a:r>
              <a:rPr kumimoji="1" lang="ja-JP" altLang="en-US"/>
              <a:t>マスター テキストの書式設定</a:t>
            </a:r>
          </a:p>
        </p:txBody>
      </p:sp>
      <p:pic>
        <p:nvPicPr>
          <p:cNvPr id="13" name="図 12"/>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513971" y="432000"/>
            <a:ext cx="2302096" cy="586800"/>
          </a:xfrm>
          <a:prstGeom prst="rect">
            <a:avLst/>
          </a:prstGeom>
        </p:spPr>
      </p:pic>
      <p:sp>
        <p:nvSpPr>
          <p:cNvPr id="8" name="Text Box 37"/>
          <p:cNvSpPr txBox="1">
            <a:spLocks noChangeArrowheads="1"/>
          </p:cNvSpPr>
          <p:nvPr userDrawn="1"/>
        </p:nvSpPr>
        <p:spPr bwMode="gray">
          <a:xfrm>
            <a:off x="513969" y="6588000"/>
            <a:ext cx="5361231" cy="169200"/>
          </a:xfrm>
          <a:prstGeom prst="rect">
            <a:avLst/>
          </a:prstGeom>
          <a:noFill/>
          <a:ln w="9525">
            <a:noFill/>
            <a:miter lim="800000"/>
          </a:ln>
          <a:effectLst/>
        </p:spPr>
        <p:txBody>
          <a:bodyPr wrap="none" lIns="0" tIns="0" rIns="0" bIns="0" anchor="b" anchorCtr="0">
            <a:noAutofit/>
          </a:bodyPr>
          <a:lstStyle/>
          <a:p>
            <a:pPr algn="l" rtl="0" eaLnBrk="0" fontAlgn="base" hangingPunct="0">
              <a:spcBef>
                <a:spcPct val="50000"/>
              </a:spcBef>
              <a:spcAft>
                <a:spcPct val="0"/>
              </a:spcAft>
            </a:pPr>
            <a:r>
              <a:rPr lang="en-US" altLang="ja-JP" sz="800" kern="1200">
                <a:solidFill>
                  <a:schemeClr val="bg1"/>
                </a:solidFill>
                <a:latin typeface="+mn-lt"/>
                <a:ea typeface="+mn-ea"/>
                <a:cs typeface="+mn-cs"/>
                <a:sym typeface="+mn-lt"/>
              </a:rPr>
              <a:t>© 2022. For information, contact Deloitte Tohmatsu Group.</a:t>
            </a:r>
          </a:p>
        </p:txBody>
      </p:sp>
      <p:pic>
        <p:nvPicPr>
          <p:cNvPr id="6" name="図 5"/>
          <p:cNvPicPr>
            <a:picLocks noChangeAspect="1"/>
          </p:cNvPicPr>
          <p:nvPr userDrawn="1"/>
        </p:nvPicPr>
        <p:blipFill>
          <a:blip r:embed="rId6"/>
          <a:stretch>
            <a:fillRect/>
          </a:stretch>
        </p:blipFill>
        <p:spPr bwMode="gray">
          <a:xfrm>
            <a:off x="9908831" y="5472506"/>
            <a:ext cx="1772308" cy="873777"/>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白_トーマツロゴ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7" name="テキスト ボックス 6"/>
          <p:cNvSpPr txBox="1"/>
          <p:nvPr userDrawn="1"/>
        </p:nvSpPr>
        <p:spPr bwMode="gray">
          <a:xfrm>
            <a:off x="9896858" y="6517424"/>
            <a:ext cx="1402628" cy="251544"/>
          </a:xfrm>
          <a:prstGeom prst="rect">
            <a:avLst/>
          </a:prstGeom>
          <a:noFill/>
        </p:spPr>
        <p:txBody>
          <a:bodyPr wrap="none" lIns="0" tIns="0" rIns="0" bIns="0" rtlCol="0">
            <a:spAutoFit/>
          </a:bodyPr>
          <a:lstStyle/>
          <a:p>
            <a:pPr algn="l">
              <a:lnSpc>
                <a:spcPts val="950"/>
              </a:lnSpc>
            </a:pPr>
            <a:r>
              <a:rPr kumimoji="1" lang="en-US" altLang="ja-JP" sz="800">
                <a:latin typeface="+mn-lt"/>
                <a:cs typeface="+mn-cs"/>
                <a:sym typeface="+mn-lt"/>
              </a:rPr>
              <a:t>Member of</a:t>
            </a:r>
            <a:br>
              <a:rPr kumimoji="1" lang="en-US" altLang="ja-JP" sz="800">
                <a:latin typeface="+mn-lt"/>
                <a:cs typeface="+mn-cs"/>
                <a:sym typeface="+mn-lt"/>
              </a:rPr>
            </a:br>
            <a:r>
              <a:rPr kumimoji="1" lang="en-US" altLang="ja-JP" sz="800" b="1">
                <a:latin typeface="+mn-lt"/>
                <a:cs typeface="+mn-cs"/>
                <a:sym typeface="+mn-lt"/>
              </a:rPr>
              <a:t>Deloitte Touche Tohmatsu Limited</a:t>
            </a:r>
            <a:endParaRPr kumimoji="1" lang="ja-JP" altLang="en-US" sz="800" b="1">
              <a:latin typeface="+mn-lt"/>
              <a:cs typeface="+mn-cs"/>
              <a:sym typeface="+mn-lt"/>
            </a:endParaRPr>
          </a:p>
        </p:txBody>
      </p:sp>
      <p:sp>
        <p:nvSpPr>
          <p:cNvPr id="10" name="テキスト プレースホルダー 13"/>
          <p:cNvSpPr>
            <a:spLocks noGrp="1"/>
          </p:cNvSpPr>
          <p:nvPr>
            <p:ph type="body" sz="quarter" idx="10"/>
          </p:nvPr>
        </p:nvSpPr>
        <p:spPr bwMode="gray">
          <a:xfrm>
            <a:off x="513969" y="6336003"/>
            <a:ext cx="8640000" cy="127856"/>
          </a:xfrm>
        </p:spPr>
        <p:txBody>
          <a:bodyPr anchor="b" anchorCtr="0">
            <a:spAutoFit/>
          </a:bodyPr>
          <a:lstStyle>
            <a:lvl1pPr>
              <a:defRPr sz="800">
                <a:cs typeface="+mn-cs"/>
              </a:defRPr>
            </a:lvl1pPr>
          </a:lstStyle>
          <a:p>
            <a:pPr lvl="0"/>
            <a:r>
              <a:rPr kumimoji="1" lang="ja-JP" altLang="en-US"/>
              <a:t>マスター テキストの書式設定</a:t>
            </a:r>
          </a:p>
        </p:txBody>
      </p:sp>
      <p:pic>
        <p:nvPicPr>
          <p:cNvPr id="13" name="図 12"/>
          <p:cNvPicPr>
            <a:picLocks noChangeAspect="1"/>
          </p:cNvPicPr>
          <p:nvPr userDrawn="1"/>
        </p:nvPicPr>
        <p:blipFill rotWithShape="1">
          <a:blip r:embed="rId5">
            <a:extLst>
              <a:ext uri="{28A0092B-C50C-407E-A947-70E740481C1C}">
                <a14:useLocalDpi xmlns:a14="http://schemas.microsoft.com/office/drawing/2010/main" val="0"/>
              </a:ext>
            </a:extLst>
          </a:blip>
          <a:srcRect/>
          <a:stretch>
            <a:fillRect/>
          </a:stretch>
        </p:blipFill>
        <p:spPr bwMode="gray">
          <a:xfrm>
            <a:off x="512610" y="431005"/>
            <a:ext cx="4243429" cy="586800"/>
          </a:xfrm>
          <a:prstGeom prst="rect">
            <a:avLst/>
          </a:prstGeom>
          <a:noFill/>
          <a:ln>
            <a:noFill/>
          </a:ln>
        </p:spPr>
      </p:pic>
      <p:sp>
        <p:nvSpPr>
          <p:cNvPr id="8" name="Text Box 37"/>
          <p:cNvSpPr txBox="1">
            <a:spLocks noChangeArrowheads="1"/>
          </p:cNvSpPr>
          <p:nvPr userDrawn="1"/>
        </p:nvSpPr>
        <p:spPr bwMode="gray">
          <a:xfrm>
            <a:off x="513969" y="6588000"/>
            <a:ext cx="5361231" cy="169200"/>
          </a:xfrm>
          <a:prstGeom prst="rect">
            <a:avLst/>
          </a:prstGeom>
          <a:noFill/>
          <a:ln w="9525">
            <a:noFill/>
            <a:miter lim="800000"/>
          </a:ln>
          <a:effectLst/>
        </p:spPr>
        <p:txBody>
          <a:bodyPr wrap="none" lIns="0" tIns="0" rIns="0" bIns="0" anchor="b" anchorCtr="0">
            <a:no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2022. For information, contact Deloitte Tohmatsu Group.</a:t>
            </a:r>
          </a:p>
        </p:txBody>
      </p:sp>
      <p:pic>
        <p:nvPicPr>
          <p:cNvPr id="12" name="図 11"/>
          <p:cNvPicPr>
            <a:picLocks noChangeAspect="1"/>
          </p:cNvPicPr>
          <p:nvPr userDrawn="1"/>
        </p:nvPicPr>
        <p:blipFill>
          <a:blip r:embed="rId6"/>
          <a:stretch>
            <a:fillRect/>
          </a:stretch>
        </p:blipFill>
        <p:spPr bwMode="gray">
          <a:xfrm>
            <a:off x="9908831" y="5472511"/>
            <a:ext cx="1772308" cy="873777"/>
          </a:xfrm>
          <a:prstGeom prst="rect">
            <a:avLst/>
          </a:prstGeom>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黒_トーマツロゴ_A4">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7" name="テキスト ボックス 6"/>
          <p:cNvSpPr txBox="1"/>
          <p:nvPr userDrawn="1"/>
        </p:nvSpPr>
        <p:spPr bwMode="gray">
          <a:xfrm>
            <a:off x="9896858" y="6517424"/>
            <a:ext cx="1402628" cy="251544"/>
          </a:xfrm>
          <a:prstGeom prst="rect">
            <a:avLst/>
          </a:prstGeom>
          <a:noFill/>
        </p:spPr>
        <p:txBody>
          <a:bodyPr wrap="none" lIns="0" tIns="0" rIns="0" bIns="0" rtlCol="0">
            <a:spAutoFit/>
          </a:bodyPr>
          <a:lstStyle/>
          <a:p>
            <a:pPr algn="l">
              <a:lnSpc>
                <a:spcPts val="950"/>
              </a:lnSpc>
            </a:pPr>
            <a:r>
              <a:rPr kumimoji="1" lang="en-US" altLang="ja-JP" sz="800">
                <a:solidFill>
                  <a:schemeClr val="bg1"/>
                </a:solidFill>
                <a:latin typeface="+mn-lt"/>
                <a:cs typeface="+mn-cs"/>
                <a:sym typeface="+mn-lt"/>
              </a:rPr>
              <a:t>Member of</a:t>
            </a:r>
            <a:br>
              <a:rPr kumimoji="1" lang="en-US" altLang="ja-JP" sz="800">
                <a:solidFill>
                  <a:schemeClr val="bg1"/>
                </a:solidFill>
                <a:latin typeface="+mn-lt"/>
                <a:cs typeface="+mn-cs"/>
                <a:sym typeface="+mn-lt"/>
              </a:rPr>
            </a:br>
            <a:r>
              <a:rPr kumimoji="1" lang="en-US" altLang="ja-JP" sz="800" b="1">
                <a:solidFill>
                  <a:schemeClr val="bg1"/>
                </a:solidFill>
                <a:latin typeface="+mn-lt"/>
                <a:cs typeface="+mn-cs"/>
                <a:sym typeface="+mn-lt"/>
              </a:rPr>
              <a:t>Deloitte Touche Tohmatsu Limited</a:t>
            </a:r>
            <a:endParaRPr kumimoji="1" lang="ja-JP" altLang="en-US" sz="800" b="1">
              <a:solidFill>
                <a:schemeClr val="bg1"/>
              </a:solidFill>
              <a:latin typeface="+mn-lt"/>
              <a:cs typeface="+mn-cs"/>
              <a:sym typeface="+mn-lt"/>
            </a:endParaRPr>
          </a:p>
        </p:txBody>
      </p:sp>
      <p:sp>
        <p:nvSpPr>
          <p:cNvPr id="10" name="テキスト プレースホルダー 13"/>
          <p:cNvSpPr>
            <a:spLocks noGrp="1"/>
          </p:cNvSpPr>
          <p:nvPr>
            <p:ph type="body" sz="quarter" idx="10"/>
          </p:nvPr>
        </p:nvSpPr>
        <p:spPr bwMode="gray">
          <a:xfrm>
            <a:off x="513969" y="6336003"/>
            <a:ext cx="8640000" cy="127856"/>
          </a:xfrm>
        </p:spPr>
        <p:txBody>
          <a:bodyPr anchor="b" anchorCtr="0">
            <a:spAutoFit/>
          </a:bodyPr>
          <a:lstStyle>
            <a:lvl1pPr>
              <a:defRPr sz="800">
                <a:solidFill>
                  <a:schemeClr val="bg1"/>
                </a:solidFill>
                <a:cs typeface="+mn-cs"/>
              </a:defRPr>
            </a:lvl1pPr>
          </a:lstStyle>
          <a:p>
            <a:pPr lvl="0"/>
            <a:r>
              <a:rPr kumimoji="1" lang="ja-JP" altLang="en-US"/>
              <a:t>マスター テキストの書式設定</a:t>
            </a:r>
          </a:p>
        </p:txBody>
      </p:sp>
      <p:pic>
        <p:nvPicPr>
          <p:cNvPr id="13" name="図 12"/>
          <p:cNvPicPr>
            <a:picLocks noChangeAspect="1"/>
          </p:cNvPicPr>
          <p:nvPr userDrawn="1"/>
        </p:nvPicPr>
        <p:blipFill rotWithShape="1">
          <a:blip r:embed="rId5">
            <a:extLst>
              <a:ext uri="{28A0092B-C50C-407E-A947-70E740481C1C}">
                <a14:useLocalDpi xmlns:a14="http://schemas.microsoft.com/office/drawing/2010/main" val="0"/>
              </a:ext>
            </a:extLst>
          </a:blip>
          <a:stretch>
            <a:fillRect/>
          </a:stretch>
        </p:blipFill>
        <p:spPr bwMode="gray">
          <a:xfrm>
            <a:off x="513969" y="432000"/>
            <a:ext cx="4246090" cy="586076"/>
          </a:xfrm>
          <a:prstGeom prst="rect">
            <a:avLst/>
          </a:prstGeom>
        </p:spPr>
      </p:pic>
      <p:sp>
        <p:nvSpPr>
          <p:cNvPr id="9" name="Text Box 37"/>
          <p:cNvSpPr txBox="1">
            <a:spLocks noChangeArrowheads="1"/>
          </p:cNvSpPr>
          <p:nvPr userDrawn="1"/>
        </p:nvSpPr>
        <p:spPr bwMode="gray">
          <a:xfrm>
            <a:off x="513969" y="6588000"/>
            <a:ext cx="5361231" cy="169200"/>
          </a:xfrm>
          <a:prstGeom prst="rect">
            <a:avLst/>
          </a:prstGeom>
          <a:noFill/>
          <a:ln w="9525">
            <a:noFill/>
            <a:miter lim="800000"/>
          </a:ln>
          <a:effectLst/>
        </p:spPr>
        <p:txBody>
          <a:bodyPr wrap="none" lIns="0" tIns="0" rIns="0" bIns="0" anchor="b" anchorCtr="0">
            <a:noAutofit/>
          </a:bodyPr>
          <a:lstStyle/>
          <a:p>
            <a:pPr algn="l" rtl="0" eaLnBrk="0" fontAlgn="base" hangingPunct="0">
              <a:spcBef>
                <a:spcPct val="50000"/>
              </a:spcBef>
              <a:spcAft>
                <a:spcPct val="0"/>
              </a:spcAft>
            </a:pPr>
            <a:r>
              <a:rPr lang="en-US" altLang="ja-JP" sz="800" kern="1200">
                <a:solidFill>
                  <a:schemeClr val="bg1"/>
                </a:solidFill>
                <a:latin typeface="+mn-lt"/>
                <a:ea typeface="+mn-ea"/>
                <a:cs typeface="+mn-cs"/>
                <a:sym typeface="+mn-lt"/>
              </a:rPr>
              <a:t>© 2022. For information, contact Deloitte Tohmatsu Group.</a:t>
            </a:r>
          </a:p>
        </p:txBody>
      </p:sp>
      <p:pic>
        <p:nvPicPr>
          <p:cNvPr id="12" name="図 11"/>
          <p:cNvPicPr>
            <a:picLocks noChangeAspect="1"/>
          </p:cNvPicPr>
          <p:nvPr userDrawn="1"/>
        </p:nvPicPr>
        <p:blipFill>
          <a:blip r:embed="rId6"/>
          <a:stretch>
            <a:fillRect/>
          </a:stretch>
        </p:blipFill>
        <p:spPr bwMode="gray">
          <a:xfrm>
            <a:off x="9908831" y="5472506"/>
            <a:ext cx="1772308" cy="873777"/>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基本版） タイトル_ ロゴ入り_16:9">
    <p:bg bwMode="gray">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latin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799" y="5292000"/>
            <a:ext cx="5616000" cy="864000"/>
          </a:xfrm>
        </p:spPr>
        <p:txBody>
          <a:bodyPr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799" y="5760001"/>
            <a:ext cx="5616000" cy="307777"/>
          </a:xfrm>
          <a:prstGeom prst="rect">
            <a:avLst/>
          </a:prstGeom>
        </p:spPr>
        <p:txBody>
          <a:bodyPr wrap="none" lIns="0" tIns="0" rIns="0" bIns="0" anchor="t" anchorCtr="0">
            <a:noAutofit/>
          </a:bodyPr>
          <a:lstStyle>
            <a:lvl1pPr marL="0" indent="0" algn="l">
              <a:lnSpc>
                <a:spcPct val="100000"/>
              </a:lnSpc>
              <a:spcBef>
                <a:spcPts val="0"/>
              </a:spcBef>
              <a:spcAft>
                <a:spcPts val="0"/>
              </a:spcAft>
              <a:buNone/>
              <a:defRPr sz="2000">
                <a:solidFill>
                  <a:schemeClr val="tx1"/>
                </a:solidFill>
                <a:latin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799"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5999" y="396000"/>
            <a:ext cx="5616000" cy="676800"/>
          </a:xfrm>
          <a:prstGeom prst="rect">
            <a:avLst/>
          </a:prstGeom>
        </p:spPr>
        <p:txBody>
          <a:bodyPr lIns="0" tIns="0">
            <a:normAutofit/>
          </a:bodyPr>
          <a:lstStyle>
            <a:lvl1pPr algn="r">
              <a:lnSpc>
                <a:spcPct val="100000"/>
              </a:lnSpc>
              <a:spcBef>
                <a:spcPts val="0"/>
              </a:spcBef>
              <a:defRPr sz="2200">
                <a:latin typeface="+mn-lt"/>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bwMode="gray">
          <a:xfrm>
            <a:off x="478800" y="432000"/>
            <a:ext cx="2016000" cy="633201"/>
          </a:xfrm>
          <a:prstGeom prst="rect">
            <a:avLst/>
          </a:prstGeom>
        </p:spPr>
      </p:pic>
      <p:sp>
        <p:nvSpPr>
          <p:cNvPr id="6" name="日付プレースホルダー 5"/>
          <p:cNvSpPr>
            <a:spLocks noGrp="1"/>
          </p:cNvSpPr>
          <p:nvPr>
            <p:ph type="dt" sz="half" idx="13"/>
          </p:nvPr>
        </p:nvSpPr>
        <p:spPr bwMode="gray"/>
        <p:txBody>
          <a:bodyPr/>
          <a:lstStyle/>
          <a:p>
            <a:pPr algn="ctr"/>
            <a:r>
              <a:rPr lang="en-US"/>
              <a:t>&lt; Confidential &gt;</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基本版） タイトル ロゴ無_16:9">
    <p:bg bwMode="gray">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800" y="5292000"/>
            <a:ext cx="5616000" cy="864000"/>
          </a:xfrm>
        </p:spPr>
        <p:txBody>
          <a:bodyPr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800" y="5760001"/>
            <a:ext cx="5616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tx1"/>
                </a:solidFill>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800"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p:cNvSpPr>
            <a:spLocks noGrp="1"/>
          </p:cNvSpPr>
          <p:nvPr>
            <p:ph type="dt" sz="half" idx="12"/>
          </p:nvPr>
        </p:nvSpPr>
        <p:spPr bwMode="gray"/>
        <p:txBody>
          <a:bodyPr/>
          <a:lstStyle/>
          <a:p>
            <a:pPr algn="ctr"/>
            <a:r>
              <a:rPr lang="en-US"/>
              <a:t>&lt; Confidential &gt;</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黒_（基本版） タイトル_ ロゴ入り_16:9">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solidFill>
                  <a:schemeClr val="bg1"/>
                </a:solidFill>
                <a:latin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800" y="5292000"/>
            <a:ext cx="5616000" cy="864000"/>
          </a:xfrm>
        </p:spPr>
        <p:txBody>
          <a:bodyPr anchor="t" anchorCtr="0">
            <a:noAutofit/>
          </a:bodyPr>
          <a:lstStyle>
            <a:lvl1pPr algn="l">
              <a:lnSpc>
                <a:spcPct val="100000"/>
              </a:lnSpc>
              <a:spcBef>
                <a:spcPts val="0"/>
              </a:spcBef>
              <a:spcAft>
                <a:spcPts val="0"/>
              </a:spcAft>
              <a:defRPr sz="2800" b="1" baseline="0">
                <a:solidFill>
                  <a:schemeClr val="bg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800" y="5760001"/>
            <a:ext cx="5616000" cy="307777"/>
          </a:xfrm>
          <a:prstGeom prst="rect">
            <a:avLst/>
          </a:prstGeom>
        </p:spPr>
        <p:txBody>
          <a:bodyPr wrap="none" lIns="0" tIns="0" rIns="0" bIns="0" anchor="t" anchorCtr="0">
            <a:noAutofit/>
          </a:bodyPr>
          <a:lstStyle>
            <a:lvl1pPr marL="0" indent="0" algn="l">
              <a:lnSpc>
                <a:spcPct val="100000"/>
              </a:lnSpc>
              <a:spcBef>
                <a:spcPts val="0"/>
              </a:spcBef>
              <a:spcAft>
                <a:spcPts val="0"/>
              </a:spcAft>
              <a:buNone/>
              <a:defRPr sz="2000">
                <a:solidFill>
                  <a:schemeClr val="bg1"/>
                </a:solidFill>
                <a:latin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800"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4800" y="396000"/>
            <a:ext cx="5616000" cy="676800"/>
          </a:xfrm>
          <a:prstGeom prst="rect">
            <a:avLst/>
          </a:prstGeom>
        </p:spPr>
        <p:txBody>
          <a:bodyPr lIns="0" tIns="0">
            <a:normAutofit/>
          </a:bodyPr>
          <a:lstStyle>
            <a:lvl1pPr algn="r">
              <a:lnSpc>
                <a:spcPct val="100000"/>
              </a:lnSpc>
              <a:spcBef>
                <a:spcPts val="0"/>
              </a:spcBef>
              <a:defRPr sz="2200">
                <a:solidFill>
                  <a:schemeClr val="bg1"/>
                </a:solidFill>
                <a:latin typeface="+mn-lt"/>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478800" y="431999"/>
            <a:ext cx="2016000" cy="627200"/>
          </a:xfrm>
          <a:prstGeom prst="rect">
            <a:avLst/>
          </a:prstGeom>
        </p:spPr>
      </p:pic>
      <p:sp>
        <p:nvSpPr>
          <p:cNvPr id="6" name="日付プレースホルダー 5"/>
          <p:cNvSpPr>
            <a:spLocks noGrp="1"/>
          </p:cNvSpPr>
          <p:nvPr>
            <p:ph type="dt" sz="half" idx="13"/>
          </p:nvPr>
        </p:nvSpPr>
        <p:spPr bwMode="gray"/>
        <p:txBody>
          <a:bodyPr/>
          <a:lstStyle/>
          <a:p>
            <a:pPr algn="ctr"/>
            <a:r>
              <a:rPr lang="en-US"/>
              <a:t>&lt; Confidential &gt;</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黒_（基本版） タイトル ロゴ無_16:9">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solidFill>
                  <a:schemeClr val="bg1"/>
                </a:solidFill>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799" y="5292000"/>
            <a:ext cx="5616000" cy="864000"/>
          </a:xfrm>
        </p:spPr>
        <p:txBody>
          <a:bodyPr anchor="t" anchorCtr="0">
            <a:noAutofit/>
          </a:bodyPr>
          <a:lstStyle>
            <a:lvl1pPr algn="l">
              <a:lnSpc>
                <a:spcPct val="100000"/>
              </a:lnSpc>
              <a:spcBef>
                <a:spcPts val="0"/>
              </a:spcBef>
              <a:spcAft>
                <a:spcPts val="0"/>
              </a:spcAft>
              <a:defRPr sz="2800" b="1" baseline="0">
                <a:solidFill>
                  <a:schemeClr val="bg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799" y="5760001"/>
            <a:ext cx="5616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bg1"/>
                </a:solidFill>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799"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p:cNvSpPr>
            <a:spLocks noGrp="1"/>
          </p:cNvSpPr>
          <p:nvPr>
            <p:ph type="dt" sz="half" idx="12"/>
          </p:nvPr>
        </p:nvSpPr>
        <p:spPr bwMode="gray"/>
        <p:txBody>
          <a:bodyPr/>
          <a:lstStyle/>
          <a:p>
            <a:pPr algn="ctr"/>
            <a:r>
              <a:rPr lang="en-US"/>
              <a:t>&lt; Confidential &gt;</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基本版） 目次_16:9">
    <p:bg bwMode="gray">
      <p:bgRef idx="1001">
        <a:schemeClr val="bg1"/>
      </p:bgRef>
    </p:bg>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7620" imgH="7620" progId="TCLayout.ActiveDocument.1">
                  <p:embed/>
                </p:oleObj>
              </mc:Choice>
              <mc:Fallback>
                <p:oleObj name="think-cellスライド" r:id="rId4" imgW="7620" imgH="7620" progId="TCLayout.ActiveDocument.1">
                  <p:embed/>
                  <p:pic>
                    <p:nvPicPr>
                      <p:cNvPr id="3" name="オブジェクト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正方形/長方形 4" hidden="1"/>
          <p:cNvSpPr/>
          <p:nvPr userDrawn="1">
            <p:custDataLst>
              <p:tags r:id="rId2"/>
            </p:custDataLst>
          </p:nvPr>
        </p:nvSpPr>
        <p:spPr bwMode="gray">
          <a:xfrm>
            <a:off x="0" y="0"/>
            <a:ext cx="158750" cy="158750"/>
          </a:xfrm>
          <a:prstGeom prst="rect">
            <a:avLst/>
          </a:prstGeom>
          <a:solidFill>
            <a:srgbClr val="BBBCBC"/>
          </a:solidFill>
          <a:ln w="12700" algn="ctr">
            <a:solidFill>
              <a:srgbClr val="BBBCBC"/>
            </a:solidFill>
            <a:miter lim="800000"/>
          </a:ln>
        </p:spPr>
        <p:txBody>
          <a:bodyPr rot="0" spcFirstLastPara="0" vertOverflow="overflow" horzOverflow="overflow" vert="horz" wrap="none" lIns="0" tIns="0" rIns="0" bIns="0" numCol="1" spcCol="0" rtlCol="0" fromWordArt="0" anchor="ctr" anchorCtr="0" forceAA="0" compatLnSpc="1">
            <a:noAutofit/>
          </a:bodyPr>
          <a:lstStyle/>
          <a:p>
            <a:pPr marL="0" marR="0" lvl="0" indent="0" algn="ctr" defTabSz="990600" rtl="0" eaLnBrk="1" fontAlgn="auto" latinLnBrk="0" hangingPunct="1">
              <a:lnSpc>
                <a:spcPct val="100000"/>
              </a:lnSpc>
              <a:spcBef>
                <a:spcPts val="0"/>
              </a:spcBef>
              <a:spcAft>
                <a:spcPts val="0"/>
              </a:spcAft>
              <a:buClrTx/>
              <a:buSzPct val="100000"/>
              <a:buFont typeface="Wingdings" panose="05000000000000000000" pitchFamily="2" charset="2"/>
              <a:buNone/>
            </a:pPr>
            <a:endParaRPr kumimoji="1" lang="ja-JP" altLang="en-US" sz="2400" b="1" i="0" u="none" strike="noStrike" kern="1200" cap="none" spc="0" normalizeH="0" baseline="0" noProof="0">
              <a:ln>
                <a:noFill/>
              </a:ln>
              <a:solidFill>
                <a:prstClr val="black"/>
              </a:solidFill>
              <a:effectLst/>
              <a:uLnTx/>
              <a:uFillTx/>
              <a:latin typeface="Calibri" panose="020F0502020204030204" pitchFamily="34" charset="0"/>
              <a:ea typeface="Yu Gothic UI" panose="020B0500000000000000" pitchFamily="50" charset="-128"/>
              <a:cs typeface="+mj-cs"/>
              <a:sym typeface="Calibri" panose="020F0502020204030204" pitchFamily="34" charset="0"/>
            </a:endParaRPr>
          </a:p>
        </p:txBody>
      </p:sp>
      <p:sp>
        <p:nvSpPr>
          <p:cNvPr id="13" name="Content Placeholder 3"/>
          <p:cNvSpPr>
            <a:spLocks noGrp="1"/>
          </p:cNvSpPr>
          <p:nvPr>
            <p:ph sz="quarter" idx="10"/>
          </p:nvPr>
        </p:nvSpPr>
        <p:spPr bwMode="gray">
          <a:xfrm>
            <a:off x="480000" y="1476000"/>
            <a:ext cx="5436000" cy="4824000"/>
          </a:xfrm>
          <a:prstGeom prst="rect">
            <a:avLst/>
          </a:prstGeom>
        </p:spPr>
        <p:txBody>
          <a:bodyPr/>
          <a:lstStyle>
            <a:lvl1pPr>
              <a:tabLst>
                <a:tab pos="5447665" algn="r"/>
              </a:tabLst>
              <a:defRPr/>
            </a:lvl1pPr>
            <a:lvl2pPr>
              <a:tabLst>
                <a:tab pos="5447665" algn="r"/>
              </a:tabLst>
              <a:defRPr/>
            </a:lvl2pPr>
            <a:lvl3pPr>
              <a:tabLst>
                <a:tab pos="5447665" algn="r"/>
              </a:tabLst>
              <a:defRPr/>
            </a:lvl3pPr>
            <a:lvl4pPr>
              <a:tabLst>
                <a:tab pos="5447665" algn="r"/>
              </a:tabLst>
              <a:defRPr/>
            </a:lvl4pPr>
            <a:lvl5pPr>
              <a:tabLst>
                <a:tab pos="54476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15" name="Content Placeholder 3"/>
          <p:cNvSpPr>
            <a:spLocks noGrp="1"/>
          </p:cNvSpPr>
          <p:nvPr>
            <p:ph sz="quarter" idx="20"/>
          </p:nvPr>
        </p:nvSpPr>
        <p:spPr bwMode="gray">
          <a:xfrm>
            <a:off x="6276000" y="1476000"/>
            <a:ext cx="5436000" cy="4824000"/>
          </a:xfrm>
          <a:prstGeom prst="rect">
            <a:avLst/>
          </a:prstGeom>
        </p:spPr>
        <p:txBody>
          <a:bodyPr/>
          <a:lstStyle>
            <a:lvl1pPr>
              <a:tabLst>
                <a:tab pos="5447665" algn="r"/>
              </a:tabLst>
              <a:defRPr/>
            </a:lvl1pPr>
            <a:lvl2pPr>
              <a:tabLst>
                <a:tab pos="5447665" algn="r"/>
              </a:tabLst>
              <a:defRPr/>
            </a:lvl2pPr>
            <a:lvl3pPr>
              <a:tabLst>
                <a:tab pos="5447665" algn="r"/>
              </a:tabLst>
              <a:defRPr/>
            </a:lvl3pPr>
            <a:lvl4pPr>
              <a:tabLst>
                <a:tab pos="5447665" algn="r"/>
              </a:tabLst>
              <a:defRPr/>
            </a:lvl4pPr>
            <a:lvl5pPr>
              <a:tabLst>
                <a:tab pos="54476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4" name="タイトル 3"/>
          <p:cNvSpPr>
            <a:spLocks noGrp="1"/>
          </p:cNvSpPr>
          <p:nvPr>
            <p:ph type="title"/>
          </p:nvPr>
        </p:nvSpPr>
        <p:spPr bwMode="gray">
          <a:xfrm>
            <a:off x="480000" y="108000"/>
            <a:ext cx="11232000" cy="738000"/>
          </a:xfrm>
        </p:spPr>
        <p:txBody>
          <a:bodyPr/>
          <a:lstStyle>
            <a:lvl1pPr>
              <a:defRPr baseline="0">
                <a:latin typeface="+mj-lt"/>
                <a:ea typeface="+mj-ea"/>
              </a:defRPr>
            </a:lvl1pPr>
          </a:lstStyle>
          <a:p>
            <a:r>
              <a:rPr kumimoji="1" lang="ja-JP" altLang="en-US"/>
              <a:t>マスター タイトルの書式設定</a:t>
            </a:r>
          </a:p>
        </p:txBody>
      </p:sp>
    </p:spTree>
  </p:cSld>
  <p:clrMapOvr>
    <a:masterClrMapping/>
  </p:clrMapOvr>
  <p:hf hdr="0"/>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基本版） 白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スライド番号プレースホルダー 3"/>
          <p:cNvSpPr>
            <a:spLocks noGrp="1"/>
          </p:cNvSpPr>
          <p:nvPr>
            <p:ph type="sldNum" sz="quarter" idx="11"/>
          </p:nvPr>
        </p:nvSpPr>
        <p:spPr bwMode="gray"/>
        <p:txBody>
          <a:bodyPr/>
          <a:lstStyle>
            <a:lvl1pPr>
              <a:defRPr/>
            </a:lvl1pPr>
          </a:lstStyle>
          <a:p>
            <a:fld id="{AA5FCFE5-FE56-4EF1-80A8-07776887C2A1}" type="slidenum">
              <a:rPr lang="ja-JP" altLang="en-US" smtClean="0"/>
              <a:t>‹#›</a:t>
            </a:fld>
            <a:endParaRPr lang="ja-JP" altLang="en-US"/>
          </a:p>
        </p:txBody>
      </p:sp>
      <p:sp>
        <p:nvSpPr>
          <p:cNvPr id="6" name="テキスト プレースホルダー 5"/>
          <p:cNvSpPr>
            <a:spLocks noGrp="1"/>
          </p:cNvSpPr>
          <p:nvPr>
            <p:ph type="body" sz="quarter" idx="12"/>
          </p:nvPr>
        </p:nvSpPr>
        <p:spPr bwMode="gray">
          <a:xfrm>
            <a:off x="1596000" y="2556000"/>
            <a:ext cx="9000000" cy="1440000"/>
          </a:xfrm>
          <a:prstGeom prst="rect">
            <a:avLst/>
          </a:prstGeom>
        </p:spPr>
        <p:txBody>
          <a:bodyPr/>
          <a:lstStyle>
            <a:lvl1pPr>
              <a:defRPr sz="2400" baseline="0">
                <a:latin typeface="+mj-lt"/>
                <a:ea typeface="+mj-ea"/>
              </a:defRPr>
            </a:lvl1pPr>
          </a:lstStyle>
          <a:p>
            <a:pPr lvl="0"/>
            <a:r>
              <a:rPr kumimoji="1" lang="ja-JP" altLang="en-US"/>
              <a:t>マスター テキストの書式設定</a:t>
            </a:r>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基本版） 中表紙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tx1"/>
                </a:solidFill>
                <a:latin typeface="+mj-lt"/>
                <a:ea typeface="+mj-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defRPr>
            </a:lvl1pPr>
          </a:lstStyle>
          <a:p>
            <a:fld id="{AA5FCFE5-FE56-4EF1-80A8-07776887C2A1}" type="slidenum">
              <a:rPr lang="ja-JP" altLang="en-US" smtClean="0"/>
              <a:t>‹#›</a:t>
            </a:fld>
            <a:endParaRPr lang="ja-JP" altLang="en-US"/>
          </a:p>
        </p:txBody>
      </p:sp>
      <p:sp>
        <p:nvSpPr>
          <p:cNvPr id="3"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基本版） タイトルのみ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テキスト プレースホルダー 2"/>
          <p:cNvSpPr>
            <a:spLocks noGrp="1"/>
          </p:cNvSpPr>
          <p:nvPr>
            <p:ph type="body" sz="quarter" idx="15" hasCustomPrompt="1"/>
          </p:nvPr>
        </p:nvSpPr>
        <p:spPr bwMode="gray">
          <a:xfrm>
            <a:off x="478799" y="1008000"/>
            <a:ext cx="5436000" cy="468000"/>
          </a:xfrm>
          <a:prstGeom prst="rect">
            <a:avLst/>
          </a:prstGeom>
        </p:spPr>
        <p:txBody>
          <a:bodyPr wrap="none" tIns="0" anchor="ctr">
            <a:noAutofit/>
          </a:bodyPr>
          <a:lstStyle>
            <a:lvl1pPr>
              <a:lnSpc>
                <a:spcPct val="100000"/>
              </a:lnSpc>
              <a:spcBef>
                <a:spcPts val="0"/>
              </a:spcBef>
              <a:defRPr sz="1800" b="1">
                <a:solidFill>
                  <a:schemeClr val="accent1"/>
                </a:solidFill>
              </a:defRPr>
            </a:lvl1pPr>
          </a:lstStyle>
          <a:p>
            <a:pPr lvl="0"/>
            <a:r>
              <a:rPr kumimoji="1" lang="en-US" altLang="ja-JP"/>
              <a:t>Header</a:t>
            </a:r>
            <a:r>
              <a:rPr kumimoji="1" lang="ja-JP" altLang="en-US"/>
              <a:t>を入力（スライドタイトル）</a:t>
            </a:r>
          </a:p>
        </p:txBody>
      </p:sp>
      <p:sp>
        <p:nvSpPr>
          <p:cNvPr id="7" name="タイトル 6"/>
          <p:cNvSpPr>
            <a:spLocks noGrp="1"/>
          </p:cNvSpPr>
          <p:nvPr>
            <p:ph type="title"/>
          </p:nvPr>
        </p:nvSpPr>
        <p:spPr/>
        <p:txBody>
          <a:bodyPr/>
          <a:lstStyle/>
          <a:p>
            <a:r>
              <a:rPr kumimoji="1" lang="ja-JP" altLang="en-US"/>
              <a:t>マスター タイトルの書式設定</a:t>
            </a:r>
          </a:p>
        </p:txBody>
      </p:sp>
      <p:sp>
        <p:nvSpPr>
          <p:cNvPr id="24" name="スライド番号プレースホルダー 23"/>
          <p:cNvSpPr>
            <a:spLocks noGrp="1"/>
          </p:cNvSpPr>
          <p:nvPr>
            <p:ph type="sldNum" sz="quarter" idx="18"/>
          </p:nvPr>
        </p:nvSpPr>
        <p:spPr/>
        <p:txBody>
          <a:bodyPr/>
          <a:lstStyle/>
          <a:p>
            <a:pPr fontAlgn="auto">
              <a:spcBef>
                <a:spcPts val="0"/>
              </a:spcBef>
              <a:spcAft>
                <a:spcPts val="0"/>
              </a:spcAft>
            </a:pPr>
            <a:fld id="{AA5FCFE5-FE56-4EF1-80A8-07776887C2A1}" type="slidenum">
              <a:rPr kumimoji="1" lang="ja-JP" altLang="en-US" smtClean="0"/>
              <a:t>‹#›</a:t>
            </a:fld>
            <a:endParaRPr kumimoji="1" lang="ja-JP" altLang="en-US"/>
          </a:p>
        </p:txBody>
      </p:sp>
      <p:sp>
        <p:nvSpPr>
          <p:cNvPr id="3"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基本版） タイトルのみ_Header上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スライド番号プレースホルダ 3"/>
          <p:cNvSpPr>
            <a:spLocks noGrp="1"/>
          </p:cNvSpPr>
          <p:nvPr>
            <p:ph type="sldNum" sz="quarter" idx="11"/>
          </p:nvPr>
        </p:nvSpPr>
        <p:spPr bwMode="gray"/>
        <p:txBody>
          <a:bodyPr/>
          <a:lstStyle>
            <a:lvl1pPr>
              <a:defRPr>
                <a:solidFill>
                  <a:schemeClr val="tx1"/>
                </a:solidFill>
              </a:defRPr>
            </a:lvl1pPr>
          </a:lstStyle>
          <a:p>
            <a:fld id="{AA5FCFE5-FE56-4EF1-80A8-07776887C2A1}" type="slidenum">
              <a:rPr lang="ja-JP" altLang="en-US" smtClean="0"/>
              <a:t>‹#›</a:t>
            </a:fld>
            <a:endParaRPr lang="ja-JP" altLang="en-US"/>
          </a:p>
        </p:txBody>
      </p:sp>
      <p:sp>
        <p:nvSpPr>
          <p:cNvPr id="9" name="テキスト プレースホルダー 2"/>
          <p:cNvSpPr>
            <a:spLocks noGrp="1"/>
          </p:cNvSpPr>
          <p:nvPr>
            <p:ph type="body" sz="quarter" idx="15" hasCustomPrompt="1"/>
          </p:nvPr>
        </p:nvSpPr>
        <p:spPr bwMode="gray">
          <a:xfrm>
            <a:off x="478798" y="180000"/>
            <a:ext cx="11232000" cy="369332"/>
          </a:xfrm>
          <a:prstGeom prst="rect">
            <a:avLst/>
          </a:prstGeom>
        </p:spPr>
        <p:txBody>
          <a:bodyPr wrap="none" tIns="0" anchor="t" anchorCtr="0">
            <a:noAutofit/>
          </a:bodyPr>
          <a:lstStyle>
            <a:lvl1pPr>
              <a:lnSpc>
                <a:spcPct val="100000"/>
              </a:lnSpc>
              <a:spcBef>
                <a:spcPts val="0"/>
              </a:spcBef>
              <a:defRPr sz="2400" b="1" baseline="0">
                <a:solidFill>
                  <a:schemeClr val="tx1"/>
                </a:solidFill>
                <a:latin typeface="+mj-lt"/>
                <a:ea typeface="+mj-ea"/>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a:xfrm>
            <a:off x="480000" y="684000"/>
            <a:ext cx="11232000" cy="576000"/>
          </a:xfrm>
        </p:spPr>
        <p:txBody>
          <a:bodyPr vert="horz" anchor="t" anchorCtr="0">
            <a:noAutofit/>
          </a:bodyPr>
          <a:lstStyle>
            <a:lvl1pPr>
              <a:defRPr sz="1800" b="0" baseline="0">
                <a:latin typeface="+mn-lt"/>
                <a:ea typeface="+mn-ea"/>
              </a:defRPr>
            </a:lvl1pPr>
          </a:lstStyle>
          <a:p>
            <a:r>
              <a:rPr lang="ja-JP" altLang="en-US"/>
              <a:t>キーメッセージを入力（本スライドで一番伝えたいこと＜名詞止め・体言止め不可＞）</a:t>
            </a:r>
            <a:endParaRPr kumimoji="1" lang="ja-JP" altLang="en-US"/>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基本版） コンテンツ左サイド_レベル_16:9">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コンテンツ プレースホルダ 2"/>
          <p:cNvSpPr>
            <a:spLocks noGrp="1"/>
          </p:cNvSpPr>
          <p:nvPr>
            <p:ph idx="1"/>
          </p:nvPr>
        </p:nvSpPr>
        <p:spPr bwMode="gray">
          <a:xfrm>
            <a:off x="480000" y="1476000"/>
            <a:ext cx="5436000" cy="4824000"/>
          </a:xfrm>
          <a:prstGeom prst="rect">
            <a:avLst/>
          </a:prstGeom>
        </p:spPr>
        <p:txBody>
          <a:bodyPr/>
          <a:lstStyle>
            <a:lvl1pPr>
              <a:lnSpc>
                <a:spcPct val="110000"/>
              </a:lnSpc>
              <a:spcBef>
                <a:spcPts val="600"/>
              </a:spcBef>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marR="0" indent="-179705" algn="l" defTabSz="989330" rtl="0" eaLnBrk="1" fontAlgn="auto" latinLnBrk="0" hangingPunct="1">
              <a:lnSpc>
                <a:spcPct val="110000"/>
              </a:lnSpc>
              <a:spcBef>
                <a:spcPts val="600"/>
              </a:spcBef>
              <a:spcAft>
                <a:spcPts val="0"/>
              </a:spcAft>
              <a:buClrTx/>
              <a:buSzTx/>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6" name="スライド番号プレースホルダ 5"/>
          <p:cNvSpPr>
            <a:spLocks noGrp="1"/>
          </p:cNvSpPr>
          <p:nvPr>
            <p:ph type="sldNum" sz="quarter" idx="10"/>
          </p:nvPr>
        </p:nvSpPr>
        <p:spPr bwMode="gray"/>
        <p:txBody>
          <a:bodyPr/>
          <a:lstStyle>
            <a:lvl1pPr>
              <a:defRPr baseline="0">
                <a:solidFill>
                  <a:schemeClr val="tx1"/>
                </a:solidFill>
                <a:latin typeface="+mn-lt"/>
              </a:defRPr>
            </a:lvl1pPr>
          </a:lstStyle>
          <a:p>
            <a:fld id="{0822A2BF-4EE5-45F6-88E1-9AA10A8C672A}" type="slidenum">
              <a:rPr lang="ja-JP" altLang="en-US" smtClean="0"/>
              <a:t>‹#›</a:t>
            </a:fld>
            <a:endParaRPr lang="ja-JP" altLang="en-US"/>
          </a:p>
        </p:txBody>
      </p:sp>
      <p:sp>
        <p:nvSpPr>
          <p:cNvPr id="3" name="テキスト プレースホルダー 2"/>
          <p:cNvSpPr>
            <a:spLocks noGrp="1"/>
          </p:cNvSpPr>
          <p:nvPr>
            <p:ph type="body" sz="quarter" idx="12" hasCustomPrompt="1"/>
          </p:nvPr>
        </p:nvSpPr>
        <p:spPr bwMode="gray">
          <a:xfrm>
            <a:off x="480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a:xfrm>
            <a:off x="480000" y="108000"/>
            <a:ext cx="11232000" cy="738000"/>
          </a:xfrm>
        </p:spPr>
        <p:txBody>
          <a:bodyPr/>
          <a:lstStyle/>
          <a:p>
            <a:r>
              <a:rPr lang="ja-JP" altLang="en-US"/>
              <a:t>キーメッセージを入力（本スライドで一番伝えたいこと＜名詞止め・体言止め不可＞）</a:t>
            </a:r>
            <a:endParaRPr kumimoji="1" lang="ja-JP" altLang="en-US"/>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基本版） コンテンツ両サイド_レベル_16:9">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コンテンツ プレースホルダ 2"/>
          <p:cNvSpPr>
            <a:spLocks noGrp="1"/>
          </p:cNvSpPr>
          <p:nvPr>
            <p:ph idx="1"/>
          </p:nvPr>
        </p:nvSpPr>
        <p:spPr bwMode="gray">
          <a:xfrm>
            <a:off x="480000" y="1476000"/>
            <a:ext cx="5436000" cy="4824000"/>
          </a:xfrm>
          <a:prstGeom prst="rect">
            <a:avLst/>
          </a:prstGeom>
        </p:spPr>
        <p:txBody>
          <a:bodyPr/>
          <a:lstStyle>
            <a:lvl1pPr>
              <a:lnSpc>
                <a:spcPct val="110000"/>
              </a:lnSpc>
              <a:spcBef>
                <a:spcPts val="600"/>
              </a:spcBef>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marR="0" indent="-179705" algn="l" defTabSz="989330" rtl="0" eaLnBrk="1" fontAlgn="auto" latinLnBrk="0" hangingPunct="1">
              <a:lnSpc>
                <a:spcPct val="110000"/>
              </a:lnSpc>
              <a:spcBef>
                <a:spcPts val="600"/>
              </a:spcBef>
              <a:spcAft>
                <a:spcPts val="0"/>
              </a:spcAft>
              <a:buClrTx/>
              <a:buSzTx/>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コンテンツ プレースホルダ 2"/>
          <p:cNvSpPr>
            <a:spLocks noGrp="1"/>
          </p:cNvSpPr>
          <p:nvPr>
            <p:ph idx="12"/>
          </p:nvPr>
        </p:nvSpPr>
        <p:spPr bwMode="gray">
          <a:xfrm>
            <a:off x="6276000" y="1476000"/>
            <a:ext cx="5436000" cy="4824000"/>
          </a:xfrm>
          <a:prstGeom prst="rect">
            <a:avLst/>
          </a:prstGeom>
        </p:spPr>
        <p:txBody>
          <a:bodyPr/>
          <a:lstStyle>
            <a:lvl1pPr>
              <a:lnSpc>
                <a:spcPct val="110000"/>
              </a:lnSpc>
              <a:spcBef>
                <a:spcPts val="600"/>
              </a:spcBef>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indent="-179705">
              <a:lnSpc>
                <a:spcPct val="110000"/>
              </a:lnSpc>
              <a:spcBef>
                <a:spcPts val="600"/>
              </a:spcBef>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0" name="スライド番号プレースホルダ 9"/>
          <p:cNvSpPr>
            <a:spLocks noGrp="1"/>
          </p:cNvSpPr>
          <p:nvPr>
            <p:ph type="sldNum" sz="quarter" idx="13"/>
          </p:nvPr>
        </p:nvSpPr>
        <p:spPr bwMode="gray"/>
        <p:txBody>
          <a:bodyPr/>
          <a:lstStyle>
            <a:lvl1pPr>
              <a:defRPr baseline="0">
                <a:solidFill>
                  <a:schemeClr val="tx1"/>
                </a:solidFill>
                <a:latin typeface="+mn-lt"/>
              </a:defRPr>
            </a:lvl1pPr>
          </a:lstStyle>
          <a:p>
            <a:fld id="{A3EB1B23-9AF8-425B-BAD7-B9FA00F18833}" type="slidenum">
              <a:rPr lang="ja-JP" altLang="en-US" smtClean="0"/>
              <a:t>‹#›</a:t>
            </a:fld>
            <a:endParaRPr lang="ja-JP" altLang="en-US"/>
          </a:p>
        </p:txBody>
      </p:sp>
      <p:sp>
        <p:nvSpPr>
          <p:cNvPr id="3" name="テキスト プレースホルダー 2"/>
          <p:cNvSpPr>
            <a:spLocks noGrp="1"/>
          </p:cNvSpPr>
          <p:nvPr>
            <p:ph type="body" sz="quarter" idx="15" hasCustomPrompt="1"/>
          </p:nvPr>
        </p:nvSpPr>
        <p:spPr bwMode="gray">
          <a:xfrm>
            <a:off x="480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13" name="テキスト プレースホルダー 2"/>
          <p:cNvSpPr>
            <a:spLocks noGrp="1"/>
          </p:cNvSpPr>
          <p:nvPr>
            <p:ph type="body" sz="quarter" idx="16" hasCustomPrompt="1"/>
          </p:nvPr>
        </p:nvSpPr>
        <p:spPr bwMode="gray">
          <a:xfrm>
            <a:off x="6276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a:xfrm>
            <a:off x="480000" y="108000"/>
            <a:ext cx="11232000" cy="738000"/>
          </a:xfrm>
        </p:spPr>
        <p:txBody>
          <a:bodyPr/>
          <a:lstStyle/>
          <a:p>
            <a:r>
              <a:rPr lang="ja-JP" altLang="en-US"/>
              <a:t>キーメッセージを入力（本スライドで一番伝えたいこと＜名詞止め・体言止め不可＞）</a:t>
            </a:r>
            <a:endParaRPr kumimoji="1" lang="ja-JP" altLang="en-US"/>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基本版） コンテンツ全面_レベル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コンテンツ プレースホルダ 2"/>
          <p:cNvSpPr>
            <a:spLocks noGrp="1"/>
          </p:cNvSpPr>
          <p:nvPr>
            <p:ph idx="1"/>
          </p:nvPr>
        </p:nvSpPr>
        <p:spPr bwMode="gray">
          <a:xfrm>
            <a:off x="480000" y="1476000"/>
            <a:ext cx="11232000" cy="4824000"/>
          </a:xfrm>
          <a:prstGeom prst="rect">
            <a:avLst/>
          </a:prstGeom>
        </p:spPr>
        <p:txBody>
          <a:bodyPr/>
          <a:lstStyle>
            <a:lvl1pPr>
              <a:lnSpc>
                <a:spcPct val="110000"/>
              </a:lnSpc>
              <a:spcBef>
                <a:spcPts val="600"/>
              </a:spcBef>
              <a:buFont typeface="Arial" panose="020B0604020202020204" pitchFamily="34" charset="0"/>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indent="-179705">
              <a:lnSpc>
                <a:spcPct val="110000"/>
              </a:lnSpc>
              <a:spcBef>
                <a:spcPts val="600"/>
              </a:spcBef>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スライド番号プレースホルダ 8"/>
          <p:cNvSpPr>
            <a:spLocks noGrp="1"/>
          </p:cNvSpPr>
          <p:nvPr>
            <p:ph type="sldNum" sz="quarter" idx="10"/>
          </p:nvPr>
        </p:nvSpPr>
        <p:spPr bwMode="gray"/>
        <p:txBody>
          <a:bodyPr/>
          <a:lstStyle>
            <a:lvl1pPr>
              <a:defRPr baseline="0">
                <a:solidFill>
                  <a:schemeClr val="tx1"/>
                </a:solidFill>
                <a:latin typeface="+mn-lt"/>
              </a:defRPr>
            </a:lvl1pPr>
          </a:lstStyle>
          <a:p>
            <a:fld id="{543A0986-838B-4D2A-A95C-8CB1738263FE}" type="slidenum">
              <a:rPr lang="ja-JP" altLang="en-US" smtClean="0"/>
              <a:t>‹#›</a:t>
            </a:fld>
            <a:endParaRPr lang="ja-JP" altLang="en-US"/>
          </a:p>
        </p:txBody>
      </p:sp>
      <p:sp>
        <p:nvSpPr>
          <p:cNvPr id="8" name="テキスト プレースホルダー 2"/>
          <p:cNvSpPr>
            <a:spLocks noGrp="1"/>
          </p:cNvSpPr>
          <p:nvPr>
            <p:ph type="body" sz="quarter" idx="15" hasCustomPrompt="1"/>
          </p:nvPr>
        </p:nvSpPr>
        <p:spPr bwMode="gray">
          <a:xfrm>
            <a:off x="480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3" name="タイトル 2"/>
          <p:cNvSpPr>
            <a:spLocks noGrp="1"/>
          </p:cNvSpPr>
          <p:nvPr>
            <p:ph type="title" hasCustomPrompt="1"/>
          </p:nvPr>
        </p:nvSpPr>
        <p:spPr bwMode="gray">
          <a:xfrm>
            <a:off x="480000" y="108000"/>
            <a:ext cx="11232000" cy="738000"/>
          </a:xfrm>
        </p:spPr>
        <p:txBody>
          <a:bodyPr/>
          <a:lstStyle/>
          <a:p>
            <a:r>
              <a:rPr lang="ja-JP" altLang="en-US"/>
              <a:t>キーメッセージを入力（本スライドで一番伝えたいこと＜名詞止め・体言止め不可＞）</a:t>
            </a:r>
            <a:endParaRPr kumimoji="1" lang="ja-JP" altLang="en-US"/>
          </a:p>
        </p:txBody>
      </p:sp>
      <p:sp>
        <p:nvSpPr>
          <p:cNvPr id="4"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白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2" name="図 11"/>
          <p:cNvPicPr>
            <a:picLocks noChangeAspect="1"/>
          </p:cNvPicPr>
          <p:nvPr userDrawn="1"/>
        </p:nvPicPr>
        <p:blipFill>
          <a:blip r:embed="rId5"/>
          <a:stretch>
            <a:fillRect/>
          </a:stretch>
        </p:blipFill>
        <p:spPr bwMode="gray">
          <a:xfrm>
            <a:off x="10270800" y="5472000"/>
            <a:ext cx="1440000" cy="873776"/>
          </a:xfrm>
          <a:prstGeom prst="rect">
            <a:avLst/>
          </a:prstGeom>
        </p:spPr>
      </p:pic>
      <p:pic>
        <p:nvPicPr>
          <p:cNvPr id="7" name="図 6"/>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bwMode="gray">
          <a:xfrm>
            <a:off x="478800" y="432000"/>
            <a:ext cx="2016000" cy="631680"/>
          </a:xfrm>
          <a:prstGeom prst="rect">
            <a:avLst/>
          </a:prstGeom>
        </p:spPr>
      </p:pic>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prstClr val="black"/>
                </a:solidFill>
                <a:latin typeface="+mn-lt"/>
                <a:cs typeface="+mn-cs"/>
                <a:sym typeface="+mn-lt"/>
              </a:rPr>
              <a:t>Member of</a:t>
            </a:r>
            <a:br>
              <a:rPr kumimoji="1" lang="en-US" altLang="ja-JP" sz="800">
                <a:solidFill>
                  <a:prstClr val="black"/>
                </a:solidFill>
                <a:latin typeface="+mn-lt"/>
                <a:cs typeface="+mn-cs"/>
                <a:sym typeface="+mn-lt"/>
              </a:rPr>
            </a:br>
            <a:r>
              <a:rPr kumimoji="1" lang="en-US" altLang="ja-JP" sz="800" b="1">
                <a:solidFill>
                  <a:prstClr val="black"/>
                </a:solidFill>
                <a:latin typeface="+mn-lt"/>
                <a:cs typeface="+mn-cs"/>
                <a:sym typeface="+mn-lt"/>
              </a:rPr>
              <a:t>Deloitte Touche Tohmatsu Limited</a:t>
            </a:r>
            <a:endParaRPr kumimoji="1" lang="ja-JP" altLang="en-US" sz="800" b="1">
              <a:solidFill>
                <a:prstClr val="black"/>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2022. For information, contact Deloitte Tohmatsu Group.</a:t>
            </a:r>
          </a:p>
        </p:txBody>
      </p:sp>
    </p:spTree>
  </p:cSld>
  <p:clrMapOvr>
    <a:masterClrMapping/>
  </p:clrMapOvr>
  <p:hf hdr="0"/>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黒_16:9">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schemeClr val="bg1"/>
                </a:solidFill>
                <a:latin typeface="+mn-lt"/>
                <a:cs typeface="+mn-cs"/>
                <a:sym typeface="+mn-lt"/>
              </a:rPr>
              <a:t>Member of</a:t>
            </a:r>
            <a:br>
              <a:rPr kumimoji="1" lang="en-US" altLang="ja-JP" sz="800">
                <a:solidFill>
                  <a:schemeClr val="bg1"/>
                </a:solidFill>
                <a:latin typeface="+mn-lt"/>
                <a:cs typeface="+mn-cs"/>
                <a:sym typeface="+mn-lt"/>
              </a:rPr>
            </a:br>
            <a:r>
              <a:rPr kumimoji="1" lang="en-US" altLang="ja-JP" sz="800" b="1">
                <a:solidFill>
                  <a:schemeClr val="bg1"/>
                </a:solidFill>
                <a:latin typeface="+mn-lt"/>
                <a:cs typeface="+mn-cs"/>
                <a:sym typeface="+mn-lt"/>
              </a:rPr>
              <a:t>Deloitte Touche Tohmatsu Limited</a:t>
            </a:r>
            <a:endParaRPr kumimoji="1" lang="ja-JP" altLang="en-US" sz="800" b="1">
              <a:solidFill>
                <a:schemeClr val="bg1"/>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solidFill>
                  <a:schemeClr val="bg1"/>
                </a:solidFill>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bg1"/>
                </a:solidFill>
                <a:latin typeface="+mn-lt"/>
                <a:ea typeface="+mn-ea"/>
                <a:cs typeface="+mn-cs"/>
                <a:sym typeface="+mn-lt"/>
              </a:rPr>
              <a:t>© 2022. For information, contact Deloitte Tohmatsu Group.</a:t>
            </a:r>
          </a:p>
        </p:txBody>
      </p:sp>
      <p:pic>
        <p:nvPicPr>
          <p:cNvPr id="8" name="図 7"/>
          <p:cNvPicPr>
            <a:picLocks noChangeAspect="1"/>
          </p:cNvPicPr>
          <p:nvPr userDrawn="1"/>
        </p:nvPicPr>
        <p:blipFill>
          <a:blip r:embed="rId5"/>
          <a:stretch>
            <a:fillRect/>
          </a:stretch>
        </p:blipFill>
        <p:spPr bwMode="gray">
          <a:xfrm>
            <a:off x="10270800" y="5472000"/>
            <a:ext cx="1440000" cy="873776"/>
          </a:xfrm>
          <a:prstGeom prst="rect">
            <a:avLst/>
          </a:prstGeom>
        </p:spPr>
      </p:pic>
      <p:pic>
        <p:nvPicPr>
          <p:cNvPr id="9" name="図 8"/>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bwMode="gray">
          <a:xfrm>
            <a:off x="478800" y="431999"/>
            <a:ext cx="2016000" cy="627200"/>
          </a:xfrm>
          <a:prstGeom prst="rect">
            <a:avLst/>
          </a:prstGeom>
        </p:spPr>
      </p:pic>
    </p:spTree>
  </p:cSld>
  <p:clrMapOvr>
    <a:masterClrMapping/>
  </p:clrMapOvr>
  <p:hf hdr="0"/>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白_トーマツロゴ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2" name="図 11"/>
          <p:cNvPicPr>
            <a:picLocks noChangeAspect="1"/>
          </p:cNvPicPr>
          <p:nvPr userDrawn="1"/>
        </p:nvPicPr>
        <p:blipFill>
          <a:blip r:embed="rId5"/>
          <a:stretch>
            <a:fillRect/>
          </a:stretch>
        </p:blipFill>
        <p:spPr bwMode="gray">
          <a:xfrm>
            <a:off x="10270800" y="5472000"/>
            <a:ext cx="1440000" cy="873776"/>
          </a:xfrm>
          <a:prstGeom prst="rect">
            <a:avLst/>
          </a:prstGeom>
        </p:spPr>
      </p:pic>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prstClr val="black"/>
                </a:solidFill>
                <a:latin typeface="+mn-lt"/>
                <a:cs typeface="+mn-cs"/>
                <a:sym typeface="+mn-lt"/>
              </a:rPr>
              <a:t>Member of</a:t>
            </a:r>
            <a:br>
              <a:rPr kumimoji="1" lang="en-US" altLang="ja-JP" sz="800">
                <a:solidFill>
                  <a:prstClr val="black"/>
                </a:solidFill>
                <a:latin typeface="+mn-lt"/>
                <a:cs typeface="+mn-cs"/>
                <a:sym typeface="+mn-lt"/>
              </a:rPr>
            </a:br>
            <a:r>
              <a:rPr kumimoji="1" lang="en-US" altLang="ja-JP" sz="800" b="1">
                <a:solidFill>
                  <a:prstClr val="black"/>
                </a:solidFill>
                <a:latin typeface="+mn-lt"/>
                <a:cs typeface="+mn-cs"/>
                <a:sym typeface="+mn-lt"/>
              </a:rPr>
              <a:t>Deloitte Touche Tohmatsu Limited</a:t>
            </a:r>
            <a:endParaRPr kumimoji="1" lang="ja-JP" altLang="en-US" sz="800" b="1">
              <a:solidFill>
                <a:prstClr val="black"/>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2022. For information, contact Deloitte Tohmatsu Group.</a:t>
            </a:r>
          </a:p>
        </p:txBody>
      </p:sp>
      <p:pic>
        <p:nvPicPr>
          <p:cNvPr id="8" name="図 7"/>
          <p:cNvPicPr>
            <a:picLocks noChangeAspect="1"/>
          </p:cNvPicPr>
          <p:nvPr userDrawn="1"/>
        </p:nvPicPr>
        <p:blipFill rotWithShape="1">
          <a:blip r:embed="rId6">
            <a:extLst>
              <a:ext uri="{28A0092B-C50C-407E-A947-70E740481C1C}">
                <a14:useLocalDpi xmlns:a14="http://schemas.microsoft.com/office/drawing/2010/main" val="0"/>
              </a:ext>
            </a:extLst>
          </a:blip>
          <a:srcRect/>
          <a:stretch>
            <a:fillRect/>
          </a:stretch>
        </p:blipFill>
        <p:spPr bwMode="gray">
          <a:xfrm>
            <a:off x="478800" y="431005"/>
            <a:ext cx="3721455" cy="632962"/>
          </a:xfrm>
          <a:prstGeom prst="rect">
            <a:avLst/>
          </a:prstGeom>
          <a:noFill/>
          <a:ln>
            <a:noFill/>
          </a:ln>
        </p:spPr>
      </p:pic>
    </p:spTree>
  </p:cSld>
  <p:clrMapOvr>
    <a:masterClrMapping/>
  </p:clrMapOvr>
  <p:hf hdr="0"/>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黒_トーマツロゴ_16:9">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schemeClr val="bg1"/>
                </a:solidFill>
                <a:latin typeface="+mn-lt"/>
                <a:cs typeface="+mn-cs"/>
                <a:sym typeface="+mn-lt"/>
              </a:rPr>
              <a:t>Member of</a:t>
            </a:r>
            <a:br>
              <a:rPr kumimoji="1" lang="en-US" altLang="ja-JP" sz="800">
                <a:solidFill>
                  <a:schemeClr val="bg1"/>
                </a:solidFill>
                <a:latin typeface="+mn-lt"/>
                <a:cs typeface="+mn-cs"/>
                <a:sym typeface="+mn-lt"/>
              </a:rPr>
            </a:br>
            <a:r>
              <a:rPr kumimoji="1" lang="en-US" altLang="ja-JP" sz="800" b="1">
                <a:solidFill>
                  <a:schemeClr val="bg1"/>
                </a:solidFill>
                <a:latin typeface="+mn-lt"/>
                <a:cs typeface="+mn-cs"/>
                <a:sym typeface="+mn-lt"/>
              </a:rPr>
              <a:t>Deloitte Touche Tohmatsu Limited</a:t>
            </a:r>
            <a:endParaRPr kumimoji="1" lang="ja-JP" altLang="en-US" sz="800" b="1">
              <a:solidFill>
                <a:schemeClr val="bg1"/>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solidFill>
                  <a:schemeClr val="bg1"/>
                </a:solidFill>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bg1"/>
                </a:solidFill>
                <a:latin typeface="+mn-lt"/>
                <a:ea typeface="+mn-ea"/>
                <a:cs typeface="+mn-cs"/>
                <a:sym typeface="+mn-lt"/>
              </a:rPr>
              <a:t>© 2022. For information, contact Deloitte Tohmatsu Group.</a:t>
            </a:r>
          </a:p>
        </p:txBody>
      </p:sp>
      <p:pic>
        <p:nvPicPr>
          <p:cNvPr id="8" name="図 7"/>
          <p:cNvPicPr>
            <a:picLocks noChangeAspect="1"/>
          </p:cNvPicPr>
          <p:nvPr userDrawn="1"/>
        </p:nvPicPr>
        <p:blipFill>
          <a:blip r:embed="rId5"/>
          <a:stretch>
            <a:fillRect/>
          </a:stretch>
        </p:blipFill>
        <p:spPr bwMode="gray">
          <a:xfrm>
            <a:off x="10270800" y="5472000"/>
            <a:ext cx="1440000" cy="873776"/>
          </a:xfrm>
          <a:prstGeom prst="rect">
            <a:avLst/>
          </a:prstGeom>
        </p:spPr>
      </p:pic>
      <p:pic>
        <p:nvPicPr>
          <p:cNvPr id="10" name="図 9"/>
          <p:cNvPicPr>
            <a:picLocks noChangeAspect="1"/>
          </p:cNvPicPr>
          <p:nvPr userDrawn="1"/>
        </p:nvPicPr>
        <p:blipFill rotWithShape="1">
          <a:blip r:embed="rId6">
            <a:extLst>
              <a:ext uri="{28A0092B-C50C-407E-A947-70E740481C1C}">
                <a14:useLocalDpi xmlns:a14="http://schemas.microsoft.com/office/drawing/2010/main" val="0"/>
              </a:ext>
            </a:extLst>
          </a:blip>
          <a:srcRect/>
          <a:stretch>
            <a:fillRect/>
          </a:stretch>
        </p:blipFill>
        <p:spPr bwMode="gray">
          <a:xfrm>
            <a:off x="478800" y="431997"/>
            <a:ext cx="3725944" cy="632962"/>
          </a:xfrm>
          <a:prstGeom prst="rect">
            <a:avLst/>
          </a:prstGeom>
        </p:spPr>
      </p:pic>
    </p:spTree>
  </p:cSld>
  <p:clrMapOvr>
    <a:masterClrMapping/>
  </p:clrMapOvr>
  <p:hf hdr="0"/>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userDrawn="1">
  <p:cSld name="（基本版） 目次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13" name="Content Placeholder 3"/>
          <p:cNvSpPr>
            <a:spLocks noGrp="1"/>
          </p:cNvSpPr>
          <p:nvPr>
            <p:ph sz="quarter" idx="10"/>
          </p:nvPr>
        </p:nvSpPr>
        <p:spPr bwMode="gray">
          <a:xfrm>
            <a:off x="513231" y="1476000"/>
            <a:ext cx="5361231" cy="4824000"/>
          </a:xfrm>
          <a:prstGeom prst="rect">
            <a:avLst/>
          </a:prstGeom>
        </p:spPr>
        <p:txBody>
          <a:bodyPr/>
          <a:lstStyle>
            <a:lvl1pPr>
              <a:lnSpc>
                <a:spcPct val="110000"/>
              </a:lnSpc>
              <a:spcBef>
                <a:spcPts val="740"/>
              </a:spcBef>
              <a:tabLst>
                <a:tab pos="6704965" algn="r"/>
              </a:tabLst>
              <a:defRPr sz="1475">
                <a:latin typeface="+mn-lt"/>
                <a:ea typeface="+mn-ea"/>
                <a:cs typeface="+mn-cs"/>
                <a:sym typeface="+mn-lt"/>
              </a:defRPr>
            </a:lvl1pPr>
            <a:lvl2pPr>
              <a:lnSpc>
                <a:spcPct val="110000"/>
              </a:lnSpc>
              <a:spcBef>
                <a:spcPts val="740"/>
              </a:spcBef>
              <a:tabLst>
                <a:tab pos="6704965" algn="r"/>
              </a:tabLst>
              <a:defRPr sz="1475">
                <a:latin typeface="+mn-lt"/>
                <a:ea typeface="+mn-ea"/>
                <a:cs typeface="+mn-cs"/>
                <a:sym typeface="+mn-lt"/>
              </a:defRPr>
            </a:lvl2pPr>
            <a:lvl3pPr>
              <a:lnSpc>
                <a:spcPct val="110000"/>
              </a:lnSpc>
              <a:spcBef>
                <a:spcPts val="740"/>
              </a:spcBef>
              <a:tabLst>
                <a:tab pos="6704965" algn="r"/>
              </a:tabLst>
              <a:defRPr sz="1475">
                <a:latin typeface="+mn-lt"/>
                <a:ea typeface="+mn-ea"/>
                <a:cs typeface="+mn-cs"/>
                <a:sym typeface="+mn-lt"/>
              </a:defRPr>
            </a:lvl3pPr>
            <a:lvl4pPr>
              <a:lnSpc>
                <a:spcPct val="110000"/>
              </a:lnSpc>
              <a:spcBef>
                <a:spcPts val="740"/>
              </a:spcBef>
              <a:tabLst>
                <a:tab pos="6704965" algn="r"/>
              </a:tabLst>
              <a:defRPr sz="1475">
                <a:latin typeface="+mn-lt"/>
                <a:ea typeface="+mn-ea"/>
                <a:cs typeface="+mn-cs"/>
                <a:sym typeface="+mn-lt"/>
              </a:defRPr>
            </a:lvl4pPr>
            <a:lvl5pPr>
              <a:tabLst>
                <a:tab pos="67049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15" name="Content Placeholder 3"/>
          <p:cNvSpPr>
            <a:spLocks noGrp="1"/>
          </p:cNvSpPr>
          <p:nvPr>
            <p:ph sz="quarter" idx="20"/>
          </p:nvPr>
        </p:nvSpPr>
        <p:spPr bwMode="gray">
          <a:xfrm>
            <a:off x="6317538" y="1476000"/>
            <a:ext cx="5361231" cy="4824000"/>
          </a:xfrm>
          <a:prstGeom prst="rect">
            <a:avLst/>
          </a:prstGeom>
        </p:spPr>
        <p:txBody>
          <a:bodyPr/>
          <a:lstStyle>
            <a:lvl1pPr>
              <a:lnSpc>
                <a:spcPct val="110000"/>
              </a:lnSpc>
              <a:spcBef>
                <a:spcPts val="740"/>
              </a:spcBef>
              <a:tabLst>
                <a:tab pos="6704965" algn="r"/>
              </a:tabLst>
              <a:defRPr sz="1475">
                <a:latin typeface="+mn-lt"/>
                <a:ea typeface="+mn-ea"/>
                <a:cs typeface="+mn-cs"/>
                <a:sym typeface="+mn-lt"/>
              </a:defRPr>
            </a:lvl1pPr>
            <a:lvl2pPr>
              <a:lnSpc>
                <a:spcPct val="110000"/>
              </a:lnSpc>
              <a:spcBef>
                <a:spcPts val="740"/>
              </a:spcBef>
              <a:tabLst>
                <a:tab pos="6704965" algn="r"/>
              </a:tabLst>
              <a:defRPr sz="1475">
                <a:latin typeface="+mn-lt"/>
                <a:ea typeface="+mn-ea"/>
                <a:cs typeface="+mn-cs"/>
                <a:sym typeface="+mn-lt"/>
              </a:defRPr>
            </a:lvl2pPr>
            <a:lvl3pPr>
              <a:lnSpc>
                <a:spcPct val="110000"/>
              </a:lnSpc>
              <a:spcBef>
                <a:spcPts val="740"/>
              </a:spcBef>
              <a:tabLst>
                <a:tab pos="6704965" algn="r"/>
              </a:tabLst>
              <a:defRPr sz="1475">
                <a:latin typeface="+mn-lt"/>
                <a:ea typeface="+mn-ea"/>
                <a:cs typeface="+mn-cs"/>
                <a:sym typeface="+mn-lt"/>
              </a:defRPr>
            </a:lvl3pPr>
            <a:lvl4pPr>
              <a:lnSpc>
                <a:spcPct val="110000"/>
              </a:lnSpc>
              <a:spcBef>
                <a:spcPts val="740"/>
              </a:spcBef>
              <a:tabLst>
                <a:tab pos="6704965" algn="r"/>
              </a:tabLst>
              <a:defRPr sz="1475">
                <a:latin typeface="+mn-lt"/>
                <a:ea typeface="+mn-ea"/>
                <a:cs typeface="+mn-cs"/>
                <a:sym typeface="+mn-lt"/>
              </a:defRPr>
            </a:lvl4pPr>
            <a:lvl5pPr>
              <a:tabLst>
                <a:tab pos="67049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4" name="タイトル 3"/>
          <p:cNvSpPr>
            <a:spLocks noGrp="1"/>
          </p:cNvSpPr>
          <p:nvPr>
            <p:ph type="title"/>
          </p:nvPr>
        </p:nvSpPr>
        <p:spPr bwMode="gray"/>
        <p:txBody>
          <a:bodyPr vert="horz"/>
          <a:lstStyle>
            <a:lvl1pPr>
              <a:defRPr>
                <a:latin typeface="+mj-lt"/>
                <a:ea typeface="+mj-ea"/>
                <a:cs typeface="+mj-cs"/>
                <a:sym typeface="+mj-lt"/>
              </a:defRPr>
            </a:lvl1pPr>
          </a:lstStyle>
          <a:p>
            <a:r>
              <a:rPr kumimoji="1" lang="ja-JP" altLang="en-US"/>
              <a:t>マスター タイトルの書式設定</a:t>
            </a: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基本版） 中表紙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267199" y="2232000"/>
            <a:ext cx="6380308" cy="432000"/>
          </a:xfrm>
          <a:prstGeom prst="rect">
            <a:avLst/>
          </a:prstGeom>
          <a:noFill/>
        </p:spPr>
        <p:txBody>
          <a:bodyPr wrap="square" lIns="0" rIns="0" anchor="t" anchorCtr="0">
            <a:noAutofit/>
          </a:bodyPr>
          <a:lstStyle>
            <a:lvl1pPr marL="0" indent="0" algn="l">
              <a:lnSpc>
                <a:spcPct val="100000"/>
              </a:lnSpc>
              <a:spcBef>
                <a:spcPts val="0"/>
              </a:spcBef>
              <a:buNone/>
              <a:defRPr sz="3445" b="1" baseline="0">
                <a:solidFill>
                  <a:schemeClr val="tx1"/>
                </a:solidFill>
                <a:latin typeface="+mj-lt"/>
                <a:ea typeface="+mj-ea"/>
                <a:cs typeface="+mn-cs"/>
                <a:sym typeface="+mn-lt"/>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7" name="フッター プレースホルダ 6"/>
          <p:cNvSpPr>
            <a:spLocks noGrp="1"/>
          </p:cNvSpPr>
          <p:nvPr>
            <p:ph type="ftr" sz="quarter" idx="12"/>
          </p:nvPr>
        </p:nvSpPr>
        <p:spPr bwMode="gray">
          <a:xfrm>
            <a:off x="730800" y="6588000"/>
            <a:ext cx="5184000" cy="169200"/>
          </a:xfrm>
          <a:prstGeom prst="rect">
            <a:avLst/>
          </a:prstGeom>
        </p:spPr>
        <p:txBody>
          <a:bodyPr/>
          <a:lstStyle>
            <a:lvl1pPr>
              <a:defRPr>
                <a:solidFill>
                  <a:schemeClr val="tx1"/>
                </a:solidFill>
                <a:latin typeface="+mn-lt"/>
                <a:ea typeface="+mn-ea"/>
                <a:cs typeface="+mn-cs"/>
                <a:sym typeface="+mn-lt"/>
              </a:defRPr>
            </a:lvl1pPr>
          </a:lstStyle>
          <a:p>
            <a:r>
              <a:rPr lang="en-US" altLang="ja-JP"/>
              <a:t>Notes</a:t>
            </a:r>
            <a:r>
              <a:rPr lang="ja-JP" altLang="en-US"/>
              <a:t>アプリ刷新のご提案</a:t>
            </a:r>
            <a:endParaRPr lang="en-GB" altLang="en-GB"/>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基本版） コンテンツ両サイド_レベル_Proposal">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8" name="コンテンツ プレースホルダ 2"/>
          <p:cNvSpPr>
            <a:spLocks noGrp="1"/>
          </p:cNvSpPr>
          <p:nvPr>
            <p:ph idx="1"/>
          </p:nvPr>
        </p:nvSpPr>
        <p:spPr bwMode="gray">
          <a:xfrm>
            <a:off x="512610" y="1476000"/>
            <a:ext cx="5361231" cy="4824000"/>
          </a:xfrm>
          <a:prstGeom prst="rect">
            <a:avLst/>
          </a:prstGeom>
        </p:spPr>
        <p:txBody>
          <a:bodyPr/>
          <a:lstStyle>
            <a:lvl1pPr>
              <a:lnSpc>
                <a:spcPct val="110000"/>
              </a:lnSpc>
              <a:spcBef>
                <a:spcPts val="740"/>
              </a:spcBef>
              <a:buNone/>
              <a:defRPr sz="1475" baseline="0">
                <a:latin typeface="+mn-lt"/>
                <a:ea typeface="+mn-ea"/>
                <a:cs typeface="+mn-cs"/>
                <a:sym typeface="+mn-lt"/>
              </a:defRPr>
            </a:lvl1pPr>
            <a:lvl2pPr marL="221615" indent="-221615">
              <a:lnSpc>
                <a:spcPct val="110000"/>
              </a:lnSpc>
              <a:spcBef>
                <a:spcPts val="740"/>
              </a:spcBef>
              <a:buFont typeface="Wingdings" panose="05000000000000000000" pitchFamily="2" charset="2"/>
              <a:buChar char="n"/>
              <a:defRPr sz="1475" baseline="0">
                <a:latin typeface="+mn-lt"/>
                <a:ea typeface="+mn-ea"/>
                <a:cs typeface="+mn-cs"/>
                <a:sym typeface="+mn-lt"/>
              </a:defRPr>
            </a:lvl2pPr>
            <a:lvl3pPr marL="443230" indent="-221615">
              <a:lnSpc>
                <a:spcPct val="110000"/>
              </a:lnSpc>
              <a:spcBef>
                <a:spcPts val="740"/>
              </a:spcBef>
              <a:buFont typeface="Wingdings" panose="05000000000000000000" pitchFamily="2" charset="2"/>
              <a:buChar char="Ø"/>
              <a:defRPr sz="1475" baseline="0">
                <a:latin typeface="+mn-lt"/>
                <a:ea typeface="+mn-ea"/>
                <a:cs typeface="+mn-cs"/>
                <a:sym typeface="+mn-lt"/>
              </a:defRPr>
            </a:lvl3pPr>
            <a:lvl4pPr marL="620395" marR="0" indent="-177165" algn="l" defTabSz="1217295" rtl="0" eaLnBrk="1" fontAlgn="auto" latinLnBrk="0" hangingPunct="1">
              <a:lnSpc>
                <a:spcPct val="110000"/>
              </a:lnSpc>
              <a:spcBef>
                <a:spcPts val="740"/>
              </a:spcBef>
              <a:spcAft>
                <a:spcPts val="0"/>
              </a:spcAft>
              <a:buClrTx/>
              <a:buSzTx/>
              <a:buFont typeface="Arial" panose="020B0604020202020204" pitchFamily="34" charset="0"/>
              <a:buChar char="•"/>
              <a:defRPr sz="1475"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コンテンツ プレースホルダ 2"/>
          <p:cNvSpPr>
            <a:spLocks noGrp="1"/>
          </p:cNvSpPr>
          <p:nvPr>
            <p:ph idx="12"/>
          </p:nvPr>
        </p:nvSpPr>
        <p:spPr bwMode="gray">
          <a:xfrm>
            <a:off x="6316785" y="1476000"/>
            <a:ext cx="5361231" cy="4824000"/>
          </a:xfrm>
          <a:prstGeom prst="rect">
            <a:avLst/>
          </a:prstGeom>
        </p:spPr>
        <p:txBody>
          <a:bodyPr/>
          <a:lstStyle>
            <a:lvl1pPr>
              <a:lnSpc>
                <a:spcPct val="110000"/>
              </a:lnSpc>
              <a:spcBef>
                <a:spcPts val="740"/>
              </a:spcBef>
              <a:buNone/>
              <a:defRPr sz="1475" baseline="0">
                <a:latin typeface="+mn-lt"/>
                <a:ea typeface="+mn-ea"/>
                <a:cs typeface="+mn-cs"/>
                <a:sym typeface="+mn-lt"/>
              </a:defRPr>
            </a:lvl1pPr>
            <a:lvl2pPr marL="221615" indent="-221615">
              <a:lnSpc>
                <a:spcPct val="110000"/>
              </a:lnSpc>
              <a:spcBef>
                <a:spcPts val="740"/>
              </a:spcBef>
              <a:buFont typeface="Wingdings" panose="05000000000000000000" pitchFamily="2" charset="2"/>
              <a:buChar char="n"/>
              <a:defRPr sz="1475" baseline="0">
                <a:latin typeface="+mn-lt"/>
                <a:ea typeface="+mn-ea"/>
                <a:cs typeface="+mn-cs"/>
                <a:sym typeface="+mn-lt"/>
              </a:defRPr>
            </a:lvl2pPr>
            <a:lvl3pPr marL="443230" indent="-221615">
              <a:lnSpc>
                <a:spcPct val="110000"/>
              </a:lnSpc>
              <a:spcBef>
                <a:spcPts val="740"/>
              </a:spcBef>
              <a:buFont typeface="Wingdings" panose="05000000000000000000" pitchFamily="2" charset="2"/>
              <a:buChar char="Ø"/>
              <a:defRPr sz="1475" baseline="0">
                <a:latin typeface="+mn-lt"/>
                <a:ea typeface="+mn-ea"/>
                <a:cs typeface="+mn-cs"/>
                <a:sym typeface="+mn-lt"/>
              </a:defRPr>
            </a:lvl3pPr>
            <a:lvl4pPr marL="620395" indent="-177165">
              <a:lnSpc>
                <a:spcPct val="110000"/>
              </a:lnSpc>
              <a:spcBef>
                <a:spcPts val="740"/>
              </a:spcBef>
              <a:buFont typeface="Arial" panose="020B0604020202020204" pitchFamily="34" charset="0"/>
              <a:buChar char="•"/>
              <a:defRPr sz="1475"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0" name="スライド番号プレースホルダ 9"/>
          <p:cNvSpPr>
            <a:spLocks noGrp="1"/>
          </p:cNvSpPr>
          <p:nvPr>
            <p:ph type="sldNum" sz="quarter" idx="13"/>
          </p:nvPr>
        </p:nvSpPr>
        <p:spPr bwMode="gray"/>
        <p:txBody>
          <a:bodyPr/>
          <a:lstStyle>
            <a:lvl1pPr>
              <a:defRPr baseline="0">
                <a:solidFill>
                  <a:schemeClr val="tx1"/>
                </a:solidFill>
                <a:latin typeface="+mn-lt"/>
                <a:ea typeface="+mn-ea"/>
                <a:cs typeface="+mn-cs"/>
                <a:sym typeface="+mn-lt"/>
              </a:defRPr>
            </a:lvl1pPr>
          </a:lstStyle>
          <a:p>
            <a:fld id="{A3EB1B23-9AF8-425B-BAD7-B9FA00F18833}" type="slidenum">
              <a:rPr lang="ja-JP" altLang="en-US" smtClean="0"/>
              <a:t>‹#›</a:t>
            </a:fld>
            <a:endParaRPr lang="ja-JP" altLang="en-US"/>
          </a:p>
        </p:txBody>
      </p:sp>
      <p:sp>
        <p:nvSpPr>
          <p:cNvPr id="11" name="フッター プレースホルダ 10"/>
          <p:cNvSpPr>
            <a:spLocks noGrp="1"/>
          </p:cNvSpPr>
          <p:nvPr>
            <p:ph type="ftr" sz="quarter" idx="14"/>
          </p:nvPr>
        </p:nvSpPr>
        <p:spPr bwMode="gray">
          <a:xfrm>
            <a:off x="730800" y="6588000"/>
            <a:ext cx="5184000" cy="169200"/>
          </a:xfrm>
          <a:prstGeom prst="rect">
            <a:avLst/>
          </a:prstGeom>
        </p:spPr>
        <p:txBody>
          <a:bodyPr/>
          <a:lstStyle>
            <a:lvl1pPr>
              <a:defRPr baseline="0">
                <a:solidFill>
                  <a:schemeClr val="tx1"/>
                </a:solidFill>
                <a:latin typeface="+mn-lt"/>
                <a:ea typeface="+mn-ea"/>
                <a:cs typeface="+mn-cs"/>
                <a:sym typeface="+mn-lt"/>
              </a:defRPr>
            </a:lvl1pPr>
          </a:lstStyle>
          <a:p>
            <a:r>
              <a:rPr lang="en-US" altLang="ja-JP"/>
              <a:t>Notes</a:t>
            </a:r>
            <a:r>
              <a:rPr lang="ja-JP" altLang="en-US"/>
              <a:t>アプリ刷新のご提案</a:t>
            </a:r>
            <a:endParaRPr lang="en-GB" altLang="en-GB"/>
          </a:p>
        </p:txBody>
      </p:sp>
      <p:sp>
        <p:nvSpPr>
          <p:cNvPr id="3"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725"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13" name="テキスト プレースホルダー 2"/>
          <p:cNvSpPr>
            <a:spLocks noGrp="1"/>
          </p:cNvSpPr>
          <p:nvPr>
            <p:ph type="body" sz="quarter" idx="16" hasCustomPrompt="1"/>
          </p:nvPr>
        </p:nvSpPr>
        <p:spPr bwMode="gray">
          <a:xfrm>
            <a:off x="6316785" y="1008000"/>
            <a:ext cx="5361231" cy="468000"/>
          </a:xfrm>
          <a:prstGeom prst="rect">
            <a:avLst/>
          </a:prstGeom>
        </p:spPr>
        <p:txBody>
          <a:bodyPr wrap="none" anchor="ctr">
            <a:noAutofit/>
          </a:bodyPr>
          <a:lstStyle>
            <a:lvl1pPr>
              <a:lnSpc>
                <a:spcPct val="100000"/>
              </a:lnSpc>
              <a:spcBef>
                <a:spcPts val="0"/>
              </a:spcBef>
              <a:defRPr sz="1725"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基本版） コンテンツ全面_レベル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6" name="コンテンツ プレースホルダ 2"/>
          <p:cNvSpPr>
            <a:spLocks noGrp="1"/>
          </p:cNvSpPr>
          <p:nvPr>
            <p:ph idx="1"/>
          </p:nvPr>
        </p:nvSpPr>
        <p:spPr bwMode="gray">
          <a:xfrm>
            <a:off x="513230" y="1476000"/>
            <a:ext cx="11165538" cy="4824000"/>
          </a:xfrm>
          <a:prstGeom prst="rect">
            <a:avLst/>
          </a:prstGeom>
        </p:spPr>
        <p:txBody>
          <a:bodyPr/>
          <a:lstStyle>
            <a:lvl1pPr>
              <a:lnSpc>
                <a:spcPct val="110000"/>
              </a:lnSpc>
              <a:spcBef>
                <a:spcPts val="740"/>
              </a:spcBef>
              <a:buFont typeface="Arial" panose="020B0604020202020204" pitchFamily="34" charset="0"/>
              <a:buNone/>
              <a:defRPr sz="1475" baseline="0">
                <a:latin typeface="+mn-lt"/>
                <a:ea typeface="+mn-ea"/>
                <a:cs typeface="+mn-cs"/>
                <a:sym typeface="+mn-lt"/>
              </a:defRPr>
            </a:lvl1pPr>
            <a:lvl2pPr marL="221615" indent="-221615">
              <a:lnSpc>
                <a:spcPct val="110000"/>
              </a:lnSpc>
              <a:spcBef>
                <a:spcPts val="740"/>
              </a:spcBef>
              <a:buFont typeface="Wingdings" panose="05000000000000000000" pitchFamily="2" charset="2"/>
              <a:buChar char="n"/>
              <a:defRPr sz="1475" baseline="0">
                <a:latin typeface="+mn-lt"/>
                <a:ea typeface="+mn-ea"/>
                <a:cs typeface="+mn-cs"/>
                <a:sym typeface="+mn-lt"/>
              </a:defRPr>
            </a:lvl2pPr>
            <a:lvl3pPr marL="443230" indent="-221615">
              <a:lnSpc>
                <a:spcPct val="110000"/>
              </a:lnSpc>
              <a:spcBef>
                <a:spcPts val="740"/>
              </a:spcBef>
              <a:buFont typeface="Wingdings" panose="05000000000000000000" pitchFamily="2" charset="2"/>
              <a:buChar char="Ø"/>
              <a:defRPr sz="1475" baseline="0">
                <a:latin typeface="+mn-lt"/>
                <a:ea typeface="+mn-ea"/>
                <a:cs typeface="+mn-cs"/>
                <a:sym typeface="+mn-lt"/>
              </a:defRPr>
            </a:lvl3pPr>
            <a:lvl4pPr marL="620395" indent="-177165">
              <a:lnSpc>
                <a:spcPct val="110000"/>
              </a:lnSpc>
              <a:spcBef>
                <a:spcPts val="740"/>
              </a:spcBef>
              <a:buFont typeface="Arial" panose="020B0604020202020204" pitchFamily="34" charset="0"/>
              <a:buChar char="•"/>
              <a:defRPr sz="1475"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スライド番号プレースホルダ 8"/>
          <p:cNvSpPr>
            <a:spLocks noGrp="1"/>
          </p:cNvSpPr>
          <p:nvPr>
            <p:ph type="sldNum" sz="quarter" idx="10"/>
          </p:nvPr>
        </p:nvSpPr>
        <p:spPr bwMode="gray"/>
        <p:txBody>
          <a:bodyPr/>
          <a:lstStyle>
            <a:lvl1pPr>
              <a:defRPr baseline="0">
                <a:solidFill>
                  <a:schemeClr val="tx1"/>
                </a:solidFill>
                <a:latin typeface="+mn-lt"/>
                <a:ea typeface="+mn-ea"/>
                <a:cs typeface="+mn-cs"/>
                <a:sym typeface="+mn-lt"/>
              </a:defRPr>
            </a:lvl1pPr>
          </a:lstStyle>
          <a:p>
            <a:fld id="{543A0986-838B-4D2A-A95C-8CB1738263FE}" type="slidenum">
              <a:rPr lang="ja-JP" altLang="en-US" smtClean="0"/>
              <a:t>‹#›</a:t>
            </a:fld>
            <a:endParaRPr lang="ja-JP" altLang="en-US"/>
          </a:p>
        </p:txBody>
      </p:sp>
      <p:sp>
        <p:nvSpPr>
          <p:cNvPr id="10" name="フッター プレースホルダ 9"/>
          <p:cNvSpPr>
            <a:spLocks noGrp="1"/>
          </p:cNvSpPr>
          <p:nvPr>
            <p:ph type="ftr" sz="quarter" idx="11"/>
          </p:nvPr>
        </p:nvSpPr>
        <p:spPr bwMode="gray">
          <a:xfrm>
            <a:off x="730800" y="6588000"/>
            <a:ext cx="5184000" cy="169200"/>
          </a:xfrm>
          <a:prstGeom prst="rect">
            <a:avLst/>
          </a:prstGeom>
        </p:spPr>
        <p:txBody>
          <a:bodyPr/>
          <a:lstStyle>
            <a:lvl1pPr>
              <a:defRPr baseline="0">
                <a:solidFill>
                  <a:schemeClr val="tx1"/>
                </a:solidFill>
                <a:latin typeface="+mn-lt"/>
                <a:ea typeface="+mn-ea"/>
                <a:cs typeface="+mn-cs"/>
                <a:sym typeface="+mn-lt"/>
              </a:defRPr>
            </a:lvl1pPr>
          </a:lstStyle>
          <a:p>
            <a:r>
              <a:rPr lang="en-US" altLang="ja-JP"/>
              <a:t>Notes</a:t>
            </a:r>
            <a:r>
              <a:rPr lang="ja-JP" altLang="en-US"/>
              <a:t>アプリ刷新のご提案</a:t>
            </a:r>
            <a:endParaRPr lang="en-GB" altLang="en-GB"/>
          </a:p>
        </p:txBody>
      </p:sp>
      <p:sp>
        <p:nvSpPr>
          <p:cNvPr id="8"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725"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3" name="タイトル 2"/>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cSld name="（基本版） 白紙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ー 2"/>
          <p:cNvSpPr>
            <a:spLocks noGrp="1"/>
          </p:cNvSpPr>
          <p:nvPr>
            <p:ph type="ftr" sz="quarter" idx="10"/>
          </p:nvPr>
        </p:nvSpPr>
        <p:spPr bwMode="gray">
          <a:xfrm>
            <a:off x="730800" y="6588000"/>
            <a:ext cx="5184000" cy="169200"/>
          </a:xfrm>
          <a:prstGeom prst="rect">
            <a:avLst/>
          </a:prstGeom>
        </p:spPr>
        <p:txBody>
          <a:bodyPr/>
          <a:lstStyle>
            <a:lvl1pPr>
              <a:defRPr>
                <a:latin typeface="+mn-lt"/>
                <a:ea typeface="+mn-ea"/>
                <a:cs typeface="+mn-cs"/>
                <a:sym typeface="+mn-lt"/>
              </a:defRPr>
            </a:lvl1pPr>
          </a:lstStyle>
          <a:p>
            <a:r>
              <a:rPr lang="en-US" altLang="ja-JP"/>
              <a:t>Notes</a:t>
            </a:r>
            <a:r>
              <a:rPr lang="ja-JP" altLang="en-US"/>
              <a:t>アプリ刷新のご提案</a:t>
            </a:r>
            <a:endParaRPr lang="en-GB" altLang="en-GB"/>
          </a:p>
        </p:txBody>
      </p:sp>
      <p:sp>
        <p:nvSpPr>
          <p:cNvPr id="4" name="スライド番号プレースホルダー 3"/>
          <p:cNvSpPr>
            <a:spLocks noGrp="1"/>
          </p:cNvSpPr>
          <p:nvPr>
            <p:ph type="sldNum" sz="quarter" idx="11"/>
          </p:nvPr>
        </p:nvSpPr>
        <p:spPr bwMode="gray"/>
        <p:txBody>
          <a:bodyPr/>
          <a:lstStyle>
            <a:lvl1pPr>
              <a:defRPr>
                <a:latin typeface="+mn-lt"/>
                <a:ea typeface="+mn-ea"/>
                <a:cs typeface="+mn-cs"/>
                <a:sym typeface="+mn-lt"/>
              </a:defRPr>
            </a:lvl1pPr>
          </a:lstStyle>
          <a:p>
            <a:fld id="{AA5FCFE5-FE56-4EF1-80A8-07776887C2A1}" type="slidenum">
              <a:rPr lang="ja-JP" altLang="en-US" smtClean="0"/>
              <a:t>‹#›</a:t>
            </a:fld>
            <a:endParaRPr lang="ja-JP" altLang="en-US"/>
          </a:p>
        </p:txBody>
      </p:sp>
      <p:sp>
        <p:nvSpPr>
          <p:cNvPr id="6" name="テキスト プレースホルダー 5"/>
          <p:cNvSpPr>
            <a:spLocks noGrp="1"/>
          </p:cNvSpPr>
          <p:nvPr>
            <p:ph type="body" sz="quarter" idx="12"/>
          </p:nvPr>
        </p:nvSpPr>
        <p:spPr bwMode="gray">
          <a:xfrm>
            <a:off x="2329846" y="2340000"/>
            <a:ext cx="7532308" cy="2520000"/>
          </a:xfrm>
          <a:prstGeom prst="rect">
            <a:avLst/>
          </a:prstGeom>
        </p:spPr>
        <p:txBody>
          <a:bodyPr/>
          <a:lstStyle>
            <a:lvl1pPr>
              <a:defRPr>
                <a:latin typeface="+mn-lt"/>
                <a:ea typeface="+mn-ea"/>
                <a:cs typeface="+mn-cs"/>
                <a:sym typeface="+mn-lt"/>
              </a:defRPr>
            </a:lvl1pPr>
          </a:lstStyle>
          <a:p>
            <a:pPr lvl="0"/>
            <a:r>
              <a:rPr kumimoji="1" lang="ja-JP" altLang="en-US"/>
              <a:t>マスター テキストの書式設定</a:t>
            </a: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基本版） タイトルのみ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sym typeface="+mn-lt"/>
              </a:defRPr>
            </a:lvl1pPr>
          </a:lstStyle>
          <a:p>
            <a:r>
              <a:rPr lang="en-GB" altLang="en-GB"/>
              <a:t>DT Template A4</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9"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600" b="1">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hf hdr="0"/>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userDrawn="1">
  <p:cSld name="（基本版）背表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7" name="図 6"/>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478800" y="432000"/>
            <a:ext cx="2016000" cy="631680"/>
          </a:xfrm>
          <a:prstGeom prst="rect">
            <a:avLst/>
          </a:prstGeom>
        </p:spPr>
      </p:pic>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prstClr val="black"/>
                </a:solidFill>
                <a:latin typeface="+mn-lt"/>
                <a:cs typeface="+mn-cs"/>
                <a:sym typeface="+mn-lt"/>
              </a:rPr>
              <a:t>Member of</a:t>
            </a:r>
            <a:br>
              <a:rPr kumimoji="1" lang="en-US" altLang="ja-JP" sz="800">
                <a:solidFill>
                  <a:prstClr val="black"/>
                </a:solidFill>
                <a:latin typeface="+mn-lt"/>
                <a:cs typeface="+mn-cs"/>
                <a:sym typeface="+mn-lt"/>
              </a:rPr>
            </a:br>
            <a:r>
              <a:rPr kumimoji="1" lang="en-US" altLang="ja-JP" sz="800" b="1">
                <a:solidFill>
                  <a:prstClr val="black"/>
                </a:solidFill>
                <a:latin typeface="+mn-lt"/>
                <a:cs typeface="+mn-cs"/>
                <a:sym typeface="+mn-lt"/>
              </a:rPr>
              <a:t>Deloitte Touche Tohmatsu Limited</a:t>
            </a:r>
            <a:endParaRPr kumimoji="1" lang="ja-JP" altLang="en-US" sz="800" b="1">
              <a:solidFill>
                <a:prstClr val="black"/>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8820000" cy="127856"/>
          </a:xfrm>
        </p:spPr>
        <p:txBody>
          <a:bodyPr vert="horz" lIns="0" tIns="0" rIns="0" bIns="0" rtlCol="0" anchor="b" anchorCtr="0">
            <a:spAutoFit/>
          </a:bodyPr>
          <a:lstStyle>
            <a:lvl1pPr>
              <a:defRPr lang="ja-JP" altLang="en-US" sz="800" smtClean="0">
                <a:cs typeface="+mn-cs"/>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87861"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2024. For information, contact Deloitte Tohmatsu Group.</a:t>
            </a:r>
          </a:p>
        </p:txBody>
      </p:sp>
      <p:grpSp>
        <p:nvGrpSpPr>
          <p:cNvPr id="8" name="グループ化 7"/>
          <p:cNvGrpSpPr/>
          <p:nvPr userDrawn="1"/>
        </p:nvGrpSpPr>
        <p:grpSpPr>
          <a:xfrm>
            <a:off x="10270800" y="4114800"/>
            <a:ext cx="1440000" cy="1894801"/>
            <a:chOff x="8050246" y="4451478"/>
            <a:chExt cx="1440000" cy="1894801"/>
          </a:xfrm>
        </p:grpSpPr>
        <p:pic>
          <p:nvPicPr>
            <p:cNvPr id="9" name="図 8" descr="ロゴ, 会社名&#10;&#10;自動的に生成された説明"/>
            <p:cNvPicPr>
              <a:picLocks noChangeAspect="1"/>
            </p:cNvPicPr>
            <p:nvPr userDrawn="1"/>
          </p:nvPicPr>
          <p:blipFill>
            <a:blip r:embed="rId6" cstate="print"/>
            <a:stretch>
              <a:fillRect/>
            </a:stretch>
          </p:blipFill>
          <p:spPr bwMode="gray">
            <a:xfrm>
              <a:off x="8050246" y="4451478"/>
              <a:ext cx="1440000" cy="873777"/>
            </a:xfrm>
            <a:prstGeom prst="rect">
              <a:avLst/>
            </a:prstGeom>
          </p:spPr>
        </p:pic>
        <p:pic>
          <p:nvPicPr>
            <p:cNvPr id="10" name="図 9" descr="ロゴ&#10;&#10;自動的に生成された説明"/>
            <p:cNvPicPr>
              <a:picLocks noChangeAspect="1"/>
            </p:cNvPicPr>
            <p:nvPr userDrawn="1"/>
          </p:nvPicPr>
          <p:blipFill>
            <a:blip r:embed="rId7" cstate="print"/>
            <a:stretch>
              <a:fillRect/>
            </a:stretch>
          </p:blipFill>
          <p:spPr>
            <a:xfrm>
              <a:off x="8148021" y="5473537"/>
              <a:ext cx="1244450" cy="872742"/>
            </a:xfrm>
            <a:prstGeom prst="rect">
              <a:avLst/>
            </a:prstGeom>
          </p:spPr>
        </p:pic>
      </p:grpSp>
    </p:spTree>
  </p:cSld>
  <p:clrMapOvr>
    <a:masterClrMapping/>
  </p:clrMapOvr>
  <p:hf hdr="0"/>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基本版） タイトル_ ロゴ入り_16:9">
    <p:bg bwMode="gray">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latin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799" y="5292000"/>
            <a:ext cx="5616000" cy="864000"/>
          </a:xfrm>
        </p:spPr>
        <p:txBody>
          <a:bodyPr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799" y="5760001"/>
            <a:ext cx="5616000" cy="307777"/>
          </a:xfrm>
          <a:prstGeom prst="rect">
            <a:avLst/>
          </a:prstGeom>
        </p:spPr>
        <p:txBody>
          <a:bodyPr wrap="none" lIns="0" tIns="0" rIns="0" bIns="0" anchor="t" anchorCtr="0">
            <a:noAutofit/>
          </a:bodyPr>
          <a:lstStyle>
            <a:lvl1pPr marL="0" indent="0" algn="l">
              <a:lnSpc>
                <a:spcPct val="100000"/>
              </a:lnSpc>
              <a:spcBef>
                <a:spcPts val="0"/>
              </a:spcBef>
              <a:spcAft>
                <a:spcPts val="0"/>
              </a:spcAft>
              <a:buNone/>
              <a:defRPr sz="2000">
                <a:solidFill>
                  <a:schemeClr val="tx1"/>
                </a:solidFill>
                <a:latin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799"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5999" y="396000"/>
            <a:ext cx="5616000" cy="676800"/>
          </a:xfrm>
          <a:prstGeom prst="rect">
            <a:avLst/>
          </a:prstGeom>
        </p:spPr>
        <p:txBody>
          <a:bodyPr lIns="0" tIns="0">
            <a:normAutofit/>
          </a:bodyPr>
          <a:lstStyle>
            <a:lvl1pPr algn="r">
              <a:lnSpc>
                <a:spcPct val="100000"/>
              </a:lnSpc>
              <a:spcBef>
                <a:spcPts val="0"/>
              </a:spcBef>
              <a:defRPr sz="2200">
                <a:latin typeface="+mn-lt"/>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bwMode="gray">
          <a:xfrm>
            <a:off x="478800" y="432000"/>
            <a:ext cx="2016000" cy="633201"/>
          </a:xfrm>
          <a:prstGeom prst="rect">
            <a:avLst/>
          </a:prstGeom>
        </p:spPr>
      </p:pic>
      <p:sp>
        <p:nvSpPr>
          <p:cNvPr id="6" name="日付プレースホルダー 5"/>
          <p:cNvSpPr>
            <a:spLocks noGrp="1"/>
          </p:cNvSpPr>
          <p:nvPr>
            <p:ph type="dt" sz="half" idx="13"/>
          </p:nvPr>
        </p:nvSpPr>
        <p:spPr bwMode="gray"/>
        <p:txBody>
          <a:bodyPr/>
          <a:lstStyle/>
          <a:p>
            <a:pPr algn="ctr"/>
            <a:r>
              <a:rPr lang="en-US"/>
              <a:t>&lt; Confidential &gt;</a:t>
            </a: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基本版） タイトル ロゴ無_16:9">
    <p:bg bwMode="gray">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800" y="5292000"/>
            <a:ext cx="5616000" cy="864000"/>
          </a:xfrm>
        </p:spPr>
        <p:txBody>
          <a:bodyPr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800" y="5760001"/>
            <a:ext cx="5616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tx1"/>
                </a:solidFill>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800"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p:cNvSpPr>
            <a:spLocks noGrp="1"/>
          </p:cNvSpPr>
          <p:nvPr>
            <p:ph type="dt" sz="half" idx="12"/>
          </p:nvPr>
        </p:nvSpPr>
        <p:spPr bwMode="gray"/>
        <p:txBody>
          <a:bodyPr/>
          <a:lstStyle/>
          <a:p>
            <a:pPr algn="ctr"/>
            <a:r>
              <a:rPr lang="en-US"/>
              <a:t>&lt; Confidential &gt;</a:t>
            </a: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黒_（基本版） タイトル_ ロゴ入り_16:9">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solidFill>
                  <a:schemeClr val="bg1"/>
                </a:solidFill>
                <a:latin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800" y="5292000"/>
            <a:ext cx="5616000" cy="864000"/>
          </a:xfrm>
        </p:spPr>
        <p:txBody>
          <a:bodyPr anchor="t" anchorCtr="0">
            <a:noAutofit/>
          </a:bodyPr>
          <a:lstStyle>
            <a:lvl1pPr algn="l">
              <a:lnSpc>
                <a:spcPct val="100000"/>
              </a:lnSpc>
              <a:spcBef>
                <a:spcPts val="0"/>
              </a:spcBef>
              <a:spcAft>
                <a:spcPts val="0"/>
              </a:spcAft>
              <a:defRPr sz="2800" b="1" baseline="0">
                <a:solidFill>
                  <a:schemeClr val="bg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800" y="5760001"/>
            <a:ext cx="5616000" cy="307777"/>
          </a:xfrm>
          <a:prstGeom prst="rect">
            <a:avLst/>
          </a:prstGeom>
        </p:spPr>
        <p:txBody>
          <a:bodyPr wrap="none" lIns="0" tIns="0" rIns="0" bIns="0" anchor="t" anchorCtr="0">
            <a:noAutofit/>
          </a:bodyPr>
          <a:lstStyle>
            <a:lvl1pPr marL="0" indent="0" algn="l">
              <a:lnSpc>
                <a:spcPct val="100000"/>
              </a:lnSpc>
              <a:spcBef>
                <a:spcPts val="0"/>
              </a:spcBef>
              <a:spcAft>
                <a:spcPts val="0"/>
              </a:spcAft>
              <a:buNone/>
              <a:defRPr sz="2000">
                <a:solidFill>
                  <a:schemeClr val="bg1"/>
                </a:solidFill>
                <a:latin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800"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4800" y="396000"/>
            <a:ext cx="5616000" cy="676800"/>
          </a:xfrm>
          <a:prstGeom prst="rect">
            <a:avLst/>
          </a:prstGeom>
        </p:spPr>
        <p:txBody>
          <a:bodyPr lIns="0" tIns="0">
            <a:normAutofit/>
          </a:bodyPr>
          <a:lstStyle>
            <a:lvl1pPr algn="r">
              <a:lnSpc>
                <a:spcPct val="100000"/>
              </a:lnSpc>
              <a:spcBef>
                <a:spcPts val="0"/>
              </a:spcBef>
              <a:defRPr sz="2200">
                <a:solidFill>
                  <a:schemeClr val="bg1"/>
                </a:solidFill>
                <a:latin typeface="+mn-lt"/>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478800" y="431999"/>
            <a:ext cx="2016000" cy="627200"/>
          </a:xfrm>
          <a:prstGeom prst="rect">
            <a:avLst/>
          </a:prstGeom>
        </p:spPr>
      </p:pic>
      <p:sp>
        <p:nvSpPr>
          <p:cNvPr id="6" name="日付プレースホルダー 5"/>
          <p:cNvSpPr>
            <a:spLocks noGrp="1"/>
          </p:cNvSpPr>
          <p:nvPr>
            <p:ph type="dt" sz="half" idx="13"/>
          </p:nvPr>
        </p:nvSpPr>
        <p:spPr bwMode="gray"/>
        <p:txBody>
          <a:bodyPr/>
          <a:lstStyle/>
          <a:p>
            <a:pPr algn="ctr"/>
            <a:r>
              <a:rPr lang="en-US"/>
              <a:t>&lt; Confidential &gt;</a:t>
            </a: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黒_（基本版） タイトル ロゴ無_16:9">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solidFill>
                  <a:schemeClr val="bg1"/>
                </a:solidFill>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799" y="5292000"/>
            <a:ext cx="5616000" cy="864000"/>
          </a:xfrm>
        </p:spPr>
        <p:txBody>
          <a:bodyPr anchor="t" anchorCtr="0">
            <a:noAutofit/>
          </a:bodyPr>
          <a:lstStyle>
            <a:lvl1pPr algn="l">
              <a:lnSpc>
                <a:spcPct val="100000"/>
              </a:lnSpc>
              <a:spcBef>
                <a:spcPts val="0"/>
              </a:spcBef>
              <a:spcAft>
                <a:spcPts val="0"/>
              </a:spcAft>
              <a:defRPr sz="2800" b="1" baseline="0">
                <a:solidFill>
                  <a:schemeClr val="bg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799" y="5760001"/>
            <a:ext cx="5616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bg1"/>
                </a:solidFill>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799"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p:cNvSpPr>
            <a:spLocks noGrp="1"/>
          </p:cNvSpPr>
          <p:nvPr>
            <p:ph type="dt" sz="half" idx="12"/>
          </p:nvPr>
        </p:nvSpPr>
        <p:spPr bwMode="gray"/>
        <p:txBody>
          <a:bodyPr/>
          <a:lstStyle/>
          <a:p>
            <a:pPr algn="ctr"/>
            <a:r>
              <a:rPr lang="en-US"/>
              <a:t>&lt; Confidential &gt;</a:t>
            </a: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基本版） 目次_16:9">
    <p:bg bwMode="gray">
      <p:bgRef idx="1001">
        <a:schemeClr val="bg1"/>
      </p:bgRef>
    </p:bg>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7620" imgH="7620" progId="TCLayout.ActiveDocument.1">
                  <p:embed/>
                </p:oleObj>
              </mc:Choice>
              <mc:Fallback>
                <p:oleObj name="think-cellスライド" r:id="rId4" imgW="7620" imgH="7620" progId="TCLayout.ActiveDocument.1">
                  <p:embed/>
                  <p:pic>
                    <p:nvPicPr>
                      <p:cNvPr id="3" name="オブジェクト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正方形/長方形 4" hidden="1"/>
          <p:cNvSpPr/>
          <p:nvPr userDrawn="1">
            <p:custDataLst>
              <p:tags r:id="rId2"/>
            </p:custDataLst>
          </p:nvPr>
        </p:nvSpPr>
        <p:spPr bwMode="gray">
          <a:xfrm>
            <a:off x="0" y="0"/>
            <a:ext cx="158750" cy="158750"/>
          </a:xfrm>
          <a:prstGeom prst="rect">
            <a:avLst/>
          </a:prstGeom>
          <a:solidFill>
            <a:srgbClr val="BBBCBC"/>
          </a:solidFill>
          <a:ln w="12700" algn="ctr">
            <a:solidFill>
              <a:srgbClr val="BBBCBC"/>
            </a:solidFill>
            <a:miter lim="800000"/>
          </a:ln>
        </p:spPr>
        <p:txBody>
          <a:bodyPr rot="0" spcFirstLastPara="0" vertOverflow="overflow" horzOverflow="overflow" vert="horz" wrap="none" lIns="0" tIns="0" rIns="0" bIns="0" numCol="1" spcCol="0" rtlCol="0" fromWordArt="0" anchor="ctr" anchorCtr="0" forceAA="0" compatLnSpc="1">
            <a:noAutofit/>
          </a:bodyPr>
          <a:lstStyle/>
          <a:p>
            <a:pPr marL="0" marR="0" lvl="0" indent="0" algn="ctr" defTabSz="990600" rtl="0" eaLnBrk="1" fontAlgn="auto" latinLnBrk="0" hangingPunct="1">
              <a:lnSpc>
                <a:spcPct val="100000"/>
              </a:lnSpc>
              <a:spcBef>
                <a:spcPts val="0"/>
              </a:spcBef>
              <a:spcAft>
                <a:spcPts val="0"/>
              </a:spcAft>
              <a:buClrTx/>
              <a:buSzPct val="100000"/>
              <a:buFont typeface="Wingdings" panose="05000000000000000000" pitchFamily="2" charset="2"/>
              <a:buNone/>
            </a:pPr>
            <a:endParaRPr kumimoji="1" lang="ja-JP" altLang="en-US" sz="2400" b="1" i="0" u="none" strike="noStrike" kern="1200" cap="none" spc="0" normalizeH="0" baseline="0" noProof="0">
              <a:ln>
                <a:noFill/>
              </a:ln>
              <a:solidFill>
                <a:prstClr val="black"/>
              </a:solidFill>
              <a:effectLst/>
              <a:uLnTx/>
              <a:uFillTx/>
              <a:latin typeface="Calibri" panose="020F0502020204030204" pitchFamily="34" charset="0"/>
              <a:ea typeface="Yu Gothic UI" panose="020B0500000000000000" pitchFamily="50" charset="-128"/>
              <a:cs typeface="+mj-cs"/>
              <a:sym typeface="Calibri" panose="020F0502020204030204" pitchFamily="34" charset="0"/>
            </a:endParaRPr>
          </a:p>
        </p:txBody>
      </p:sp>
      <p:sp>
        <p:nvSpPr>
          <p:cNvPr id="13" name="Content Placeholder 3"/>
          <p:cNvSpPr>
            <a:spLocks noGrp="1"/>
          </p:cNvSpPr>
          <p:nvPr>
            <p:ph sz="quarter" idx="10"/>
          </p:nvPr>
        </p:nvSpPr>
        <p:spPr bwMode="gray">
          <a:xfrm>
            <a:off x="480000" y="1476000"/>
            <a:ext cx="5436000" cy="4824000"/>
          </a:xfrm>
          <a:prstGeom prst="rect">
            <a:avLst/>
          </a:prstGeom>
        </p:spPr>
        <p:txBody>
          <a:bodyPr/>
          <a:lstStyle>
            <a:lvl1pPr>
              <a:tabLst>
                <a:tab pos="5447665" algn="r"/>
              </a:tabLst>
              <a:defRPr/>
            </a:lvl1pPr>
            <a:lvl2pPr>
              <a:tabLst>
                <a:tab pos="5447665" algn="r"/>
              </a:tabLst>
              <a:defRPr/>
            </a:lvl2pPr>
            <a:lvl3pPr>
              <a:tabLst>
                <a:tab pos="5447665" algn="r"/>
              </a:tabLst>
              <a:defRPr/>
            </a:lvl3pPr>
            <a:lvl4pPr>
              <a:tabLst>
                <a:tab pos="5447665" algn="r"/>
              </a:tabLst>
              <a:defRPr/>
            </a:lvl4pPr>
            <a:lvl5pPr>
              <a:tabLst>
                <a:tab pos="54476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15" name="Content Placeholder 3"/>
          <p:cNvSpPr>
            <a:spLocks noGrp="1"/>
          </p:cNvSpPr>
          <p:nvPr>
            <p:ph sz="quarter" idx="20"/>
          </p:nvPr>
        </p:nvSpPr>
        <p:spPr bwMode="gray">
          <a:xfrm>
            <a:off x="6276000" y="1476000"/>
            <a:ext cx="5436000" cy="4824000"/>
          </a:xfrm>
          <a:prstGeom prst="rect">
            <a:avLst/>
          </a:prstGeom>
        </p:spPr>
        <p:txBody>
          <a:bodyPr/>
          <a:lstStyle>
            <a:lvl1pPr>
              <a:tabLst>
                <a:tab pos="5447665" algn="r"/>
              </a:tabLst>
              <a:defRPr/>
            </a:lvl1pPr>
            <a:lvl2pPr>
              <a:tabLst>
                <a:tab pos="5447665" algn="r"/>
              </a:tabLst>
              <a:defRPr/>
            </a:lvl2pPr>
            <a:lvl3pPr>
              <a:tabLst>
                <a:tab pos="5447665" algn="r"/>
              </a:tabLst>
              <a:defRPr/>
            </a:lvl3pPr>
            <a:lvl4pPr>
              <a:tabLst>
                <a:tab pos="5447665" algn="r"/>
              </a:tabLst>
              <a:defRPr/>
            </a:lvl4pPr>
            <a:lvl5pPr>
              <a:tabLst>
                <a:tab pos="54476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4" name="タイトル 3"/>
          <p:cNvSpPr>
            <a:spLocks noGrp="1"/>
          </p:cNvSpPr>
          <p:nvPr>
            <p:ph type="title"/>
          </p:nvPr>
        </p:nvSpPr>
        <p:spPr bwMode="gray">
          <a:xfrm>
            <a:off x="480000" y="108000"/>
            <a:ext cx="11232000" cy="738000"/>
          </a:xfrm>
        </p:spPr>
        <p:txBody>
          <a:bodyPr/>
          <a:lstStyle>
            <a:lvl1pPr>
              <a:defRPr baseline="0">
                <a:latin typeface="+mj-lt"/>
                <a:ea typeface="+mj-ea"/>
              </a:defRPr>
            </a:lvl1pPr>
          </a:lstStyle>
          <a:p>
            <a:r>
              <a:rPr kumimoji="1" lang="ja-JP" altLang="en-US"/>
              <a:t>マスター タイトルの書式設定</a:t>
            </a:r>
          </a:p>
        </p:txBody>
      </p:sp>
    </p:spTree>
  </p:cSld>
  <p:clrMapOvr>
    <a:masterClrMapping/>
  </p:clrMapOvr>
  <p:hf hdr="0"/>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基本版） 白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スライド番号プレースホルダー 3"/>
          <p:cNvSpPr>
            <a:spLocks noGrp="1"/>
          </p:cNvSpPr>
          <p:nvPr>
            <p:ph type="sldNum" sz="quarter" idx="11"/>
          </p:nvPr>
        </p:nvSpPr>
        <p:spPr bwMode="gray"/>
        <p:txBody>
          <a:bodyPr/>
          <a:lstStyle>
            <a:lvl1pPr>
              <a:defRPr/>
            </a:lvl1pPr>
          </a:lstStyle>
          <a:p>
            <a:fld id="{AA5FCFE5-FE56-4EF1-80A8-07776887C2A1}" type="slidenum">
              <a:rPr lang="ja-JP" altLang="en-US" smtClean="0"/>
              <a:t>‹#›</a:t>
            </a:fld>
            <a:endParaRPr lang="ja-JP" altLang="en-US"/>
          </a:p>
        </p:txBody>
      </p:sp>
      <p:sp>
        <p:nvSpPr>
          <p:cNvPr id="6" name="テキスト プレースホルダー 5"/>
          <p:cNvSpPr>
            <a:spLocks noGrp="1"/>
          </p:cNvSpPr>
          <p:nvPr>
            <p:ph type="body" sz="quarter" idx="12"/>
          </p:nvPr>
        </p:nvSpPr>
        <p:spPr bwMode="gray">
          <a:xfrm>
            <a:off x="1596000" y="2556000"/>
            <a:ext cx="9000000" cy="1440000"/>
          </a:xfrm>
          <a:prstGeom prst="rect">
            <a:avLst/>
          </a:prstGeom>
        </p:spPr>
        <p:txBody>
          <a:bodyPr/>
          <a:lstStyle>
            <a:lvl1pPr>
              <a:defRPr sz="2400" baseline="0">
                <a:latin typeface="+mj-lt"/>
                <a:ea typeface="+mj-ea"/>
              </a:defRPr>
            </a:lvl1pPr>
          </a:lstStyle>
          <a:p>
            <a:pPr lvl="0"/>
            <a:r>
              <a:rPr kumimoji="1" lang="ja-JP" altLang="en-US"/>
              <a:t>マスター テキストの書式設定</a:t>
            </a:r>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基本版） 中表紙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tx1"/>
                </a:solidFill>
                <a:latin typeface="+mj-lt"/>
                <a:ea typeface="+mj-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defRPr>
            </a:lvl1pPr>
          </a:lstStyle>
          <a:p>
            <a:fld id="{AA5FCFE5-FE56-4EF1-80A8-07776887C2A1}" type="slidenum">
              <a:rPr lang="ja-JP" altLang="en-US" smtClean="0"/>
              <a:t>‹#›</a:t>
            </a:fld>
            <a:endParaRPr lang="ja-JP" altLang="en-US"/>
          </a:p>
        </p:txBody>
      </p:sp>
      <p:sp>
        <p:nvSpPr>
          <p:cNvPr id="3"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基本版） タイトルのみ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テキスト プレースホルダー 2"/>
          <p:cNvSpPr>
            <a:spLocks noGrp="1"/>
          </p:cNvSpPr>
          <p:nvPr>
            <p:ph type="body" sz="quarter" idx="15" hasCustomPrompt="1"/>
          </p:nvPr>
        </p:nvSpPr>
        <p:spPr bwMode="gray">
          <a:xfrm>
            <a:off x="478799" y="1008000"/>
            <a:ext cx="5436000" cy="468000"/>
          </a:xfrm>
          <a:prstGeom prst="rect">
            <a:avLst/>
          </a:prstGeom>
        </p:spPr>
        <p:txBody>
          <a:bodyPr wrap="none" tIns="0" anchor="ctr">
            <a:noAutofit/>
          </a:bodyPr>
          <a:lstStyle>
            <a:lvl1pPr>
              <a:lnSpc>
                <a:spcPct val="100000"/>
              </a:lnSpc>
              <a:spcBef>
                <a:spcPts val="0"/>
              </a:spcBef>
              <a:defRPr sz="1800" b="1">
                <a:solidFill>
                  <a:schemeClr val="accent1"/>
                </a:solidFill>
              </a:defRPr>
            </a:lvl1pPr>
          </a:lstStyle>
          <a:p>
            <a:pPr lvl="0"/>
            <a:r>
              <a:rPr kumimoji="1" lang="en-US" altLang="ja-JP"/>
              <a:t>Header</a:t>
            </a:r>
            <a:r>
              <a:rPr kumimoji="1" lang="ja-JP" altLang="en-US"/>
              <a:t>を入力（スライドタイトル）</a:t>
            </a:r>
          </a:p>
        </p:txBody>
      </p:sp>
      <p:sp>
        <p:nvSpPr>
          <p:cNvPr id="7" name="タイトル 6"/>
          <p:cNvSpPr>
            <a:spLocks noGrp="1"/>
          </p:cNvSpPr>
          <p:nvPr>
            <p:ph type="title"/>
          </p:nvPr>
        </p:nvSpPr>
        <p:spPr/>
        <p:txBody>
          <a:bodyPr/>
          <a:lstStyle/>
          <a:p>
            <a:r>
              <a:rPr kumimoji="1" lang="ja-JP" altLang="en-US"/>
              <a:t>マスター タイトルの書式設定</a:t>
            </a:r>
          </a:p>
        </p:txBody>
      </p:sp>
      <p:sp>
        <p:nvSpPr>
          <p:cNvPr id="24" name="スライド番号プレースホルダー 23"/>
          <p:cNvSpPr>
            <a:spLocks noGrp="1"/>
          </p:cNvSpPr>
          <p:nvPr>
            <p:ph type="sldNum" sz="quarter" idx="18"/>
          </p:nvPr>
        </p:nvSpPr>
        <p:spPr/>
        <p:txBody>
          <a:bodyPr/>
          <a:lstStyle/>
          <a:p>
            <a:pPr fontAlgn="auto">
              <a:spcBef>
                <a:spcPts val="0"/>
              </a:spcBef>
              <a:spcAft>
                <a:spcPts val="0"/>
              </a:spcAft>
            </a:pPr>
            <a:fld id="{AA5FCFE5-FE56-4EF1-80A8-07776887C2A1}" type="slidenum">
              <a:rPr kumimoji="1" lang="ja-JP" altLang="en-US" smtClean="0"/>
              <a:t>‹#›</a:t>
            </a:fld>
            <a:endParaRPr kumimoji="1" lang="ja-JP" altLang="en-US"/>
          </a:p>
        </p:txBody>
      </p:sp>
      <p:sp>
        <p:nvSpPr>
          <p:cNvPr id="3"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基本版） タイトルのみ_Header上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スライド番号プレースホルダ 3"/>
          <p:cNvSpPr>
            <a:spLocks noGrp="1"/>
          </p:cNvSpPr>
          <p:nvPr>
            <p:ph type="sldNum" sz="quarter" idx="11"/>
          </p:nvPr>
        </p:nvSpPr>
        <p:spPr bwMode="gray"/>
        <p:txBody>
          <a:bodyPr/>
          <a:lstStyle>
            <a:lvl1pPr>
              <a:defRPr>
                <a:solidFill>
                  <a:schemeClr val="tx1"/>
                </a:solidFill>
              </a:defRPr>
            </a:lvl1pPr>
          </a:lstStyle>
          <a:p>
            <a:fld id="{AA5FCFE5-FE56-4EF1-80A8-07776887C2A1}" type="slidenum">
              <a:rPr lang="ja-JP" altLang="en-US" smtClean="0"/>
              <a:t>‹#›</a:t>
            </a:fld>
            <a:endParaRPr lang="ja-JP" altLang="en-US"/>
          </a:p>
        </p:txBody>
      </p:sp>
      <p:sp>
        <p:nvSpPr>
          <p:cNvPr id="9" name="テキスト プレースホルダー 2"/>
          <p:cNvSpPr>
            <a:spLocks noGrp="1"/>
          </p:cNvSpPr>
          <p:nvPr>
            <p:ph type="body" sz="quarter" idx="15" hasCustomPrompt="1"/>
          </p:nvPr>
        </p:nvSpPr>
        <p:spPr bwMode="gray">
          <a:xfrm>
            <a:off x="478798" y="180000"/>
            <a:ext cx="11232000" cy="369332"/>
          </a:xfrm>
          <a:prstGeom prst="rect">
            <a:avLst/>
          </a:prstGeom>
        </p:spPr>
        <p:txBody>
          <a:bodyPr wrap="none" tIns="0" anchor="t" anchorCtr="0">
            <a:noAutofit/>
          </a:bodyPr>
          <a:lstStyle>
            <a:lvl1pPr>
              <a:lnSpc>
                <a:spcPct val="100000"/>
              </a:lnSpc>
              <a:spcBef>
                <a:spcPts val="0"/>
              </a:spcBef>
              <a:defRPr sz="2400" b="1" baseline="0">
                <a:solidFill>
                  <a:schemeClr val="tx1"/>
                </a:solidFill>
                <a:latin typeface="+mj-lt"/>
                <a:ea typeface="+mj-ea"/>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a:xfrm>
            <a:off x="480000" y="684000"/>
            <a:ext cx="11232000" cy="576000"/>
          </a:xfrm>
        </p:spPr>
        <p:txBody>
          <a:bodyPr vert="horz" anchor="t" anchorCtr="0">
            <a:noAutofit/>
          </a:bodyPr>
          <a:lstStyle>
            <a:lvl1pPr>
              <a:defRPr sz="1800" b="0" baseline="0">
                <a:latin typeface="+mn-lt"/>
                <a:ea typeface="+mn-ea"/>
              </a:defRPr>
            </a:lvl1pPr>
          </a:lstStyle>
          <a:p>
            <a:r>
              <a:rPr lang="ja-JP" altLang="en-US"/>
              <a:t>キーメッセージを入力（本スライドで一番伝えたいこと＜名詞止め・体言止め不可＞）</a:t>
            </a:r>
            <a:endParaRPr kumimoji="1" lang="ja-JP" altLang="en-US"/>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基本版） コンテンツ左サイド_レベル_16:9">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コンテンツ プレースホルダ 2"/>
          <p:cNvSpPr>
            <a:spLocks noGrp="1"/>
          </p:cNvSpPr>
          <p:nvPr>
            <p:ph idx="1"/>
          </p:nvPr>
        </p:nvSpPr>
        <p:spPr bwMode="gray">
          <a:xfrm>
            <a:off x="480000" y="1476000"/>
            <a:ext cx="5436000" cy="4824000"/>
          </a:xfrm>
          <a:prstGeom prst="rect">
            <a:avLst/>
          </a:prstGeom>
        </p:spPr>
        <p:txBody>
          <a:bodyPr/>
          <a:lstStyle>
            <a:lvl1pPr>
              <a:lnSpc>
                <a:spcPct val="110000"/>
              </a:lnSpc>
              <a:spcBef>
                <a:spcPts val="600"/>
              </a:spcBef>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marR="0" indent="-179705" algn="l" defTabSz="989330" rtl="0" eaLnBrk="1" fontAlgn="auto" latinLnBrk="0" hangingPunct="1">
              <a:lnSpc>
                <a:spcPct val="110000"/>
              </a:lnSpc>
              <a:spcBef>
                <a:spcPts val="600"/>
              </a:spcBef>
              <a:spcAft>
                <a:spcPts val="0"/>
              </a:spcAft>
              <a:buClrTx/>
              <a:buSzTx/>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6" name="スライド番号プレースホルダ 5"/>
          <p:cNvSpPr>
            <a:spLocks noGrp="1"/>
          </p:cNvSpPr>
          <p:nvPr>
            <p:ph type="sldNum" sz="quarter" idx="10"/>
          </p:nvPr>
        </p:nvSpPr>
        <p:spPr bwMode="gray"/>
        <p:txBody>
          <a:bodyPr/>
          <a:lstStyle>
            <a:lvl1pPr>
              <a:defRPr baseline="0">
                <a:solidFill>
                  <a:schemeClr val="tx1"/>
                </a:solidFill>
                <a:latin typeface="+mn-lt"/>
              </a:defRPr>
            </a:lvl1pPr>
          </a:lstStyle>
          <a:p>
            <a:fld id="{0822A2BF-4EE5-45F6-88E1-9AA10A8C672A}" type="slidenum">
              <a:rPr lang="ja-JP" altLang="en-US" smtClean="0"/>
              <a:t>‹#›</a:t>
            </a:fld>
            <a:endParaRPr lang="ja-JP" altLang="en-US"/>
          </a:p>
        </p:txBody>
      </p:sp>
      <p:sp>
        <p:nvSpPr>
          <p:cNvPr id="3" name="テキスト プレースホルダー 2"/>
          <p:cNvSpPr>
            <a:spLocks noGrp="1"/>
          </p:cNvSpPr>
          <p:nvPr>
            <p:ph type="body" sz="quarter" idx="12" hasCustomPrompt="1"/>
          </p:nvPr>
        </p:nvSpPr>
        <p:spPr bwMode="gray">
          <a:xfrm>
            <a:off x="480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a:xfrm>
            <a:off x="480000" y="108000"/>
            <a:ext cx="11232000" cy="738000"/>
          </a:xfrm>
        </p:spPr>
        <p:txBody>
          <a:bodyPr/>
          <a:lstStyle/>
          <a:p>
            <a:r>
              <a:rPr lang="ja-JP" altLang="en-US"/>
              <a:t>キーメッセージを入力（本スライドで一番伝えたいこと＜名詞止め・体言止め不可＞）</a:t>
            </a:r>
            <a:endParaRPr kumimoji="1" lang="ja-JP" altLang="en-US"/>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基本版） コンテンツ両サイド_レベル_16:9">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コンテンツ プレースホルダ 2"/>
          <p:cNvSpPr>
            <a:spLocks noGrp="1"/>
          </p:cNvSpPr>
          <p:nvPr>
            <p:ph idx="1"/>
          </p:nvPr>
        </p:nvSpPr>
        <p:spPr bwMode="gray">
          <a:xfrm>
            <a:off x="480000" y="1476000"/>
            <a:ext cx="5436000" cy="4824000"/>
          </a:xfrm>
          <a:prstGeom prst="rect">
            <a:avLst/>
          </a:prstGeom>
        </p:spPr>
        <p:txBody>
          <a:bodyPr/>
          <a:lstStyle>
            <a:lvl1pPr>
              <a:lnSpc>
                <a:spcPct val="110000"/>
              </a:lnSpc>
              <a:spcBef>
                <a:spcPts val="600"/>
              </a:spcBef>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marR="0" indent="-179705" algn="l" defTabSz="989330" rtl="0" eaLnBrk="1" fontAlgn="auto" latinLnBrk="0" hangingPunct="1">
              <a:lnSpc>
                <a:spcPct val="110000"/>
              </a:lnSpc>
              <a:spcBef>
                <a:spcPts val="600"/>
              </a:spcBef>
              <a:spcAft>
                <a:spcPts val="0"/>
              </a:spcAft>
              <a:buClrTx/>
              <a:buSzTx/>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コンテンツ プレースホルダ 2"/>
          <p:cNvSpPr>
            <a:spLocks noGrp="1"/>
          </p:cNvSpPr>
          <p:nvPr>
            <p:ph idx="12"/>
          </p:nvPr>
        </p:nvSpPr>
        <p:spPr bwMode="gray">
          <a:xfrm>
            <a:off x="6276000" y="1476000"/>
            <a:ext cx="5436000" cy="4824000"/>
          </a:xfrm>
          <a:prstGeom prst="rect">
            <a:avLst/>
          </a:prstGeom>
        </p:spPr>
        <p:txBody>
          <a:bodyPr/>
          <a:lstStyle>
            <a:lvl1pPr>
              <a:lnSpc>
                <a:spcPct val="110000"/>
              </a:lnSpc>
              <a:spcBef>
                <a:spcPts val="600"/>
              </a:spcBef>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indent="-179705">
              <a:lnSpc>
                <a:spcPct val="110000"/>
              </a:lnSpc>
              <a:spcBef>
                <a:spcPts val="600"/>
              </a:spcBef>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0" name="スライド番号プレースホルダ 9"/>
          <p:cNvSpPr>
            <a:spLocks noGrp="1"/>
          </p:cNvSpPr>
          <p:nvPr>
            <p:ph type="sldNum" sz="quarter" idx="13"/>
          </p:nvPr>
        </p:nvSpPr>
        <p:spPr bwMode="gray"/>
        <p:txBody>
          <a:bodyPr/>
          <a:lstStyle>
            <a:lvl1pPr>
              <a:defRPr baseline="0">
                <a:solidFill>
                  <a:schemeClr val="tx1"/>
                </a:solidFill>
                <a:latin typeface="+mn-lt"/>
              </a:defRPr>
            </a:lvl1pPr>
          </a:lstStyle>
          <a:p>
            <a:fld id="{A3EB1B23-9AF8-425B-BAD7-B9FA00F18833}" type="slidenum">
              <a:rPr lang="ja-JP" altLang="en-US" smtClean="0"/>
              <a:t>‹#›</a:t>
            </a:fld>
            <a:endParaRPr lang="ja-JP" altLang="en-US"/>
          </a:p>
        </p:txBody>
      </p:sp>
      <p:sp>
        <p:nvSpPr>
          <p:cNvPr id="3" name="テキスト プレースホルダー 2"/>
          <p:cNvSpPr>
            <a:spLocks noGrp="1"/>
          </p:cNvSpPr>
          <p:nvPr>
            <p:ph type="body" sz="quarter" idx="15" hasCustomPrompt="1"/>
          </p:nvPr>
        </p:nvSpPr>
        <p:spPr bwMode="gray">
          <a:xfrm>
            <a:off x="480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13" name="テキスト プレースホルダー 2"/>
          <p:cNvSpPr>
            <a:spLocks noGrp="1"/>
          </p:cNvSpPr>
          <p:nvPr>
            <p:ph type="body" sz="quarter" idx="16" hasCustomPrompt="1"/>
          </p:nvPr>
        </p:nvSpPr>
        <p:spPr bwMode="gray">
          <a:xfrm>
            <a:off x="6276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a:xfrm>
            <a:off x="480000" y="108000"/>
            <a:ext cx="11232000" cy="738000"/>
          </a:xfrm>
        </p:spPr>
        <p:txBody>
          <a:bodyPr/>
          <a:lstStyle/>
          <a:p>
            <a:r>
              <a:rPr lang="ja-JP" altLang="en-US"/>
              <a:t>キーメッセージを入力（本スライドで一番伝えたいこと＜名詞止め・体言止め不可＞）</a:t>
            </a:r>
            <a:endParaRPr kumimoji="1" lang="ja-JP" altLang="en-US"/>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基本版） コンテンツ全面_レベル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コンテンツ プレースホルダ 2"/>
          <p:cNvSpPr>
            <a:spLocks noGrp="1"/>
          </p:cNvSpPr>
          <p:nvPr>
            <p:ph idx="1"/>
          </p:nvPr>
        </p:nvSpPr>
        <p:spPr bwMode="gray">
          <a:xfrm>
            <a:off x="480000" y="1476000"/>
            <a:ext cx="11232000" cy="4824000"/>
          </a:xfrm>
          <a:prstGeom prst="rect">
            <a:avLst/>
          </a:prstGeom>
        </p:spPr>
        <p:txBody>
          <a:bodyPr/>
          <a:lstStyle>
            <a:lvl1pPr>
              <a:lnSpc>
                <a:spcPct val="110000"/>
              </a:lnSpc>
              <a:spcBef>
                <a:spcPts val="600"/>
              </a:spcBef>
              <a:buFont typeface="Arial" panose="020B0604020202020204" pitchFamily="34" charset="0"/>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indent="-179705">
              <a:lnSpc>
                <a:spcPct val="110000"/>
              </a:lnSpc>
              <a:spcBef>
                <a:spcPts val="600"/>
              </a:spcBef>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スライド番号プレースホルダ 8"/>
          <p:cNvSpPr>
            <a:spLocks noGrp="1"/>
          </p:cNvSpPr>
          <p:nvPr>
            <p:ph type="sldNum" sz="quarter" idx="10"/>
          </p:nvPr>
        </p:nvSpPr>
        <p:spPr bwMode="gray"/>
        <p:txBody>
          <a:bodyPr/>
          <a:lstStyle>
            <a:lvl1pPr>
              <a:defRPr baseline="0">
                <a:solidFill>
                  <a:schemeClr val="tx1"/>
                </a:solidFill>
                <a:latin typeface="+mn-lt"/>
              </a:defRPr>
            </a:lvl1pPr>
          </a:lstStyle>
          <a:p>
            <a:fld id="{543A0986-838B-4D2A-A95C-8CB1738263FE}" type="slidenum">
              <a:rPr lang="ja-JP" altLang="en-US" smtClean="0"/>
              <a:t>‹#›</a:t>
            </a:fld>
            <a:endParaRPr lang="ja-JP" altLang="en-US"/>
          </a:p>
        </p:txBody>
      </p:sp>
      <p:sp>
        <p:nvSpPr>
          <p:cNvPr id="8" name="テキスト プレースホルダー 2"/>
          <p:cNvSpPr>
            <a:spLocks noGrp="1"/>
          </p:cNvSpPr>
          <p:nvPr>
            <p:ph type="body" sz="quarter" idx="15" hasCustomPrompt="1"/>
          </p:nvPr>
        </p:nvSpPr>
        <p:spPr bwMode="gray">
          <a:xfrm>
            <a:off x="480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3" name="タイトル 2"/>
          <p:cNvSpPr>
            <a:spLocks noGrp="1"/>
          </p:cNvSpPr>
          <p:nvPr>
            <p:ph type="title" hasCustomPrompt="1"/>
          </p:nvPr>
        </p:nvSpPr>
        <p:spPr bwMode="gray">
          <a:xfrm>
            <a:off x="480000" y="108000"/>
            <a:ext cx="11232000" cy="738000"/>
          </a:xfrm>
        </p:spPr>
        <p:txBody>
          <a:bodyPr/>
          <a:lstStyle/>
          <a:p>
            <a:r>
              <a:rPr lang="ja-JP" altLang="en-US"/>
              <a:t>キーメッセージを入力（本スライドで一番伝えたいこと＜名詞止め・体言止め不可＞）</a:t>
            </a:r>
            <a:endParaRPr kumimoji="1" lang="ja-JP" altLang="en-US"/>
          </a:p>
        </p:txBody>
      </p:sp>
      <p:sp>
        <p:nvSpPr>
          <p:cNvPr id="4"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白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2" name="図 11"/>
          <p:cNvPicPr>
            <a:picLocks noChangeAspect="1"/>
          </p:cNvPicPr>
          <p:nvPr userDrawn="1"/>
        </p:nvPicPr>
        <p:blipFill>
          <a:blip r:embed="rId5"/>
          <a:stretch>
            <a:fillRect/>
          </a:stretch>
        </p:blipFill>
        <p:spPr bwMode="gray">
          <a:xfrm>
            <a:off x="10270800" y="5472000"/>
            <a:ext cx="1440000" cy="873776"/>
          </a:xfrm>
          <a:prstGeom prst="rect">
            <a:avLst/>
          </a:prstGeom>
        </p:spPr>
      </p:pic>
      <p:pic>
        <p:nvPicPr>
          <p:cNvPr id="7" name="図 6"/>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bwMode="gray">
          <a:xfrm>
            <a:off x="478800" y="432000"/>
            <a:ext cx="2016000" cy="631680"/>
          </a:xfrm>
          <a:prstGeom prst="rect">
            <a:avLst/>
          </a:prstGeom>
        </p:spPr>
      </p:pic>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prstClr val="black"/>
                </a:solidFill>
                <a:latin typeface="+mn-lt"/>
                <a:cs typeface="+mn-cs"/>
                <a:sym typeface="+mn-lt"/>
              </a:rPr>
              <a:t>Member of</a:t>
            </a:r>
            <a:br>
              <a:rPr kumimoji="1" lang="en-US" altLang="ja-JP" sz="800">
                <a:solidFill>
                  <a:prstClr val="black"/>
                </a:solidFill>
                <a:latin typeface="+mn-lt"/>
                <a:cs typeface="+mn-cs"/>
                <a:sym typeface="+mn-lt"/>
              </a:rPr>
            </a:br>
            <a:r>
              <a:rPr kumimoji="1" lang="en-US" altLang="ja-JP" sz="800" b="1">
                <a:solidFill>
                  <a:prstClr val="black"/>
                </a:solidFill>
                <a:latin typeface="+mn-lt"/>
                <a:cs typeface="+mn-cs"/>
                <a:sym typeface="+mn-lt"/>
              </a:rPr>
              <a:t>Deloitte Touche Tohmatsu Limited</a:t>
            </a:r>
            <a:endParaRPr kumimoji="1" lang="ja-JP" altLang="en-US" sz="800" b="1">
              <a:solidFill>
                <a:prstClr val="black"/>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2022. For information, contact Deloitte Tohmatsu Group.</a:t>
            </a:r>
          </a:p>
        </p:txBody>
      </p:sp>
    </p:spTree>
  </p:cSld>
  <p:clrMapOvr>
    <a:masterClrMapping/>
  </p:clrMapOvr>
  <p:hf hdr="0"/>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黒_16:9">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schemeClr val="bg1"/>
                </a:solidFill>
                <a:latin typeface="+mn-lt"/>
                <a:cs typeface="+mn-cs"/>
                <a:sym typeface="+mn-lt"/>
              </a:rPr>
              <a:t>Member of</a:t>
            </a:r>
            <a:br>
              <a:rPr kumimoji="1" lang="en-US" altLang="ja-JP" sz="800">
                <a:solidFill>
                  <a:schemeClr val="bg1"/>
                </a:solidFill>
                <a:latin typeface="+mn-lt"/>
                <a:cs typeface="+mn-cs"/>
                <a:sym typeface="+mn-lt"/>
              </a:rPr>
            </a:br>
            <a:r>
              <a:rPr kumimoji="1" lang="en-US" altLang="ja-JP" sz="800" b="1">
                <a:solidFill>
                  <a:schemeClr val="bg1"/>
                </a:solidFill>
                <a:latin typeface="+mn-lt"/>
                <a:cs typeface="+mn-cs"/>
                <a:sym typeface="+mn-lt"/>
              </a:rPr>
              <a:t>Deloitte Touche Tohmatsu Limited</a:t>
            </a:r>
            <a:endParaRPr kumimoji="1" lang="ja-JP" altLang="en-US" sz="800" b="1">
              <a:solidFill>
                <a:schemeClr val="bg1"/>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solidFill>
                  <a:schemeClr val="bg1"/>
                </a:solidFill>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bg1"/>
                </a:solidFill>
                <a:latin typeface="+mn-lt"/>
                <a:ea typeface="+mn-ea"/>
                <a:cs typeface="+mn-cs"/>
                <a:sym typeface="+mn-lt"/>
              </a:rPr>
              <a:t>© 2022. For information, contact Deloitte Tohmatsu Group.</a:t>
            </a:r>
          </a:p>
        </p:txBody>
      </p:sp>
      <p:pic>
        <p:nvPicPr>
          <p:cNvPr id="8" name="図 7"/>
          <p:cNvPicPr>
            <a:picLocks noChangeAspect="1"/>
          </p:cNvPicPr>
          <p:nvPr userDrawn="1"/>
        </p:nvPicPr>
        <p:blipFill>
          <a:blip r:embed="rId5"/>
          <a:stretch>
            <a:fillRect/>
          </a:stretch>
        </p:blipFill>
        <p:spPr bwMode="gray">
          <a:xfrm>
            <a:off x="10270800" y="5472000"/>
            <a:ext cx="1440000" cy="873776"/>
          </a:xfrm>
          <a:prstGeom prst="rect">
            <a:avLst/>
          </a:prstGeom>
        </p:spPr>
      </p:pic>
      <p:pic>
        <p:nvPicPr>
          <p:cNvPr id="9" name="図 8"/>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bwMode="gray">
          <a:xfrm>
            <a:off x="478800" y="431999"/>
            <a:ext cx="2016000" cy="627200"/>
          </a:xfrm>
          <a:prstGeom prst="rect">
            <a:avLst/>
          </a:prstGeom>
        </p:spPr>
      </p:pic>
    </p:spTree>
  </p:cSld>
  <p:clrMapOvr>
    <a:masterClrMapping/>
  </p:clrMapOvr>
  <p:hf hdr="0"/>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白_トーマツロゴ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2" name="図 11"/>
          <p:cNvPicPr>
            <a:picLocks noChangeAspect="1"/>
          </p:cNvPicPr>
          <p:nvPr userDrawn="1"/>
        </p:nvPicPr>
        <p:blipFill>
          <a:blip r:embed="rId5"/>
          <a:stretch>
            <a:fillRect/>
          </a:stretch>
        </p:blipFill>
        <p:spPr bwMode="gray">
          <a:xfrm>
            <a:off x="10270800" y="5472000"/>
            <a:ext cx="1440000" cy="873776"/>
          </a:xfrm>
          <a:prstGeom prst="rect">
            <a:avLst/>
          </a:prstGeom>
        </p:spPr>
      </p:pic>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prstClr val="black"/>
                </a:solidFill>
                <a:latin typeface="+mn-lt"/>
                <a:cs typeface="+mn-cs"/>
                <a:sym typeface="+mn-lt"/>
              </a:rPr>
              <a:t>Member of</a:t>
            </a:r>
            <a:br>
              <a:rPr kumimoji="1" lang="en-US" altLang="ja-JP" sz="800">
                <a:solidFill>
                  <a:prstClr val="black"/>
                </a:solidFill>
                <a:latin typeface="+mn-lt"/>
                <a:cs typeface="+mn-cs"/>
                <a:sym typeface="+mn-lt"/>
              </a:rPr>
            </a:br>
            <a:r>
              <a:rPr kumimoji="1" lang="en-US" altLang="ja-JP" sz="800" b="1">
                <a:solidFill>
                  <a:prstClr val="black"/>
                </a:solidFill>
                <a:latin typeface="+mn-lt"/>
                <a:cs typeface="+mn-cs"/>
                <a:sym typeface="+mn-lt"/>
              </a:rPr>
              <a:t>Deloitte Touche Tohmatsu Limited</a:t>
            </a:r>
            <a:endParaRPr kumimoji="1" lang="ja-JP" altLang="en-US" sz="800" b="1">
              <a:solidFill>
                <a:prstClr val="black"/>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2022. For information, contact Deloitte Tohmatsu Group.</a:t>
            </a:r>
          </a:p>
        </p:txBody>
      </p:sp>
      <p:pic>
        <p:nvPicPr>
          <p:cNvPr id="8" name="図 7"/>
          <p:cNvPicPr>
            <a:picLocks noChangeAspect="1"/>
          </p:cNvPicPr>
          <p:nvPr userDrawn="1"/>
        </p:nvPicPr>
        <p:blipFill rotWithShape="1">
          <a:blip r:embed="rId6">
            <a:extLst>
              <a:ext uri="{28A0092B-C50C-407E-A947-70E740481C1C}">
                <a14:useLocalDpi xmlns:a14="http://schemas.microsoft.com/office/drawing/2010/main" val="0"/>
              </a:ext>
            </a:extLst>
          </a:blip>
          <a:srcRect/>
          <a:stretch>
            <a:fillRect/>
          </a:stretch>
        </p:blipFill>
        <p:spPr bwMode="gray">
          <a:xfrm>
            <a:off x="478800" y="431005"/>
            <a:ext cx="3721455" cy="632962"/>
          </a:xfrm>
          <a:prstGeom prst="rect">
            <a:avLst/>
          </a:prstGeom>
          <a:noFill/>
          <a:ln>
            <a:noFill/>
          </a:ln>
        </p:spPr>
      </p:pic>
    </p:spTree>
  </p:cSld>
  <p:clrMapOvr>
    <a:masterClrMapping/>
  </p:clrMapOvr>
  <p:hf hdr="0"/>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黒_トーマツロゴ_16:9">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schemeClr val="bg1"/>
                </a:solidFill>
                <a:latin typeface="+mn-lt"/>
                <a:cs typeface="+mn-cs"/>
                <a:sym typeface="+mn-lt"/>
              </a:rPr>
              <a:t>Member of</a:t>
            </a:r>
            <a:br>
              <a:rPr kumimoji="1" lang="en-US" altLang="ja-JP" sz="800">
                <a:solidFill>
                  <a:schemeClr val="bg1"/>
                </a:solidFill>
                <a:latin typeface="+mn-lt"/>
                <a:cs typeface="+mn-cs"/>
                <a:sym typeface="+mn-lt"/>
              </a:rPr>
            </a:br>
            <a:r>
              <a:rPr kumimoji="1" lang="en-US" altLang="ja-JP" sz="800" b="1">
                <a:solidFill>
                  <a:schemeClr val="bg1"/>
                </a:solidFill>
                <a:latin typeface="+mn-lt"/>
                <a:cs typeface="+mn-cs"/>
                <a:sym typeface="+mn-lt"/>
              </a:rPr>
              <a:t>Deloitte Touche Tohmatsu Limited</a:t>
            </a:r>
            <a:endParaRPr kumimoji="1" lang="ja-JP" altLang="en-US" sz="800" b="1">
              <a:solidFill>
                <a:schemeClr val="bg1"/>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solidFill>
                  <a:schemeClr val="bg1"/>
                </a:solidFill>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bg1"/>
                </a:solidFill>
                <a:latin typeface="+mn-lt"/>
                <a:ea typeface="+mn-ea"/>
                <a:cs typeface="+mn-cs"/>
                <a:sym typeface="+mn-lt"/>
              </a:rPr>
              <a:t>© 2022. For information, contact Deloitte Tohmatsu Group.</a:t>
            </a:r>
          </a:p>
        </p:txBody>
      </p:sp>
      <p:pic>
        <p:nvPicPr>
          <p:cNvPr id="8" name="図 7"/>
          <p:cNvPicPr>
            <a:picLocks noChangeAspect="1"/>
          </p:cNvPicPr>
          <p:nvPr userDrawn="1"/>
        </p:nvPicPr>
        <p:blipFill>
          <a:blip r:embed="rId5"/>
          <a:stretch>
            <a:fillRect/>
          </a:stretch>
        </p:blipFill>
        <p:spPr bwMode="gray">
          <a:xfrm>
            <a:off x="10270800" y="5472000"/>
            <a:ext cx="1440000" cy="873776"/>
          </a:xfrm>
          <a:prstGeom prst="rect">
            <a:avLst/>
          </a:prstGeom>
        </p:spPr>
      </p:pic>
      <p:pic>
        <p:nvPicPr>
          <p:cNvPr id="10" name="図 9"/>
          <p:cNvPicPr>
            <a:picLocks noChangeAspect="1"/>
          </p:cNvPicPr>
          <p:nvPr userDrawn="1"/>
        </p:nvPicPr>
        <p:blipFill rotWithShape="1">
          <a:blip r:embed="rId6">
            <a:extLst>
              <a:ext uri="{28A0092B-C50C-407E-A947-70E740481C1C}">
                <a14:useLocalDpi xmlns:a14="http://schemas.microsoft.com/office/drawing/2010/main" val="0"/>
              </a:ext>
            </a:extLst>
          </a:blip>
          <a:srcRect/>
          <a:stretch>
            <a:fillRect/>
          </a:stretch>
        </p:blipFill>
        <p:spPr bwMode="gray">
          <a:xfrm>
            <a:off x="478800" y="431997"/>
            <a:ext cx="3725944" cy="632962"/>
          </a:xfrm>
          <a:prstGeom prst="rect">
            <a:avLst/>
          </a:prstGeom>
        </p:spPr>
      </p:pic>
    </p:spTree>
  </p:cSld>
  <p:clrMapOvr>
    <a:masterClrMapping/>
  </p:clrMapOvr>
  <p:hf hdr="0"/>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userDrawn="1">
  <p:cSld name="（基本版） 目次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13" name="Content Placeholder 3"/>
          <p:cNvSpPr>
            <a:spLocks noGrp="1"/>
          </p:cNvSpPr>
          <p:nvPr>
            <p:ph sz="quarter" idx="10"/>
          </p:nvPr>
        </p:nvSpPr>
        <p:spPr bwMode="gray">
          <a:xfrm>
            <a:off x="513231" y="1476000"/>
            <a:ext cx="5361231" cy="4824000"/>
          </a:xfrm>
          <a:prstGeom prst="rect">
            <a:avLst/>
          </a:prstGeom>
        </p:spPr>
        <p:txBody>
          <a:bodyPr/>
          <a:lstStyle>
            <a:lvl1pPr>
              <a:lnSpc>
                <a:spcPct val="110000"/>
              </a:lnSpc>
              <a:spcBef>
                <a:spcPts val="740"/>
              </a:spcBef>
              <a:tabLst>
                <a:tab pos="6704965" algn="r"/>
              </a:tabLst>
              <a:defRPr sz="1475">
                <a:latin typeface="+mn-lt"/>
                <a:ea typeface="+mn-ea"/>
                <a:cs typeface="+mn-cs"/>
                <a:sym typeface="+mn-lt"/>
              </a:defRPr>
            </a:lvl1pPr>
            <a:lvl2pPr>
              <a:lnSpc>
                <a:spcPct val="110000"/>
              </a:lnSpc>
              <a:spcBef>
                <a:spcPts val="740"/>
              </a:spcBef>
              <a:tabLst>
                <a:tab pos="6704965" algn="r"/>
              </a:tabLst>
              <a:defRPr sz="1475">
                <a:latin typeface="+mn-lt"/>
                <a:ea typeface="+mn-ea"/>
                <a:cs typeface="+mn-cs"/>
                <a:sym typeface="+mn-lt"/>
              </a:defRPr>
            </a:lvl2pPr>
            <a:lvl3pPr>
              <a:lnSpc>
                <a:spcPct val="110000"/>
              </a:lnSpc>
              <a:spcBef>
                <a:spcPts val="740"/>
              </a:spcBef>
              <a:tabLst>
                <a:tab pos="6704965" algn="r"/>
              </a:tabLst>
              <a:defRPr sz="1475">
                <a:latin typeface="+mn-lt"/>
                <a:ea typeface="+mn-ea"/>
                <a:cs typeface="+mn-cs"/>
                <a:sym typeface="+mn-lt"/>
              </a:defRPr>
            </a:lvl3pPr>
            <a:lvl4pPr>
              <a:lnSpc>
                <a:spcPct val="110000"/>
              </a:lnSpc>
              <a:spcBef>
                <a:spcPts val="740"/>
              </a:spcBef>
              <a:tabLst>
                <a:tab pos="6704965" algn="r"/>
              </a:tabLst>
              <a:defRPr sz="1475">
                <a:latin typeface="+mn-lt"/>
                <a:ea typeface="+mn-ea"/>
                <a:cs typeface="+mn-cs"/>
                <a:sym typeface="+mn-lt"/>
              </a:defRPr>
            </a:lvl4pPr>
            <a:lvl5pPr>
              <a:tabLst>
                <a:tab pos="67049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15" name="Content Placeholder 3"/>
          <p:cNvSpPr>
            <a:spLocks noGrp="1"/>
          </p:cNvSpPr>
          <p:nvPr>
            <p:ph sz="quarter" idx="20"/>
          </p:nvPr>
        </p:nvSpPr>
        <p:spPr bwMode="gray">
          <a:xfrm>
            <a:off x="6317538" y="1476000"/>
            <a:ext cx="5361231" cy="4824000"/>
          </a:xfrm>
          <a:prstGeom prst="rect">
            <a:avLst/>
          </a:prstGeom>
        </p:spPr>
        <p:txBody>
          <a:bodyPr/>
          <a:lstStyle>
            <a:lvl1pPr>
              <a:lnSpc>
                <a:spcPct val="110000"/>
              </a:lnSpc>
              <a:spcBef>
                <a:spcPts val="740"/>
              </a:spcBef>
              <a:tabLst>
                <a:tab pos="6704965" algn="r"/>
              </a:tabLst>
              <a:defRPr sz="1475">
                <a:latin typeface="+mn-lt"/>
                <a:ea typeface="+mn-ea"/>
                <a:cs typeface="+mn-cs"/>
                <a:sym typeface="+mn-lt"/>
              </a:defRPr>
            </a:lvl1pPr>
            <a:lvl2pPr>
              <a:lnSpc>
                <a:spcPct val="110000"/>
              </a:lnSpc>
              <a:spcBef>
                <a:spcPts val="740"/>
              </a:spcBef>
              <a:tabLst>
                <a:tab pos="6704965" algn="r"/>
              </a:tabLst>
              <a:defRPr sz="1475">
                <a:latin typeface="+mn-lt"/>
                <a:ea typeface="+mn-ea"/>
                <a:cs typeface="+mn-cs"/>
                <a:sym typeface="+mn-lt"/>
              </a:defRPr>
            </a:lvl2pPr>
            <a:lvl3pPr>
              <a:lnSpc>
                <a:spcPct val="110000"/>
              </a:lnSpc>
              <a:spcBef>
                <a:spcPts val="740"/>
              </a:spcBef>
              <a:tabLst>
                <a:tab pos="6704965" algn="r"/>
              </a:tabLst>
              <a:defRPr sz="1475">
                <a:latin typeface="+mn-lt"/>
                <a:ea typeface="+mn-ea"/>
                <a:cs typeface="+mn-cs"/>
                <a:sym typeface="+mn-lt"/>
              </a:defRPr>
            </a:lvl3pPr>
            <a:lvl4pPr>
              <a:lnSpc>
                <a:spcPct val="110000"/>
              </a:lnSpc>
              <a:spcBef>
                <a:spcPts val="740"/>
              </a:spcBef>
              <a:tabLst>
                <a:tab pos="6704965" algn="r"/>
              </a:tabLst>
              <a:defRPr sz="1475">
                <a:latin typeface="+mn-lt"/>
                <a:ea typeface="+mn-ea"/>
                <a:cs typeface="+mn-cs"/>
                <a:sym typeface="+mn-lt"/>
              </a:defRPr>
            </a:lvl4pPr>
            <a:lvl5pPr>
              <a:tabLst>
                <a:tab pos="67049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4" name="タイトル 3"/>
          <p:cNvSpPr>
            <a:spLocks noGrp="1"/>
          </p:cNvSpPr>
          <p:nvPr>
            <p:ph type="title"/>
          </p:nvPr>
        </p:nvSpPr>
        <p:spPr bwMode="gray"/>
        <p:txBody>
          <a:bodyPr vert="horz"/>
          <a:lstStyle>
            <a:lvl1pPr>
              <a:defRPr>
                <a:latin typeface="+mj-lt"/>
                <a:ea typeface="+mj-ea"/>
                <a:cs typeface="+mj-cs"/>
                <a:sym typeface="+mj-lt"/>
              </a:defRPr>
            </a:lvl1pPr>
          </a:lstStyle>
          <a:p>
            <a:r>
              <a:rPr kumimoji="1" lang="ja-JP" altLang="en-US"/>
              <a:t>マスター タイトルの書式設定</a:t>
            </a: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基本版） 中表紙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267199" y="2232000"/>
            <a:ext cx="6380308" cy="432000"/>
          </a:xfrm>
          <a:prstGeom prst="rect">
            <a:avLst/>
          </a:prstGeom>
          <a:noFill/>
        </p:spPr>
        <p:txBody>
          <a:bodyPr wrap="square" lIns="0" rIns="0" anchor="t" anchorCtr="0">
            <a:noAutofit/>
          </a:bodyPr>
          <a:lstStyle>
            <a:lvl1pPr marL="0" indent="0" algn="l">
              <a:lnSpc>
                <a:spcPct val="100000"/>
              </a:lnSpc>
              <a:spcBef>
                <a:spcPts val="0"/>
              </a:spcBef>
              <a:buNone/>
              <a:defRPr sz="3445" b="1" baseline="0">
                <a:solidFill>
                  <a:schemeClr val="tx1"/>
                </a:solidFill>
                <a:latin typeface="+mj-lt"/>
                <a:ea typeface="+mj-ea"/>
                <a:cs typeface="+mn-cs"/>
                <a:sym typeface="+mn-lt"/>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7" name="フッター プレースホルダ 6"/>
          <p:cNvSpPr>
            <a:spLocks noGrp="1"/>
          </p:cNvSpPr>
          <p:nvPr>
            <p:ph type="ftr" sz="quarter" idx="12"/>
          </p:nvPr>
        </p:nvSpPr>
        <p:spPr bwMode="gray">
          <a:xfrm>
            <a:off x="730800" y="6588000"/>
            <a:ext cx="5184000" cy="169200"/>
          </a:xfrm>
          <a:prstGeom prst="rect">
            <a:avLst/>
          </a:prstGeom>
        </p:spPr>
        <p:txBody>
          <a:bodyPr/>
          <a:lstStyle>
            <a:lvl1pPr>
              <a:defRPr>
                <a:solidFill>
                  <a:schemeClr val="tx1"/>
                </a:solidFill>
                <a:latin typeface="+mn-lt"/>
                <a:ea typeface="+mn-ea"/>
                <a:cs typeface="+mn-cs"/>
                <a:sym typeface="+mn-lt"/>
              </a:defRPr>
            </a:lvl1pPr>
          </a:lstStyle>
          <a:p>
            <a:r>
              <a:rPr lang="en-US" altLang="ja-JP"/>
              <a:t>Notes</a:t>
            </a:r>
            <a:r>
              <a:rPr lang="ja-JP" altLang="en-US"/>
              <a:t>アプリ刷新のご提案</a:t>
            </a:r>
            <a:endParaRPr lang="en-GB" altLang="en-GB"/>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cSld name="（基本版） コンテンツ両サイド_レベル_Proposal">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8" name="コンテンツ プレースホルダ 2"/>
          <p:cNvSpPr>
            <a:spLocks noGrp="1"/>
          </p:cNvSpPr>
          <p:nvPr>
            <p:ph idx="1"/>
          </p:nvPr>
        </p:nvSpPr>
        <p:spPr bwMode="gray">
          <a:xfrm>
            <a:off x="512610" y="1476000"/>
            <a:ext cx="5361231" cy="4824000"/>
          </a:xfrm>
          <a:prstGeom prst="rect">
            <a:avLst/>
          </a:prstGeom>
        </p:spPr>
        <p:txBody>
          <a:bodyPr/>
          <a:lstStyle>
            <a:lvl1pPr>
              <a:lnSpc>
                <a:spcPct val="110000"/>
              </a:lnSpc>
              <a:spcBef>
                <a:spcPts val="740"/>
              </a:spcBef>
              <a:buNone/>
              <a:defRPr sz="1475" baseline="0">
                <a:latin typeface="+mn-lt"/>
                <a:ea typeface="+mn-ea"/>
                <a:cs typeface="+mn-cs"/>
                <a:sym typeface="+mn-lt"/>
              </a:defRPr>
            </a:lvl1pPr>
            <a:lvl2pPr marL="221615" indent="-221615">
              <a:lnSpc>
                <a:spcPct val="110000"/>
              </a:lnSpc>
              <a:spcBef>
                <a:spcPts val="740"/>
              </a:spcBef>
              <a:buFont typeface="Wingdings" panose="05000000000000000000" pitchFamily="2" charset="2"/>
              <a:buChar char="n"/>
              <a:defRPr sz="1475" baseline="0">
                <a:latin typeface="+mn-lt"/>
                <a:ea typeface="+mn-ea"/>
                <a:cs typeface="+mn-cs"/>
                <a:sym typeface="+mn-lt"/>
              </a:defRPr>
            </a:lvl2pPr>
            <a:lvl3pPr marL="443230" indent="-221615">
              <a:lnSpc>
                <a:spcPct val="110000"/>
              </a:lnSpc>
              <a:spcBef>
                <a:spcPts val="740"/>
              </a:spcBef>
              <a:buFont typeface="Wingdings" panose="05000000000000000000" pitchFamily="2" charset="2"/>
              <a:buChar char="Ø"/>
              <a:defRPr sz="1475" baseline="0">
                <a:latin typeface="+mn-lt"/>
                <a:ea typeface="+mn-ea"/>
                <a:cs typeface="+mn-cs"/>
                <a:sym typeface="+mn-lt"/>
              </a:defRPr>
            </a:lvl3pPr>
            <a:lvl4pPr marL="620395" marR="0" indent="-177165" algn="l" defTabSz="1217295" rtl="0" eaLnBrk="1" fontAlgn="auto" latinLnBrk="0" hangingPunct="1">
              <a:lnSpc>
                <a:spcPct val="110000"/>
              </a:lnSpc>
              <a:spcBef>
                <a:spcPts val="740"/>
              </a:spcBef>
              <a:spcAft>
                <a:spcPts val="0"/>
              </a:spcAft>
              <a:buClrTx/>
              <a:buSzTx/>
              <a:buFont typeface="Arial" panose="020B0604020202020204" pitchFamily="34" charset="0"/>
              <a:buChar char="•"/>
              <a:defRPr sz="1475"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コンテンツ プレースホルダ 2"/>
          <p:cNvSpPr>
            <a:spLocks noGrp="1"/>
          </p:cNvSpPr>
          <p:nvPr>
            <p:ph idx="12"/>
          </p:nvPr>
        </p:nvSpPr>
        <p:spPr bwMode="gray">
          <a:xfrm>
            <a:off x="6316785" y="1476000"/>
            <a:ext cx="5361231" cy="4824000"/>
          </a:xfrm>
          <a:prstGeom prst="rect">
            <a:avLst/>
          </a:prstGeom>
        </p:spPr>
        <p:txBody>
          <a:bodyPr/>
          <a:lstStyle>
            <a:lvl1pPr>
              <a:lnSpc>
                <a:spcPct val="110000"/>
              </a:lnSpc>
              <a:spcBef>
                <a:spcPts val="740"/>
              </a:spcBef>
              <a:buNone/>
              <a:defRPr sz="1475" baseline="0">
                <a:latin typeface="+mn-lt"/>
                <a:ea typeface="+mn-ea"/>
                <a:cs typeface="+mn-cs"/>
                <a:sym typeface="+mn-lt"/>
              </a:defRPr>
            </a:lvl1pPr>
            <a:lvl2pPr marL="221615" indent="-221615">
              <a:lnSpc>
                <a:spcPct val="110000"/>
              </a:lnSpc>
              <a:spcBef>
                <a:spcPts val="740"/>
              </a:spcBef>
              <a:buFont typeface="Wingdings" panose="05000000000000000000" pitchFamily="2" charset="2"/>
              <a:buChar char="n"/>
              <a:defRPr sz="1475" baseline="0">
                <a:latin typeface="+mn-lt"/>
                <a:ea typeface="+mn-ea"/>
                <a:cs typeface="+mn-cs"/>
                <a:sym typeface="+mn-lt"/>
              </a:defRPr>
            </a:lvl2pPr>
            <a:lvl3pPr marL="443230" indent="-221615">
              <a:lnSpc>
                <a:spcPct val="110000"/>
              </a:lnSpc>
              <a:spcBef>
                <a:spcPts val="740"/>
              </a:spcBef>
              <a:buFont typeface="Wingdings" panose="05000000000000000000" pitchFamily="2" charset="2"/>
              <a:buChar char="Ø"/>
              <a:defRPr sz="1475" baseline="0">
                <a:latin typeface="+mn-lt"/>
                <a:ea typeface="+mn-ea"/>
                <a:cs typeface="+mn-cs"/>
                <a:sym typeface="+mn-lt"/>
              </a:defRPr>
            </a:lvl3pPr>
            <a:lvl4pPr marL="620395" indent="-177165">
              <a:lnSpc>
                <a:spcPct val="110000"/>
              </a:lnSpc>
              <a:spcBef>
                <a:spcPts val="740"/>
              </a:spcBef>
              <a:buFont typeface="Arial" panose="020B0604020202020204" pitchFamily="34" charset="0"/>
              <a:buChar char="•"/>
              <a:defRPr sz="1475"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0" name="スライド番号プレースホルダ 9"/>
          <p:cNvSpPr>
            <a:spLocks noGrp="1"/>
          </p:cNvSpPr>
          <p:nvPr>
            <p:ph type="sldNum" sz="quarter" idx="13"/>
          </p:nvPr>
        </p:nvSpPr>
        <p:spPr bwMode="gray"/>
        <p:txBody>
          <a:bodyPr/>
          <a:lstStyle>
            <a:lvl1pPr>
              <a:defRPr baseline="0">
                <a:solidFill>
                  <a:schemeClr val="tx1"/>
                </a:solidFill>
                <a:latin typeface="+mn-lt"/>
                <a:ea typeface="+mn-ea"/>
                <a:cs typeface="+mn-cs"/>
                <a:sym typeface="+mn-lt"/>
              </a:defRPr>
            </a:lvl1pPr>
          </a:lstStyle>
          <a:p>
            <a:fld id="{A3EB1B23-9AF8-425B-BAD7-B9FA00F18833}" type="slidenum">
              <a:rPr lang="ja-JP" altLang="en-US" smtClean="0"/>
              <a:t>‹#›</a:t>
            </a:fld>
            <a:endParaRPr lang="ja-JP" altLang="en-US"/>
          </a:p>
        </p:txBody>
      </p:sp>
      <p:sp>
        <p:nvSpPr>
          <p:cNvPr id="11" name="フッター プレースホルダ 10"/>
          <p:cNvSpPr>
            <a:spLocks noGrp="1"/>
          </p:cNvSpPr>
          <p:nvPr>
            <p:ph type="ftr" sz="quarter" idx="14"/>
          </p:nvPr>
        </p:nvSpPr>
        <p:spPr bwMode="gray">
          <a:xfrm>
            <a:off x="730800" y="6588000"/>
            <a:ext cx="5184000" cy="169200"/>
          </a:xfrm>
          <a:prstGeom prst="rect">
            <a:avLst/>
          </a:prstGeom>
        </p:spPr>
        <p:txBody>
          <a:bodyPr/>
          <a:lstStyle>
            <a:lvl1pPr>
              <a:defRPr baseline="0">
                <a:solidFill>
                  <a:schemeClr val="tx1"/>
                </a:solidFill>
                <a:latin typeface="+mn-lt"/>
                <a:ea typeface="+mn-ea"/>
                <a:cs typeface="+mn-cs"/>
                <a:sym typeface="+mn-lt"/>
              </a:defRPr>
            </a:lvl1pPr>
          </a:lstStyle>
          <a:p>
            <a:r>
              <a:rPr lang="en-US" altLang="ja-JP"/>
              <a:t>Notes</a:t>
            </a:r>
            <a:r>
              <a:rPr lang="ja-JP" altLang="en-US"/>
              <a:t>アプリ刷新のご提案</a:t>
            </a:r>
            <a:endParaRPr lang="en-GB" altLang="en-GB"/>
          </a:p>
        </p:txBody>
      </p:sp>
      <p:sp>
        <p:nvSpPr>
          <p:cNvPr id="3"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725"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13" name="テキスト プレースホルダー 2"/>
          <p:cNvSpPr>
            <a:spLocks noGrp="1"/>
          </p:cNvSpPr>
          <p:nvPr>
            <p:ph type="body" sz="quarter" idx="16" hasCustomPrompt="1"/>
          </p:nvPr>
        </p:nvSpPr>
        <p:spPr bwMode="gray">
          <a:xfrm>
            <a:off x="6316785" y="1008000"/>
            <a:ext cx="5361231" cy="468000"/>
          </a:xfrm>
          <a:prstGeom prst="rect">
            <a:avLst/>
          </a:prstGeom>
        </p:spPr>
        <p:txBody>
          <a:bodyPr wrap="none" anchor="ctr">
            <a:noAutofit/>
          </a:bodyPr>
          <a:lstStyle>
            <a:lvl1pPr>
              <a:lnSpc>
                <a:spcPct val="100000"/>
              </a:lnSpc>
              <a:spcBef>
                <a:spcPts val="0"/>
              </a:spcBef>
              <a:defRPr sz="1725"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基本版） コンテンツ全面_レベル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6" name="コンテンツ プレースホルダ 2"/>
          <p:cNvSpPr>
            <a:spLocks noGrp="1"/>
          </p:cNvSpPr>
          <p:nvPr>
            <p:ph idx="1"/>
          </p:nvPr>
        </p:nvSpPr>
        <p:spPr bwMode="gray">
          <a:xfrm>
            <a:off x="513230" y="1476000"/>
            <a:ext cx="11165538" cy="4824000"/>
          </a:xfrm>
          <a:prstGeom prst="rect">
            <a:avLst/>
          </a:prstGeom>
        </p:spPr>
        <p:txBody>
          <a:bodyPr/>
          <a:lstStyle>
            <a:lvl1pPr>
              <a:lnSpc>
                <a:spcPct val="110000"/>
              </a:lnSpc>
              <a:spcBef>
                <a:spcPts val="740"/>
              </a:spcBef>
              <a:buFont typeface="Arial" panose="020B0604020202020204" pitchFamily="34" charset="0"/>
              <a:buNone/>
              <a:defRPr sz="1475" baseline="0">
                <a:latin typeface="+mn-lt"/>
                <a:ea typeface="+mn-ea"/>
                <a:cs typeface="+mn-cs"/>
                <a:sym typeface="+mn-lt"/>
              </a:defRPr>
            </a:lvl1pPr>
            <a:lvl2pPr marL="221615" indent="-221615">
              <a:lnSpc>
                <a:spcPct val="110000"/>
              </a:lnSpc>
              <a:spcBef>
                <a:spcPts val="740"/>
              </a:spcBef>
              <a:buFont typeface="Wingdings" panose="05000000000000000000" pitchFamily="2" charset="2"/>
              <a:buChar char="n"/>
              <a:defRPr sz="1475" baseline="0">
                <a:latin typeface="+mn-lt"/>
                <a:ea typeface="+mn-ea"/>
                <a:cs typeface="+mn-cs"/>
                <a:sym typeface="+mn-lt"/>
              </a:defRPr>
            </a:lvl2pPr>
            <a:lvl3pPr marL="443230" indent="-221615">
              <a:lnSpc>
                <a:spcPct val="110000"/>
              </a:lnSpc>
              <a:spcBef>
                <a:spcPts val="740"/>
              </a:spcBef>
              <a:buFont typeface="Wingdings" panose="05000000000000000000" pitchFamily="2" charset="2"/>
              <a:buChar char="Ø"/>
              <a:defRPr sz="1475" baseline="0">
                <a:latin typeface="+mn-lt"/>
                <a:ea typeface="+mn-ea"/>
                <a:cs typeface="+mn-cs"/>
                <a:sym typeface="+mn-lt"/>
              </a:defRPr>
            </a:lvl3pPr>
            <a:lvl4pPr marL="620395" indent="-177165">
              <a:lnSpc>
                <a:spcPct val="110000"/>
              </a:lnSpc>
              <a:spcBef>
                <a:spcPts val="740"/>
              </a:spcBef>
              <a:buFont typeface="Arial" panose="020B0604020202020204" pitchFamily="34" charset="0"/>
              <a:buChar char="•"/>
              <a:defRPr sz="1475"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スライド番号プレースホルダ 8"/>
          <p:cNvSpPr>
            <a:spLocks noGrp="1"/>
          </p:cNvSpPr>
          <p:nvPr>
            <p:ph type="sldNum" sz="quarter" idx="10"/>
          </p:nvPr>
        </p:nvSpPr>
        <p:spPr bwMode="gray"/>
        <p:txBody>
          <a:bodyPr/>
          <a:lstStyle>
            <a:lvl1pPr>
              <a:defRPr baseline="0">
                <a:solidFill>
                  <a:schemeClr val="tx1"/>
                </a:solidFill>
                <a:latin typeface="+mn-lt"/>
                <a:ea typeface="+mn-ea"/>
                <a:cs typeface="+mn-cs"/>
                <a:sym typeface="+mn-lt"/>
              </a:defRPr>
            </a:lvl1pPr>
          </a:lstStyle>
          <a:p>
            <a:fld id="{543A0986-838B-4D2A-A95C-8CB1738263FE}" type="slidenum">
              <a:rPr lang="ja-JP" altLang="en-US" smtClean="0"/>
              <a:t>‹#›</a:t>
            </a:fld>
            <a:endParaRPr lang="ja-JP" altLang="en-US"/>
          </a:p>
        </p:txBody>
      </p:sp>
      <p:sp>
        <p:nvSpPr>
          <p:cNvPr id="10" name="フッター プレースホルダ 9"/>
          <p:cNvSpPr>
            <a:spLocks noGrp="1"/>
          </p:cNvSpPr>
          <p:nvPr>
            <p:ph type="ftr" sz="quarter" idx="11"/>
          </p:nvPr>
        </p:nvSpPr>
        <p:spPr bwMode="gray">
          <a:xfrm>
            <a:off x="730800" y="6588000"/>
            <a:ext cx="5184000" cy="169200"/>
          </a:xfrm>
          <a:prstGeom prst="rect">
            <a:avLst/>
          </a:prstGeom>
        </p:spPr>
        <p:txBody>
          <a:bodyPr/>
          <a:lstStyle>
            <a:lvl1pPr>
              <a:defRPr baseline="0">
                <a:solidFill>
                  <a:schemeClr val="tx1"/>
                </a:solidFill>
                <a:latin typeface="+mn-lt"/>
                <a:ea typeface="+mn-ea"/>
                <a:cs typeface="+mn-cs"/>
                <a:sym typeface="+mn-lt"/>
              </a:defRPr>
            </a:lvl1pPr>
          </a:lstStyle>
          <a:p>
            <a:r>
              <a:rPr lang="en-US" altLang="ja-JP"/>
              <a:t>Notes</a:t>
            </a:r>
            <a:r>
              <a:rPr lang="ja-JP" altLang="en-US"/>
              <a:t>アプリ刷新のご提案</a:t>
            </a:r>
            <a:endParaRPr lang="en-GB" altLang="en-GB"/>
          </a:p>
        </p:txBody>
      </p:sp>
      <p:sp>
        <p:nvSpPr>
          <p:cNvPr id="8"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725"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3" name="タイトル 2"/>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cSld name="（基本版） 白紙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ー 2"/>
          <p:cNvSpPr>
            <a:spLocks noGrp="1"/>
          </p:cNvSpPr>
          <p:nvPr>
            <p:ph type="ftr" sz="quarter" idx="10"/>
          </p:nvPr>
        </p:nvSpPr>
        <p:spPr bwMode="gray">
          <a:xfrm>
            <a:off x="730800" y="6588000"/>
            <a:ext cx="5184000" cy="169200"/>
          </a:xfrm>
          <a:prstGeom prst="rect">
            <a:avLst/>
          </a:prstGeom>
        </p:spPr>
        <p:txBody>
          <a:bodyPr/>
          <a:lstStyle>
            <a:lvl1pPr>
              <a:defRPr>
                <a:latin typeface="+mn-lt"/>
                <a:ea typeface="+mn-ea"/>
                <a:cs typeface="+mn-cs"/>
                <a:sym typeface="+mn-lt"/>
              </a:defRPr>
            </a:lvl1pPr>
          </a:lstStyle>
          <a:p>
            <a:r>
              <a:rPr lang="en-US" altLang="ja-JP"/>
              <a:t>Notes</a:t>
            </a:r>
            <a:r>
              <a:rPr lang="ja-JP" altLang="en-US"/>
              <a:t>アプリ刷新のご提案</a:t>
            </a:r>
            <a:endParaRPr lang="en-GB" altLang="en-GB"/>
          </a:p>
        </p:txBody>
      </p:sp>
      <p:sp>
        <p:nvSpPr>
          <p:cNvPr id="4" name="スライド番号プレースホルダー 3"/>
          <p:cNvSpPr>
            <a:spLocks noGrp="1"/>
          </p:cNvSpPr>
          <p:nvPr>
            <p:ph type="sldNum" sz="quarter" idx="11"/>
          </p:nvPr>
        </p:nvSpPr>
        <p:spPr bwMode="gray"/>
        <p:txBody>
          <a:bodyPr/>
          <a:lstStyle>
            <a:lvl1pPr>
              <a:defRPr>
                <a:latin typeface="+mn-lt"/>
                <a:ea typeface="+mn-ea"/>
                <a:cs typeface="+mn-cs"/>
                <a:sym typeface="+mn-lt"/>
              </a:defRPr>
            </a:lvl1pPr>
          </a:lstStyle>
          <a:p>
            <a:fld id="{AA5FCFE5-FE56-4EF1-80A8-07776887C2A1}" type="slidenum">
              <a:rPr lang="ja-JP" altLang="en-US" smtClean="0"/>
              <a:t>‹#›</a:t>
            </a:fld>
            <a:endParaRPr lang="ja-JP" altLang="en-US"/>
          </a:p>
        </p:txBody>
      </p:sp>
      <p:sp>
        <p:nvSpPr>
          <p:cNvPr id="6" name="テキスト プレースホルダー 5"/>
          <p:cNvSpPr>
            <a:spLocks noGrp="1"/>
          </p:cNvSpPr>
          <p:nvPr>
            <p:ph type="body" sz="quarter" idx="12"/>
          </p:nvPr>
        </p:nvSpPr>
        <p:spPr bwMode="gray">
          <a:xfrm>
            <a:off x="2329846" y="2340000"/>
            <a:ext cx="7532308" cy="2520000"/>
          </a:xfrm>
          <a:prstGeom prst="rect">
            <a:avLst/>
          </a:prstGeom>
        </p:spPr>
        <p:txBody>
          <a:bodyPr/>
          <a:lstStyle>
            <a:lvl1pPr>
              <a:defRPr>
                <a:latin typeface="+mn-lt"/>
                <a:ea typeface="+mn-ea"/>
                <a:cs typeface="+mn-cs"/>
                <a:sym typeface="+mn-lt"/>
              </a:defRPr>
            </a:lvl1pPr>
          </a:lstStyle>
          <a:p>
            <a:pPr lvl="0"/>
            <a:r>
              <a:rPr kumimoji="1" lang="ja-JP" altLang="en-US"/>
              <a:t>マスター テキストの書式設定</a:t>
            </a: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基本版） タイトルのみ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sym typeface="+mn-lt"/>
              </a:defRPr>
            </a:lvl1pPr>
          </a:lstStyle>
          <a:p>
            <a:r>
              <a:rPr lang="en-GB" altLang="en-GB"/>
              <a:t>DT Template A4</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9"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600" b="1">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hf hdr="0"/>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userDrawn="1">
  <p:cSld name="（基本版）背表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7" name="図 6"/>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478800" y="432000"/>
            <a:ext cx="2016000" cy="631680"/>
          </a:xfrm>
          <a:prstGeom prst="rect">
            <a:avLst/>
          </a:prstGeom>
        </p:spPr>
      </p:pic>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prstClr val="black"/>
                </a:solidFill>
                <a:latin typeface="+mn-lt"/>
                <a:cs typeface="+mn-cs"/>
                <a:sym typeface="+mn-lt"/>
              </a:rPr>
              <a:t>Member of</a:t>
            </a:r>
            <a:br>
              <a:rPr kumimoji="1" lang="en-US" altLang="ja-JP" sz="800">
                <a:solidFill>
                  <a:prstClr val="black"/>
                </a:solidFill>
                <a:latin typeface="+mn-lt"/>
                <a:cs typeface="+mn-cs"/>
                <a:sym typeface="+mn-lt"/>
              </a:rPr>
            </a:br>
            <a:r>
              <a:rPr kumimoji="1" lang="en-US" altLang="ja-JP" sz="800" b="1">
                <a:solidFill>
                  <a:prstClr val="black"/>
                </a:solidFill>
                <a:latin typeface="+mn-lt"/>
                <a:cs typeface="+mn-cs"/>
                <a:sym typeface="+mn-lt"/>
              </a:rPr>
              <a:t>Deloitte Touche Tohmatsu Limited</a:t>
            </a:r>
            <a:endParaRPr kumimoji="1" lang="ja-JP" altLang="en-US" sz="800" b="1">
              <a:solidFill>
                <a:prstClr val="black"/>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8820000" cy="127856"/>
          </a:xfrm>
        </p:spPr>
        <p:txBody>
          <a:bodyPr vert="horz" lIns="0" tIns="0" rIns="0" bIns="0" rtlCol="0" anchor="b" anchorCtr="0">
            <a:spAutoFit/>
          </a:bodyPr>
          <a:lstStyle>
            <a:lvl1pPr>
              <a:defRPr lang="ja-JP" altLang="en-US" sz="800" smtClean="0">
                <a:cs typeface="+mn-cs"/>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87861"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2025. For information, contact Deloitte Tohmatsu Group.</a:t>
            </a:r>
          </a:p>
        </p:txBody>
      </p:sp>
      <p:grpSp>
        <p:nvGrpSpPr>
          <p:cNvPr id="8" name="グループ化 7"/>
          <p:cNvGrpSpPr/>
          <p:nvPr userDrawn="1"/>
        </p:nvGrpSpPr>
        <p:grpSpPr>
          <a:xfrm>
            <a:off x="10270800" y="4114800"/>
            <a:ext cx="1440000" cy="1894801"/>
            <a:chOff x="8050246" y="4451478"/>
            <a:chExt cx="1440000" cy="1894801"/>
          </a:xfrm>
        </p:grpSpPr>
        <p:pic>
          <p:nvPicPr>
            <p:cNvPr id="9" name="図 8" descr="ロゴ, 会社名&#10;&#10;自動的に生成された説明"/>
            <p:cNvPicPr>
              <a:picLocks noChangeAspect="1"/>
            </p:cNvPicPr>
            <p:nvPr userDrawn="1"/>
          </p:nvPicPr>
          <p:blipFill>
            <a:blip r:embed="rId6" cstate="print"/>
            <a:stretch>
              <a:fillRect/>
            </a:stretch>
          </p:blipFill>
          <p:spPr bwMode="gray">
            <a:xfrm>
              <a:off x="8050246" y="4451478"/>
              <a:ext cx="1440000" cy="873777"/>
            </a:xfrm>
            <a:prstGeom prst="rect">
              <a:avLst/>
            </a:prstGeom>
          </p:spPr>
        </p:pic>
        <p:pic>
          <p:nvPicPr>
            <p:cNvPr id="10" name="図 9" descr="ロゴ&#10;&#10;自動的に生成された説明"/>
            <p:cNvPicPr>
              <a:picLocks noChangeAspect="1"/>
            </p:cNvPicPr>
            <p:nvPr userDrawn="1"/>
          </p:nvPicPr>
          <p:blipFill>
            <a:blip r:embed="rId7" cstate="print"/>
            <a:stretch>
              <a:fillRect/>
            </a:stretch>
          </p:blipFill>
          <p:spPr>
            <a:xfrm>
              <a:off x="8148021" y="5473537"/>
              <a:ext cx="1244450" cy="872742"/>
            </a:xfrm>
            <a:prstGeom prst="rect">
              <a:avLst/>
            </a:prstGeom>
          </p:spPr>
        </p:pic>
      </p:grpSp>
    </p:spTree>
  </p:cSld>
  <p:clrMapOvr>
    <a:masterClrMapping/>
  </p:clrMapOvr>
  <p:hf hdr="0"/>
</p:sldLayout>
</file>

<file path=ppt/slideLayouts/slideLayout7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zh-CN" altLang="en-US"/>
              <a:t>单击此处编辑母版标题样式</a:t>
            </a:r>
            <a:endParaRPr lang="en-US"/>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4" name="Date Placeholder 3"/>
          <p:cNvSpPr>
            <a:spLocks noGrp="1"/>
          </p:cNvSpPr>
          <p:nvPr>
            <p:ph type="dt" sz="half" idx="10"/>
          </p:nvPr>
        </p:nvSpPr>
        <p:spPr/>
        <p:txBody>
          <a:bodyPr/>
          <a:lstStyle/>
          <a:p>
            <a:fld id="{48A87A34-81AB-432B-8DAE-1953F412C126}" type="datetimeFigureOut">
              <a:rPr lang="en-US" dirty="0"/>
              <a:t>10/20/2025</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ncho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p>
            <a:fld id="{48A87A34-81AB-432B-8DAE-1953F412C126}" type="datetimeFigureOut">
              <a:rPr lang="en-US" dirty="0"/>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zh-CN" altLang="en-US"/>
              <a:t>单击此处编辑母版标题样式</a:t>
            </a:r>
            <a:endParaRPr lang="en-US"/>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48A87A34-81AB-432B-8DAE-1953F412C126}" type="datetimeFigureOut">
              <a:rPr lang="en-US" dirty="0"/>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1447331" y="2010878"/>
            <a:ext cx="4645152" cy="344859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Content Placeholder 3"/>
          <p:cNvSpPr>
            <a:spLocks noGrp="1"/>
          </p:cNvSpPr>
          <p:nvPr>
            <p:ph sz="half" idx="2"/>
          </p:nvPr>
        </p:nvSpPr>
        <p:spPr>
          <a:xfrm>
            <a:off x="6413771" y="2017343"/>
            <a:ext cx="4645152" cy="344152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Date Placeholder 4"/>
          <p:cNvSpPr>
            <a:spLocks noGrp="1"/>
          </p:cNvSpPr>
          <p:nvPr>
            <p:ph type="dt" sz="half" idx="10"/>
          </p:nvPr>
        </p:nvSpPr>
        <p:spPr/>
        <p:txBody>
          <a:bodyPr/>
          <a:lstStyle/>
          <a:p>
            <a:fld id="{48A87A34-81AB-432B-8DAE-1953F412C126}" type="datetimeFigureOut">
              <a:rPr lang="en-US" dirty="0"/>
              <a:t>10/20/2025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zh-CN" altLang="en-US"/>
              <a:t>单击此处编辑母版标题样式</a:t>
            </a:r>
            <a:endParaRPr lang="en-US"/>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1447191" y="2824269"/>
            <a:ext cx="4645152" cy="2644457"/>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412362" y="2821491"/>
            <a:ext cx="4645152" cy="2637371"/>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7" name="Date Placeholder 6"/>
          <p:cNvSpPr>
            <a:spLocks noGrp="1"/>
          </p:cNvSpPr>
          <p:nvPr>
            <p:ph type="dt" sz="half" idx="10"/>
          </p:nvPr>
        </p:nvSpPr>
        <p:spPr/>
        <p:txBody>
          <a:bodyPr/>
          <a:lstStyle/>
          <a:p>
            <a:fld id="{48A87A34-81AB-432B-8DAE-1953F412C126}" type="datetimeFigureOut">
              <a:rPr lang="en-US" dirty="0"/>
              <a:t>10/20/2025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2"/>
          <p:cNvSpPr>
            <a:spLocks noGrp="1"/>
          </p:cNvSpPr>
          <p:nvPr>
            <p:ph type="dt" sz="half" idx="10"/>
          </p:nvPr>
        </p:nvSpPr>
        <p:spPr/>
        <p:txBody>
          <a:bodyPr/>
          <a:lstStyle/>
          <a:p>
            <a:fld id="{48A87A34-81AB-432B-8DAE-1953F412C126}" type="datetimeFigureOut">
              <a:rPr lang="en-US" dirty="0"/>
              <a:t>10/20/2025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10/20/2025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hf hdr="0" ftr="0" dt="0"/>
</p:sldLayout>
</file>

<file path=ppt/slideLayouts/slideLayout7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zh-CN" altLang="en-US"/>
              <a:t>单击此处编辑母版标题样式</a:t>
            </a:r>
            <a:endParaRPr lang="en-US"/>
          </a:p>
        </p:txBody>
      </p:sp>
      <p:sp>
        <p:nvSpPr>
          <p:cNvPr id="3" name="Content Placeholder 2"/>
          <p:cNvSpPr>
            <a:spLocks noGrp="1"/>
          </p:cNvSpPr>
          <p:nvPr>
            <p:ph idx="1"/>
          </p:nvPr>
        </p:nvSpPr>
        <p:spPr>
          <a:xfrm>
            <a:off x="5043714" y="798974"/>
            <a:ext cx="6012470" cy="4658826"/>
          </a:xfrm>
        </p:spPr>
        <p:txBody>
          <a:bodyPr anchor="ct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48A87A34-81AB-432B-8DAE-1953F412C126}" type="datetimeFigureOut">
              <a:rPr lang="en-US" dirty="0"/>
              <a:t>10/20/2025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zh-CN" altLang="en-US"/>
              <a:t>单击此处编辑母版标题样式</a:t>
            </a:r>
            <a:endParaRPr lang="en-US"/>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t>10/20/2025</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p>
            <a:fld id="{48A87A34-81AB-432B-8DAE-1953F412C126}" type="datetimeFigureOut">
              <a:rPr lang="en-US" dirty="0"/>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8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zh-CN" altLang="en-US"/>
              <a:t>单击此处编辑母版标题样式</a:t>
            </a:r>
            <a:endParaRPr lang="en-US"/>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p>
            <a:fld id="{48A87A34-81AB-432B-8DAE-1953F412C126}" type="datetimeFigureOut">
              <a:rPr lang="en-US" dirty="0"/>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1_basic_text">
    <p:spTree>
      <p:nvGrpSpPr>
        <p:cNvPr id="1" name=""/>
        <p:cNvGrpSpPr/>
        <p:nvPr/>
      </p:nvGrpSpPr>
      <p:grpSpPr>
        <a:xfrm>
          <a:off x="0" y="0"/>
          <a:ext cx="0" cy="0"/>
          <a:chOff x="0" y="0"/>
          <a:chExt cx="0" cy="0"/>
        </a:xfrm>
      </p:grpSpPr>
      <p:sp>
        <p:nvSpPr>
          <p:cNvPr id="4" name="タイトル 3"/>
          <p:cNvSpPr>
            <a:spLocks noGrp="1"/>
          </p:cNvSpPr>
          <p:nvPr>
            <p:ph type="title" hasCustomPrompt="1"/>
          </p:nvPr>
        </p:nvSpPr>
        <p:spPr>
          <a:xfrm>
            <a:off x="414336" y="255264"/>
            <a:ext cx="9327072" cy="369332"/>
          </a:xfrm>
        </p:spPr>
        <p:txBody>
          <a:bodyPr/>
          <a:lstStyle/>
          <a:p>
            <a:r>
              <a:rPr kumimoji="1" lang="ja-JP" altLang="en-US"/>
              <a:t>タイトル</a:t>
            </a:r>
            <a:r>
              <a:rPr kumimoji="1" lang="en-US" altLang="ja-JP"/>
              <a:t> </a:t>
            </a:r>
            <a:r>
              <a:rPr kumimoji="1" lang="ja-JP" altLang="en-US"/>
              <a:t>游ゴシック</a:t>
            </a:r>
            <a:r>
              <a:rPr kumimoji="1" lang="en-US" altLang="ja-JP"/>
              <a:t>Bold 24pt</a:t>
            </a:r>
            <a:endParaRPr kumimoji="1" lang="ja-JP" altLang="en-US"/>
          </a:p>
        </p:txBody>
      </p:sp>
      <p:sp>
        <p:nvSpPr>
          <p:cNvPr id="15" name="コンテンツ プレースホルダー 14"/>
          <p:cNvSpPr>
            <a:spLocks noGrp="1"/>
          </p:cNvSpPr>
          <p:nvPr>
            <p:ph sz="quarter" idx="10" hasCustomPrompt="1"/>
          </p:nvPr>
        </p:nvSpPr>
        <p:spPr>
          <a:xfrm>
            <a:off x="414338" y="857251"/>
            <a:ext cx="11550650" cy="5380038"/>
          </a:xfrm>
        </p:spPr>
        <p:txBody>
          <a:bodyPr/>
          <a:lstStyle>
            <a:lvl1pPr>
              <a:lnSpc>
                <a:spcPct val="150000"/>
              </a:lnSpc>
              <a:defRPr sz="1600"/>
            </a:lvl1pPr>
            <a:lvl2pPr>
              <a:lnSpc>
                <a:spcPct val="150000"/>
              </a:lnSpc>
              <a:defRPr/>
            </a:lvl2pPr>
            <a:lvl3pPr>
              <a:lnSpc>
                <a:spcPct val="150000"/>
              </a:lnSpc>
              <a:defRPr/>
            </a:lvl3pPr>
            <a:lvl4pPr>
              <a:lnSpc>
                <a:spcPct val="150000"/>
              </a:lnSpc>
              <a:defRPr/>
            </a:lvl4pPr>
            <a:lvl5pPr>
              <a:lnSpc>
                <a:spcPct val="150000"/>
              </a:lnSpc>
              <a:defRPr/>
            </a:lvl5pPr>
          </a:lstStyle>
          <a:p>
            <a:pPr lvl="0"/>
            <a:r>
              <a:rPr kumimoji="1" lang="ja-JP" altLang="en-US"/>
              <a:t>本文テキスト</a:t>
            </a:r>
            <a:r>
              <a:rPr kumimoji="1" lang="en-US" altLang="ja-JP"/>
              <a:t> </a:t>
            </a:r>
            <a:r>
              <a:rPr kumimoji="1" lang="ja-JP" altLang="en-US"/>
              <a:t>游ゴシック </a:t>
            </a:r>
            <a:r>
              <a:rPr kumimoji="1" lang="en-US" altLang="ja-JP"/>
              <a:t>Medium 16pt / </a:t>
            </a:r>
            <a:r>
              <a:rPr kumimoji="1" lang="ja-JP" altLang="en-US"/>
              <a:t>行間</a:t>
            </a:r>
            <a:r>
              <a:rPr kumimoji="1" lang="en-US" altLang="ja-JP"/>
              <a:t>1.5</a:t>
            </a:r>
            <a:br>
              <a:rPr kumimoji="1" lang="en-US" altLang="ja-JP"/>
            </a:br>
            <a:r>
              <a:rPr kumimoji="1" lang="ja-JP" altLang="en-US"/>
              <a:t>テーマカラー：</a:t>
            </a:r>
            <a:r>
              <a:rPr kumimoji="1" lang="en-US" altLang="ja-JP"/>
              <a:t>Blue and Cool gray </a:t>
            </a:r>
          </a:p>
        </p:txBody>
      </p:sp>
      <p:sp>
        <p:nvSpPr>
          <p:cNvPr id="5" name="テキスト ボックス 4"/>
          <p:cNvSpPr txBox="1"/>
          <p:nvPr userDrawn="1"/>
        </p:nvSpPr>
        <p:spPr>
          <a:xfrm>
            <a:off x="10737640" y="6568908"/>
            <a:ext cx="1188000" cy="241980"/>
          </a:xfrm>
          <a:prstGeom prst="rect">
            <a:avLst/>
          </a:prstGeom>
          <a:noFill/>
          <a:ln>
            <a:solidFill>
              <a:srgbClr val="FF0000"/>
            </a:solidFill>
          </a:ln>
        </p:spPr>
        <p:txBody>
          <a:bodyPr wrap="square" lIns="36000" tIns="36000" rIns="36000" bIns="36000" rtlCol="0" anchor="ctr">
            <a:spAutoFit/>
          </a:bodyPr>
          <a:lstStyle/>
          <a:p>
            <a:pPr algn="ctr"/>
            <a:r>
              <a:rPr kumimoji="1" lang="en-US" altLang="ja-JP" sz="1100" b="0" i="0">
                <a:solidFill>
                  <a:srgbClr val="FF0000"/>
                </a:solidFill>
                <a:latin typeface="+mj-lt"/>
                <a:ea typeface="MS Gothic" panose="020B0609070205080204" pitchFamily="49" charset="-128"/>
              </a:rPr>
              <a:t>CONFIDENTIAL</a:t>
            </a:r>
            <a:endParaRPr kumimoji="1" lang="ja-JP" altLang="en-US" sz="1100" b="0" i="0">
              <a:solidFill>
                <a:srgbClr val="FF0000"/>
              </a:solidFill>
              <a:latin typeface="+mj-lt"/>
              <a:ea typeface="MS Gothic" panose="020B0609070205080204" pitchFamily="49" charset="-128"/>
            </a:endParaRPr>
          </a:p>
        </p:txBody>
      </p:sp>
      <p:pic>
        <p:nvPicPr>
          <p:cNvPr id="2"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837548" y="91514"/>
            <a:ext cx="2228371" cy="45663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2.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1.emf"/><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oleObject" Target="../embeddings/oleObject3.bin"/><Relationship Id="rId5" Type="http://schemas.openxmlformats.org/officeDocument/2006/relationships/tags" Target="../tags/tag4.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18" Type="http://schemas.openxmlformats.org/officeDocument/2006/relationships/tags" Target="../tags/tag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17" Type="http://schemas.openxmlformats.org/officeDocument/2006/relationships/theme" Target="../theme/theme3.xml"/><Relationship Id="rId2" Type="http://schemas.openxmlformats.org/officeDocument/2006/relationships/slideLayout" Target="../slideLayouts/slideLayout9.xml"/><Relationship Id="rId16" Type="http://schemas.openxmlformats.org/officeDocument/2006/relationships/slideLayout" Target="../slideLayouts/slideLayout23.xml"/><Relationship Id="rId20" Type="http://schemas.openxmlformats.org/officeDocument/2006/relationships/image" Target="../media/image3.emf"/><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5" Type="http://schemas.openxmlformats.org/officeDocument/2006/relationships/slideLayout" Target="../slideLayouts/slideLayout22.xml"/><Relationship Id="rId10" Type="http://schemas.openxmlformats.org/officeDocument/2006/relationships/slideLayout" Target="../slideLayouts/slideLayout17.xml"/><Relationship Id="rId19" Type="http://schemas.openxmlformats.org/officeDocument/2006/relationships/oleObject" Target="../embeddings/oleObject4.bin"/><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18" Type="http://schemas.openxmlformats.org/officeDocument/2006/relationships/slideLayout" Target="../slideLayouts/slideLayout41.xml"/><Relationship Id="rId26" Type="http://schemas.openxmlformats.org/officeDocument/2006/relationships/oleObject" Target="../embeddings/oleObject21.bin"/><Relationship Id="rId3" Type="http://schemas.openxmlformats.org/officeDocument/2006/relationships/slideLayout" Target="../slideLayouts/slideLayout26.xml"/><Relationship Id="rId21" Type="http://schemas.openxmlformats.org/officeDocument/2006/relationships/slideLayout" Target="../slideLayouts/slideLayout44.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5" Type="http://schemas.openxmlformats.org/officeDocument/2006/relationships/tags" Target="../tags/tag22.xml"/><Relationship Id="rId2" Type="http://schemas.openxmlformats.org/officeDocument/2006/relationships/slideLayout" Target="../slideLayouts/slideLayout25.xml"/><Relationship Id="rId16" Type="http://schemas.openxmlformats.org/officeDocument/2006/relationships/slideLayout" Target="../slideLayouts/slideLayout39.xml"/><Relationship Id="rId20" Type="http://schemas.openxmlformats.org/officeDocument/2006/relationships/slideLayout" Target="../slideLayouts/slideLayout43.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24" Type="http://schemas.openxmlformats.org/officeDocument/2006/relationships/theme" Target="../theme/theme4.xml"/><Relationship Id="rId5" Type="http://schemas.openxmlformats.org/officeDocument/2006/relationships/slideLayout" Target="../slideLayouts/slideLayout28.xml"/><Relationship Id="rId15" Type="http://schemas.openxmlformats.org/officeDocument/2006/relationships/slideLayout" Target="../slideLayouts/slideLayout38.xml"/><Relationship Id="rId23" Type="http://schemas.openxmlformats.org/officeDocument/2006/relationships/slideLayout" Target="../slideLayouts/slideLayout46.xml"/><Relationship Id="rId10" Type="http://schemas.openxmlformats.org/officeDocument/2006/relationships/slideLayout" Target="../slideLayouts/slideLayout33.xml"/><Relationship Id="rId19" Type="http://schemas.openxmlformats.org/officeDocument/2006/relationships/slideLayout" Target="../slideLayouts/slideLayout42.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 Id="rId22" Type="http://schemas.openxmlformats.org/officeDocument/2006/relationships/slideLayout" Target="../slideLayouts/slideLayout45.xml"/><Relationship Id="rId27" Type="http://schemas.openxmlformats.org/officeDocument/2006/relationships/image" Target="../media/image12.emf"/></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slideLayout" Target="../slideLayouts/slideLayout59.xml"/><Relationship Id="rId18" Type="http://schemas.openxmlformats.org/officeDocument/2006/relationships/slideLayout" Target="../slideLayouts/slideLayout64.xml"/><Relationship Id="rId26" Type="http://schemas.openxmlformats.org/officeDocument/2006/relationships/oleObject" Target="../embeddings/oleObject45.bin"/><Relationship Id="rId3" Type="http://schemas.openxmlformats.org/officeDocument/2006/relationships/slideLayout" Target="../slideLayouts/slideLayout49.xml"/><Relationship Id="rId21" Type="http://schemas.openxmlformats.org/officeDocument/2006/relationships/slideLayout" Target="../slideLayouts/slideLayout67.xml"/><Relationship Id="rId7" Type="http://schemas.openxmlformats.org/officeDocument/2006/relationships/slideLayout" Target="../slideLayouts/slideLayout53.xml"/><Relationship Id="rId12" Type="http://schemas.openxmlformats.org/officeDocument/2006/relationships/slideLayout" Target="../slideLayouts/slideLayout58.xml"/><Relationship Id="rId17" Type="http://schemas.openxmlformats.org/officeDocument/2006/relationships/slideLayout" Target="../slideLayouts/slideLayout63.xml"/><Relationship Id="rId25" Type="http://schemas.openxmlformats.org/officeDocument/2006/relationships/tags" Target="../tags/tag47.xml"/><Relationship Id="rId2" Type="http://schemas.openxmlformats.org/officeDocument/2006/relationships/slideLayout" Target="../slideLayouts/slideLayout48.xml"/><Relationship Id="rId16" Type="http://schemas.openxmlformats.org/officeDocument/2006/relationships/slideLayout" Target="../slideLayouts/slideLayout62.xml"/><Relationship Id="rId20" Type="http://schemas.openxmlformats.org/officeDocument/2006/relationships/slideLayout" Target="../slideLayouts/slideLayout66.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24" Type="http://schemas.openxmlformats.org/officeDocument/2006/relationships/theme" Target="../theme/theme5.xml"/><Relationship Id="rId5" Type="http://schemas.openxmlformats.org/officeDocument/2006/relationships/slideLayout" Target="../slideLayouts/slideLayout51.xml"/><Relationship Id="rId15" Type="http://schemas.openxmlformats.org/officeDocument/2006/relationships/slideLayout" Target="../slideLayouts/slideLayout61.xml"/><Relationship Id="rId23" Type="http://schemas.openxmlformats.org/officeDocument/2006/relationships/slideLayout" Target="../slideLayouts/slideLayout69.xml"/><Relationship Id="rId10" Type="http://schemas.openxmlformats.org/officeDocument/2006/relationships/slideLayout" Target="../slideLayouts/slideLayout56.xml"/><Relationship Id="rId19" Type="http://schemas.openxmlformats.org/officeDocument/2006/relationships/slideLayout" Target="../slideLayouts/slideLayout65.xml"/><Relationship Id="rId4" Type="http://schemas.openxmlformats.org/officeDocument/2006/relationships/slideLayout" Target="../slideLayouts/slideLayout50.xml"/><Relationship Id="rId9" Type="http://schemas.openxmlformats.org/officeDocument/2006/relationships/slideLayout" Target="../slideLayouts/slideLayout55.xml"/><Relationship Id="rId14" Type="http://schemas.openxmlformats.org/officeDocument/2006/relationships/slideLayout" Target="../slideLayouts/slideLayout60.xml"/><Relationship Id="rId22" Type="http://schemas.openxmlformats.org/officeDocument/2006/relationships/slideLayout" Target="../slideLayouts/slideLayout68.xml"/><Relationship Id="rId27" Type="http://schemas.openxmlformats.org/officeDocument/2006/relationships/image" Target="../media/image12.emf"/></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7.xml"/><Relationship Id="rId13" Type="http://schemas.openxmlformats.org/officeDocument/2006/relationships/theme" Target="../theme/theme6.xml"/><Relationship Id="rId3" Type="http://schemas.openxmlformats.org/officeDocument/2006/relationships/slideLayout" Target="../slideLayouts/slideLayout72.xml"/><Relationship Id="rId7" Type="http://schemas.openxmlformats.org/officeDocument/2006/relationships/slideLayout" Target="../slideLayouts/slideLayout76.xml"/><Relationship Id="rId12" Type="http://schemas.openxmlformats.org/officeDocument/2006/relationships/slideLayout" Target="../slideLayouts/slideLayout81.xml"/><Relationship Id="rId17" Type="http://schemas.openxmlformats.org/officeDocument/2006/relationships/image" Target="../media/image1.emf"/><Relationship Id="rId2" Type="http://schemas.openxmlformats.org/officeDocument/2006/relationships/slideLayout" Target="../slideLayouts/slideLayout71.xml"/><Relationship Id="rId16" Type="http://schemas.openxmlformats.org/officeDocument/2006/relationships/oleObject" Target="../embeddings/oleObject69.bin"/><Relationship Id="rId1" Type="http://schemas.openxmlformats.org/officeDocument/2006/relationships/slideLayout" Target="../slideLayouts/slideLayout70.xml"/><Relationship Id="rId6" Type="http://schemas.openxmlformats.org/officeDocument/2006/relationships/slideLayout" Target="../slideLayouts/slideLayout75.xml"/><Relationship Id="rId11" Type="http://schemas.openxmlformats.org/officeDocument/2006/relationships/slideLayout" Target="../slideLayouts/slideLayout80.xml"/><Relationship Id="rId5" Type="http://schemas.openxmlformats.org/officeDocument/2006/relationships/slideLayout" Target="../slideLayouts/slideLayout74.xml"/><Relationship Id="rId15" Type="http://schemas.openxmlformats.org/officeDocument/2006/relationships/image" Target="../media/image16.jpeg"/><Relationship Id="rId10" Type="http://schemas.openxmlformats.org/officeDocument/2006/relationships/slideLayout" Target="../slideLayouts/slideLayout79.xml"/><Relationship Id="rId4" Type="http://schemas.openxmlformats.org/officeDocument/2006/relationships/slideLayout" Target="../slideLayouts/slideLayout73.xml"/><Relationship Id="rId9" Type="http://schemas.openxmlformats.org/officeDocument/2006/relationships/slideLayout" Target="../slideLayouts/slideLayout78.xml"/><Relationship Id="rId14" Type="http://schemas.openxmlformats.org/officeDocument/2006/relationships/tags" Target="../tags/tag7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userDrawn="1">
            <p:custDataLst>
              <p:tags r:id="rId6"/>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7" imgW="5715" imgH="5715" progId="TCLayout.ActiveDocument.1">
                  <p:embed/>
                </p:oleObj>
              </mc:Choice>
              <mc:Fallback>
                <p:oleObj name="think-cellスライド" r:id="rId7" imgW="5715" imgH="5715" progId="TCLayout.ActiveDocument.1">
                  <p:embed/>
                  <p:pic>
                    <p:nvPicPr>
                      <p:cNvPr id="3" name="オブジェクト 2" hidden="1"/>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5" name="タイトル プレースホルダー 4"/>
          <p:cNvSpPr>
            <a:spLocks noGrp="1"/>
          </p:cNvSpPr>
          <p:nvPr>
            <p:ph type="title"/>
          </p:nvPr>
        </p:nvSpPr>
        <p:spPr>
          <a:xfrm>
            <a:off x="414336" y="255264"/>
            <a:ext cx="9548530" cy="369332"/>
          </a:xfrm>
          <a:prstGeom prst="rect">
            <a:avLst/>
          </a:prstGeom>
        </p:spPr>
        <p:txBody>
          <a:bodyPr vert="horz" wrap="square" lIns="0" tIns="0" rIns="0" bIns="0" rtlCol="0" anchor="b">
            <a:noAutofit/>
          </a:bodyPr>
          <a:lstStyle/>
          <a:p>
            <a:r>
              <a:rPr kumimoji="1" lang="ja-JP" altLang="en-US"/>
              <a:t>マスター タイトルの書式設定</a:t>
            </a:r>
          </a:p>
        </p:txBody>
      </p:sp>
      <p:sp>
        <p:nvSpPr>
          <p:cNvPr id="6" name="テキスト プレースホルダー 5"/>
          <p:cNvSpPr>
            <a:spLocks noGrp="1"/>
          </p:cNvSpPr>
          <p:nvPr>
            <p:ph type="body" idx="1"/>
          </p:nvPr>
        </p:nvSpPr>
        <p:spPr>
          <a:xfrm>
            <a:off x="407988" y="1187354"/>
            <a:ext cx="11556999" cy="5049933"/>
          </a:xfrm>
          <a:prstGeom prst="rect">
            <a:avLst/>
          </a:prstGeom>
        </p:spPr>
        <p:txBody>
          <a:bodyPr vert="horz" lIns="0" tIns="0" rIns="0" bIns="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2" name="スライド番号プレースホルダ 8">
            <a:extLst>
              <a:ext uri="{FF2B5EF4-FFF2-40B4-BE49-F238E27FC236}">
                <a16:creationId xmlns:a16="http://schemas.microsoft.com/office/drawing/2014/main" id="{764A59F0-2069-F9E9-40A7-A1BBAD6E4EFB}"/>
              </a:ext>
            </a:extLst>
          </p:cNvPr>
          <p:cNvSpPr>
            <a:spLocks noGrp="1"/>
          </p:cNvSpPr>
          <p:nvPr>
            <p:ph type="sldNum" sz="quarter" idx="4"/>
          </p:nvPr>
        </p:nvSpPr>
        <p:spPr bwMode="gray">
          <a:xfrm>
            <a:off x="480000" y="6588000"/>
            <a:ext cx="363280" cy="169200"/>
          </a:xfrm>
          <a:prstGeom prst="rect">
            <a:avLst/>
          </a:prstGeom>
        </p:spPr>
        <p:txBody>
          <a:bodyPr/>
          <a:lstStyle>
            <a:lvl1pPr>
              <a:defRPr sz="1000" baseline="0">
                <a:solidFill>
                  <a:schemeClr val="tx1"/>
                </a:solidFill>
                <a:latin typeface="+mn-lt"/>
                <a:ea typeface="+mn-ea"/>
                <a:cs typeface="+mn-cs"/>
                <a:sym typeface="+mn-lt"/>
              </a:defRPr>
            </a:lvl1pPr>
          </a:lstStyle>
          <a:p>
            <a:fld id="{543A0986-838B-4D2A-A95C-8CB1738263FE}" type="slidenum">
              <a:rPr lang="ja-JP" altLang="en-US" smtClean="0"/>
              <a:pPr/>
              <a:t>‹#›</a:t>
            </a:fld>
            <a:endParaRPr lang="ja-JP" altLang="en-US"/>
          </a:p>
        </p:txBody>
      </p:sp>
      <p:sp>
        <p:nvSpPr>
          <p:cNvPr id="4" name="フッター プレースホルダ 9">
            <a:extLst>
              <a:ext uri="{FF2B5EF4-FFF2-40B4-BE49-F238E27FC236}">
                <a16:creationId xmlns:a16="http://schemas.microsoft.com/office/drawing/2014/main" id="{2D5E64BD-8D93-ABED-1728-9D31E5A8E063}"/>
              </a:ext>
            </a:extLst>
          </p:cNvPr>
          <p:cNvSpPr>
            <a:spLocks noGrp="1"/>
          </p:cNvSpPr>
          <p:nvPr>
            <p:ph type="ftr" sz="quarter" idx="3"/>
          </p:nvPr>
        </p:nvSpPr>
        <p:spPr bwMode="gray">
          <a:xfrm>
            <a:off x="964480" y="6588000"/>
            <a:ext cx="5184000" cy="169200"/>
          </a:xfrm>
          <a:prstGeom prst="rect">
            <a:avLst/>
          </a:prstGeom>
        </p:spPr>
        <p:txBody>
          <a:bodyPr/>
          <a:lstStyle>
            <a:lvl1pPr>
              <a:defRPr sz="1000" baseline="0">
                <a:solidFill>
                  <a:schemeClr val="tx1"/>
                </a:solidFill>
                <a:latin typeface="+mn-lt"/>
                <a:ea typeface="+mn-ea"/>
                <a:cs typeface="+mn-cs"/>
                <a:sym typeface="+mn-lt"/>
              </a:defRPr>
            </a:lvl1pPr>
          </a:lstStyle>
          <a:p>
            <a:r>
              <a:rPr lang="en-US" altLang="ja-JP"/>
              <a:t>Notes</a:t>
            </a:r>
            <a:r>
              <a:rPr lang="ja-JP" altLang="en-US"/>
              <a:t>アプリ刷新のご提案</a:t>
            </a:r>
            <a:endParaRPr lang="en-GB" alt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lvl1pPr algn="l" defTabSz="914400" rtl="0" eaLnBrk="1" latinLnBrk="0" hangingPunct="1">
        <a:lnSpc>
          <a:spcPct val="100000"/>
        </a:lnSpc>
        <a:spcBef>
          <a:spcPct val="0"/>
        </a:spcBef>
        <a:buNone/>
        <a:defRPr kumimoji="1" sz="2400" b="1" i="0" kern="1200" spc="-50" baseline="0">
          <a:solidFill>
            <a:schemeClr val="tx1"/>
          </a:solidFill>
          <a:latin typeface="+mj-lt"/>
          <a:ea typeface="+mj-ea"/>
          <a:cs typeface="Meiryo" panose="020B0604030504040204" charset="-128"/>
        </a:defRPr>
      </a:lvl1pPr>
    </p:titleStyle>
    <p:bodyStyle>
      <a:lvl1pPr marL="285750" indent="-285750" algn="l" defTabSz="914400" rtl="0" eaLnBrk="1" latinLnBrk="0" hangingPunct="1">
        <a:lnSpc>
          <a:spcPct val="100000"/>
        </a:lnSpc>
        <a:spcBef>
          <a:spcPts val="1000"/>
        </a:spcBef>
        <a:buFont typeface="Arial" panose="020B0604020202020204" pitchFamily="34" charset="0"/>
        <a:buChar char="•"/>
        <a:defRPr kumimoji="1" sz="1600" kern="1200" baseline="0">
          <a:solidFill>
            <a:schemeClr val="tx1"/>
          </a:solidFill>
          <a:latin typeface="+mn-lt"/>
          <a:ea typeface="+mn-ea"/>
          <a:cs typeface="+mn-cs"/>
        </a:defRPr>
      </a:lvl1pPr>
      <a:lvl2pPr marL="645795" indent="-28575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mn-lt"/>
          <a:ea typeface="+mn-ea"/>
          <a:cs typeface="+mn-cs"/>
        </a:defRPr>
      </a:lvl2pPr>
      <a:lvl3pPr marL="1005840" indent="-28575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mn-lt"/>
          <a:ea typeface="+mn-ea"/>
          <a:cs typeface="+mn-cs"/>
        </a:defRPr>
      </a:lvl3pPr>
      <a:lvl4pPr marL="1365885" indent="-28575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mn-lt"/>
          <a:ea typeface="+mn-ea"/>
          <a:cs typeface="+mn-cs"/>
        </a:defRPr>
      </a:lvl4pPr>
      <a:lvl5pPr marL="1725930" indent="-28575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mn-lt"/>
          <a:ea typeface="+mn-ea"/>
          <a:cs typeface="+mn-cs"/>
        </a:defRPr>
      </a:lvl5pPr>
      <a:lvl6pPr marL="1979930" indent="-179705" algn="l" defTabSz="914400" rtl="0" eaLnBrk="1" latinLnBrk="0" hangingPunct="1">
        <a:lnSpc>
          <a:spcPct val="100000"/>
        </a:lnSpc>
        <a:spcBef>
          <a:spcPts val="1000"/>
        </a:spcBef>
        <a:buFont typeface="Arial" panose="020B0604020202020204" pitchFamily="34" charset="0"/>
        <a:buChar char="•"/>
        <a:defRPr kumimoji="1" sz="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userDrawn="1">
            <p:custDataLst>
              <p:tags r:id="rId5"/>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6" imgW="5715" imgH="5715" progId="TCLayout.ActiveDocument.1">
                  <p:embed/>
                </p:oleObj>
              </mc:Choice>
              <mc:Fallback>
                <p:oleObj name="think-cellスライド" r:id="rId6" imgW="5715" imgH="5715" progId="TCLayout.ActiveDocument.1">
                  <p:embed/>
                  <p:pic>
                    <p:nvPicPr>
                      <p:cNvPr id="3" name="オブジェクト 2" hidden="1"/>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5" name="タイトル プレースホルダー 4"/>
          <p:cNvSpPr>
            <a:spLocks noGrp="1"/>
          </p:cNvSpPr>
          <p:nvPr>
            <p:ph type="title"/>
          </p:nvPr>
        </p:nvSpPr>
        <p:spPr>
          <a:xfrm>
            <a:off x="414336" y="255264"/>
            <a:ext cx="9548530" cy="369332"/>
          </a:xfrm>
          <a:prstGeom prst="rect">
            <a:avLst/>
          </a:prstGeom>
        </p:spPr>
        <p:txBody>
          <a:bodyPr vert="horz" wrap="square" lIns="0" tIns="0" rIns="0" bIns="0" rtlCol="0" anchor="b">
            <a:noAutofit/>
          </a:bodyPr>
          <a:lstStyle/>
          <a:p>
            <a:r>
              <a:rPr kumimoji="1" lang="ja-JP" altLang="en-US"/>
              <a:t>マスター タイトルの書式設定</a:t>
            </a:r>
          </a:p>
        </p:txBody>
      </p:sp>
      <p:sp>
        <p:nvSpPr>
          <p:cNvPr id="6" name="テキスト プレースホルダー 5"/>
          <p:cNvSpPr>
            <a:spLocks noGrp="1"/>
          </p:cNvSpPr>
          <p:nvPr>
            <p:ph type="body" idx="1"/>
          </p:nvPr>
        </p:nvSpPr>
        <p:spPr>
          <a:xfrm>
            <a:off x="407988" y="1187354"/>
            <a:ext cx="11556999" cy="5049933"/>
          </a:xfrm>
          <a:prstGeom prst="rect">
            <a:avLst/>
          </a:prstGeom>
        </p:spPr>
        <p:txBody>
          <a:bodyPr vert="horz" lIns="0" tIns="0" rIns="0" bIns="0" rtlCol="0">
            <a:normAutofit/>
          </a:bodyPr>
          <a:lstStyle/>
          <a:p>
            <a:pPr marL="285750" marR="0" lvl="0"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defRPr/>
            </a:pP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マスター テキストの書式設定</a:t>
            </a:r>
          </a:p>
          <a:p>
            <a:pPr marL="645795" marR="0" lvl="1"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defRPr/>
            </a:pP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第 </a:t>
            </a:r>
            <a:r>
              <a:rPr kumimoji="1" lang="en-US" altLang="ja-JP"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2 </a:t>
            </a: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レベル</a:t>
            </a:r>
          </a:p>
          <a:p>
            <a:pPr marL="1005840" marR="0" lvl="2"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defRPr/>
            </a:pP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第 </a:t>
            </a:r>
            <a:r>
              <a:rPr kumimoji="1" lang="en-US" altLang="ja-JP"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3 </a:t>
            </a: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レベル</a:t>
            </a:r>
          </a:p>
          <a:p>
            <a:pPr marL="1365885" marR="0" lvl="3"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defRPr/>
            </a:pP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第 </a:t>
            </a:r>
            <a:r>
              <a:rPr kumimoji="1" lang="en-US" altLang="ja-JP"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4 </a:t>
            </a: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レベル</a:t>
            </a:r>
          </a:p>
          <a:p>
            <a:pPr marL="1725930" marR="0" lvl="4"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defRPr/>
            </a:pP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第 </a:t>
            </a:r>
            <a:r>
              <a:rPr kumimoji="1" lang="en-US" altLang="ja-JP"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5 </a:t>
            </a: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レベル</a:t>
            </a:r>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Lst>
  <p:hf hdr="0" ftr="0" dt="0"/>
  <p:txStyles>
    <p:titleStyle>
      <a:lvl1pPr algn="l" defTabSz="914400" rtl="0" eaLnBrk="1" latinLnBrk="0" hangingPunct="1">
        <a:lnSpc>
          <a:spcPct val="100000"/>
        </a:lnSpc>
        <a:spcBef>
          <a:spcPct val="0"/>
        </a:spcBef>
        <a:buNone/>
        <a:defRPr kumimoji="1" sz="2400" b="1" i="0" kern="1200" spc="-50" baseline="0">
          <a:solidFill>
            <a:schemeClr val="tx1"/>
          </a:solidFill>
          <a:latin typeface="+mj-lt"/>
          <a:ea typeface="+mj-ea"/>
          <a:cs typeface="Meiryo" panose="020B0604030504040204" charset="-128"/>
        </a:defRPr>
      </a:lvl1pPr>
    </p:titleStyle>
    <p:bodyStyle>
      <a:lvl1pPr marL="0" indent="0" algn="l" defTabSz="914400" rtl="0" eaLnBrk="1" latinLnBrk="0" hangingPunct="1">
        <a:lnSpc>
          <a:spcPct val="100000"/>
        </a:lnSpc>
        <a:spcBef>
          <a:spcPts val="1000"/>
        </a:spcBef>
        <a:buFont typeface="Arial" panose="020B0604020202020204" pitchFamily="34" charset="0"/>
        <a:buNone/>
        <a:defRPr kumimoji="1" sz="1600" kern="1200" baseline="0">
          <a:solidFill>
            <a:schemeClr val="tx1"/>
          </a:solidFill>
          <a:latin typeface="+mn-lt"/>
          <a:ea typeface="+mn-ea"/>
          <a:cs typeface="+mn-cs"/>
        </a:defRPr>
      </a:lvl1pPr>
      <a:lvl2pPr marL="360045" indent="0" algn="l" defTabSz="914400" rtl="0" eaLnBrk="1" latinLnBrk="0" hangingPunct="1">
        <a:lnSpc>
          <a:spcPct val="100000"/>
        </a:lnSpc>
        <a:spcBef>
          <a:spcPts val="1000"/>
        </a:spcBef>
        <a:buFont typeface="Arial" panose="020B0604020202020204" pitchFamily="34" charset="0"/>
        <a:buNone/>
        <a:defRPr kumimoji="1" sz="1600" kern="1200">
          <a:solidFill>
            <a:schemeClr val="tx1"/>
          </a:solidFill>
          <a:latin typeface="+mn-lt"/>
          <a:ea typeface="+mn-ea"/>
          <a:cs typeface="+mn-cs"/>
        </a:defRPr>
      </a:lvl2pPr>
      <a:lvl3pPr marL="720090" indent="0" algn="l" defTabSz="914400" rtl="0" eaLnBrk="1" latinLnBrk="0" hangingPunct="1">
        <a:lnSpc>
          <a:spcPct val="100000"/>
        </a:lnSpc>
        <a:spcBef>
          <a:spcPts val="1000"/>
        </a:spcBef>
        <a:buFont typeface="Arial" panose="020B0604020202020204" pitchFamily="34" charset="0"/>
        <a:buNone/>
        <a:defRPr kumimoji="1" sz="1600" kern="1200">
          <a:solidFill>
            <a:schemeClr val="tx1"/>
          </a:solidFill>
          <a:latin typeface="+mn-lt"/>
          <a:ea typeface="+mn-ea"/>
          <a:cs typeface="+mn-cs"/>
        </a:defRPr>
      </a:lvl3pPr>
      <a:lvl4pPr marL="1080135" indent="0" algn="l" defTabSz="914400" rtl="0" eaLnBrk="1" latinLnBrk="0" hangingPunct="1">
        <a:lnSpc>
          <a:spcPct val="100000"/>
        </a:lnSpc>
        <a:spcBef>
          <a:spcPts val="1000"/>
        </a:spcBef>
        <a:buFont typeface="Arial" panose="020B0604020202020204" pitchFamily="34" charset="0"/>
        <a:buNone/>
        <a:defRPr kumimoji="1" sz="1600" kern="1200">
          <a:solidFill>
            <a:schemeClr val="tx1"/>
          </a:solidFill>
          <a:latin typeface="+mn-lt"/>
          <a:ea typeface="+mn-ea"/>
          <a:cs typeface="+mn-cs"/>
        </a:defRPr>
      </a:lvl4pPr>
      <a:lvl5pPr marL="1440180" indent="0" algn="l" defTabSz="914400" rtl="0" eaLnBrk="1" latinLnBrk="0" hangingPunct="1">
        <a:lnSpc>
          <a:spcPct val="100000"/>
        </a:lnSpc>
        <a:spcBef>
          <a:spcPts val="1000"/>
        </a:spcBef>
        <a:buFont typeface="Arial" panose="020B0604020202020204" pitchFamily="34" charset="0"/>
        <a:buNone/>
        <a:defRPr kumimoji="1" sz="1600" kern="1200">
          <a:solidFill>
            <a:schemeClr val="tx1"/>
          </a:solidFill>
          <a:latin typeface="+mn-lt"/>
          <a:ea typeface="+mn-ea"/>
          <a:cs typeface="+mn-cs"/>
        </a:defRPr>
      </a:lvl5pPr>
      <a:lvl6pPr marL="1979930" indent="-179705" algn="l" defTabSz="914400" rtl="0" eaLnBrk="1" latinLnBrk="0" hangingPunct="1">
        <a:lnSpc>
          <a:spcPct val="100000"/>
        </a:lnSpc>
        <a:spcBef>
          <a:spcPts val="1000"/>
        </a:spcBef>
        <a:buFont typeface="Arial" panose="020B0604020202020204" pitchFamily="34" charset="0"/>
        <a:buChar char="•"/>
        <a:defRPr kumimoji="1" sz="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8"/>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19" imgW="5080" imgH="5080" progId="TCLayout.ActiveDocument.1">
                  <p:embed/>
                </p:oleObj>
              </mc:Choice>
              <mc:Fallback>
                <p:oleObj name="think-cellスライド" r:id="rId19" imgW="5080" imgH="5080" progId="TCLayout.ActiveDocument.1">
                  <p:embed/>
                  <p:pic>
                    <p:nvPicPr>
                      <p:cNvPr id="4" name="オブジェクト 3" hidden="1"/>
                      <p:cNvPicPr/>
                      <p:nvPr/>
                    </p:nvPicPr>
                    <p:blipFill>
                      <a:blip r:embed="rId20"/>
                      <a:stretch>
                        <a:fillRect/>
                      </a:stretch>
                    </p:blipFill>
                    <p:spPr>
                      <a:xfrm>
                        <a:off x="1955" y="1588"/>
                        <a:ext cx="1954" cy="1588"/>
                      </a:xfrm>
                      <a:prstGeom prst="rect">
                        <a:avLst/>
                      </a:prstGeom>
                    </p:spPr>
                  </p:pic>
                </p:oleObj>
              </mc:Fallback>
            </mc:AlternateContent>
          </a:graphicData>
        </a:graphic>
      </p:graphicFrame>
      <p:sp>
        <p:nvSpPr>
          <p:cNvPr id="2" name="Title Placeholder 1"/>
          <p:cNvSpPr>
            <a:spLocks noGrp="1"/>
          </p:cNvSpPr>
          <p:nvPr>
            <p:ph type="title"/>
          </p:nvPr>
        </p:nvSpPr>
        <p:spPr bwMode="gray">
          <a:xfrm>
            <a:off x="513231" y="180000"/>
            <a:ext cx="11165538" cy="615600"/>
          </a:xfrm>
          <a:prstGeom prst="rect">
            <a:avLst/>
          </a:prstGeom>
        </p:spPr>
        <p:txBody>
          <a:bodyPr vert="horz" lIns="0" tIns="0" rIns="0" bIns="0" rtlCol="0" anchor="b" anchorCtr="0">
            <a:noAutofit/>
          </a:bodyPr>
          <a:lstStyle/>
          <a:p>
            <a:r>
              <a:rPr lang="ja-JP" altLang="en-US" noProof="0"/>
              <a:t>キーメッセージを入力（本スライドで一番伝えたいこと＜名詞止め・体言止め不可＞）</a:t>
            </a:r>
            <a:endParaRPr lang="en-US" noProof="0"/>
          </a:p>
        </p:txBody>
      </p:sp>
      <p:sp>
        <p:nvSpPr>
          <p:cNvPr id="8" name="フッター プレースホルダ 8"/>
          <p:cNvSpPr>
            <a:spLocks noGrp="1"/>
          </p:cNvSpPr>
          <p:nvPr>
            <p:ph type="ftr" sz="quarter" idx="3"/>
          </p:nvPr>
        </p:nvSpPr>
        <p:spPr bwMode="gray">
          <a:xfrm>
            <a:off x="868432" y="6588000"/>
            <a:ext cx="5006769" cy="169200"/>
          </a:xfrm>
          <a:prstGeom prst="rect">
            <a:avLst/>
          </a:prstGeom>
        </p:spPr>
        <p:txBody>
          <a:bodyPr vert="horz" lIns="0" tIns="0" rIns="0" bIns="0" rtlCol="0" anchor="b" anchorCtr="0"/>
          <a:lstStyle>
            <a:lvl1pPr algn="l">
              <a:defRPr sz="900">
                <a:solidFill>
                  <a:schemeClr val="tx1"/>
                </a:solidFill>
                <a:latin typeface="+mn-lt"/>
                <a:ea typeface="+mn-ea"/>
                <a:cs typeface="+mn-cs"/>
                <a:sym typeface="+mn-lt"/>
              </a:defRPr>
            </a:lvl1pPr>
          </a:lstStyle>
          <a:p>
            <a:pPr fontAlgn="auto">
              <a:spcBef>
                <a:spcPts val="0"/>
              </a:spcBef>
              <a:spcAft>
                <a:spcPts val="0"/>
              </a:spcAft>
            </a:pPr>
            <a:r>
              <a:rPr kumimoji="1" lang="en-GB" altLang="en-GB"/>
              <a:t>DT Template A4</a:t>
            </a:r>
          </a:p>
        </p:txBody>
      </p:sp>
      <p:sp>
        <p:nvSpPr>
          <p:cNvPr id="9" name="スライド番号プレースホルダ 9"/>
          <p:cNvSpPr>
            <a:spLocks noGrp="1"/>
          </p:cNvSpPr>
          <p:nvPr>
            <p:ph type="sldNum" sz="quarter" idx="4"/>
          </p:nvPr>
        </p:nvSpPr>
        <p:spPr bwMode="gray">
          <a:xfrm>
            <a:off x="513969" y="6588000"/>
            <a:ext cx="221538" cy="169200"/>
          </a:xfrm>
          <a:prstGeom prst="rect">
            <a:avLst/>
          </a:prstGeom>
        </p:spPr>
        <p:txBody>
          <a:bodyPr vert="horz" wrap="none" lIns="0" tIns="0" rIns="0" bIns="0" rtlCol="0" anchor="b" anchorCtr="0"/>
          <a:lstStyle>
            <a:lvl1pPr algn="r">
              <a:defRPr sz="900">
                <a:solidFill>
                  <a:schemeClr val="tx1"/>
                </a:solidFill>
                <a:latin typeface="+mn-lt"/>
                <a:ea typeface="+mn-ea"/>
                <a:cs typeface="+mn-cs"/>
                <a:sym typeface="+mn-lt"/>
              </a:defRPr>
            </a:lvl1pPr>
          </a:lstStyle>
          <a:p>
            <a:pPr fontAlgn="auto">
              <a:spcBef>
                <a:spcPts val="0"/>
              </a:spcBef>
              <a:spcAft>
                <a:spcPts val="0"/>
              </a:spcAft>
            </a:pPr>
            <a:fld id="{AA5FCFE5-FE56-4EF1-80A8-07776887C2A1}" type="slidenum">
              <a:rPr kumimoji="1" lang="ja-JP" altLang="en-US" smtClean="0"/>
              <a:t>‹#›</a:t>
            </a:fld>
            <a:endParaRPr kumimoji="1" lang="ja-JP" altLang="en-US"/>
          </a:p>
        </p:txBody>
      </p:sp>
      <p:sp>
        <p:nvSpPr>
          <p:cNvPr id="15" name="Text Box 37"/>
          <p:cNvSpPr txBox="1">
            <a:spLocks noChangeArrowheads="1"/>
          </p:cNvSpPr>
          <p:nvPr/>
        </p:nvSpPr>
        <p:spPr bwMode="gray">
          <a:xfrm>
            <a:off x="6317538" y="6588000"/>
            <a:ext cx="5361231" cy="169200"/>
          </a:xfrm>
          <a:prstGeom prst="rect">
            <a:avLst/>
          </a:prstGeom>
          <a:noFill/>
          <a:ln w="9525">
            <a:noFill/>
            <a:miter lim="800000"/>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tx1"/>
                </a:solidFill>
                <a:latin typeface="+mn-lt"/>
                <a:ea typeface="+mn-ea"/>
                <a:cs typeface="+mn-cs"/>
                <a:sym typeface="+mn-lt"/>
              </a:rPr>
              <a:t>© 2022. For information, contact Deloitte Tohmatsu Group.</a:t>
            </a:r>
          </a:p>
        </p:txBody>
      </p:sp>
      <p:sp>
        <p:nvSpPr>
          <p:cNvPr id="3" name="テキスト プレースホルダー 2"/>
          <p:cNvSpPr>
            <a:spLocks noGrp="1"/>
          </p:cNvSpPr>
          <p:nvPr>
            <p:ph type="body" idx="1"/>
          </p:nvPr>
        </p:nvSpPr>
        <p:spPr bwMode="gray">
          <a:xfrm>
            <a:off x="513231" y="1476000"/>
            <a:ext cx="11166862" cy="4824000"/>
          </a:xfrm>
          <a:prstGeom prst="rect">
            <a:avLst/>
          </a:prstGeom>
        </p:spPr>
        <p:txBody>
          <a:bodyPr vert="horz" lIns="0" tIns="0" rIns="0" bIns="0" rtlCol="0">
            <a:noAutofit/>
          </a:bodyPr>
          <a:lstStyle/>
          <a:p>
            <a:pPr lvl="0"/>
            <a:r>
              <a:rPr kumimoji="1" lang="ja-JP" altLang="en-US"/>
              <a:t>マスター テキストの書式設定</a:t>
            </a:r>
            <a:endParaRPr kumimoji="1" lang="en-US" altLang="ja-JP"/>
          </a:p>
          <a:p>
            <a:pPr lvl="1"/>
            <a:r>
              <a:rPr kumimoji="1" lang="ja-JP" altLang="en-US"/>
              <a:t>第 </a:t>
            </a:r>
            <a:r>
              <a:rPr kumimoji="1" lang="en-US" altLang="ja-JP"/>
              <a:t>1 </a:t>
            </a:r>
            <a:r>
              <a:rPr kumimoji="1" lang="ja-JP" altLang="en-US"/>
              <a:t>レベル</a:t>
            </a:r>
            <a:endParaRPr kumimoji="1" lang="en-US" altLang="ja-JP"/>
          </a:p>
          <a:p>
            <a:pPr lvl="2"/>
            <a:r>
              <a:rPr kumimoji="1" lang="ja-JP" altLang="en-US"/>
              <a:t>第 </a:t>
            </a:r>
            <a:r>
              <a:rPr kumimoji="1" lang="en-US" altLang="ja-JP"/>
              <a:t>2 </a:t>
            </a:r>
            <a:r>
              <a:rPr kumimoji="1" lang="ja-JP" altLang="en-US"/>
              <a:t>レベル</a:t>
            </a:r>
            <a:endParaRPr kumimoji="1" lang="en-US" altLang="ja-JP"/>
          </a:p>
          <a:p>
            <a:pPr lvl="3"/>
            <a:r>
              <a:rPr kumimoji="1" lang="ja-JP" altLang="en-US"/>
              <a:t>第 </a:t>
            </a:r>
            <a:r>
              <a:rPr kumimoji="1" lang="en-US" altLang="ja-JP"/>
              <a:t>3 </a:t>
            </a:r>
            <a:r>
              <a:rPr kumimoji="1" lang="ja-JP" altLang="en-US"/>
              <a:t>レベル</a:t>
            </a:r>
            <a:endParaRPr kumimoji="1" lang="en-US" altLang="ja-JP"/>
          </a:p>
        </p:txBody>
      </p:sp>
      <p:sp>
        <p:nvSpPr>
          <p:cNvPr id="5" name="日付プレースホルダー 4"/>
          <p:cNvSpPr>
            <a:spLocks noGrp="1"/>
          </p:cNvSpPr>
          <p:nvPr>
            <p:ph type="dt" sz="half" idx="2"/>
          </p:nvPr>
        </p:nvSpPr>
        <p:spPr bwMode="gray">
          <a:xfrm>
            <a:off x="5651170" y="6444006"/>
            <a:ext cx="889666" cy="169277"/>
          </a:xfrm>
          <a:prstGeom prst="rect">
            <a:avLst/>
          </a:prstGeom>
        </p:spPr>
        <p:txBody>
          <a:bodyPr vert="horz" wrap="none" lIns="0" tIns="0" rIns="0" bIns="0" rtlCol="0" anchor="t" anchorCtr="0">
            <a:spAutoFit/>
          </a:bodyPr>
          <a:lstStyle>
            <a:lvl1pPr>
              <a:defRPr kumimoji="1" lang="en-US" altLang="ja-JP" sz="1100" smtClean="0">
                <a:solidFill>
                  <a:srgbClr val="75787B"/>
                </a:solidFill>
                <a:latin typeface="+mn-lt"/>
                <a:cs typeface="+mn-cs"/>
              </a:defRPr>
            </a:lvl1pPr>
          </a:lstStyle>
          <a:p>
            <a:pPr algn="ctr"/>
            <a:r>
              <a:rPr lang="en-US"/>
              <a:t>&lt; Confidential &gt;</a:t>
            </a:r>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 id="2147483672" r:id="rId15"/>
    <p:sldLayoutId id="2147483673" r:id="rId16"/>
  </p:sldLayoutIdLst>
  <p:hf hdr="0"/>
  <p:txStyles>
    <p:titleStyle>
      <a:lvl1pPr algn="l" defTabSz="990600" rtl="0" eaLnBrk="1" latinLnBrk="0" hangingPunct="1">
        <a:spcBef>
          <a:spcPct val="0"/>
        </a:spcBef>
        <a:buNone/>
        <a:defRPr kumimoji="1" sz="2000" b="1" kern="1200" baseline="0">
          <a:solidFill>
            <a:schemeClr val="tx1"/>
          </a:solidFill>
          <a:latin typeface="+mj-lt"/>
          <a:ea typeface="+mj-ea"/>
          <a:cs typeface="+mj-cs"/>
          <a:sym typeface="+mj-lt"/>
        </a:defRPr>
      </a:lvl1pPr>
    </p:titleStyle>
    <p:bodyStyle>
      <a:lvl1pPr marL="0" marR="0" indent="0" algn="l" defTabSz="990600" rtl="0" eaLnBrk="1" fontAlgn="auto" latinLnBrk="0" hangingPunct="1">
        <a:lnSpc>
          <a:spcPct val="110000"/>
        </a:lnSpc>
        <a:spcBef>
          <a:spcPts val="600"/>
        </a:spcBef>
        <a:spcAft>
          <a:spcPts val="0"/>
        </a:spcAft>
        <a:buClrTx/>
        <a:buSzPct val="100000"/>
        <a:buFont typeface="Arial" panose="020B0604020202020204" pitchFamily="34" charset="0"/>
        <a:buNone/>
        <a:defRPr kumimoji="1" sz="1200" b="0" kern="1200">
          <a:solidFill>
            <a:schemeClr val="tx1"/>
          </a:solidFill>
          <a:latin typeface="+mn-lt"/>
          <a:ea typeface="+mn-ea"/>
          <a:cs typeface="+mn-cs"/>
          <a:sym typeface="+mn-lt"/>
        </a:defRPr>
      </a:lvl1pPr>
      <a:lvl2pPr marL="179705" marR="0" indent="-179705" algn="l" defTabSz="990600" rtl="0" eaLnBrk="1" fontAlgn="auto" latinLnBrk="0" hangingPunct="1">
        <a:lnSpc>
          <a:spcPct val="110000"/>
        </a:lnSpc>
        <a:spcBef>
          <a:spcPts val="600"/>
        </a:spcBef>
        <a:spcAft>
          <a:spcPts val="0"/>
        </a:spcAft>
        <a:buClrTx/>
        <a:buSzPct val="100000"/>
        <a:buFont typeface="Wingdings" panose="05000000000000000000" pitchFamily="2" charset="2"/>
        <a:buChar char="n"/>
        <a:defRPr kumimoji="1" lang="en-US" sz="1200" b="0" kern="1200" dirty="0" smtClean="0">
          <a:solidFill>
            <a:schemeClr val="tx1"/>
          </a:solidFill>
          <a:latin typeface="+mn-lt"/>
          <a:ea typeface="+mn-ea"/>
          <a:cs typeface="+mn-cs"/>
          <a:sym typeface="+mn-lt"/>
        </a:defRPr>
      </a:lvl2pPr>
      <a:lvl3pPr marL="360045" marR="0" indent="-179705" algn="l" defTabSz="990600" rtl="0" eaLnBrk="1" fontAlgn="auto" latinLnBrk="0" hangingPunct="1">
        <a:lnSpc>
          <a:spcPct val="110000"/>
        </a:lnSpc>
        <a:spcBef>
          <a:spcPts val="600"/>
        </a:spcBef>
        <a:spcAft>
          <a:spcPts val="0"/>
        </a:spcAft>
        <a:buClrTx/>
        <a:buSzPct val="100000"/>
        <a:buFont typeface="Wingdings" panose="05000000000000000000" pitchFamily="2" charset="2"/>
        <a:buChar char="Ø"/>
        <a:defRPr kumimoji="1" lang="en-US" sz="1200" b="0" kern="1200" dirty="0" smtClean="0">
          <a:solidFill>
            <a:schemeClr val="tx1"/>
          </a:solidFill>
          <a:latin typeface="+mn-lt"/>
          <a:ea typeface="+mn-ea"/>
          <a:cs typeface="+mn-cs"/>
          <a:sym typeface="+mn-lt"/>
        </a:defRPr>
      </a:lvl3pPr>
      <a:lvl4pPr marL="504190" marR="0" indent="-144145" algn="l" defTabSz="990600" rtl="0" eaLnBrk="1" fontAlgn="auto" latinLnBrk="0" hangingPunct="1">
        <a:lnSpc>
          <a:spcPct val="110000"/>
        </a:lnSpc>
        <a:spcBef>
          <a:spcPts val="600"/>
        </a:spcBef>
        <a:spcAft>
          <a:spcPts val="0"/>
        </a:spcAft>
        <a:buClrTx/>
        <a:buSzPct val="100000"/>
        <a:buFont typeface="Arial" panose="020B0604020202020204" pitchFamily="34" charset="0"/>
        <a:buChar char="•"/>
        <a:defRPr kumimoji="1" lang="en-US" sz="1200" b="0" kern="1200" baseline="0" dirty="0" smtClean="0">
          <a:solidFill>
            <a:schemeClr val="tx1"/>
          </a:solidFill>
          <a:latin typeface="+mn-lt"/>
          <a:ea typeface="+mn-ea"/>
          <a:cs typeface="+mn-cs"/>
          <a:sym typeface="+mn-lt"/>
        </a:defRPr>
      </a:lvl4pPr>
      <a:lvl5pPr marL="683895" indent="-179705" algn="l" defTabSz="864870" rtl="0" eaLnBrk="1" latinLnBrk="0" hangingPunct="1">
        <a:lnSpc>
          <a:spcPct val="110000"/>
        </a:lnSpc>
        <a:spcBef>
          <a:spcPts val="600"/>
        </a:spcBef>
        <a:spcAft>
          <a:spcPts val="0"/>
        </a:spcAft>
        <a:buClrTx/>
        <a:buSzPct val="100000"/>
        <a:buFont typeface="Verdana" panose="020B0604030504040204" pitchFamily="34" charset="0"/>
        <a:buChar char="−"/>
        <a:defRPr kumimoji="1" lang="en-US" sz="1200" kern="1200" baseline="0" dirty="0" smtClean="0">
          <a:solidFill>
            <a:schemeClr val="tx1"/>
          </a:solidFill>
          <a:latin typeface="+mn-lt"/>
          <a:ea typeface="+mn-ea"/>
          <a:cs typeface="+mn-cs"/>
        </a:defRPr>
      </a:lvl5pPr>
      <a:lvl6pPr marL="864235" indent="-179705" algn="l" defTabSz="990600" rtl="0" eaLnBrk="1" latinLnBrk="0" hangingPunct="1">
        <a:lnSpc>
          <a:spcPct val="110000"/>
        </a:lnSpc>
        <a:spcBef>
          <a:spcPts val="600"/>
        </a:spcBef>
        <a:spcAft>
          <a:spcPts val="0"/>
        </a:spcAft>
        <a:buFont typeface="Wingdings" panose="05000000000000000000" pitchFamily="2" charset="2"/>
        <a:buChar char="ü"/>
        <a:defRPr kumimoji="1" sz="1200" kern="1200" baseline="0">
          <a:solidFill>
            <a:schemeClr val="tx1"/>
          </a:solidFill>
          <a:latin typeface="+mn-lt"/>
          <a:ea typeface="+mn-ea"/>
          <a:cs typeface="+mn-cs"/>
        </a:defRPr>
      </a:lvl6pPr>
      <a:lvl7pPr marL="577215" indent="-191135" algn="l" defTabSz="990600" rtl="0" eaLnBrk="1" latinLnBrk="0" hangingPunct="1">
        <a:spcBef>
          <a:spcPts val="0"/>
        </a:spcBef>
        <a:spcAft>
          <a:spcPts val="1085"/>
        </a:spcAft>
        <a:buFont typeface="Verdana" panose="020B0604030504040204" pitchFamily="34" charset="0"/>
        <a:buChar char="−"/>
        <a:defRPr kumimoji="1" sz="1300" kern="1200">
          <a:solidFill>
            <a:schemeClr val="tx1"/>
          </a:solidFill>
          <a:latin typeface="+mn-lt"/>
          <a:ea typeface="+mn-ea"/>
          <a:cs typeface="+mn-cs"/>
        </a:defRPr>
      </a:lvl7pPr>
      <a:lvl8pPr marL="577215" indent="-191135" algn="l" defTabSz="990600" rtl="0" eaLnBrk="1" latinLnBrk="0" hangingPunct="1">
        <a:spcBef>
          <a:spcPts val="0"/>
        </a:spcBef>
        <a:spcAft>
          <a:spcPts val="1085"/>
        </a:spcAft>
        <a:buFont typeface="Verdana" panose="020B0604030504040204" pitchFamily="34" charset="0"/>
        <a:buChar char="−"/>
        <a:defRPr kumimoji="1" sz="1300" kern="1200" baseline="0">
          <a:solidFill>
            <a:schemeClr val="tx1"/>
          </a:solidFill>
          <a:latin typeface="+mn-lt"/>
          <a:ea typeface="+mn-ea"/>
          <a:cs typeface="+mn-cs"/>
        </a:defRPr>
      </a:lvl8pPr>
      <a:lvl9pPr marL="577215" indent="-191135" algn="l" defTabSz="990600" rtl="0" eaLnBrk="1" latinLnBrk="0" hangingPunct="1">
        <a:spcBef>
          <a:spcPts val="0"/>
        </a:spcBef>
        <a:spcAft>
          <a:spcPts val="1085"/>
        </a:spcAft>
        <a:buFont typeface="Verdana" panose="020B0604030504040204" pitchFamily="34" charset="0"/>
        <a:buChar char="−"/>
        <a:defRPr kumimoji="1" sz="1300" kern="1200" baseline="0">
          <a:solidFill>
            <a:schemeClr val="tx1"/>
          </a:solidFill>
          <a:latin typeface="+mn-lt"/>
          <a:ea typeface="+mn-ea"/>
          <a:cs typeface="+mn-cs"/>
        </a:defRPr>
      </a:lvl9pPr>
    </p:bodyStyle>
    <p:otherStyle>
      <a:defPPr>
        <a:defRPr lang="en-US"/>
      </a:defPPr>
      <a:lvl1pPr marL="0" algn="l" defTabSz="990600" rtl="0" eaLnBrk="1" latinLnBrk="0" hangingPunct="1">
        <a:defRPr kumimoji="1" sz="1950" kern="1200">
          <a:solidFill>
            <a:schemeClr val="tx1"/>
          </a:solidFill>
          <a:latin typeface="+mn-lt"/>
          <a:ea typeface="+mn-ea"/>
          <a:cs typeface="+mn-cs"/>
        </a:defRPr>
      </a:lvl1pPr>
      <a:lvl2pPr marL="495300" algn="l" defTabSz="990600" rtl="0" eaLnBrk="1" latinLnBrk="0" hangingPunct="1">
        <a:defRPr kumimoji="1" sz="1950" kern="1200">
          <a:solidFill>
            <a:schemeClr val="tx1"/>
          </a:solidFill>
          <a:latin typeface="+mn-lt"/>
          <a:ea typeface="+mn-ea"/>
          <a:cs typeface="+mn-cs"/>
        </a:defRPr>
      </a:lvl2pPr>
      <a:lvl3pPr marL="990600" algn="l" defTabSz="990600" rtl="0" eaLnBrk="1" latinLnBrk="0" hangingPunct="1">
        <a:defRPr kumimoji="1" sz="1950" kern="1200">
          <a:solidFill>
            <a:schemeClr val="tx1"/>
          </a:solidFill>
          <a:latin typeface="+mn-lt"/>
          <a:ea typeface="+mn-ea"/>
          <a:cs typeface="+mn-cs"/>
        </a:defRPr>
      </a:lvl3pPr>
      <a:lvl4pPr marL="1485900" algn="l" defTabSz="990600" rtl="0" eaLnBrk="1" latinLnBrk="0" hangingPunct="1">
        <a:defRPr kumimoji="1" sz="1950" kern="1200">
          <a:solidFill>
            <a:schemeClr val="tx1"/>
          </a:solidFill>
          <a:latin typeface="+mn-lt"/>
          <a:ea typeface="+mn-ea"/>
          <a:cs typeface="+mn-cs"/>
        </a:defRPr>
      </a:lvl4pPr>
      <a:lvl5pPr marL="1981200" algn="l" defTabSz="990600" rtl="0" eaLnBrk="1" latinLnBrk="0" hangingPunct="1">
        <a:defRPr kumimoji="1" sz="1950" kern="1200">
          <a:solidFill>
            <a:schemeClr val="tx1"/>
          </a:solidFill>
          <a:latin typeface="+mn-lt"/>
          <a:ea typeface="+mn-ea"/>
          <a:cs typeface="+mn-cs"/>
        </a:defRPr>
      </a:lvl5pPr>
      <a:lvl6pPr marL="2476500" algn="l" defTabSz="990600" rtl="0" eaLnBrk="1" latinLnBrk="0" hangingPunct="1">
        <a:defRPr kumimoji="1" sz="1950" kern="1200">
          <a:solidFill>
            <a:schemeClr val="tx1"/>
          </a:solidFill>
          <a:latin typeface="+mn-lt"/>
          <a:ea typeface="+mn-ea"/>
          <a:cs typeface="+mn-cs"/>
        </a:defRPr>
      </a:lvl6pPr>
      <a:lvl7pPr marL="2971800" algn="l" defTabSz="990600" rtl="0" eaLnBrk="1" latinLnBrk="0" hangingPunct="1">
        <a:defRPr kumimoji="1" sz="1950" kern="1200">
          <a:solidFill>
            <a:schemeClr val="tx1"/>
          </a:solidFill>
          <a:latin typeface="+mn-lt"/>
          <a:ea typeface="+mn-ea"/>
          <a:cs typeface="+mn-cs"/>
        </a:defRPr>
      </a:lvl7pPr>
      <a:lvl8pPr marL="3467100" algn="l" defTabSz="990600" rtl="0" eaLnBrk="1" latinLnBrk="0" hangingPunct="1">
        <a:defRPr kumimoji="1" sz="1950" kern="1200">
          <a:solidFill>
            <a:schemeClr val="tx1"/>
          </a:solidFill>
          <a:latin typeface="+mn-lt"/>
          <a:ea typeface="+mn-ea"/>
          <a:cs typeface="+mn-cs"/>
        </a:defRPr>
      </a:lvl8pPr>
      <a:lvl9pPr marL="3962400" algn="l" defTabSz="990600" rtl="0" eaLnBrk="1" latinLnBrk="0" hangingPunct="1">
        <a:defRPr kumimoji="1" sz="19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25"/>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26" imgW="7620" imgH="7620" progId="TCLayout.ActiveDocument.1">
                  <p:embed/>
                </p:oleObj>
              </mc:Choice>
              <mc:Fallback>
                <p:oleObj name="think-cellスライド" r:id="rId26" imgW="7620" imgH="7620" progId="TCLayout.ActiveDocument.1">
                  <p:embed/>
                  <p:pic>
                    <p:nvPicPr>
                      <p:cNvPr id="4" name="オブジェクト 3" hidden="1"/>
                      <p:cNvPicPr/>
                      <p:nvPr/>
                    </p:nvPicPr>
                    <p:blipFill>
                      <a:blip r:embed="rId27"/>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bwMode="gray">
          <a:xfrm>
            <a:off x="480000" y="108000"/>
            <a:ext cx="11232000" cy="738000"/>
          </a:xfrm>
          <a:prstGeom prst="rect">
            <a:avLst/>
          </a:prstGeom>
        </p:spPr>
        <p:txBody>
          <a:bodyPr vert="horz" lIns="0" tIns="0" rIns="0" bIns="0" rtlCol="0" anchor="b" anchorCtr="0">
            <a:noAutofit/>
          </a:bodyPr>
          <a:lstStyle/>
          <a:p>
            <a:r>
              <a:rPr lang="ja-JP" altLang="en-US" noProof="0"/>
              <a:t>キーメッセージを入力（本スライドで一番伝えたいこと＜名詞止め・体言止め不可＞）</a:t>
            </a:r>
            <a:endParaRPr lang="en-US" noProof="0"/>
          </a:p>
        </p:txBody>
      </p:sp>
      <p:sp>
        <p:nvSpPr>
          <p:cNvPr id="8" name="フッター プレースホルダ 8"/>
          <p:cNvSpPr>
            <a:spLocks noGrp="1"/>
          </p:cNvSpPr>
          <p:nvPr>
            <p:ph type="ftr" sz="quarter" idx="3"/>
          </p:nvPr>
        </p:nvSpPr>
        <p:spPr bwMode="gray">
          <a:xfrm>
            <a:off x="730800" y="6588000"/>
            <a:ext cx="5184000" cy="169200"/>
          </a:xfrm>
          <a:prstGeom prst="rect">
            <a:avLst/>
          </a:prstGeom>
        </p:spPr>
        <p:txBody>
          <a:bodyPr vert="horz" lIns="0" tIns="0" rIns="0" bIns="0" rtlCol="0" anchor="b" anchorCtr="0"/>
          <a:lstStyle>
            <a:lvl1pPr algn="l">
              <a:defRPr sz="900">
                <a:solidFill>
                  <a:schemeClr val="tx1"/>
                </a:solidFill>
                <a:latin typeface="+mn-lt"/>
                <a:ea typeface="+mn-ea"/>
                <a:cs typeface="+mn-cs"/>
              </a:defRPr>
            </a:lvl1pPr>
          </a:lstStyle>
          <a:p>
            <a:pPr fontAlgn="auto">
              <a:spcBef>
                <a:spcPts val="0"/>
              </a:spcBef>
              <a:spcAft>
                <a:spcPts val="0"/>
              </a:spcAft>
            </a:pPr>
            <a:r>
              <a:rPr lang="en-US" altLang="ja-JP"/>
              <a:t>Notes</a:t>
            </a:r>
            <a:r>
              <a:rPr lang="ja-JP" altLang="en-US"/>
              <a:t>アプリ刷新のご提案</a:t>
            </a:r>
            <a:endParaRPr lang="en-GB" altLang="en-GB"/>
          </a:p>
        </p:txBody>
      </p:sp>
      <p:sp>
        <p:nvSpPr>
          <p:cNvPr id="9" name="スライド番号プレースホルダ 9"/>
          <p:cNvSpPr>
            <a:spLocks noGrp="1"/>
          </p:cNvSpPr>
          <p:nvPr>
            <p:ph type="sldNum" sz="quarter" idx="4"/>
          </p:nvPr>
        </p:nvSpPr>
        <p:spPr bwMode="gray">
          <a:xfrm>
            <a:off x="480000" y="6588000"/>
            <a:ext cx="180000" cy="169200"/>
          </a:xfrm>
          <a:prstGeom prst="rect">
            <a:avLst/>
          </a:prstGeom>
        </p:spPr>
        <p:txBody>
          <a:bodyPr vert="horz" wrap="none" lIns="0" tIns="0" rIns="0" bIns="0" rtlCol="0" anchor="b" anchorCtr="0"/>
          <a:lstStyle>
            <a:lvl1pPr algn="r">
              <a:defRPr sz="900">
                <a:solidFill>
                  <a:schemeClr val="tx1"/>
                </a:solidFill>
                <a:latin typeface="+mn-lt"/>
                <a:ea typeface="+mn-ea"/>
                <a:cs typeface="+mn-cs"/>
              </a:defRPr>
            </a:lvl1pPr>
          </a:lstStyle>
          <a:p>
            <a:pPr fontAlgn="auto">
              <a:spcBef>
                <a:spcPts val="0"/>
              </a:spcBef>
              <a:spcAft>
                <a:spcPts val="0"/>
              </a:spcAft>
            </a:pPr>
            <a:fld id="{AA5FCFE5-FE56-4EF1-80A8-07776887C2A1}" type="slidenum">
              <a:rPr kumimoji="1" lang="ja-JP" altLang="en-US" smtClean="0"/>
              <a:t>‹#›</a:t>
            </a:fld>
            <a:endParaRPr kumimoji="1" lang="ja-JP" altLang="en-US"/>
          </a:p>
        </p:txBody>
      </p:sp>
      <p:sp>
        <p:nvSpPr>
          <p:cNvPr id="15" name="Text Box 37"/>
          <p:cNvSpPr txBox="1">
            <a:spLocks noChangeArrowheads="1"/>
          </p:cNvSpPr>
          <p:nvPr/>
        </p:nvSpPr>
        <p:spPr bwMode="gray">
          <a:xfrm>
            <a:off x="6276000" y="6588000"/>
            <a:ext cx="5436000" cy="169200"/>
          </a:xfrm>
          <a:prstGeom prst="rect">
            <a:avLst/>
          </a:prstGeom>
          <a:noFill/>
          <a:ln w="9525">
            <a:noFill/>
            <a:miter lim="800000"/>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tx1"/>
                </a:solidFill>
                <a:latin typeface="+mn-lt"/>
                <a:ea typeface="+mn-ea"/>
                <a:cs typeface="+mn-cs"/>
              </a:rPr>
              <a:t>© 2024. For information, contact Deloitte Tohmatsu Group.</a:t>
            </a:r>
          </a:p>
        </p:txBody>
      </p:sp>
      <p:sp>
        <p:nvSpPr>
          <p:cNvPr id="3" name="テキスト プレースホルダー 2"/>
          <p:cNvSpPr>
            <a:spLocks noGrp="1"/>
          </p:cNvSpPr>
          <p:nvPr>
            <p:ph type="body" idx="1"/>
          </p:nvPr>
        </p:nvSpPr>
        <p:spPr bwMode="gray">
          <a:xfrm>
            <a:off x="480000" y="1476000"/>
            <a:ext cx="11232000" cy="4824000"/>
          </a:xfrm>
          <a:prstGeom prst="rect">
            <a:avLst/>
          </a:prstGeom>
        </p:spPr>
        <p:txBody>
          <a:bodyPr vert="horz" lIns="0" tIns="0" rIns="0" bIns="0" rtlCol="0">
            <a:noAutofit/>
          </a:bodyPr>
          <a:lstStyle/>
          <a:p>
            <a:pPr lvl="0"/>
            <a:r>
              <a:rPr kumimoji="1" lang="ja-JP" altLang="en-US"/>
              <a:t>マスター テキストの書式設定</a:t>
            </a:r>
          </a:p>
          <a:p>
            <a:pPr lvl="1"/>
            <a:r>
              <a:rPr kumimoji="1" lang="ja-JP" altLang="en-US"/>
              <a:t>第 </a:t>
            </a:r>
            <a:r>
              <a:rPr kumimoji="1" lang="en-US" altLang="ja-JP"/>
              <a:t>1 </a:t>
            </a:r>
            <a:r>
              <a:rPr kumimoji="1" lang="ja-JP" altLang="en-US"/>
              <a:t>レベル</a:t>
            </a:r>
          </a:p>
          <a:p>
            <a:pPr lvl="2"/>
            <a:r>
              <a:rPr kumimoji="1" lang="ja-JP" altLang="en-US"/>
              <a:t>第 </a:t>
            </a:r>
            <a:r>
              <a:rPr kumimoji="1" lang="en-US" altLang="ja-JP"/>
              <a:t>2 </a:t>
            </a:r>
            <a:r>
              <a:rPr kumimoji="1" lang="ja-JP" altLang="en-US"/>
              <a:t>レベル</a:t>
            </a:r>
          </a:p>
          <a:p>
            <a:pPr lvl="3"/>
            <a:r>
              <a:rPr kumimoji="1" lang="ja-JP" altLang="en-US"/>
              <a:t>第 </a:t>
            </a:r>
            <a:r>
              <a:rPr kumimoji="1" lang="en-US" altLang="ja-JP"/>
              <a:t>3 </a:t>
            </a:r>
            <a:r>
              <a:rPr kumimoji="1" lang="ja-JP" altLang="en-US"/>
              <a:t>レベル</a:t>
            </a:r>
          </a:p>
        </p:txBody>
      </p:sp>
      <p:sp>
        <p:nvSpPr>
          <p:cNvPr id="10" name="日付プレースホルダー 3"/>
          <p:cNvSpPr>
            <a:spLocks noGrp="1"/>
          </p:cNvSpPr>
          <p:nvPr>
            <p:ph type="dt" sz="half" idx="2"/>
          </p:nvPr>
        </p:nvSpPr>
        <p:spPr bwMode="gray">
          <a:xfrm>
            <a:off x="5651167" y="6444000"/>
            <a:ext cx="889666" cy="169277"/>
          </a:xfrm>
          <a:prstGeom prst="rect">
            <a:avLst/>
          </a:prstGeom>
        </p:spPr>
        <p:txBody>
          <a:bodyPr vert="horz" wrap="none" lIns="0" tIns="0" rIns="0" bIns="0" rtlCol="0" anchor="t" anchorCtr="0">
            <a:spAutoFit/>
          </a:bodyPr>
          <a:lstStyle>
            <a:lvl1pPr>
              <a:defRPr kumimoji="1" lang="en-US" altLang="ja-JP" sz="1100" smtClean="0">
                <a:solidFill>
                  <a:srgbClr val="75787B"/>
                </a:solidFill>
                <a:latin typeface="+mn-lt"/>
                <a:cs typeface="+mn-cs"/>
              </a:defRPr>
            </a:lvl1pPr>
          </a:lstStyle>
          <a:p>
            <a:pPr algn="ctr"/>
            <a:r>
              <a:rPr lang="en-US"/>
              <a:t>&lt; Confidential &gt;</a:t>
            </a:r>
          </a:p>
        </p:txBody>
      </p:sp>
      <p:sp>
        <p:nvSpPr>
          <p:cNvPr id="6" name="フッター プレースホルダー 5"/>
          <p:cNvSpPr txBox="1"/>
          <p:nvPr userDrawn="1"/>
        </p:nvSpPr>
        <p:spPr>
          <a:xfrm>
            <a:off x="883200" y="6740400"/>
            <a:ext cx="5184000" cy="169200"/>
          </a:xfrm>
          <a:prstGeom prst="rect">
            <a:avLst/>
          </a:prstGeom>
        </p:spPr>
        <p:txBody>
          <a:bodyPr/>
          <a:lstStyle>
            <a:defPPr>
              <a:defRPr lang="en-US"/>
            </a:defPPr>
            <a:lvl1pPr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1pPr>
            <a:lvl2pPr marL="429895"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2pPr>
            <a:lvl3pPr marL="859790"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3pPr>
            <a:lvl4pPr marL="1289050"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4pPr>
            <a:lvl5pPr marL="1718945"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5pPr>
            <a:lvl6pPr marL="2148840"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6pPr>
            <a:lvl7pPr marL="2578735"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7pPr>
            <a:lvl8pPr marL="3008630"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8pPr>
            <a:lvl9pPr marL="3437890"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9pPr>
          </a:lstStyle>
          <a:p>
            <a:endParaRPr lang="en-GB" altLang="en-GB"/>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92" r:id="rId18"/>
    <p:sldLayoutId id="2147483693" r:id="rId19"/>
    <p:sldLayoutId id="2147483694" r:id="rId20"/>
    <p:sldLayoutId id="2147483695" r:id="rId21"/>
    <p:sldLayoutId id="2147483696" r:id="rId22"/>
    <p:sldLayoutId id="2147483697" r:id="rId23"/>
  </p:sldLayoutIdLst>
  <p:hf hdr="0"/>
  <p:txStyles>
    <p:titleStyle>
      <a:lvl1pPr algn="l" defTabSz="990600" rtl="0" eaLnBrk="1" latinLnBrk="0" hangingPunct="1">
        <a:spcBef>
          <a:spcPct val="0"/>
        </a:spcBef>
        <a:buNone/>
        <a:defRPr kumimoji="1" sz="2400" b="1" kern="1200" baseline="0">
          <a:solidFill>
            <a:schemeClr val="tx1"/>
          </a:solidFill>
          <a:latin typeface="+mj-lt"/>
          <a:ea typeface="+mj-ea"/>
          <a:cs typeface="+mj-cs"/>
        </a:defRPr>
      </a:lvl1pPr>
    </p:titleStyle>
    <p:bodyStyle>
      <a:lvl1pPr marL="0" marR="0" indent="0" algn="l" defTabSz="990600" rtl="0" eaLnBrk="1" fontAlgn="auto" latinLnBrk="0" hangingPunct="1">
        <a:lnSpc>
          <a:spcPct val="110000"/>
        </a:lnSpc>
        <a:spcBef>
          <a:spcPts val="600"/>
        </a:spcBef>
        <a:spcAft>
          <a:spcPts val="0"/>
        </a:spcAft>
        <a:buClrTx/>
        <a:buSzPct val="100000"/>
        <a:buFont typeface="Arial" panose="020B0604020202020204" pitchFamily="34" charset="0"/>
        <a:buNone/>
        <a:defRPr kumimoji="1" sz="1600" b="0" kern="1200">
          <a:solidFill>
            <a:schemeClr val="tx1"/>
          </a:solidFill>
          <a:latin typeface="+mn-lt"/>
          <a:ea typeface="+mn-ea"/>
          <a:cs typeface="+mn-cs"/>
        </a:defRPr>
      </a:lvl1pPr>
      <a:lvl2pPr marL="252095" marR="0" indent="-252095" algn="l" defTabSz="990600" rtl="0" eaLnBrk="1" fontAlgn="auto" latinLnBrk="0" hangingPunct="1">
        <a:lnSpc>
          <a:spcPct val="110000"/>
        </a:lnSpc>
        <a:spcBef>
          <a:spcPts val="600"/>
        </a:spcBef>
        <a:spcAft>
          <a:spcPts val="0"/>
        </a:spcAft>
        <a:buClrTx/>
        <a:buSzPct val="100000"/>
        <a:buFont typeface="Wingdings" panose="05000000000000000000" pitchFamily="2" charset="2"/>
        <a:buChar char="n"/>
        <a:defRPr kumimoji="1" lang="en-US" sz="1600" b="0" kern="1200" dirty="0" smtClean="0">
          <a:solidFill>
            <a:schemeClr val="tx1"/>
          </a:solidFill>
          <a:latin typeface="+mn-lt"/>
          <a:ea typeface="+mn-ea"/>
          <a:cs typeface="+mn-cs"/>
        </a:defRPr>
      </a:lvl2pPr>
      <a:lvl3pPr marL="504190" marR="0" indent="-252095" algn="l" defTabSz="990600" rtl="0" eaLnBrk="1" fontAlgn="auto" latinLnBrk="0" hangingPunct="1">
        <a:lnSpc>
          <a:spcPct val="110000"/>
        </a:lnSpc>
        <a:spcBef>
          <a:spcPts val="600"/>
        </a:spcBef>
        <a:spcAft>
          <a:spcPts val="0"/>
        </a:spcAft>
        <a:buClrTx/>
        <a:buSzPct val="100000"/>
        <a:buFont typeface="Wingdings" panose="05000000000000000000" pitchFamily="2" charset="2"/>
        <a:buChar char="Ø"/>
        <a:defRPr kumimoji="1" lang="en-US" sz="1600" b="0" kern="1200" dirty="0" smtClean="0">
          <a:solidFill>
            <a:schemeClr val="tx1"/>
          </a:solidFill>
          <a:latin typeface="+mn-lt"/>
          <a:ea typeface="+mn-ea"/>
          <a:cs typeface="+mn-cs"/>
        </a:defRPr>
      </a:lvl3pPr>
      <a:lvl4pPr marL="683895" marR="0" indent="-179705" algn="l" defTabSz="990600" rtl="0" eaLnBrk="1" fontAlgn="auto" latinLnBrk="0" hangingPunct="1">
        <a:lnSpc>
          <a:spcPct val="110000"/>
        </a:lnSpc>
        <a:spcBef>
          <a:spcPts val="600"/>
        </a:spcBef>
        <a:spcAft>
          <a:spcPts val="0"/>
        </a:spcAft>
        <a:buClrTx/>
        <a:buSzPct val="100000"/>
        <a:buFont typeface="Arial" panose="020B0604020202020204" pitchFamily="34" charset="0"/>
        <a:buChar char="•"/>
        <a:defRPr kumimoji="1" lang="en-US" sz="1600" b="0" kern="1200" baseline="0" dirty="0" smtClean="0">
          <a:solidFill>
            <a:schemeClr val="tx1"/>
          </a:solidFill>
          <a:latin typeface="+mn-lt"/>
          <a:ea typeface="+mn-ea"/>
          <a:cs typeface="+mn-cs"/>
        </a:defRPr>
      </a:lvl4pPr>
      <a:lvl5pPr marL="935990" indent="-252095" algn="l" defTabSz="864870" rtl="0" eaLnBrk="1" latinLnBrk="0" hangingPunct="1">
        <a:lnSpc>
          <a:spcPct val="110000"/>
        </a:lnSpc>
        <a:spcBef>
          <a:spcPts val="600"/>
        </a:spcBef>
        <a:spcAft>
          <a:spcPts val="0"/>
        </a:spcAft>
        <a:buClrTx/>
        <a:buSzPct val="100000"/>
        <a:buFont typeface="Verdana" panose="020B0604030504040204" pitchFamily="34" charset="0"/>
        <a:buChar char="−"/>
        <a:defRPr kumimoji="1" lang="en-US" sz="1600" kern="1200" baseline="0" dirty="0" smtClean="0">
          <a:solidFill>
            <a:schemeClr val="tx1"/>
          </a:solidFill>
          <a:latin typeface="+mn-lt"/>
          <a:ea typeface="+mn-ea"/>
          <a:cs typeface="+mn-cs"/>
        </a:defRPr>
      </a:lvl5pPr>
      <a:lvl6pPr marL="1188085" indent="-252095" algn="l" defTabSz="990600" rtl="0" eaLnBrk="1" latinLnBrk="0" hangingPunct="1">
        <a:lnSpc>
          <a:spcPct val="110000"/>
        </a:lnSpc>
        <a:spcBef>
          <a:spcPts val="600"/>
        </a:spcBef>
        <a:spcAft>
          <a:spcPts val="0"/>
        </a:spcAft>
        <a:buFont typeface="Wingdings" panose="05000000000000000000" pitchFamily="2" charset="2"/>
        <a:buChar char="ü"/>
        <a:defRPr kumimoji="1" sz="1600" kern="1200" baseline="0">
          <a:solidFill>
            <a:schemeClr val="tx1"/>
          </a:solidFill>
          <a:latin typeface="+mn-lt"/>
          <a:ea typeface="+mn-ea"/>
          <a:cs typeface="+mn-cs"/>
        </a:defRPr>
      </a:lvl6pPr>
      <a:lvl7pPr marL="577215" indent="-191135" algn="l" defTabSz="990600" rtl="0" eaLnBrk="1" latinLnBrk="0" hangingPunct="1">
        <a:spcBef>
          <a:spcPts val="0"/>
        </a:spcBef>
        <a:spcAft>
          <a:spcPts val="1085"/>
        </a:spcAft>
        <a:buFont typeface="Verdana" panose="020B0604030504040204" pitchFamily="34" charset="0"/>
        <a:buChar char="−"/>
        <a:defRPr kumimoji="1" sz="1300" kern="1200">
          <a:solidFill>
            <a:schemeClr val="tx1"/>
          </a:solidFill>
          <a:latin typeface="+mn-lt"/>
          <a:ea typeface="+mn-ea"/>
          <a:cs typeface="+mn-cs"/>
        </a:defRPr>
      </a:lvl7pPr>
      <a:lvl8pPr marL="577215" indent="-191135" algn="l" defTabSz="990600" rtl="0" eaLnBrk="1" latinLnBrk="0" hangingPunct="1">
        <a:spcBef>
          <a:spcPts val="0"/>
        </a:spcBef>
        <a:spcAft>
          <a:spcPts val="1085"/>
        </a:spcAft>
        <a:buFont typeface="Verdana" panose="020B0604030504040204" pitchFamily="34" charset="0"/>
        <a:buChar char="−"/>
        <a:defRPr kumimoji="1" sz="1300" kern="1200" baseline="0">
          <a:solidFill>
            <a:schemeClr val="tx1"/>
          </a:solidFill>
          <a:latin typeface="+mn-lt"/>
          <a:ea typeface="+mn-ea"/>
          <a:cs typeface="+mn-cs"/>
        </a:defRPr>
      </a:lvl8pPr>
      <a:lvl9pPr marL="577215" indent="-191135" algn="l" defTabSz="990600" rtl="0" eaLnBrk="1" latinLnBrk="0" hangingPunct="1">
        <a:spcBef>
          <a:spcPts val="0"/>
        </a:spcBef>
        <a:spcAft>
          <a:spcPts val="1085"/>
        </a:spcAft>
        <a:buFont typeface="Verdana" panose="020B0604030504040204" pitchFamily="34" charset="0"/>
        <a:buChar char="−"/>
        <a:defRPr kumimoji="1" sz="1300" kern="1200" baseline="0">
          <a:solidFill>
            <a:schemeClr val="tx1"/>
          </a:solidFill>
          <a:latin typeface="+mn-lt"/>
          <a:ea typeface="+mn-ea"/>
          <a:cs typeface="+mn-cs"/>
        </a:defRPr>
      </a:lvl9pPr>
    </p:bodyStyle>
    <p:otherStyle>
      <a:defPPr>
        <a:defRPr lang="en-US"/>
      </a:defPPr>
      <a:lvl1pPr marL="0" algn="l" defTabSz="990600" rtl="0" eaLnBrk="1" latinLnBrk="0" hangingPunct="1">
        <a:defRPr kumimoji="1" sz="1950" kern="1200">
          <a:solidFill>
            <a:schemeClr val="tx1"/>
          </a:solidFill>
          <a:latin typeface="+mn-lt"/>
          <a:ea typeface="+mn-ea"/>
          <a:cs typeface="+mn-cs"/>
        </a:defRPr>
      </a:lvl1pPr>
      <a:lvl2pPr marL="495300" algn="l" defTabSz="990600" rtl="0" eaLnBrk="1" latinLnBrk="0" hangingPunct="1">
        <a:defRPr kumimoji="1" sz="1950" kern="1200">
          <a:solidFill>
            <a:schemeClr val="tx1"/>
          </a:solidFill>
          <a:latin typeface="+mn-lt"/>
          <a:ea typeface="+mn-ea"/>
          <a:cs typeface="+mn-cs"/>
        </a:defRPr>
      </a:lvl2pPr>
      <a:lvl3pPr marL="990600" algn="l" defTabSz="990600" rtl="0" eaLnBrk="1" latinLnBrk="0" hangingPunct="1">
        <a:defRPr kumimoji="1" sz="1950" kern="1200">
          <a:solidFill>
            <a:schemeClr val="tx1"/>
          </a:solidFill>
          <a:latin typeface="+mn-lt"/>
          <a:ea typeface="+mn-ea"/>
          <a:cs typeface="+mn-cs"/>
        </a:defRPr>
      </a:lvl3pPr>
      <a:lvl4pPr marL="1485900" algn="l" defTabSz="990600" rtl="0" eaLnBrk="1" latinLnBrk="0" hangingPunct="1">
        <a:defRPr kumimoji="1" sz="1950" kern="1200">
          <a:solidFill>
            <a:schemeClr val="tx1"/>
          </a:solidFill>
          <a:latin typeface="+mn-lt"/>
          <a:ea typeface="+mn-ea"/>
          <a:cs typeface="+mn-cs"/>
        </a:defRPr>
      </a:lvl4pPr>
      <a:lvl5pPr marL="1981200" algn="l" defTabSz="990600" rtl="0" eaLnBrk="1" latinLnBrk="0" hangingPunct="1">
        <a:defRPr kumimoji="1" sz="1950" kern="1200">
          <a:solidFill>
            <a:schemeClr val="tx1"/>
          </a:solidFill>
          <a:latin typeface="+mn-lt"/>
          <a:ea typeface="+mn-ea"/>
          <a:cs typeface="+mn-cs"/>
        </a:defRPr>
      </a:lvl5pPr>
      <a:lvl6pPr marL="2476500" algn="l" defTabSz="990600" rtl="0" eaLnBrk="1" latinLnBrk="0" hangingPunct="1">
        <a:defRPr kumimoji="1" sz="1950" kern="1200">
          <a:solidFill>
            <a:schemeClr val="tx1"/>
          </a:solidFill>
          <a:latin typeface="+mn-lt"/>
          <a:ea typeface="+mn-ea"/>
          <a:cs typeface="+mn-cs"/>
        </a:defRPr>
      </a:lvl6pPr>
      <a:lvl7pPr marL="2971800" algn="l" defTabSz="990600" rtl="0" eaLnBrk="1" latinLnBrk="0" hangingPunct="1">
        <a:defRPr kumimoji="1" sz="1950" kern="1200">
          <a:solidFill>
            <a:schemeClr val="tx1"/>
          </a:solidFill>
          <a:latin typeface="+mn-lt"/>
          <a:ea typeface="+mn-ea"/>
          <a:cs typeface="+mn-cs"/>
        </a:defRPr>
      </a:lvl7pPr>
      <a:lvl8pPr marL="3467100" algn="l" defTabSz="990600" rtl="0" eaLnBrk="1" latinLnBrk="0" hangingPunct="1">
        <a:defRPr kumimoji="1" sz="1950" kern="1200">
          <a:solidFill>
            <a:schemeClr val="tx1"/>
          </a:solidFill>
          <a:latin typeface="+mn-lt"/>
          <a:ea typeface="+mn-ea"/>
          <a:cs typeface="+mn-cs"/>
        </a:defRPr>
      </a:lvl8pPr>
      <a:lvl9pPr marL="3962400" algn="l" defTabSz="990600" rtl="0" eaLnBrk="1" latinLnBrk="0" hangingPunct="1">
        <a:defRPr kumimoji="1" sz="19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25"/>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26" imgW="7620" imgH="7620" progId="TCLayout.ActiveDocument.1">
                  <p:embed/>
                </p:oleObj>
              </mc:Choice>
              <mc:Fallback>
                <p:oleObj name="think-cellスライド" r:id="rId26" imgW="7620" imgH="7620" progId="TCLayout.ActiveDocument.1">
                  <p:embed/>
                  <p:pic>
                    <p:nvPicPr>
                      <p:cNvPr id="4" name="オブジェクト 3" hidden="1"/>
                      <p:cNvPicPr/>
                      <p:nvPr/>
                    </p:nvPicPr>
                    <p:blipFill>
                      <a:blip r:embed="rId27"/>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bwMode="gray">
          <a:xfrm>
            <a:off x="480000" y="108000"/>
            <a:ext cx="11232000" cy="738000"/>
          </a:xfrm>
          <a:prstGeom prst="rect">
            <a:avLst/>
          </a:prstGeom>
        </p:spPr>
        <p:txBody>
          <a:bodyPr vert="horz" lIns="0" tIns="0" rIns="0" bIns="0" rtlCol="0" anchor="b" anchorCtr="0">
            <a:noAutofit/>
          </a:bodyPr>
          <a:lstStyle/>
          <a:p>
            <a:r>
              <a:rPr lang="ja-JP" altLang="en-US" noProof="0"/>
              <a:t>キーメッセージを入力（本スライドで一番伝えたいこと＜名詞止め・体言止め不可＞）</a:t>
            </a:r>
            <a:endParaRPr lang="en-US" noProof="0"/>
          </a:p>
        </p:txBody>
      </p:sp>
      <p:sp>
        <p:nvSpPr>
          <p:cNvPr id="8" name="フッター プレースホルダ 8"/>
          <p:cNvSpPr>
            <a:spLocks noGrp="1"/>
          </p:cNvSpPr>
          <p:nvPr>
            <p:ph type="ftr" sz="quarter" idx="3"/>
          </p:nvPr>
        </p:nvSpPr>
        <p:spPr bwMode="gray">
          <a:xfrm>
            <a:off x="730800" y="6588000"/>
            <a:ext cx="5184000" cy="169200"/>
          </a:xfrm>
          <a:prstGeom prst="rect">
            <a:avLst/>
          </a:prstGeom>
        </p:spPr>
        <p:txBody>
          <a:bodyPr vert="horz" lIns="0" tIns="0" rIns="0" bIns="0" rtlCol="0" anchor="b" anchorCtr="0"/>
          <a:lstStyle>
            <a:lvl1pPr algn="l">
              <a:defRPr sz="900">
                <a:solidFill>
                  <a:schemeClr val="tx1"/>
                </a:solidFill>
                <a:latin typeface="+mn-lt"/>
                <a:ea typeface="+mn-ea"/>
                <a:cs typeface="+mn-cs"/>
              </a:defRPr>
            </a:lvl1pPr>
          </a:lstStyle>
          <a:p>
            <a:pPr fontAlgn="auto">
              <a:spcBef>
                <a:spcPts val="0"/>
              </a:spcBef>
              <a:spcAft>
                <a:spcPts val="0"/>
              </a:spcAft>
            </a:pPr>
            <a:r>
              <a:rPr lang="en-US" altLang="ja-JP"/>
              <a:t>Notes</a:t>
            </a:r>
            <a:r>
              <a:rPr lang="ja-JP" altLang="en-US"/>
              <a:t>アプリ刷新のご提案</a:t>
            </a:r>
            <a:endParaRPr lang="en-GB" altLang="en-GB"/>
          </a:p>
        </p:txBody>
      </p:sp>
      <p:sp>
        <p:nvSpPr>
          <p:cNvPr id="9" name="スライド番号プレースホルダ 9"/>
          <p:cNvSpPr>
            <a:spLocks noGrp="1"/>
          </p:cNvSpPr>
          <p:nvPr>
            <p:ph type="sldNum" sz="quarter" idx="4"/>
          </p:nvPr>
        </p:nvSpPr>
        <p:spPr bwMode="gray">
          <a:xfrm>
            <a:off x="480000" y="6588000"/>
            <a:ext cx="180000" cy="169200"/>
          </a:xfrm>
          <a:prstGeom prst="rect">
            <a:avLst/>
          </a:prstGeom>
        </p:spPr>
        <p:txBody>
          <a:bodyPr vert="horz" wrap="none" lIns="0" tIns="0" rIns="0" bIns="0" rtlCol="0" anchor="b" anchorCtr="0"/>
          <a:lstStyle>
            <a:lvl1pPr algn="r">
              <a:defRPr sz="900">
                <a:solidFill>
                  <a:schemeClr val="tx1"/>
                </a:solidFill>
                <a:latin typeface="+mn-lt"/>
                <a:ea typeface="+mn-ea"/>
                <a:cs typeface="+mn-cs"/>
              </a:defRPr>
            </a:lvl1pPr>
          </a:lstStyle>
          <a:p>
            <a:pPr fontAlgn="auto">
              <a:spcBef>
                <a:spcPts val="0"/>
              </a:spcBef>
              <a:spcAft>
                <a:spcPts val="0"/>
              </a:spcAft>
            </a:pPr>
            <a:fld id="{AA5FCFE5-FE56-4EF1-80A8-07776887C2A1}" type="slidenum">
              <a:rPr kumimoji="1" lang="ja-JP" altLang="en-US" smtClean="0"/>
              <a:t>‹#›</a:t>
            </a:fld>
            <a:endParaRPr kumimoji="1" lang="ja-JP" altLang="en-US"/>
          </a:p>
        </p:txBody>
      </p:sp>
      <p:sp>
        <p:nvSpPr>
          <p:cNvPr id="15" name="Text Box 37"/>
          <p:cNvSpPr txBox="1">
            <a:spLocks noChangeArrowheads="1"/>
          </p:cNvSpPr>
          <p:nvPr/>
        </p:nvSpPr>
        <p:spPr bwMode="gray">
          <a:xfrm>
            <a:off x="6276000" y="6588000"/>
            <a:ext cx="5436000" cy="169200"/>
          </a:xfrm>
          <a:prstGeom prst="rect">
            <a:avLst/>
          </a:prstGeom>
          <a:noFill/>
          <a:ln w="9525">
            <a:noFill/>
            <a:miter lim="800000"/>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tx1"/>
                </a:solidFill>
                <a:latin typeface="+mn-lt"/>
                <a:ea typeface="+mn-ea"/>
                <a:cs typeface="+mn-cs"/>
              </a:rPr>
              <a:t>© 2025. For information, contact Deloitte Tohmatsu Group.</a:t>
            </a:r>
          </a:p>
        </p:txBody>
      </p:sp>
      <p:sp>
        <p:nvSpPr>
          <p:cNvPr id="3" name="テキスト プレースホルダー 2"/>
          <p:cNvSpPr>
            <a:spLocks noGrp="1"/>
          </p:cNvSpPr>
          <p:nvPr>
            <p:ph type="body" idx="1"/>
          </p:nvPr>
        </p:nvSpPr>
        <p:spPr bwMode="gray">
          <a:xfrm>
            <a:off x="480000" y="1476000"/>
            <a:ext cx="11232000" cy="4824000"/>
          </a:xfrm>
          <a:prstGeom prst="rect">
            <a:avLst/>
          </a:prstGeom>
        </p:spPr>
        <p:txBody>
          <a:bodyPr vert="horz" lIns="0" tIns="0" rIns="0" bIns="0" rtlCol="0">
            <a:noAutofit/>
          </a:bodyPr>
          <a:lstStyle/>
          <a:p>
            <a:pPr lvl="0"/>
            <a:r>
              <a:rPr kumimoji="1" lang="ja-JP" altLang="en-US"/>
              <a:t>マスター テキストの書式設定</a:t>
            </a:r>
          </a:p>
          <a:p>
            <a:pPr lvl="1"/>
            <a:r>
              <a:rPr kumimoji="1" lang="ja-JP" altLang="en-US"/>
              <a:t>第 </a:t>
            </a:r>
            <a:r>
              <a:rPr kumimoji="1" lang="en-US" altLang="ja-JP"/>
              <a:t>1 </a:t>
            </a:r>
            <a:r>
              <a:rPr kumimoji="1" lang="ja-JP" altLang="en-US"/>
              <a:t>レベル</a:t>
            </a:r>
          </a:p>
          <a:p>
            <a:pPr lvl="2"/>
            <a:r>
              <a:rPr kumimoji="1" lang="ja-JP" altLang="en-US"/>
              <a:t>第 </a:t>
            </a:r>
            <a:r>
              <a:rPr kumimoji="1" lang="en-US" altLang="ja-JP"/>
              <a:t>2 </a:t>
            </a:r>
            <a:r>
              <a:rPr kumimoji="1" lang="ja-JP" altLang="en-US"/>
              <a:t>レベル</a:t>
            </a:r>
          </a:p>
          <a:p>
            <a:pPr lvl="3"/>
            <a:r>
              <a:rPr kumimoji="1" lang="ja-JP" altLang="en-US"/>
              <a:t>第 </a:t>
            </a:r>
            <a:r>
              <a:rPr kumimoji="1" lang="en-US" altLang="ja-JP"/>
              <a:t>3 </a:t>
            </a:r>
            <a:r>
              <a:rPr kumimoji="1" lang="ja-JP" altLang="en-US"/>
              <a:t>レベル</a:t>
            </a:r>
          </a:p>
        </p:txBody>
      </p:sp>
      <p:sp>
        <p:nvSpPr>
          <p:cNvPr id="10" name="日付プレースホルダー 3"/>
          <p:cNvSpPr>
            <a:spLocks noGrp="1"/>
          </p:cNvSpPr>
          <p:nvPr>
            <p:ph type="dt" sz="half" idx="2"/>
          </p:nvPr>
        </p:nvSpPr>
        <p:spPr bwMode="gray">
          <a:xfrm>
            <a:off x="5651167" y="6444000"/>
            <a:ext cx="889666" cy="169277"/>
          </a:xfrm>
          <a:prstGeom prst="rect">
            <a:avLst/>
          </a:prstGeom>
        </p:spPr>
        <p:txBody>
          <a:bodyPr vert="horz" wrap="none" lIns="0" tIns="0" rIns="0" bIns="0" rtlCol="0" anchor="t" anchorCtr="0">
            <a:spAutoFit/>
          </a:bodyPr>
          <a:lstStyle>
            <a:lvl1pPr>
              <a:defRPr kumimoji="1" lang="en-US" altLang="ja-JP" sz="1100" smtClean="0">
                <a:solidFill>
                  <a:srgbClr val="75787B"/>
                </a:solidFill>
                <a:latin typeface="+mn-lt"/>
                <a:cs typeface="+mn-cs"/>
              </a:defRPr>
            </a:lvl1pPr>
          </a:lstStyle>
          <a:p>
            <a:pPr algn="ctr"/>
            <a:r>
              <a:rPr lang="en-US"/>
              <a:t>&lt; Confidential &gt;</a:t>
            </a:r>
          </a:p>
        </p:txBody>
      </p:sp>
      <p:sp>
        <p:nvSpPr>
          <p:cNvPr id="6" name="フッター プレースホルダー 5"/>
          <p:cNvSpPr txBox="1"/>
          <p:nvPr userDrawn="1"/>
        </p:nvSpPr>
        <p:spPr>
          <a:xfrm>
            <a:off x="883200" y="6740400"/>
            <a:ext cx="5184000" cy="169200"/>
          </a:xfrm>
          <a:prstGeom prst="rect">
            <a:avLst/>
          </a:prstGeom>
        </p:spPr>
        <p:txBody>
          <a:bodyPr/>
          <a:lstStyle>
            <a:defPPr>
              <a:defRPr lang="en-US"/>
            </a:defPPr>
            <a:lvl1pPr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1pPr>
            <a:lvl2pPr marL="429895"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2pPr>
            <a:lvl3pPr marL="859790"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3pPr>
            <a:lvl4pPr marL="1289050"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4pPr>
            <a:lvl5pPr marL="1718945"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5pPr>
            <a:lvl6pPr marL="2148840"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6pPr>
            <a:lvl7pPr marL="2578735"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7pPr>
            <a:lvl8pPr marL="3008630"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8pPr>
            <a:lvl9pPr marL="3437890"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9pPr>
          </a:lstStyle>
          <a:p>
            <a:endParaRPr lang="en-GB" altLang="en-GB"/>
          </a:p>
        </p:txBody>
      </p:sp>
    </p:spTree>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 id="2147483713" r:id="rId15"/>
    <p:sldLayoutId id="2147483714" r:id="rId16"/>
    <p:sldLayoutId id="2147483715" r:id="rId17"/>
    <p:sldLayoutId id="2147483716" r:id="rId18"/>
    <p:sldLayoutId id="2147483717" r:id="rId19"/>
    <p:sldLayoutId id="2147483718" r:id="rId20"/>
    <p:sldLayoutId id="2147483719" r:id="rId21"/>
    <p:sldLayoutId id="2147483720" r:id="rId22"/>
    <p:sldLayoutId id="2147483721" r:id="rId23"/>
  </p:sldLayoutIdLst>
  <p:hf hdr="0"/>
  <p:txStyles>
    <p:titleStyle>
      <a:lvl1pPr algn="l" defTabSz="990600" rtl="0" eaLnBrk="1" latinLnBrk="0" hangingPunct="1">
        <a:spcBef>
          <a:spcPct val="0"/>
        </a:spcBef>
        <a:buNone/>
        <a:defRPr kumimoji="1" sz="2400" b="1" kern="1200" baseline="0">
          <a:solidFill>
            <a:schemeClr val="tx1"/>
          </a:solidFill>
          <a:latin typeface="+mj-lt"/>
          <a:ea typeface="+mj-ea"/>
          <a:cs typeface="+mj-cs"/>
        </a:defRPr>
      </a:lvl1pPr>
    </p:titleStyle>
    <p:bodyStyle>
      <a:lvl1pPr marL="0" marR="0" indent="0" algn="l" defTabSz="990600" rtl="0" eaLnBrk="1" fontAlgn="auto" latinLnBrk="0" hangingPunct="1">
        <a:lnSpc>
          <a:spcPct val="110000"/>
        </a:lnSpc>
        <a:spcBef>
          <a:spcPts val="600"/>
        </a:spcBef>
        <a:spcAft>
          <a:spcPts val="0"/>
        </a:spcAft>
        <a:buClrTx/>
        <a:buSzPct val="100000"/>
        <a:buFont typeface="Arial" panose="020B0604020202020204" pitchFamily="34" charset="0"/>
        <a:buNone/>
        <a:defRPr kumimoji="1" sz="1600" b="0" kern="1200">
          <a:solidFill>
            <a:schemeClr val="tx1"/>
          </a:solidFill>
          <a:latin typeface="+mn-lt"/>
          <a:ea typeface="+mn-ea"/>
          <a:cs typeface="+mn-cs"/>
        </a:defRPr>
      </a:lvl1pPr>
      <a:lvl2pPr marL="252095" marR="0" indent="-252095" algn="l" defTabSz="990600" rtl="0" eaLnBrk="1" fontAlgn="auto" latinLnBrk="0" hangingPunct="1">
        <a:lnSpc>
          <a:spcPct val="110000"/>
        </a:lnSpc>
        <a:spcBef>
          <a:spcPts val="600"/>
        </a:spcBef>
        <a:spcAft>
          <a:spcPts val="0"/>
        </a:spcAft>
        <a:buClrTx/>
        <a:buSzPct val="100000"/>
        <a:buFont typeface="Wingdings" panose="05000000000000000000" pitchFamily="2" charset="2"/>
        <a:buChar char="n"/>
        <a:defRPr kumimoji="1" lang="en-US" sz="1600" b="0" kern="1200" dirty="0" smtClean="0">
          <a:solidFill>
            <a:schemeClr val="tx1"/>
          </a:solidFill>
          <a:latin typeface="+mn-lt"/>
          <a:ea typeface="+mn-ea"/>
          <a:cs typeface="+mn-cs"/>
        </a:defRPr>
      </a:lvl2pPr>
      <a:lvl3pPr marL="504190" marR="0" indent="-252095" algn="l" defTabSz="990600" rtl="0" eaLnBrk="1" fontAlgn="auto" latinLnBrk="0" hangingPunct="1">
        <a:lnSpc>
          <a:spcPct val="110000"/>
        </a:lnSpc>
        <a:spcBef>
          <a:spcPts val="600"/>
        </a:spcBef>
        <a:spcAft>
          <a:spcPts val="0"/>
        </a:spcAft>
        <a:buClrTx/>
        <a:buSzPct val="100000"/>
        <a:buFont typeface="Wingdings" panose="05000000000000000000" pitchFamily="2" charset="2"/>
        <a:buChar char="Ø"/>
        <a:defRPr kumimoji="1" lang="en-US" sz="1600" b="0" kern="1200" dirty="0" smtClean="0">
          <a:solidFill>
            <a:schemeClr val="tx1"/>
          </a:solidFill>
          <a:latin typeface="+mn-lt"/>
          <a:ea typeface="+mn-ea"/>
          <a:cs typeface="+mn-cs"/>
        </a:defRPr>
      </a:lvl3pPr>
      <a:lvl4pPr marL="683895" marR="0" indent="-179705" algn="l" defTabSz="990600" rtl="0" eaLnBrk="1" fontAlgn="auto" latinLnBrk="0" hangingPunct="1">
        <a:lnSpc>
          <a:spcPct val="110000"/>
        </a:lnSpc>
        <a:spcBef>
          <a:spcPts val="600"/>
        </a:spcBef>
        <a:spcAft>
          <a:spcPts val="0"/>
        </a:spcAft>
        <a:buClrTx/>
        <a:buSzPct val="100000"/>
        <a:buFont typeface="Arial" panose="020B0604020202020204" pitchFamily="34" charset="0"/>
        <a:buChar char="•"/>
        <a:defRPr kumimoji="1" lang="en-US" sz="1600" b="0" kern="1200" baseline="0" dirty="0" smtClean="0">
          <a:solidFill>
            <a:schemeClr val="tx1"/>
          </a:solidFill>
          <a:latin typeface="+mn-lt"/>
          <a:ea typeface="+mn-ea"/>
          <a:cs typeface="+mn-cs"/>
        </a:defRPr>
      </a:lvl4pPr>
      <a:lvl5pPr marL="935990" indent="-252095" algn="l" defTabSz="864870" rtl="0" eaLnBrk="1" latinLnBrk="0" hangingPunct="1">
        <a:lnSpc>
          <a:spcPct val="110000"/>
        </a:lnSpc>
        <a:spcBef>
          <a:spcPts val="600"/>
        </a:spcBef>
        <a:spcAft>
          <a:spcPts val="0"/>
        </a:spcAft>
        <a:buClrTx/>
        <a:buSzPct val="100000"/>
        <a:buFont typeface="Verdana" panose="020B0604030504040204" pitchFamily="34" charset="0"/>
        <a:buChar char="−"/>
        <a:defRPr kumimoji="1" lang="en-US" sz="1600" kern="1200" baseline="0" dirty="0" smtClean="0">
          <a:solidFill>
            <a:schemeClr val="tx1"/>
          </a:solidFill>
          <a:latin typeface="+mn-lt"/>
          <a:ea typeface="+mn-ea"/>
          <a:cs typeface="+mn-cs"/>
        </a:defRPr>
      </a:lvl5pPr>
      <a:lvl6pPr marL="1188085" indent="-252095" algn="l" defTabSz="990600" rtl="0" eaLnBrk="1" latinLnBrk="0" hangingPunct="1">
        <a:lnSpc>
          <a:spcPct val="110000"/>
        </a:lnSpc>
        <a:spcBef>
          <a:spcPts val="600"/>
        </a:spcBef>
        <a:spcAft>
          <a:spcPts val="0"/>
        </a:spcAft>
        <a:buFont typeface="Wingdings" panose="05000000000000000000" pitchFamily="2" charset="2"/>
        <a:buChar char="ü"/>
        <a:defRPr kumimoji="1" sz="1600" kern="1200" baseline="0">
          <a:solidFill>
            <a:schemeClr val="tx1"/>
          </a:solidFill>
          <a:latin typeface="+mn-lt"/>
          <a:ea typeface="+mn-ea"/>
          <a:cs typeface="+mn-cs"/>
        </a:defRPr>
      </a:lvl6pPr>
      <a:lvl7pPr marL="577215" indent="-191135" algn="l" defTabSz="990600" rtl="0" eaLnBrk="1" latinLnBrk="0" hangingPunct="1">
        <a:spcBef>
          <a:spcPts val="0"/>
        </a:spcBef>
        <a:spcAft>
          <a:spcPts val="1085"/>
        </a:spcAft>
        <a:buFont typeface="Verdana" panose="020B0604030504040204" pitchFamily="34" charset="0"/>
        <a:buChar char="−"/>
        <a:defRPr kumimoji="1" sz="1300" kern="1200">
          <a:solidFill>
            <a:schemeClr val="tx1"/>
          </a:solidFill>
          <a:latin typeface="+mn-lt"/>
          <a:ea typeface="+mn-ea"/>
          <a:cs typeface="+mn-cs"/>
        </a:defRPr>
      </a:lvl7pPr>
      <a:lvl8pPr marL="577215" indent="-191135" algn="l" defTabSz="990600" rtl="0" eaLnBrk="1" latinLnBrk="0" hangingPunct="1">
        <a:spcBef>
          <a:spcPts val="0"/>
        </a:spcBef>
        <a:spcAft>
          <a:spcPts val="1085"/>
        </a:spcAft>
        <a:buFont typeface="Verdana" panose="020B0604030504040204" pitchFamily="34" charset="0"/>
        <a:buChar char="−"/>
        <a:defRPr kumimoji="1" sz="1300" kern="1200" baseline="0">
          <a:solidFill>
            <a:schemeClr val="tx1"/>
          </a:solidFill>
          <a:latin typeface="+mn-lt"/>
          <a:ea typeface="+mn-ea"/>
          <a:cs typeface="+mn-cs"/>
        </a:defRPr>
      </a:lvl8pPr>
      <a:lvl9pPr marL="577215" indent="-191135" algn="l" defTabSz="990600" rtl="0" eaLnBrk="1" latinLnBrk="0" hangingPunct="1">
        <a:spcBef>
          <a:spcPts val="0"/>
        </a:spcBef>
        <a:spcAft>
          <a:spcPts val="1085"/>
        </a:spcAft>
        <a:buFont typeface="Verdana" panose="020B0604030504040204" pitchFamily="34" charset="0"/>
        <a:buChar char="−"/>
        <a:defRPr kumimoji="1" sz="1300" kern="1200" baseline="0">
          <a:solidFill>
            <a:schemeClr val="tx1"/>
          </a:solidFill>
          <a:latin typeface="+mn-lt"/>
          <a:ea typeface="+mn-ea"/>
          <a:cs typeface="+mn-cs"/>
        </a:defRPr>
      </a:lvl9pPr>
    </p:bodyStyle>
    <p:otherStyle>
      <a:defPPr>
        <a:defRPr lang="en-US"/>
      </a:defPPr>
      <a:lvl1pPr marL="0" algn="l" defTabSz="990600" rtl="0" eaLnBrk="1" latinLnBrk="0" hangingPunct="1">
        <a:defRPr kumimoji="1" sz="1950" kern="1200">
          <a:solidFill>
            <a:schemeClr val="tx1"/>
          </a:solidFill>
          <a:latin typeface="+mn-lt"/>
          <a:ea typeface="+mn-ea"/>
          <a:cs typeface="+mn-cs"/>
        </a:defRPr>
      </a:lvl1pPr>
      <a:lvl2pPr marL="495300" algn="l" defTabSz="990600" rtl="0" eaLnBrk="1" latinLnBrk="0" hangingPunct="1">
        <a:defRPr kumimoji="1" sz="1950" kern="1200">
          <a:solidFill>
            <a:schemeClr val="tx1"/>
          </a:solidFill>
          <a:latin typeface="+mn-lt"/>
          <a:ea typeface="+mn-ea"/>
          <a:cs typeface="+mn-cs"/>
        </a:defRPr>
      </a:lvl2pPr>
      <a:lvl3pPr marL="990600" algn="l" defTabSz="990600" rtl="0" eaLnBrk="1" latinLnBrk="0" hangingPunct="1">
        <a:defRPr kumimoji="1" sz="1950" kern="1200">
          <a:solidFill>
            <a:schemeClr val="tx1"/>
          </a:solidFill>
          <a:latin typeface="+mn-lt"/>
          <a:ea typeface="+mn-ea"/>
          <a:cs typeface="+mn-cs"/>
        </a:defRPr>
      </a:lvl3pPr>
      <a:lvl4pPr marL="1485900" algn="l" defTabSz="990600" rtl="0" eaLnBrk="1" latinLnBrk="0" hangingPunct="1">
        <a:defRPr kumimoji="1" sz="1950" kern="1200">
          <a:solidFill>
            <a:schemeClr val="tx1"/>
          </a:solidFill>
          <a:latin typeface="+mn-lt"/>
          <a:ea typeface="+mn-ea"/>
          <a:cs typeface="+mn-cs"/>
        </a:defRPr>
      </a:lvl4pPr>
      <a:lvl5pPr marL="1981200" algn="l" defTabSz="990600" rtl="0" eaLnBrk="1" latinLnBrk="0" hangingPunct="1">
        <a:defRPr kumimoji="1" sz="1950" kern="1200">
          <a:solidFill>
            <a:schemeClr val="tx1"/>
          </a:solidFill>
          <a:latin typeface="+mn-lt"/>
          <a:ea typeface="+mn-ea"/>
          <a:cs typeface="+mn-cs"/>
        </a:defRPr>
      </a:lvl5pPr>
      <a:lvl6pPr marL="2476500" algn="l" defTabSz="990600" rtl="0" eaLnBrk="1" latinLnBrk="0" hangingPunct="1">
        <a:defRPr kumimoji="1" sz="1950" kern="1200">
          <a:solidFill>
            <a:schemeClr val="tx1"/>
          </a:solidFill>
          <a:latin typeface="+mn-lt"/>
          <a:ea typeface="+mn-ea"/>
          <a:cs typeface="+mn-cs"/>
        </a:defRPr>
      </a:lvl6pPr>
      <a:lvl7pPr marL="2971800" algn="l" defTabSz="990600" rtl="0" eaLnBrk="1" latinLnBrk="0" hangingPunct="1">
        <a:defRPr kumimoji="1" sz="1950" kern="1200">
          <a:solidFill>
            <a:schemeClr val="tx1"/>
          </a:solidFill>
          <a:latin typeface="+mn-lt"/>
          <a:ea typeface="+mn-ea"/>
          <a:cs typeface="+mn-cs"/>
        </a:defRPr>
      </a:lvl7pPr>
      <a:lvl8pPr marL="3467100" algn="l" defTabSz="990600" rtl="0" eaLnBrk="1" latinLnBrk="0" hangingPunct="1">
        <a:defRPr kumimoji="1" sz="1950" kern="1200">
          <a:solidFill>
            <a:schemeClr val="tx1"/>
          </a:solidFill>
          <a:latin typeface="+mn-lt"/>
          <a:ea typeface="+mn-ea"/>
          <a:cs typeface="+mn-cs"/>
        </a:defRPr>
      </a:lvl8pPr>
      <a:lvl9pPr marL="3962400" algn="l" defTabSz="990600" rtl="0" eaLnBrk="1" latinLnBrk="0" hangingPunct="1">
        <a:defRPr kumimoji="1" sz="195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508154"/>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ja-JP" altLang="en-US"/>
          </a:p>
        </p:txBody>
      </p:sp>
      <p:pic>
        <p:nvPicPr>
          <p:cNvPr id="7" name="Picture 6"/>
          <p:cNvPicPr>
            <a:picLocks noChangeAspect="1"/>
          </p:cNvPicPr>
          <p:nvPr/>
        </p:nvPicPr>
        <p:blipFill rotWithShape="1">
          <a:blip r:embed="rId15">
            <a:extLst>
              <a:ext uri="{28A0092B-C50C-407E-A947-70E740481C1C}">
                <a14:useLocalDpi xmlns:a14="http://schemas.microsoft.com/office/drawing/2010/main" val="0"/>
              </a:ext>
            </a:extLst>
          </a:blip>
          <a:srcRect t="1538" b="-1538"/>
          <a:stretch>
            <a:fillRect/>
          </a:stretch>
        </p:blipFill>
        <p:spPr bwMode="black">
          <a:xfrm>
            <a:off x="0" y="6527630"/>
            <a:ext cx="12192000" cy="34180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zh-CN" altLang="en-US"/>
              <a:t>单击此处编辑母版标题样式</a:t>
            </a:r>
            <a:endParaRPr lang="en-US"/>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t>10/20/2025</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t>‹#›</a:t>
            </a:fld>
            <a:endParaRPr lang="en-US"/>
          </a:p>
        </p:txBody>
      </p:sp>
      <p:cxnSp>
        <p:nvCxnSpPr>
          <p:cNvPr id="10" name="Straight Connector 9"/>
          <p:cNvCxnSpPr/>
          <p:nvPr/>
        </p:nvCxnSpPr>
        <p:spPr>
          <a:xfrm>
            <a:off x="0" y="651703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graphicFrame>
        <p:nvGraphicFramePr>
          <p:cNvPr id="9" name="オブジェクト 2" hidden="1"/>
          <p:cNvGraphicFramePr>
            <a:graphicFrameLocks noChangeAspect="1"/>
          </p:cNvGraphicFramePr>
          <p:nvPr userDrawn="1">
            <p:custDataLst>
              <p:tags r:id="rId14"/>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16" imgW="5715" imgH="5715" progId="TCLayout.ActiveDocument.1">
                  <p:embed/>
                </p:oleObj>
              </mc:Choice>
              <mc:Fallback>
                <p:oleObj name="think-cellスライド" r:id="rId16" imgW="5715" imgH="5715" progId="TCLayout.ActiveDocument.1">
                  <p:embed/>
                  <p:pic>
                    <p:nvPicPr>
                      <p:cNvPr id="9" name="オブジェクト 2" hidden="1"/>
                      <p:cNvPicPr/>
                      <p:nvPr/>
                    </p:nvPicPr>
                    <p:blipFill>
                      <a:blip r:embed="rId17"/>
                      <a:stretch>
                        <a:fillRect/>
                      </a:stretch>
                    </p:blipFill>
                    <p:spPr>
                      <a:xfrm>
                        <a:off x="1588" y="1588"/>
                        <a:ext cx="1588" cy="1588"/>
                      </a:xfrm>
                      <a:prstGeom prst="rect">
                        <a:avLst/>
                      </a:prstGeom>
                    </p:spPr>
                  </p:pic>
                </p:oleObj>
              </mc:Fallback>
            </mc:AlternateContent>
          </a:graphicData>
        </a:graphic>
      </p:graphicFrame>
      <p:sp>
        <p:nvSpPr>
          <p:cNvPr id="11" name="スライド番号プレースホルダ 8">
            <a:extLst>
              <a:ext uri="{FF2B5EF4-FFF2-40B4-BE49-F238E27FC236}">
                <a16:creationId xmlns:a16="http://schemas.microsoft.com/office/drawing/2014/main" id="{8C885B16-9EFC-FFAE-15EC-36CF30048766}"/>
              </a:ext>
            </a:extLst>
          </p:cNvPr>
          <p:cNvSpPr txBox="1">
            <a:spLocks/>
          </p:cNvSpPr>
          <p:nvPr userDrawn="1"/>
        </p:nvSpPr>
        <p:spPr bwMode="gray">
          <a:xfrm>
            <a:off x="480000" y="6588000"/>
            <a:ext cx="363280" cy="169200"/>
          </a:xfrm>
          <a:prstGeom prst="rect">
            <a:avLst/>
          </a:prstGeom>
        </p:spPr>
        <p:txBody>
          <a:bodyPr/>
          <a:lstStyle>
            <a:defPPr>
              <a:defRPr lang="ja-JP"/>
            </a:defPPr>
            <a:lvl1pPr marL="0" algn="l" defTabSz="914400" rtl="0" eaLnBrk="1" latinLnBrk="0" hangingPunct="1">
              <a:defRPr kumimoji="1" sz="1000" kern="1200" baseline="0">
                <a:solidFill>
                  <a:schemeClr val="tx1"/>
                </a:solidFill>
                <a:latin typeface="+mn-lt"/>
                <a:ea typeface="+mn-ea"/>
                <a:cs typeface="+mn-cs"/>
                <a:sym typeface="+mn-lt"/>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543A0986-838B-4D2A-A95C-8CB1738263FE}" type="slidenum">
              <a:rPr lang="ja-JP" altLang="en-US" smtClean="0"/>
              <a:pPr/>
              <a:t>‹#›</a:t>
            </a:fld>
            <a:endParaRPr lang="ja-JP" altLang="en-US"/>
          </a:p>
        </p:txBody>
      </p:sp>
      <p:sp>
        <p:nvSpPr>
          <p:cNvPr id="12" name="フッター プレースホルダ 9">
            <a:extLst>
              <a:ext uri="{FF2B5EF4-FFF2-40B4-BE49-F238E27FC236}">
                <a16:creationId xmlns:a16="http://schemas.microsoft.com/office/drawing/2014/main" id="{DF920A77-A912-E3F9-5C1A-6B4FFC7124D3}"/>
              </a:ext>
            </a:extLst>
          </p:cNvPr>
          <p:cNvSpPr txBox="1">
            <a:spLocks/>
          </p:cNvSpPr>
          <p:nvPr userDrawn="1"/>
        </p:nvSpPr>
        <p:spPr bwMode="gray">
          <a:xfrm>
            <a:off x="964480" y="6588000"/>
            <a:ext cx="5184000" cy="169200"/>
          </a:xfrm>
          <a:prstGeom prst="rect">
            <a:avLst/>
          </a:prstGeom>
        </p:spPr>
        <p:txBody>
          <a:bodyPr/>
          <a:lstStyle>
            <a:defPPr>
              <a:defRPr lang="ja-JP"/>
            </a:defPPr>
            <a:lvl1pPr marL="0" algn="l" defTabSz="914400" rtl="0" eaLnBrk="1" latinLnBrk="0" hangingPunct="1">
              <a:defRPr kumimoji="1" sz="1000" kern="1200" baseline="0">
                <a:solidFill>
                  <a:schemeClr val="tx1"/>
                </a:solidFill>
                <a:latin typeface="+mn-lt"/>
                <a:ea typeface="+mn-ea"/>
                <a:cs typeface="+mn-cs"/>
                <a:sym typeface="+mn-lt"/>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a:t>Notes</a:t>
            </a:r>
            <a:r>
              <a:rPr lang="ja-JP" altLang="en-US"/>
              <a:t>アプリ刷新のご提案</a:t>
            </a:r>
            <a:endParaRPr lang="en-GB" altLang="en-GB"/>
          </a:p>
        </p:txBody>
      </p:sp>
    </p:spTree>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 id="2147483735" r:id="rId12"/>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1.xml"/></Relationships>
</file>

<file path=ppt/slides/_rels/slide4.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jpeg"/><Relationship Id="rId12" Type="http://schemas.openxmlformats.org/officeDocument/2006/relationships/image" Target="../media/image26.png"/><Relationship Id="rId2" Type="http://schemas.openxmlformats.org/officeDocument/2006/relationships/notesSlide" Target="../notesSlides/notesSlide4.xml"/><Relationship Id="rId1" Type="http://schemas.openxmlformats.org/officeDocument/2006/relationships/slideLayout" Target="../slideLayouts/slideLayout81.xml"/><Relationship Id="rId6" Type="http://schemas.openxmlformats.org/officeDocument/2006/relationships/image" Target="../media/image20.png"/><Relationship Id="rId11" Type="http://schemas.openxmlformats.org/officeDocument/2006/relationships/image" Target="../media/image25.jpeg"/><Relationship Id="rId5" Type="http://schemas.openxmlformats.org/officeDocument/2006/relationships/image" Target="../media/image19.jpe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1.xml"/></Relationships>
</file>

<file path=ppt/slides/_rels/slide8.xml.rels><?xml version="1.0" encoding="UTF-8" standalone="yes"?>
<Relationships xmlns="http://schemas.openxmlformats.org/package/2006/relationships"><Relationship Id="rId3" Type="http://schemas.openxmlformats.org/officeDocument/2006/relationships/hyperlink" Target="mailto:yli@gcsoft-jp.com" TargetMode="External"/><Relationship Id="rId2" Type="http://schemas.openxmlformats.org/officeDocument/2006/relationships/notesSlide" Target="../notesSlides/notesSlide8.xml"/><Relationship Id="rId1" Type="http://schemas.openxmlformats.org/officeDocument/2006/relationships/slideLayout" Target="../slideLayouts/slideLayout8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1.xml"/></Relationships>
</file>

<file path=ppt/slides/_rels/slide1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jpeg"/><Relationship Id="rId12"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81.xml"/><Relationship Id="rId6" Type="http://schemas.openxmlformats.org/officeDocument/2006/relationships/image" Target="../media/image20.png"/><Relationship Id="rId11" Type="http://schemas.openxmlformats.org/officeDocument/2006/relationships/image" Target="../media/image25.jpeg"/><Relationship Id="rId5" Type="http://schemas.openxmlformats.org/officeDocument/2006/relationships/image" Target="../media/image19.jpe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1.xml"/></Relationships>
</file>

<file path=ppt/slides/_rels/slide19.xml.rels><?xml version="1.0" encoding="UTF-8" standalone="yes"?>
<Relationships xmlns="http://schemas.openxmlformats.org/package/2006/relationships"><Relationship Id="rId3" Type="http://schemas.openxmlformats.org/officeDocument/2006/relationships/hyperlink" Target="https://office.com/edit?url=%5bfile_url" TargetMode="External"/><Relationship Id="rId2" Type="http://schemas.openxmlformats.org/officeDocument/2006/relationships/notesSlide" Target="../notesSlides/notesSlide18.xml"/><Relationship Id="rId1" Type="http://schemas.openxmlformats.org/officeDocument/2006/relationships/slideLayout" Target="../slideLayouts/slideLayout8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19.xml"/><Relationship Id="rId1" Type="http://schemas.openxmlformats.org/officeDocument/2006/relationships/slideLayout" Target="../slideLayouts/slideLayout81.xml"/><Relationship Id="rId5" Type="http://schemas.openxmlformats.org/officeDocument/2006/relationships/image" Target="../media/image29.png"/><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hyperlink" Target="https://learn.microsoft.com/ja-jp/graph/auth/" TargetMode="External"/><Relationship Id="rId7" Type="http://schemas.openxmlformats.org/officeDocument/2006/relationships/image" Target="../media/image34.png"/><Relationship Id="rId2" Type="http://schemas.openxmlformats.org/officeDocument/2006/relationships/notesSlide" Target="../notesSlides/notesSlide20.xml"/><Relationship Id="rId1" Type="http://schemas.openxmlformats.org/officeDocument/2006/relationships/slideLayout" Target="../slideLayouts/slideLayout8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hyperlink" Target="https://learn.microsoft.com/ja-jp/graph/search-concept-overview"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1.xml"/><Relationship Id="rId1" Type="http://schemas.openxmlformats.org/officeDocument/2006/relationships/slideLayout" Target="../slideLayouts/slideLayout81.xml"/><Relationship Id="rId4" Type="http://schemas.openxmlformats.org/officeDocument/2006/relationships/image" Target="../media/image36.png"/></Relationships>
</file>

<file path=ppt/slides/_rels/slide23.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notesSlide" Target="../notesSlides/notesSlide22.xml"/><Relationship Id="rId1" Type="http://schemas.openxmlformats.org/officeDocument/2006/relationships/slideLayout" Target="../slideLayouts/slideLayout8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1.xml"/></Relationships>
</file>

<file path=ppt/slides/_rels/slide2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4.xml"/><Relationship Id="rId1" Type="http://schemas.openxmlformats.org/officeDocument/2006/relationships/slideLayout" Target="../slideLayouts/slideLayout8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8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8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1.xml"/></Relationships>
</file>

<file path=ppt/slides/_rels/slide33.xml.rels><?xml version="1.0" encoding="UTF-8" standalone="yes"?>
<Relationships xmlns="http://schemas.openxmlformats.org/package/2006/relationships"><Relationship Id="rId3" Type="http://schemas.openxmlformats.org/officeDocument/2006/relationships/hyperlink" Target="mailto:yli@gcsoft-jp.com" TargetMode="External"/><Relationship Id="rId2" Type="http://schemas.openxmlformats.org/officeDocument/2006/relationships/notesSlide" Target="../notesSlides/notesSlide32.xml"/><Relationship Id="rId1" Type="http://schemas.openxmlformats.org/officeDocument/2006/relationships/slideLayout" Target="../slideLayouts/slideLayout8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8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ctrTitle"/>
          </p:nvPr>
        </p:nvSpPr>
        <p:spPr/>
        <p:txBody>
          <a:bodyPr>
            <a:normAutofit/>
          </a:bodyPr>
          <a:lstStyle/>
          <a:p>
            <a:r>
              <a:rPr lang="en-US" altLang="ja-JP" sz="5400" dirty="0"/>
              <a:t>Notes</a:t>
            </a:r>
            <a:r>
              <a:rPr lang="ja-JP" altLang="en-US" sz="5400" dirty="0"/>
              <a:t>アプリ</a:t>
            </a:r>
            <a:r>
              <a:rPr lang="zh-CN" altLang="en-US" sz="5400" dirty="0"/>
              <a:t>刷新</a:t>
            </a:r>
            <a:br>
              <a:rPr lang="en-US" altLang="zh-CN" sz="5400" dirty="0"/>
            </a:br>
            <a:r>
              <a:rPr lang="ja-JP" altLang="en-US" sz="5400" dirty="0"/>
              <a:t>（製品仕様書管理）</a:t>
            </a:r>
            <a:br>
              <a:rPr lang="en-US" altLang="ja-JP" sz="5400" dirty="0"/>
            </a:br>
            <a:r>
              <a:rPr lang="en-US" altLang="ja-JP" sz="3600" dirty="0"/>
              <a:t>Power Apps + AZURE </a:t>
            </a:r>
            <a:r>
              <a:rPr lang="en-US" altLang="ja-JP" sz="3600" dirty="0" err="1"/>
              <a:t>Sql</a:t>
            </a:r>
            <a:r>
              <a:rPr lang="en-US" altLang="ja-JP" sz="3600" dirty="0"/>
              <a:t> </a:t>
            </a:r>
            <a:r>
              <a:rPr lang="ja-JP" altLang="en-US" sz="3600" dirty="0"/>
              <a:t>提案と見積</a:t>
            </a:r>
            <a:endParaRPr lang="ja-JP" altLang="en-US" sz="5400" dirty="0"/>
          </a:p>
        </p:txBody>
      </p:sp>
      <p:sp>
        <p:nvSpPr>
          <p:cNvPr id="5" name="テキスト プレースホルダー 4"/>
          <p:cNvSpPr>
            <a:spLocks noGrp="1"/>
          </p:cNvSpPr>
          <p:nvPr>
            <p:ph type="subTitle" idx="1"/>
          </p:nvPr>
        </p:nvSpPr>
        <p:spPr/>
        <p:txBody>
          <a:bodyPr/>
          <a:lstStyle/>
          <a:p>
            <a:r>
              <a:rPr lang="ja-JP" altLang="en-US" dirty="0"/>
              <a:t>株式会社　</a:t>
            </a:r>
            <a:r>
              <a:rPr lang="en-US" altLang="ja-JP" dirty="0"/>
              <a:t>GCJ</a:t>
            </a:r>
            <a:endParaRPr lang="ja-JP" altLang="en-US" dirty="0"/>
          </a:p>
        </p:txBody>
      </p:sp>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02515" y="108633"/>
            <a:ext cx="2927648" cy="5999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A20DC-86C9-59D8-0C67-248DB1AA963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1C0D805-7A93-404A-DCBA-1A997737F1AB}"/>
              </a:ext>
            </a:extLst>
          </p:cNvPr>
          <p:cNvSpPr>
            <a:spLocks noGrp="1"/>
          </p:cNvSpPr>
          <p:nvPr>
            <p:ph type="title"/>
          </p:nvPr>
        </p:nvSpPr>
        <p:spPr/>
        <p:txBody>
          <a:bodyPr>
            <a:noAutofit/>
          </a:bodyPr>
          <a:lstStyle/>
          <a:p>
            <a:r>
              <a:rPr kumimoji="1" lang="ja-JP" altLang="en-US" dirty="0"/>
              <a:t>提案要旨</a:t>
            </a:r>
          </a:p>
        </p:txBody>
      </p:sp>
      <p:sp>
        <p:nvSpPr>
          <p:cNvPr id="15" name="テキスト ボックス 14">
            <a:extLst>
              <a:ext uri="{FF2B5EF4-FFF2-40B4-BE49-F238E27FC236}">
                <a16:creationId xmlns:a16="http://schemas.microsoft.com/office/drawing/2014/main" id="{CB0F2A1C-1710-588B-3693-29F1830997B2}"/>
              </a:ext>
            </a:extLst>
          </p:cNvPr>
          <p:cNvSpPr txBox="1"/>
          <p:nvPr/>
        </p:nvSpPr>
        <p:spPr>
          <a:xfrm>
            <a:off x="503700" y="748145"/>
            <a:ext cx="11191220" cy="999314"/>
          </a:xfrm>
          <a:prstGeom prst="roundRect">
            <a:avLst>
              <a:gd name="adj" fmla="val 10463"/>
            </a:avLst>
          </a:prstGeom>
          <a:solidFill>
            <a:schemeClr val="accent6">
              <a:lumMod val="20000"/>
              <a:lumOff val="80000"/>
            </a:schemeClr>
          </a:solidFill>
          <a:ln w="6350" cap="flat" cmpd="sng" algn="ctr">
            <a:solidFill>
              <a:schemeClr val="accent6">
                <a:lumMod val="60000"/>
                <a:lumOff val="40000"/>
              </a:schemeClr>
            </a:solidFill>
            <a:prstDash val="solid"/>
            <a:round/>
            <a:headEnd type="oval" w="med" len="med"/>
            <a:tailEnd type="oval" w="med" len="med"/>
          </a:ln>
        </p:spPr>
        <p:txBody>
          <a:bodyPr wrap="square" lIns="36000" tIns="36000" rIns="36000" bIns="36000" rtlCol="0" anchor="ctr" anchorCtr="0">
            <a:noAutofit/>
          </a:bodyPr>
          <a:lstStyle/>
          <a:p>
            <a:r>
              <a:rPr lang="ja-JP" altLang="en-US" sz="1600" dirty="0">
                <a:latin typeface="Yu Gothic UI" panose="020B0500000000000000" pitchFamily="50" charset="-128"/>
                <a:ea typeface="Yu Gothic UI" panose="020B0500000000000000" pitchFamily="50" charset="-128"/>
              </a:rPr>
              <a:t>貴社が推奨・利用している技術基盤を基に、</a:t>
            </a:r>
            <a:r>
              <a:rPr kumimoji="0" lang="en-US" altLang="ja-JP" sz="1600" dirty="0">
                <a:latin typeface="Arial" panose="020B0604020202020204" pitchFamily="34" charset="0"/>
              </a:rPr>
              <a:t> 3</a:t>
            </a:r>
            <a:r>
              <a:rPr kumimoji="0" lang="en-US" altLang="ja-JP" sz="1600" baseline="30000" dirty="0">
                <a:latin typeface="Arial" panose="020B0604020202020204" pitchFamily="34" charset="0"/>
              </a:rPr>
              <a:t>rd</a:t>
            </a:r>
            <a:r>
              <a:rPr kumimoji="0" lang="en-US" altLang="ja-JP" sz="1600" dirty="0">
                <a:latin typeface="Arial" panose="020B0604020202020204" pitchFamily="34" charset="0"/>
              </a:rPr>
              <a:t> Party</a:t>
            </a:r>
            <a:r>
              <a:rPr kumimoji="0" lang="ja-JP" altLang="en-US" sz="1600" dirty="0">
                <a:latin typeface="Arial" panose="020B0604020202020204" pitchFamily="34" charset="0"/>
              </a:rPr>
              <a:t>の</a:t>
            </a:r>
            <a:r>
              <a:rPr kumimoji="0" lang="en-US" altLang="ja-JP" sz="1600" dirty="0">
                <a:latin typeface="Arial" panose="020B0604020202020204" pitchFamily="34" charset="0"/>
              </a:rPr>
              <a:t>CMS</a:t>
            </a:r>
            <a:r>
              <a:rPr kumimoji="0" lang="ja-JP" altLang="en-US" sz="1600" dirty="0">
                <a:latin typeface="Arial" panose="020B0604020202020204" pitchFamily="34" charset="0"/>
              </a:rPr>
              <a:t>パッケージを利用せず、</a:t>
            </a:r>
            <a:r>
              <a:rPr lang="ja-JP" altLang="en-US" sz="1600" dirty="0">
                <a:latin typeface="Yu Gothic UI" panose="020B0500000000000000" pitchFamily="50" charset="-128"/>
                <a:ea typeface="Yu Gothic UI" panose="020B0500000000000000" pitchFamily="50" charset="-128"/>
              </a:rPr>
              <a:t>構築と運用のコストを抑えることを優先に</a:t>
            </a:r>
            <a:endParaRPr lang="en-US" altLang="ja-JP" sz="1600" dirty="0">
              <a:latin typeface="Yu Gothic UI" panose="020B0500000000000000" pitchFamily="50" charset="-128"/>
              <a:ea typeface="Yu Gothic UI" panose="020B0500000000000000" pitchFamily="50" charset="-128"/>
            </a:endParaRPr>
          </a:p>
          <a:p>
            <a:r>
              <a:rPr lang="en-US" altLang="ja-JP" sz="2000" dirty="0" err="1">
                <a:latin typeface="Yu Gothic UI" panose="020B0500000000000000" pitchFamily="50" charset="-128"/>
                <a:ea typeface="Yu Gothic UI" panose="020B0500000000000000" pitchFamily="50" charset="-128"/>
              </a:rPr>
              <a:t>PowerPlatform</a:t>
            </a:r>
            <a:r>
              <a:rPr lang="ja-JP" altLang="en-US" sz="2000" dirty="0">
                <a:latin typeface="Yu Gothic UI" panose="020B0500000000000000" pitchFamily="50" charset="-128"/>
                <a:ea typeface="Yu Gothic UI" panose="020B0500000000000000" pitchFamily="50" charset="-128"/>
              </a:rPr>
              <a:t>（貴社推奨）</a:t>
            </a:r>
            <a:r>
              <a:rPr lang="en-US" altLang="ja-JP" sz="2000" dirty="0">
                <a:latin typeface="Yu Gothic UI" panose="020B0500000000000000" pitchFamily="50" charset="-128"/>
                <a:ea typeface="Yu Gothic UI" panose="020B0500000000000000" pitchFamily="50" charset="-128"/>
              </a:rPr>
              <a:t>+Office365</a:t>
            </a:r>
            <a:r>
              <a:rPr lang="ja-JP" altLang="en-US" sz="2000" dirty="0">
                <a:latin typeface="Yu Gothic UI" panose="020B0500000000000000" pitchFamily="50" charset="-128"/>
                <a:ea typeface="Yu Gothic UI" panose="020B0500000000000000" pitchFamily="50" charset="-128"/>
              </a:rPr>
              <a:t>（</a:t>
            </a:r>
            <a:r>
              <a:rPr lang="en-US" altLang="ja-JP" sz="2000" dirty="0">
                <a:latin typeface="Yu Gothic UI" panose="020B0500000000000000" pitchFamily="50" charset="-128"/>
                <a:ea typeface="Yu Gothic UI" panose="020B0500000000000000" pitchFamily="50" charset="-128"/>
              </a:rPr>
              <a:t>Office</a:t>
            </a:r>
            <a:r>
              <a:rPr lang="ja-JP" altLang="en-US" sz="2000" dirty="0">
                <a:latin typeface="Yu Gothic UI" panose="020B0500000000000000" pitchFamily="50" charset="-128"/>
                <a:ea typeface="Yu Gothic UI" panose="020B0500000000000000" pitchFamily="50" charset="-128"/>
              </a:rPr>
              <a:t>機能と</a:t>
            </a:r>
            <a:r>
              <a:rPr lang="en-US" altLang="ja-JP" sz="2000" dirty="0">
                <a:latin typeface="Yu Gothic UI" panose="020B0500000000000000" pitchFamily="50" charset="-128"/>
                <a:ea typeface="Yu Gothic UI" panose="020B0500000000000000" pitchFamily="50" charset="-128"/>
              </a:rPr>
              <a:t>SharePoint</a:t>
            </a:r>
            <a:r>
              <a:rPr lang="ja-JP" altLang="en-US" sz="2000" dirty="0">
                <a:latin typeface="Yu Gothic UI" panose="020B0500000000000000" pitchFamily="50" charset="-128"/>
                <a:ea typeface="Yu Gothic UI" panose="020B0500000000000000" pitchFamily="50" charset="-128"/>
              </a:rPr>
              <a:t>）</a:t>
            </a:r>
            <a:r>
              <a:rPr lang="en-US" altLang="ja-JP" sz="2000" dirty="0">
                <a:latin typeface="Yu Gothic UI" panose="020B0500000000000000" pitchFamily="50" charset="-128"/>
                <a:ea typeface="Yu Gothic UI" panose="020B0500000000000000" pitchFamily="50" charset="-128"/>
              </a:rPr>
              <a:t>+Azure SQL</a:t>
            </a:r>
            <a:r>
              <a:rPr lang="ja-JP" altLang="en-US" sz="2000" dirty="0">
                <a:latin typeface="Yu Gothic UI" panose="020B0500000000000000" pitchFamily="50" charset="-128"/>
                <a:ea typeface="Yu Gothic UI" panose="020B0500000000000000" pitchFamily="50" charset="-128"/>
              </a:rPr>
              <a:t>（パフォーマンス保証）</a:t>
            </a:r>
            <a:r>
              <a:rPr lang="ja-JP" altLang="en-US" sz="1600" dirty="0">
                <a:latin typeface="Yu Gothic UI" panose="020B0500000000000000" pitchFamily="50" charset="-128"/>
                <a:ea typeface="Yu Gothic UI" panose="020B0500000000000000" pitchFamily="50" charset="-128"/>
              </a:rPr>
              <a:t>での構築方法を提案させていただきます。</a:t>
            </a:r>
            <a:endParaRPr kumimoji="1" lang="ja-JP" altLang="en-US" sz="1600" dirty="0">
              <a:latin typeface="Yu Gothic UI" panose="020B0500000000000000" pitchFamily="50" charset="-128"/>
              <a:ea typeface="Yu Gothic UI" panose="020B0500000000000000" pitchFamily="50" charset="-128"/>
            </a:endParaRPr>
          </a:p>
        </p:txBody>
      </p:sp>
      <p:sp>
        <p:nvSpPr>
          <p:cNvPr id="3" name="テキスト ボックス 2">
            <a:extLst>
              <a:ext uri="{FF2B5EF4-FFF2-40B4-BE49-F238E27FC236}">
                <a16:creationId xmlns:a16="http://schemas.microsoft.com/office/drawing/2014/main" id="{2394198E-A861-68BE-4265-BB260738D875}"/>
              </a:ext>
            </a:extLst>
          </p:cNvPr>
          <p:cNvSpPr txBox="1"/>
          <p:nvPr/>
        </p:nvSpPr>
        <p:spPr>
          <a:xfrm>
            <a:off x="5205154" y="1871007"/>
            <a:ext cx="6483146" cy="4421289"/>
          </a:xfrm>
          <a:prstGeom prst="roundRect">
            <a:avLst>
              <a:gd name="adj" fmla="val 3427"/>
            </a:avLst>
          </a:prstGeom>
          <a:solidFill>
            <a:schemeClr val="accent6">
              <a:lumMod val="20000"/>
              <a:lumOff val="80000"/>
            </a:schemeClr>
          </a:solidFill>
          <a:ln w="6350" cap="flat" cmpd="sng" algn="ctr">
            <a:solidFill>
              <a:schemeClr val="accent6">
                <a:lumMod val="60000"/>
                <a:lumOff val="40000"/>
              </a:schemeClr>
            </a:solidFill>
            <a:prstDash val="solid"/>
            <a:round/>
            <a:headEnd type="oval" w="med" len="med"/>
            <a:tailEnd type="oval" w="med" len="med"/>
          </a:ln>
        </p:spPr>
        <p:txBody>
          <a:bodyPr wrap="square" lIns="36000" tIns="36000" rIns="36000" bIns="36000" rtlCol="0" anchor="ctr" anchorCtr="0">
            <a:noAutofit/>
          </a:bodyPr>
          <a:lstStyle>
            <a:defPPr>
              <a:defRPr lang="ja-JP"/>
            </a:defPPr>
            <a:lvl1pPr>
              <a:defRPr sz="1600">
                <a:latin typeface="Yu Gothic UI" panose="020B0500000000000000" pitchFamily="50" charset="-128"/>
                <a:ea typeface="Yu Gothic UI" panose="020B0500000000000000" pitchFamily="50" charset="-128"/>
              </a:defRPr>
            </a:lvl1pPr>
            <a:lvl2pPr marL="742950" lvl="1" indent="-285750">
              <a:buFont typeface="Arial" panose="020B0604020202020204" pitchFamily="34" charset="0"/>
              <a:buChar char="•"/>
              <a:defRPr sz="1600"/>
            </a:lvl2pPr>
            <a:lvl3pPr marL="1200150" lvl="2" indent="-285750">
              <a:buFont typeface="Arial" panose="020B0604020202020204" pitchFamily="34" charset="0"/>
              <a:buChar char="•"/>
              <a:defRPr sz="1600"/>
            </a:lvl3pPr>
          </a:lstStyle>
          <a:p>
            <a:r>
              <a:rPr lang="ja-JP" altLang="en-US" dirty="0"/>
              <a:t>ソリューション</a:t>
            </a:r>
            <a:endParaRPr lang="en-US" altLang="ja-JP" dirty="0"/>
          </a:p>
          <a:p>
            <a:r>
              <a:rPr lang="ja-JP" altLang="en-US" dirty="0"/>
              <a:t>１．添付ファイル管理</a:t>
            </a:r>
            <a:endParaRPr lang="en-US" altLang="ja-JP" dirty="0"/>
          </a:p>
          <a:p>
            <a:pPr marL="1028700" lvl="1"/>
            <a:r>
              <a:rPr lang="en-US" altLang="ja-JP" sz="1400" dirty="0"/>
              <a:t>SharePoint</a:t>
            </a:r>
            <a:r>
              <a:rPr lang="ja-JP" altLang="en-US" sz="1400" dirty="0"/>
              <a:t>をストレージとして採用することで</a:t>
            </a:r>
            <a:r>
              <a:rPr lang="en-US" altLang="ja-JP" sz="1400" dirty="0"/>
              <a:t>SharePoint</a:t>
            </a:r>
            <a:r>
              <a:rPr lang="ja-JP" altLang="en-US" sz="1400" dirty="0"/>
              <a:t>サービスで提供している機能を利用</a:t>
            </a:r>
            <a:endParaRPr lang="en-US" altLang="ja-JP" sz="1400" dirty="0"/>
          </a:p>
          <a:p>
            <a:pPr lvl="2">
              <a:buFont typeface="Gill Sans MT" panose="020B0502020104020203" pitchFamily="34" charset="0"/>
              <a:buChar char="–"/>
            </a:pPr>
            <a:r>
              <a:rPr lang="ja-JP" altLang="en-US" sz="1400" dirty="0"/>
              <a:t>貴社推奨の</a:t>
            </a:r>
            <a:r>
              <a:rPr lang="en-US" altLang="ja-JP" sz="1400" dirty="0"/>
              <a:t>Office365</a:t>
            </a:r>
            <a:r>
              <a:rPr lang="ja-JP" altLang="en-US" sz="1400" dirty="0"/>
              <a:t>環境でオンライン編集</a:t>
            </a:r>
            <a:endParaRPr lang="en-US" altLang="ja-JP" sz="1400" dirty="0"/>
          </a:p>
          <a:p>
            <a:pPr lvl="2">
              <a:buFont typeface="Gill Sans MT" panose="020B0502020104020203" pitchFamily="34" charset="0"/>
              <a:buChar char="–"/>
            </a:pPr>
            <a:r>
              <a:rPr lang="ja-JP" altLang="en-US" sz="1400" dirty="0"/>
              <a:t>権限管理（</a:t>
            </a:r>
            <a:r>
              <a:rPr lang="en-US" altLang="ja-JP" sz="1400" dirty="0"/>
              <a:t>SPO</a:t>
            </a:r>
            <a:r>
              <a:rPr lang="ja-JP" altLang="en-US" sz="1400" dirty="0"/>
              <a:t>での直接アクセスを防止）</a:t>
            </a:r>
            <a:endParaRPr lang="en-US" altLang="ja-JP" sz="1400" dirty="0"/>
          </a:p>
          <a:p>
            <a:pPr marL="1028700" lvl="1"/>
            <a:r>
              <a:rPr lang="en-US" altLang="ja-JP" sz="1400" dirty="0"/>
              <a:t>SharePoint</a:t>
            </a:r>
            <a:r>
              <a:rPr lang="ja-JP" altLang="en-US" sz="1400" dirty="0"/>
              <a:t>サービスを提供している機能をカスタマイズして利用</a:t>
            </a:r>
            <a:endParaRPr lang="en-US" altLang="ja-JP" sz="1400" dirty="0"/>
          </a:p>
          <a:p>
            <a:pPr lvl="2">
              <a:buFont typeface="Gill Sans MT" panose="020B0502020104020203" pitchFamily="34" charset="0"/>
              <a:buChar char="–"/>
            </a:pPr>
            <a:r>
              <a:rPr lang="ja-JP" altLang="en-US" sz="1400" dirty="0"/>
              <a:t>一括ダウンロード</a:t>
            </a:r>
            <a:endParaRPr lang="en-US" altLang="ja-JP" sz="1400" dirty="0"/>
          </a:p>
          <a:p>
            <a:pPr lvl="2">
              <a:buFont typeface="Gill Sans MT" panose="020B0502020104020203" pitchFamily="34" charset="0"/>
              <a:buChar char="–"/>
            </a:pPr>
            <a:r>
              <a:rPr lang="ja-JP" altLang="en-US" sz="1400" dirty="0"/>
              <a:t>検索</a:t>
            </a:r>
            <a:endParaRPr lang="en-US" altLang="ja-JP" sz="1400" dirty="0"/>
          </a:p>
          <a:p>
            <a:r>
              <a:rPr lang="ja-JP" altLang="en-US" dirty="0"/>
              <a:t>２．権限管理</a:t>
            </a:r>
            <a:endParaRPr lang="en-US" altLang="ja-JP" dirty="0"/>
          </a:p>
          <a:p>
            <a:pPr marL="1028700" lvl="1"/>
            <a:r>
              <a:rPr lang="en-US" altLang="ja-JP" sz="1400" dirty="0"/>
              <a:t>PowerApps</a:t>
            </a:r>
            <a:r>
              <a:rPr lang="ja-JP" altLang="en-US" sz="1400" dirty="0"/>
              <a:t>のログインユーザ権限で管理</a:t>
            </a:r>
            <a:endParaRPr lang="en-US" altLang="ja-JP" sz="1400" dirty="0"/>
          </a:p>
          <a:p>
            <a:pPr marL="1028700" lvl="1"/>
            <a:r>
              <a:rPr lang="ja-JP" altLang="en-US" sz="1400" dirty="0"/>
              <a:t>ファイルのアクセス権限設定で管理</a:t>
            </a:r>
            <a:endParaRPr lang="en-US" altLang="ja-JP" sz="1400" dirty="0"/>
          </a:p>
          <a:p>
            <a:r>
              <a:rPr lang="ja-JP" altLang="en-US" dirty="0"/>
              <a:t>３．パフォーマンス</a:t>
            </a:r>
            <a:endParaRPr lang="en-US" altLang="ja-JP" dirty="0"/>
          </a:p>
          <a:p>
            <a:pPr marL="1028700" lvl="1"/>
            <a:r>
              <a:rPr lang="en-US" altLang="ja-JP" sz="1400" dirty="0" err="1"/>
              <a:t>AzureSQL</a:t>
            </a:r>
            <a:r>
              <a:rPr lang="ja-JP" altLang="en-US" sz="1400" dirty="0"/>
              <a:t>を採用で定型データを扱うパフォーマンスを保証</a:t>
            </a:r>
            <a:endParaRPr lang="en-US" altLang="ja-JP" sz="1400" dirty="0"/>
          </a:p>
          <a:p>
            <a:pPr marL="1028700" lvl="1"/>
            <a:r>
              <a:rPr lang="en-US" altLang="ja-JP" sz="1400" dirty="0"/>
              <a:t>SharePoint</a:t>
            </a:r>
            <a:r>
              <a:rPr lang="ja-JP" altLang="en-US" sz="1400" dirty="0"/>
              <a:t>を採用で検索のパフォーマンスを保証</a:t>
            </a:r>
            <a:endParaRPr lang="en-US" altLang="ja-JP" sz="1400" dirty="0"/>
          </a:p>
          <a:p>
            <a:pPr marL="1028700" lvl="1"/>
            <a:r>
              <a:rPr lang="ja-JP" altLang="en-US" sz="1400" dirty="0"/>
              <a:t>提案しているアーキテクチャはスケーラビリティが可能</a:t>
            </a:r>
            <a:endParaRPr lang="en-US" altLang="ja-JP" sz="1400" dirty="0"/>
          </a:p>
        </p:txBody>
      </p:sp>
      <p:sp>
        <p:nvSpPr>
          <p:cNvPr id="4" name="テキスト ボックス 3">
            <a:extLst>
              <a:ext uri="{FF2B5EF4-FFF2-40B4-BE49-F238E27FC236}">
                <a16:creationId xmlns:a16="http://schemas.microsoft.com/office/drawing/2014/main" id="{739356BF-8AE5-F7F1-D33F-9087BFFA66EF}"/>
              </a:ext>
            </a:extLst>
          </p:cNvPr>
          <p:cNvSpPr txBox="1"/>
          <p:nvPr/>
        </p:nvSpPr>
        <p:spPr>
          <a:xfrm>
            <a:off x="503700" y="1871008"/>
            <a:ext cx="3617337" cy="4421289"/>
          </a:xfrm>
          <a:prstGeom prst="roundRect">
            <a:avLst>
              <a:gd name="adj" fmla="val 5563"/>
            </a:avLst>
          </a:prstGeom>
          <a:solidFill>
            <a:schemeClr val="accent6">
              <a:lumMod val="20000"/>
              <a:lumOff val="80000"/>
            </a:schemeClr>
          </a:solidFill>
          <a:ln w="6350" cap="flat" cmpd="sng" algn="ctr">
            <a:solidFill>
              <a:schemeClr val="accent6">
                <a:lumMod val="60000"/>
                <a:lumOff val="40000"/>
              </a:schemeClr>
            </a:solidFill>
            <a:prstDash val="solid"/>
            <a:round/>
            <a:headEnd type="oval" w="med" len="med"/>
            <a:tailEnd type="oval" w="med" len="med"/>
          </a:ln>
        </p:spPr>
        <p:txBody>
          <a:bodyPr wrap="square" lIns="36000" tIns="36000" rIns="36000" bIns="36000" rtlCol="0" anchor="ctr" anchorCtr="0">
            <a:noAutofit/>
          </a:bodyPr>
          <a:lstStyle>
            <a:defPPr>
              <a:defRPr lang="ja-JP"/>
            </a:defPPr>
            <a:lvl1pPr>
              <a:defRPr sz="1600">
                <a:latin typeface="Yu Gothic UI" panose="020B0500000000000000" pitchFamily="50" charset="-128"/>
                <a:ea typeface="Yu Gothic UI" panose="020B0500000000000000" pitchFamily="50" charset="-128"/>
              </a:defRPr>
            </a:lvl1pPr>
          </a:lstStyle>
          <a:p>
            <a:r>
              <a:rPr lang="ja-JP" altLang="en-US" dirty="0"/>
              <a:t>要件（メイン）</a:t>
            </a:r>
            <a:endParaRPr lang="en-US" altLang="ja-JP" dirty="0"/>
          </a:p>
          <a:p>
            <a:r>
              <a:rPr lang="ja-JP" altLang="en-US" dirty="0"/>
              <a:t>１．添付ファイル管理</a:t>
            </a:r>
            <a:endParaRPr lang="en-US" altLang="ja-JP" dirty="0"/>
          </a:p>
          <a:p>
            <a:pPr marL="742950" lvl="1" indent="-285750">
              <a:buFont typeface="Arial" panose="020B0604020202020204" pitchFamily="34" charset="0"/>
              <a:buChar char="•"/>
            </a:pPr>
            <a:r>
              <a:rPr lang="ja-JP" altLang="en-US" sz="1600" dirty="0"/>
              <a:t>オンライン編集</a:t>
            </a:r>
            <a:endParaRPr lang="en-US" altLang="ja-JP" sz="1600" dirty="0"/>
          </a:p>
          <a:p>
            <a:pPr marL="742950" lvl="1" indent="-285750">
              <a:buFont typeface="Arial" panose="020B0604020202020204" pitchFamily="34" charset="0"/>
              <a:buChar char="•"/>
            </a:pPr>
            <a:r>
              <a:rPr lang="ja-JP" altLang="en-US" sz="1600" dirty="0"/>
              <a:t>一括ダウンロード</a:t>
            </a:r>
            <a:endParaRPr lang="en-US" altLang="ja-JP" sz="1600" dirty="0"/>
          </a:p>
          <a:p>
            <a:pPr marL="742950" lvl="1" indent="-285750">
              <a:buFont typeface="Arial" panose="020B0604020202020204" pitchFamily="34" charset="0"/>
              <a:buChar char="•"/>
            </a:pPr>
            <a:r>
              <a:rPr lang="ja-JP" altLang="en-US" sz="1600" dirty="0"/>
              <a:t>検索</a:t>
            </a:r>
            <a:endParaRPr lang="en-US" altLang="ja-JP" sz="1600" dirty="0"/>
          </a:p>
          <a:p>
            <a:pPr marL="742950" lvl="1" indent="-285750">
              <a:buFont typeface="Arial" panose="020B0604020202020204" pitchFamily="34" charset="0"/>
              <a:buChar char="•"/>
            </a:pPr>
            <a:r>
              <a:rPr lang="ja-JP" altLang="en-US" sz="1600" dirty="0"/>
              <a:t>権限管理</a:t>
            </a:r>
            <a:endParaRPr lang="en-US" altLang="ja-JP" sz="1600" dirty="0"/>
          </a:p>
          <a:p>
            <a:r>
              <a:rPr lang="ja-JP" altLang="en-US" dirty="0"/>
              <a:t>２．権限管理</a:t>
            </a:r>
            <a:endParaRPr lang="en-US" altLang="ja-JP" dirty="0"/>
          </a:p>
          <a:p>
            <a:pPr marL="742950" lvl="1" indent="-285750">
              <a:buFont typeface="Arial" panose="020B0604020202020204" pitchFamily="34" charset="0"/>
              <a:buChar char="•"/>
            </a:pPr>
            <a:r>
              <a:rPr lang="ja-JP" altLang="en-US" sz="1600" dirty="0"/>
              <a:t>定型データ</a:t>
            </a:r>
            <a:endParaRPr lang="en-US" altLang="ja-JP" sz="1600" dirty="0"/>
          </a:p>
          <a:p>
            <a:pPr marL="742950" lvl="1" indent="-285750">
              <a:buFont typeface="Arial" panose="020B0604020202020204" pitchFamily="34" charset="0"/>
              <a:buChar char="•"/>
            </a:pPr>
            <a:r>
              <a:rPr lang="ja-JP" altLang="en-US" sz="1600" dirty="0"/>
              <a:t>添付ファイル</a:t>
            </a:r>
            <a:endParaRPr lang="en-US" altLang="ja-JP" sz="1600" dirty="0"/>
          </a:p>
          <a:p>
            <a:pPr marL="1200150" lvl="2" indent="-285750">
              <a:buFont typeface="Gill Sans MT" panose="020B0502020104020203" pitchFamily="34" charset="0"/>
              <a:buChar char="–"/>
            </a:pPr>
            <a:r>
              <a:rPr lang="ja-JP" altLang="en-US" sz="1400" dirty="0"/>
              <a:t>ソリューション内</a:t>
            </a:r>
            <a:endParaRPr lang="en-US" altLang="ja-JP" sz="1400" dirty="0"/>
          </a:p>
          <a:p>
            <a:pPr marL="1200150" lvl="2" indent="-285750">
              <a:buFont typeface="Gill Sans MT" panose="020B0502020104020203" pitchFamily="34" charset="0"/>
              <a:buChar char="–"/>
            </a:pPr>
            <a:r>
              <a:rPr lang="ja-JP" altLang="en-US" sz="1400" dirty="0"/>
              <a:t>ストレージでの直アクセス</a:t>
            </a:r>
            <a:endParaRPr lang="en-US" altLang="ja-JP" sz="1400" dirty="0"/>
          </a:p>
          <a:p>
            <a:r>
              <a:rPr lang="ja-JP" altLang="en-US" dirty="0"/>
              <a:t>３．パフォーマンス</a:t>
            </a:r>
            <a:endParaRPr lang="en-US" altLang="ja-JP" dirty="0"/>
          </a:p>
          <a:p>
            <a:pPr marL="742950" lvl="1" indent="-285750">
              <a:buFont typeface="Arial" panose="020B0604020202020204" pitchFamily="34" charset="0"/>
              <a:buChar char="•"/>
            </a:pPr>
            <a:r>
              <a:rPr lang="ja-JP" altLang="en-US" sz="1600" dirty="0"/>
              <a:t>定型データ</a:t>
            </a:r>
            <a:endParaRPr lang="en-US" altLang="ja-JP" sz="1600" dirty="0"/>
          </a:p>
          <a:p>
            <a:pPr marL="742950" lvl="1" indent="-285750">
              <a:buFont typeface="Arial" panose="020B0604020202020204" pitchFamily="34" charset="0"/>
              <a:buChar char="•"/>
            </a:pPr>
            <a:r>
              <a:rPr lang="ja-JP" altLang="en-US" sz="1600" dirty="0"/>
              <a:t>添付ファイル</a:t>
            </a:r>
            <a:endParaRPr lang="en-US" altLang="ja-JP" sz="1600" dirty="0"/>
          </a:p>
          <a:p>
            <a:pPr marL="742950" lvl="1" indent="-285750">
              <a:buFont typeface="Arial" panose="020B0604020202020204" pitchFamily="34" charset="0"/>
              <a:buChar char="•"/>
            </a:pPr>
            <a:r>
              <a:rPr lang="ja-JP" altLang="en-US" sz="1600" dirty="0"/>
              <a:t>スケーラビリティなど</a:t>
            </a:r>
            <a:endParaRPr lang="en-US" altLang="ja-JP" sz="1600" dirty="0"/>
          </a:p>
          <a:p>
            <a:endParaRPr lang="ja-JP" altLang="en-US" dirty="0"/>
          </a:p>
        </p:txBody>
      </p:sp>
      <p:sp>
        <p:nvSpPr>
          <p:cNvPr id="7" name="矢印: ストライプ 6">
            <a:extLst>
              <a:ext uri="{FF2B5EF4-FFF2-40B4-BE49-F238E27FC236}">
                <a16:creationId xmlns:a16="http://schemas.microsoft.com/office/drawing/2014/main" id="{6EF6EDAA-C91B-B641-5B12-146140D5DA6A}"/>
              </a:ext>
            </a:extLst>
          </p:cNvPr>
          <p:cNvSpPr/>
          <p:nvPr/>
        </p:nvSpPr>
        <p:spPr>
          <a:xfrm>
            <a:off x="4162566" y="2865511"/>
            <a:ext cx="995585" cy="2432279"/>
          </a:xfrm>
          <a:prstGeom prst="stripedRightArrow">
            <a:avLst>
              <a:gd name="adj1" fmla="val 50000"/>
              <a:gd name="adj2" fmla="val 50429"/>
            </a:avLst>
          </a:prstGeom>
          <a:solidFill>
            <a:schemeClr val="accent6">
              <a:lumMod val="40000"/>
              <a:lumOff val="60000"/>
            </a:schemeClr>
          </a:solidFill>
          <a:ln w="6350" cap="flat" cmpd="sng" algn="ctr">
            <a:solidFill>
              <a:schemeClr val="bg1">
                <a:lumMod val="85000"/>
              </a:schemeClr>
            </a:solidFill>
            <a:prstDash val="solid"/>
            <a:round/>
            <a:headEnd type="oval" w="med" len="med"/>
            <a:tailEnd type="oval" w="med" len="med"/>
          </a:ln>
        </p:spPr>
        <p:txBody>
          <a:bodyPr wrap="square" lIns="36000" tIns="36000" rIns="36000" bIns="36000" rtlCol="0" anchor="ctr" anchorCtr="0">
            <a:noAutofit/>
          </a:bodyPr>
          <a:lstStyle/>
          <a:p>
            <a:endParaRPr lang="ja-JP" altLang="en-US" sz="1600">
              <a:solidFill>
                <a:schemeClr val="tx1"/>
              </a:solidFill>
              <a:latin typeface="Yu Gothic UI" panose="020B0500000000000000" pitchFamily="50" charset="-128"/>
              <a:ea typeface="Yu Gothic UI" panose="020B0500000000000000" pitchFamily="50" charset="-128"/>
            </a:endParaRPr>
          </a:p>
        </p:txBody>
      </p:sp>
    </p:spTree>
    <p:extLst>
      <p:ext uri="{BB962C8B-B14F-4D97-AF65-F5344CB8AC3E}">
        <p14:creationId xmlns:p14="http://schemas.microsoft.com/office/powerpoint/2010/main" val="3384008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687E4C-8248-073F-637E-5F0AE8C7F85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A6D2A8D-9D0C-8E9F-E5AB-707EFD4B6465}"/>
              </a:ext>
            </a:extLst>
          </p:cNvPr>
          <p:cNvSpPr>
            <a:spLocks noGrp="1"/>
          </p:cNvSpPr>
          <p:nvPr>
            <p:ph type="title"/>
          </p:nvPr>
        </p:nvSpPr>
        <p:spPr>
          <a:xfrm>
            <a:off x="414336" y="255263"/>
            <a:ext cx="9327072" cy="683629"/>
          </a:xfrm>
        </p:spPr>
        <p:txBody>
          <a:bodyPr>
            <a:normAutofit/>
          </a:bodyPr>
          <a:lstStyle/>
          <a:p>
            <a:r>
              <a:rPr lang="ja-JP" altLang="en-US" dirty="0"/>
              <a:t>ストレージの選定理由（</a:t>
            </a:r>
            <a:r>
              <a:rPr kumimoji="1" lang="en-US" altLang="ja-JP" b="1" cap="none" dirty="0">
                <a:ea typeface="游ゴシック" panose="020B0400000000000000" pitchFamily="50" charset="-128"/>
              </a:rPr>
              <a:t> </a:t>
            </a:r>
            <a:r>
              <a:rPr kumimoji="1" lang="en-US" altLang="ja-JP" b="1" cap="none" dirty="0" err="1">
                <a:ea typeface="游ゴシック" panose="020B0400000000000000" pitchFamily="50" charset="-128"/>
              </a:rPr>
              <a:t>AzureSQL</a:t>
            </a:r>
            <a:r>
              <a:rPr kumimoji="1" lang="ja-JP" altLang="en-US" b="1" cap="none" dirty="0">
                <a:ea typeface="游ゴシック" panose="020B0400000000000000" pitchFamily="50" charset="-128"/>
              </a:rPr>
              <a:t>＋</a:t>
            </a:r>
            <a:r>
              <a:rPr kumimoji="1" lang="en-US" altLang="ja-JP" b="1" cap="none" dirty="0">
                <a:ea typeface="游ゴシック" panose="020B0400000000000000" pitchFamily="50" charset="-128"/>
              </a:rPr>
              <a:t>SPO</a:t>
            </a:r>
            <a:r>
              <a:rPr lang="ja-JP" altLang="en-US" dirty="0"/>
              <a:t>）</a:t>
            </a:r>
          </a:p>
        </p:txBody>
      </p:sp>
      <p:sp>
        <p:nvSpPr>
          <p:cNvPr id="6" name="テキスト ボックス 5">
            <a:extLst>
              <a:ext uri="{FF2B5EF4-FFF2-40B4-BE49-F238E27FC236}">
                <a16:creationId xmlns:a16="http://schemas.microsoft.com/office/drawing/2014/main" id="{649D838A-25FC-01C2-F3EE-632B87B0CDF3}"/>
              </a:ext>
            </a:extLst>
          </p:cNvPr>
          <p:cNvSpPr txBox="1"/>
          <p:nvPr/>
        </p:nvSpPr>
        <p:spPr>
          <a:xfrm>
            <a:off x="273718" y="836099"/>
            <a:ext cx="11412096" cy="3607891"/>
          </a:xfrm>
          <a:prstGeom prst="roundRect">
            <a:avLst>
              <a:gd name="adj" fmla="val 4337"/>
            </a:avLst>
          </a:prstGeom>
          <a:solidFill>
            <a:schemeClr val="accent6">
              <a:lumMod val="20000"/>
              <a:lumOff val="8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600" b="1" i="0" u="none" strike="noStrike" kern="1200" cap="none" spc="0" normalizeH="0" baseline="0" noProof="0" dirty="0" err="1">
                <a:ln>
                  <a:noFill/>
                </a:ln>
                <a:solidFill>
                  <a:prstClr val="black"/>
                </a:solidFill>
                <a:effectLst/>
                <a:uLnTx/>
                <a:uFillTx/>
                <a:latin typeface="Gill Sans MT"/>
                <a:ea typeface="游ゴシック" panose="020B0400000000000000" pitchFamily="50" charset="-128"/>
                <a:cs typeface="+mn-cs"/>
              </a:rPr>
              <a:t>AzureSQL</a:t>
            </a:r>
            <a:r>
              <a:rPr kumimoji="1" lang="ja-JP" altLang="en-US" sz="1600" b="1"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の選定について：</a:t>
            </a:r>
            <a:endParaRPr kumimoji="1" lang="en-US" altLang="ja-JP" sz="1600" b="1"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6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On promise Gateway</a:t>
            </a:r>
            <a:r>
              <a:rPr kumimoji="1" lang="ja-JP" altLang="en-US" sz="16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のネットワークボトルネックを解消</a:t>
            </a:r>
            <a:endParaRPr kumimoji="1" lang="en-US" altLang="ja-JP" sz="1600" b="1"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600" b="0" i="0" u="none" strike="noStrike" kern="1200" cap="none" spc="0" normalizeH="0" baseline="0" noProof="0" dirty="0" err="1">
                <a:ln>
                  <a:noFill/>
                </a:ln>
                <a:solidFill>
                  <a:prstClr val="black"/>
                </a:solidFill>
                <a:effectLst/>
                <a:uLnTx/>
                <a:uFillTx/>
                <a:latin typeface="Gill Sans MT"/>
                <a:ea typeface="游ゴシック" panose="020B0400000000000000" pitchFamily="50" charset="-128"/>
                <a:cs typeface="+mn-cs"/>
              </a:rPr>
              <a:t>AzureSQL</a:t>
            </a:r>
            <a:r>
              <a:rPr kumimoji="1" lang="ja-JP" altLang="en-US" sz="16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が提供している性能保証を考慮して、想定しているユーザ数に対するパフォーマンスへの配慮</a:t>
            </a:r>
            <a:endParaRPr kumimoji="1" lang="en-US" altLang="ja-JP" sz="16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600" b="0" i="0" u="none" strike="noStrike" kern="1200" cap="none" spc="0" normalizeH="0" baseline="0" noProof="0" dirty="0" err="1">
                <a:ln>
                  <a:noFill/>
                </a:ln>
                <a:solidFill>
                  <a:prstClr val="black"/>
                </a:solidFill>
                <a:effectLst/>
                <a:uLnTx/>
                <a:uFillTx/>
                <a:latin typeface="Gill Sans MT"/>
                <a:ea typeface="游ゴシック" panose="020B0400000000000000" pitchFamily="50" charset="-128"/>
                <a:cs typeface="+mn-cs"/>
              </a:rPr>
              <a:t>AzureSQL</a:t>
            </a:r>
            <a:r>
              <a:rPr kumimoji="1" lang="ja-JP" altLang="en-US" sz="16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が統合した機能を生かして、システムの構成を単純化にし、運用保守コストへの配慮</a:t>
            </a:r>
            <a:endParaRPr kumimoji="1" lang="en-US" altLang="ja-JP" sz="16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endParaRPr>
          </a:p>
          <a:p>
            <a:pPr marL="285750" lvl="0" indent="-285750">
              <a:buFont typeface="Arial" panose="020B0604020202020204" pitchFamily="34" charset="0"/>
              <a:buChar char="•"/>
              <a:defRPr/>
            </a:pPr>
            <a:r>
              <a:rPr lang="ja-JP" altLang="en-US" sz="1600" dirty="0"/>
              <a:t>添付ファイルの検索サポートは弱いので、添付ファイルのストレージに適切ではないと判断</a:t>
            </a:r>
            <a:endParaRPr lang="en-US" altLang="ja-JP" sz="1600" dirty="0"/>
          </a:p>
          <a:p>
            <a:pPr marL="285750" lvl="0" indent="-285750">
              <a:buFont typeface="Arial" panose="020B0604020202020204" pitchFamily="34" charset="0"/>
              <a:buChar char="•"/>
              <a:defRPr/>
            </a:pPr>
            <a:r>
              <a:rPr lang="ja-JP" altLang="en-US" sz="1600" dirty="0">
                <a:solidFill>
                  <a:prstClr val="black"/>
                </a:solidFill>
                <a:latin typeface="Gill Sans MT"/>
                <a:ea typeface="游ゴシック" panose="020B0400000000000000" pitchFamily="50" charset="-128"/>
              </a:rPr>
              <a:t>添付フィルのオンライン編集を対応できないので、添付ファイルのストレージに適切ではないと判断</a:t>
            </a:r>
            <a:endParaRPr lang="en-US" altLang="ja-JP" sz="1600" dirty="0">
              <a:solidFill>
                <a:prstClr val="black"/>
              </a:solidFill>
              <a:latin typeface="Gill Sans MT"/>
              <a:ea typeface="游ゴシック" panose="020B0400000000000000"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600" b="1"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600" b="1"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SharePoint</a:t>
            </a:r>
            <a:r>
              <a:rPr kumimoji="1" lang="ja-JP" altLang="en-US" sz="1600" b="1"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の選定について</a:t>
            </a:r>
            <a:endParaRPr kumimoji="1" lang="en-US" altLang="ja-JP" sz="1600" b="1"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zh-CN" sz="1600" b="0" i="0" u="none" strike="noStrike" kern="1200" cap="none" spc="0" normalizeH="0" baseline="0" noProof="0" dirty="0" err="1">
                <a:ln>
                  <a:noFill/>
                </a:ln>
                <a:solidFill>
                  <a:prstClr val="black"/>
                </a:solidFill>
                <a:effectLst/>
                <a:uLnTx/>
                <a:uFillTx/>
                <a:latin typeface="Gill Sans MT"/>
                <a:ea typeface="游ゴシック" panose="020B0400000000000000" pitchFamily="50" charset="-128"/>
                <a:cs typeface="+mn-cs"/>
              </a:rPr>
              <a:t>AzureSQL</a:t>
            </a:r>
            <a:r>
              <a:rPr kumimoji="1" lang="en-US" altLang="ja-JP" sz="1600" b="0" i="0" u="none" strike="noStrike" kern="1200" cap="none" spc="0" normalizeH="0" baseline="0" noProof="0" dirty="0" err="1">
                <a:ln>
                  <a:noFill/>
                </a:ln>
                <a:solidFill>
                  <a:prstClr val="black"/>
                </a:solidFill>
                <a:effectLst/>
                <a:uLnTx/>
                <a:uFillTx/>
                <a:latin typeface="Gill Sans MT"/>
                <a:ea typeface="游ゴシック" panose="020B0400000000000000" pitchFamily="50" charset="-128"/>
                <a:cs typeface="+mn-cs"/>
              </a:rPr>
              <a:t>SharePoint</a:t>
            </a:r>
            <a:r>
              <a:rPr kumimoji="1" lang="ja-JP" altLang="en-US" sz="16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が提供している検索機能を生かすことで、ソリューションが簡単になり、性能の保証と構築・保守コストへの配慮</a:t>
            </a:r>
            <a:endParaRPr kumimoji="1" lang="en-US" altLang="ja-JP" sz="16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6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SharePoint</a:t>
            </a:r>
            <a:r>
              <a:rPr kumimoji="1" lang="ja-JP" altLang="en-US" sz="16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のアクセス管理機能を生かして、ソリューションが簡単になり、セキュリティーへの配慮</a:t>
            </a:r>
            <a:endParaRPr kumimoji="1" lang="en-US" altLang="ja-JP" sz="16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6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SharePoint</a:t>
            </a:r>
            <a:r>
              <a:rPr kumimoji="1" lang="ja-JP" altLang="en-US" sz="16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が提供しているオンライン編集機能で、ユーザ要件の実現</a:t>
            </a:r>
            <a:endParaRPr kumimoji="1" lang="en-US" altLang="ja-JP" sz="16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6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大量ファイルを扱うによるパフォーマンスへの影響をソリューションで対応が必要であるが、その他の提供機能と比較してデメリットが少ない</a:t>
            </a:r>
            <a:endParaRPr kumimoji="1" lang="en-US" altLang="ja-JP" sz="1400" b="1"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endParaRPr>
          </a:p>
        </p:txBody>
      </p:sp>
    </p:spTree>
    <p:extLst>
      <p:ext uri="{BB962C8B-B14F-4D97-AF65-F5344CB8AC3E}">
        <p14:creationId xmlns:p14="http://schemas.microsoft.com/office/powerpoint/2010/main" val="33184432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39491-DDC9-F3E2-3CBB-B2465177652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705A140-C69E-2A6E-89A3-1E6DC728AD52}"/>
              </a:ext>
            </a:extLst>
          </p:cNvPr>
          <p:cNvSpPr>
            <a:spLocks noGrp="1"/>
          </p:cNvSpPr>
          <p:nvPr>
            <p:ph type="title"/>
          </p:nvPr>
        </p:nvSpPr>
        <p:spPr>
          <a:xfrm>
            <a:off x="414336" y="255264"/>
            <a:ext cx="9292768" cy="592530"/>
          </a:xfrm>
        </p:spPr>
        <p:txBody>
          <a:bodyPr>
            <a:normAutofit/>
          </a:bodyPr>
          <a:lstStyle/>
          <a:p>
            <a:r>
              <a:rPr lang="ja-JP" altLang="en-US" dirty="0"/>
              <a:t>全体アーキテクチャ</a:t>
            </a:r>
            <a:endParaRPr lang="ja-JP" altLang="en-US" sz="2000" dirty="0">
              <a:effectLst/>
            </a:endParaRPr>
          </a:p>
        </p:txBody>
      </p:sp>
      <p:pic>
        <p:nvPicPr>
          <p:cNvPr id="8" name="図 7" descr="アイコン&#10;&#10;AI によって生成されたコンテンツは間違っている可能性があります。">
            <a:extLst>
              <a:ext uri="{FF2B5EF4-FFF2-40B4-BE49-F238E27FC236}">
                <a16:creationId xmlns:a16="http://schemas.microsoft.com/office/drawing/2014/main" id="{9C0B7B95-7F59-B41A-1BE7-2D8CE615366B}"/>
              </a:ext>
            </a:extLst>
          </p:cNvPr>
          <p:cNvPicPr>
            <a:picLocks noChangeAspect="1"/>
          </p:cNvPicPr>
          <p:nvPr/>
        </p:nvPicPr>
        <p:blipFill>
          <a:blip r:embed="rId3"/>
          <a:stretch>
            <a:fillRect/>
          </a:stretch>
        </p:blipFill>
        <p:spPr>
          <a:xfrm>
            <a:off x="8108659" y="5557623"/>
            <a:ext cx="527498" cy="457200"/>
          </a:xfrm>
          <a:prstGeom prst="rect">
            <a:avLst/>
          </a:prstGeom>
        </p:spPr>
      </p:pic>
      <p:pic>
        <p:nvPicPr>
          <p:cNvPr id="11" name="図 10" descr="アイコン&#10;&#10;AI によって生成されたコンテンツは間違っている可能性があります。">
            <a:extLst>
              <a:ext uri="{FF2B5EF4-FFF2-40B4-BE49-F238E27FC236}">
                <a16:creationId xmlns:a16="http://schemas.microsoft.com/office/drawing/2014/main" id="{4CD766C6-178B-B5DF-E2AC-8534B69A9518}"/>
              </a:ext>
            </a:extLst>
          </p:cNvPr>
          <p:cNvPicPr>
            <a:picLocks noChangeAspect="1"/>
          </p:cNvPicPr>
          <p:nvPr/>
        </p:nvPicPr>
        <p:blipFill>
          <a:blip r:embed="rId4"/>
          <a:stretch>
            <a:fillRect/>
          </a:stretch>
        </p:blipFill>
        <p:spPr>
          <a:xfrm>
            <a:off x="4459898" y="3195235"/>
            <a:ext cx="1877560" cy="1126536"/>
          </a:xfrm>
          <a:prstGeom prst="rect">
            <a:avLst/>
          </a:prstGeom>
        </p:spPr>
      </p:pic>
      <p:pic>
        <p:nvPicPr>
          <p:cNvPr id="12"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1A144736-B169-61B5-EC15-3B4F7559D797}"/>
              </a:ext>
            </a:extLst>
          </p:cNvPr>
          <p:cNvPicPr>
            <a:picLocks noChangeAspect="1"/>
          </p:cNvPicPr>
          <p:nvPr/>
        </p:nvPicPr>
        <p:blipFill>
          <a:blip r:embed="rId5"/>
          <a:stretch>
            <a:fillRect/>
          </a:stretch>
        </p:blipFill>
        <p:spPr>
          <a:xfrm>
            <a:off x="7325376" y="5561483"/>
            <a:ext cx="771118" cy="456744"/>
          </a:xfrm>
          <a:prstGeom prst="rect">
            <a:avLst/>
          </a:prstGeom>
        </p:spPr>
      </p:pic>
      <p:pic>
        <p:nvPicPr>
          <p:cNvPr id="13" name="図 12" descr="グラフィカル ユーザー インターフェイス, アプリケーション, テーブル, Excel">
            <a:extLst>
              <a:ext uri="{FF2B5EF4-FFF2-40B4-BE49-F238E27FC236}">
                <a16:creationId xmlns:a16="http://schemas.microsoft.com/office/drawing/2014/main" id="{4951F1CB-164C-4DB5-6997-2470E2D4A7ED}"/>
              </a:ext>
            </a:extLst>
          </p:cNvPr>
          <p:cNvPicPr>
            <a:picLocks noChangeAspect="1"/>
          </p:cNvPicPr>
          <p:nvPr/>
        </p:nvPicPr>
        <p:blipFill>
          <a:blip r:embed="rId6"/>
          <a:stretch>
            <a:fillRect/>
          </a:stretch>
        </p:blipFill>
        <p:spPr>
          <a:xfrm>
            <a:off x="8904533" y="5229702"/>
            <a:ext cx="802571" cy="396289"/>
          </a:xfrm>
          <a:prstGeom prst="rect">
            <a:avLst/>
          </a:prstGeom>
        </p:spPr>
      </p:pic>
      <p:pic>
        <p:nvPicPr>
          <p:cNvPr id="14"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BE9F1955-78EC-6EBD-2413-A81D5F1B0F4B}"/>
              </a:ext>
            </a:extLst>
          </p:cNvPr>
          <p:cNvPicPr>
            <a:picLocks noChangeAspect="1"/>
          </p:cNvPicPr>
          <p:nvPr/>
        </p:nvPicPr>
        <p:blipFill>
          <a:blip r:embed="rId5"/>
          <a:stretch>
            <a:fillRect/>
          </a:stretch>
        </p:blipFill>
        <p:spPr>
          <a:xfrm>
            <a:off x="2413854" y="2815215"/>
            <a:ext cx="1302261" cy="748800"/>
          </a:xfrm>
          <a:prstGeom prst="rect">
            <a:avLst/>
          </a:prstGeom>
        </p:spPr>
      </p:pic>
      <p:pic>
        <p:nvPicPr>
          <p:cNvPr id="15" name="図 14" descr="アイコン&#10;&#10;AI によって生成されたコンテンツは間違っている可能性があります。">
            <a:extLst>
              <a:ext uri="{FF2B5EF4-FFF2-40B4-BE49-F238E27FC236}">
                <a16:creationId xmlns:a16="http://schemas.microsoft.com/office/drawing/2014/main" id="{43F7E8C8-464D-8510-F56C-ADADABB1B01E}"/>
              </a:ext>
            </a:extLst>
          </p:cNvPr>
          <p:cNvPicPr>
            <a:picLocks noChangeAspect="1"/>
          </p:cNvPicPr>
          <p:nvPr/>
        </p:nvPicPr>
        <p:blipFill>
          <a:blip r:embed="rId3"/>
          <a:stretch>
            <a:fillRect/>
          </a:stretch>
        </p:blipFill>
        <p:spPr>
          <a:xfrm>
            <a:off x="2633018" y="4304122"/>
            <a:ext cx="863933" cy="748800"/>
          </a:xfrm>
          <a:prstGeom prst="rect">
            <a:avLst/>
          </a:prstGeom>
        </p:spPr>
      </p:pic>
      <p:cxnSp>
        <p:nvCxnSpPr>
          <p:cNvPr id="16" name="コネクタ: カギ線 15">
            <a:extLst>
              <a:ext uri="{FF2B5EF4-FFF2-40B4-BE49-F238E27FC236}">
                <a16:creationId xmlns:a16="http://schemas.microsoft.com/office/drawing/2014/main" id="{FAB885E4-2FA7-7CC8-2E33-8D0A130C58DA}"/>
              </a:ext>
            </a:extLst>
          </p:cNvPr>
          <p:cNvCxnSpPr>
            <a:cxnSpLocks/>
            <a:stCxn id="15" idx="3"/>
            <a:endCxn id="1052" idx="1"/>
          </p:cNvCxnSpPr>
          <p:nvPr/>
        </p:nvCxnSpPr>
        <p:spPr>
          <a:xfrm flipV="1">
            <a:off x="3496951" y="4014889"/>
            <a:ext cx="1374217" cy="663633"/>
          </a:xfrm>
          <a:prstGeom prst="bentConnector3">
            <a:avLst>
              <a:gd name="adj1" fmla="val 50000"/>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コネクタ: カギ線 16">
            <a:extLst>
              <a:ext uri="{FF2B5EF4-FFF2-40B4-BE49-F238E27FC236}">
                <a16:creationId xmlns:a16="http://schemas.microsoft.com/office/drawing/2014/main" id="{78948DB8-18C8-CF15-F746-AE1FC5CDC845}"/>
              </a:ext>
            </a:extLst>
          </p:cNvPr>
          <p:cNvCxnSpPr>
            <a:cxnSpLocks/>
            <a:stCxn id="14" idx="3"/>
          </p:cNvCxnSpPr>
          <p:nvPr/>
        </p:nvCxnSpPr>
        <p:spPr>
          <a:xfrm>
            <a:off x="3716115" y="3189615"/>
            <a:ext cx="1155053" cy="545345"/>
          </a:xfrm>
          <a:prstGeom prst="bentConnector3">
            <a:avLst>
              <a:gd name="adj1" fmla="val 50000"/>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85361DF1-D474-896E-93A2-C4D320D8FA22}"/>
              </a:ext>
            </a:extLst>
          </p:cNvPr>
          <p:cNvSpPr txBox="1"/>
          <p:nvPr/>
        </p:nvSpPr>
        <p:spPr>
          <a:xfrm>
            <a:off x="2191820" y="2530293"/>
            <a:ext cx="3232212"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prstClr val="black"/>
                </a:solidFill>
                <a:effectLst/>
                <a:uLnTx/>
                <a:uFillTx/>
                <a:latin typeface="Gill Sans MT"/>
                <a:ea typeface="游ゴシック" panose="020B0400000000000000" pitchFamily="50" charset="-128"/>
                <a:cs typeface="+mn-cs"/>
              </a:rPr>
              <a:t>https://apps.powerapps.com/play/e/</a:t>
            </a:r>
            <a:r>
              <a:rPr kumimoji="1" lang="en-US" altLang="ja-JP" sz="1200" b="0" i="0" u="none" strike="noStrike" kern="1200" cap="none" spc="0" normalizeH="0" baseline="0" noProof="0">
                <a:ln>
                  <a:noFill/>
                </a:ln>
                <a:solidFill>
                  <a:prstClr val="black"/>
                </a:solidFill>
                <a:effectLst/>
                <a:uLnTx/>
                <a:uFillTx/>
                <a:latin typeface="Gill Sans MT"/>
                <a:ea typeface="游ゴシック" panose="020B0400000000000000" pitchFamily="50" charset="-128"/>
                <a:cs typeface="+mn-cs"/>
              </a:rPr>
              <a:t>xxx</a:t>
            </a:r>
            <a:endParaRPr kumimoji="1" lang="ja-JP" altLang="en-US" sz="1200" b="0" i="0" u="none" strike="noStrike" kern="1200" cap="none" spc="0" normalizeH="0" baseline="0" noProof="0">
              <a:ln>
                <a:noFill/>
              </a:ln>
              <a:solidFill>
                <a:prstClr val="black"/>
              </a:solidFill>
              <a:effectLst/>
              <a:uLnTx/>
              <a:uFillTx/>
              <a:latin typeface="Gill Sans MT"/>
              <a:ea typeface="游ゴシック" panose="020B0400000000000000" pitchFamily="50" charset="-128"/>
              <a:cs typeface="+mn-cs"/>
            </a:endParaRPr>
          </a:p>
        </p:txBody>
      </p:sp>
      <p:pic>
        <p:nvPicPr>
          <p:cNvPr id="19" name="図 18" descr="電子機器の内部&#10;&#10;AI によって生成されたコンテンツは間違っている可能性があります。">
            <a:extLst>
              <a:ext uri="{FF2B5EF4-FFF2-40B4-BE49-F238E27FC236}">
                <a16:creationId xmlns:a16="http://schemas.microsoft.com/office/drawing/2014/main" id="{313CF296-17E8-8786-1D99-DBFDC3893460}"/>
              </a:ext>
            </a:extLst>
          </p:cNvPr>
          <p:cNvPicPr>
            <a:picLocks noChangeAspect="1"/>
          </p:cNvPicPr>
          <p:nvPr/>
        </p:nvPicPr>
        <p:blipFill>
          <a:blip r:embed="rId7"/>
          <a:stretch>
            <a:fillRect/>
          </a:stretch>
        </p:blipFill>
        <p:spPr>
          <a:xfrm>
            <a:off x="2412244" y="3285672"/>
            <a:ext cx="480623" cy="270351"/>
          </a:xfrm>
          <a:prstGeom prst="rect">
            <a:avLst/>
          </a:prstGeom>
        </p:spPr>
      </p:pic>
      <p:pic>
        <p:nvPicPr>
          <p:cNvPr id="20" name="図 19" descr="ロゴ, アイコン&#10;&#10;AI によって生成されたコンテンツは間違っている可能性があります。">
            <a:extLst>
              <a:ext uri="{FF2B5EF4-FFF2-40B4-BE49-F238E27FC236}">
                <a16:creationId xmlns:a16="http://schemas.microsoft.com/office/drawing/2014/main" id="{4AF9AEF4-EE9F-CA3F-3AF3-4457113F3666}"/>
              </a:ext>
            </a:extLst>
          </p:cNvPr>
          <p:cNvPicPr>
            <a:picLocks noChangeAspect="1"/>
          </p:cNvPicPr>
          <p:nvPr/>
        </p:nvPicPr>
        <p:blipFill>
          <a:blip r:embed="rId8"/>
          <a:stretch>
            <a:fillRect/>
          </a:stretch>
        </p:blipFill>
        <p:spPr>
          <a:xfrm>
            <a:off x="510341" y="1189757"/>
            <a:ext cx="771118" cy="753768"/>
          </a:xfrm>
          <a:prstGeom prst="rect">
            <a:avLst/>
          </a:prstGeom>
        </p:spPr>
      </p:pic>
      <p:sp>
        <p:nvSpPr>
          <p:cNvPr id="21" name="テキスト ボックス 20">
            <a:extLst>
              <a:ext uri="{FF2B5EF4-FFF2-40B4-BE49-F238E27FC236}">
                <a16:creationId xmlns:a16="http://schemas.microsoft.com/office/drawing/2014/main" id="{BB02464C-DC7B-8FE8-2928-FF38E4A63FF2}"/>
              </a:ext>
            </a:extLst>
          </p:cNvPr>
          <p:cNvSpPr txBox="1"/>
          <p:nvPr/>
        </p:nvSpPr>
        <p:spPr>
          <a:xfrm>
            <a:off x="921423" y="1098218"/>
            <a:ext cx="1270397"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prstClr val="black"/>
                </a:solidFill>
                <a:effectLst/>
                <a:uLnTx/>
                <a:uFillTx/>
                <a:latin typeface="Gill Sans MT"/>
                <a:ea typeface="游ゴシック" panose="020B0400000000000000" pitchFamily="50" charset="-128"/>
                <a:cs typeface="+mn-cs"/>
              </a:rPr>
              <a:t>Share Point</a:t>
            </a:r>
            <a:endParaRPr kumimoji="1" lang="ja-JP" altLang="en-US" sz="1400" b="0" i="0" u="none" strike="noStrike" kern="1200" cap="none" spc="0" normalizeH="0" baseline="0" noProof="0">
              <a:ln>
                <a:noFill/>
              </a:ln>
              <a:solidFill>
                <a:prstClr val="black"/>
              </a:solidFill>
              <a:effectLst/>
              <a:uLnTx/>
              <a:uFillTx/>
              <a:latin typeface="Gill Sans MT"/>
              <a:ea typeface="游ゴシック" panose="020B0400000000000000" pitchFamily="50" charset="-128"/>
              <a:cs typeface="+mn-cs"/>
            </a:endParaRPr>
          </a:p>
        </p:txBody>
      </p:sp>
      <p:sp>
        <p:nvSpPr>
          <p:cNvPr id="26" name="テキスト ボックス 25">
            <a:extLst>
              <a:ext uri="{FF2B5EF4-FFF2-40B4-BE49-F238E27FC236}">
                <a16:creationId xmlns:a16="http://schemas.microsoft.com/office/drawing/2014/main" id="{06E1021F-66EF-2A81-27D3-0BEC6301C2DB}"/>
              </a:ext>
            </a:extLst>
          </p:cNvPr>
          <p:cNvSpPr txBox="1"/>
          <p:nvPr/>
        </p:nvSpPr>
        <p:spPr>
          <a:xfrm>
            <a:off x="1750098" y="1365503"/>
            <a:ext cx="5667794" cy="53091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添付ファイルの</a:t>
            </a:r>
            <a:r>
              <a:rPr kumimoji="1" lang="en-US" altLang="ja-JP"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Direct Access</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FF0000"/>
                </a:solidFill>
                <a:effectLst/>
                <a:uLnTx/>
                <a:uFillTx/>
                <a:latin typeface="Gill Sans MT"/>
                <a:ea typeface="游ゴシック" panose="020B0400000000000000" pitchFamily="50" charset="-128"/>
                <a:cs typeface="+mn-cs"/>
              </a:rPr>
              <a:t>SPO</a:t>
            </a:r>
            <a:r>
              <a:rPr kumimoji="1" lang="ja-JP" altLang="en-US" sz="900" b="0" i="0" u="none" strike="noStrike" kern="1200" cap="none" spc="0" normalizeH="0" baseline="0" noProof="0" dirty="0">
                <a:ln>
                  <a:noFill/>
                </a:ln>
                <a:solidFill>
                  <a:srgbClr val="FF0000"/>
                </a:solidFill>
                <a:effectLst/>
                <a:uLnTx/>
                <a:uFillTx/>
                <a:latin typeface="Gill Sans MT"/>
                <a:ea typeface="游ゴシック" panose="020B0400000000000000" pitchFamily="50" charset="-128"/>
                <a:cs typeface="+mn-cs"/>
              </a:rPr>
              <a:t>に保存されているファイルのアクセス権限（</a:t>
            </a:r>
            <a:r>
              <a:rPr kumimoji="1" lang="en-US" altLang="ja-JP" sz="900" b="0" i="0" u="none" strike="noStrike" kern="1200" cap="none" spc="0" normalizeH="0" baseline="0" noProof="0" dirty="0">
                <a:ln>
                  <a:noFill/>
                </a:ln>
                <a:solidFill>
                  <a:srgbClr val="FF0000"/>
                </a:solidFill>
                <a:effectLst/>
                <a:uLnTx/>
                <a:uFillTx/>
                <a:latin typeface="Gill Sans MT"/>
                <a:ea typeface="游ゴシック" panose="020B0400000000000000" pitchFamily="50" charset="-128"/>
                <a:cs typeface="+mn-cs"/>
              </a:rPr>
              <a:t>Read/Edit/</a:t>
            </a:r>
            <a:r>
              <a:rPr kumimoji="1" lang="en-US" altLang="ja-JP" sz="900" b="0" i="0" u="none" strike="noStrike" kern="1200" cap="none" spc="0" normalizeH="0" baseline="0" noProof="0" dirty="0" err="1">
                <a:ln>
                  <a:noFill/>
                </a:ln>
                <a:solidFill>
                  <a:srgbClr val="FF0000"/>
                </a:solidFill>
                <a:effectLst/>
                <a:uLnTx/>
                <a:uFillTx/>
                <a:latin typeface="Gill Sans MT"/>
                <a:ea typeface="游ゴシック" panose="020B0400000000000000" pitchFamily="50" charset="-128"/>
                <a:cs typeface="+mn-cs"/>
              </a:rPr>
              <a:t>Downoad</a:t>
            </a:r>
            <a:r>
              <a:rPr kumimoji="1" lang="ja-JP" altLang="en-US" sz="900" b="0" i="0" u="none" strike="noStrike" kern="1200" cap="none" spc="0" normalizeH="0" baseline="0" noProof="0" dirty="0">
                <a:ln>
                  <a:noFill/>
                </a:ln>
                <a:solidFill>
                  <a:srgbClr val="FF0000"/>
                </a:solidFill>
                <a:effectLst/>
                <a:uLnTx/>
                <a:uFillTx/>
                <a:latin typeface="Gill Sans MT"/>
                <a:ea typeface="游ゴシック" panose="020B0400000000000000" pitchFamily="50" charset="-128"/>
                <a:cs typeface="+mn-cs"/>
              </a:rPr>
              <a:t>）は、</a:t>
            </a:r>
            <a:r>
              <a:rPr kumimoji="1" lang="en-US" altLang="ja-JP" sz="900" b="0" i="0" u="none" strike="noStrike" kern="1200" cap="none" spc="0" normalizeH="0" baseline="0" noProof="0" dirty="0">
                <a:ln>
                  <a:noFill/>
                </a:ln>
                <a:solidFill>
                  <a:srgbClr val="FF0000"/>
                </a:solidFill>
                <a:effectLst/>
                <a:uLnTx/>
                <a:uFillTx/>
                <a:latin typeface="Gill Sans MT"/>
                <a:ea typeface="游ゴシック" panose="020B0400000000000000" pitchFamily="50" charset="-128"/>
                <a:cs typeface="+mn-cs"/>
              </a:rPr>
              <a:t>SPO</a:t>
            </a:r>
            <a:r>
              <a:rPr kumimoji="1" lang="ja-JP" altLang="en-US" sz="900" b="0" i="0" u="none" strike="noStrike" kern="1200" cap="none" spc="0" normalizeH="0" baseline="0" noProof="0" dirty="0">
                <a:ln>
                  <a:noFill/>
                </a:ln>
                <a:solidFill>
                  <a:srgbClr val="FF0000"/>
                </a:solidFill>
                <a:effectLst/>
                <a:uLnTx/>
                <a:uFillTx/>
                <a:latin typeface="Gill Sans MT"/>
                <a:ea typeface="游ゴシック" panose="020B0400000000000000" pitchFamily="50" charset="-128"/>
                <a:cs typeface="+mn-cs"/>
              </a:rPr>
              <a:t>に直接にアクセスするときも有効にすることで、添付ファイル</a:t>
            </a:r>
            <a:r>
              <a:rPr kumimoji="1" lang="en-US" altLang="ja-JP" sz="900" b="0" i="0" u="none" strike="noStrike" kern="1200" cap="none" spc="0" normalizeH="0" baseline="0" noProof="0" dirty="0">
                <a:ln>
                  <a:noFill/>
                </a:ln>
                <a:solidFill>
                  <a:srgbClr val="FF0000"/>
                </a:solidFill>
                <a:effectLst/>
                <a:uLnTx/>
                <a:uFillTx/>
                <a:latin typeface="Gill Sans MT"/>
                <a:ea typeface="游ゴシック" panose="020B0400000000000000" pitchFamily="50" charset="-128"/>
                <a:cs typeface="+mn-cs"/>
              </a:rPr>
              <a:t>Upload</a:t>
            </a:r>
            <a:r>
              <a:rPr kumimoji="1" lang="ja-JP" altLang="en-US" sz="900" b="0" i="0" u="none" strike="noStrike" kern="1200" cap="none" spc="0" normalizeH="0" baseline="0" noProof="0" dirty="0">
                <a:ln>
                  <a:noFill/>
                </a:ln>
                <a:solidFill>
                  <a:srgbClr val="FF0000"/>
                </a:solidFill>
                <a:effectLst/>
                <a:uLnTx/>
                <a:uFillTx/>
                <a:latin typeface="Gill Sans MT"/>
                <a:ea typeface="游ゴシック" panose="020B0400000000000000" pitchFamily="50" charset="-128"/>
                <a:cs typeface="+mn-cs"/>
              </a:rPr>
              <a:t>する時に定義したアクセス権限を設定することで制約</a:t>
            </a:r>
            <a:r>
              <a:rPr lang="ja-JP" altLang="en-US" sz="900" dirty="0">
                <a:solidFill>
                  <a:srgbClr val="FF0000"/>
                </a:solidFill>
                <a:latin typeface="Gill Sans MT"/>
                <a:ea typeface="游ゴシック" panose="020B0400000000000000" pitchFamily="50" charset="-128"/>
              </a:rPr>
              <a:t>できます</a:t>
            </a:r>
            <a:r>
              <a:rPr kumimoji="1" lang="ja-JP" altLang="en-US" sz="900" b="0" i="0" u="none" strike="noStrike" kern="1200" cap="none" spc="0" normalizeH="0" baseline="0" noProof="0" dirty="0">
                <a:ln>
                  <a:noFill/>
                </a:ln>
                <a:solidFill>
                  <a:srgbClr val="FF0000"/>
                </a:solidFill>
                <a:effectLst/>
                <a:uLnTx/>
                <a:uFillTx/>
                <a:latin typeface="Gill Sans MT"/>
                <a:ea typeface="游ゴシック" panose="020B0400000000000000" pitchFamily="50" charset="-128"/>
                <a:cs typeface="+mn-cs"/>
              </a:rPr>
              <a:t>。</a:t>
            </a:r>
          </a:p>
        </p:txBody>
      </p:sp>
      <p:sp>
        <p:nvSpPr>
          <p:cNvPr id="29" name="テキスト ボックス 28">
            <a:extLst>
              <a:ext uri="{FF2B5EF4-FFF2-40B4-BE49-F238E27FC236}">
                <a16:creationId xmlns:a16="http://schemas.microsoft.com/office/drawing/2014/main" id="{E8630675-26FB-8F06-5705-31FAB453F993}"/>
              </a:ext>
            </a:extLst>
          </p:cNvPr>
          <p:cNvSpPr txBox="1"/>
          <p:nvPr/>
        </p:nvSpPr>
        <p:spPr>
          <a:xfrm>
            <a:off x="5015821" y="1877305"/>
            <a:ext cx="3347747"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Table/View/Stored Procedure Access</a:t>
            </a:r>
            <a:endParaRPr kumimoji="1" lang="ja-JP" altLang="en-US" sz="12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endParaRPr>
          </a:p>
        </p:txBody>
      </p:sp>
      <p:pic>
        <p:nvPicPr>
          <p:cNvPr id="31" name="図 30" descr="グラフィカル ユーザー インターフェイス, アプリケーション&#10;&#10;AI によって生成されたコンテンツは間違っている可能性があります。">
            <a:extLst>
              <a:ext uri="{FF2B5EF4-FFF2-40B4-BE49-F238E27FC236}">
                <a16:creationId xmlns:a16="http://schemas.microsoft.com/office/drawing/2014/main" id="{9BF2D267-2ABA-C305-A0AA-E82D16BB11BB}"/>
              </a:ext>
            </a:extLst>
          </p:cNvPr>
          <p:cNvPicPr>
            <a:picLocks noChangeAspect="1"/>
          </p:cNvPicPr>
          <p:nvPr/>
        </p:nvPicPr>
        <p:blipFill>
          <a:blip r:embed="rId9"/>
          <a:stretch>
            <a:fillRect/>
          </a:stretch>
        </p:blipFill>
        <p:spPr>
          <a:xfrm>
            <a:off x="572944" y="3599975"/>
            <a:ext cx="642168" cy="789867"/>
          </a:xfrm>
          <a:prstGeom prst="rect">
            <a:avLst/>
          </a:prstGeom>
        </p:spPr>
      </p:pic>
      <p:cxnSp>
        <p:nvCxnSpPr>
          <p:cNvPr id="32" name="直線コネクタ 31">
            <a:extLst>
              <a:ext uri="{FF2B5EF4-FFF2-40B4-BE49-F238E27FC236}">
                <a16:creationId xmlns:a16="http://schemas.microsoft.com/office/drawing/2014/main" id="{CD428C30-912B-CEDF-D639-BF34DF0763EA}"/>
              </a:ext>
            </a:extLst>
          </p:cNvPr>
          <p:cNvCxnSpPr>
            <a:cxnSpLocks/>
          </p:cNvCxnSpPr>
          <p:nvPr/>
        </p:nvCxnSpPr>
        <p:spPr>
          <a:xfrm>
            <a:off x="6670448" y="717162"/>
            <a:ext cx="33669" cy="5413735"/>
          </a:xfrm>
          <a:prstGeom prst="line">
            <a:avLst/>
          </a:prstGeom>
          <a:ln w="38100">
            <a:solidFill>
              <a:srgbClr val="FF9B45"/>
            </a:solidFill>
            <a:prstDash val="sysDash"/>
          </a:ln>
        </p:spPr>
        <p:style>
          <a:lnRef idx="1">
            <a:schemeClr val="accent1"/>
          </a:lnRef>
          <a:fillRef idx="0">
            <a:schemeClr val="accent1"/>
          </a:fillRef>
          <a:effectRef idx="0">
            <a:schemeClr val="accent1"/>
          </a:effectRef>
          <a:fontRef idx="minor">
            <a:schemeClr val="tx1"/>
          </a:fontRef>
        </p:style>
      </p:cxnSp>
      <p:pic>
        <p:nvPicPr>
          <p:cNvPr id="33" name="図 32">
            <a:extLst>
              <a:ext uri="{FF2B5EF4-FFF2-40B4-BE49-F238E27FC236}">
                <a16:creationId xmlns:a16="http://schemas.microsoft.com/office/drawing/2014/main" id="{3BF027A2-3BE5-D548-E782-A942F3044C5F}"/>
              </a:ext>
            </a:extLst>
          </p:cNvPr>
          <p:cNvPicPr>
            <a:picLocks noChangeAspect="1"/>
          </p:cNvPicPr>
          <p:nvPr/>
        </p:nvPicPr>
        <p:blipFill>
          <a:blip r:embed="rId10"/>
          <a:stretch>
            <a:fillRect/>
          </a:stretch>
        </p:blipFill>
        <p:spPr>
          <a:xfrm flipH="1">
            <a:off x="8018808" y="5112223"/>
            <a:ext cx="879391" cy="494658"/>
          </a:xfrm>
          <a:prstGeom prst="rect">
            <a:avLst/>
          </a:prstGeom>
        </p:spPr>
      </p:pic>
      <p:pic>
        <p:nvPicPr>
          <p:cNvPr id="35" name="図 34">
            <a:extLst>
              <a:ext uri="{FF2B5EF4-FFF2-40B4-BE49-F238E27FC236}">
                <a16:creationId xmlns:a16="http://schemas.microsoft.com/office/drawing/2014/main" id="{466C4BF2-C5BA-2AD0-E1DE-40E630DD8C41}"/>
              </a:ext>
            </a:extLst>
          </p:cNvPr>
          <p:cNvPicPr>
            <a:picLocks noChangeAspect="1"/>
          </p:cNvPicPr>
          <p:nvPr/>
        </p:nvPicPr>
        <p:blipFill>
          <a:blip r:embed="rId11"/>
          <a:stretch>
            <a:fillRect/>
          </a:stretch>
        </p:blipFill>
        <p:spPr>
          <a:xfrm flipH="1">
            <a:off x="8411063" y="1910936"/>
            <a:ext cx="820738" cy="430887"/>
          </a:xfrm>
          <a:prstGeom prst="rect">
            <a:avLst/>
          </a:prstGeom>
        </p:spPr>
      </p:pic>
      <p:sp>
        <p:nvSpPr>
          <p:cNvPr id="37" name="テキスト ボックス 36">
            <a:extLst>
              <a:ext uri="{FF2B5EF4-FFF2-40B4-BE49-F238E27FC236}">
                <a16:creationId xmlns:a16="http://schemas.microsoft.com/office/drawing/2014/main" id="{4EF53DF1-3A7E-B81B-9292-E51080785853}"/>
              </a:ext>
            </a:extLst>
          </p:cNvPr>
          <p:cNvSpPr txBox="1"/>
          <p:nvPr/>
        </p:nvSpPr>
        <p:spPr>
          <a:xfrm>
            <a:off x="8636852" y="5626186"/>
            <a:ext cx="26775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システム利用者</a:t>
            </a:r>
            <a:endParaRPr kumimoji="1" lang="en-US" altLang="ja-JP" sz="9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i="0" u="none" strike="noStrike" kern="1200" cap="none" spc="0" normalizeH="0" baseline="0" noProof="0" dirty="0">
                <a:ln>
                  <a:noFill/>
                </a:ln>
                <a:solidFill>
                  <a:prstClr val="black"/>
                </a:solidFill>
                <a:effectLst/>
                <a:uLnTx/>
                <a:uFillTx/>
                <a:latin typeface="Gill Sans MT"/>
                <a:ea typeface="等线" panose="02010600030101010101" pitchFamily="2" charset="-122"/>
                <a:cs typeface="+mn-cs"/>
              </a:rPr>
              <a:t>PowerApps/Power BI/</a:t>
            </a:r>
            <a:r>
              <a:rPr kumimoji="1" lang="en-US" altLang="ja-JP" sz="9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Office 365</a:t>
            </a:r>
            <a:r>
              <a:rPr kumimoji="1" lang="en-US" altLang="zh-CN" sz="900" b="0" i="0" u="none" strike="noStrike" kern="1200" cap="none" spc="0" normalizeH="0" baseline="0" noProof="0" dirty="0">
                <a:ln>
                  <a:noFill/>
                </a:ln>
                <a:solidFill>
                  <a:prstClr val="black"/>
                </a:solidFill>
                <a:effectLst/>
                <a:uLnTx/>
                <a:uFillTx/>
                <a:latin typeface="Gill Sans MT"/>
                <a:ea typeface="等线" panose="02010600030101010101" pitchFamily="2" charset="-122"/>
                <a:cs typeface="+mn-cs"/>
              </a:rPr>
              <a:t> </a:t>
            </a:r>
            <a:r>
              <a:rPr kumimoji="1" lang="ja-JP" altLang="en-US" sz="9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画面</a:t>
            </a:r>
          </a:p>
        </p:txBody>
      </p:sp>
      <p:sp>
        <p:nvSpPr>
          <p:cNvPr id="56" name="テキスト ボックス 55">
            <a:extLst>
              <a:ext uri="{FF2B5EF4-FFF2-40B4-BE49-F238E27FC236}">
                <a16:creationId xmlns:a16="http://schemas.microsoft.com/office/drawing/2014/main" id="{FC87B1CE-6F40-F804-C5F9-A6C85C2C466B}"/>
              </a:ext>
            </a:extLst>
          </p:cNvPr>
          <p:cNvSpPr txBox="1"/>
          <p:nvPr/>
        </p:nvSpPr>
        <p:spPr>
          <a:xfrm>
            <a:off x="8155961" y="2330601"/>
            <a:ext cx="1330939" cy="2616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a:ln>
                  <a:noFill/>
                </a:ln>
                <a:solidFill>
                  <a:prstClr val="black"/>
                </a:solidFill>
                <a:effectLst/>
                <a:uLnTx/>
                <a:uFillTx/>
                <a:latin typeface="Gill Sans MT"/>
                <a:ea typeface="游ゴシック" panose="020B0400000000000000" pitchFamily="50" charset="-128"/>
                <a:cs typeface="+mn-cs"/>
              </a:rPr>
              <a:t>Operator/Admin</a:t>
            </a:r>
            <a:endParaRPr kumimoji="1" lang="ja-JP" altLang="en-US" sz="1100" b="0" i="0" u="none" strike="noStrike" kern="1200" cap="none" spc="0" normalizeH="0" baseline="0" noProof="0">
              <a:ln>
                <a:noFill/>
              </a:ln>
              <a:solidFill>
                <a:prstClr val="black"/>
              </a:solidFill>
              <a:effectLst/>
              <a:uLnTx/>
              <a:uFillTx/>
              <a:latin typeface="Gill Sans MT"/>
              <a:ea typeface="游ゴシック" panose="020B0400000000000000" pitchFamily="50" charset="-128"/>
              <a:cs typeface="+mn-cs"/>
            </a:endParaRPr>
          </a:p>
        </p:txBody>
      </p:sp>
      <p:sp>
        <p:nvSpPr>
          <p:cNvPr id="60" name="フローチャート: 判断 59">
            <a:extLst>
              <a:ext uri="{FF2B5EF4-FFF2-40B4-BE49-F238E27FC236}">
                <a16:creationId xmlns:a16="http://schemas.microsoft.com/office/drawing/2014/main" id="{0D090403-53BF-F09C-BAAD-31EF3046C514}"/>
              </a:ext>
            </a:extLst>
          </p:cNvPr>
          <p:cNvSpPr/>
          <p:nvPr/>
        </p:nvSpPr>
        <p:spPr>
          <a:xfrm>
            <a:off x="3655584" y="2890189"/>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Gill Sans MT"/>
              <a:ea typeface="游ゴシック" panose="020B0400000000000000" pitchFamily="50" charset="-128"/>
              <a:cs typeface="+mn-cs"/>
            </a:endParaRPr>
          </a:p>
        </p:txBody>
      </p:sp>
      <p:cxnSp>
        <p:nvCxnSpPr>
          <p:cNvPr id="61" name="コネクタ: カギ線 60">
            <a:extLst>
              <a:ext uri="{FF2B5EF4-FFF2-40B4-BE49-F238E27FC236}">
                <a16:creationId xmlns:a16="http://schemas.microsoft.com/office/drawing/2014/main" id="{51055D7A-1147-E984-D2C4-2FBC01125B89}"/>
              </a:ext>
            </a:extLst>
          </p:cNvPr>
          <p:cNvCxnSpPr>
            <a:stCxn id="60" idx="3"/>
            <a:endCxn id="35" idx="3"/>
          </p:cNvCxnSpPr>
          <p:nvPr/>
        </p:nvCxnSpPr>
        <p:spPr>
          <a:xfrm flipV="1">
            <a:off x="3704352" y="2126380"/>
            <a:ext cx="4706711" cy="795506"/>
          </a:xfrm>
          <a:prstGeom prst="bentConnector3">
            <a:avLst>
              <a:gd name="adj1" fmla="val 42833"/>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2" name="コネクタ: カギ線 61">
            <a:extLst>
              <a:ext uri="{FF2B5EF4-FFF2-40B4-BE49-F238E27FC236}">
                <a16:creationId xmlns:a16="http://schemas.microsoft.com/office/drawing/2014/main" id="{90E92520-5D71-4648-E423-1EF5DD3BBD8C}"/>
              </a:ext>
            </a:extLst>
          </p:cNvPr>
          <p:cNvCxnSpPr>
            <a:stCxn id="1031" idx="3"/>
            <a:endCxn id="63" idx="1"/>
          </p:cNvCxnSpPr>
          <p:nvPr/>
        </p:nvCxnSpPr>
        <p:spPr>
          <a:xfrm flipV="1">
            <a:off x="3495806" y="2229113"/>
            <a:ext cx="4891523" cy="2605178"/>
          </a:xfrm>
          <a:prstGeom prst="bentConnector3">
            <a:avLst>
              <a:gd name="adj1" fmla="val 58724"/>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63" name="フローチャート: 判断 62">
            <a:extLst>
              <a:ext uri="{FF2B5EF4-FFF2-40B4-BE49-F238E27FC236}">
                <a16:creationId xmlns:a16="http://schemas.microsoft.com/office/drawing/2014/main" id="{AC05164B-D9A5-10A5-2648-FE22CD92F0AE}"/>
              </a:ext>
            </a:extLst>
          </p:cNvPr>
          <p:cNvSpPr/>
          <p:nvPr/>
        </p:nvSpPr>
        <p:spPr>
          <a:xfrm>
            <a:off x="8387329" y="219741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Gill Sans MT"/>
              <a:ea typeface="游ゴシック" panose="020B0400000000000000" pitchFamily="50" charset="-128"/>
              <a:cs typeface="+mn-cs"/>
            </a:endParaRPr>
          </a:p>
        </p:txBody>
      </p:sp>
      <p:sp>
        <p:nvSpPr>
          <p:cNvPr id="1024" name="フローチャート: 判断 1023">
            <a:extLst>
              <a:ext uri="{FF2B5EF4-FFF2-40B4-BE49-F238E27FC236}">
                <a16:creationId xmlns:a16="http://schemas.microsoft.com/office/drawing/2014/main" id="{10F4A5CC-BDB7-FEF3-B6C2-3364F30682FB}"/>
              </a:ext>
            </a:extLst>
          </p:cNvPr>
          <p:cNvSpPr/>
          <p:nvPr/>
        </p:nvSpPr>
        <p:spPr>
          <a:xfrm>
            <a:off x="3447036" y="495701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Gill Sans MT"/>
              <a:ea typeface="游ゴシック" panose="020B0400000000000000" pitchFamily="50" charset="-128"/>
              <a:cs typeface="+mn-cs"/>
            </a:endParaRPr>
          </a:p>
        </p:txBody>
      </p:sp>
      <p:cxnSp>
        <p:nvCxnSpPr>
          <p:cNvPr id="1029" name="コネクタ: カギ線 1028">
            <a:extLst>
              <a:ext uri="{FF2B5EF4-FFF2-40B4-BE49-F238E27FC236}">
                <a16:creationId xmlns:a16="http://schemas.microsoft.com/office/drawing/2014/main" id="{23C05401-5241-8FCB-E54F-F00113BB438F}"/>
              </a:ext>
            </a:extLst>
          </p:cNvPr>
          <p:cNvCxnSpPr>
            <a:cxnSpLocks/>
            <a:stCxn id="1024" idx="3"/>
          </p:cNvCxnSpPr>
          <p:nvPr/>
        </p:nvCxnSpPr>
        <p:spPr>
          <a:xfrm>
            <a:off x="3495804" y="4988713"/>
            <a:ext cx="4510839" cy="523210"/>
          </a:xfrm>
          <a:prstGeom prst="bentConnector3">
            <a:avLst>
              <a:gd name="adj1" fmla="val 54263"/>
            </a:avLst>
          </a:prstGeom>
          <a:ln w="25400">
            <a:solidFill>
              <a:schemeClr val="accent6">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1031" name="フローチャート: 判断 1030">
            <a:extLst>
              <a:ext uri="{FF2B5EF4-FFF2-40B4-BE49-F238E27FC236}">
                <a16:creationId xmlns:a16="http://schemas.microsoft.com/office/drawing/2014/main" id="{0F958885-DB7D-C4DD-AC6C-595C8CD57198}"/>
              </a:ext>
            </a:extLst>
          </p:cNvPr>
          <p:cNvSpPr/>
          <p:nvPr/>
        </p:nvSpPr>
        <p:spPr>
          <a:xfrm>
            <a:off x="3447038" y="4802594"/>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Gill Sans MT"/>
              <a:ea typeface="游ゴシック" panose="020B0400000000000000" pitchFamily="50" charset="-128"/>
              <a:cs typeface="+mn-cs"/>
            </a:endParaRPr>
          </a:p>
        </p:txBody>
      </p:sp>
      <p:cxnSp>
        <p:nvCxnSpPr>
          <p:cNvPr id="1033" name="コネクタ: カギ線 1032">
            <a:extLst>
              <a:ext uri="{FF2B5EF4-FFF2-40B4-BE49-F238E27FC236}">
                <a16:creationId xmlns:a16="http://schemas.microsoft.com/office/drawing/2014/main" id="{EB2B3CCC-9FDB-7FD8-5ED5-A9E66A7922B2}"/>
              </a:ext>
            </a:extLst>
          </p:cNvPr>
          <p:cNvCxnSpPr>
            <a:cxnSpLocks/>
            <a:stCxn id="1034" idx="3"/>
            <a:endCxn id="33" idx="3"/>
          </p:cNvCxnSpPr>
          <p:nvPr/>
        </p:nvCxnSpPr>
        <p:spPr>
          <a:xfrm>
            <a:off x="3707968" y="3032461"/>
            <a:ext cx="4310840" cy="2327091"/>
          </a:xfrm>
          <a:prstGeom prst="bentConnector3">
            <a:avLst>
              <a:gd name="adj1" fmla="val 56641"/>
            </a:avLst>
          </a:prstGeom>
          <a:ln w="25400">
            <a:solidFill>
              <a:schemeClr val="accent6">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1034" name="フローチャート: 判断 1033">
            <a:extLst>
              <a:ext uri="{FF2B5EF4-FFF2-40B4-BE49-F238E27FC236}">
                <a16:creationId xmlns:a16="http://schemas.microsoft.com/office/drawing/2014/main" id="{8F79977E-0F15-8C98-D8F4-1EF491343122}"/>
              </a:ext>
            </a:extLst>
          </p:cNvPr>
          <p:cNvSpPr/>
          <p:nvPr/>
        </p:nvSpPr>
        <p:spPr>
          <a:xfrm>
            <a:off x="3659200" y="3000764"/>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Gill Sans MT"/>
              <a:ea typeface="游ゴシック" panose="020B0400000000000000" pitchFamily="50" charset="-128"/>
              <a:cs typeface="+mn-cs"/>
            </a:endParaRPr>
          </a:p>
        </p:txBody>
      </p:sp>
      <p:sp>
        <p:nvSpPr>
          <p:cNvPr id="1035" name="テキスト ボックス 1034">
            <a:extLst>
              <a:ext uri="{FF2B5EF4-FFF2-40B4-BE49-F238E27FC236}">
                <a16:creationId xmlns:a16="http://schemas.microsoft.com/office/drawing/2014/main" id="{B4031953-23BE-A145-B118-595B835E8613}"/>
              </a:ext>
            </a:extLst>
          </p:cNvPr>
          <p:cNvSpPr txBox="1"/>
          <p:nvPr/>
        </p:nvSpPr>
        <p:spPr>
          <a:xfrm>
            <a:off x="3717215" y="919407"/>
            <a:ext cx="2848443" cy="369332"/>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w="0"/>
                <a:solidFill>
                  <a:srgbClr val="B71E42"/>
                </a:solidFill>
                <a:effectLst>
                  <a:outerShdw blurRad="38100" dist="25400" dir="5400000" algn="ctr" rotWithShape="0">
                    <a:srgbClr val="6E747A">
                      <a:alpha val="43000"/>
                    </a:srgbClr>
                  </a:outerShdw>
                </a:effectLst>
                <a:uLnTx/>
                <a:uFillTx/>
                <a:latin typeface="Gill Sans MT"/>
                <a:ea typeface="游ゴシック" panose="020B0400000000000000" pitchFamily="50" charset="-128"/>
                <a:cs typeface="+mn-cs"/>
              </a:rPr>
              <a:t>Microsoft Data Center</a:t>
            </a:r>
            <a:endParaRPr kumimoji="1" lang="ja-JP" altLang="en-US" sz="1800" b="0" i="0" u="none" strike="noStrike" kern="1200" cap="none" spc="0" normalizeH="0" baseline="0" noProof="0" dirty="0">
              <a:ln w="0"/>
              <a:solidFill>
                <a:srgbClr val="B71E42"/>
              </a:solidFill>
              <a:effectLst>
                <a:outerShdw blurRad="38100" dist="25400" dir="5400000" algn="ctr" rotWithShape="0">
                  <a:srgbClr val="6E747A">
                    <a:alpha val="43000"/>
                  </a:srgbClr>
                </a:outerShdw>
              </a:effectLst>
              <a:uLnTx/>
              <a:uFillTx/>
              <a:latin typeface="Gill Sans MT"/>
              <a:ea typeface="游ゴシック" panose="020B0400000000000000" pitchFamily="50" charset="-128"/>
              <a:cs typeface="+mn-cs"/>
            </a:endParaRPr>
          </a:p>
        </p:txBody>
      </p:sp>
      <p:sp>
        <p:nvSpPr>
          <p:cNvPr id="1037" name="テキスト ボックス 1036">
            <a:extLst>
              <a:ext uri="{FF2B5EF4-FFF2-40B4-BE49-F238E27FC236}">
                <a16:creationId xmlns:a16="http://schemas.microsoft.com/office/drawing/2014/main" id="{3DCE5DC7-CDF3-2757-34C2-0308E4344C3E}"/>
              </a:ext>
            </a:extLst>
          </p:cNvPr>
          <p:cNvSpPr txBox="1"/>
          <p:nvPr/>
        </p:nvSpPr>
        <p:spPr>
          <a:xfrm>
            <a:off x="6865134" y="919407"/>
            <a:ext cx="2848443" cy="369332"/>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w="0"/>
                <a:solidFill>
                  <a:srgbClr val="B71E42"/>
                </a:solidFill>
                <a:effectLst>
                  <a:outerShdw blurRad="38100" dist="25400" dir="5400000" algn="ctr" rotWithShape="0">
                    <a:srgbClr val="6E747A">
                      <a:alpha val="43000"/>
                    </a:srgbClr>
                  </a:outerShdw>
                </a:effectLst>
                <a:uLnTx/>
                <a:uFillTx/>
                <a:latin typeface="Gill Sans MT"/>
                <a:ea typeface="游ゴシック"/>
                <a:cs typeface="+mn-cs"/>
              </a:rPr>
              <a:t>MCC</a:t>
            </a:r>
            <a:r>
              <a:rPr kumimoji="1" lang="ja-JP" altLang="en-US" sz="1800" b="0" i="0" u="none" strike="noStrike" kern="1200" cap="none" spc="0" normalizeH="0" baseline="0" noProof="0" dirty="0">
                <a:ln w="0"/>
                <a:solidFill>
                  <a:srgbClr val="B71E42"/>
                </a:solidFill>
                <a:effectLst>
                  <a:outerShdw blurRad="38100" dist="25400" dir="5400000" algn="ctr" rotWithShape="0">
                    <a:srgbClr val="6E747A">
                      <a:alpha val="43000"/>
                    </a:srgbClr>
                  </a:outerShdw>
                </a:effectLst>
                <a:uLnTx/>
                <a:uFillTx/>
                <a:latin typeface="Gill Sans MT"/>
                <a:ea typeface="游ゴシック"/>
                <a:cs typeface="+mn-cs"/>
              </a:rPr>
              <a:t>様</a:t>
            </a:r>
            <a:r>
              <a:rPr kumimoji="1" lang="en-US" altLang="ja-JP" sz="1800" b="0" i="0" u="none" strike="noStrike" kern="1200" cap="none" spc="0" normalizeH="0" baseline="0" noProof="0" dirty="0">
                <a:ln w="0"/>
                <a:solidFill>
                  <a:srgbClr val="B71E42"/>
                </a:solidFill>
                <a:effectLst>
                  <a:outerShdw blurRad="38100" dist="25400" dir="5400000" algn="ctr" rotWithShape="0">
                    <a:srgbClr val="6E747A">
                      <a:alpha val="43000"/>
                    </a:srgbClr>
                  </a:outerShdw>
                </a:effectLst>
                <a:uLnTx/>
                <a:uFillTx/>
                <a:latin typeface="Gill Sans MT"/>
                <a:ea typeface="游ゴシック"/>
                <a:cs typeface="+mn-cs"/>
              </a:rPr>
              <a:t> </a:t>
            </a:r>
            <a:r>
              <a:rPr kumimoji="1" lang="ja-JP" altLang="en-US" sz="1800" b="0" i="0" u="none" strike="noStrike" kern="1200" cap="none" spc="0" normalizeH="0" baseline="0" noProof="0" dirty="0">
                <a:ln w="0"/>
                <a:solidFill>
                  <a:srgbClr val="B71E42"/>
                </a:solidFill>
                <a:effectLst>
                  <a:outerShdw blurRad="38100" dist="25400" dir="5400000" algn="ctr" rotWithShape="0">
                    <a:srgbClr val="6E747A">
                      <a:alpha val="43000"/>
                    </a:srgbClr>
                  </a:outerShdw>
                </a:effectLst>
                <a:uLnTx/>
                <a:uFillTx/>
                <a:latin typeface="Gill Sans MT"/>
                <a:ea typeface="游ゴシック"/>
                <a:cs typeface="+mn-cs"/>
              </a:rPr>
              <a:t>環境（AWS含む）</a:t>
            </a:r>
            <a:endParaRPr kumimoji="1" lang="ja-JP" altLang="en-US" sz="1800" b="0" i="0" u="none" strike="noStrike" kern="1200" cap="none" spc="0" normalizeH="0" baseline="0" noProof="0" dirty="0">
              <a:ln w="0"/>
              <a:solidFill>
                <a:srgbClr val="B71E42"/>
              </a:solidFill>
              <a:effectLst>
                <a:outerShdw blurRad="38100" dist="25400" dir="5400000" algn="ctr" rotWithShape="0">
                  <a:srgbClr val="6E747A">
                    <a:alpha val="43000"/>
                  </a:srgbClr>
                </a:outerShdw>
              </a:effectLst>
              <a:uLnTx/>
              <a:uFillTx/>
              <a:latin typeface="Gill Sans MT"/>
              <a:ea typeface="游ゴシック" panose="020B0400000000000000" pitchFamily="50" charset="-128"/>
              <a:cs typeface="+mn-cs"/>
            </a:endParaRPr>
          </a:p>
        </p:txBody>
      </p:sp>
      <p:pic>
        <p:nvPicPr>
          <p:cNvPr id="1039"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A7CD0260-63BC-9A10-F6F2-B6EB39BB5DD4}"/>
              </a:ext>
            </a:extLst>
          </p:cNvPr>
          <p:cNvPicPr>
            <a:picLocks noChangeAspect="1"/>
          </p:cNvPicPr>
          <p:nvPr/>
        </p:nvPicPr>
        <p:blipFill>
          <a:blip r:embed="rId5"/>
          <a:stretch>
            <a:fillRect/>
          </a:stretch>
        </p:blipFill>
        <p:spPr>
          <a:xfrm>
            <a:off x="8481119" y="2557871"/>
            <a:ext cx="771118" cy="456744"/>
          </a:xfrm>
          <a:prstGeom prst="rect">
            <a:avLst/>
          </a:prstGeom>
        </p:spPr>
      </p:pic>
      <p:pic>
        <p:nvPicPr>
          <p:cNvPr id="1040" name="図 1039" descr="アイコン&#10;&#10;AI によって生成されたコンテンツは間違っている可能性があります。">
            <a:extLst>
              <a:ext uri="{FF2B5EF4-FFF2-40B4-BE49-F238E27FC236}">
                <a16:creationId xmlns:a16="http://schemas.microsoft.com/office/drawing/2014/main" id="{4B85614A-F0B2-1E58-FCD7-18B3BD8A3554}"/>
              </a:ext>
            </a:extLst>
          </p:cNvPr>
          <p:cNvPicPr>
            <a:picLocks noChangeAspect="1"/>
          </p:cNvPicPr>
          <p:nvPr/>
        </p:nvPicPr>
        <p:blipFill>
          <a:blip r:embed="rId3"/>
          <a:stretch>
            <a:fillRect/>
          </a:stretch>
        </p:blipFill>
        <p:spPr>
          <a:xfrm>
            <a:off x="7904437" y="2564533"/>
            <a:ext cx="527498" cy="457200"/>
          </a:xfrm>
          <a:prstGeom prst="rect">
            <a:avLst/>
          </a:prstGeom>
        </p:spPr>
      </p:pic>
      <p:pic>
        <p:nvPicPr>
          <p:cNvPr id="1041" name="Picture 2" descr="Sql Server Icons For Windows PNG Transparent Background, Free Download  #11351 - FreeIconsPNG">
            <a:extLst>
              <a:ext uri="{FF2B5EF4-FFF2-40B4-BE49-F238E27FC236}">
                <a16:creationId xmlns:a16="http://schemas.microsoft.com/office/drawing/2014/main" id="{09954D27-710C-58E2-FECF-D26BCCA4EC3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496944" y="2999513"/>
            <a:ext cx="561417" cy="561417"/>
          </a:xfrm>
          <a:prstGeom prst="rect">
            <a:avLst/>
          </a:prstGeom>
          <a:noFill/>
          <a:extLst>
            <a:ext uri="{909E8E84-426E-40DD-AFC4-6F175D3DCCD1}">
              <a14:hiddenFill xmlns:a14="http://schemas.microsoft.com/office/drawing/2010/main">
                <a:solidFill>
                  <a:srgbClr val="FFFFFF"/>
                </a:solidFill>
              </a14:hiddenFill>
            </a:ext>
          </a:extLst>
        </p:spPr>
      </p:pic>
      <p:sp>
        <p:nvSpPr>
          <p:cNvPr id="1042" name="テキスト ボックス 1041">
            <a:extLst>
              <a:ext uri="{FF2B5EF4-FFF2-40B4-BE49-F238E27FC236}">
                <a16:creationId xmlns:a16="http://schemas.microsoft.com/office/drawing/2014/main" id="{7C9261AD-8C1A-ECEB-1B25-7A635758739D}"/>
              </a:ext>
            </a:extLst>
          </p:cNvPr>
          <p:cNvSpPr txBox="1"/>
          <p:nvPr/>
        </p:nvSpPr>
        <p:spPr>
          <a:xfrm>
            <a:off x="4487023" y="4170561"/>
            <a:ext cx="2538877" cy="4154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文書</a:t>
            </a:r>
            <a:r>
              <a:rPr kumimoji="1" lang="en-US" altLang="ja-JP"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Transaction</a:t>
            </a:r>
            <a:r>
              <a:rPr kumimoji="1" lang="ja-JP" altLang="en-US"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データ</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各種マスタ（属性データ</a:t>
            </a:r>
            <a:r>
              <a:rPr kumimoji="1" lang="en-US" altLang="ja-JP"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a:t>
            </a:r>
            <a:r>
              <a:rPr kumimoji="1" lang="ja-JP" altLang="en-US"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定型データ）</a:t>
            </a:r>
            <a:endParaRPr kumimoji="1" lang="en-US" altLang="ja-JP"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endParaRPr>
          </a:p>
        </p:txBody>
      </p:sp>
      <p:cxnSp>
        <p:nvCxnSpPr>
          <p:cNvPr id="1043" name="コネクタ: カギ線 1042">
            <a:extLst>
              <a:ext uri="{FF2B5EF4-FFF2-40B4-BE49-F238E27FC236}">
                <a16:creationId xmlns:a16="http://schemas.microsoft.com/office/drawing/2014/main" id="{4AC597C0-7D53-EED4-D15B-DC4CA3E3229E}"/>
              </a:ext>
            </a:extLst>
          </p:cNvPr>
          <p:cNvCxnSpPr>
            <a:stCxn id="31" idx="3"/>
            <a:endCxn id="1047" idx="2"/>
          </p:cNvCxnSpPr>
          <p:nvPr/>
        </p:nvCxnSpPr>
        <p:spPr>
          <a:xfrm flipV="1">
            <a:off x="1215112" y="3619746"/>
            <a:ext cx="1574962" cy="375163"/>
          </a:xfrm>
          <a:prstGeom prst="bentConnector2">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44" name="テキスト ボックス 1043">
            <a:extLst>
              <a:ext uri="{FF2B5EF4-FFF2-40B4-BE49-F238E27FC236}">
                <a16:creationId xmlns:a16="http://schemas.microsoft.com/office/drawing/2014/main" id="{55977592-AD26-D528-B773-C62683CD8427}"/>
              </a:ext>
            </a:extLst>
          </p:cNvPr>
          <p:cNvSpPr txBox="1"/>
          <p:nvPr/>
        </p:nvSpPr>
        <p:spPr>
          <a:xfrm>
            <a:off x="352525" y="4391627"/>
            <a:ext cx="1831889"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Power Automation Flow</a:t>
            </a:r>
            <a:endParaRPr kumimoji="1" lang="ja-JP" altLang="en-US" sz="12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endParaRPr>
          </a:p>
        </p:txBody>
      </p:sp>
      <p:sp>
        <p:nvSpPr>
          <p:cNvPr id="1045" name="テキスト ボックス 1044">
            <a:extLst>
              <a:ext uri="{FF2B5EF4-FFF2-40B4-BE49-F238E27FC236}">
                <a16:creationId xmlns:a16="http://schemas.microsoft.com/office/drawing/2014/main" id="{F9E56C4F-83CC-5C34-95FF-45FE1568A057}"/>
              </a:ext>
            </a:extLst>
          </p:cNvPr>
          <p:cNvSpPr txBox="1"/>
          <p:nvPr/>
        </p:nvSpPr>
        <p:spPr>
          <a:xfrm>
            <a:off x="1631700" y="3769698"/>
            <a:ext cx="1057324" cy="25391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業務処理</a:t>
            </a:r>
            <a:endParaRPr kumimoji="1" lang="en-US" altLang="ja-JP"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endParaRPr>
          </a:p>
        </p:txBody>
      </p:sp>
      <p:cxnSp>
        <p:nvCxnSpPr>
          <p:cNvPr id="1046" name="コネクタ: カギ線 1045">
            <a:extLst>
              <a:ext uri="{FF2B5EF4-FFF2-40B4-BE49-F238E27FC236}">
                <a16:creationId xmlns:a16="http://schemas.microsoft.com/office/drawing/2014/main" id="{C43C0C1F-8E30-AEE3-4A91-2C1DC1A32363}"/>
              </a:ext>
            </a:extLst>
          </p:cNvPr>
          <p:cNvCxnSpPr>
            <a:cxnSpLocks/>
            <a:stCxn id="1053" idx="3"/>
            <a:endCxn id="1049" idx="1"/>
          </p:cNvCxnSpPr>
          <p:nvPr/>
        </p:nvCxnSpPr>
        <p:spPr>
          <a:xfrm flipV="1">
            <a:off x="1255145" y="3877363"/>
            <a:ext cx="3608456" cy="335737"/>
          </a:xfrm>
          <a:prstGeom prst="bentConnector3">
            <a:avLst>
              <a:gd name="adj1" fmla="val 50000"/>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sp>
        <p:nvSpPr>
          <p:cNvPr id="1047" name="フローチャート: 判断 1046">
            <a:extLst>
              <a:ext uri="{FF2B5EF4-FFF2-40B4-BE49-F238E27FC236}">
                <a16:creationId xmlns:a16="http://schemas.microsoft.com/office/drawing/2014/main" id="{AAD234A4-7A75-AB98-67BE-6969FCA0639D}"/>
              </a:ext>
            </a:extLst>
          </p:cNvPr>
          <p:cNvSpPr/>
          <p:nvPr/>
        </p:nvSpPr>
        <p:spPr>
          <a:xfrm>
            <a:off x="2765690" y="3556352"/>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Gill Sans MT"/>
              <a:ea typeface="游ゴシック" panose="020B0400000000000000" pitchFamily="50" charset="-128"/>
              <a:cs typeface="+mn-cs"/>
            </a:endParaRPr>
          </a:p>
        </p:txBody>
      </p:sp>
      <p:sp>
        <p:nvSpPr>
          <p:cNvPr id="1049" name="フローチャート: 判断 1048">
            <a:extLst>
              <a:ext uri="{FF2B5EF4-FFF2-40B4-BE49-F238E27FC236}">
                <a16:creationId xmlns:a16="http://schemas.microsoft.com/office/drawing/2014/main" id="{4888C9F0-420A-2446-7ED6-6769DA3484ED}"/>
              </a:ext>
            </a:extLst>
          </p:cNvPr>
          <p:cNvSpPr/>
          <p:nvPr/>
        </p:nvSpPr>
        <p:spPr>
          <a:xfrm>
            <a:off x="4863601" y="384566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Gill Sans MT"/>
              <a:ea typeface="游ゴシック" panose="020B0400000000000000" pitchFamily="50" charset="-128"/>
              <a:cs typeface="+mn-cs"/>
            </a:endParaRPr>
          </a:p>
        </p:txBody>
      </p:sp>
      <p:sp>
        <p:nvSpPr>
          <p:cNvPr id="1052" name="フローチャート: 判断 1051">
            <a:extLst>
              <a:ext uri="{FF2B5EF4-FFF2-40B4-BE49-F238E27FC236}">
                <a16:creationId xmlns:a16="http://schemas.microsoft.com/office/drawing/2014/main" id="{DF3BF86F-6F40-0F63-1899-760595D4C885}"/>
              </a:ext>
            </a:extLst>
          </p:cNvPr>
          <p:cNvSpPr/>
          <p:nvPr/>
        </p:nvSpPr>
        <p:spPr>
          <a:xfrm>
            <a:off x="4871168" y="3983192"/>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Gill Sans MT"/>
              <a:ea typeface="游ゴシック" panose="020B0400000000000000" pitchFamily="50" charset="-128"/>
              <a:cs typeface="+mn-cs"/>
            </a:endParaRPr>
          </a:p>
        </p:txBody>
      </p:sp>
      <p:sp>
        <p:nvSpPr>
          <p:cNvPr id="1053" name="フローチャート: 判断 1052">
            <a:extLst>
              <a:ext uri="{FF2B5EF4-FFF2-40B4-BE49-F238E27FC236}">
                <a16:creationId xmlns:a16="http://schemas.microsoft.com/office/drawing/2014/main" id="{75038324-DC17-1AE9-681E-7DBF0502E5DE}"/>
              </a:ext>
            </a:extLst>
          </p:cNvPr>
          <p:cNvSpPr/>
          <p:nvPr/>
        </p:nvSpPr>
        <p:spPr>
          <a:xfrm>
            <a:off x="1206377" y="4181403"/>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Gill Sans MT"/>
              <a:ea typeface="游ゴシック" panose="020B0400000000000000" pitchFamily="50" charset="-128"/>
              <a:cs typeface="+mn-cs"/>
            </a:endParaRPr>
          </a:p>
        </p:txBody>
      </p:sp>
      <p:sp>
        <p:nvSpPr>
          <p:cNvPr id="1055" name="テキスト ボックス 1054">
            <a:extLst>
              <a:ext uri="{FF2B5EF4-FFF2-40B4-BE49-F238E27FC236}">
                <a16:creationId xmlns:a16="http://schemas.microsoft.com/office/drawing/2014/main" id="{812398FB-7F8C-ABBA-EA6E-F6DA3B4B5552}"/>
              </a:ext>
            </a:extLst>
          </p:cNvPr>
          <p:cNvSpPr txBox="1"/>
          <p:nvPr/>
        </p:nvSpPr>
        <p:spPr>
          <a:xfrm>
            <a:off x="3155238" y="3604670"/>
            <a:ext cx="1717979"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Table/View/</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Stored Procedure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Access</a:t>
            </a:r>
            <a:endParaRPr kumimoji="1" lang="ja-JP" altLang="en-US" sz="12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endParaRPr>
          </a:p>
        </p:txBody>
      </p:sp>
      <p:sp>
        <p:nvSpPr>
          <p:cNvPr id="1057" name="フローチャート: 判断 1056">
            <a:extLst>
              <a:ext uri="{FF2B5EF4-FFF2-40B4-BE49-F238E27FC236}">
                <a16:creationId xmlns:a16="http://schemas.microsoft.com/office/drawing/2014/main" id="{7AEED97C-B8A2-FE38-C447-3539EC2C9D82}"/>
              </a:ext>
            </a:extLst>
          </p:cNvPr>
          <p:cNvSpPr/>
          <p:nvPr/>
        </p:nvSpPr>
        <p:spPr>
          <a:xfrm>
            <a:off x="2369883" y="294467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Gill Sans MT"/>
              <a:ea typeface="游ゴシック" panose="020B0400000000000000" pitchFamily="50" charset="-128"/>
              <a:cs typeface="+mn-cs"/>
            </a:endParaRPr>
          </a:p>
        </p:txBody>
      </p:sp>
      <p:sp>
        <p:nvSpPr>
          <p:cNvPr id="1058" name="フローチャート: 判断 1057">
            <a:extLst>
              <a:ext uri="{FF2B5EF4-FFF2-40B4-BE49-F238E27FC236}">
                <a16:creationId xmlns:a16="http://schemas.microsoft.com/office/drawing/2014/main" id="{707F8DE5-7F21-B613-7629-653515CC5D63}"/>
              </a:ext>
            </a:extLst>
          </p:cNvPr>
          <p:cNvSpPr/>
          <p:nvPr/>
        </p:nvSpPr>
        <p:spPr>
          <a:xfrm>
            <a:off x="2367485" y="3207027"/>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Gill Sans MT"/>
              <a:ea typeface="游ゴシック" panose="020B0400000000000000" pitchFamily="50" charset="-128"/>
              <a:cs typeface="+mn-cs"/>
            </a:endParaRPr>
          </a:p>
        </p:txBody>
      </p:sp>
      <p:cxnSp>
        <p:nvCxnSpPr>
          <p:cNvPr id="1059" name="コネクタ: カギ線 1058">
            <a:extLst>
              <a:ext uri="{FF2B5EF4-FFF2-40B4-BE49-F238E27FC236}">
                <a16:creationId xmlns:a16="http://schemas.microsoft.com/office/drawing/2014/main" id="{5192E52C-EC8F-D4CF-6C0E-FE8EDA633E78}"/>
              </a:ext>
            </a:extLst>
          </p:cNvPr>
          <p:cNvCxnSpPr>
            <a:cxnSpLocks/>
            <a:stCxn id="1061" idx="2"/>
            <a:endCxn id="1057" idx="1"/>
          </p:cNvCxnSpPr>
          <p:nvPr/>
        </p:nvCxnSpPr>
        <p:spPr>
          <a:xfrm rot="16200000" flipH="1">
            <a:off x="1179236" y="1785719"/>
            <a:ext cx="1034861" cy="1346434"/>
          </a:xfrm>
          <a:prstGeom prst="bentConnector2">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60" name="コネクタ: カギ線 1059">
            <a:extLst>
              <a:ext uri="{FF2B5EF4-FFF2-40B4-BE49-F238E27FC236}">
                <a16:creationId xmlns:a16="http://schemas.microsoft.com/office/drawing/2014/main" id="{15B9987C-1562-224A-0368-37D8D588B77A}"/>
              </a:ext>
            </a:extLst>
          </p:cNvPr>
          <p:cNvCxnSpPr>
            <a:stCxn id="20" idx="2"/>
            <a:endCxn id="31" idx="0"/>
          </p:cNvCxnSpPr>
          <p:nvPr/>
        </p:nvCxnSpPr>
        <p:spPr>
          <a:xfrm rot="5400000">
            <a:off x="66739" y="2770814"/>
            <a:ext cx="1656450" cy="1872"/>
          </a:xfrm>
          <a:prstGeom prst="bentConnector3">
            <a:avLst>
              <a:gd name="adj1" fmla="val 50000"/>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61" name="フローチャート: 判断 1060">
            <a:extLst>
              <a:ext uri="{FF2B5EF4-FFF2-40B4-BE49-F238E27FC236}">
                <a16:creationId xmlns:a16="http://schemas.microsoft.com/office/drawing/2014/main" id="{56077A53-21CA-4491-FDF8-2E7E449143B8}"/>
              </a:ext>
            </a:extLst>
          </p:cNvPr>
          <p:cNvSpPr/>
          <p:nvPr/>
        </p:nvSpPr>
        <p:spPr>
          <a:xfrm>
            <a:off x="999065" y="1878112"/>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Gill Sans MT"/>
              <a:ea typeface="游ゴシック" panose="020B0400000000000000" pitchFamily="50" charset="-128"/>
              <a:cs typeface="+mn-cs"/>
            </a:endParaRPr>
          </a:p>
        </p:txBody>
      </p:sp>
      <p:cxnSp>
        <p:nvCxnSpPr>
          <p:cNvPr id="1062" name="コネクタ: カギ線 1061">
            <a:extLst>
              <a:ext uri="{FF2B5EF4-FFF2-40B4-BE49-F238E27FC236}">
                <a16:creationId xmlns:a16="http://schemas.microsoft.com/office/drawing/2014/main" id="{87B3357D-8948-33EB-0A04-D16433D177AE}"/>
              </a:ext>
            </a:extLst>
          </p:cNvPr>
          <p:cNvCxnSpPr>
            <a:cxnSpLocks/>
            <a:stCxn id="1041" idx="1"/>
          </p:cNvCxnSpPr>
          <p:nvPr/>
        </p:nvCxnSpPr>
        <p:spPr>
          <a:xfrm rot="10800000" flipV="1">
            <a:off x="5645392" y="3280222"/>
            <a:ext cx="2851552" cy="460358"/>
          </a:xfrm>
          <a:prstGeom prst="bentConnector3">
            <a:avLst>
              <a:gd name="adj1" fmla="val 50000"/>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64" name="コネクタ: カギ線 1063">
            <a:extLst>
              <a:ext uri="{FF2B5EF4-FFF2-40B4-BE49-F238E27FC236}">
                <a16:creationId xmlns:a16="http://schemas.microsoft.com/office/drawing/2014/main" id="{FB479D44-CC95-AB8A-4FD5-D217FD982B3B}"/>
              </a:ext>
            </a:extLst>
          </p:cNvPr>
          <p:cNvCxnSpPr>
            <a:cxnSpLocks/>
            <a:stCxn id="20" idx="3"/>
            <a:endCxn id="13" idx="0"/>
          </p:cNvCxnSpPr>
          <p:nvPr/>
        </p:nvCxnSpPr>
        <p:spPr>
          <a:xfrm>
            <a:off x="1281459" y="1566641"/>
            <a:ext cx="8024360" cy="3663061"/>
          </a:xfrm>
          <a:prstGeom prst="bentConnector2">
            <a:avLst/>
          </a:prstGeom>
          <a:ln w="25400">
            <a:solidFill>
              <a:schemeClr val="accent6">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1065" name="テキスト ボックス 1064">
            <a:extLst>
              <a:ext uri="{FF2B5EF4-FFF2-40B4-BE49-F238E27FC236}">
                <a16:creationId xmlns:a16="http://schemas.microsoft.com/office/drawing/2014/main" id="{A5FC2A9D-2CB6-9DE3-1C98-CA80EB21FB46}"/>
              </a:ext>
            </a:extLst>
          </p:cNvPr>
          <p:cNvSpPr txBox="1"/>
          <p:nvPr/>
        </p:nvSpPr>
        <p:spPr>
          <a:xfrm>
            <a:off x="615706" y="2273257"/>
            <a:ext cx="1057324" cy="57708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社員、組織、役職リスト</a:t>
            </a:r>
            <a:endParaRPr kumimoji="1" lang="en-US" altLang="ja-JP"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添付ファイル</a:t>
            </a:r>
          </a:p>
        </p:txBody>
      </p:sp>
      <p:sp>
        <p:nvSpPr>
          <p:cNvPr id="1067" name="四角形: 角を丸くする 1066">
            <a:extLst>
              <a:ext uri="{FF2B5EF4-FFF2-40B4-BE49-F238E27FC236}">
                <a16:creationId xmlns:a16="http://schemas.microsoft.com/office/drawing/2014/main" id="{58CE53F0-A598-FD50-6B1B-FBFBD732F5E6}"/>
              </a:ext>
            </a:extLst>
          </p:cNvPr>
          <p:cNvSpPr/>
          <p:nvPr/>
        </p:nvSpPr>
        <p:spPr>
          <a:xfrm>
            <a:off x="9744384" y="1080709"/>
            <a:ext cx="2037964" cy="4536121"/>
          </a:xfrm>
          <a:prstGeom prst="roundRect">
            <a:avLst>
              <a:gd name="adj" fmla="val 6115"/>
            </a:avLst>
          </a:prstGeom>
          <a:solidFill>
            <a:schemeClr val="accent6">
              <a:lumMod val="20000"/>
              <a:lumOff val="80000"/>
              <a:alpha val="50000"/>
            </a:schemeClr>
          </a:solidFill>
          <a:ln w="317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Gill Sans MT"/>
              <a:ea typeface="游ゴシック" panose="020B0400000000000000" pitchFamily="50" charset="-128"/>
              <a:cs typeface="+mn-cs"/>
            </a:endParaRPr>
          </a:p>
        </p:txBody>
      </p:sp>
      <p:sp>
        <p:nvSpPr>
          <p:cNvPr id="1069" name="テキスト ボックス 1068">
            <a:extLst>
              <a:ext uri="{FF2B5EF4-FFF2-40B4-BE49-F238E27FC236}">
                <a16:creationId xmlns:a16="http://schemas.microsoft.com/office/drawing/2014/main" id="{B038B31D-5E2E-840D-FB28-25FDCA73783E}"/>
              </a:ext>
            </a:extLst>
          </p:cNvPr>
          <p:cNvSpPr txBox="1"/>
          <p:nvPr/>
        </p:nvSpPr>
        <p:spPr>
          <a:xfrm>
            <a:off x="9800604" y="1160613"/>
            <a:ext cx="1112261"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1"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凡例</a:t>
            </a:r>
          </a:p>
        </p:txBody>
      </p:sp>
      <p:pic>
        <p:nvPicPr>
          <p:cNvPr id="1070"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F94E4EC7-7FDF-573C-712D-79CA66BF0544}"/>
              </a:ext>
            </a:extLst>
          </p:cNvPr>
          <p:cNvPicPr>
            <a:picLocks noChangeAspect="1"/>
          </p:cNvPicPr>
          <p:nvPr/>
        </p:nvPicPr>
        <p:blipFill>
          <a:blip r:embed="rId5"/>
          <a:stretch>
            <a:fillRect/>
          </a:stretch>
        </p:blipFill>
        <p:spPr>
          <a:xfrm>
            <a:off x="9869463" y="1496318"/>
            <a:ext cx="771118" cy="456744"/>
          </a:xfrm>
          <a:prstGeom prst="rect">
            <a:avLst/>
          </a:prstGeom>
        </p:spPr>
      </p:pic>
      <p:sp>
        <p:nvSpPr>
          <p:cNvPr id="1071" name="テキスト ボックス 1070">
            <a:extLst>
              <a:ext uri="{FF2B5EF4-FFF2-40B4-BE49-F238E27FC236}">
                <a16:creationId xmlns:a16="http://schemas.microsoft.com/office/drawing/2014/main" id="{D6CEC24E-5377-F72A-7D73-53D736841579}"/>
              </a:ext>
            </a:extLst>
          </p:cNvPr>
          <p:cNvSpPr txBox="1"/>
          <p:nvPr/>
        </p:nvSpPr>
        <p:spPr>
          <a:xfrm>
            <a:off x="10634114" y="1590262"/>
            <a:ext cx="1148602" cy="25391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Power Apps</a:t>
            </a:r>
            <a:r>
              <a:rPr kumimoji="1" lang="ja-JP" altLang="en-US"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画面</a:t>
            </a:r>
          </a:p>
        </p:txBody>
      </p:sp>
      <p:pic>
        <p:nvPicPr>
          <p:cNvPr id="1072" name="図 1071" descr="グラフィカル ユーザー インターフェイス, アプリケーション&#10;&#10;AI によって生成されたコンテンツは間違っている可能性があります。">
            <a:extLst>
              <a:ext uri="{FF2B5EF4-FFF2-40B4-BE49-F238E27FC236}">
                <a16:creationId xmlns:a16="http://schemas.microsoft.com/office/drawing/2014/main" id="{10480C48-96F3-281E-1065-2E021EB42A9C}"/>
              </a:ext>
            </a:extLst>
          </p:cNvPr>
          <p:cNvPicPr>
            <a:picLocks noChangeAspect="1"/>
          </p:cNvPicPr>
          <p:nvPr/>
        </p:nvPicPr>
        <p:blipFill>
          <a:blip r:embed="rId9"/>
          <a:stretch>
            <a:fillRect/>
          </a:stretch>
        </p:blipFill>
        <p:spPr>
          <a:xfrm>
            <a:off x="10028959" y="2029260"/>
            <a:ext cx="478111" cy="588077"/>
          </a:xfrm>
          <a:prstGeom prst="rect">
            <a:avLst/>
          </a:prstGeom>
        </p:spPr>
      </p:pic>
      <p:sp>
        <p:nvSpPr>
          <p:cNvPr id="1073" name="テキスト ボックス 1072">
            <a:extLst>
              <a:ext uri="{FF2B5EF4-FFF2-40B4-BE49-F238E27FC236}">
                <a16:creationId xmlns:a16="http://schemas.microsoft.com/office/drawing/2014/main" id="{8613977B-C539-CB24-6736-D9FC473F2252}"/>
              </a:ext>
            </a:extLst>
          </p:cNvPr>
          <p:cNvSpPr txBox="1"/>
          <p:nvPr/>
        </p:nvSpPr>
        <p:spPr>
          <a:xfrm>
            <a:off x="10634114" y="2178546"/>
            <a:ext cx="1148602" cy="4154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Power Automate Flow</a:t>
            </a:r>
            <a:endParaRPr kumimoji="1" lang="ja-JP" altLang="en-US"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endParaRPr>
          </a:p>
        </p:txBody>
      </p:sp>
      <p:pic>
        <p:nvPicPr>
          <p:cNvPr id="1076" name="図 1075" descr="アイコン&#10;&#10;AI によって生成されたコンテンツは間違っている可能性があります。">
            <a:extLst>
              <a:ext uri="{FF2B5EF4-FFF2-40B4-BE49-F238E27FC236}">
                <a16:creationId xmlns:a16="http://schemas.microsoft.com/office/drawing/2014/main" id="{7471962F-A904-C92E-6A8B-C91D98F1DCF4}"/>
              </a:ext>
            </a:extLst>
          </p:cNvPr>
          <p:cNvPicPr>
            <a:picLocks noChangeAspect="1"/>
          </p:cNvPicPr>
          <p:nvPr/>
        </p:nvPicPr>
        <p:blipFill>
          <a:blip r:embed="rId3"/>
          <a:stretch>
            <a:fillRect/>
          </a:stretch>
        </p:blipFill>
        <p:spPr>
          <a:xfrm>
            <a:off x="10011828" y="2863627"/>
            <a:ext cx="537172" cy="465585"/>
          </a:xfrm>
          <a:prstGeom prst="rect">
            <a:avLst/>
          </a:prstGeom>
        </p:spPr>
      </p:pic>
      <p:sp>
        <p:nvSpPr>
          <p:cNvPr id="1077" name="テキスト ボックス 1076">
            <a:extLst>
              <a:ext uri="{FF2B5EF4-FFF2-40B4-BE49-F238E27FC236}">
                <a16:creationId xmlns:a16="http://schemas.microsoft.com/office/drawing/2014/main" id="{B03FE45A-9341-678F-3245-935B448E6952}"/>
              </a:ext>
            </a:extLst>
          </p:cNvPr>
          <p:cNvSpPr txBox="1"/>
          <p:nvPr/>
        </p:nvSpPr>
        <p:spPr>
          <a:xfrm>
            <a:off x="10634114" y="2971408"/>
            <a:ext cx="1148602" cy="25391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Power BI</a:t>
            </a:r>
            <a:endParaRPr kumimoji="1" lang="ja-JP" altLang="en-US"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endParaRPr>
          </a:p>
        </p:txBody>
      </p:sp>
      <p:pic>
        <p:nvPicPr>
          <p:cNvPr id="1094" name="図 1093" descr="ロゴ, アイコン&#10;&#10;AI によって生成されたコンテンツは間違っている可能性があります。">
            <a:extLst>
              <a:ext uri="{FF2B5EF4-FFF2-40B4-BE49-F238E27FC236}">
                <a16:creationId xmlns:a16="http://schemas.microsoft.com/office/drawing/2014/main" id="{AC8572E4-15B9-1936-27BC-823C16EEAED0}"/>
              </a:ext>
            </a:extLst>
          </p:cNvPr>
          <p:cNvPicPr>
            <a:picLocks noChangeAspect="1"/>
          </p:cNvPicPr>
          <p:nvPr/>
        </p:nvPicPr>
        <p:blipFill>
          <a:blip r:embed="rId8"/>
          <a:stretch>
            <a:fillRect/>
          </a:stretch>
        </p:blipFill>
        <p:spPr>
          <a:xfrm>
            <a:off x="9987393" y="3433763"/>
            <a:ext cx="566246" cy="553505"/>
          </a:xfrm>
          <a:prstGeom prst="rect">
            <a:avLst/>
          </a:prstGeom>
        </p:spPr>
      </p:pic>
      <p:sp>
        <p:nvSpPr>
          <p:cNvPr id="1095" name="テキスト ボックス 1094">
            <a:extLst>
              <a:ext uri="{FF2B5EF4-FFF2-40B4-BE49-F238E27FC236}">
                <a16:creationId xmlns:a16="http://schemas.microsoft.com/office/drawing/2014/main" id="{DAA10548-0438-0037-A4B7-2048F30CF937}"/>
              </a:ext>
            </a:extLst>
          </p:cNvPr>
          <p:cNvSpPr txBox="1"/>
          <p:nvPr/>
        </p:nvSpPr>
        <p:spPr>
          <a:xfrm>
            <a:off x="10634114" y="3580894"/>
            <a:ext cx="1148602" cy="25391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Share Point</a:t>
            </a:r>
            <a:endParaRPr kumimoji="1" lang="ja-JP" altLang="en-US"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endParaRPr>
          </a:p>
        </p:txBody>
      </p:sp>
      <p:pic>
        <p:nvPicPr>
          <p:cNvPr id="1096" name="図 1095" descr="アイコン&#10;&#10;AI によって生成されたコンテンツは間違っている可能性があります。">
            <a:extLst>
              <a:ext uri="{FF2B5EF4-FFF2-40B4-BE49-F238E27FC236}">
                <a16:creationId xmlns:a16="http://schemas.microsoft.com/office/drawing/2014/main" id="{B8F45309-E46A-D111-A597-6F53F4CDC322}"/>
              </a:ext>
            </a:extLst>
          </p:cNvPr>
          <p:cNvPicPr>
            <a:picLocks noChangeAspect="1"/>
          </p:cNvPicPr>
          <p:nvPr/>
        </p:nvPicPr>
        <p:blipFill>
          <a:blip r:embed="rId4"/>
          <a:stretch>
            <a:fillRect/>
          </a:stretch>
        </p:blipFill>
        <p:spPr>
          <a:xfrm>
            <a:off x="10009073" y="4116168"/>
            <a:ext cx="658774" cy="395265"/>
          </a:xfrm>
          <a:prstGeom prst="rect">
            <a:avLst/>
          </a:prstGeom>
        </p:spPr>
      </p:pic>
      <p:sp>
        <p:nvSpPr>
          <p:cNvPr id="1097" name="テキスト ボックス 1096">
            <a:extLst>
              <a:ext uri="{FF2B5EF4-FFF2-40B4-BE49-F238E27FC236}">
                <a16:creationId xmlns:a16="http://schemas.microsoft.com/office/drawing/2014/main" id="{12DE7656-5A43-8900-FA8D-DE77EF6EDE03}"/>
              </a:ext>
            </a:extLst>
          </p:cNvPr>
          <p:cNvSpPr txBox="1"/>
          <p:nvPr/>
        </p:nvSpPr>
        <p:spPr>
          <a:xfrm>
            <a:off x="10634114" y="4151150"/>
            <a:ext cx="1148602" cy="25391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Azure </a:t>
            </a:r>
            <a:r>
              <a:rPr kumimoji="1" lang="en-US" altLang="ja-JP" sz="1050" b="0" i="0" u="none" strike="noStrike" kern="1200" cap="none" spc="0" normalizeH="0" baseline="0" noProof="0" dirty="0" err="1">
                <a:ln>
                  <a:noFill/>
                </a:ln>
                <a:solidFill>
                  <a:prstClr val="black"/>
                </a:solidFill>
                <a:effectLst/>
                <a:uLnTx/>
                <a:uFillTx/>
                <a:latin typeface="Gill Sans MT"/>
                <a:ea typeface="游ゴシック" panose="020B0400000000000000" pitchFamily="50" charset="-128"/>
                <a:cs typeface="+mn-cs"/>
              </a:rPr>
              <a:t>Sql</a:t>
            </a:r>
            <a:r>
              <a:rPr kumimoji="1" lang="ja-JP" altLang="en-US"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 </a:t>
            </a:r>
            <a:r>
              <a:rPr kumimoji="1" lang="en-US" altLang="ja-JP"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Service</a:t>
            </a:r>
            <a:endParaRPr kumimoji="1" lang="ja-JP" altLang="en-US"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endParaRPr>
          </a:p>
        </p:txBody>
      </p:sp>
      <p:pic>
        <p:nvPicPr>
          <p:cNvPr id="1098" name="Picture 2" descr="Sql Server Icons For Windows PNG Transparent Background, Free Download  #11351 - FreeIconsPNG">
            <a:extLst>
              <a:ext uri="{FF2B5EF4-FFF2-40B4-BE49-F238E27FC236}">
                <a16:creationId xmlns:a16="http://schemas.microsoft.com/office/drawing/2014/main" id="{A7828EF4-F790-FC75-1FE1-5E60E17EDBBC}"/>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063320" y="4661038"/>
            <a:ext cx="414392" cy="414392"/>
          </a:xfrm>
          <a:prstGeom prst="rect">
            <a:avLst/>
          </a:prstGeom>
          <a:noFill/>
          <a:extLst>
            <a:ext uri="{909E8E84-426E-40DD-AFC4-6F175D3DCCD1}">
              <a14:hiddenFill xmlns:a14="http://schemas.microsoft.com/office/drawing/2010/main">
                <a:solidFill>
                  <a:srgbClr val="FFFFFF"/>
                </a:solidFill>
              </a14:hiddenFill>
            </a:ext>
          </a:extLst>
        </p:spPr>
      </p:pic>
      <p:sp>
        <p:nvSpPr>
          <p:cNvPr id="1099" name="テキスト ボックス 1098">
            <a:extLst>
              <a:ext uri="{FF2B5EF4-FFF2-40B4-BE49-F238E27FC236}">
                <a16:creationId xmlns:a16="http://schemas.microsoft.com/office/drawing/2014/main" id="{5DCCCBBD-9DFC-31D3-4C5C-A2065685A6AF}"/>
              </a:ext>
            </a:extLst>
          </p:cNvPr>
          <p:cNvSpPr txBox="1"/>
          <p:nvPr/>
        </p:nvSpPr>
        <p:spPr>
          <a:xfrm>
            <a:off x="10646735" y="4730277"/>
            <a:ext cx="1148602" cy="4154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dirty="0" err="1">
                <a:ln>
                  <a:noFill/>
                </a:ln>
                <a:solidFill>
                  <a:prstClr val="black"/>
                </a:solidFill>
                <a:effectLst/>
                <a:uLnTx/>
                <a:uFillTx/>
                <a:latin typeface="Gill Sans MT"/>
                <a:ea typeface="游ゴシック" panose="020B0400000000000000" pitchFamily="50" charset="-128"/>
                <a:cs typeface="+mn-cs"/>
              </a:rPr>
              <a:t>Dvlp</a:t>
            </a:r>
            <a:r>
              <a:rPr kumimoji="1" lang="en-US" altLang="ja-JP"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/Operator Tools</a:t>
            </a:r>
            <a:endParaRPr kumimoji="1" lang="ja-JP" altLang="en-US"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endParaRPr>
          </a:p>
        </p:txBody>
      </p:sp>
      <p:pic>
        <p:nvPicPr>
          <p:cNvPr id="1100" name="図 1099" descr="グラフィカル ユーザー インターフェイス, アプリケーション, テーブル, Excel">
            <a:extLst>
              <a:ext uri="{FF2B5EF4-FFF2-40B4-BE49-F238E27FC236}">
                <a16:creationId xmlns:a16="http://schemas.microsoft.com/office/drawing/2014/main" id="{C027B644-BBC4-FE32-AC50-67DEF55BB5D9}"/>
              </a:ext>
            </a:extLst>
          </p:cNvPr>
          <p:cNvPicPr>
            <a:picLocks noChangeAspect="1"/>
          </p:cNvPicPr>
          <p:nvPr/>
        </p:nvPicPr>
        <p:blipFill>
          <a:blip r:embed="rId6"/>
          <a:stretch>
            <a:fillRect/>
          </a:stretch>
        </p:blipFill>
        <p:spPr>
          <a:xfrm>
            <a:off x="10005420" y="5207850"/>
            <a:ext cx="566540" cy="279743"/>
          </a:xfrm>
          <a:prstGeom prst="rect">
            <a:avLst/>
          </a:prstGeom>
        </p:spPr>
      </p:pic>
      <p:sp>
        <p:nvSpPr>
          <p:cNvPr id="1101" name="テキスト ボックス 1100">
            <a:extLst>
              <a:ext uri="{FF2B5EF4-FFF2-40B4-BE49-F238E27FC236}">
                <a16:creationId xmlns:a16="http://schemas.microsoft.com/office/drawing/2014/main" id="{E526694E-A66C-9472-FC18-6BC717DD26FE}"/>
              </a:ext>
            </a:extLst>
          </p:cNvPr>
          <p:cNvSpPr txBox="1"/>
          <p:nvPr/>
        </p:nvSpPr>
        <p:spPr>
          <a:xfrm>
            <a:off x="10633746" y="5187682"/>
            <a:ext cx="1148602" cy="25391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Office 365</a:t>
            </a:r>
            <a:endParaRPr kumimoji="1" lang="ja-JP" altLang="en-US"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endParaRPr>
          </a:p>
        </p:txBody>
      </p:sp>
    </p:spTree>
    <p:extLst>
      <p:ext uri="{BB962C8B-B14F-4D97-AF65-F5344CB8AC3E}">
        <p14:creationId xmlns:p14="http://schemas.microsoft.com/office/powerpoint/2010/main" val="27947013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9A3D7-9C93-2297-B2DA-CD47C5C1982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E419D49-E959-CE30-0A7E-0FE519AD5B89}"/>
              </a:ext>
            </a:extLst>
          </p:cNvPr>
          <p:cNvSpPr>
            <a:spLocks noGrp="1"/>
          </p:cNvSpPr>
          <p:nvPr>
            <p:ph type="title"/>
          </p:nvPr>
        </p:nvSpPr>
        <p:spPr/>
        <p:txBody>
          <a:bodyPr>
            <a:noAutofit/>
          </a:bodyPr>
          <a:lstStyle/>
          <a:p>
            <a:r>
              <a:rPr lang="ja-JP" altLang="en-US" dirty="0"/>
              <a:t>システム概要</a:t>
            </a:r>
            <a:endParaRPr lang="ja-JP" altLang="en-US" dirty="0">
              <a:effectLst/>
            </a:endParaRPr>
          </a:p>
        </p:txBody>
      </p:sp>
      <p:sp>
        <p:nvSpPr>
          <p:cNvPr id="15" name="テキスト ボックス 14">
            <a:extLst>
              <a:ext uri="{FF2B5EF4-FFF2-40B4-BE49-F238E27FC236}">
                <a16:creationId xmlns:a16="http://schemas.microsoft.com/office/drawing/2014/main" id="{8302E118-6275-2499-605F-690F8C7DD255}"/>
              </a:ext>
            </a:extLst>
          </p:cNvPr>
          <p:cNvSpPr txBox="1"/>
          <p:nvPr/>
        </p:nvSpPr>
        <p:spPr>
          <a:xfrm>
            <a:off x="414337" y="782995"/>
            <a:ext cx="11386504" cy="5368423"/>
          </a:xfrm>
          <a:prstGeom prst="roundRect">
            <a:avLst>
              <a:gd name="adj" fmla="val 3136"/>
            </a:avLst>
          </a:prstGeom>
          <a:solidFill>
            <a:schemeClr val="accent6">
              <a:lumMod val="20000"/>
              <a:lumOff val="80000"/>
            </a:schemeClr>
          </a:solidFill>
          <a:ln w="9525" cap="flat" cmpd="sng" algn="ctr">
            <a:noFill/>
            <a:prstDash val="solid"/>
            <a:round/>
            <a:headEnd type="oval" w="med" len="med"/>
            <a:tailEnd type="oval" w="med" len="med"/>
          </a:ln>
        </p:spPr>
        <p:txBody>
          <a:bodyPr wrap="square" lIns="36000" tIns="36000" rIns="36000" bIns="3600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システム構成</a:t>
            </a:r>
            <a:r>
              <a:rPr kumimoji="1" lang="en-US" altLang="ja-JP" sz="14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 </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4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PowerApps</a:t>
            </a:r>
            <a:r>
              <a:rPr kumimoji="1" lang="ja-JP" altLang="en-US" sz="14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a:t>
            </a:r>
            <a:r>
              <a:rPr kumimoji="1" lang="en-US" altLang="ja-JP" sz="14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Office365</a:t>
            </a:r>
            <a:r>
              <a:rPr kumimoji="1" lang="ja-JP" altLang="en-US" sz="14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と</a:t>
            </a:r>
            <a:r>
              <a:rPr kumimoji="1" lang="en-US" altLang="ja-JP" sz="14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Azure SQL </a:t>
            </a:r>
            <a:r>
              <a:rPr kumimoji="1" lang="ja-JP" altLang="en-US" sz="14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を利用してシステム構築し、パフォーマンスを配慮した上に、添付ファイル管理、オンライン編集、一括ダウンロード、検索機能を実現。</a:t>
            </a:r>
            <a:endParaRPr kumimoji="1" lang="en-US" altLang="ja-JP" sz="14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フロントエンド</a:t>
            </a:r>
            <a:r>
              <a:rPr kumimoji="1" lang="en-US" altLang="ja-JP" sz="14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 </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PowerApps Canvas App</a:t>
            </a: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で構築。</a:t>
            </a:r>
            <a:endPar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endParaRP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ユーザーインターフェースとして、文書の作成</a:t>
            </a:r>
            <a:r>
              <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a:t>
            </a: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閲覧</a:t>
            </a:r>
            <a:r>
              <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a:t>
            </a: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編集画面を提供。</a:t>
            </a:r>
            <a:endPar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データベース</a:t>
            </a:r>
            <a:r>
              <a:rPr kumimoji="1" lang="en-US" altLang="ja-JP" sz="14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 </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Azure SQL </a:t>
            </a: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をメインのデータストレージとして使用し、文書のメタデータ（文書</a:t>
            </a:r>
            <a:r>
              <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ID</a:t>
            </a: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、日付、ステータスなど）を格納し、</a:t>
            </a:r>
            <a:r>
              <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Dataverse</a:t>
            </a: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と連携し、</a:t>
            </a:r>
            <a:r>
              <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PowerApps</a:t>
            </a: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からのアクセス可能に。</a:t>
            </a:r>
            <a:endPar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endParaRP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ファイルストレージとしては、</a:t>
            </a:r>
            <a:r>
              <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SharePoint</a:t>
            </a: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を使用し、</a:t>
            </a:r>
            <a:r>
              <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a:t>
            </a: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添付ファイル（</a:t>
            </a:r>
            <a:r>
              <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Office</a:t>
            </a: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ファイル、</a:t>
            </a:r>
            <a:r>
              <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PDF</a:t>
            </a: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）を保存。</a:t>
            </a:r>
            <a:endPar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ワークフロー</a:t>
            </a:r>
            <a:r>
              <a:rPr kumimoji="1" lang="en-US" altLang="ja-JP" sz="14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 </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Power Automate</a:t>
            </a: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で実現（例</a:t>
            </a:r>
            <a:r>
              <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 </a:t>
            </a: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ファイル編集後の同期、文書の承認プロセス）。</a:t>
            </a:r>
            <a:endPar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セキュリティ</a:t>
            </a:r>
            <a:r>
              <a:rPr kumimoji="1" lang="en-US" altLang="ja-JP" sz="14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 </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Microsoft Entra ID</a:t>
            </a: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（旧</a:t>
            </a:r>
            <a:r>
              <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Azure AD</a:t>
            </a: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）で認証。ロールベースアクセス制御（</a:t>
            </a:r>
            <a:r>
              <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RBAC</a:t>
            </a: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）を適用。</a:t>
            </a:r>
            <a:endPar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機能要件</a:t>
            </a:r>
            <a:r>
              <a:rPr kumimoji="1" lang="en-US" altLang="ja-JP" sz="14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オンライン編集</a:t>
            </a:r>
            <a:endPar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承認プロセス（</a:t>
            </a:r>
            <a:r>
              <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Workflow</a:t>
            </a: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）制御</a:t>
            </a:r>
            <a:endPar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複数ファイルをユーザローカルへ指定場所にダウンロード</a:t>
            </a:r>
            <a:endPar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添付ファイルの内容に指定キーワードで検索</a:t>
            </a:r>
            <a:endPar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その他システム要件：</a:t>
            </a:r>
            <a:endParaRPr kumimoji="1" lang="en-US" altLang="ja-JP" sz="14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利用ユーザー数（</a:t>
            </a:r>
            <a:r>
              <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Azure AD</a:t>
            </a: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あり）・・・最小利用人数　約５０００ユーザーのケースと、最大利用人数　約１００００ユーザーのケース二つパターン　</a:t>
            </a:r>
            <a:endPar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同時接続数・・・約５００人</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オンラインリクエスト件数・・・約</a:t>
            </a:r>
            <a:r>
              <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2,000</a:t>
            </a: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件</a:t>
            </a:r>
            <a:r>
              <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a:t>
            </a: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日</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バッチ処理件数・・・約</a:t>
            </a:r>
            <a:r>
              <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60</a:t>
            </a: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件</a:t>
            </a:r>
            <a:r>
              <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a:t>
            </a: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日</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データ容量・・・約</a:t>
            </a:r>
            <a:r>
              <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650 GB</a:t>
            </a: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　</a:t>
            </a:r>
            <a:r>
              <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a:t>
            </a: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現行</a:t>
            </a:r>
            <a:r>
              <a:rPr kumimoji="1" lang="en-US" altLang="ja-JP" sz="1200" b="0" i="0" u="none" strike="noStrike" kern="1200" cap="none" spc="0" normalizeH="0" baseline="0" noProof="0" dirty="0" err="1">
                <a:ln>
                  <a:noFill/>
                </a:ln>
                <a:solidFill>
                  <a:prstClr val="black"/>
                </a:solidFill>
                <a:effectLst/>
                <a:uLnTx/>
                <a:uFillTx/>
                <a:latin typeface="Yu Gothic UI" panose="020B0500000000000000" pitchFamily="50" charset="-128"/>
                <a:ea typeface="Yu Gothic UI" panose="020B0500000000000000" pitchFamily="50" charset="-128"/>
                <a:cs typeface="+mn-cs"/>
              </a:rPr>
              <a:t>NotesDB</a:t>
            </a: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ベースの２倍を想定。添付ファイル含む</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検索性・・・レコードデータだけでなく、添付ファイルの中身のフリーワード検索が可能</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応答時間・・・インデックスありで５秒以内、インデックスなしで</a:t>
            </a:r>
            <a:r>
              <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10</a:t>
            </a: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秒～</a:t>
            </a:r>
            <a:r>
              <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60</a:t>
            </a: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秒</a:t>
            </a:r>
            <a:endPar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添付ファイルの直接編集機能・・・現時点では、</a:t>
            </a:r>
            <a:r>
              <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GCJ</a:t>
            </a: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社からの提案のパターンと、ユーザー側で添付ファイルをダウンロード＆アップロードで実現するパターンとの</a:t>
            </a:r>
            <a:r>
              <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2</a:t>
            </a: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パターンを想定</a:t>
            </a:r>
            <a:endPar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endParaRPr>
          </a:p>
        </p:txBody>
      </p:sp>
    </p:spTree>
    <p:extLst>
      <p:ext uri="{BB962C8B-B14F-4D97-AF65-F5344CB8AC3E}">
        <p14:creationId xmlns:p14="http://schemas.microsoft.com/office/powerpoint/2010/main" val="9604425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C5D6A-4635-BD4B-D111-5C3F54F604D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2F82C4A-08A3-DCF6-9DD0-6D95B77955AE}"/>
              </a:ext>
            </a:extLst>
          </p:cNvPr>
          <p:cNvSpPr>
            <a:spLocks noGrp="1"/>
          </p:cNvSpPr>
          <p:nvPr>
            <p:ph type="title"/>
          </p:nvPr>
        </p:nvSpPr>
        <p:spPr>
          <a:xfrm>
            <a:off x="414336" y="255263"/>
            <a:ext cx="9327072" cy="683629"/>
          </a:xfrm>
        </p:spPr>
        <p:txBody>
          <a:bodyPr>
            <a:normAutofit/>
          </a:bodyPr>
          <a:lstStyle/>
          <a:p>
            <a:r>
              <a:rPr lang="ja-JP" altLang="en-US" dirty="0"/>
              <a:t>スケジュール</a:t>
            </a:r>
            <a:endParaRPr lang="zh-CN" altLang="en-US" dirty="0">
              <a:effectLst/>
            </a:endParaRPr>
          </a:p>
        </p:txBody>
      </p:sp>
      <p:sp>
        <p:nvSpPr>
          <p:cNvPr id="10" name="四角形: 角を丸くする 9">
            <a:extLst>
              <a:ext uri="{FF2B5EF4-FFF2-40B4-BE49-F238E27FC236}">
                <a16:creationId xmlns:a16="http://schemas.microsoft.com/office/drawing/2014/main" id="{2B577A86-469E-88E9-0325-382A7C708B02}"/>
              </a:ext>
            </a:extLst>
          </p:cNvPr>
          <p:cNvSpPr/>
          <p:nvPr/>
        </p:nvSpPr>
        <p:spPr bwMode="gray">
          <a:xfrm>
            <a:off x="1058675" y="1831368"/>
            <a:ext cx="10398783" cy="4012364"/>
          </a:xfrm>
          <a:prstGeom prst="roundRect">
            <a:avLst>
              <a:gd name="adj" fmla="val 3324"/>
            </a:avLst>
          </a:prstGeom>
          <a:gradFill>
            <a:gsLst>
              <a:gs pos="0">
                <a:srgbClr val="FFC000"/>
              </a:gs>
              <a:gs pos="50000">
                <a:srgbClr val="FDF0CC"/>
              </a:gs>
              <a:gs pos="100000">
                <a:schemeClr val="accent6">
                  <a:lumMod val="105000"/>
                  <a:satMod val="109000"/>
                  <a:tint val="81000"/>
                </a:schemeClr>
              </a:gs>
            </a:gsLst>
          </a:gradFill>
          <a:ln>
            <a:solidFill>
              <a:srgbClr val="0070C0"/>
            </a:solidFill>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auto" latinLnBrk="0" hangingPunct="1">
              <a:lnSpc>
                <a:spcPct val="100000"/>
              </a:lnSpc>
              <a:spcBef>
                <a:spcPct val="0"/>
              </a:spcBef>
              <a:spcAft>
                <a:spcPct val="0"/>
              </a:spcAft>
              <a:buClrTx/>
              <a:buSzTx/>
              <a:buFontTx/>
              <a:buNone/>
              <a:tabLst/>
              <a:defRPr/>
            </a:pPr>
            <a:r>
              <a:rPr kumimoji="1" lang="ja-JP" altLang="en-US" sz="1200" b="0" i="0" u="none" strike="noStrike" kern="0" cap="none" spc="0" normalizeH="0" baseline="0" noProof="0">
                <a:ln>
                  <a:noFill/>
                </a:ln>
                <a:solidFill>
                  <a:prstClr val="black"/>
                </a:solidFill>
                <a:effectLst/>
                <a:uLnTx/>
                <a:uFillTx/>
                <a:latin typeface="Arial"/>
                <a:ea typeface="Yu Gothic UI"/>
                <a:cs typeface="Arial"/>
              </a:rPr>
              <a:t>UI見直す、DB統合再構築</a:t>
            </a:r>
          </a:p>
        </p:txBody>
      </p:sp>
      <p:sp>
        <p:nvSpPr>
          <p:cNvPr id="11" name="四角形: 角を丸くする 10">
            <a:extLst>
              <a:ext uri="{FF2B5EF4-FFF2-40B4-BE49-F238E27FC236}">
                <a16:creationId xmlns:a16="http://schemas.microsoft.com/office/drawing/2014/main" id="{230C96D7-3FA5-68B5-2C8E-7BA1BB1587F6}"/>
              </a:ext>
            </a:extLst>
          </p:cNvPr>
          <p:cNvSpPr/>
          <p:nvPr/>
        </p:nvSpPr>
        <p:spPr bwMode="gray">
          <a:xfrm>
            <a:off x="1238487" y="1953321"/>
            <a:ext cx="2754964" cy="262504"/>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algn="ctr" fontAlgn="b"/>
            <a:r>
              <a:rPr kumimoji="0" lang="ja-JP" altLang="en-US" sz="1200" kern="0" dirty="0">
                <a:solidFill>
                  <a:srgbClr val="000000"/>
                </a:solidFill>
                <a:latin typeface="Arial"/>
                <a:ea typeface="Yu Gothic UI"/>
                <a:cs typeface="Arial" panose="020B0604020202020204" pitchFamily="34" charset="0"/>
              </a:rPr>
              <a:t>要件定義理解、仕様確認</a:t>
            </a:r>
          </a:p>
        </p:txBody>
      </p:sp>
      <p:sp>
        <p:nvSpPr>
          <p:cNvPr id="12" name="四角形: 角を丸くする 11">
            <a:extLst>
              <a:ext uri="{FF2B5EF4-FFF2-40B4-BE49-F238E27FC236}">
                <a16:creationId xmlns:a16="http://schemas.microsoft.com/office/drawing/2014/main" id="{22EAB42A-F16D-1B9B-1F91-97A03BA3B4E7}"/>
              </a:ext>
            </a:extLst>
          </p:cNvPr>
          <p:cNvSpPr/>
          <p:nvPr/>
        </p:nvSpPr>
        <p:spPr bwMode="gray">
          <a:xfrm>
            <a:off x="1936526" y="3453513"/>
            <a:ext cx="2056925"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dirty="0">
                <a:ln>
                  <a:noFill/>
                </a:ln>
                <a:solidFill>
                  <a:srgbClr val="000000"/>
                </a:solidFill>
                <a:effectLst/>
                <a:uLnTx/>
                <a:uFillTx/>
                <a:latin typeface="Arial"/>
                <a:ea typeface="Yu Gothic UI"/>
                <a:cs typeface="Arial" panose="020B0604020202020204" pitchFamily="34" charset="0"/>
              </a:rPr>
              <a:t>システム設計（画面）</a:t>
            </a:r>
          </a:p>
        </p:txBody>
      </p:sp>
      <p:sp>
        <p:nvSpPr>
          <p:cNvPr id="13" name="四角形: 角を丸くする 12">
            <a:extLst>
              <a:ext uri="{FF2B5EF4-FFF2-40B4-BE49-F238E27FC236}">
                <a16:creationId xmlns:a16="http://schemas.microsoft.com/office/drawing/2014/main" id="{B17A8A22-C360-B052-CEF6-E61B90C0B75C}"/>
              </a:ext>
            </a:extLst>
          </p:cNvPr>
          <p:cNvSpPr/>
          <p:nvPr/>
        </p:nvSpPr>
        <p:spPr bwMode="gray">
          <a:xfrm>
            <a:off x="4036547" y="3132693"/>
            <a:ext cx="3049502" cy="630763"/>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開発単体、結合試験</a:t>
            </a:r>
            <a:endPar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(Round 1)</a:t>
            </a: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 すべてパターンをカバー</a:t>
            </a: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(10</a:t>
            </a: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部署程度</a:t>
            </a: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a:t>
            </a:r>
            <a:endPar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endParaRPr>
          </a:p>
        </p:txBody>
      </p:sp>
      <p:sp>
        <p:nvSpPr>
          <p:cNvPr id="14" name="四角形: 角を丸くする 13">
            <a:extLst>
              <a:ext uri="{FF2B5EF4-FFF2-40B4-BE49-F238E27FC236}">
                <a16:creationId xmlns:a16="http://schemas.microsoft.com/office/drawing/2014/main" id="{A6448D76-67DC-5F37-1066-E9D40CD02BB2}"/>
              </a:ext>
            </a:extLst>
          </p:cNvPr>
          <p:cNvSpPr/>
          <p:nvPr/>
        </p:nvSpPr>
        <p:spPr bwMode="gray">
          <a:xfrm>
            <a:off x="4067773" y="3867352"/>
            <a:ext cx="2845949"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移行ツールの計画と実装</a:t>
            </a:r>
          </a:p>
        </p:txBody>
      </p:sp>
      <p:sp>
        <p:nvSpPr>
          <p:cNvPr id="21" name="四角形: 角を丸くする 20">
            <a:extLst>
              <a:ext uri="{FF2B5EF4-FFF2-40B4-BE49-F238E27FC236}">
                <a16:creationId xmlns:a16="http://schemas.microsoft.com/office/drawing/2014/main" id="{36654B2B-F681-E74F-C183-4C26345C4CB1}"/>
              </a:ext>
            </a:extLst>
          </p:cNvPr>
          <p:cNvSpPr/>
          <p:nvPr/>
        </p:nvSpPr>
        <p:spPr bwMode="gray">
          <a:xfrm>
            <a:off x="7131729" y="3130324"/>
            <a:ext cx="1577386" cy="62492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Round 1</a:t>
            </a:r>
          </a:p>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MCC</a:t>
            </a: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様受け入れ、</a:t>
            </a: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UAT</a:t>
            </a:r>
            <a:endPar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endParaRPr>
          </a:p>
        </p:txBody>
      </p:sp>
      <p:sp>
        <p:nvSpPr>
          <p:cNvPr id="22" name="四角形: 角を丸くする 21">
            <a:extLst>
              <a:ext uri="{FF2B5EF4-FFF2-40B4-BE49-F238E27FC236}">
                <a16:creationId xmlns:a16="http://schemas.microsoft.com/office/drawing/2014/main" id="{E69E2BEE-B802-A9F1-DF8A-F748A77B8265}"/>
              </a:ext>
            </a:extLst>
          </p:cNvPr>
          <p:cNvSpPr/>
          <p:nvPr/>
        </p:nvSpPr>
        <p:spPr bwMode="gray">
          <a:xfrm>
            <a:off x="6432858" y="4199344"/>
            <a:ext cx="1120894"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rPr>
              <a:t>マニュアル作成</a:t>
            </a:r>
          </a:p>
        </p:txBody>
      </p:sp>
      <p:cxnSp>
        <p:nvCxnSpPr>
          <p:cNvPr id="23" name="直線コネクタ 22">
            <a:extLst>
              <a:ext uri="{FF2B5EF4-FFF2-40B4-BE49-F238E27FC236}">
                <a16:creationId xmlns:a16="http://schemas.microsoft.com/office/drawing/2014/main" id="{D46046EE-7C09-902A-CCB4-F0FD1E31C59F}"/>
              </a:ext>
            </a:extLst>
          </p:cNvPr>
          <p:cNvCxnSpPr>
            <a:cxnSpLocks/>
          </p:cNvCxnSpPr>
          <p:nvPr/>
        </p:nvCxnSpPr>
        <p:spPr>
          <a:xfrm>
            <a:off x="966642" y="6042285"/>
            <a:ext cx="10800000" cy="0"/>
          </a:xfrm>
          <a:prstGeom prst="line">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4" name="直線コネクタ 23">
            <a:extLst>
              <a:ext uri="{FF2B5EF4-FFF2-40B4-BE49-F238E27FC236}">
                <a16:creationId xmlns:a16="http://schemas.microsoft.com/office/drawing/2014/main" id="{A3403EE9-A065-3193-30E6-C37FDFA53FC6}"/>
              </a:ext>
            </a:extLst>
          </p:cNvPr>
          <p:cNvCxnSpPr>
            <a:cxnSpLocks/>
          </p:cNvCxnSpPr>
          <p:nvPr/>
        </p:nvCxnSpPr>
        <p:spPr>
          <a:xfrm>
            <a:off x="1251467"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5" name="直線コネクタ 24">
            <a:extLst>
              <a:ext uri="{FF2B5EF4-FFF2-40B4-BE49-F238E27FC236}">
                <a16:creationId xmlns:a16="http://schemas.microsoft.com/office/drawing/2014/main" id="{E2C2B145-6548-8D39-E2C6-BE856588924B}"/>
              </a:ext>
            </a:extLst>
          </p:cNvPr>
          <p:cNvCxnSpPr>
            <a:cxnSpLocks/>
          </p:cNvCxnSpPr>
          <p:nvPr/>
        </p:nvCxnSpPr>
        <p:spPr>
          <a:xfrm>
            <a:off x="11315008"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6" name="直線コネクタ 25">
            <a:extLst>
              <a:ext uri="{FF2B5EF4-FFF2-40B4-BE49-F238E27FC236}">
                <a16:creationId xmlns:a16="http://schemas.microsoft.com/office/drawing/2014/main" id="{ED99F65B-AA28-033D-386E-6CA19DD7C41D}"/>
              </a:ext>
            </a:extLst>
          </p:cNvPr>
          <p:cNvCxnSpPr>
            <a:cxnSpLocks/>
          </p:cNvCxnSpPr>
          <p:nvPr/>
        </p:nvCxnSpPr>
        <p:spPr>
          <a:xfrm>
            <a:off x="3981300"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3C7DBF06-E04F-3373-48E2-C440C5C512AB}"/>
              </a:ext>
            </a:extLst>
          </p:cNvPr>
          <p:cNvCxnSpPr>
            <a:cxnSpLocks/>
          </p:cNvCxnSpPr>
          <p:nvPr/>
        </p:nvCxnSpPr>
        <p:spPr>
          <a:xfrm>
            <a:off x="7132064"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DD42FEB4-6B06-79CF-5522-D0F0FAC85FC6}"/>
              </a:ext>
            </a:extLst>
          </p:cNvPr>
          <p:cNvCxnSpPr>
            <a:cxnSpLocks/>
          </p:cNvCxnSpPr>
          <p:nvPr/>
        </p:nvCxnSpPr>
        <p:spPr>
          <a:xfrm>
            <a:off x="9481288"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34AE9C86-5DAF-E772-D6FC-C836F78D3B2B}"/>
              </a:ext>
            </a:extLst>
          </p:cNvPr>
          <p:cNvSpPr txBox="1"/>
          <p:nvPr/>
        </p:nvSpPr>
        <p:spPr>
          <a:xfrm>
            <a:off x="1295149" y="5865763"/>
            <a:ext cx="565367" cy="113773"/>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Arial"/>
                <a:ea typeface="游ゴシック Medium"/>
                <a:cs typeface="+mn-cs"/>
              </a:rPr>
              <a:t>11/1</a:t>
            </a:r>
            <a:endParaRPr kumimoji="1" lang="ja-JP" altLang="en-US" sz="1000" b="0" i="0" u="none" strike="noStrike" kern="1200" cap="none" spc="0" normalizeH="0" baseline="0" noProof="0" err="1">
              <a:ln>
                <a:noFill/>
              </a:ln>
              <a:solidFill>
                <a:srgbClr val="000000"/>
              </a:solidFill>
              <a:effectLst/>
              <a:uLnTx/>
              <a:uFillTx/>
              <a:latin typeface="Arial"/>
              <a:ea typeface="游ゴシック Medium"/>
              <a:cs typeface="+mn-cs"/>
            </a:endParaRPr>
          </a:p>
        </p:txBody>
      </p:sp>
      <p:sp>
        <p:nvSpPr>
          <p:cNvPr id="32" name="テキスト ボックス 31">
            <a:extLst>
              <a:ext uri="{FF2B5EF4-FFF2-40B4-BE49-F238E27FC236}">
                <a16:creationId xmlns:a16="http://schemas.microsoft.com/office/drawing/2014/main" id="{1E2AE3E3-4F21-9CBF-D6A8-9B215A112681}"/>
              </a:ext>
            </a:extLst>
          </p:cNvPr>
          <p:cNvSpPr txBox="1"/>
          <p:nvPr/>
        </p:nvSpPr>
        <p:spPr>
          <a:xfrm>
            <a:off x="4065715" y="5857519"/>
            <a:ext cx="669077" cy="130260"/>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000000"/>
                </a:solidFill>
                <a:effectLst/>
                <a:uLnTx/>
                <a:uFillTx/>
                <a:latin typeface="Arial"/>
                <a:ea typeface="游ゴシック Medium"/>
                <a:cs typeface="+mn-cs"/>
              </a:rPr>
              <a:t>1/6</a:t>
            </a:r>
            <a:endParaRPr kumimoji="1" lang="ja-JP" altLang="en-US" sz="1000" b="0" i="0" u="none" strike="noStrike" kern="1200" cap="none" spc="0" normalizeH="0" baseline="0" noProof="0" dirty="0">
              <a:ln>
                <a:noFill/>
              </a:ln>
              <a:solidFill>
                <a:srgbClr val="000000"/>
              </a:solidFill>
              <a:effectLst/>
              <a:uLnTx/>
              <a:uFillTx/>
              <a:latin typeface="Arial"/>
              <a:ea typeface="游ゴシック Medium"/>
              <a:cs typeface="+mn-cs"/>
            </a:endParaRPr>
          </a:p>
        </p:txBody>
      </p:sp>
      <p:sp>
        <p:nvSpPr>
          <p:cNvPr id="33" name="テキスト ボックス 32">
            <a:extLst>
              <a:ext uri="{FF2B5EF4-FFF2-40B4-BE49-F238E27FC236}">
                <a16:creationId xmlns:a16="http://schemas.microsoft.com/office/drawing/2014/main" id="{A3A54D4F-3A74-C4B7-A1DC-9D1326C7069E}"/>
              </a:ext>
            </a:extLst>
          </p:cNvPr>
          <p:cNvSpPr txBox="1"/>
          <p:nvPr/>
        </p:nvSpPr>
        <p:spPr>
          <a:xfrm>
            <a:off x="8818224" y="5850414"/>
            <a:ext cx="458043" cy="144470"/>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000000"/>
                </a:solidFill>
                <a:effectLst/>
                <a:uLnTx/>
                <a:uFillTx/>
                <a:latin typeface="Arial"/>
                <a:ea typeface="游ゴシック Medium"/>
                <a:cs typeface="+mn-cs"/>
              </a:rPr>
              <a:t>8/1</a:t>
            </a:r>
            <a:endParaRPr kumimoji="1" lang="ja-JP" altLang="en-US" sz="1000" b="0" i="0" u="none" strike="noStrike" kern="1200" cap="none" spc="0" normalizeH="0" baseline="0" noProof="0" dirty="0">
              <a:ln>
                <a:noFill/>
              </a:ln>
              <a:solidFill>
                <a:srgbClr val="000000"/>
              </a:solidFill>
              <a:effectLst/>
              <a:uLnTx/>
              <a:uFillTx/>
              <a:latin typeface="Arial"/>
              <a:ea typeface="游ゴシック Medium"/>
              <a:cs typeface="+mn-cs"/>
            </a:endParaRPr>
          </a:p>
        </p:txBody>
      </p:sp>
      <p:sp>
        <p:nvSpPr>
          <p:cNvPr id="34" name="テキスト ボックス 33">
            <a:extLst>
              <a:ext uri="{FF2B5EF4-FFF2-40B4-BE49-F238E27FC236}">
                <a16:creationId xmlns:a16="http://schemas.microsoft.com/office/drawing/2014/main" id="{D7664006-9661-8AA4-E792-E8A8434AD1EC}"/>
              </a:ext>
            </a:extLst>
          </p:cNvPr>
          <p:cNvSpPr txBox="1"/>
          <p:nvPr/>
        </p:nvSpPr>
        <p:spPr>
          <a:xfrm>
            <a:off x="7174125" y="5843732"/>
            <a:ext cx="584302" cy="157834"/>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Arial"/>
                <a:ea typeface="游ゴシック Medium"/>
                <a:cs typeface="+mn-cs"/>
              </a:rPr>
              <a:t>6/1</a:t>
            </a:r>
            <a:endParaRPr kumimoji="1" lang="ja-JP" altLang="en-US" sz="1000" b="0" i="0" u="none" strike="noStrike" kern="1200" cap="none" spc="0" normalizeH="0" baseline="0" noProof="0">
              <a:ln>
                <a:noFill/>
              </a:ln>
              <a:solidFill>
                <a:srgbClr val="000000"/>
              </a:solidFill>
              <a:effectLst/>
              <a:uLnTx/>
              <a:uFillTx/>
              <a:latin typeface="Arial"/>
              <a:ea typeface="游ゴシック Medium"/>
              <a:cs typeface="+mn-cs"/>
            </a:endParaRPr>
          </a:p>
        </p:txBody>
      </p:sp>
      <p:sp>
        <p:nvSpPr>
          <p:cNvPr id="36" name="テキスト ボックス 35">
            <a:extLst>
              <a:ext uri="{FF2B5EF4-FFF2-40B4-BE49-F238E27FC236}">
                <a16:creationId xmlns:a16="http://schemas.microsoft.com/office/drawing/2014/main" id="{464F11D9-EC09-A100-6C62-7433BF3D9FB1}"/>
              </a:ext>
            </a:extLst>
          </p:cNvPr>
          <p:cNvSpPr txBox="1"/>
          <p:nvPr/>
        </p:nvSpPr>
        <p:spPr>
          <a:xfrm>
            <a:off x="9549114" y="5850414"/>
            <a:ext cx="584301" cy="125274"/>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000000"/>
                </a:solidFill>
                <a:effectLst/>
                <a:uLnTx/>
                <a:uFillTx/>
                <a:latin typeface="Arial"/>
                <a:ea typeface="游ゴシック Medium"/>
                <a:cs typeface="+mn-cs"/>
              </a:rPr>
              <a:t>10/1</a:t>
            </a:r>
            <a:endParaRPr kumimoji="1" lang="ja-JP" altLang="en-US" sz="1000" b="0" i="0" u="none" strike="noStrike" kern="1200" cap="none" spc="0" normalizeH="0" baseline="0" noProof="0" dirty="0">
              <a:ln>
                <a:noFill/>
              </a:ln>
              <a:solidFill>
                <a:srgbClr val="000000"/>
              </a:solidFill>
              <a:effectLst/>
              <a:uLnTx/>
              <a:uFillTx/>
              <a:latin typeface="Arial"/>
              <a:ea typeface="游ゴシック Medium"/>
              <a:cs typeface="+mn-cs"/>
            </a:endParaRPr>
          </a:p>
        </p:txBody>
      </p:sp>
      <p:sp>
        <p:nvSpPr>
          <p:cNvPr id="37" name="テキスト ボックス 36">
            <a:extLst>
              <a:ext uri="{FF2B5EF4-FFF2-40B4-BE49-F238E27FC236}">
                <a16:creationId xmlns:a16="http://schemas.microsoft.com/office/drawing/2014/main" id="{4A9A155A-5B39-2D6A-51C7-970F9D33A804}"/>
              </a:ext>
            </a:extLst>
          </p:cNvPr>
          <p:cNvSpPr txBox="1"/>
          <p:nvPr/>
        </p:nvSpPr>
        <p:spPr>
          <a:xfrm>
            <a:off x="11396013" y="5850414"/>
            <a:ext cx="584302" cy="144470"/>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000000"/>
                </a:solidFill>
                <a:effectLst/>
                <a:uLnTx/>
                <a:uFillTx/>
                <a:latin typeface="Arial"/>
                <a:ea typeface="游ゴシック Medium"/>
                <a:cs typeface="+mn-cs"/>
              </a:rPr>
              <a:t>12/1</a:t>
            </a:r>
            <a:endParaRPr kumimoji="1" lang="ja-JP" altLang="en-US" sz="1000" b="0" i="0" u="none" strike="noStrike" kern="1200" cap="none" spc="0" normalizeH="0" baseline="0" noProof="0" dirty="0">
              <a:ln>
                <a:noFill/>
              </a:ln>
              <a:solidFill>
                <a:srgbClr val="000000"/>
              </a:solidFill>
              <a:effectLst/>
              <a:uLnTx/>
              <a:uFillTx/>
              <a:latin typeface="Arial"/>
              <a:ea typeface="游ゴシック Medium"/>
              <a:cs typeface="+mn-cs"/>
            </a:endParaRPr>
          </a:p>
        </p:txBody>
      </p:sp>
      <p:sp>
        <p:nvSpPr>
          <p:cNvPr id="38" name="四角形: 角を丸くする 37">
            <a:extLst>
              <a:ext uri="{FF2B5EF4-FFF2-40B4-BE49-F238E27FC236}">
                <a16:creationId xmlns:a16="http://schemas.microsoft.com/office/drawing/2014/main" id="{EEDB1827-0364-E6E9-6B57-71E49BA27F47}"/>
              </a:ext>
            </a:extLst>
          </p:cNvPr>
          <p:cNvSpPr/>
          <p:nvPr/>
        </p:nvSpPr>
        <p:spPr bwMode="gray">
          <a:xfrm>
            <a:off x="1933003" y="3128393"/>
            <a:ext cx="2060448" cy="282449"/>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0" i="0" u="none" strike="noStrike" kern="0" cap="none" spc="0" normalizeH="0" baseline="0" noProof="0" dirty="0">
                <a:ln>
                  <a:noFill/>
                </a:ln>
                <a:solidFill>
                  <a:srgbClr val="000000"/>
                </a:solidFill>
                <a:effectLst/>
                <a:uLnTx/>
                <a:uFillTx/>
                <a:latin typeface="Arial"/>
                <a:ea typeface="Yu Gothic UI"/>
                <a:cs typeface="Arial" panose="020B0604020202020204" pitchFamily="34" charset="0"/>
              </a:rPr>
              <a:t>DB</a:t>
            </a:r>
            <a:r>
              <a:rPr kumimoji="0" lang="ja-JP" altLang="en-US" sz="1200" b="0" i="0" u="none" strike="noStrike" kern="0" cap="none" spc="0" normalizeH="0" baseline="0" noProof="0" dirty="0">
                <a:ln>
                  <a:noFill/>
                </a:ln>
                <a:solidFill>
                  <a:srgbClr val="000000"/>
                </a:solidFill>
                <a:effectLst/>
                <a:uLnTx/>
                <a:uFillTx/>
                <a:latin typeface="Arial"/>
                <a:ea typeface="Yu Gothic UI"/>
                <a:cs typeface="Arial" panose="020B0604020202020204" pitchFamily="34" charset="0"/>
              </a:rPr>
              <a:t>設計</a:t>
            </a:r>
          </a:p>
        </p:txBody>
      </p:sp>
      <p:sp>
        <p:nvSpPr>
          <p:cNvPr id="43" name="四角形: 角を丸くする 42">
            <a:extLst>
              <a:ext uri="{FF2B5EF4-FFF2-40B4-BE49-F238E27FC236}">
                <a16:creationId xmlns:a16="http://schemas.microsoft.com/office/drawing/2014/main" id="{69D96C6B-261A-94F5-9742-256B0618F278}"/>
              </a:ext>
            </a:extLst>
          </p:cNvPr>
          <p:cNvSpPr/>
          <p:nvPr/>
        </p:nvSpPr>
        <p:spPr bwMode="gray">
          <a:xfrm>
            <a:off x="1236849" y="2363173"/>
            <a:ext cx="2177307"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lvl="0" algn="ctr" fontAlgn="base">
              <a:spcBef>
                <a:spcPct val="0"/>
              </a:spcBef>
              <a:spcAft>
                <a:spcPct val="0"/>
              </a:spcAft>
              <a:defRPr/>
            </a:pPr>
            <a:r>
              <a:rPr lang="ja-JP" altLang="en-US" sz="1200" dirty="0">
                <a:solidFill>
                  <a:schemeClr val="tx1"/>
                </a:solidFill>
              </a:rPr>
              <a:t>構造設計＆</a:t>
            </a:r>
            <a:r>
              <a:rPr lang="en-US" altLang="ja-JP" sz="1200" dirty="0">
                <a:solidFill>
                  <a:schemeClr val="tx1"/>
                </a:solidFill>
              </a:rPr>
              <a:t>POC</a:t>
            </a:r>
            <a:endParaRPr kumimoji="0" lang="ja-JP" altLang="en-US" sz="1200" b="0" i="0" u="none" strike="noStrike" kern="0" cap="none" spc="0" normalizeH="0" baseline="0" noProof="0" dirty="0">
              <a:ln>
                <a:noFill/>
              </a:ln>
              <a:solidFill>
                <a:srgbClr val="000000"/>
              </a:solidFill>
              <a:effectLst/>
              <a:uLnTx/>
              <a:uFillTx/>
              <a:latin typeface="Arial"/>
              <a:ea typeface="Yu Gothic UI"/>
              <a:cs typeface="Arial" panose="020B0604020202020204" pitchFamily="34" charset="0"/>
            </a:endParaRPr>
          </a:p>
        </p:txBody>
      </p:sp>
      <p:cxnSp>
        <p:nvCxnSpPr>
          <p:cNvPr id="44" name="直線コネクタ 43">
            <a:extLst>
              <a:ext uri="{FF2B5EF4-FFF2-40B4-BE49-F238E27FC236}">
                <a16:creationId xmlns:a16="http://schemas.microsoft.com/office/drawing/2014/main" id="{65B500DB-353E-C646-ADC8-0A76B5CB0188}"/>
              </a:ext>
            </a:extLst>
          </p:cNvPr>
          <p:cNvCxnSpPr>
            <a:cxnSpLocks/>
          </p:cNvCxnSpPr>
          <p:nvPr/>
        </p:nvCxnSpPr>
        <p:spPr>
          <a:xfrm>
            <a:off x="2028729" y="1623226"/>
            <a:ext cx="0" cy="42228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5" name="正方形/長方形 44">
            <a:extLst>
              <a:ext uri="{FF2B5EF4-FFF2-40B4-BE49-F238E27FC236}">
                <a16:creationId xmlns:a16="http://schemas.microsoft.com/office/drawing/2014/main" id="{1A9CB833-016B-242F-1463-5C9BFB28FA81}"/>
              </a:ext>
            </a:extLst>
          </p:cNvPr>
          <p:cNvSpPr/>
          <p:nvPr/>
        </p:nvSpPr>
        <p:spPr bwMode="gray">
          <a:xfrm>
            <a:off x="367031" y="1167637"/>
            <a:ext cx="2391122" cy="478800"/>
          </a:xfrm>
          <a:prstGeom prst="rect">
            <a:avLst/>
          </a:prstGeom>
          <a:solidFill>
            <a:sysClr val="window" lastClr="FFFFFF"/>
          </a:solidFill>
          <a:ln w="12700" algn="ctr">
            <a:solidFill>
              <a:sysClr val="window" lastClr="FFFFFF">
                <a:lumMod val="50000"/>
              </a:sysClr>
            </a:solidFill>
            <a:miter lim="800000"/>
            <a:headEnd/>
            <a:tailEnd/>
          </a:ln>
        </p:spPr>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1" lang="ja-JP" altLang="en-US" sz="1200" b="1"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a:t>
            </a:r>
            <a:r>
              <a:rPr kumimoji="1" lang="en-US" altLang="ja-JP" sz="1200" b="1"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POC</a:t>
            </a:r>
            <a:r>
              <a:rPr kumimoji="1" lang="ja-JP" altLang="en-US" sz="1200" b="1"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、構造設計</a:t>
            </a:r>
            <a:r>
              <a:rPr kumimoji="0" lang="ja-JP" altLang="en-US" sz="1200" b="1"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・製造工程の概算見積</a:t>
            </a:r>
            <a:r>
              <a:rPr kumimoji="1" lang="ja-JP" altLang="en-US" sz="1200" b="1"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⇒社内稟議</a:t>
            </a:r>
            <a:endPar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endParaRPr>
          </a:p>
        </p:txBody>
      </p:sp>
      <p:cxnSp>
        <p:nvCxnSpPr>
          <p:cNvPr id="46" name="直線コネクタ 45">
            <a:extLst>
              <a:ext uri="{FF2B5EF4-FFF2-40B4-BE49-F238E27FC236}">
                <a16:creationId xmlns:a16="http://schemas.microsoft.com/office/drawing/2014/main" id="{DF902E31-E2B8-7162-8B4B-9AD9BB610DFC}"/>
              </a:ext>
            </a:extLst>
          </p:cNvPr>
          <p:cNvCxnSpPr>
            <a:cxnSpLocks/>
          </p:cNvCxnSpPr>
          <p:nvPr/>
        </p:nvCxnSpPr>
        <p:spPr>
          <a:xfrm>
            <a:off x="3980498" y="1623226"/>
            <a:ext cx="0" cy="42228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7" name="正方形/長方形 46">
            <a:extLst>
              <a:ext uri="{FF2B5EF4-FFF2-40B4-BE49-F238E27FC236}">
                <a16:creationId xmlns:a16="http://schemas.microsoft.com/office/drawing/2014/main" id="{A0E82062-9E6A-2638-8A2F-5DC1087902EB}"/>
              </a:ext>
            </a:extLst>
          </p:cNvPr>
          <p:cNvSpPr/>
          <p:nvPr/>
        </p:nvSpPr>
        <p:spPr bwMode="gray">
          <a:xfrm>
            <a:off x="3893224" y="1167637"/>
            <a:ext cx="1453297" cy="478800"/>
          </a:xfrm>
          <a:prstGeom prst="rect">
            <a:avLst/>
          </a:prstGeom>
          <a:solidFill>
            <a:sysClr val="window" lastClr="FFFFFF"/>
          </a:solidFill>
          <a:ln w="12700" algn="ctr">
            <a:solidFill>
              <a:sysClr val="window" lastClr="FFFFFF">
                <a:lumMod val="50000"/>
              </a:sysClr>
            </a:solidFill>
            <a:miter lim="800000"/>
            <a:headEnd/>
            <a:tailEnd/>
          </a:ln>
        </p:spPr>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1"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製造工程の正式見積</a:t>
            </a:r>
            <a:endParaRPr kumimoji="0" lang="en-US" altLang="ja-JP" sz="1200" b="1"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1" lang="ja-JP" altLang="en-US" sz="1200" b="1"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⇒ご</a:t>
            </a:r>
            <a:r>
              <a:rPr kumimoji="0" lang="ja-JP" altLang="en-US" sz="1200" b="1"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発注</a:t>
            </a:r>
            <a:endPar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endParaRPr>
          </a:p>
        </p:txBody>
      </p:sp>
      <p:cxnSp>
        <p:nvCxnSpPr>
          <p:cNvPr id="48" name="直線コネクタ 47">
            <a:extLst>
              <a:ext uri="{FF2B5EF4-FFF2-40B4-BE49-F238E27FC236}">
                <a16:creationId xmlns:a16="http://schemas.microsoft.com/office/drawing/2014/main" id="{5C9C10AC-EAD6-1DA2-966D-E9414E8B7987}"/>
              </a:ext>
            </a:extLst>
          </p:cNvPr>
          <p:cNvCxnSpPr>
            <a:cxnSpLocks/>
          </p:cNvCxnSpPr>
          <p:nvPr/>
        </p:nvCxnSpPr>
        <p:spPr>
          <a:xfrm>
            <a:off x="7086049" y="1623226"/>
            <a:ext cx="48125" cy="42228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9" name="正方形/長方形 48">
            <a:extLst>
              <a:ext uri="{FF2B5EF4-FFF2-40B4-BE49-F238E27FC236}">
                <a16:creationId xmlns:a16="http://schemas.microsoft.com/office/drawing/2014/main" id="{92577933-E1F6-226D-4056-8247DF51D490}"/>
              </a:ext>
            </a:extLst>
          </p:cNvPr>
          <p:cNvSpPr/>
          <p:nvPr/>
        </p:nvSpPr>
        <p:spPr bwMode="gray">
          <a:xfrm>
            <a:off x="6407371" y="1167637"/>
            <a:ext cx="1496228" cy="478800"/>
          </a:xfrm>
          <a:prstGeom prst="rect">
            <a:avLst/>
          </a:prstGeom>
          <a:solidFill>
            <a:sysClr val="window" lastClr="FFFFFF"/>
          </a:solidFill>
          <a:ln w="12700" algn="ctr">
            <a:solidFill>
              <a:sysClr val="window" lastClr="FFFFFF">
                <a:lumMod val="50000"/>
              </a:sysClr>
            </a:solidFill>
            <a:miter lim="800000"/>
            <a:headEnd/>
            <a:tailEnd/>
          </a:ln>
        </p:spPr>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1" i="0" u="none" strike="noStrike" kern="0" cap="none" spc="0" normalizeH="0" baseline="0" noProof="0">
                <a:ln>
                  <a:noFill/>
                </a:ln>
                <a:solidFill>
                  <a:prstClr val="black"/>
                </a:solidFill>
                <a:effectLst/>
                <a:uLnTx/>
                <a:uFillTx/>
                <a:latin typeface="Arial"/>
                <a:ea typeface="Yu Gothic UI"/>
                <a:cs typeface="Arial" panose="020B0604020202020204" pitchFamily="34" charset="0"/>
              </a:rPr>
              <a:t>Round1</a:t>
            </a:r>
            <a:r>
              <a:rPr kumimoji="0" lang="ja-JP" altLang="en-US" sz="1200" b="1" i="0" u="none" strike="noStrike" kern="0" cap="none" spc="0" normalizeH="0" baseline="0" noProof="0">
                <a:ln>
                  <a:noFill/>
                </a:ln>
                <a:solidFill>
                  <a:prstClr val="black"/>
                </a:solidFill>
                <a:effectLst/>
                <a:uLnTx/>
                <a:uFillTx/>
                <a:latin typeface="Arial"/>
                <a:ea typeface="Yu Gothic UI"/>
                <a:cs typeface="Arial" panose="020B0604020202020204" pitchFamily="34" charset="0"/>
              </a:rPr>
              <a:t>検証</a:t>
            </a:r>
            <a:r>
              <a:rPr kumimoji="0" lang="en-US" altLang="ja-JP" sz="1200" b="1" i="0" u="none" strike="noStrike" kern="0" cap="none" spc="0" normalizeH="0" baseline="0" noProof="0">
                <a:ln>
                  <a:noFill/>
                </a:ln>
                <a:solidFill>
                  <a:prstClr val="black"/>
                </a:solidFill>
                <a:effectLst/>
                <a:uLnTx/>
                <a:uFillTx/>
                <a:latin typeface="Arial"/>
                <a:ea typeface="Yu Gothic UI"/>
                <a:cs typeface="Arial" panose="020B0604020202020204" pitchFamily="34" charset="0"/>
              </a:rPr>
              <a:t>UAT</a:t>
            </a:r>
            <a:endPar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endParaRPr>
          </a:p>
        </p:txBody>
      </p:sp>
      <p:cxnSp>
        <p:nvCxnSpPr>
          <p:cNvPr id="50" name="直線コネクタ 49">
            <a:extLst>
              <a:ext uri="{FF2B5EF4-FFF2-40B4-BE49-F238E27FC236}">
                <a16:creationId xmlns:a16="http://schemas.microsoft.com/office/drawing/2014/main" id="{AD1DA8DD-C9E7-F836-881C-F2D562E04B4B}"/>
              </a:ext>
            </a:extLst>
          </p:cNvPr>
          <p:cNvCxnSpPr>
            <a:cxnSpLocks/>
          </p:cNvCxnSpPr>
          <p:nvPr/>
        </p:nvCxnSpPr>
        <p:spPr>
          <a:xfrm>
            <a:off x="11290006" y="1623226"/>
            <a:ext cx="26578" cy="42228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51" name="正方形/長方形 50">
            <a:extLst>
              <a:ext uri="{FF2B5EF4-FFF2-40B4-BE49-F238E27FC236}">
                <a16:creationId xmlns:a16="http://schemas.microsoft.com/office/drawing/2014/main" id="{1D4FF8AC-D428-6457-105B-0F58F231B247}"/>
              </a:ext>
            </a:extLst>
          </p:cNvPr>
          <p:cNvSpPr/>
          <p:nvPr/>
        </p:nvSpPr>
        <p:spPr bwMode="gray">
          <a:xfrm>
            <a:off x="10840563" y="1167637"/>
            <a:ext cx="899247" cy="478800"/>
          </a:xfrm>
          <a:prstGeom prst="rect">
            <a:avLst/>
          </a:prstGeom>
          <a:solidFill>
            <a:sysClr val="window" lastClr="FFFFFF"/>
          </a:solidFill>
          <a:ln w="12700" algn="ctr">
            <a:solidFill>
              <a:sysClr val="window" lastClr="FFFFFF">
                <a:lumMod val="50000"/>
              </a:sysClr>
            </a:solidFill>
            <a:miter lim="800000"/>
            <a:headEnd/>
            <a:tailEnd/>
          </a:ln>
        </p:spPr>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ja-JP" sz="1200" b="1" i="0" u="none" strike="noStrike" kern="0" cap="none" spc="0" normalizeH="0" baseline="0" noProof="0">
                <a:ln>
                  <a:noFill/>
                </a:ln>
                <a:solidFill>
                  <a:prstClr val="black"/>
                </a:solidFill>
                <a:effectLst/>
                <a:uLnTx/>
                <a:uFillTx/>
                <a:latin typeface="Arial"/>
                <a:ea typeface="Yu Gothic UI"/>
                <a:cs typeface="Arial" panose="020B0604020202020204" pitchFamily="34" charset="0"/>
              </a:rPr>
              <a:t>Round3</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ja-JP" altLang="en-US" sz="1200" b="1" i="0" u="none" strike="noStrike" kern="0" cap="none" spc="0" normalizeH="0" baseline="0" noProof="0">
                <a:ln>
                  <a:noFill/>
                </a:ln>
                <a:solidFill>
                  <a:prstClr val="black"/>
                </a:solidFill>
                <a:effectLst/>
                <a:uLnTx/>
                <a:uFillTx/>
                <a:latin typeface="Arial"/>
                <a:ea typeface="Yu Gothic UI"/>
                <a:cs typeface="Arial" panose="020B0604020202020204" pitchFamily="34" charset="0"/>
              </a:rPr>
              <a:t>全体</a:t>
            </a:r>
            <a:r>
              <a:rPr kumimoji="0" lang="en-US" altLang="ja-JP" sz="1200" b="1" i="0" u="none" strike="noStrike" kern="0" cap="none" spc="0" normalizeH="0" baseline="0" noProof="0">
                <a:ln>
                  <a:noFill/>
                </a:ln>
                <a:solidFill>
                  <a:prstClr val="black"/>
                </a:solidFill>
                <a:effectLst/>
                <a:uLnTx/>
                <a:uFillTx/>
                <a:latin typeface="Arial"/>
                <a:ea typeface="Yu Gothic UI"/>
                <a:cs typeface="Arial" panose="020B0604020202020204" pitchFamily="34" charset="0"/>
              </a:rPr>
              <a:t>GA</a:t>
            </a:r>
            <a:endPar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endParaRPr>
          </a:p>
        </p:txBody>
      </p:sp>
      <p:sp>
        <p:nvSpPr>
          <p:cNvPr id="55" name="四角形: 角を丸くする 54">
            <a:extLst>
              <a:ext uri="{FF2B5EF4-FFF2-40B4-BE49-F238E27FC236}">
                <a16:creationId xmlns:a16="http://schemas.microsoft.com/office/drawing/2014/main" id="{EBCB9FD6-0C6D-1707-F42B-7F944A1487E4}"/>
              </a:ext>
            </a:extLst>
          </p:cNvPr>
          <p:cNvSpPr/>
          <p:nvPr/>
        </p:nvSpPr>
        <p:spPr bwMode="gray">
          <a:xfrm>
            <a:off x="5095154" y="2792973"/>
            <a:ext cx="1985481"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rPr>
              <a:t>性能評価と改善</a:t>
            </a:r>
          </a:p>
        </p:txBody>
      </p:sp>
      <p:sp>
        <p:nvSpPr>
          <p:cNvPr id="56" name="四角形: 角を丸くする 55">
            <a:extLst>
              <a:ext uri="{FF2B5EF4-FFF2-40B4-BE49-F238E27FC236}">
                <a16:creationId xmlns:a16="http://schemas.microsoft.com/office/drawing/2014/main" id="{FF0E3E63-DA39-50C6-57E3-8931DFF82214}"/>
              </a:ext>
            </a:extLst>
          </p:cNvPr>
          <p:cNvSpPr/>
          <p:nvPr/>
        </p:nvSpPr>
        <p:spPr bwMode="gray">
          <a:xfrm>
            <a:off x="7120916" y="2785215"/>
            <a:ext cx="1588536"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rPr>
              <a:t>性能試験</a:t>
            </a:r>
          </a:p>
        </p:txBody>
      </p:sp>
      <p:sp>
        <p:nvSpPr>
          <p:cNvPr id="57" name="四角形: 角を丸くする 56">
            <a:extLst>
              <a:ext uri="{FF2B5EF4-FFF2-40B4-BE49-F238E27FC236}">
                <a16:creationId xmlns:a16="http://schemas.microsoft.com/office/drawing/2014/main" id="{A70C045E-7BD4-E6CB-3584-3147D05C20A4}"/>
              </a:ext>
            </a:extLst>
          </p:cNvPr>
          <p:cNvSpPr/>
          <p:nvPr/>
        </p:nvSpPr>
        <p:spPr bwMode="gray">
          <a:xfrm>
            <a:off x="1236849" y="2775159"/>
            <a:ext cx="2756602"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性能</a:t>
            </a: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Facility</a:t>
            </a:r>
            <a:endPar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endParaRPr>
          </a:p>
        </p:txBody>
      </p:sp>
      <p:sp>
        <p:nvSpPr>
          <p:cNvPr id="58" name="四角形: 角を丸くする 57">
            <a:extLst>
              <a:ext uri="{FF2B5EF4-FFF2-40B4-BE49-F238E27FC236}">
                <a16:creationId xmlns:a16="http://schemas.microsoft.com/office/drawing/2014/main" id="{236A6D0F-8942-CE66-B013-8AF91EBD87FE}"/>
              </a:ext>
            </a:extLst>
          </p:cNvPr>
          <p:cNvSpPr/>
          <p:nvPr/>
        </p:nvSpPr>
        <p:spPr bwMode="gray">
          <a:xfrm>
            <a:off x="6956848" y="3864809"/>
            <a:ext cx="1321801" cy="277890"/>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ctr"/>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Round1 </a:t>
            </a: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データ移行</a:t>
            </a: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 </a:t>
            </a:r>
          </a:p>
        </p:txBody>
      </p:sp>
      <p:sp>
        <p:nvSpPr>
          <p:cNvPr id="63" name="四角形: 角を丸くする 62">
            <a:extLst>
              <a:ext uri="{FF2B5EF4-FFF2-40B4-BE49-F238E27FC236}">
                <a16:creationId xmlns:a16="http://schemas.microsoft.com/office/drawing/2014/main" id="{01B73093-0CCA-548A-2FFA-347968BA7764}"/>
              </a:ext>
            </a:extLst>
          </p:cNvPr>
          <p:cNvSpPr/>
          <p:nvPr/>
        </p:nvSpPr>
        <p:spPr bwMode="gray">
          <a:xfrm>
            <a:off x="7157754" y="4540383"/>
            <a:ext cx="2275409" cy="490942"/>
          </a:xfrm>
          <a:prstGeom prst="roundRect">
            <a:avLst/>
          </a:prstGeom>
          <a:noFill/>
          <a:ln w="12700">
            <a:solidFill>
              <a:srgbClr val="0070C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Round</a:t>
            </a:r>
            <a:r>
              <a:rPr kumimoji="1" lang="ja-JP" altLang="en-US" sz="12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２展開</a:t>
            </a:r>
            <a:endParaRPr kumimoji="1" lang="en-US" altLang="ja-JP" sz="12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a:t>
            </a:r>
            <a:r>
              <a:rPr kumimoji="0" lang="ja-JP" altLang="en-US" sz="105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データ移行と受入</a:t>
            </a:r>
            <a:r>
              <a:rPr kumimoji="0" lang="en-US" altLang="ja-JP" sz="105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a:t>
            </a:r>
            <a:r>
              <a:rPr kumimoji="0" lang="ja-JP" altLang="en-US" sz="105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対応</a:t>
            </a:r>
            <a:r>
              <a:rPr kumimoji="0" lang="en-US" altLang="ja-JP" sz="105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 </a:t>
            </a:r>
            <a:r>
              <a:rPr kumimoji="0" lang="ja-JP" altLang="en-US" sz="105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a:t>
            </a:r>
            <a:endParaRPr kumimoji="1" lang="ja-JP" altLang="en-US"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endParaRPr>
          </a:p>
        </p:txBody>
      </p:sp>
      <p:sp>
        <p:nvSpPr>
          <p:cNvPr id="65" name="四角形: 角を丸くする 64">
            <a:extLst>
              <a:ext uri="{FF2B5EF4-FFF2-40B4-BE49-F238E27FC236}">
                <a16:creationId xmlns:a16="http://schemas.microsoft.com/office/drawing/2014/main" id="{6AD8FF22-48F0-3EDB-A541-797D91E734FE}"/>
              </a:ext>
            </a:extLst>
          </p:cNvPr>
          <p:cNvSpPr/>
          <p:nvPr/>
        </p:nvSpPr>
        <p:spPr bwMode="gray">
          <a:xfrm>
            <a:off x="9511469" y="5150883"/>
            <a:ext cx="1778718" cy="490942"/>
          </a:xfrm>
          <a:prstGeom prst="roundRect">
            <a:avLst/>
          </a:prstGeom>
          <a:noFill/>
          <a:ln w="12700">
            <a:solidFill>
              <a:srgbClr val="0070C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Round3</a:t>
            </a:r>
            <a:r>
              <a:rPr kumimoji="1" lang="ja-JP" altLang="en-US" sz="12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展開</a:t>
            </a:r>
            <a:endParaRPr kumimoji="1" lang="en-US" altLang="ja-JP" sz="12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（データ移行と受入</a:t>
            </a:r>
            <a:r>
              <a:rPr kumimoji="0" lang="en-US" altLang="ja-JP" sz="105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a:t>
            </a:r>
            <a:r>
              <a:rPr kumimoji="0" lang="ja-JP" altLang="en-US" sz="105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対応</a:t>
            </a:r>
            <a:r>
              <a:rPr kumimoji="0" lang="en-US" altLang="ja-JP" sz="105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 </a:t>
            </a:r>
            <a:r>
              <a:rPr kumimoji="0" lang="ja-JP" altLang="en-US" sz="105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a:t>
            </a:r>
            <a:endParaRPr kumimoji="1" lang="ja-JP" altLang="en-US"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endParaRPr>
          </a:p>
        </p:txBody>
      </p:sp>
      <p:cxnSp>
        <p:nvCxnSpPr>
          <p:cNvPr id="66" name="直線コネクタ 65">
            <a:extLst>
              <a:ext uri="{FF2B5EF4-FFF2-40B4-BE49-F238E27FC236}">
                <a16:creationId xmlns:a16="http://schemas.microsoft.com/office/drawing/2014/main" id="{E7F0D5ED-5933-DE94-D599-1F10CCEDB260}"/>
              </a:ext>
            </a:extLst>
          </p:cNvPr>
          <p:cNvCxnSpPr>
            <a:cxnSpLocks/>
          </p:cNvCxnSpPr>
          <p:nvPr/>
        </p:nvCxnSpPr>
        <p:spPr>
          <a:xfrm>
            <a:off x="8716560" y="1623226"/>
            <a:ext cx="48125" cy="42228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67" name="正方形/長方形 66">
            <a:extLst>
              <a:ext uri="{FF2B5EF4-FFF2-40B4-BE49-F238E27FC236}">
                <a16:creationId xmlns:a16="http://schemas.microsoft.com/office/drawing/2014/main" id="{0AD354CD-0D71-2DBE-0AD1-08F85674D7B0}"/>
              </a:ext>
            </a:extLst>
          </p:cNvPr>
          <p:cNvSpPr/>
          <p:nvPr/>
        </p:nvSpPr>
        <p:spPr bwMode="gray">
          <a:xfrm>
            <a:off x="8374332" y="1167637"/>
            <a:ext cx="691251" cy="478800"/>
          </a:xfrm>
          <a:prstGeom prst="rect">
            <a:avLst/>
          </a:prstGeom>
          <a:solidFill>
            <a:sysClr val="window" lastClr="FFFFFF"/>
          </a:solidFill>
          <a:ln w="12700" algn="ctr">
            <a:solidFill>
              <a:sysClr val="window" lastClr="FFFFFF">
                <a:lumMod val="50000"/>
              </a:sysClr>
            </a:solidFill>
            <a:miter lim="800000"/>
            <a:headEnd/>
            <a:tailEnd/>
          </a:ln>
        </p:spPr>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1" i="0" u="none" strike="noStrike" kern="0" cap="none" spc="0" normalizeH="0" baseline="0" noProof="0">
                <a:ln>
                  <a:noFill/>
                </a:ln>
                <a:solidFill>
                  <a:prstClr val="black"/>
                </a:solidFill>
                <a:effectLst/>
                <a:uLnTx/>
                <a:uFillTx/>
                <a:latin typeface="Arial"/>
                <a:ea typeface="Yu Gothic UI"/>
                <a:cs typeface="Arial" panose="020B0604020202020204" pitchFamily="34" charset="0"/>
              </a:rPr>
              <a:t>Round1GA</a:t>
            </a:r>
          </a:p>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endPar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endParaRPr>
          </a:p>
        </p:txBody>
      </p:sp>
      <p:cxnSp>
        <p:nvCxnSpPr>
          <p:cNvPr id="68" name="直線コネクタ 67">
            <a:extLst>
              <a:ext uri="{FF2B5EF4-FFF2-40B4-BE49-F238E27FC236}">
                <a16:creationId xmlns:a16="http://schemas.microsoft.com/office/drawing/2014/main" id="{6FCE6AAF-3DEA-AE92-6F00-05FDA7CF63B8}"/>
              </a:ext>
            </a:extLst>
          </p:cNvPr>
          <p:cNvCxnSpPr>
            <a:cxnSpLocks/>
          </p:cNvCxnSpPr>
          <p:nvPr/>
        </p:nvCxnSpPr>
        <p:spPr>
          <a:xfrm>
            <a:off x="8765290"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69" name="直線コネクタ 68">
            <a:extLst>
              <a:ext uri="{FF2B5EF4-FFF2-40B4-BE49-F238E27FC236}">
                <a16:creationId xmlns:a16="http://schemas.microsoft.com/office/drawing/2014/main" id="{61A3E713-1264-3663-705A-35567FFCFADB}"/>
              </a:ext>
            </a:extLst>
          </p:cNvPr>
          <p:cNvCxnSpPr>
            <a:cxnSpLocks/>
          </p:cNvCxnSpPr>
          <p:nvPr/>
        </p:nvCxnSpPr>
        <p:spPr>
          <a:xfrm>
            <a:off x="9439043" y="1623226"/>
            <a:ext cx="48125" cy="42228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70" name="正方形/長方形 69">
            <a:extLst>
              <a:ext uri="{FF2B5EF4-FFF2-40B4-BE49-F238E27FC236}">
                <a16:creationId xmlns:a16="http://schemas.microsoft.com/office/drawing/2014/main" id="{42CB616B-8A1D-B35C-5A7B-9FCBE7B10945}"/>
              </a:ext>
            </a:extLst>
          </p:cNvPr>
          <p:cNvSpPr/>
          <p:nvPr/>
        </p:nvSpPr>
        <p:spPr bwMode="gray">
          <a:xfrm>
            <a:off x="9147854" y="1167637"/>
            <a:ext cx="691251" cy="478800"/>
          </a:xfrm>
          <a:prstGeom prst="rect">
            <a:avLst/>
          </a:prstGeom>
          <a:solidFill>
            <a:sysClr val="window" lastClr="FFFFFF"/>
          </a:solidFill>
          <a:ln w="12700" algn="ctr">
            <a:solidFill>
              <a:sysClr val="window" lastClr="FFFFFF">
                <a:lumMod val="50000"/>
              </a:sysClr>
            </a:solidFill>
            <a:miter lim="800000"/>
            <a:headEnd/>
            <a:tailEnd/>
          </a:ln>
        </p:spPr>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1" i="0" u="none" strike="noStrike" kern="0" cap="none" spc="0" normalizeH="0" baseline="0" noProof="0">
                <a:ln>
                  <a:noFill/>
                </a:ln>
                <a:solidFill>
                  <a:prstClr val="black"/>
                </a:solidFill>
                <a:effectLst/>
                <a:uLnTx/>
                <a:uFillTx/>
                <a:latin typeface="Arial"/>
                <a:ea typeface="Yu Gothic UI"/>
                <a:cs typeface="Arial" panose="020B0604020202020204" pitchFamily="34" charset="0"/>
              </a:rPr>
              <a:t>Round2GA</a:t>
            </a:r>
            <a:endPar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endParaRPr>
          </a:p>
        </p:txBody>
      </p:sp>
      <p:cxnSp>
        <p:nvCxnSpPr>
          <p:cNvPr id="74" name="直線コネクタ 73">
            <a:extLst>
              <a:ext uri="{FF2B5EF4-FFF2-40B4-BE49-F238E27FC236}">
                <a16:creationId xmlns:a16="http://schemas.microsoft.com/office/drawing/2014/main" id="{96CFDE14-CA97-9E49-1BA6-60CC218871AF}"/>
              </a:ext>
            </a:extLst>
          </p:cNvPr>
          <p:cNvCxnSpPr>
            <a:cxnSpLocks/>
          </p:cNvCxnSpPr>
          <p:nvPr/>
        </p:nvCxnSpPr>
        <p:spPr>
          <a:xfrm>
            <a:off x="2030829"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75" name="テキスト ボックス 74">
            <a:extLst>
              <a:ext uri="{FF2B5EF4-FFF2-40B4-BE49-F238E27FC236}">
                <a16:creationId xmlns:a16="http://schemas.microsoft.com/office/drawing/2014/main" id="{1CD27798-3FE5-A43A-3450-1E84CFE1EC6B}"/>
              </a:ext>
            </a:extLst>
          </p:cNvPr>
          <p:cNvSpPr txBox="1"/>
          <p:nvPr/>
        </p:nvSpPr>
        <p:spPr>
          <a:xfrm>
            <a:off x="2074511" y="5865763"/>
            <a:ext cx="565367" cy="113773"/>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Arial"/>
                <a:ea typeface="游ゴシック Medium"/>
                <a:cs typeface="+mn-cs"/>
              </a:rPr>
              <a:t>12/1</a:t>
            </a:r>
            <a:endParaRPr kumimoji="1" lang="ja-JP" altLang="en-US" sz="1000" b="0" i="0" u="none" strike="noStrike" kern="1200" cap="none" spc="0" normalizeH="0" baseline="0" noProof="0" err="1">
              <a:ln>
                <a:noFill/>
              </a:ln>
              <a:solidFill>
                <a:srgbClr val="000000"/>
              </a:solidFill>
              <a:effectLst/>
              <a:uLnTx/>
              <a:uFillTx/>
              <a:latin typeface="Arial"/>
              <a:ea typeface="游ゴシック Medium"/>
              <a:cs typeface="+mn-cs"/>
            </a:endParaRPr>
          </a:p>
        </p:txBody>
      </p:sp>
      <p:sp>
        <p:nvSpPr>
          <p:cNvPr id="3" name="四角形: 角を丸くする 2">
            <a:extLst>
              <a:ext uri="{FF2B5EF4-FFF2-40B4-BE49-F238E27FC236}">
                <a16:creationId xmlns:a16="http://schemas.microsoft.com/office/drawing/2014/main" id="{C147A661-F258-1D2E-FBE3-514D755494A6}"/>
              </a:ext>
            </a:extLst>
          </p:cNvPr>
          <p:cNvSpPr/>
          <p:nvPr/>
        </p:nvSpPr>
        <p:spPr>
          <a:xfrm>
            <a:off x="6679939" y="3108382"/>
            <a:ext cx="2085351" cy="1068931"/>
          </a:xfrm>
          <a:prstGeom prst="roundRect">
            <a:avLst>
              <a:gd name="adj" fmla="val 5456"/>
            </a:avLst>
          </a:prstGeom>
          <a:noFill/>
          <a:ln w="12700">
            <a:solidFill>
              <a:srgbClr val="0070C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Gill Sans MT"/>
              <a:ea typeface="游ゴシック" panose="020B0400000000000000" pitchFamily="50" charset="-128"/>
              <a:cs typeface="+mn-cs"/>
            </a:endParaRPr>
          </a:p>
        </p:txBody>
      </p:sp>
      <p:sp>
        <p:nvSpPr>
          <p:cNvPr id="7" name="テキスト ボックス 6">
            <a:extLst>
              <a:ext uri="{FF2B5EF4-FFF2-40B4-BE49-F238E27FC236}">
                <a16:creationId xmlns:a16="http://schemas.microsoft.com/office/drawing/2014/main" id="{D41F9312-782B-4153-382F-122228773B2B}"/>
              </a:ext>
            </a:extLst>
          </p:cNvPr>
          <p:cNvSpPr txBox="1"/>
          <p:nvPr/>
        </p:nvSpPr>
        <p:spPr>
          <a:xfrm>
            <a:off x="4033732" y="2587937"/>
            <a:ext cx="6766132"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rPr>
              <a:t>Round 1 </a:t>
            </a:r>
            <a:r>
              <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rPr>
              <a:t>全体システム構築と先行運用</a:t>
            </a:r>
            <a:endParaRPr kumimoji="1" lang="ja-JP" altLang="en-US" sz="1200" b="0" i="0" u="none" strike="noStrike" kern="1200" cap="none" spc="0" normalizeH="0" baseline="0" noProof="0">
              <a:ln>
                <a:noFill/>
              </a:ln>
              <a:solidFill>
                <a:prstClr val="black"/>
              </a:solidFill>
              <a:effectLst/>
              <a:uLnTx/>
              <a:uFillTx/>
              <a:latin typeface="Gill Sans MT"/>
              <a:ea typeface="游ゴシック" panose="020B0400000000000000" pitchFamily="50" charset="-128"/>
              <a:cs typeface="+mn-cs"/>
            </a:endParaRPr>
          </a:p>
        </p:txBody>
      </p:sp>
      <p:graphicFrame>
        <p:nvGraphicFramePr>
          <p:cNvPr id="9" name="表 8">
            <a:extLst>
              <a:ext uri="{FF2B5EF4-FFF2-40B4-BE49-F238E27FC236}">
                <a16:creationId xmlns:a16="http://schemas.microsoft.com/office/drawing/2014/main" id="{B66829E4-789E-216F-F3DC-C861ECAE46A4}"/>
              </a:ext>
            </a:extLst>
          </p:cNvPr>
          <p:cNvGraphicFramePr>
            <a:graphicFrameLocks noGrp="1"/>
          </p:cNvGraphicFramePr>
          <p:nvPr/>
        </p:nvGraphicFramePr>
        <p:xfrm>
          <a:off x="403231" y="3864809"/>
          <a:ext cx="2873349" cy="1916430"/>
        </p:xfrm>
        <a:graphic>
          <a:graphicData uri="http://schemas.openxmlformats.org/drawingml/2006/table">
            <a:tbl>
              <a:tblPr firstRow="1" bandRow="1">
                <a:tableStyleId>{5C22544A-7EE6-4342-B048-85BDC9FD1C3A}</a:tableStyleId>
              </a:tblPr>
              <a:tblGrid>
                <a:gridCol w="148988">
                  <a:extLst>
                    <a:ext uri="{9D8B030D-6E8A-4147-A177-3AD203B41FA5}">
                      <a16:colId xmlns:a16="http://schemas.microsoft.com/office/drawing/2014/main" val="1590383083"/>
                    </a:ext>
                  </a:extLst>
                </a:gridCol>
                <a:gridCol w="1039114">
                  <a:extLst>
                    <a:ext uri="{9D8B030D-6E8A-4147-A177-3AD203B41FA5}">
                      <a16:colId xmlns:a16="http://schemas.microsoft.com/office/drawing/2014/main" val="1710678529"/>
                    </a:ext>
                  </a:extLst>
                </a:gridCol>
                <a:gridCol w="1685247">
                  <a:extLst>
                    <a:ext uri="{9D8B030D-6E8A-4147-A177-3AD203B41FA5}">
                      <a16:colId xmlns:a16="http://schemas.microsoft.com/office/drawing/2014/main" val="2280072178"/>
                    </a:ext>
                  </a:extLst>
                </a:gridCol>
              </a:tblGrid>
              <a:tr h="0">
                <a:tc>
                  <a:txBody>
                    <a:bodyPr/>
                    <a:lstStyle/>
                    <a:p>
                      <a:r>
                        <a:rPr kumimoji="1" lang="en-US" altLang="ja-JP" sz="600" dirty="0"/>
                        <a:t>#</a:t>
                      </a:r>
                      <a:endParaRPr kumimoji="1" lang="ja-JP" altLang="en-US" sz="600" dirty="0"/>
                    </a:p>
                  </a:txBody>
                  <a:tcPr marL="36000" marR="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1">
                        <a:lumMod val="50000"/>
                        <a:lumOff val="50000"/>
                      </a:schemeClr>
                    </a:solidFill>
                  </a:tcPr>
                </a:tc>
                <a:tc>
                  <a:txBody>
                    <a:bodyPr/>
                    <a:lstStyle/>
                    <a:p>
                      <a:r>
                        <a:rPr kumimoji="1" lang="ja-JP" altLang="en-US" sz="600" dirty="0"/>
                        <a:t>代表</a:t>
                      </a:r>
                      <a:r>
                        <a:rPr kumimoji="1" lang="en-US" altLang="ja-JP" sz="600" dirty="0"/>
                        <a:t>DB</a:t>
                      </a:r>
                      <a:r>
                        <a:rPr kumimoji="1" lang="ja-JP" altLang="en-US" sz="600" dirty="0"/>
                        <a:t>名</a:t>
                      </a:r>
                    </a:p>
                  </a:txBody>
                  <a:tcPr marL="36000" marR="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1">
                        <a:lumMod val="50000"/>
                        <a:lumOff val="50000"/>
                      </a:schemeClr>
                    </a:solidFill>
                  </a:tcPr>
                </a:tc>
                <a:tc>
                  <a:txBody>
                    <a:bodyPr/>
                    <a:lstStyle/>
                    <a:p>
                      <a:r>
                        <a:rPr kumimoji="1" lang="ja-JP" altLang="en-US" sz="600"/>
                        <a:t>関連</a:t>
                      </a:r>
                      <a:r>
                        <a:rPr kumimoji="1" lang="en-US" altLang="ja-JP" sz="600"/>
                        <a:t>DB</a:t>
                      </a:r>
                      <a:r>
                        <a:rPr kumimoji="1" lang="ja-JP" altLang="en-US" sz="600"/>
                        <a:t>名　　　　　</a:t>
                      </a:r>
                    </a:p>
                  </a:txBody>
                  <a:tcPr marL="36000" marR="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1">
                        <a:lumMod val="50000"/>
                        <a:lumOff val="50000"/>
                      </a:schemeClr>
                    </a:solidFill>
                  </a:tcPr>
                </a:tc>
                <a:extLst>
                  <a:ext uri="{0D108BD9-81ED-4DB2-BD59-A6C34878D82A}">
                    <a16:rowId xmlns:a16="http://schemas.microsoft.com/office/drawing/2014/main" val="1588210174"/>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1</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3">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イオン</a:t>
                      </a:r>
                      <a:r>
                        <a:rPr kumimoji="1" lang="en-US" altLang="ja-JP" sz="600" b="0" kern="1200" dirty="0">
                          <a:solidFill>
                            <a:schemeClr val="tx1"/>
                          </a:solidFill>
                          <a:latin typeface="+mn-lt"/>
                          <a:ea typeface="+mn-ea"/>
                          <a:cs typeface="+mn-cs"/>
                        </a:rPr>
                        <a:t>) </a:t>
                      </a:r>
                    </a:p>
                    <a:p>
                      <a:pPr marL="0" algn="l" defTabSz="914400" rtl="0" eaLnBrk="1" fontAlgn="ctr" latinLnBrk="0" hangingPunct="1"/>
                      <a:r>
                        <a:rPr kumimoji="1" lang="ja-JP" altLang="en-US" sz="600" b="0" kern="1200" dirty="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en-US" altLang="ja-JP" sz="600" b="0" kern="1200">
                          <a:solidFill>
                            <a:schemeClr val="tx1"/>
                          </a:solidFill>
                          <a:latin typeface="+mn-lt"/>
                          <a:ea typeface="+mn-ea"/>
                          <a:cs typeface="+mn-cs"/>
                        </a:rPr>
                        <a:t>(</a:t>
                      </a:r>
                      <a:r>
                        <a:rPr kumimoji="1" lang="ja-JP" altLang="en-US" sz="600" b="0" kern="1200">
                          <a:solidFill>
                            <a:schemeClr val="tx1"/>
                          </a:solidFill>
                          <a:latin typeface="+mn-lt"/>
                          <a:ea typeface="+mn-ea"/>
                          <a:cs typeface="+mn-cs"/>
                        </a:rPr>
                        <a:t>イオン</a:t>
                      </a:r>
                      <a:r>
                        <a:rPr kumimoji="1" lang="en-US" altLang="ja-JP" sz="600" b="0" kern="1200">
                          <a:solidFill>
                            <a:schemeClr val="tx1"/>
                          </a:solidFill>
                          <a:latin typeface="+mn-lt"/>
                          <a:ea typeface="+mn-ea"/>
                          <a:cs typeface="+mn-cs"/>
                        </a:rPr>
                        <a:t>) </a:t>
                      </a:r>
                      <a:r>
                        <a:rPr kumimoji="1" lang="ja-JP" altLang="en-US" sz="600" b="0" kern="120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33184910"/>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2</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algn="l" defTabSz="914400" rtl="0" eaLnBrk="1" fontAlgn="ctr" latinLnBrk="0" hangingPunct="1"/>
                      <a:endParaRPr kumimoji="1" lang="ja-JP" altLang="en-US" sz="1100" b="0" kern="1200">
                        <a:solidFill>
                          <a:schemeClr val="tx1"/>
                        </a:solidFill>
                        <a:latin typeface="+mn-lt"/>
                        <a:ea typeface="+mn-ea"/>
                        <a:cs typeface="+mn-cs"/>
                      </a:endParaRPr>
                    </a:p>
                  </a:txBody>
                  <a:tcPr marL="36000" marR="360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イオン</a:t>
                      </a:r>
                      <a:r>
                        <a:rPr kumimoji="1" lang="en-US" altLang="ja-JP" sz="600" b="0" kern="1200" dirty="0">
                          <a:solidFill>
                            <a:schemeClr val="tx1"/>
                          </a:solidFill>
                          <a:latin typeface="+mn-lt"/>
                          <a:ea typeface="+mn-ea"/>
                          <a:cs typeface="+mn-cs"/>
                        </a:rPr>
                        <a:t>) </a:t>
                      </a:r>
                      <a:r>
                        <a:rPr kumimoji="1" lang="ja-JP" altLang="en-US" sz="600" b="0" kern="1200" dirty="0">
                          <a:solidFill>
                            <a:schemeClr val="tx1"/>
                          </a:solidFill>
                          <a:latin typeface="+mn-lt"/>
                          <a:ea typeface="+mn-ea"/>
                          <a:cs typeface="+mn-cs"/>
                        </a:rPr>
                        <a:t>関連文書</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250767317"/>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3</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algn="l" defTabSz="914400" rtl="0" eaLnBrk="1" fontAlgn="ctr" latinLnBrk="0" hangingPunct="1"/>
                      <a:endParaRPr kumimoji="1" lang="ja-JP" altLang="en-US" sz="1100" b="0" kern="1200">
                        <a:solidFill>
                          <a:schemeClr val="tx1"/>
                        </a:solidFill>
                        <a:latin typeface="+mn-lt"/>
                        <a:ea typeface="+mn-ea"/>
                        <a:cs typeface="+mn-cs"/>
                      </a:endParaRPr>
                    </a:p>
                  </a:txBody>
                  <a:tcPr marL="36000" marR="360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イオン</a:t>
                      </a:r>
                      <a:r>
                        <a:rPr kumimoji="1" lang="en-US" altLang="ja-JP" sz="600" b="0" kern="1200" dirty="0">
                          <a:solidFill>
                            <a:schemeClr val="tx1"/>
                          </a:solidFill>
                          <a:latin typeface="+mn-lt"/>
                          <a:ea typeface="+mn-ea"/>
                          <a:cs typeface="+mn-cs"/>
                        </a:rPr>
                        <a:t>) </a:t>
                      </a:r>
                      <a:r>
                        <a:rPr kumimoji="1" lang="ja-JP" altLang="en-US" sz="600" b="0" kern="1200" dirty="0">
                          <a:solidFill>
                            <a:schemeClr val="tx1"/>
                          </a:solidFill>
                          <a:latin typeface="+mn-lt"/>
                          <a:ea typeface="+mn-ea"/>
                          <a:cs typeface="+mn-cs"/>
                        </a:rPr>
                        <a:t>品質情報Ｍ</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22943419"/>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4</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3">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イメージング</a:t>
                      </a:r>
                      <a:r>
                        <a:rPr kumimoji="1" lang="en-US" altLang="ja-JP" sz="600" b="0" kern="1200" dirty="0">
                          <a:solidFill>
                            <a:schemeClr val="tx1"/>
                          </a:solidFill>
                          <a:latin typeface="+mn-lt"/>
                          <a:ea typeface="+mn-ea"/>
                          <a:cs typeface="+mn-cs"/>
                        </a:rPr>
                        <a:t>)</a:t>
                      </a:r>
                    </a:p>
                    <a:p>
                      <a:pPr marL="0" algn="l" defTabSz="914400" rtl="0" eaLnBrk="1" fontAlgn="ctr" latinLnBrk="0" hangingPunct="1"/>
                      <a:r>
                        <a:rPr kumimoji="1" lang="ja-JP" altLang="en-US" sz="600" b="0" kern="1200" dirty="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イメージング</a:t>
                      </a:r>
                      <a:r>
                        <a:rPr kumimoji="1" lang="en-US" altLang="ja-JP" sz="600" b="0" kern="1200" dirty="0">
                          <a:solidFill>
                            <a:schemeClr val="tx1"/>
                          </a:solidFill>
                          <a:latin typeface="+mn-lt"/>
                          <a:ea typeface="+mn-ea"/>
                          <a:cs typeface="+mn-cs"/>
                        </a:rPr>
                        <a:t>) </a:t>
                      </a:r>
                      <a:r>
                        <a:rPr kumimoji="1" lang="ja-JP" altLang="en-US" sz="600" b="0" kern="1200" dirty="0">
                          <a:solidFill>
                            <a:schemeClr val="tx1"/>
                          </a:solidFill>
                          <a:latin typeface="+mn-lt"/>
                          <a:ea typeface="+mn-ea"/>
                          <a:cs typeface="+mn-cs"/>
                        </a:rPr>
                        <a:t>製品仕様書 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533943938"/>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5</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algn="l" defTabSz="914400" rtl="0" eaLnBrk="1" fontAlgn="ctr" latinLnBrk="0" hangingPunct="1"/>
                      <a:endParaRPr kumimoji="1" lang="ja-JP" altLang="en-US" sz="1100" b="0" kern="1200">
                        <a:solidFill>
                          <a:schemeClr val="tx1"/>
                        </a:solidFill>
                        <a:latin typeface="+mn-lt"/>
                        <a:ea typeface="+mn-ea"/>
                        <a:cs typeface="+mn-cs"/>
                      </a:endParaRPr>
                    </a:p>
                  </a:txBody>
                  <a:tcPr marL="36000" marR="360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イメージング</a:t>
                      </a:r>
                      <a:r>
                        <a:rPr kumimoji="1" lang="en-US" altLang="ja-JP" sz="600" b="0" kern="1200" dirty="0">
                          <a:solidFill>
                            <a:schemeClr val="tx1"/>
                          </a:solidFill>
                          <a:latin typeface="+mn-lt"/>
                          <a:ea typeface="+mn-ea"/>
                          <a:cs typeface="+mn-cs"/>
                        </a:rPr>
                        <a:t>) </a:t>
                      </a:r>
                      <a:r>
                        <a:rPr kumimoji="1" lang="ja-JP" altLang="en-US" sz="600" b="0" kern="1200" dirty="0">
                          <a:solidFill>
                            <a:schemeClr val="tx1"/>
                          </a:solidFill>
                          <a:latin typeface="+mn-lt"/>
                          <a:ea typeface="+mn-ea"/>
                          <a:cs typeface="+mn-cs"/>
                        </a:rPr>
                        <a:t>関連文書</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4890753"/>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6</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algn="l" defTabSz="914400" rtl="0" eaLnBrk="1" fontAlgn="ctr" latinLnBrk="0" hangingPunct="1"/>
                      <a:endParaRPr kumimoji="1" lang="ja-JP" altLang="en-US" sz="1100" b="0" kern="1200">
                        <a:solidFill>
                          <a:schemeClr val="tx1"/>
                        </a:solidFill>
                        <a:latin typeface="+mn-lt"/>
                        <a:ea typeface="+mn-ea"/>
                        <a:cs typeface="+mn-cs"/>
                      </a:endParaRPr>
                    </a:p>
                  </a:txBody>
                  <a:tcPr marL="36000" marR="360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ja-JP" sz="600" b="0" kern="1200">
                          <a:solidFill>
                            <a:schemeClr val="tx1"/>
                          </a:solidFill>
                          <a:latin typeface="+mn-lt"/>
                          <a:ea typeface="+mn-ea"/>
                          <a:cs typeface="+mn-cs"/>
                        </a:rPr>
                        <a:t>(</a:t>
                      </a:r>
                      <a:r>
                        <a:rPr kumimoji="1" lang="ja-JP" altLang="en-US" sz="600" b="0" kern="1200">
                          <a:solidFill>
                            <a:schemeClr val="tx1"/>
                          </a:solidFill>
                          <a:latin typeface="+mn-lt"/>
                          <a:ea typeface="+mn-ea"/>
                          <a:cs typeface="+mn-cs"/>
                        </a:rPr>
                        <a:t>イメージング</a:t>
                      </a:r>
                      <a:r>
                        <a:rPr kumimoji="1" lang="en-US" altLang="ja-JP" sz="600" b="0" kern="1200">
                          <a:solidFill>
                            <a:schemeClr val="tx1"/>
                          </a:solidFill>
                          <a:latin typeface="+mn-lt"/>
                          <a:ea typeface="+mn-ea"/>
                          <a:cs typeface="+mn-cs"/>
                        </a:rPr>
                        <a:t>) </a:t>
                      </a:r>
                      <a:r>
                        <a:rPr kumimoji="1" lang="ja-JP" altLang="en-US" sz="600" b="0" kern="1200">
                          <a:solidFill>
                            <a:schemeClr val="tx1"/>
                          </a:solidFill>
                          <a:latin typeface="+mn-lt"/>
                          <a:ea typeface="+mn-ea"/>
                          <a:cs typeface="+mn-cs"/>
                        </a:rPr>
                        <a:t>品質情報Ｍ</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418703620"/>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7</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3">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ガリナイ</a:t>
                      </a:r>
                      <a:r>
                        <a:rPr kumimoji="1" lang="en-US" altLang="ja-JP" sz="600" b="0" kern="1200" dirty="0">
                          <a:solidFill>
                            <a:schemeClr val="tx1"/>
                          </a:solidFill>
                          <a:latin typeface="+mn-lt"/>
                          <a:ea typeface="+mn-ea"/>
                          <a:cs typeface="+mn-cs"/>
                        </a:rPr>
                        <a:t>)</a:t>
                      </a:r>
                    </a:p>
                    <a:p>
                      <a:pPr marL="0" algn="l" defTabSz="914400" rtl="0" eaLnBrk="1" fontAlgn="ctr" latinLnBrk="0" hangingPunct="1"/>
                      <a:r>
                        <a:rPr kumimoji="1" lang="ja-JP" altLang="en-US" sz="600" b="0" kern="1200" dirty="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ガリナイ</a:t>
                      </a:r>
                      <a:r>
                        <a:rPr kumimoji="1" lang="en-US" altLang="ja-JP" sz="600" b="0" kern="1200" dirty="0">
                          <a:solidFill>
                            <a:schemeClr val="tx1"/>
                          </a:solidFill>
                          <a:latin typeface="+mn-lt"/>
                          <a:ea typeface="+mn-ea"/>
                          <a:cs typeface="+mn-cs"/>
                        </a:rPr>
                        <a:t>) </a:t>
                      </a:r>
                      <a:r>
                        <a:rPr kumimoji="1" lang="ja-JP" altLang="en-US" sz="600" b="0" kern="1200" dirty="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08352444"/>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8</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algn="l" defTabSz="914400" rtl="0" eaLnBrk="1" fontAlgn="ctr" latinLnBrk="0" hangingPunct="1"/>
                      <a:endParaRPr kumimoji="1" lang="ja-JP" altLang="en-US" sz="1100" b="0" kern="1200">
                        <a:solidFill>
                          <a:schemeClr val="tx1"/>
                        </a:solidFill>
                        <a:latin typeface="+mn-lt"/>
                        <a:ea typeface="+mn-ea"/>
                        <a:cs typeface="+mn-cs"/>
                      </a:endParaRPr>
                    </a:p>
                  </a:txBody>
                  <a:tcPr marL="36000" marR="360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ja-JP" sz="600" b="0" kern="1200">
                          <a:solidFill>
                            <a:schemeClr val="tx1"/>
                          </a:solidFill>
                          <a:latin typeface="+mn-lt"/>
                          <a:ea typeface="+mn-ea"/>
                          <a:cs typeface="+mn-cs"/>
                        </a:rPr>
                        <a:t>(</a:t>
                      </a:r>
                      <a:r>
                        <a:rPr kumimoji="1" lang="ja-JP" altLang="en-US" sz="600" b="0" kern="1200">
                          <a:solidFill>
                            <a:schemeClr val="tx1"/>
                          </a:solidFill>
                          <a:latin typeface="+mn-lt"/>
                          <a:ea typeface="+mn-ea"/>
                          <a:cs typeface="+mn-cs"/>
                        </a:rPr>
                        <a:t>ガリナイ</a:t>
                      </a:r>
                      <a:r>
                        <a:rPr kumimoji="1" lang="en-US" altLang="ja-JP" sz="600" b="0" kern="1200">
                          <a:solidFill>
                            <a:schemeClr val="tx1"/>
                          </a:solidFill>
                          <a:latin typeface="+mn-lt"/>
                          <a:ea typeface="+mn-ea"/>
                          <a:cs typeface="+mn-cs"/>
                        </a:rPr>
                        <a:t>) </a:t>
                      </a:r>
                      <a:r>
                        <a:rPr kumimoji="1" lang="ja-JP" altLang="en-US" sz="600" b="0" kern="1200">
                          <a:solidFill>
                            <a:schemeClr val="tx1"/>
                          </a:solidFill>
                          <a:latin typeface="+mn-lt"/>
                          <a:ea typeface="+mn-ea"/>
                          <a:cs typeface="+mn-cs"/>
                        </a:rPr>
                        <a:t>関連文書</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05427576"/>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9</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algn="l" defTabSz="914400" rtl="0" eaLnBrk="1" fontAlgn="ctr" latinLnBrk="0" hangingPunct="1"/>
                      <a:endParaRPr kumimoji="1" lang="ja-JP" altLang="en-US" sz="1100" b="0" kern="1200">
                        <a:solidFill>
                          <a:schemeClr val="tx1"/>
                        </a:solidFill>
                        <a:latin typeface="+mn-lt"/>
                        <a:ea typeface="+mn-ea"/>
                        <a:cs typeface="+mn-cs"/>
                      </a:endParaRPr>
                    </a:p>
                  </a:txBody>
                  <a:tcPr marL="36000" marR="360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ガリナイ</a:t>
                      </a:r>
                      <a:r>
                        <a:rPr kumimoji="1" lang="en-US" altLang="ja-JP" sz="600" b="0" kern="1200" dirty="0">
                          <a:solidFill>
                            <a:schemeClr val="tx1"/>
                          </a:solidFill>
                          <a:latin typeface="+mn-lt"/>
                          <a:ea typeface="+mn-ea"/>
                          <a:cs typeface="+mn-cs"/>
                        </a:rPr>
                        <a:t>) </a:t>
                      </a:r>
                      <a:r>
                        <a:rPr kumimoji="1" lang="ja-JP" altLang="en-US" sz="600" b="0" kern="1200" dirty="0">
                          <a:solidFill>
                            <a:schemeClr val="tx1"/>
                          </a:solidFill>
                          <a:latin typeface="+mn-lt"/>
                          <a:ea typeface="+mn-ea"/>
                          <a:cs typeface="+mn-cs"/>
                        </a:rPr>
                        <a:t>品質情報Ｍ</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45219389"/>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10</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ディスプ</a:t>
                      </a:r>
                      <a:r>
                        <a:rPr kumimoji="1" lang="en-US" altLang="ja-JP" sz="600" b="0" kern="1200" dirty="0">
                          <a:solidFill>
                            <a:schemeClr val="tx1"/>
                          </a:solidFill>
                          <a:latin typeface="+mn-lt"/>
                          <a:ea typeface="+mn-ea"/>
                          <a:cs typeface="+mn-cs"/>
                        </a:rPr>
                        <a:t>) </a:t>
                      </a:r>
                    </a:p>
                    <a:p>
                      <a:pPr marL="0" algn="l" defTabSz="914400" rtl="0" eaLnBrk="1" fontAlgn="ctr" latinLnBrk="0" hangingPunct="1"/>
                      <a:r>
                        <a:rPr kumimoji="1" lang="ja-JP" altLang="en-US" sz="600" b="0" kern="1200" dirty="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en-US" altLang="ja-JP" sz="600" b="0" kern="1200">
                          <a:solidFill>
                            <a:schemeClr val="tx1"/>
                          </a:solidFill>
                          <a:latin typeface="+mn-lt"/>
                          <a:ea typeface="+mn-ea"/>
                          <a:cs typeface="+mn-cs"/>
                        </a:rPr>
                        <a:t>(</a:t>
                      </a:r>
                      <a:r>
                        <a:rPr kumimoji="1" lang="ja-JP" altLang="en-US" sz="600" b="0" kern="1200">
                          <a:solidFill>
                            <a:schemeClr val="tx1"/>
                          </a:solidFill>
                          <a:latin typeface="+mn-lt"/>
                          <a:ea typeface="+mn-ea"/>
                          <a:cs typeface="+mn-cs"/>
                        </a:rPr>
                        <a:t>ディスプ</a:t>
                      </a:r>
                      <a:r>
                        <a:rPr kumimoji="1" lang="en-US" altLang="ja-JP" sz="600" b="0" kern="1200">
                          <a:solidFill>
                            <a:schemeClr val="tx1"/>
                          </a:solidFill>
                          <a:latin typeface="+mn-lt"/>
                          <a:ea typeface="+mn-ea"/>
                          <a:cs typeface="+mn-cs"/>
                        </a:rPr>
                        <a:t>) </a:t>
                      </a:r>
                      <a:r>
                        <a:rPr kumimoji="1" lang="ja-JP" altLang="en-US" sz="600" b="0" kern="120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192444399"/>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1</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4">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ja-JP" altLang="en-US" sz="600" b="0" kern="1200" noProof="0" dirty="0">
                          <a:solidFill>
                            <a:schemeClr val="tx1"/>
                          </a:solidFill>
                          <a:latin typeface="+mn-lt"/>
                          <a:ea typeface="+mn-ea"/>
                          <a:cs typeface="+mn-cs"/>
                        </a:rPr>
                        <a:t>納入仕様書管理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zh-TW" altLang="en-US" sz="600" b="0" kern="1200" dirty="0">
                          <a:solidFill>
                            <a:schemeClr val="tx1"/>
                          </a:solidFill>
                          <a:latin typeface="+mn-lt"/>
                          <a:ea typeface="+mn-ea"/>
                          <a:cs typeface="+mn-cs"/>
                        </a:rPr>
                        <a:t>納入仕様書 管理</a:t>
                      </a:r>
                    </a:p>
                  </a:txBody>
                  <a:tcPr marL="46800" marR="468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7492847"/>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2</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1" lang="ja-JP" altLang="en-US" sz="1100" b="0" i="0" u="none" strike="noStrike" kern="1200" cap="none" spc="0" normalizeH="0" baseline="0" noProof="0">
                        <a:ln>
                          <a:noFill/>
                        </a:ln>
                        <a:solidFill>
                          <a:srgbClr val="000000"/>
                        </a:solidFill>
                        <a:effectLst/>
                        <a:uLnTx/>
                        <a:uFillTx/>
                        <a:latin typeface="Arial"/>
                        <a:ea typeface="游ゴシック Medium"/>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en-US" altLang="ja-JP" sz="600" b="0" kern="1200">
                          <a:solidFill>
                            <a:schemeClr val="tx1"/>
                          </a:solidFill>
                          <a:latin typeface="+mn-lt"/>
                          <a:ea typeface="+mn-ea"/>
                          <a:cs typeface="+mn-cs"/>
                        </a:rPr>
                        <a:t>【</a:t>
                      </a:r>
                      <a:r>
                        <a:rPr kumimoji="1" lang="ja-JP" altLang="en-US" sz="600" b="0" kern="1200">
                          <a:solidFill>
                            <a:schemeClr val="tx1"/>
                          </a:solidFill>
                          <a:latin typeface="+mn-lt"/>
                          <a:ea typeface="+mn-ea"/>
                          <a:cs typeface="+mn-cs"/>
                        </a:rPr>
                        <a:t>アーカイブ</a:t>
                      </a:r>
                      <a:r>
                        <a:rPr kumimoji="1" lang="en-US" altLang="ja-JP" sz="600" b="0" kern="1200">
                          <a:solidFill>
                            <a:schemeClr val="tx1"/>
                          </a:solidFill>
                          <a:latin typeface="+mn-lt"/>
                          <a:ea typeface="+mn-ea"/>
                          <a:cs typeface="+mn-cs"/>
                        </a:rPr>
                        <a:t>】</a:t>
                      </a:r>
                      <a:r>
                        <a:rPr kumimoji="1" lang="ja-JP" altLang="en-US" sz="600" b="0" kern="1200">
                          <a:solidFill>
                            <a:schemeClr val="tx1"/>
                          </a:solidFill>
                          <a:latin typeface="+mn-lt"/>
                          <a:ea typeface="+mn-ea"/>
                          <a:cs typeface="+mn-cs"/>
                        </a:rPr>
                        <a:t>納入仕様書 管理</a:t>
                      </a:r>
                    </a:p>
                  </a:txBody>
                  <a:tcPr marL="46800" marR="468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06526466"/>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3</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1" lang="ja-JP" altLang="en-US" sz="1100" b="0" i="0" u="none" strike="noStrike" kern="1200" cap="none" spc="0" normalizeH="0" baseline="0" noProof="0">
                        <a:ln>
                          <a:noFill/>
                        </a:ln>
                        <a:solidFill>
                          <a:srgbClr val="000000"/>
                        </a:solidFill>
                        <a:effectLst/>
                        <a:uLnTx/>
                        <a:uFillTx/>
                        <a:latin typeface="Arial"/>
                        <a:ea typeface="游ゴシック Medium"/>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zh-TW" sz="600" b="0" kern="1200" dirty="0">
                          <a:solidFill>
                            <a:schemeClr val="tx1"/>
                          </a:solidFill>
                          <a:latin typeface="+mn-lt"/>
                          <a:ea typeface="+mn-ea"/>
                          <a:cs typeface="+mn-cs"/>
                        </a:rPr>
                        <a:t>(</a:t>
                      </a:r>
                      <a:r>
                        <a:rPr kumimoji="1" lang="zh-TW" altLang="en-US" sz="600" b="0" kern="1200" dirty="0">
                          <a:solidFill>
                            <a:schemeClr val="tx1"/>
                          </a:solidFill>
                          <a:latin typeface="+mn-lt"/>
                          <a:ea typeface="+mn-ea"/>
                          <a:cs typeface="+mn-cs"/>
                        </a:rPr>
                        <a:t>黒崎</a:t>
                      </a:r>
                      <a:r>
                        <a:rPr kumimoji="1" lang="en-US" altLang="zh-TW" sz="600" b="0" kern="1200" dirty="0">
                          <a:solidFill>
                            <a:schemeClr val="tx1"/>
                          </a:solidFill>
                          <a:latin typeface="+mn-lt"/>
                          <a:ea typeface="+mn-ea"/>
                          <a:cs typeface="+mn-cs"/>
                        </a:rPr>
                        <a:t>)</a:t>
                      </a:r>
                      <a:r>
                        <a:rPr kumimoji="1" lang="zh-TW" altLang="en-US" sz="600" b="0" kern="1200" dirty="0">
                          <a:solidFill>
                            <a:schemeClr val="tx1"/>
                          </a:solidFill>
                          <a:latin typeface="+mn-lt"/>
                          <a:ea typeface="+mn-ea"/>
                          <a:cs typeface="+mn-cs"/>
                        </a:rPr>
                        <a:t>仕様書 関連文書</a:t>
                      </a:r>
                    </a:p>
                  </a:txBody>
                  <a:tcPr marL="46800" marR="468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93798787"/>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4</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1" lang="ja-JP" altLang="en-US" sz="1100" b="0" i="0" u="none" strike="noStrike" kern="1200" cap="none" spc="0" normalizeH="0" baseline="0" noProof="0">
                        <a:ln>
                          <a:noFill/>
                        </a:ln>
                        <a:solidFill>
                          <a:srgbClr val="000000"/>
                        </a:solidFill>
                        <a:effectLst/>
                        <a:uLnTx/>
                        <a:uFillTx/>
                        <a:latin typeface="Arial"/>
                        <a:ea typeface="游ゴシック Medium"/>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zh-TW" sz="600" b="0" kern="1200" dirty="0">
                          <a:solidFill>
                            <a:schemeClr val="tx1"/>
                          </a:solidFill>
                          <a:latin typeface="+mn-lt"/>
                          <a:ea typeface="+mn-ea"/>
                          <a:cs typeface="+mn-cs"/>
                        </a:rPr>
                        <a:t>(</a:t>
                      </a:r>
                      <a:r>
                        <a:rPr kumimoji="1" lang="zh-TW" altLang="en-US" sz="600" b="0" kern="1200" dirty="0">
                          <a:solidFill>
                            <a:schemeClr val="tx1"/>
                          </a:solidFill>
                          <a:latin typeface="+mn-lt"/>
                          <a:ea typeface="+mn-ea"/>
                          <a:cs typeface="+mn-cs"/>
                        </a:rPr>
                        <a:t>黒崎</a:t>
                      </a:r>
                      <a:r>
                        <a:rPr kumimoji="1" lang="en-US" altLang="zh-TW" sz="600" b="0" kern="1200" dirty="0">
                          <a:solidFill>
                            <a:schemeClr val="tx1"/>
                          </a:solidFill>
                          <a:latin typeface="+mn-lt"/>
                          <a:ea typeface="+mn-ea"/>
                          <a:cs typeface="+mn-cs"/>
                        </a:rPr>
                        <a:t>)</a:t>
                      </a:r>
                      <a:r>
                        <a:rPr kumimoji="1" lang="zh-TW" altLang="en-US" sz="600" b="0" kern="1200" dirty="0">
                          <a:solidFill>
                            <a:schemeClr val="tx1"/>
                          </a:solidFill>
                          <a:latin typeface="+mn-lt"/>
                          <a:ea typeface="+mn-ea"/>
                          <a:cs typeface="+mn-cs"/>
                        </a:rPr>
                        <a:t>品質情報ﾏｽﾀ</a:t>
                      </a:r>
                      <a:r>
                        <a:rPr kumimoji="1" lang="en-US" altLang="zh-TW" sz="600" b="0" kern="1200" dirty="0">
                          <a:solidFill>
                            <a:schemeClr val="tx1"/>
                          </a:solidFill>
                          <a:latin typeface="+mn-lt"/>
                          <a:ea typeface="+mn-ea"/>
                          <a:cs typeface="+mn-cs"/>
                        </a:rPr>
                        <a:t>-</a:t>
                      </a:r>
                    </a:p>
                  </a:txBody>
                  <a:tcPr marL="46800" marR="468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02442234"/>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1</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ja-JP" altLang="en-US" sz="600" b="0" kern="1200" dirty="0">
                          <a:solidFill>
                            <a:schemeClr val="tx1"/>
                          </a:solidFill>
                          <a:latin typeface="+mn-lt"/>
                          <a:ea typeface="+mn-ea"/>
                          <a:cs typeface="+mn-cs"/>
                        </a:rPr>
                        <a:t>貿易管理・納入仕様書ＤＢ</a:t>
                      </a:r>
                    </a:p>
                  </a:txBody>
                  <a:tcPr marL="9525"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endParaRPr lang="ja-JP" altLang="en-US" sz="1000" dirty="0"/>
                    </a:p>
                  </a:txBody>
                  <a:tcPr marL="46800" marR="468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144546574"/>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2</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ja-JP" altLang="en-US" sz="600" b="0" kern="1200">
                          <a:solidFill>
                            <a:schemeClr val="tx1"/>
                          </a:solidFill>
                          <a:latin typeface="+mn-lt"/>
                          <a:ea typeface="+mn-ea"/>
                          <a:cs typeface="+mn-cs"/>
                        </a:rPr>
                        <a:t>納入仕様書システム</a:t>
                      </a:r>
                    </a:p>
                  </a:txBody>
                  <a:tcPr marL="9525"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endParaRPr lang="ja-JP" altLang="en-US" sz="1000" dirty="0"/>
                    </a:p>
                  </a:txBody>
                  <a:tcPr marL="46800" marR="468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98560373"/>
                  </a:ext>
                </a:extLst>
              </a:tr>
            </a:tbl>
          </a:graphicData>
        </a:graphic>
      </p:graphicFrame>
      <p:sp>
        <p:nvSpPr>
          <p:cNvPr id="16" name="テキスト ボックス 15">
            <a:extLst>
              <a:ext uri="{FF2B5EF4-FFF2-40B4-BE49-F238E27FC236}">
                <a16:creationId xmlns:a16="http://schemas.microsoft.com/office/drawing/2014/main" id="{C702C9C8-33E8-D3B8-9029-7D5B2B315322}"/>
              </a:ext>
            </a:extLst>
          </p:cNvPr>
          <p:cNvSpPr txBox="1"/>
          <p:nvPr/>
        </p:nvSpPr>
        <p:spPr>
          <a:xfrm>
            <a:off x="311630" y="3622150"/>
            <a:ext cx="676656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1" i="0" u="none" strike="noStrike" kern="1200" cap="none" spc="0" normalizeH="0" baseline="0" noProof="0">
                <a:ln>
                  <a:noFill/>
                </a:ln>
                <a:solidFill>
                  <a:prstClr val="black"/>
                </a:solidFill>
                <a:effectLst/>
                <a:uLnTx/>
                <a:uFillTx/>
                <a:latin typeface="Gill Sans MT"/>
                <a:ea typeface="游ゴシック" panose="020B0400000000000000" pitchFamily="50" charset="-128"/>
                <a:cs typeface="+mn-cs"/>
              </a:rPr>
              <a:t>Round1</a:t>
            </a:r>
            <a:r>
              <a:rPr kumimoji="1" lang="ja-JP" altLang="en-US" sz="800" b="1" i="0" u="none" strike="noStrike" kern="1200" cap="none" spc="0" normalizeH="0" baseline="0" noProof="0">
                <a:ln>
                  <a:noFill/>
                </a:ln>
                <a:solidFill>
                  <a:prstClr val="black"/>
                </a:solidFill>
                <a:effectLst/>
                <a:uLnTx/>
                <a:uFillTx/>
                <a:latin typeface="Gill Sans MT"/>
                <a:ea typeface="游ゴシック" panose="020B0400000000000000" pitchFamily="50" charset="-128"/>
                <a:cs typeface="+mn-cs"/>
              </a:rPr>
              <a:t>対象機能想定</a:t>
            </a:r>
          </a:p>
        </p:txBody>
      </p:sp>
      <p:sp>
        <p:nvSpPr>
          <p:cNvPr id="4" name="四角形: 角を丸くする 3">
            <a:extLst>
              <a:ext uri="{FF2B5EF4-FFF2-40B4-BE49-F238E27FC236}">
                <a16:creationId xmlns:a16="http://schemas.microsoft.com/office/drawing/2014/main" id="{945A44B2-4077-231F-4CBD-D5A2C5112F05}"/>
              </a:ext>
            </a:extLst>
          </p:cNvPr>
          <p:cNvSpPr/>
          <p:nvPr/>
        </p:nvSpPr>
        <p:spPr>
          <a:xfrm>
            <a:off x="8911647" y="3194304"/>
            <a:ext cx="3249729" cy="1207726"/>
          </a:xfrm>
          <a:prstGeom prst="roundRect">
            <a:avLst>
              <a:gd name="adj" fmla="val 6115"/>
            </a:avLst>
          </a:prstGeom>
          <a:solidFill>
            <a:schemeClr val="accent6">
              <a:lumMod val="20000"/>
              <a:lumOff val="80000"/>
              <a:alpha val="50000"/>
            </a:schemeClr>
          </a:solidFill>
          <a:ln w="317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Round2, Round3</a:t>
            </a:r>
            <a:r>
              <a:rPr kumimoji="1" lang="ja-JP" altLang="en-US" sz="10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に関する説明：</a:t>
            </a:r>
            <a:endParaRPr kumimoji="1" lang="en-US" altLang="ja-JP" sz="10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システム全体は一つ</a:t>
            </a:r>
            <a:r>
              <a:rPr kumimoji="1" lang="en-US" altLang="ja-JP" sz="8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App</a:t>
            </a:r>
            <a:r>
              <a:rPr kumimoji="1" lang="ja-JP" altLang="en-US" sz="8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になるため、</a:t>
            </a:r>
            <a:r>
              <a:rPr kumimoji="1" lang="en-US" altLang="ja-JP" sz="8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Round2,3</a:t>
            </a:r>
            <a:r>
              <a:rPr kumimoji="1" lang="ja-JP" altLang="en-US" sz="8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の主作業は移行作業</a:t>
            </a:r>
            <a:endParaRPr kumimoji="1" lang="en-US" altLang="ja-JP" sz="8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移行ツールの入力となる</a:t>
            </a:r>
            <a:r>
              <a:rPr kumimoji="1" lang="en-US" altLang="ja-JP"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DB</a:t>
            </a:r>
            <a:r>
              <a:rPr kumimoji="1" lang="ja-JP" altLang="en-US"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ファイルの差異の対応</a:t>
            </a:r>
            <a:endParaRPr kumimoji="1" lang="en-US" altLang="ja-JP"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入力データの差異によりの</a:t>
            </a:r>
            <a:r>
              <a:rPr kumimoji="1" lang="en-US" altLang="ja-JP"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Data mapping</a:t>
            </a:r>
            <a:r>
              <a:rPr kumimoji="1" lang="ja-JP" altLang="en-US"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の見直す</a:t>
            </a:r>
            <a:endParaRPr kumimoji="1" lang="en-US" altLang="ja-JP"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ツール実行</a:t>
            </a:r>
            <a:endParaRPr kumimoji="1" lang="en-US" altLang="ja-JP"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移行前後データの比較、差異分析、必要によりの対応、移行報告</a:t>
            </a:r>
            <a:endParaRPr kumimoji="1" lang="en-US" altLang="ja-JP"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8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会社・組織の業務差異</a:t>
            </a:r>
            <a:r>
              <a:rPr kumimoji="1" lang="en-US" altLang="ja-JP" sz="8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a:t>
            </a:r>
            <a:r>
              <a:rPr kumimoji="1" lang="ja-JP" altLang="en-US" sz="8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表現差異対応、エンハンス要件がない限り、</a:t>
            </a:r>
            <a:r>
              <a:rPr kumimoji="1" lang="en-US" altLang="ja-JP" sz="8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Round2, Round3</a:t>
            </a:r>
            <a:r>
              <a:rPr kumimoji="1" lang="ja-JP" altLang="en-US" sz="8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のリリース自体は不要</a:t>
            </a:r>
            <a:endParaRPr kumimoji="1" lang="en-US" altLang="ja-JP" sz="8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 Round2, Round3</a:t>
            </a:r>
            <a:r>
              <a:rPr kumimoji="1" lang="ja-JP" altLang="en-US"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の本質は：</a:t>
            </a:r>
            <a:r>
              <a:rPr kumimoji="1" lang="en-US" altLang="ja-JP"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 Round2, Round3</a:t>
            </a:r>
            <a:r>
              <a:rPr kumimoji="1" lang="ja-JP" altLang="en-US"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対象部署の履歴が利用可能時期のみ</a:t>
            </a:r>
            <a:endParaRPr kumimoji="1" lang="en-US" altLang="ja-JP"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endParaRPr>
          </a:p>
        </p:txBody>
      </p:sp>
      <p:sp>
        <p:nvSpPr>
          <p:cNvPr id="5" name="テキスト ボックス 4">
            <a:extLst>
              <a:ext uri="{FF2B5EF4-FFF2-40B4-BE49-F238E27FC236}">
                <a16:creationId xmlns:a16="http://schemas.microsoft.com/office/drawing/2014/main" id="{B02C6532-98F9-F9CB-4A8C-A2BEE7073D4C}"/>
              </a:ext>
            </a:extLst>
          </p:cNvPr>
          <p:cNvSpPr txBox="1"/>
          <p:nvPr/>
        </p:nvSpPr>
        <p:spPr>
          <a:xfrm>
            <a:off x="414336" y="735600"/>
            <a:ext cx="11469807"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下記スケジュールは弊社の想定で、ご要望に合わせて開始時間について、調整することが可能で、相談させてください。</a:t>
            </a:r>
          </a:p>
        </p:txBody>
      </p:sp>
    </p:spTree>
    <p:extLst>
      <p:ext uri="{BB962C8B-B14F-4D97-AF65-F5344CB8AC3E}">
        <p14:creationId xmlns:p14="http://schemas.microsoft.com/office/powerpoint/2010/main" val="28113508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5AF9E-18AA-8E32-0A94-86C1A922846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36B15A7-7877-8073-8E20-8ED08F2E19EC}"/>
              </a:ext>
            </a:extLst>
          </p:cNvPr>
          <p:cNvSpPr>
            <a:spLocks noGrp="1"/>
          </p:cNvSpPr>
          <p:nvPr>
            <p:ph type="title"/>
          </p:nvPr>
        </p:nvSpPr>
        <p:spPr>
          <a:xfrm>
            <a:off x="414336" y="255263"/>
            <a:ext cx="9327072" cy="683629"/>
          </a:xfrm>
        </p:spPr>
        <p:txBody>
          <a:bodyPr/>
          <a:lstStyle/>
          <a:p>
            <a:r>
              <a:rPr lang="ja-JP" altLang="en-US" dirty="0"/>
              <a:t>見積もり</a:t>
            </a:r>
            <a:endParaRPr lang="ja-JP" altLang="en-US" dirty="0">
              <a:effectLst/>
            </a:endParaRPr>
          </a:p>
        </p:txBody>
      </p:sp>
      <p:graphicFrame>
        <p:nvGraphicFramePr>
          <p:cNvPr id="3" name="表 2">
            <a:extLst>
              <a:ext uri="{FF2B5EF4-FFF2-40B4-BE49-F238E27FC236}">
                <a16:creationId xmlns:a16="http://schemas.microsoft.com/office/drawing/2014/main" id="{1424756A-34A5-E83D-E8E4-8C2423C7A02D}"/>
              </a:ext>
            </a:extLst>
          </p:cNvPr>
          <p:cNvGraphicFramePr>
            <a:graphicFrameLocks noGrp="1"/>
          </p:cNvGraphicFramePr>
          <p:nvPr>
            <p:extLst>
              <p:ext uri="{D42A27DB-BD31-4B8C-83A1-F6EECF244321}">
                <p14:modId xmlns:p14="http://schemas.microsoft.com/office/powerpoint/2010/main" val="166827566"/>
              </p:ext>
            </p:extLst>
          </p:nvPr>
        </p:nvGraphicFramePr>
        <p:xfrm>
          <a:off x="479552" y="836571"/>
          <a:ext cx="11219955" cy="5276694"/>
        </p:xfrm>
        <a:graphic>
          <a:graphicData uri="http://schemas.openxmlformats.org/drawingml/2006/table">
            <a:tbl>
              <a:tblPr firstRow="1" bandRow="1">
                <a:tableStyleId>{7DF18680-E054-41AD-8BC1-D1AEF772440D}</a:tableStyleId>
              </a:tblPr>
              <a:tblGrid>
                <a:gridCol w="1981682">
                  <a:extLst>
                    <a:ext uri="{9D8B030D-6E8A-4147-A177-3AD203B41FA5}">
                      <a16:colId xmlns:a16="http://schemas.microsoft.com/office/drawing/2014/main" val="1822749168"/>
                    </a:ext>
                  </a:extLst>
                </a:gridCol>
                <a:gridCol w="1267618">
                  <a:extLst>
                    <a:ext uri="{9D8B030D-6E8A-4147-A177-3AD203B41FA5}">
                      <a16:colId xmlns:a16="http://schemas.microsoft.com/office/drawing/2014/main" val="1141317570"/>
                    </a:ext>
                  </a:extLst>
                </a:gridCol>
                <a:gridCol w="7970655">
                  <a:extLst>
                    <a:ext uri="{9D8B030D-6E8A-4147-A177-3AD203B41FA5}">
                      <a16:colId xmlns:a16="http://schemas.microsoft.com/office/drawing/2014/main" val="371397195"/>
                    </a:ext>
                  </a:extLst>
                </a:gridCol>
              </a:tblGrid>
              <a:tr h="137622">
                <a:tc>
                  <a:txBody>
                    <a:bodyPr/>
                    <a:lstStyle/>
                    <a:p>
                      <a:pPr marL="0" algn="l" defTabSz="914400" rtl="0" eaLnBrk="1" fontAlgn="b" latinLnBrk="0" hangingPunct="1"/>
                      <a:r>
                        <a:rPr lang="ja-JP" altLang="en-US" sz="1100" b="0" u="none" strike="noStrike" kern="1200" dirty="0">
                          <a:solidFill>
                            <a:schemeClr val="tx1"/>
                          </a:solidFill>
                          <a:effectLst/>
                        </a:rPr>
                        <a:t>工程</a:t>
                      </a:r>
                      <a:endPar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tx1"/>
                          </a:solidFill>
                          <a:effectLst/>
                        </a:rPr>
                        <a:t>工数（</a:t>
                      </a:r>
                      <a:r>
                        <a:rPr lang="de-DE" sz="1100" b="0" u="none" strike="noStrike" kern="1200">
                          <a:solidFill>
                            <a:schemeClr val="tx1"/>
                          </a:solidFill>
                          <a:effectLst/>
                        </a:rPr>
                        <a:t>MM）</a:t>
                      </a:r>
                      <a:endParaRPr lang="de-DE"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tx1"/>
                          </a:solidFill>
                          <a:effectLst/>
                        </a:rPr>
                        <a:t>説明</a:t>
                      </a:r>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306662851"/>
                  </a:ext>
                </a:extLst>
              </a:tr>
              <a:tr h="788202">
                <a:tc>
                  <a:txBody>
                    <a:bodyPr/>
                    <a:lstStyle/>
                    <a:p>
                      <a:pPr marL="0" algn="l" defTabSz="914400" rtl="0" eaLnBrk="1" fontAlgn="b" latinLnBrk="0" hangingPunct="1"/>
                      <a:r>
                        <a:rPr lang="ja-JP" altLang="en-US" sz="1050" b="0" u="none" strike="noStrike" kern="1200" dirty="0">
                          <a:solidFill>
                            <a:schemeClr val="tx1"/>
                          </a:solidFill>
                          <a:effectLst/>
                        </a:rPr>
                        <a:t>要件</a:t>
                      </a:r>
                      <a:r>
                        <a:rPr lang="ja-JP" altLang="en-US" sz="1050" b="0" u="none" strike="noStrike" kern="1200" dirty="0">
                          <a:solidFill>
                            <a:schemeClr val="tx1"/>
                          </a:solidFill>
                          <a:effectLst/>
                          <a:latin typeface="+mn-lt"/>
                          <a:ea typeface="+mn-ea"/>
                          <a:cs typeface="+mn-cs"/>
                        </a:rPr>
                        <a:t>定義理解、仕様確認</a:t>
                      </a: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8.00 </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■製品仕様書管理：</a:t>
                      </a:r>
                      <a:r>
                        <a:rPr lang="en-US" altLang="ja-JP" sz="1050" b="0" u="none" strike="noStrike" kern="1200" dirty="0">
                          <a:solidFill>
                            <a:schemeClr val="tx1"/>
                          </a:solidFill>
                          <a:effectLst/>
                        </a:rPr>
                        <a:t>4.20MM</a:t>
                      </a:r>
                      <a:br>
                        <a:rPr lang="en-US" altLang="ja-JP" sz="1050" b="0" u="none" strike="noStrike" kern="1200" dirty="0">
                          <a:solidFill>
                            <a:schemeClr val="tx1"/>
                          </a:solidFill>
                          <a:effectLst/>
                        </a:rPr>
                      </a:br>
                      <a:r>
                        <a:rPr lang="ja-JP" altLang="en-US" sz="1050" b="0" u="none" strike="noStrike" kern="1200" dirty="0">
                          <a:solidFill>
                            <a:schemeClr val="tx1"/>
                          </a:solidFill>
                          <a:effectLst/>
                        </a:rPr>
                        <a:t>　</a:t>
                      </a:r>
                      <a:r>
                        <a:rPr lang="en-US" altLang="ja-JP" sz="900" b="0" u="none" strike="noStrike" kern="1200" dirty="0">
                          <a:solidFill>
                            <a:schemeClr val="tx1"/>
                          </a:solidFill>
                          <a:effectLst/>
                        </a:rPr>
                        <a:t>1</a:t>
                      </a:r>
                      <a:r>
                        <a:rPr lang="ja-JP" altLang="en-US" sz="900" b="0" u="none" strike="noStrike" kern="1200" dirty="0">
                          <a:solidFill>
                            <a:schemeClr val="tx1"/>
                          </a:solidFill>
                          <a:effectLst/>
                        </a:rPr>
                        <a:t>部署の三つ</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をメインで実施（</a:t>
                      </a:r>
                      <a:r>
                        <a:rPr lang="en-US" altLang="ja-JP" sz="900" b="0" u="none" strike="noStrike" kern="1200" dirty="0">
                          <a:solidFill>
                            <a:schemeClr val="tx1"/>
                          </a:solidFill>
                          <a:effectLst/>
                        </a:rPr>
                        <a:t>2.00MM</a:t>
                      </a:r>
                      <a:r>
                        <a:rPr lang="ja-JP" altLang="en-US" sz="900" b="0" u="none" strike="noStrike" kern="1200" dirty="0">
                          <a:solidFill>
                            <a:schemeClr val="tx1"/>
                          </a:solidFill>
                          <a:effectLst/>
                        </a:rPr>
                        <a:t>）、残り</a:t>
                      </a:r>
                      <a:r>
                        <a:rPr lang="en-US" altLang="ja-JP" sz="900" b="0" u="none" strike="noStrike" kern="1200" dirty="0">
                          <a:solidFill>
                            <a:schemeClr val="tx1"/>
                          </a:solidFill>
                          <a:effectLst/>
                        </a:rPr>
                        <a:t>11</a:t>
                      </a:r>
                      <a:r>
                        <a:rPr lang="ja-JP" altLang="en-US" sz="900" b="0" u="none" strike="noStrike" kern="1200" dirty="0">
                          <a:solidFill>
                            <a:schemeClr val="tx1"/>
                          </a:solidFill>
                          <a:effectLst/>
                        </a:rPr>
                        <a:t>部署の差分解析は</a:t>
                      </a:r>
                      <a:r>
                        <a:rPr lang="en-US" altLang="ja-JP" sz="900" b="0" u="none" strike="noStrike" kern="1200" dirty="0">
                          <a:solidFill>
                            <a:schemeClr val="tx1"/>
                          </a:solidFill>
                          <a:effectLst/>
                        </a:rPr>
                        <a:t>4MD</a:t>
                      </a:r>
                      <a:r>
                        <a:rPr lang="ja-JP" altLang="en-US" sz="900" b="0" u="none" strike="noStrike" kern="1200" dirty="0">
                          <a:solidFill>
                            <a:schemeClr val="tx1"/>
                          </a:solidFill>
                          <a:effectLst/>
                        </a:rPr>
                        <a:t>／</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で</a:t>
                      </a:r>
                      <a:r>
                        <a:rPr lang="en-US" altLang="ja-JP" sz="900" b="0" u="none" strike="noStrike" kern="1200" dirty="0">
                          <a:solidFill>
                            <a:schemeClr val="tx1"/>
                          </a:solidFill>
                          <a:effectLst/>
                        </a:rPr>
                        <a:t>2.20MM</a:t>
                      </a:r>
                      <a:br>
                        <a:rPr lang="en-US" altLang="ja-JP" sz="1050" b="0" u="none" strike="noStrike" kern="1200" dirty="0">
                          <a:solidFill>
                            <a:schemeClr val="tx1"/>
                          </a:solidFill>
                          <a:effectLst/>
                        </a:rPr>
                      </a:br>
                      <a:r>
                        <a:rPr lang="en-US" altLang="ja-JP" sz="1050" b="0" u="none" strike="noStrike" kern="1200" dirty="0">
                          <a:solidFill>
                            <a:schemeClr val="tx1"/>
                          </a:solidFill>
                          <a:effectLst/>
                        </a:rPr>
                        <a:t>■</a:t>
                      </a:r>
                      <a:r>
                        <a:rPr lang="ja-JP" altLang="en-US" sz="1050" b="0" u="none" strike="noStrike" kern="1200" dirty="0">
                          <a:solidFill>
                            <a:schemeClr val="tx1"/>
                          </a:solidFill>
                          <a:effectLst/>
                        </a:rPr>
                        <a:t>納入仕様書管理：</a:t>
                      </a:r>
                      <a:r>
                        <a:rPr lang="en-US" altLang="ja-JP" sz="1050" b="0" u="none" strike="noStrike" kern="1200" dirty="0">
                          <a:solidFill>
                            <a:schemeClr val="tx1"/>
                          </a:solidFill>
                          <a:effectLst/>
                        </a:rPr>
                        <a:t>2.10MM</a:t>
                      </a:r>
                      <a:br>
                        <a:rPr lang="en-US" altLang="ja-JP" sz="1050" b="0" u="none" strike="noStrike" kern="1200" dirty="0">
                          <a:solidFill>
                            <a:schemeClr val="tx1"/>
                          </a:solidFill>
                          <a:effectLst/>
                        </a:rPr>
                      </a:br>
                      <a:r>
                        <a:rPr lang="ja-JP" altLang="en-US" sz="1050" b="0" u="none" strike="noStrike" kern="1200" dirty="0">
                          <a:solidFill>
                            <a:schemeClr val="tx1"/>
                          </a:solidFill>
                          <a:effectLst/>
                        </a:rPr>
                        <a:t>　</a:t>
                      </a:r>
                      <a:r>
                        <a:rPr lang="en-US" altLang="ja-JP" sz="900" b="0" u="none" strike="noStrike" kern="1200" dirty="0">
                          <a:solidFill>
                            <a:schemeClr val="tx1"/>
                          </a:solidFill>
                          <a:effectLst/>
                        </a:rPr>
                        <a:t>1</a:t>
                      </a:r>
                      <a:r>
                        <a:rPr lang="ja-JP" altLang="en-US" sz="900" b="0" u="none" strike="noStrike" kern="1200" dirty="0">
                          <a:solidFill>
                            <a:schemeClr val="tx1"/>
                          </a:solidFill>
                          <a:effectLst/>
                        </a:rPr>
                        <a:t>部署の</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をメインで実施（</a:t>
                      </a:r>
                      <a:r>
                        <a:rPr lang="en-US" altLang="ja-JP" sz="900" b="0" u="none" strike="noStrike" kern="1200" dirty="0">
                          <a:solidFill>
                            <a:schemeClr val="tx1"/>
                          </a:solidFill>
                          <a:effectLst/>
                        </a:rPr>
                        <a:t>1.00MM</a:t>
                      </a:r>
                      <a:r>
                        <a:rPr lang="ja-JP" altLang="en-US" sz="900" b="0" u="none" strike="noStrike" kern="1200" dirty="0">
                          <a:solidFill>
                            <a:schemeClr val="tx1"/>
                          </a:solidFill>
                          <a:effectLst/>
                        </a:rPr>
                        <a:t>）、残り</a:t>
                      </a:r>
                      <a:r>
                        <a:rPr lang="en-US" altLang="ja-JP" sz="900" b="0" u="none" strike="noStrike" kern="1200" dirty="0">
                          <a:solidFill>
                            <a:schemeClr val="tx1"/>
                          </a:solidFill>
                          <a:effectLst/>
                        </a:rPr>
                        <a:t>11</a:t>
                      </a:r>
                      <a:r>
                        <a:rPr lang="ja-JP" altLang="en-US" sz="900" b="0" u="none" strike="noStrike" kern="1200" dirty="0">
                          <a:solidFill>
                            <a:schemeClr val="tx1"/>
                          </a:solidFill>
                          <a:effectLst/>
                        </a:rPr>
                        <a:t>部署の差分解析は</a:t>
                      </a:r>
                      <a:r>
                        <a:rPr lang="en-US" altLang="ja-JP" sz="900" b="0" u="none" strike="noStrike" kern="1200" dirty="0">
                          <a:solidFill>
                            <a:schemeClr val="tx1"/>
                          </a:solidFill>
                          <a:effectLst/>
                        </a:rPr>
                        <a:t>2MD</a:t>
                      </a:r>
                      <a:r>
                        <a:rPr lang="ja-JP" altLang="en-US" sz="900" b="0" u="none" strike="noStrike" kern="1200" dirty="0">
                          <a:solidFill>
                            <a:schemeClr val="tx1"/>
                          </a:solidFill>
                          <a:effectLst/>
                        </a:rPr>
                        <a:t>／</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で</a:t>
                      </a:r>
                      <a:r>
                        <a:rPr lang="en-US" altLang="ja-JP" sz="900" b="0" u="none" strike="noStrike" kern="1200" dirty="0">
                          <a:solidFill>
                            <a:schemeClr val="tx1"/>
                          </a:solidFill>
                          <a:effectLst/>
                        </a:rPr>
                        <a:t>1.10MM</a:t>
                      </a:r>
                      <a:br>
                        <a:rPr lang="en-US" altLang="ja-JP" sz="900" b="0" u="none" strike="noStrike" kern="1200" dirty="0">
                          <a:solidFill>
                            <a:schemeClr val="tx1"/>
                          </a:solidFill>
                          <a:effectLst/>
                        </a:rPr>
                      </a:br>
                      <a:r>
                        <a:rPr lang="en-US" altLang="ja-JP" sz="1050" b="0" u="none" strike="noStrike" kern="1200" dirty="0">
                          <a:solidFill>
                            <a:schemeClr val="tx1"/>
                          </a:solidFill>
                          <a:effectLst/>
                        </a:rPr>
                        <a:t>■</a:t>
                      </a:r>
                      <a:r>
                        <a:rPr lang="ja-JP" altLang="en-US" sz="1050" b="0" u="none" strike="noStrike" kern="1200" dirty="0">
                          <a:solidFill>
                            <a:schemeClr val="tx1"/>
                          </a:solidFill>
                          <a:effectLst/>
                        </a:rPr>
                        <a:t>その他個別</a:t>
                      </a:r>
                      <a:r>
                        <a:rPr lang="en-US" altLang="ja-JP" sz="1050" b="0" u="none" strike="noStrike" kern="1200" dirty="0">
                          <a:solidFill>
                            <a:schemeClr val="tx1"/>
                          </a:solidFill>
                          <a:effectLst/>
                        </a:rPr>
                        <a:t>DB</a:t>
                      </a:r>
                      <a:r>
                        <a:rPr lang="ja-JP" altLang="en-US" sz="1050" b="0" u="none" strike="noStrike" kern="1200" dirty="0">
                          <a:solidFill>
                            <a:schemeClr val="tx1"/>
                          </a:solidFill>
                          <a:effectLst/>
                        </a:rPr>
                        <a:t>：</a:t>
                      </a:r>
                      <a:r>
                        <a:rPr lang="en-US" altLang="ja-JP" sz="1050" b="0" u="none" strike="noStrike" kern="1200" dirty="0">
                          <a:solidFill>
                            <a:schemeClr val="tx1"/>
                          </a:solidFill>
                          <a:effectLst/>
                        </a:rPr>
                        <a:t>1.70MM</a:t>
                      </a:r>
                      <a:br>
                        <a:rPr lang="en-US" altLang="ja-JP" sz="1050" b="0" u="none" strike="noStrike" kern="1200" dirty="0">
                          <a:solidFill>
                            <a:schemeClr val="tx1"/>
                          </a:solidFill>
                          <a:effectLst/>
                        </a:rPr>
                      </a:br>
                      <a:r>
                        <a:rPr lang="ja-JP" altLang="en-US" sz="1050" b="0" u="none" strike="noStrike" kern="1200" dirty="0">
                          <a:solidFill>
                            <a:schemeClr val="tx1"/>
                          </a:solidFill>
                          <a:effectLst/>
                        </a:rPr>
                        <a:t>　</a:t>
                      </a:r>
                      <a:r>
                        <a:rPr lang="en-US" altLang="ja-JP" sz="900" b="0" u="none" strike="noStrike" kern="1200" dirty="0">
                          <a:solidFill>
                            <a:schemeClr val="tx1"/>
                          </a:solidFill>
                          <a:effectLst/>
                        </a:rPr>
                        <a:t>1</a:t>
                      </a:r>
                      <a:r>
                        <a:rPr lang="ja-JP" altLang="en-US" sz="900" b="0" u="none" strike="noStrike" kern="1200" dirty="0">
                          <a:solidFill>
                            <a:schemeClr val="tx1"/>
                          </a:solidFill>
                          <a:effectLst/>
                        </a:rPr>
                        <a:t>部署の</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をメインで実施（</a:t>
                      </a:r>
                      <a:r>
                        <a:rPr lang="en-US" altLang="ja-JP" sz="900" b="0" u="none" strike="noStrike" kern="1200" dirty="0">
                          <a:solidFill>
                            <a:schemeClr val="tx1"/>
                          </a:solidFill>
                          <a:effectLst/>
                        </a:rPr>
                        <a:t>1.00MM</a:t>
                      </a:r>
                      <a:r>
                        <a:rPr lang="ja-JP" altLang="en-US" sz="900" b="0" u="none" strike="noStrike" kern="1200" dirty="0">
                          <a:solidFill>
                            <a:schemeClr val="tx1"/>
                          </a:solidFill>
                          <a:effectLst/>
                        </a:rPr>
                        <a:t>）、残り</a:t>
                      </a:r>
                      <a:r>
                        <a:rPr lang="en-US" altLang="ja-JP" sz="900" b="0" u="none" strike="noStrike" kern="1200" dirty="0">
                          <a:solidFill>
                            <a:schemeClr val="tx1"/>
                          </a:solidFill>
                          <a:effectLst/>
                        </a:rPr>
                        <a:t>7</a:t>
                      </a:r>
                      <a:r>
                        <a:rPr lang="ja-JP" altLang="en-US" sz="900" b="0" u="none" strike="noStrike" kern="1200" dirty="0">
                          <a:solidFill>
                            <a:schemeClr val="tx1"/>
                          </a:solidFill>
                          <a:effectLst/>
                        </a:rPr>
                        <a:t>部署の差分解析は</a:t>
                      </a:r>
                      <a:r>
                        <a:rPr lang="en-US" altLang="ja-JP" sz="900" b="0" u="none" strike="noStrike" kern="1200" dirty="0">
                          <a:solidFill>
                            <a:schemeClr val="tx1"/>
                          </a:solidFill>
                          <a:effectLst/>
                        </a:rPr>
                        <a:t>2MD</a:t>
                      </a:r>
                      <a:r>
                        <a:rPr lang="ja-JP" altLang="en-US" sz="900" b="0" u="none" strike="noStrike" kern="1200" dirty="0">
                          <a:solidFill>
                            <a:schemeClr val="tx1"/>
                          </a:solidFill>
                          <a:effectLst/>
                        </a:rPr>
                        <a:t>／</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で</a:t>
                      </a:r>
                      <a:r>
                        <a:rPr lang="en-US" altLang="ja-JP" sz="900" b="0" u="none" strike="noStrike" kern="1200" dirty="0">
                          <a:solidFill>
                            <a:schemeClr val="tx1"/>
                          </a:solidFill>
                          <a:effectLst/>
                        </a:rPr>
                        <a:t>0.70MM</a:t>
                      </a:r>
                      <a:endParaRPr lang="en-US" altLang="ja-JP" sz="9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625447426"/>
                  </a:ext>
                </a:extLst>
              </a:tr>
              <a:tr h="317802">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構造設計＆</a:t>
                      </a:r>
                      <a:r>
                        <a:rPr lang="en-US" altLang="ja-JP" sz="1050" b="0" u="none" strike="noStrike" kern="1200" dirty="0">
                          <a:solidFill>
                            <a:schemeClr val="tx1"/>
                          </a:solidFill>
                          <a:effectLst/>
                          <a:latin typeface="+mn-lt"/>
                          <a:ea typeface="+mn-ea"/>
                          <a:cs typeface="+mn-cs"/>
                        </a:rPr>
                        <a:t>POC</a:t>
                      </a:r>
                    </a:p>
                    <a:p>
                      <a:pPr marL="0" algn="l" defTabSz="914400" rtl="0" eaLnBrk="1" fontAlgn="b" latinLnBrk="0" hangingPunct="1"/>
                      <a:r>
                        <a:rPr lang="ja-JP" altLang="en-US" sz="1050" b="0" u="none" strike="noStrike" kern="1200" dirty="0">
                          <a:solidFill>
                            <a:schemeClr val="tx1"/>
                          </a:solidFill>
                          <a:effectLst/>
                          <a:latin typeface="+mn-lt"/>
                          <a:ea typeface="+mn-ea"/>
                          <a:cs typeface="+mn-cs"/>
                        </a:rPr>
                        <a:t>（性能</a:t>
                      </a:r>
                      <a:r>
                        <a:rPr lang="en-US" altLang="ja-JP" sz="1050" b="0" u="none" strike="noStrike" kern="1200" dirty="0">
                          <a:solidFill>
                            <a:schemeClr val="tx1"/>
                          </a:solidFill>
                          <a:effectLst/>
                          <a:latin typeface="+mn-lt"/>
                          <a:ea typeface="+mn-ea"/>
                          <a:cs typeface="+mn-cs"/>
                        </a:rPr>
                        <a:t>Facility</a:t>
                      </a:r>
                      <a:r>
                        <a:rPr lang="ja-JP" altLang="en-US" sz="1050" b="0" u="none" strike="noStrike" kern="1200" dirty="0">
                          <a:solidFill>
                            <a:schemeClr val="tx1"/>
                          </a:solidFill>
                          <a:effectLst/>
                          <a:latin typeface="+mn-lt"/>
                          <a:ea typeface="+mn-ea"/>
                          <a:cs typeface="+mn-cs"/>
                        </a:rPr>
                        <a:t>含む）</a:t>
                      </a: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8.00</a:t>
                      </a:r>
                    </a:p>
                  </a:txBody>
                  <a:tcPr marL="0" marR="0" marT="0" marB="0" anchor="ctr"/>
                </a:tc>
                <a:tc>
                  <a:txBody>
                    <a:bodyPr/>
                    <a:lstStyle/>
                    <a:p>
                      <a:pPr marL="228600" indent="-228600" algn="l" defTabSz="914400" rtl="0" eaLnBrk="1" fontAlgn="b" latinLnBrk="0" hangingPunct="1">
                        <a:buFont typeface="+mj-lt"/>
                        <a:buAutoNum type="arabicPeriod"/>
                      </a:pPr>
                      <a:r>
                        <a:rPr lang="en-US" altLang="ja-JP" sz="1050" b="0" u="none" strike="noStrike" kern="1200" dirty="0">
                          <a:solidFill>
                            <a:schemeClr val="tx1"/>
                          </a:solidFill>
                          <a:effectLst/>
                          <a:latin typeface="+mn-lt"/>
                          <a:ea typeface="+mn-ea"/>
                          <a:cs typeface="+mn-cs"/>
                        </a:rPr>
                        <a:t>Automation Flow</a:t>
                      </a:r>
                      <a:r>
                        <a:rPr lang="ja-JP" altLang="en-US" sz="1050" b="0" u="none" strike="noStrike" kern="1200" dirty="0">
                          <a:solidFill>
                            <a:schemeClr val="tx1"/>
                          </a:solidFill>
                          <a:effectLst/>
                          <a:latin typeface="+mn-lt"/>
                          <a:ea typeface="+mn-ea"/>
                          <a:cs typeface="+mn-cs"/>
                        </a:rPr>
                        <a:t>で複数ファイルまとめて</a:t>
                      </a:r>
                      <a:r>
                        <a:rPr lang="en-US" altLang="ja-JP" sz="1050" b="0" u="none" strike="noStrike" kern="1200" dirty="0">
                          <a:solidFill>
                            <a:schemeClr val="tx1"/>
                          </a:solidFill>
                          <a:effectLst/>
                          <a:latin typeface="+mn-lt"/>
                          <a:ea typeface="+mn-ea"/>
                          <a:cs typeface="+mn-cs"/>
                        </a:rPr>
                        <a:t>Download</a:t>
                      </a:r>
                      <a:r>
                        <a:rPr lang="ja-JP" altLang="en-US" sz="1050" b="0" u="none" strike="noStrike" kern="1200" dirty="0">
                          <a:solidFill>
                            <a:schemeClr val="tx1"/>
                          </a:solidFill>
                          <a:effectLst/>
                          <a:latin typeface="+mn-lt"/>
                          <a:ea typeface="+mn-ea"/>
                          <a:cs typeface="+mn-cs"/>
                        </a:rPr>
                        <a:t>とユーザにより個別ファイル</a:t>
                      </a:r>
                      <a:r>
                        <a:rPr lang="en-US" altLang="ja-JP" sz="1050" b="0" u="none" strike="noStrike" kern="1200" dirty="0">
                          <a:solidFill>
                            <a:schemeClr val="tx1"/>
                          </a:solidFill>
                          <a:effectLst/>
                          <a:latin typeface="+mn-lt"/>
                          <a:ea typeface="+mn-ea"/>
                          <a:cs typeface="+mn-cs"/>
                        </a:rPr>
                        <a:t>Upload/Download</a:t>
                      </a:r>
                      <a:r>
                        <a:rPr lang="ja-JP" altLang="en-US" sz="1050" b="0" u="none" strike="noStrike" kern="1200" dirty="0">
                          <a:solidFill>
                            <a:schemeClr val="tx1"/>
                          </a:solidFill>
                          <a:effectLst/>
                          <a:latin typeface="+mn-lt"/>
                          <a:ea typeface="+mn-ea"/>
                          <a:cs typeface="+mn-cs"/>
                        </a:rPr>
                        <a:t>のコスト差異がなし</a:t>
                      </a:r>
                      <a:endParaRPr lang="en-US" altLang="ja-JP" sz="1050" b="0" u="none" strike="noStrike" kern="1200" dirty="0">
                        <a:solidFill>
                          <a:schemeClr val="tx1"/>
                        </a:solidFill>
                        <a:effectLst/>
                        <a:latin typeface="+mn-lt"/>
                        <a:ea typeface="+mn-ea"/>
                        <a:cs typeface="+mn-cs"/>
                      </a:endParaRPr>
                    </a:p>
                    <a:p>
                      <a:pPr marL="228600" indent="-228600" algn="l" defTabSz="914400" rtl="0" eaLnBrk="1" fontAlgn="b" latinLnBrk="0" hangingPunct="1">
                        <a:buFont typeface="+mj-lt"/>
                        <a:buAutoNum type="arabicPeriod"/>
                      </a:pPr>
                      <a:r>
                        <a:rPr lang="en-US" altLang="ja-JP" sz="1050" b="0" u="none" strike="noStrike" kern="1200" dirty="0">
                          <a:solidFill>
                            <a:schemeClr val="tx1"/>
                          </a:solidFill>
                          <a:effectLst/>
                          <a:latin typeface="+mn-lt"/>
                          <a:ea typeface="+mn-ea"/>
                          <a:cs typeface="+mn-cs"/>
                        </a:rPr>
                        <a:t>5000User</a:t>
                      </a:r>
                      <a:r>
                        <a:rPr lang="ja-JP" altLang="en-US" sz="1050" b="0" u="none" strike="noStrike" kern="1200" dirty="0">
                          <a:solidFill>
                            <a:schemeClr val="tx1"/>
                          </a:solidFill>
                          <a:effectLst/>
                          <a:latin typeface="+mn-lt"/>
                          <a:ea typeface="+mn-ea"/>
                          <a:cs typeface="+mn-cs"/>
                        </a:rPr>
                        <a:t>と</a:t>
                      </a:r>
                      <a:r>
                        <a:rPr lang="en-US" altLang="ja-JP" sz="1050" b="0" u="none" strike="noStrike" kern="1200" dirty="0">
                          <a:solidFill>
                            <a:schemeClr val="tx1"/>
                          </a:solidFill>
                          <a:effectLst/>
                          <a:latin typeface="+mn-lt"/>
                          <a:ea typeface="+mn-ea"/>
                          <a:cs typeface="+mn-cs"/>
                        </a:rPr>
                        <a:t>10000User</a:t>
                      </a:r>
                      <a:r>
                        <a:rPr lang="ja-JP" altLang="en-US" sz="1050" b="0" u="none" strike="noStrike" kern="1200" dirty="0">
                          <a:solidFill>
                            <a:schemeClr val="tx1"/>
                          </a:solidFill>
                          <a:effectLst/>
                          <a:latin typeface="+mn-lt"/>
                          <a:ea typeface="+mn-ea"/>
                          <a:cs typeface="+mn-cs"/>
                        </a:rPr>
                        <a:t>の影響は誤差範囲（</a:t>
                      </a:r>
                      <a:r>
                        <a:rPr lang="en-US" altLang="ja-JP" sz="1050" b="0" u="none" strike="noStrike" kern="1200" dirty="0">
                          <a:solidFill>
                            <a:schemeClr val="tx1"/>
                          </a:solidFill>
                          <a:effectLst/>
                          <a:latin typeface="+mn-lt"/>
                          <a:ea typeface="+mn-ea"/>
                          <a:cs typeface="+mn-cs"/>
                        </a:rPr>
                        <a:t>Sizing</a:t>
                      </a:r>
                      <a:r>
                        <a:rPr lang="ja-JP" altLang="en-US" sz="1050" b="0" u="none" strike="noStrike" kern="1200" dirty="0">
                          <a:solidFill>
                            <a:schemeClr val="tx1"/>
                          </a:solidFill>
                          <a:effectLst/>
                          <a:latin typeface="+mn-lt"/>
                          <a:ea typeface="+mn-ea"/>
                          <a:cs typeface="+mn-cs"/>
                        </a:rPr>
                        <a:t>と性能試験に影響するのみ、性能測定に</a:t>
                      </a:r>
                      <a:r>
                        <a:rPr lang="en-US" altLang="ja-JP" sz="1050" b="0" u="none" strike="noStrike" kern="1200" dirty="0">
                          <a:solidFill>
                            <a:schemeClr val="tx1"/>
                          </a:solidFill>
                          <a:effectLst/>
                          <a:latin typeface="+mn-lt"/>
                          <a:ea typeface="+mn-ea"/>
                          <a:cs typeface="+mn-cs"/>
                        </a:rPr>
                        <a:t>10</a:t>
                      </a:r>
                      <a:r>
                        <a:rPr lang="ja-JP" altLang="en-US" sz="1050" b="0" u="none" strike="noStrike" kern="1200" dirty="0">
                          <a:solidFill>
                            <a:schemeClr val="tx1"/>
                          </a:solidFill>
                          <a:effectLst/>
                          <a:latin typeface="+mn-lt"/>
                          <a:ea typeface="+mn-ea"/>
                          <a:cs typeface="+mn-cs"/>
                        </a:rPr>
                        <a:t>年間データを考えると、略）</a:t>
                      </a:r>
                      <a:endParaRPr lang="en-US" altLang="ja-JP" sz="1050" b="0" u="none" strike="noStrike" kern="1200" dirty="0">
                        <a:solidFill>
                          <a:schemeClr val="tx1"/>
                        </a:solidFill>
                        <a:effectLst/>
                        <a:latin typeface="+mn-lt"/>
                        <a:ea typeface="+mn-ea"/>
                        <a:cs typeface="+mn-cs"/>
                      </a:endParaRPr>
                    </a:p>
                  </a:txBody>
                  <a:tcPr marL="0" marR="0" marT="0" marB="0" anchor="ctr"/>
                </a:tc>
                <a:extLst>
                  <a:ext uri="{0D108BD9-81ED-4DB2-BD59-A6C34878D82A}">
                    <a16:rowId xmlns:a16="http://schemas.microsoft.com/office/drawing/2014/main" val="849158256"/>
                  </a:ext>
                </a:extLst>
              </a:tr>
              <a:tr h="131367">
                <a:tc>
                  <a:txBody>
                    <a:bodyPr/>
                    <a:lstStyle/>
                    <a:p>
                      <a:pPr marL="0" algn="l" defTabSz="914400" rtl="0" eaLnBrk="1" fontAlgn="b" latinLnBrk="0" hangingPunct="1"/>
                      <a:r>
                        <a:rPr lang="ja-JP" altLang="en-US" sz="1050" b="1" u="none" strike="noStrike" kern="1200" dirty="0">
                          <a:solidFill>
                            <a:srgbClr val="0070C0"/>
                          </a:solidFill>
                          <a:effectLst/>
                          <a:latin typeface="+mn-lt"/>
                          <a:ea typeface="+mn-ea"/>
                          <a:cs typeface="+mn-cs"/>
                        </a:rPr>
                        <a:t>ー先行作業工数小計</a:t>
                      </a:r>
                    </a:p>
                  </a:txBody>
                  <a:tcPr marL="0" marR="0" marT="0" marB="0" anchor="ctr"/>
                </a:tc>
                <a:tc>
                  <a:txBody>
                    <a:bodyPr/>
                    <a:lstStyle/>
                    <a:p>
                      <a:pPr marL="0" algn="l" defTabSz="914400" rtl="0" eaLnBrk="1" fontAlgn="b" latinLnBrk="0" hangingPunct="1"/>
                      <a:r>
                        <a:rPr lang="en-US" altLang="ja-JP" sz="1050" b="1" u="none" strike="noStrike" kern="1200" dirty="0">
                          <a:solidFill>
                            <a:srgbClr val="0070C0"/>
                          </a:solidFill>
                          <a:effectLst/>
                          <a:latin typeface="+mn-lt"/>
                          <a:ea typeface="+mn-ea"/>
                          <a:cs typeface="+mn-cs"/>
                        </a:rPr>
                        <a:t>16MM/1440</a:t>
                      </a:r>
                      <a:r>
                        <a:rPr lang="ja-JP" altLang="en-US" sz="1050" b="1" u="none" strike="noStrike" kern="1200" dirty="0">
                          <a:solidFill>
                            <a:srgbClr val="0070C0"/>
                          </a:solidFill>
                          <a:effectLst/>
                          <a:latin typeface="+mn-lt"/>
                          <a:ea typeface="+mn-ea"/>
                          <a:cs typeface="+mn-cs"/>
                        </a:rPr>
                        <a:t>万</a:t>
                      </a:r>
                      <a:endParaRPr lang="en-US" altLang="ja-JP" sz="1050" b="1" u="none" strike="noStrike" kern="1200" dirty="0">
                        <a:solidFill>
                          <a:srgbClr val="0070C0"/>
                        </a:solidFill>
                        <a:effectLst/>
                        <a:latin typeface="+mn-lt"/>
                        <a:ea typeface="+mn-ea"/>
                        <a:cs typeface="+mn-cs"/>
                      </a:endParaRPr>
                    </a:p>
                  </a:txBody>
                  <a:tcPr marL="0" marR="0" marT="0" marB="0" anchor="ctr"/>
                </a:tc>
                <a:tc>
                  <a:txBody>
                    <a:bodyPr/>
                    <a:lstStyle/>
                    <a:p>
                      <a:pPr marL="0" algn="l" defTabSz="914400" rtl="0" eaLnBrk="1" fontAlgn="b" latinLnBrk="0" hangingPunct="1"/>
                      <a:endParaRPr lang="ja-JP" altLang="en-US" sz="1050" b="1" u="none" strike="noStrike" kern="1200" dirty="0">
                        <a:solidFill>
                          <a:srgbClr val="0070C0"/>
                        </a:solidFill>
                        <a:effectLst/>
                        <a:latin typeface="+mn-lt"/>
                        <a:ea typeface="+mn-ea"/>
                        <a:cs typeface="+mn-cs"/>
                      </a:endParaRPr>
                    </a:p>
                  </a:txBody>
                  <a:tcPr marL="0" marR="0" marT="0" marB="0" anchor="ctr"/>
                </a:tc>
                <a:extLst>
                  <a:ext uri="{0D108BD9-81ED-4DB2-BD59-A6C34878D82A}">
                    <a16:rowId xmlns:a16="http://schemas.microsoft.com/office/drawing/2014/main" val="3375774082"/>
                  </a:ext>
                </a:extLst>
              </a:tr>
              <a:tr h="131367">
                <a:tc>
                  <a:txBody>
                    <a:bodyPr/>
                    <a:lstStyle/>
                    <a:p>
                      <a:pPr marL="0" algn="l" defTabSz="914400" rtl="0" eaLnBrk="1" fontAlgn="b" latinLnBrk="0" hangingPunct="1"/>
                      <a:r>
                        <a:rPr lang="ja-JP" altLang="en-US" sz="1050" b="0" u="none" strike="noStrike" kern="1200" dirty="0">
                          <a:solidFill>
                            <a:schemeClr val="tx1"/>
                          </a:solidFill>
                          <a:effectLst/>
                        </a:rPr>
                        <a:t>システム設計①</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12.82 </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開発単体①部分の設計、工数は開発単体工数</a:t>
                      </a:r>
                      <a:r>
                        <a:rPr lang="en-US" altLang="ja-JP" sz="1050" b="0" u="none" strike="noStrike" kern="1200" dirty="0">
                          <a:solidFill>
                            <a:schemeClr val="tx1"/>
                          </a:solidFill>
                          <a:effectLst/>
                        </a:rPr>
                        <a:t>×0.3</a:t>
                      </a:r>
                      <a:r>
                        <a:rPr lang="ja-JP" altLang="en-US" sz="1050" b="0" u="none" strike="noStrike" kern="1200" dirty="0">
                          <a:solidFill>
                            <a:schemeClr val="tx1"/>
                          </a:solidFill>
                          <a:effectLst/>
                        </a:rPr>
                        <a:t>とする</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2204961108"/>
                  </a:ext>
                </a:extLst>
              </a:tr>
              <a:tr h="131367">
                <a:tc>
                  <a:txBody>
                    <a:bodyPr/>
                    <a:lstStyle/>
                    <a:p>
                      <a:pPr marL="0" algn="l" defTabSz="914400" rtl="0" eaLnBrk="1" fontAlgn="b" latinLnBrk="0" hangingPunct="1"/>
                      <a:r>
                        <a:rPr lang="ja-JP" altLang="en-US" sz="1050" b="0" u="none" strike="noStrike" kern="1200" dirty="0">
                          <a:solidFill>
                            <a:schemeClr val="tx1"/>
                          </a:solidFill>
                          <a:effectLst/>
                        </a:rPr>
                        <a:t>システム設計②</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2.00 </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開発単体②部分の設計、</a:t>
                      </a:r>
                      <a:r>
                        <a:rPr lang="en-US" altLang="ja-JP" sz="1050" b="0" u="none" strike="noStrike" kern="1200" dirty="0">
                          <a:solidFill>
                            <a:schemeClr val="tx1"/>
                          </a:solidFill>
                          <a:effectLst/>
                        </a:rPr>
                        <a:t>1</a:t>
                      </a:r>
                      <a:r>
                        <a:rPr lang="ja-JP" altLang="en-US" sz="1050" b="0" u="none" strike="noStrike" kern="1200" dirty="0">
                          <a:solidFill>
                            <a:schemeClr val="tx1"/>
                          </a:solidFill>
                          <a:effectLst/>
                        </a:rPr>
                        <a:t>機能１</a:t>
                      </a:r>
                      <a:r>
                        <a:rPr lang="en-US" altLang="ja-JP" sz="1050" b="0" u="none" strike="noStrike" kern="1200" dirty="0">
                          <a:solidFill>
                            <a:schemeClr val="tx1"/>
                          </a:solidFill>
                          <a:effectLst/>
                        </a:rPr>
                        <a:t>MM</a:t>
                      </a:r>
                      <a:r>
                        <a:rPr lang="ja-JP" altLang="en-US" sz="1050" b="0" u="none" strike="noStrike" kern="1200" dirty="0">
                          <a:solidFill>
                            <a:schemeClr val="tx1"/>
                          </a:solidFill>
                          <a:effectLst/>
                        </a:rPr>
                        <a:t>と概算する</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366353059"/>
                  </a:ext>
                </a:extLst>
              </a:tr>
              <a:tr h="131367">
                <a:tc>
                  <a:txBody>
                    <a:bodyPr/>
                    <a:lstStyle/>
                    <a:p>
                      <a:pPr marL="0" algn="l" defTabSz="914400" rtl="0" eaLnBrk="1" fontAlgn="b" latinLnBrk="0" hangingPunct="1"/>
                      <a:r>
                        <a:rPr lang="ja-JP" altLang="en-US" sz="1050" b="0" u="none" strike="noStrike" kern="1200" dirty="0">
                          <a:solidFill>
                            <a:schemeClr val="tx1"/>
                          </a:solidFill>
                          <a:effectLst/>
                        </a:rPr>
                        <a:t>開発単体①</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42.74 </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機能一覧の</a:t>
                      </a:r>
                      <a:r>
                        <a:rPr lang="en-US" altLang="ja-JP" sz="1050" b="0" u="none" strike="noStrike" kern="1200" dirty="0">
                          <a:solidFill>
                            <a:schemeClr val="tx1"/>
                          </a:solidFill>
                          <a:effectLst/>
                        </a:rPr>
                        <a:t>i12,i13</a:t>
                      </a:r>
                      <a:r>
                        <a:rPr lang="ja-JP" altLang="en-US" sz="1050" b="0" u="none" strike="noStrike" kern="1200" dirty="0">
                          <a:solidFill>
                            <a:schemeClr val="tx1"/>
                          </a:solidFill>
                          <a:effectLst/>
                        </a:rPr>
                        <a:t>以外、システム設計</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915517710"/>
                  </a:ext>
                </a:extLst>
              </a:tr>
              <a:tr h="131367">
                <a:tc>
                  <a:txBody>
                    <a:bodyPr/>
                    <a:lstStyle/>
                    <a:p>
                      <a:pPr marL="0" algn="l" defTabSz="914400" rtl="0" eaLnBrk="1" fontAlgn="b" latinLnBrk="0" hangingPunct="1"/>
                      <a:r>
                        <a:rPr lang="ja-JP" altLang="en-US" sz="1050" b="0" u="none" strike="noStrike" kern="1200" dirty="0">
                          <a:solidFill>
                            <a:schemeClr val="tx1"/>
                          </a:solidFill>
                          <a:effectLst/>
                        </a:rPr>
                        <a:t>開発単体②</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15.00 </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機能一覧の</a:t>
                      </a:r>
                      <a:r>
                        <a:rPr lang="de-DE" sz="1050" b="0" u="none" strike="noStrike" kern="1200" dirty="0">
                          <a:solidFill>
                            <a:schemeClr val="tx1"/>
                          </a:solidFill>
                          <a:effectLst/>
                        </a:rPr>
                        <a:t>i12,i13</a:t>
                      </a:r>
                      <a:r>
                        <a:rPr lang="ja-JP" altLang="en-US" sz="1050" b="0" u="none" strike="noStrike" kern="1200" dirty="0">
                          <a:solidFill>
                            <a:schemeClr val="tx1"/>
                          </a:solidFill>
                          <a:effectLst/>
                        </a:rPr>
                        <a:t>分</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922087986"/>
                  </a:ext>
                </a:extLst>
              </a:tr>
              <a:tr h="131367">
                <a:tc>
                  <a:txBody>
                    <a:bodyPr/>
                    <a:lstStyle/>
                    <a:p>
                      <a:pPr marL="0" algn="l" defTabSz="914400" rtl="0" eaLnBrk="1" fontAlgn="b" latinLnBrk="0" hangingPunct="1"/>
                      <a:r>
                        <a:rPr lang="ja-JP" altLang="en-US" sz="1050" b="0" u="none" strike="noStrike" kern="1200" dirty="0">
                          <a:solidFill>
                            <a:schemeClr val="tx1"/>
                          </a:solidFill>
                          <a:effectLst/>
                        </a:rPr>
                        <a:t>結合テスト</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8.55 </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開発単体①部分の結合テスト、工数は開発単体工数</a:t>
                      </a:r>
                      <a:r>
                        <a:rPr lang="en-US" altLang="ja-JP" sz="1050" b="0" u="none" strike="noStrike" kern="1200" dirty="0">
                          <a:solidFill>
                            <a:schemeClr val="tx1"/>
                          </a:solidFill>
                          <a:effectLst/>
                        </a:rPr>
                        <a:t>×0.2</a:t>
                      </a:r>
                      <a:r>
                        <a:rPr lang="ja-JP" altLang="en-US" sz="1050" b="0" u="none" strike="noStrike" kern="1200" dirty="0">
                          <a:solidFill>
                            <a:schemeClr val="tx1"/>
                          </a:solidFill>
                          <a:effectLst/>
                        </a:rPr>
                        <a:t>とする</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139015387"/>
                  </a:ext>
                </a:extLst>
              </a:tr>
              <a:tr h="131367">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仕様などリスク</a:t>
                      </a:r>
                      <a:r>
                        <a:rPr lang="en-US" altLang="ja-JP" sz="1050" b="0" u="none" strike="noStrike" kern="1200" dirty="0">
                          <a:solidFill>
                            <a:schemeClr val="tx1"/>
                          </a:solidFill>
                          <a:effectLst/>
                          <a:latin typeface="+mn-lt"/>
                          <a:ea typeface="+mn-ea"/>
                          <a:cs typeface="+mn-cs"/>
                        </a:rPr>
                        <a:t>Buffer</a:t>
                      </a:r>
                      <a:endParaRPr lang="ja-JP" altLang="en-US" sz="105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15</a:t>
                      </a:r>
                    </a:p>
                  </a:txBody>
                  <a:tcPr marL="0" marR="0" marT="0" marB="0" anchor="ctr"/>
                </a:tc>
                <a:tc>
                  <a:txBody>
                    <a:bodyPr/>
                    <a:lstStyle/>
                    <a:p>
                      <a:pPr marL="0" algn="l" defTabSz="914400" rtl="0" eaLnBrk="1" fontAlgn="b" latinLnBrk="0" hangingPunct="1"/>
                      <a:r>
                        <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rPr>
                        <a:t>開発工数の約</a:t>
                      </a:r>
                      <a:r>
                        <a:rPr lang="en-US" altLang="ja-JP" sz="1050" b="0" i="0" u="none" strike="noStrike" kern="1200" dirty="0">
                          <a:solidFill>
                            <a:schemeClr val="tx1"/>
                          </a:solidFill>
                          <a:effectLst/>
                          <a:latin typeface="Meiryo UI" panose="020B0604030504040204" pitchFamily="50" charset="-128"/>
                          <a:ea typeface="Meiryo UI" panose="020B0604030504040204" pitchFamily="50" charset="-128"/>
                          <a:cs typeface="+mn-cs"/>
                        </a:rPr>
                        <a:t>20%</a:t>
                      </a:r>
                      <a:r>
                        <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rPr>
                        <a:t>程度　</a:t>
                      </a:r>
                    </a:p>
                  </a:txBody>
                  <a:tcPr marL="0" marR="0" marT="0" marB="0" anchor="ctr"/>
                </a:tc>
                <a:extLst>
                  <a:ext uri="{0D108BD9-81ED-4DB2-BD59-A6C34878D82A}">
                    <a16:rowId xmlns:a16="http://schemas.microsoft.com/office/drawing/2014/main" val="1502352858"/>
                  </a:ext>
                </a:extLst>
              </a:tr>
              <a:tr h="1351203">
                <a:tc>
                  <a:txBody>
                    <a:bodyPr/>
                    <a:lstStyle/>
                    <a:p>
                      <a:pPr marL="0" algn="l" defTabSz="914400" rtl="0" eaLnBrk="1" fontAlgn="b" latinLnBrk="0" hangingPunct="1"/>
                      <a:r>
                        <a:rPr lang="ja-JP" altLang="en-US" sz="1050" b="0" u="none" strike="noStrike" kern="1200" dirty="0">
                          <a:solidFill>
                            <a:schemeClr val="tx1"/>
                          </a:solidFill>
                          <a:effectLst/>
                        </a:rPr>
                        <a:t>移行</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25.95</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■移行開発</a:t>
                      </a:r>
                      <a:br>
                        <a:rPr lang="ja-JP" altLang="en-US" sz="1050" b="0" u="none" strike="noStrike" kern="1200" dirty="0">
                          <a:solidFill>
                            <a:schemeClr val="tx1"/>
                          </a:solidFill>
                          <a:effectLst/>
                        </a:rPr>
                      </a:br>
                      <a:r>
                        <a:rPr lang="ja-JP" altLang="en-US" sz="1050" b="0" u="none" strike="noStrike" kern="1200" dirty="0">
                          <a:solidFill>
                            <a:schemeClr val="tx1"/>
                          </a:solidFill>
                          <a:effectLst/>
                        </a:rPr>
                        <a:t>　</a:t>
                      </a:r>
                      <a:r>
                        <a:rPr lang="ja-JP" altLang="en-US" sz="900" b="0" u="none" strike="noStrike" kern="1200" dirty="0">
                          <a:solidFill>
                            <a:schemeClr val="tx1"/>
                          </a:solidFill>
                          <a:effectLst/>
                        </a:rPr>
                        <a:t>①製品仕様書管理：</a:t>
                      </a:r>
                      <a:r>
                        <a:rPr lang="en-US" altLang="ja-JP" sz="900" b="0" u="none" strike="noStrike" kern="1200" dirty="0">
                          <a:solidFill>
                            <a:schemeClr val="tx1"/>
                          </a:solidFill>
                          <a:effectLst/>
                        </a:rPr>
                        <a:t>10.50MM</a:t>
                      </a:r>
                      <a:br>
                        <a:rPr lang="en-US" altLang="ja-JP" sz="900" b="0" u="none" strike="noStrike" kern="1200" dirty="0">
                          <a:solidFill>
                            <a:schemeClr val="tx1"/>
                          </a:solidFill>
                          <a:effectLst/>
                        </a:rPr>
                      </a:br>
                      <a:r>
                        <a:rPr lang="en-US" altLang="ja-JP" sz="900" b="0" u="none" strike="noStrike" kern="1200" dirty="0">
                          <a:solidFill>
                            <a:schemeClr val="tx1"/>
                          </a:solidFill>
                          <a:effectLst/>
                        </a:rPr>
                        <a:t>  </a:t>
                      </a:r>
                      <a:r>
                        <a:rPr lang="ja-JP" altLang="en-US" sz="900" b="0" u="none" strike="noStrike" kern="1200" dirty="0">
                          <a:solidFill>
                            <a:schemeClr val="tx1"/>
                          </a:solidFill>
                          <a:effectLst/>
                        </a:rPr>
                        <a:t>　</a:t>
                      </a:r>
                      <a:r>
                        <a:rPr lang="en-US" altLang="ja-JP" sz="900" b="0" u="none" strike="noStrike" kern="1200" dirty="0">
                          <a:solidFill>
                            <a:schemeClr val="tx1"/>
                          </a:solidFill>
                          <a:effectLst/>
                        </a:rPr>
                        <a:t>1</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の三つ</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をメインで実施（</a:t>
                      </a:r>
                      <a:r>
                        <a:rPr lang="en-US" altLang="ja-JP" sz="900" b="0" u="none" strike="noStrike" kern="1200" dirty="0">
                          <a:solidFill>
                            <a:schemeClr val="tx1"/>
                          </a:solidFill>
                          <a:effectLst/>
                        </a:rPr>
                        <a:t>5.00MM</a:t>
                      </a:r>
                      <a:r>
                        <a:rPr lang="ja-JP" altLang="en-US" sz="900" b="0" u="none" strike="noStrike" kern="1200" dirty="0">
                          <a:solidFill>
                            <a:schemeClr val="tx1"/>
                          </a:solidFill>
                          <a:effectLst/>
                        </a:rPr>
                        <a:t>）、残り</a:t>
                      </a:r>
                      <a:r>
                        <a:rPr lang="en-US" altLang="ja-JP" sz="900" b="0" u="none" strike="noStrike" kern="1200" dirty="0">
                          <a:solidFill>
                            <a:schemeClr val="tx1"/>
                          </a:solidFill>
                          <a:effectLst/>
                        </a:rPr>
                        <a:t>11</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の差分解析は</a:t>
                      </a:r>
                      <a:r>
                        <a:rPr lang="en-US" altLang="ja-JP" sz="900" b="0" u="none" strike="noStrike" kern="1200" dirty="0">
                          <a:solidFill>
                            <a:schemeClr val="tx1"/>
                          </a:solidFill>
                          <a:effectLst/>
                        </a:rPr>
                        <a:t>10MD</a:t>
                      </a:r>
                      <a:r>
                        <a:rPr lang="ja-JP" altLang="en-US" sz="900" b="0" u="none" strike="noStrike" kern="1200" dirty="0">
                          <a:solidFill>
                            <a:schemeClr val="tx1"/>
                          </a:solidFill>
                          <a:effectLst/>
                        </a:rPr>
                        <a:t>／</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で</a:t>
                      </a:r>
                      <a:r>
                        <a:rPr lang="en-US" altLang="ja-JP" sz="900" b="0" u="none" strike="noStrike" kern="1200" dirty="0">
                          <a:solidFill>
                            <a:schemeClr val="tx1"/>
                          </a:solidFill>
                          <a:effectLst/>
                        </a:rPr>
                        <a:t>5.50MM</a:t>
                      </a:r>
                      <a:br>
                        <a:rPr lang="en-US" altLang="ja-JP" sz="900" b="0" u="none" strike="noStrike" kern="1200" dirty="0">
                          <a:solidFill>
                            <a:schemeClr val="tx1"/>
                          </a:solidFill>
                          <a:effectLst/>
                        </a:rPr>
                      </a:br>
                      <a:r>
                        <a:rPr lang="ja-JP" altLang="en-US" sz="900" b="0" u="none" strike="noStrike" kern="1200" dirty="0">
                          <a:solidFill>
                            <a:schemeClr val="tx1"/>
                          </a:solidFill>
                          <a:effectLst/>
                        </a:rPr>
                        <a:t>　②納入仕様書管理：</a:t>
                      </a:r>
                      <a:r>
                        <a:rPr lang="en-US" altLang="ja-JP" sz="900" b="0" u="none" strike="noStrike" kern="1200" dirty="0">
                          <a:solidFill>
                            <a:schemeClr val="tx1"/>
                          </a:solidFill>
                          <a:effectLst/>
                        </a:rPr>
                        <a:t>4.75MM</a:t>
                      </a:r>
                      <a:br>
                        <a:rPr lang="en-US" altLang="ja-JP" sz="900" b="0" u="none" strike="noStrike" kern="1200" dirty="0">
                          <a:solidFill>
                            <a:schemeClr val="tx1"/>
                          </a:solidFill>
                          <a:effectLst/>
                        </a:rPr>
                      </a:br>
                      <a:r>
                        <a:rPr lang="ja-JP" altLang="en-US" sz="900" b="0" u="none" strike="noStrike" kern="1200" dirty="0">
                          <a:solidFill>
                            <a:schemeClr val="tx1"/>
                          </a:solidFill>
                          <a:effectLst/>
                        </a:rPr>
                        <a:t>　　</a:t>
                      </a:r>
                      <a:r>
                        <a:rPr lang="en-US" altLang="ja-JP" sz="900" b="0" u="none" strike="noStrike" kern="1200" dirty="0">
                          <a:solidFill>
                            <a:schemeClr val="tx1"/>
                          </a:solidFill>
                          <a:effectLst/>
                        </a:rPr>
                        <a:t>1</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の</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をメインで実施（</a:t>
                      </a:r>
                      <a:r>
                        <a:rPr lang="en-US" altLang="ja-JP" sz="900" b="0" u="none" strike="noStrike" kern="1200" dirty="0">
                          <a:solidFill>
                            <a:schemeClr val="tx1"/>
                          </a:solidFill>
                          <a:effectLst/>
                        </a:rPr>
                        <a:t>2.00MM</a:t>
                      </a:r>
                      <a:r>
                        <a:rPr lang="ja-JP" altLang="en-US" sz="900" b="0" u="none" strike="noStrike" kern="1200" dirty="0">
                          <a:solidFill>
                            <a:schemeClr val="tx1"/>
                          </a:solidFill>
                          <a:effectLst/>
                        </a:rPr>
                        <a:t>）、残り</a:t>
                      </a:r>
                      <a:r>
                        <a:rPr lang="en-US" altLang="ja-JP" sz="900" b="0" u="none" strike="noStrike" kern="1200" dirty="0">
                          <a:solidFill>
                            <a:schemeClr val="tx1"/>
                          </a:solidFill>
                          <a:effectLst/>
                        </a:rPr>
                        <a:t>11</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の差分解析は</a:t>
                      </a:r>
                      <a:r>
                        <a:rPr lang="en-US" altLang="ja-JP" sz="900" b="0" u="none" strike="noStrike" kern="1200" dirty="0">
                          <a:solidFill>
                            <a:schemeClr val="tx1"/>
                          </a:solidFill>
                          <a:effectLst/>
                        </a:rPr>
                        <a:t>5MD</a:t>
                      </a:r>
                      <a:r>
                        <a:rPr lang="ja-JP" altLang="en-US" sz="900" b="0" u="none" strike="noStrike" kern="1200" dirty="0">
                          <a:solidFill>
                            <a:schemeClr val="tx1"/>
                          </a:solidFill>
                          <a:effectLst/>
                        </a:rPr>
                        <a:t>／</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で</a:t>
                      </a:r>
                      <a:r>
                        <a:rPr lang="en-US" altLang="ja-JP" sz="900" b="0" u="none" strike="noStrike" kern="1200" dirty="0">
                          <a:solidFill>
                            <a:schemeClr val="tx1"/>
                          </a:solidFill>
                          <a:effectLst/>
                        </a:rPr>
                        <a:t>2.75MM</a:t>
                      </a:r>
                      <a:br>
                        <a:rPr lang="en-US" altLang="ja-JP" sz="900" b="0" u="none" strike="noStrike" kern="1200" dirty="0">
                          <a:solidFill>
                            <a:schemeClr val="tx1"/>
                          </a:solidFill>
                          <a:effectLst/>
                        </a:rPr>
                      </a:br>
                      <a:r>
                        <a:rPr lang="ja-JP" altLang="en-US" sz="900" b="0" u="none" strike="noStrike" kern="1200" dirty="0">
                          <a:solidFill>
                            <a:schemeClr val="tx1"/>
                          </a:solidFill>
                          <a:effectLst/>
                        </a:rPr>
                        <a:t>　③その他個別</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a:t>
                      </a:r>
                      <a:r>
                        <a:rPr lang="en-US" altLang="ja-JP" sz="900" b="0" u="none" strike="noStrike" kern="1200" dirty="0">
                          <a:solidFill>
                            <a:schemeClr val="tx1"/>
                          </a:solidFill>
                          <a:effectLst/>
                        </a:rPr>
                        <a:t>2.35MM</a:t>
                      </a:r>
                      <a:br>
                        <a:rPr lang="en-US" altLang="ja-JP" sz="900" b="0" u="none" strike="noStrike" kern="1200" dirty="0">
                          <a:solidFill>
                            <a:schemeClr val="tx1"/>
                          </a:solidFill>
                          <a:effectLst/>
                        </a:rPr>
                      </a:br>
                      <a:r>
                        <a:rPr lang="ja-JP" altLang="en-US" sz="900" b="0" u="none" strike="noStrike" kern="1200" dirty="0">
                          <a:solidFill>
                            <a:schemeClr val="tx1"/>
                          </a:solidFill>
                          <a:effectLst/>
                        </a:rPr>
                        <a:t>　  </a:t>
                      </a:r>
                      <a:r>
                        <a:rPr lang="en-US" altLang="ja-JP" sz="900" b="0" u="none" strike="noStrike" kern="1200" dirty="0">
                          <a:solidFill>
                            <a:schemeClr val="tx1"/>
                          </a:solidFill>
                          <a:effectLst/>
                        </a:rPr>
                        <a:t>1</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の</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をメインで実施（</a:t>
                      </a:r>
                      <a:r>
                        <a:rPr lang="en-US" altLang="ja-JP" sz="900" b="0" u="none" strike="noStrike" kern="1200" dirty="0">
                          <a:solidFill>
                            <a:schemeClr val="tx1"/>
                          </a:solidFill>
                          <a:effectLst/>
                        </a:rPr>
                        <a:t>2.0MM</a:t>
                      </a:r>
                      <a:r>
                        <a:rPr lang="ja-JP" altLang="en-US" sz="900" b="0" u="none" strike="noStrike" kern="1200" dirty="0">
                          <a:solidFill>
                            <a:schemeClr val="tx1"/>
                          </a:solidFill>
                          <a:effectLst/>
                        </a:rPr>
                        <a:t>）、残り</a:t>
                      </a:r>
                      <a:r>
                        <a:rPr lang="en-US" altLang="ja-JP" sz="900" b="0" u="none" strike="noStrike" kern="1200" dirty="0">
                          <a:solidFill>
                            <a:schemeClr val="tx1"/>
                          </a:solidFill>
                          <a:effectLst/>
                        </a:rPr>
                        <a:t>7</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の差分解析は</a:t>
                      </a:r>
                      <a:r>
                        <a:rPr lang="en-US" altLang="ja-JP" sz="900" b="0" u="none" strike="noStrike" kern="1200" dirty="0">
                          <a:solidFill>
                            <a:schemeClr val="tx1"/>
                          </a:solidFill>
                          <a:effectLst/>
                        </a:rPr>
                        <a:t>5MD</a:t>
                      </a:r>
                      <a:r>
                        <a:rPr lang="ja-JP" altLang="en-US" sz="900" b="0" u="none" strike="noStrike" kern="1200" dirty="0">
                          <a:solidFill>
                            <a:schemeClr val="tx1"/>
                          </a:solidFill>
                          <a:effectLst/>
                        </a:rPr>
                        <a:t>／</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で</a:t>
                      </a:r>
                      <a:r>
                        <a:rPr lang="en-US" altLang="ja-JP" sz="900" b="0" u="none" strike="noStrike" kern="1200" dirty="0">
                          <a:solidFill>
                            <a:schemeClr val="tx1"/>
                          </a:solidFill>
                          <a:effectLst/>
                        </a:rPr>
                        <a:t>0.35MM</a:t>
                      </a:r>
                      <a:br>
                        <a:rPr lang="en-US" altLang="ja-JP" sz="1050" b="0" u="none" strike="noStrike" kern="1200" dirty="0">
                          <a:solidFill>
                            <a:schemeClr val="tx1"/>
                          </a:solidFill>
                          <a:effectLst/>
                        </a:rPr>
                      </a:br>
                      <a:r>
                        <a:rPr lang="en-US" altLang="ja-JP" sz="1050" b="0" u="none" strike="noStrike" kern="1200" dirty="0">
                          <a:solidFill>
                            <a:schemeClr val="tx1"/>
                          </a:solidFill>
                          <a:effectLst/>
                        </a:rPr>
                        <a:t>■</a:t>
                      </a:r>
                      <a:r>
                        <a:rPr lang="ja-JP" altLang="en-US" sz="1050" b="0" u="none" strike="noStrike" kern="1200" dirty="0">
                          <a:solidFill>
                            <a:schemeClr val="tx1"/>
                          </a:solidFill>
                          <a:effectLst/>
                        </a:rPr>
                        <a:t>移行手順書作成：</a:t>
                      </a:r>
                      <a:r>
                        <a:rPr lang="en-US" altLang="ja-JP" sz="1050" b="0" u="none" strike="noStrike" kern="1200" dirty="0">
                          <a:solidFill>
                            <a:schemeClr val="tx1"/>
                          </a:solidFill>
                          <a:effectLst/>
                        </a:rPr>
                        <a:t>1.00MM</a:t>
                      </a:r>
                      <a:br>
                        <a:rPr lang="en-US" altLang="ja-JP" sz="1050" b="0" u="none" strike="noStrike" kern="1200" dirty="0">
                          <a:solidFill>
                            <a:schemeClr val="tx1"/>
                          </a:solidFill>
                          <a:effectLst/>
                        </a:rPr>
                      </a:br>
                      <a:r>
                        <a:rPr lang="ja-JP" altLang="en-US" sz="1050" b="0" u="none" strike="noStrike" kern="1200" dirty="0">
                          <a:solidFill>
                            <a:schemeClr val="tx1"/>
                          </a:solidFill>
                          <a:effectLst/>
                        </a:rPr>
                        <a:t>　</a:t>
                      </a:r>
                      <a:r>
                        <a:rPr lang="en-US" altLang="ja-JP" sz="900" b="0" u="none" strike="noStrike" kern="1200" dirty="0">
                          <a:solidFill>
                            <a:schemeClr val="tx1"/>
                          </a:solidFill>
                          <a:effectLst/>
                        </a:rPr>
                        <a:t>20MD</a:t>
                      </a:r>
                      <a:r>
                        <a:rPr lang="ja-JP" altLang="en-US" sz="900" b="0" u="none" strike="noStrike" kern="1200" dirty="0">
                          <a:solidFill>
                            <a:schemeClr val="tx1"/>
                          </a:solidFill>
                          <a:effectLst/>
                        </a:rPr>
                        <a:t>の作業想定（メインはそれぞれの</a:t>
                      </a:r>
                      <a:r>
                        <a:rPr lang="en-US" altLang="ja-JP" sz="900" b="0" u="none" strike="noStrike" kern="1200" dirty="0">
                          <a:solidFill>
                            <a:schemeClr val="tx1"/>
                          </a:solidFill>
                          <a:effectLst/>
                        </a:rPr>
                        <a:t>1</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で、残りの</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はコピー展開）</a:t>
                      </a:r>
                      <a:br>
                        <a:rPr lang="ja-JP" altLang="en-US" sz="900" b="0" u="none" strike="noStrike" kern="1200" dirty="0">
                          <a:solidFill>
                            <a:schemeClr val="tx1"/>
                          </a:solidFill>
                          <a:effectLst/>
                        </a:rPr>
                      </a:br>
                      <a:r>
                        <a:rPr lang="ja-JP" altLang="en-US" sz="1050" b="0" u="none" strike="noStrike" kern="1200" dirty="0">
                          <a:solidFill>
                            <a:schemeClr val="tx1"/>
                          </a:solidFill>
                          <a:effectLst/>
                        </a:rPr>
                        <a:t>■移行リハーサル：</a:t>
                      </a:r>
                      <a:r>
                        <a:rPr lang="en-US" altLang="ja-JP" sz="1050" b="0" u="none" strike="noStrike" kern="1200" dirty="0">
                          <a:solidFill>
                            <a:schemeClr val="tx1"/>
                          </a:solidFill>
                          <a:effectLst/>
                        </a:rPr>
                        <a:t>7.60MM</a:t>
                      </a:r>
                      <a:br>
                        <a:rPr lang="en-US" altLang="ja-JP" sz="1050" b="0" u="none" strike="noStrike" kern="1200" dirty="0">
                          <a:solidFill>
                            <a:schemeClr val="tx1"/>
                          </a:solidFill>
                          <a:effectLst/>
                        </a:rPr>
                      </a:br>
                      <a:r>
                        <a:rPr lang="ja-JP" altLang="en-US" sz="1050" b="0" u="none" strike="noStrike" kern="1200" dirty="0">
                          <a:solidFill>
                            <a:schemeClr val="tx1"/>
                          </a:solidFill>
                          <a:effectLst/>
                        </a:rPr>
                        <a:t>　</a:t>
                      </a:r>
                      <a:r>
                        <a:rPr lang="ja-JP" altLang="en-US" sz="900" b="0" u="none" strike="noStrike" kern="1200" dirty="0">
                          <a:solidFill>
                            <a:schemeClr val="tx1"/>
                          </a:solidFill>
                          <a:effectLst/>
                        </a:rPr>
                        <a:t>マインはそれぞれの</a:t>
                      </a:r>
                      <a:r>
                        <a:rPr lang="en-US" altLang="ja-JP" sz="900" b="0" u="none" strike="noStrike" kern="1200" dirty="0">
                          <a:solidFill>
                            <a:schemeClr val="tx1"/>
                          </a:solidFill>
                          <a:effectLst/>
                        </a:rPr>
                        <a:t>1</a:t>
                      </a:r>
                      <a:r>
                        <a:rPr lang="ja-JP" altLang="en-US" sz="900" b="0" u="none" strike="noStrike" kern="1200" dirty="0">
                          <a:solidFill>
                            <a:schemeClr val="tx1"/>
                          </a:solidFill>
                          <a:effectLst/>
                          <a:latin typeface="+mn-lt"/>
                          <a:ea typeface="+mn-ea"/>
                          <a:cs typeface="+mn-cs"/>
                        </a:rPr>
                        <a:t>システム</a:t>
                      </a:r>
                      <a:r>
                        <a:rPr lang="en-US" altLang="ja-JP" sz="900" b="0" u="none" strike="noStrike" kern="1200" dirty="0">
                          <a:solidFill>
                            <a:schemeClr val="tx1"/>
                          </a:solidFill>
                          <a:effectLst/>
                          <a:latin typeface="+mn-lt"/>
                          <a:ea typeface="+mn-ea"/>
                          <a:cs typeface="+mn-cs"/>
                        </a:rPr>
                        <a:t>3</a:t>
                      </a:r>
                      <a:r>
                        <a:rPr lang="ja-JP" altLang="en-US" sz="900" b="0" u="none" strike="noStrike" kern="1200" dirty="0">
                          <a:solidFill>
                            <a:schemeClr val="tx1"/>
                          </a:solidFill>
                          <a:effectLst/>
                          <a:latin typeface="+mn-lt"/>
                          <a:ea typeface="+mn-ea"/>
                          <a:cs typeface="+mn-cs"/>
                        </a:rPr>
                        <a:t>回実施で</a:t>
                      </a:r>
                      <a:r>
                        <a:rPr lang="en-US" altLang="ja-JP" sz="900" b="0" u="none" strike="noStrike" kern="1200" dirty="0">
                          <a:solidFill>
                            <a:schemeClr val="tx1"/>
                          </a:solidFill>
                          <a:effectLst/>
                        </a:rPr>
                        <a:t>12MD/</a:t>
                      </a:r>
                      <a:r>
                        <a:rPr lang="ja-JP" altLang="en-US" sz="900" b="0" u="none" strike="noStrike" kern="1200" dirty="0">
                          <a:solidFill>
                            <a:schemeClr val="tx1"/>
                          </a:solidFill>
                          <a:effectLst/>
                        </a:rPr>
                        <a:t>システム、残り</a:t>
                      </a:r>
                      <a:r>
                        <a:rPr lang="en-US" altLang="ja-JP" sz="900" b="0" u="none" strike="noStrike" kern="1200" dirty="0">
                          <a:solidFill>
                            <a:schemeClr val="tx1"/>
                          </a:solidFill>
                          <a:effectLst/>
                        </a:rPr>
                        <a:t>29</a:t>
                      </a:r>
                      <a:r>
                        <a:rPr lang="ja-JP" altLang="en-US" sz="900" b="0" u="none" strike="noStrike" kern="1200" dirty="0">
                          <a:solidFill>
                            <a:schemeClr val="tx1"/>
                          </a:solidFill>
                          <a:effectLst/>
                          <a:latin typeface="+mn-lt"/>
                          <a:ea typeface="+mn-ea"/>
                          <a:cs typeface="+mn-cs"/>
                        </a:rPr>
                        <a:t>システムは</a:t>
                      </a:r>
                      <a:r>
                        <a:rPr lang="en-US" altLang="ja-JP" sz="900" b="0" u="none" strike="noStrike" kern="1200" dirty="0">
                          <a:solidFill>
                            <a:schemeClr val="tx1"/>
                          </a:solidFill>
                          <a:effectLst/>
                          <a:latin typeface="+mn-lt"/>
                          <a:ea typeface="+mn-ea"/>
                          <a:cs typeface="+mn-cs"/>
                        </a:rPr>
                        <a:t>2</a:t>
                      </a:r>
                      <a:r>
                        <a:rPr lang="ja-JP" altLang="en-US" sz="900" b="0" u="none" strike="noStrike" kern="1200" dirty="0">
                          <a:solidFill>
                            <a:schemeClr val="tx1"/>
                          </a:solidFill>
                          <a:effectLst/>
                          <a:latin typeface="+mn-lt"/>
                          <a:ea typeface="+mn-ea"/>
                          <a:cs typeface="+mn-cs"/>
                        </a:rPr>
                        <a:t>回実施</a:t>
                      </a:r>
                      <a:r>
                        <a:rPr lang="en-US" altLang="ja-JP" sz="900" b="0" u="none" strike="noStrike" kern="1200" dirty="0">
                          <a:solidFill>
                            <a:schemeClr val="tx1"/>
                          </a:solidFill>
                          <a:effectLst/>
                          <a:latin typeface="+mn-lt"/>
                          <a:ea typeface="+mn-ea"/>
                          <a:cs typeface="+mn-cs"/>
                        </a:rPr>
                        <a:t>4MD</a:t>
                      </a:r>
                      <a:r>
                        <a:rPr lang="en-US" altLang="ja-JP" sz="900" b="0" u="none" strike="noStrike" kern="1200" dirty="0">
                          <a:solidFill>
                            <a:schemeClr val="tx1"/>
                          </a:solidFill>
                          <a:effectLst/>
                        </a:rPr>
                        <a:t>/</a:t>
                      </a:r>
                      <a:r>
                        <a:rPr lang="ja-JP" altLang="en-US" sz="900" b="0" u="none" strike="noStrike" kern="1200" dirty="0">
                          <a:solidFill>
                            <a:schemeClr val="tx1"/>
                          </a:solidFill>
                          <a:effectLst/>
                        </a:rPr>
                        <a:t>システム</a:t>
                      </a:r>
                      <a:endParaRPr lang="ja-JP" altLang="en-US" sz="1050" b="0" i="0" u="none" strike="sngStrike" kern="1200" baseline="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705557341"/>
                  </a:ext>
                </a:extLst>
              </a:tr>
              <a:tr h="131367">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性能測定、</a:t>
                      </a:r>
                      <a:r>
                        <a:rPr lang="en-US" altLang="ja-JP" sz="1050" b="0" u="none" strike="noStrike" kern="1200" dirty="0">
                          <a:solidFill>
                            <a:schemeClr val="tx1"/>
                          </a:solidFill>
                          <a:effectLst/>
                          <a:latin typeface="+mn-lt"/>
                          <a:ea typeface="+mn-ea"/>
                          <a:cs typeface="+mn-cs"/>
                        </a:rPr>
                        <a:t>Tunning</a:t>
                      </a:r>
                      <a:endParaRPr lang="ja-JP" altLang="en-US" sz="105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6.00</a:t>
                      </a:r>
                    </a:p>
                  </a:txBody>
                  <a:tcPr marL="0" marR="0" marT="0" marB="0" anchor="ctr"/>
                </a:tc>
                <a:tc>
                  <a:txBody>
                    <a:bodyPr/>
                    <a:lstStyle/>
                    <a:p>
                      <a:pPr marL="0" algn="l" defTabSz="914400" rtl="0" eaLnBrk="1" fontAlgn="b" latinLnBrk="0" hangingPunct="1"/>
                      <a:endParaRPr lang="ja-JP" altLang="en-US" sz="1050" b="0" u="none" strike="noStrike" kern="1200" dirty="0">
                        <a:solidFill>
                          <a:schemeClr val="tx1"/>
                        </a:solidFill>
                        <a:effectLst/>
                        <a:latin typeface="+mn-lt"/>
                        <a:ea typeface="+mn-ea"/>
                        <a:cs typeface="+mn-cs"/>
                      </a:endParaRPr>
                    </a:p>
                  </a:txBody>
                  <a:tcPr marL="0" marR="0" marT="0" marB="0" anchor="ctr"/>
                </a:tc>
                <a:extLst>
                  <a:ext uri="{0D108BD9-81ED-4DB2-BD59-A6C34878D82A}">
                    <a16:rowId xmlns:a16="http://schemas.microsoft.com/office/drawing/2014/main" val="1346797334"/>
                  </a:ext>
                </a:extLst>
              </a:tr>
              <a:tr h="131367">
                <a:tc>
                  <a:txBody>
                    <a:bodyPr/>
                    <a:lstStyle/>
                    <a:p>
                      <a:pPr marL="0" algn="l" defTabSz="914400" rtl="0" eaLnBrk="1" fontAlgn="b" latinLnBrk="0" hangingPunct="1"/>
                      <a:r>
                        <a:rPr lang="ja-JP" altLang="en-US" sz="1050" b="1" u="none" strike="noStrike" kern="1200" dirty="0">
                          <a:solidFill>
                            <a:srgbClr val="0070C0"/>
                          </a:solidFill>
                          <a:effectLst/>
                          <a:latin typeface="+mn-lt"/>
                          <a:ea typeface="+mn-ea"/>
                          <a:cs typeface="+mn-cs"/>
                        </a:rPr>
                        <a:t>ー開発工数小計</a:t>
                      </a:r>
                    </a:p>
                  </a:txBody>
                  <a:tcPr marL="0" marR="0" marT="0" marB="0" anchor="ctr"/>
                </a:tc>
                <a:tc>
                  <a:txBody>
                    <a:bodyPr/>
                    <a:lstStyle/>
                    <a:p>
                      <a:pPr marL="0" algn="l" defTabSz="914400" rtl="0" eaLnBrk="1" fontAlgn="b" latinLnBrk="0" hangingPunct="1"/>
                      <a:r>
                        <a:rPr lang="en-US" altLang="ja-JP" sz="1050" b="1" u="none" strike="noStrike" kern="1200" dirty="0">
                          <a:solidFill>
                            <a:srgbClr val="0070C0"/>
                          </a:solidFill>
                          <a:effectLst/>
                          <a:latin typeface="+mn-lt"/>
                          <a:ea typeface="+mn-ea"/>
                          <a:cs typeface="+mn-cs"/>
                        </a:rPr>
                        <a:t>128.06MM/8530</a:t>
                      </a:r>
                      <a:r>
                        <a:rPr lang="ja-JP" altLang="en-US" sz="1050" b="1" u="none" strike="noStrike" kern="1200" dirty="0">
                          <a:solidFill>
                            <a:srgbClr val="0070C0"/>
                          </a:solidFill>
                          <a:effectLst/>
                          <a:latin typeface="+mn-lt"/>
                          <a:ea typeface="+mn-ea"/>
                          <a:cs typeface="+mn-cs"/>
                        </a:rPr>
                        <a:t>万</a:t>
                      </a:r>
                      <a:endParaRPr lang="en-US" altLang="ja-JP" sz="1050" b="1" u="none" strike="noStrike" kern="1200" dirty="0">
                        <a:solidFill>
                          <a:srgbClr val="0070C0"/>
                        </a:solidFill>
                        <a:effectLst/>
                        <a:latin typeface="+mn-lt"/>
                        <a:ea typeface="+mn-ea"/>
                        <a:cs typeface="+mn-cs"/>
                      </a:endParaRPr>
                    </a:p>
                  </a:txBody>
                  <a:tcPr marL="0" marR="0" marT="0" marB="0" anchor="ctr"/>
                </a:tc>
                <a:tc>
                  <a:txBody>
                    <a:bodyPr/>
                    <a:lstStyle/>
                    <a:p>
                      <a:pPr marL="0" algn="l" defTabSz="914400" rtl="0" eaLnBrk="1" fontAlgn="b" latinLnBrk="0" hangingPunct="1"/>
                      <a:endParaRPr lang="ja-JP" altLang="en-US" sz="1050" b="1" u="none" strike="noStrike" kern="1200" dirty="0">
                        <a:solidFill>
                          <a:srgbClr val="0070C0"/>
                        </a:solidFill>
                        <a:effectLst/>
                        <a:latin typeface="+mn-lt"/>
                        <a:ea typeface="+mn-ea"/>
                        <a:cs typeface="+mn-cs"/>
                      </a:endParaRPr>
                    </a:p>
                  </a:txBody>
                  <a:tcPr marL="0" marR="0" marT="0" marB="0" anchor="ctr"/>
                </a:tc>
                <a:extLst>
                  <a:ext uri="{0D108BD9-81ED-4DB2-BD59-A6C34878D82A}">
                    <a16:rowId xmlns:a16="http://schemas.microsoft.com/office/drawing/2014/main" val="1301011314"/>
                  </a:ext>
                </a:extLst>
              </a:tr>
              <a:tr h="131367">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検収対応、</a:t>
                      </a:r>
                      <a:r>
                        <a:rPr lang="en-US" altLang="ja-JP" sz="1050" b="0" u="none" strike="noStrike" kern="1200" dirty="0">
                          <a:solidFill>
                            <a:schemeClr val="tx1"/>
                          </a:solidFill>
                          <a:effectLst/>
                          <a:latin typeface="+mn-lt"/>
                          <a:ea typeface="+mn-ea"/>
                          <a:cs typeface="+mn-cs"/>
                        </a:rPr>
                        <a:t>UAT</a:t>
                      </a:r>
                      <a:r>
                        <a:rPr lang="ja-JP" altLang="en-US" sz="1050" b="0" u="none" strike="noStrike" kern="1200" dirty="0">
                          <a:solidFill>
                            <a:schemeClr val="tx1"/>
                          </a:solidFill>
                          <a:effectLst/>
                          <a:latin typeface="+mn-lt"/>
                          <a:ea typeface="+mn-ea"/>
                          <a:cs typeface="+mn-cs"/>
                        </a:rPr>
                        <a:t>支援、リリース</a:t>
                      </a: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15.5</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最初の</a:t>
                      </a:r>
                      <a:r>
                        <a:rPr lang="en-US" altLang="ja-JP" sz="1050" b="0" u="none" strike="noStrike" kern="1200" dirty="0">
                          <a:solidFill>
                            <a:schemeClr val="tx1"/>
                          </a:solidFill>
                          <a:effectLst/>
                          <a:latin typeface="+mn-lt"/>
                          <a:ea typeface="+mn-ea"/>
                          <a:cs typeface="+mn-cs"/>
                        </a:rPr>
                        <a:t>10</a:t>
                      </a:r>
                      <a:r>
                        <a:rPr lang="ja-JP" altLang="en-US" sz="1050" b="0" u="none" strike="noStrike" kern="1200" dirty="0">
                          <a:solidFill>
                            <a:schemeClr val="tx1"/>
                          </a:solidFill>
                          <a:effectLst/>
                          <a:latin typeface="+mn-lt"/>
                          <a:ea typeface="+mn-ea"/>
                          <a:cs typeface="+mn-cs"/>
                        </a:rPr>
                        <a:t>部署に平均１</a:t>
                      </a:r>
                      <a:r>
                        <a:rPr lang="en-US" altLang="ja-JP" sz="1050" b="0" u="none" strike="noStrike" kern="1200" dirty="0">
                          <a:solidFill>
                            <a:schemeClr val="tx1"/>
                          </a:solidFill>
                          <a:effectLst/>
                          <a:latin typeface="+mn-lt"/>
                          <a:ea typeface="+mn-ea"/>
                          <a:cs typeface="+mn-cs"/>
                        </a:rPr>
                        <a:t>MM/</a:t>
                      </a:r>
                      <a:r>
                        <a:rPr lang="ja-JP" altLang="en-US" sz="1050" b="0" u="none" strike="noStrike" kern="1200" dirty="0">
                          <a:solidFill>
                            <a:schemeClr val="tx1"/>
                          </a:solidFill>
                          <a:effectLst/>
                        </a:rPr>
                        <a:t>部署</a:t>
                      </a:r>
                      <a:r>
                        <a:rPr lang="ja-JP" altLang="en-US" sz="1050" b="0" u="none" strike="noStrike" kern="1200" dirty="0">
                          <a:solidFill>
                            <a:schemeClr val="tx1"/>
                          </a:solidFill>
                          <a:effectLst/>
                          <a:latin typeface="+mn-lt"/>
                          <a:ea typeface="+mn-ea"/>
                          <a:cs typeface="+mn-cs"/>
                        </a:rPr>
                        <a:t>、残り</a:t>
                      </a:r>
                      <a:r>
                        <a:rPr lang="en-US" altLang="ja-JP" sz="1050" b="0" u="none" strike="noStrike" kern="1200" dirty="0">
                          <a:solidFill>
                            <a:schemeClr val="tx1"/>
                          </a:solidFill>
                          <a:effectLst/>
                          <a:latin typeface="+mn-lt"/>
                          <a:ea typeface="+mn-ea"/>
                          <a:cs typeface="+mn-cs"/>
                        </a:rPr>
                        <a:t>22</a:t>
                      </a:r>
                      <a:r>
                        <a:rPr lang="ja-JP" altLang="en-US" sz="1050" b="0" u="none" strike="noStrike" kern="1200" dirty="0">
                          <a:solidFill>
                            <a:schemeClr val="tx1"/>
                          </a:solidFill>
                          <a:effectLst/>
                          <a:latin typeface="+mn-lt"/>
                          <a:ea typeface="+mn-ea"/>
                          <a:cs typeface="+mn-cs"/>
                        </a:rPr>
                        <a:t>部署は変更調整のみで、</a:t>
                      </a:r>
                      <a:r>
                        <a:rPr lang="en-US" altLang="ja-JP" sz="1050" b="0" u="none" strike="noStrike" kern="1200" dirty="0">
                          <a:solidFill>
                            <a:schemeClr val="tx1"/>
                          </a:solidFill>
                          <a:effectLst/>
                          <a:latin typeface="+mn-lt"/>
                          <a:ea typeface="+mn-ea"/>
                          <a:cs typeface="+mn-cs"/>
                        </a:rPr>
                        <a:t>0.25MM/</a:t>
                      </a:r>
                      <a:r>
                        <a:rPr lang="ja-JP" altLang="en-US" sz="1050" b="0" u="none" strike="noStrike" kern="1200" dirty="0">
                          <a:solidFill>
                            <a:schemeClr val="tx1"/>
                          </a:solidFill>
                          <a:effectLst/>
                        </a:rPr>
                        <a:t>部署</a:t>
                      </a:r>
                      <a:r>
                        <a:rPr lang="ja-JP" altLang="en-US" sz="1050" b="0" u="none" strike="noStrike" kern="1200" dirty="0">
                          <a:solidFill>
                            <a:schemeClr val="tx1"/>
                          </a:solidFill>
                          <a:effectLst/>
                          <a:latin typeface="+mn-lt"/>
                          <a:ea typeface="+mn-ea"/>
                          <a:cs typeface="+mn-cs"/>
                        </a:rPr>
                        <a:t>で</a:t>
                      </a:r>
                    </a:p>
                  </a:txBody>
                  <a:tcPr marL="0" marR="0" marT="0" marB="0" anchor="ctr"/>
                </a:tc>
                <a:extLst>
                  <a:ext uri="{0D108BD9-81ED-4DB2-BD59-A6C34878D82A}">
                    <a16:rowId xmlns:a16="http://schemas.microsoft.com/office/drawing/2014/main" val="3197948973"/>
                  </a:ext>
                </a:extLst>
              </a:tr>
              <a:tr h="262734">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初期サポート</a:t>
                      </a: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15.5</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最初の</a:t>
                      </a:r>
                      <a:r>
                        <a:rPr lang="en-US" altLang="ja-JP" sz="1050" b="0" u="none" strike="noStrike" kern="1200" dirty="0">
                          <a:solidFill>
                            <a:schemeClr val="tx1"/>
                          </a:solidFill>
                          <a:effectLst/>
                          <a:latin typeface="+mn-lt"/>
                          <a:ea typeface="+mn-ea"/>
                          <a:cs typeface="+mn-cs"/>
                        </a:rPr>
                        <a:t>10</a:t>
                      </a:r>
                      <a:r>
                        <a:rPr lang="ja-JP" altLang="en-US" sz="1050" b="0" u="none" strike="noStrike" kern="1200" dirty="0">
                          <a:solidFill>
                            <a:schemeClr val="tx1"/>
                          </a:solidFill>
                          <a:effectLst/>
                          <a:latin typeface="+mn-lt"/>
                          <a:ea typeface="+mn-ea"/>
                          <a:cs typeface="+mn-cs"/>
                        </a:rPr>
                        <a:t>部署に平均１</a:t>
                      </a:r>
                      <a:r>
                        <a:rPr lang="en-US" altLang="ja-JP" sz="1050" b="0" u="none" strike="noStrike" kern="1200" dirty="0">
                          <a:solidFill>
                            <a:schemeClr val="tx1"/>
                          </a:solidFill>
                          <a:effectLst/>
                          <a:latin typeface="+mn-lt"/>
                          <a:ea typeface="+mn-ea"/>
                          <a:cs typeface="+mn-cs"/>
                        </a:rPr>
                        <a:t>MM/</a:t>
                      </a:r>
                      <a:r>
                        <a:rPr lang="ja-JP" altLang="en-US" sz="1050" b="0" u="none" strike="noStrike" kern="1200" dirty="0">
                          <a:solidFill>
                            <a:schemeClr val="tx1"/>
                          </a:solidFill>
                          <a:effectLst/>
                        </a:rPr>
                        <a:t>部署</a:t>
                      </a:r>
                      <a:r>
                        <a:rPr lang="ja-JP" altLang="en-US" sz="1050" b="0" u="none" strike="noStrike" kern="1200" dirty="0">
                          <a:solidFill>
                            <a:schemeClr val="tx1"/>
                          </a:solidFill>
                          <a:effectLst/>
                          <a:latin typeface="+mn-lt"/>
                          <a:ea typeface="+mn-ea"/>
                          <a:cs typeface="+mn-cs"/>
                        </a:rPr>
                        <a:t>、残り</a:t>
                      </a:r>
                      <a:r>
                        <a:rPr lang="en-US" altLang="ja-JP" sz="1050" b="0" u="none" strike="noStrike" kern="1200" dirty="0">
                          <a:solidFill>
                            <a:schemeClr val="tx1"/>
                          </a:solidFill>
                          <a:effectLst/>
                          <a:latin typeface="+mn-lt"/>
                          <a:ea typeface="+mn-ea"/>
                          <a:cs typeface="+mn-cs"/>
                        </a:rPr>
                        <a:t>22</a:t>
                      </a:r>
                      <a:r>
                        <a:rPr lang="ja-JP" altLang="en-US" sz="1050" b="0" u="none" strike="noStrike" kern="1200" dirty="0">
                          <a:solidFill>
                            <a:schemeClr val="tx1"/>
                          </a:solidFill>
                          <a:effectLst/>
                          <a:latin typeface="+mn-lt"/>
                          <a:ea typeface="+mn-ea"/>
                          <a:cs typeface="+mn-cs"/>
                        </a:rPr>
                        <a:t>部署は変更調整のみで、（</a:t>
                      </a:r>
                      <a:r>
                        <a:rPr lang="en-US" altLang="ja-JP" sz="1050" b="0" u="none" strike="noStrike" kern="1200" dirty="0">
                          <a:solidFill>
                            <a:schemeClr val="tx1"/>
                          </a:solidFill>
                          <a:effectLst/>
                          <a:latin typeface="+mn-lt"/>
                          <a:ea typeface="+mn-ea"/>
                          <a:cs typeface="+mn-cs"/>
                        </a:rPr>
                        <a:t>2</a:t>
                      </a:r>
                      <a:r>
                        <a:rPr lang="ja-JP" altLang="en-US" sz="1050" b="0" u="none" strike="noStrike" kern="1200" dirty="0">
                          <a:solidFill>
                            <a:schemeClr val="tx1"/>
                          </a:solidFill>
                          <a:effectLst/>
                          <a:latin typeface="+mn-lt"/>
                          <a:ea typeface="+mn-ea"/>
                          <a:cs typeface="+mn-cs"/>
                        </a:rPr>
                        <a:t>－</a:t>
                      </a:r>
                      <a:r>
                        <a:rPr lang="en-US" altLang="ja-JP" sz="1050" b="0" u="none" strike="noStrike" kern="1200" dirty="0">
                          <a:solidFill>
                            <a:schemeClr val="tx1"/>
                          </a:solidFill>
                          <a:effectLst/>
                          <a:latin typeface="+mn-lt"/>
                          <a:ea typeface="+mn-ea"/>
                          <a:cs typeface="+mn-cs"/>
                        </a:rPr>
                        <a:t>4</a:t>
                      </a:r>
                      <a:r>
                        <a:rPr lang="ja-JP" altLang="en-US" sz="1050" b="0" u="none" strike="noStrike" kern="1200" dirty="0">
                          <a:solidFill>
                            <a:schemeClr val="tx1"/>
                          </a:solidFill>
                          <a:effectLst/>
                          <a:latin typeface="+mn-lt"/>
                          <a:ea typeface="+mn-ea"/>
                          <a:cs typeface="+mn-cs"/>
                        </a:rPr>
                        <a:t>週間程度の問い合わせ</a:t>
                      </a:r>
                      <a:r>
                        <a:rPr lang="en-US" altLang="ja-JP" sz="1050" b="0" u="none" strike="noStrike" kern="1200" dirty="0">
                          <a:solidFill>
                            <a:schemeClr val="tx1"/>
                          </a:solidFill>
                          <a:effectLst/>
                          <a:latin typeface="+mn-lt"/>
                          <a:ea typeface="+mn-ea"/>
                          <a:cs typeface="+mn-cs"/>
                        </a:rPr>
                        <a:t>,</a:t>
                      </a:r>
                      <a:r>
                        <a:rPr lang="ja-JP" altLang="en-US" sz="1050" b="0" u="none" strike="noStrike" kern="1200" dirty="0">
                          <a:solidFill>
                            <a:schemeClr val="tx1"/>
                          </a:solidFill>
                          <a:effectLst/>
                          <a:latin typeface="+mn-lt"/>
                          <a:ea typeface="+mn-ea"/>
                          <a:cs typeface="+mn-cs"/>
                        </a:rPr>
                        <a:t>対応）、初期稼働後の運用保守は該当見積もり範囲外（備考参照）</a:t>
                      </a:r>
                    </a:p>
                  </a:txBody>
                  <a:tcPr marL="0" marR="0" marT="0" marB="0" anchor="ctr"/>
                </a:tc>
                <a:extLst>
                  <a:ext uri="{0D108BD9-81ED-4DB2-BD59-A6C34878D82A}">
                    <a16:rowId xmlns:a16="http://schemas.microsoft.com/office/drawing/2014/main" val="83785411"/>
                  </a:ext>
                </a:extLst>
              </a:tr>
              <a:tr h="262734">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ja-JP" altLang="en-US" sz="1050" b="1" u="none" strike="noStrike" kern="1200" dirty="0">
                          <a:solidFill>
                            <a:srgbClr val="0070C0"/>
                          </a:solidFill>
                          <a:effectLst/>
                          <a:latin typeface="+mn-lt"/>
                          <a:ea typeface="+mn-ea"/>
                          <a:cs typeface="+mn-cs"/>
                        </a:rPr>
                        <a:t>ー</a:t>
                      </a:r>
                      <a:r>
                        <a:rPr lang="ja-JP" altLang="en-US" sz="1050" b="1" u="none" strike="noStrike" kern="1200">
                          <a:solidFill>
                            <a:srgbClr val="0070C0"/>
                          </a:solidFill>
                          <a:effectLst/>
                          <a:latin typeface="+mn-lt"/>
                          <a:ea typeface="+mn-ea"/>
                          <a:cs typeface="+mn-cs"/>
                        </a:rPr>
                        <a:t>検収、初期サポート</a:t>
                      </a:r>
                      <a:r>
                        <a:rPr lang="ja-JP" altLang="en-US" sz="1050" b="1" u="none" strike="noStrike" kern="1200" dirty="0">
                          <a:solidFill>
                            <a:srgbClr val="0070C0"/>
                          </a:solidFill>
                          <a:effectLst/>
                          <a:latin typeface="+mn-lt"/>
                          <a:ea typeface="+mn-ea"/>
                          <a:cs typeface="+mn-cs"/>
                        </a:rPr>
                        <a:t>小計</a:t>
                      </a:r>
                    </a:p>
                  </a:txBody>
                  <a:tcPr marL="0" marR="0" marT="0" marB="0" anchor="ctr"/>
                </a:tc>
                <a:tc>
                  <a:txBody>
                    <a:bodyPr/>
                    <a:lstStyle/>
                    <a:p>
                      <a:pPr marL="0" algn="l" defTabSz="914400" rtl="0" eaLnBrk="1" fontAlgn="b" latinLnBrk="0" hangingPunct="1"/>
                      <a:r>
                        <a:rPr lang="en-US" altLang="ja-JP" sz="1050" b="1" u="none" strike="noStrike" kern="1200" dirty="0">
                          <a:solidFill>
                            <a:srgbClr val="0070C0"/>
                          </a:solidFill>
                          <a:effectLst/>
                          <a:latin typeface="+mn-lt"/>
                          <a:ea typeface="+mn-ea"/>
                          <a:cs typeface="+mn-cs"/>
                        </a:rPr>
                        <a:t>31MM/2685</a:t>
                      </a:r>
                      <a:r>
                        <a:rPr lang="ja-JP" altLang="en-US" sz="1050" b="1" u="none" strike="noStrike" kern="1200" dirty="0">
                          <a:solidFill>
                            <a:srgbClr val="0070C0"/>
                          </a:solidFill>
                          <a:effectLst/>
                          <a:latin typeface="+mn-lt"/>
                          <a:ea typeface="+mn-ea"/>
                          <a:cs typeface="+mn-cs"/>
                        </a:rPr>
                        <a:t>万</a:t>
                      </a:r>
                      <a:endParaRPr lang="en-US" altLang="ja-JP" sz="1050" b="1" u="none" strike="noStrike" kern="1200" dirty="0">
                        <a:solidFill>
                          <a:srgbClr val="0070C0"/>
                        </a:solidFill>
                        <a:effectLst/>
                        <a:latin typeface="+mn-lt"/>
                        <a:ea typeface="+mn-ea"/>
                        <a:cs typeface="+mn-cs"/>
                      </a:endParaRPr>
                    </a:p>
                  </a:txBody>
                  <a:tcPr marL="0" marR="0" marT="0" marB="0" anchor="ctr"/>
                </a:tc>
                <a:tc>
                  <a:txBody>
                    <a:bodyPr/>
                    <a:lstStyle/>
                    <a:p>
                      <a:pPr marL="0" algn="l" defTabSz="914400" rtl="0" eaLnBrk="1" fontAlgn="b" latinLnBrk="0" hangingPunct="1"/>
                      <a:endParaRPr lang="ja-JP" altLang="en-US" sz="1050" b="1" u="none" strike="noStrike" kern="1200" dirty="0">
                        <a:solidFill>
                          <a:srgbClr val="0070C0"/>
                        </a:solidFill>
                        <a:effectLst/>
                        <a:latin typeface="+mn-lt"/>
                        <a:ea typeface="+mn-ea"/>
                        <a:cs typeface="+mn-cs"/>
                      </a:endParaRPr>
                    </a:p>
                  </a:txBody>
                  <a:tcPr marL="0" marR="0" marT="0" marB="0" anchor="ctr"/>
                </a:tc>
                <a:extLst>
                  <a:ext uri="{0D108BD9-81ED-4DB2-BD59-A6C34878D82A}">
                    <a16:rowId xmlns:a16="http://schemas.microsoft.com/office/drawing/2014/main" val="550416032"/>
                  </a:ext>
                </a:extLst>
              </a:tr>
            </a:tbl>
          </a:graphicData>
        </a:graphic>
      </p:graphicFrame>
      <p:sp>
        <p:nvSpPr>
          <p:cNvPr id="4" name="テキスト ボックス 3">
            <a:extLst>
              <a:ext uri="{FF2B5EF4-FFF2-40B4-BE49-F238E27FC236}">
                <a16:creationId xmlns:a16="http://schemas.microsoft.com/office/drawing/2014/main" id="{43B46341-D05B-44F5-EFC5-045640234706}"/>
              </a:ext>
            </a:extLst>
          </p:cNvPr>
          <p:cNvSpPr txBox="1"/>
          <p:nvPr/>
        </p:nvSpPr>
        <p:spPr>
          <a:xfrm>
            <a:off x="453136" y="6086581"/>
            <a:ext cx="828040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工数：</a:t>
            </a:r>
            <a:r>
              <a:rPr kumimoji="1" lang="en-US" altLang="ja-JP" sz="16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175.06MM</a:t>
            </a:r>
            <a:r>
              <a:rPr kumimoji="1" lang="ja-JP" altLang="en-US" sz="16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、費用： </a:t>
            </a:r>
            <a:r>
              <a:rPr kumimoji="1" lang="en-US" altLang="ja-JP" sz="16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1,261</a:t>
            </a:r>
            <a:r>
              <a:rPr kumimoji="1" lang="ja-JP" altLang="en-US" sz="16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万</a:t>
            </a:r>
          </a:p>
        </p:txBody>
      </p:sp>
    </p:spTree>
    <p:extLst>
      <p:ext uri="{BB962C8B-B14F-4D97-AF65-F5344CB8AC3E}">
        <p14:creationId xmlns:p14="http://schemas.microsoft.com/office/powerpoint/2010/main" val="11660790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50576-690F-BC70-D1E4-D6016D1D6C8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C6EA804-F2DA-1304-6228-A37D45949E1F}"/>
              </a:ext>
            </a:extLst>
          </p:cNvPr>
          <p:cNvSpPr>
            <a:spLocks noGrp="1"/>
          </p:cNvSpPr>
          <p:nvPr>
            <p:ph type="title"/>
          </p:nvPr>
        </p:nvSpPr>
        <p:spPr>
          <a:xfrm>
            <a:off x="414336" y="255263"/>
            <a:ext cx="9327072" cy="528509"/>
          </a:xfrm>
        </p:spPr>
        <p:txBody>
          <a:bodyPr>
            <a:normAutofit fontScale="90000"/>
          </a:bodyPr>
          <a:lstStyle/>
          <a:p>
            <a:r>
              <a:rPr lang="zh-CN" altLang="en-US" dirty="0">
                <a:latin typeface="游ゴシック Light" panose="020B0300000000000000" pitchFamily="50" charset="-128"/>
                <a:ea typeface="游ゴシック Light" panose="020B0300000000000000" pitchFamily="50" charset="-128"/>
              </a:rPr>
              <a:t>結論</a:t>
            </a:r>
            <a:endParaRPr lang="zh-CN" altLang="en-US" dirty="0">
              <a:effectLst/>
              <a:latin typeface="游ゴシック Light" panose="020B0300000000000000" pitchFamily="50" charset="-128"/>
              <a:ea typeface="游ゴシック Light" panose="020B0300000000000000" pitchFamily="50" charset="-128"/>
            </a:endParaRPr>
          </a:p>
        </p:txBody>
      </p:sp>
      <p:sp>
        <p:nvSpPr>
          <p:cNvPr id="15" name="テキスト ボックス 14">
            <a:extLst>
              <a:ext uri="{FF2B5EF4-FFF2-40B4-BE49-F238E27FC236}">
                <a16:creationId xmlns:a16="http://schemas.microsoft.com/office/drawing/2014/main" id="{C9AB1EB2-C2F5-0A37-64A9-EBB077072794}"/>
              </a:ext>
            </a:extLst>
          </p:cNvPr>
          <p:cNvSpPr txBox="1"/>
          <p:nvPr/>
        </p:nvSpPr>
        <p:spPr>
          <a:xfrm>
            <a:off x="414336" y="783772"/>
            <a:ext cx="11490793" cy="4170614"/>
          </a:xfrm>
          <a:prstGeom prst="roundRect">
            <a:avLst>
              <a:gd name="adj" fmla="val 5705"/>
            </a:avLst>
          </a:prstGeom>
          <a:solidFill>
            <a:schemeClr val="accent6">
              <a:lumMod val="20000"/>
              <a:lumOff val="80000"/>
            </a:schemeClr>
          </a:solidFill>
          <a:ln w="9525" cap="flat" cmpd="sng" algn="ctr">
            <a:noFill/>
            <a:prstDash val="solid"/>
            <a:round/>
            <a:headEnd type="oval" w="med" len="med"/>
            <a:tailEnd type="oval" w="med" len="med"/>
          </a:ln>
        </p:spPr>
        <p:txBody>
          <a:bodyPr wrap="square" lIns="36000" tIns="36000" rIns="36000" bIns="36000" rtlCol="0" anchor="t" anchorCtr="0">
            <a:no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zh-CN" altLang="zh-CN" sz="18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rPr>
              <a:t>提案のまとめ: </a:t>
            </a:r>
            <a:endPar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endParaRP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zh-CN" altLang="zh-CN" sz="18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rPr>
              <a:t>本方案により、効率的でセキュアな</a:t>
            </a:r>
            <a:r>
              <a:rPr kumimoji="0" lang="ja-JP" altLang="en-US"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rPr>
              <a:t>文書</a:t>
            </a:r>
            <a:r>
              <a:rPr kumimoji="0" lang="zh-CN" altLang="zh-CN" sz="18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rPr>
              <a:t>管理を</a:t>
            </a:r>
            <a:r>
              <a:rPr kumimoji="0" lang="en-US" altLang="ja-JP"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rPr>
              <a:t>Power  Platform</a:t>
            </a:r>
            <a:r>
              <a:rPr kumimoji="0" lang="ja-JP" altLang="en-US"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rPr>
              <a:t>にて</a:t>
            </a:r>
            <a:r>
              <a:rPr kumimoji="0" lang="zh-CN" altLang="zh-CN" sz="18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rPr>
              <a:t>実現。</a:t>
            </a:r>
            <a:endPar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endParaRP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ja-JP"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rPr>
              <a:t>3</a:t>
            </a:r>
            <a:r>
              <a:rPr kumimoji="0" lang="en-US" altLang="ja-JP" sz="1800" b="0" i="0" u="none" strike="noStrike" kern="1200" cap="none" spc="0" normalizeH="0" baseline="30000" noProof="0" dirty="0">
                <a:ln>
                  <a:noFill/>
                </a:ln>
                <a:solidFill>
                  <a:prstClr val="black"/>
                </a:solidFill>
                <a:effectLst/>
                <a:uLnTx/>
                <a:uFillTx/>
                <a:latin typeface="Arial" panose="020B0604020202020204" pitchFamily="34" charset="0"/>
                <a:ea typeface="游ゴシック" panose="020B0400000000000000" pitchFamily="50" charset="-128"/>
                <a:cs typeface="+mn-cs"/>
              </a:rPr>
              <a:t>rd</a:t>
            </a:r>
            <a:r>
              <a:rPr kumimoji="0" lang="en-US" altLang="ja-JP"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rPr>
              <a:t> Party</a:t>
            </a:r>
            <a:r>
              <a:rPr kumimoji="0" lang="ja-JP" altLang="en-US"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rPr>
              <a:t>の</a:t>
            </a:r>
            <a:r>
              <a:rPr kumimoji="0" lang="en-US" altLang="ja-JP"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rPr>
              <a:t>CMS</a:t>
            </a:r>
            <a:r>
              <a:rPr kumimoji="0" lang="ja-JP" altLang="en-US"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rPr>
              <a:t>パッケージを導入せず、</a:t>
            </a:r>
            <a:r>
              <a:rPr kumimoji="0" lang="en-US" altLang="ja-JP"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rPr>
              <a:t>10</a:t>
            </a:r>
            <a:r>
              <a:rPr kumimoji="0" lang="ja-JP" altLang="en-US"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rPr>
              <a:t>年間数億のライセンス費用節約</a:t>
            </a:r>
            <a:r>
              <a:rPr kumimoji="0" lang="zh-CN" altLang="zh-CN" sz="18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rPr>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zh-CN" altLang="zh-CN" sz="18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rPr>
              <a:t>次ステップ:</a:t>
            </a:r>
            <a:endPar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endParaRP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ja-JP"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rPr>
              <a:t>Q/A</a:t>
            </a:r>
            <a:r>
              <a:rPr kumimoji="0" lang="ja-JP" altLang="en-US"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rPr>
              <a:t>ミーティングの日程調整（必要に応じてセッティング）</a:t>
            </a:r>
            <a:endParaRPr kumimoji="0" lang="en-US" altLang="ja-JP"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endParaRP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zh-CN" altLang="zh-CN" sz="18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rPr>
              <a:t>本方案</a:t>
            </a:r>
            <a:r>
              <a:rPr kumimoji="0" lang="ja-JP" altLang="en-US"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rPr>
              <a:t>に合意が取れた場合、社内稟議に必要となる期間の確認</a:t>
            </a:r>
            <a:endParaRPr kumimoji="0" lang="zh-CN" altLang="zh-CN" sz="18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zh-CN" altLang="zh-CN" sz="18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rPr>
              <a:t>連絡先: </a:t>
            </a:r>
            <a:endPar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endParaRP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hlinkClick r:id="rId3">
                  <a:extLst>
                    <a:ext uri="{A12FA001-AC4F-418D-AE19-62706E023703}">
                      <ahyp:hlinkClr xmlns:ahyp="http://schemas.microsoft.com/office/drawing/2018/hyperlinkcolor" val="tx"/>
                    </a:ext>
                  </a:extLst>
                </a:hlinkClick>
              </a:rPr>
              <a:t>yli@gcsoft-jp.com</a:t>
            </a:r>
            <a:endPar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endParaRP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rPr>
              <a:t>zdhe@gcsoft-jp.com</a:t>
            </a:r>
            <a:endParaRPr kumimoji="0" lang="zh-CN" altLang="zh-CN" sz="18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endParaRP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rPr>
              <a:t>cc: admin@gcsoft-jp.com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ja-JP" altLang="en-US"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rPr>
              <a:t>前提条件：</a:t>
            </a:r>
            <a:endParaRPr kumimoji="0" lang="en-US" altLang="ja-JP"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endParaRP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ja-JP" altLang="en-US"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rPr>
              <a:t>この見積は、</a:t>
            </a:r>
            <a:r>
              <a:rPr kumimoji="0" lang="en-US" altLang="ja-JP"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rPr>
              <a:t>11/30</a:t>
            </a:r>
            <a:r>
              <a:rPr kumimoji="0" lang="ja-JP" altLang="en-US"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rPr>
              <a:t>まで有効とする</a:t>
            </a:r>
            <a:endParaRPr kumimoji="0" lang="en-US" altLang="ja-JP"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endParaRP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ja-JP" altLang="en-US"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rPr>
              <a:t>この見積は、仕様書定型データを</a:t>
            </a:r>
            <a:r>
              <a:rPr kumimoji="0" lang="en-US" altLang="ja-JP"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rPr>
              <a:t>Azure SQL</a:t>
            </a:r>
            <a:r>
              <a:rPr kumimoji="0" lang="ja-JP" altLang="en-US"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rPr>
              <a:t>に管理、添付ファイルは</a:t>
            </a:r>
            <a:r>
              <a:rPr kumimoji="0" lang="en-US" altLang="ja-JP"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rPr>
              <a:t>SPO</a:t>
            </a:r>
            <a:r>
              <a:rPr kumimoji="0" lang="ja-JP" altLang="en-US"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rPr>
              <a:t>に管理の前提とする</a:t>
            </a:r>
            <a:endParaRPr kumimoji="0" lang="en-US" altLang="ja-JP"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endParaRP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ja-JP" altLang="en-US"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rPr>
              <a:t>作業用クラウド環境、</a:t>
            </a:r>
            <a:r>
              <a:rPr kumimoji="0" lang="en-US" altLang="ja-JP"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rPr>
              <a:t>Azure License</a:t>
            </a:r>
            <a:r>
              <a:rPr kumimoji="0" lang="ja-JP" altLang="en-US" dirty="0">
                <a:solidFill>
                  <a:prstClr val="black"/>
                </a:solidFill>
                <a:latin typeface="Arial" panose="020B0604020202020204" pitchFamily="34" charset="0"/>
                <a:ea typeface="游ゴシック" panose="020B0400000000000000" pitchFamily="50" charset="-128"/>
              </a:rPr>
              <a:t>含む各種ライセンス</a:t>
            </a:r>
            <a:r>
              <a:rPr kumimoji="0" lang="en-US" altLang="ja-JP"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rPr>
              <a:t>/</a:t>
            </a:r>
            <a:r>
              <a:rPr kumimoji="0" lang="ja-JP" altLang="en-US"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rPr>
              <a:t>開発環境は</a:t>
            </a:r>
            <a:r>
              <a:rPr kumimoji="0" lang="en-US" altLang="ja-JP"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rPr>
              <a:t>MCC</a:t>
            </a:r>
            <a:r>
              <a:rPr kumimoji="0" lang="ja-JP" altLang="en-US"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rPr>
              <a:t>により提供する</a:t>
            </a:r>
            <a:endParaRPr kumimoji="0" lang="en-US" altLang="ja-JP"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endParaRP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endParaRPr>
          </a:p>
        </p:txBody>
      </p:sp>
    </p:spTree>
    <p:extLst>
      <p:ext uri="{BB962C8B-B14F-4D97-AF65-F5344CB8AC3E}">
        <p14:creationId xmlns:p14="http://schemas.microsoft.com/office/powerpoint/2010/main" val="23270276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B41B6318-84F6-278F-959E-A463A2310F0A}"/>
              </a:ext>
            </a:extLst>
          </p:cNvPr>
          <p:cNvSpPr>
            <a:spLocks noGrp="1"/>
          </p:cNvSpPr>
          <p:nvPr>
            <p:ph sz="quarter" idx="10"/>
          </p:nvPr>
        </p:nvSpPr>
        <p:spPr>
          <a:xfrm>
            <a:off x="320675" y="1946218"/>
            <a:ext cx="11550650" cy="1004800"/>
          </a:xfrm>
        </p:spPr>
        <p:txBody>
          <a:bodyPr>
            <a:normAutofit/>
          </a:bodyPr>
          <a:lstStyle/>
          <a:p>
            <a:pPr marL="0" indent="0" algn="ctr">
              <a:buNone/>
            </a:pPr>
            <a:r>
              <a:rPr kumimoji="1" lang="ja-JP" altLang="en-US" sz="4000" dirty="0"/>
              <a:t>以下提案書詳細</a:t>
            </a:r>
          </a:p>
        </p:txBody>
      </p:sp>
    </p:spTree>
    <p:extLst>
      <p:ext uri="{BB962C8B-B14F-4D97-AF65-F5344CB8AC3E}">
        <p14:creationId xmlns:p14="http://schemas.microsoft.com/office/powerpoint/2010/main" val="31388430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Autofit/>
          </a:bodyPr>
          <a:lstStyle/>
          <a:p>
            <a:r>
              <a:rPr lang="ja-JP" altLang="en-US" dirty="0"/>
              <a:t>前書き</a:t>
            </a:r>
            <a:endParaRPr kumimoji="1" lang="ja-JP" altLang="en-US" dirty="0"/>
          </a:p>
        </p:txBody>
      </p:sp>
      <p:sp>
        <p:nvSpPr>
          <p:cNvPr id="15" name="テキスト ボックス 14"/>
          <p:cNvSpPr txBox="1"/>
          <p:nvPr/>
        </p:nvSpPr>
        <p:spPr>
          <a:xfrm>
            <a:off x="363536" y="1265595"/>
            <a:ext cx="11477943" cy="3624675"/>
          </a:xfrm>
          <a:prstGeom prst="rect">
            <a:avLst/>
          </a:prstGeom>
          <a:noFill/>
          <a:ln w="9525" cap="flat" cmpd="sng" algn="ctr">
            <a:noFill/>
            <a:prstDash val="solid"/>
            <a:round/>
            <a:headEnd type="oval" w="med" len="med"/>
            <a:tailEnd type="oval" w="med" len="med"/>
          </a:ln>
        </p:spPr>
        <p:txBody>
          <a:bodyPr wrap="square" lIns="36000" tIns="36000" rIns="36000" bIns="36000" rtlCol="0" anchor="ctr" anchorCtr="0">
            <a:noAutofit/>
          </a:bodyPr>
          <a:lstStyle/>
          <a:p>
            <a:pPr algn="l"/>
            <a:r>
              <a:rPr kumimoji="1" lang="ja-JP" altLang="en-US" dirty="0">
                <a:latin typeface="Yu Gothic UI" panose="020B0500000000000000" pitchFamily="50" charset="-128"/>
                <a:ea typeface="Yu Gothic UI" panose="020B0500000000000000" pitchFamily="50" charset="-128"/>
              </a:rPr>
              <a:t>貴社ますますご清栄のこととお慶び申し上げます。 </a:t>
            </a:r>
          </a:p>
          <a:p>
            <a:pPr algn="l"/>
            <a:r>
              <a:rPr kumimoji="1" lang="ja-JP" altLang="en-US" dirty="0">
                <a:latin typeface="Yu Gothic UI" panose="020B0500000000000000" pitchFamily="50" charset="-128"/>
                <a:ea typeface="Yu Gothic UI" panose="020B0500000000000000" pitchFamily="50" charset="-128"/>
              </a:rPr>
              <a:t>平素より格別のご高配を賜り、厚く御礼申し上げます。 </a:t>
            </a:r>
          </a:p>
          <a:p>
            <a:pPr algn="l"/>
            <a:endParaRPr kumimoji="1" lang="ja-JP" altLang="en-US" dirty="0">
              <a:latin typeface="Yu Gothic UI" panose="020B0500000000000000" pitchFamily="50" charset="-128"/>
              <a:ea typeface="Yu Gothic UI" panose="020B0500000000000000" pitchFamily="50" charset="-128"/>
            </a:endParaRPr>
          </a:p>
          <a:p>
            <a:r>
              <a:rPr lang="ja-JP" altLang="en-US" dirty="0">
                <a:latin typeface="Yu Gothic UI" panose="020B0500000000000000" pitchFamily="50" charset="-128"/>
                <a:ea typeface="Yu Gothic UI" panose="020B0500000000000000" pitchFamily="50" charset="-128"/>
              </a:rPr>
              <a:t>今回の提案に当たり、貴社が推奨・利用している技術基盤を基に、構築と運用のコストを最小限に抑えることを優先に</a:t>
            </a:r>
            <a:endParaRPr lang="en-US" altLang="ja-JP" dirty="0">
              <a:latin typeface="Yu Gothic UI" panose="020B0500000000000000" pitchFamily="50" charset="-128"/>
              <a:ea typeface="Yu Gothic UI" panose="020B0500000000000000" pitchFamily="50" charset="-128"/>
            </a:endParaRPr>
          </a:p>
          <a:p>
            <a:r>
              <a:rPr lang="en-US" altLang="ja-JP" dirty="0">
                <a:latin typeface="Yu Gothic UI" panose="020B0500000000000000" pitchFamily="50" charset="-128"/>
                <a:ea typeface="Yu Gothic UI" panose="020B0500000000000000" pitchFamily="50" charset="-128"/>
              </a:rPr>
              <a:t>		</a:t>
            </a:r>
            <a:r>
              <a:rPr lang="en-US" altLang="ja-JP" sz="2800" dirty="0">
                <a:latin typeface="Yu Gothic UI" panose="020B0500000000000000" pitchFamily="50" charset="-128"/>
                <a:ea typeface="Yu Gothic UI" panose="020B0500000000000000" pitchFamily="50" charset="-128"/>
              </a:rPr>
              <a:t>PowerPlatform+Office365+Azure SQL</a:t>
            </a:r>
          </a:p>
          <a:p>
            <a:r>
              <a:rPr lang="ja-JP" altLang="en-US" dirty="0">
                <a:latin typeface="Yu Gothic UI" panose="020B0500000000000000" pitchFamily="50" charset="-128"/>
                <a:ea typeface="Yu Gothic UI" panose="020B0500000000000000" pitchFamily="50" charset="-128"/>
              </a:rPr>
              <a:t>での構築方法を提案させていただきます。</a:t>
            </a:r>
            <a:endParaRPr lang="en-US" altLang="ja-JP" dirty="0">
              <a:latin typeface="Yu Gothic UI" panose="020B0500000000000000" pitchFamily="50" charset="-128"/>
              <a:ea typeface="Yu Gothic UI" panose="020B0500000000000000" pitchFamily="50" charset="-128"/>
            </a:endParaRPr>
          </a:p>
          <a:p>
            <a:pPr algn="l"/>
            <a:endParaRPr kumimoji="1" lang="ja-JP" altLang="en-US" dirty="0">
              <a:latin typeface="Yu Gothic UI" panose="020B0500000000000000" pitchFamily="50" charset="-128"/>
              <a:ea typeface="Yu Gothic UI" panose="020B0500000000000000" pitchFamily="50" charset="-128"/>
            </a:endParaRPr>
          </a:p>
          <a:p>
            <a:pPr algn="l"/>
            <a:endParaRPr kumimoji="1" lang="ja-JP" altLang="en-US" dirty="0">
              <a:latin typeface="Yu Gothic UI" panose="020B0500000000000000" pitchFamily="50" charset="-128"/>
              <a:ea typeface="Yu Gothic UI" panose="020B0500000000000000" pitchFamily="50" charset="-128"/>
            </a:endParaRPr>
          </a:p>
          <a:p>
            <a:pPr algn="l"/>
            <a:r>
              <a:rPr kumimoji="1" lang="ja-JP" altLang="en-US" dirty="0">
                <a:latin typeface="Yu Gothic UI" panose="020B0500000000000000" pitchFamily="50" charset="-128"/>
                <a:ea typeface="Yu Gothic UI" panose="020B0500000000000000" pitchFamily="50" charset="-128"/>
              </a:rPr>
              <a:t>本提案をご検討いただき、本案件にご協力させていただければ幸いです。 </a:t>
            </a:r>
          </a:p>
          <a:p>
            <a:pPr algn="l"/>
            <a:r>
              <a:rPr kumimoji="1" lang="ja-JP" altLang="en-US" dirty="0">
                <a:latin typeface="Yu Gothic UI" panose="020B0500000000000000" pitchFamily="50" charset="-128"/>
                <a:ea typeface="Yu Gothic UI" panose="020B0500000000000000" pitchFamily="50" charset="-128"/>
              </a:rPr>
              <a:t>何卒よろしくお願い申し上げます。</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テキスト ボックス 14"/>
          <p:cNvSpPr txBox="1"/>
          <p:nvPr/>
        </p:nvSpPr>
        <p:spPr>
          <a:xfrm>
            <a:off x="414337" y="904240"/>
            <a:ext cx="11366184" cy="5374640"/>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285750" indent="-285750">
              <a:buFont typeface="Arial" panose="020B0604020202020204" pitchFamily="34" charset="0"/>
              <a:buChar char="•"/>
            </a:pPr>
            <a:r>
              <a:rPr lang="ja-JP" altLang="en-US" sz="1600" dirty="0"/>
              <a:t>提案の背景</a:t>
            </a:r>
            <a:endParaRPr lang="en-US" altLang="ja-JP" sz="1600" dirty="0"/>
          </a:p>
          <a:p>
            <a:pPr marL="285750" indent="-285750">
              <a:buFont typeface="Arial" panose="020B0604020202020204" pitchFamily="34" charset="0"/>
              <a:buChar char="•"/>
            </a:pPr>
            <a:r>
              <a:rPr lang="ja-JP" altLang="en-US" sz="1600" dirty="0"/>
              <a:t>システム概要</a:t>
            </a:r>
            <a:endParaRPr lang="en-US" altLang="ja-JP" sz="1600" dirty="0"/>
          </a:p>
          <a:p>
            <a:pPr marL="285750" indent="-285750">
              <a:buFont typeface="Arial" panose="020B0604020202020204" pitchFamily="34" charset="0"/>
              <a:buChar char="•"/>
            </a:pPr>
            <a:r>
              <a:rPr lang="ja-JP" altLang="en-US" sz="1600" dirty="0"/>
              <a:t>ストレージの比較</a:t>
            </a:r>
            <a:endParaRPr lang="en-US" altLang="ja-JP" sz="1600" dirty="0"/>
          </a:p>
          <a:p>
            <a:pPr marL="285750" indent="-285750">
              <a:buFont typeface="Arial" panose="020B0604020202020204" pitchFamily="34" charset="0"/>
              <a:buChar char="•"/>
            </a:pPr>
            <a:r>
              <a:rPr lang="ja-JP" altLang="en-US" sz="1600" dirty="0"/>
              <a:t>ストレージの評価</a:t>
            </a:r>
            <a:endParaRPr lang="en-US" altLang="ja-JP" sz="1600" dirty="0"/>
          </a:p>
          <a:p>
            <a:pPr marL="285750" indent="-285750">
              <a:buFont typeface="Arial" panose="020B0604020202020204" pitchFamily="34" charset="0"/>
              <a:buChar char="•"/>
            </a:pPr>
            <a:r>
              <a:rPr lang="ja-JP" altLang="en-US" sz="1600" dirty="0"/>
              <a:t>ストレージの選定理由</a:t>
            </a:r>
            <a:endParaRPr lang="en-US" altLang="ja-JP" sz="1600" dirty="0"/>
          </a:p>
          <a:p>
            <a:pPr marL="285750" indent="-285750">
              <a:buFont typeface="Arial" panose="020B0604020202020204" pitchFamily="34" charset="0"/>
              <a:buChar char="•"/>
            </a:pPr>
            <a:r>
              <a:rPr lang="ja-JP" altLang="en-US" sz="1600" dirty="0"/>
              <a:t>全体アーキテクチャ</a:t>
            </a:r>
            <a:endParaRPr lang="en-US" altLang="ja-JP" sz="1600" dirty="0"/>
          </a:p>
          <a:p>
            <a:pPr marL="285750" indent="-285750">
              <a:buFont typeface="Arial" panose="020B0604020202020204" pitchFamily="34" charset="0"/>
              <a:buChar char="•"/>
            </a:pPr>
            <a:r>
              <a:rPr lang="ja-JP" altLang="en-US" sz="1600" dirty="0"/>
              <a:t>要件の実現（メイン機能）</a:t>
            </a:r>
            <a:endParaRPr lang="en-US" altLang="ja-JP" sz="1600" dirty="0"/>
          </a:p>
          <a:p>
            <a:pPr marL="285750" indent="-285750">
              <a:buFont typeface="Arial" panose="020B0604020202020204" pitchFamily="34" charset="0"/>
              <a:buChar char="•"/>
            </a:pPr>
            <a:r>
              <a:rPr lang="ja-JP" altLang="en-US" sz="1600" dirty="0"/>
              <a:t>要件</a:t>
            </a:r>
            <a:r>
              <a:rPr lang="en-US" altLang="ja-JP" sz="1600" dirty="0"/>
              <a:t>/</a:t>
            </a:r>
            <a:r>
              <a:rPr lang="ja-JP" altLang="en-US" sz="1600" dirty="0"/>
              <a:t>ソリューション</a:t>
            </a:r>
            <a:endParaRPr lang="en-US" altLang="ja-JP" sz="1600" dirty="0"/>
          </a:p>
          <a:p>
            <a:pPr marL="742950" lvl="1" indent="-285750">
              <a:buFont typeface="Arial" panose="020B0604020202020204" pitchFamily="34" charset="0"/>
              <a:buChar char="•"/>
            </a:pPr>
            <a:r>
              <a:rPr lang="ja-JP" altLang="en-US" sz="1400" dirty="0"/>
              <a:t>添付ファイル管理（編集を含む）</a:t>
            </a:r>
            <a:endParaRPr lang="en-US" altLang="ja-JP" sz="1400" dirty="0"/>
          </a:p>
          <a:p>
            <a:pPr marL="742950" lvl="1" indent="-285750">
              <a:buFont typeface="Arial" panose="020B0604020202020204" pitchFamily="34" charset="0"/>
              <a:buChar char="•"/>
            </a:pPr>
            <a:r>
              <a:rPr lang="ja-JP" altLang="en-US" sz="1400" dirty="0"/>
              <a:t>権限管理</a:t>
            </a:r>
            <a:endParaRPr lang="en-US" altLang="ja-JP" sz="1400" dirty="0"/>
          </a:p>
          <a:p>
            <a:pPr marL="742950" lvl="1" indent="-285750">
              <a:buFont typeface="Arial" panose="020B0604020202020204" pitchFamily="34" charset="0"/>
              <a:buChar char="•"/>
            </a:pPr>
            <a:r>
              <a:rPr lang="ja-JP" altLang="en-US" sz="1400" dirty="0"/>
              <a:t>検索機能</a:t>
            </a:r>
            <a:endParaRPr lang="en-US" altLang="ja-JP" sz="1400" dirty="0"/>
          </a:p>
          <a:p>
            <a:pPr marL="742950" lvl="1" indent="-285750">
              <a:buFont typeface="Arial" panose="020B0604020202020204" pitchFamily="34" charset="0"/>
              <a:buChar char="•"/>
            </a:pPr>
            <a:r>
              <a:rPr lang="ja-JP" altLang="en-US" sz="1400" dirty="0"/>
              <a:t>一括ダウンロード機能</a:t>
            </a:r>
            <a:endParaRPr lang="en-US" altLang="ja-JP" sz="1400" dirty="0"/>
          </a:p>
          <a:p>
            <a:pPr marL="742950" lvl="1" indent="-285750">
              <a:buFont typeface="Arial" panose="020B0604020202020204" pitchFamily="34" charset="0"/>
              <a:buChar char="•"/>
            </a:pPr>
            <a:r>
              <a:rPr lang="ja-JP" altLang="en-US" sz="1400" dirty="0"/>
              <a:t>ユーザ別の属性管理（</a:t>
            </a:r>
            <a:r>
              <a:rPr lang="en-US" altLang="ja-JP" sz="1400" dirty="0"/>
              <a:t>Option</a:t>
            </a:r>
            <a:r>
              <a:rPr lang="ja-JP" altLang="en-US" sz="1400" dirty="0"/>
              <a:t>）</a:t>
            </a:r>
            <a:endParaRPr lang="en-US" altLang="ja-JP" sz="1400" dirty="0"/>
          </a:p>
          <a:p>
            <a:pPr marL="742950" lvl="1" indent="-285750">
              <a:buFont typeface="Arial" panose="020B0604020202020204" pitchFamily="34" charset="0"/>
              <a:buChar char="•"/>
            </a:pPr>
            <a:r>
              <a:rPr lang="ja-JP" altLang="en-US" sz="1400" dirty="0"/>
              <a:t>非機能要件（パフォーマンス、</a:t>
            </a:r>
            <a:r>
              <a:rPr lang="en-US" altLang="ja-JP" sz="1400" dirty="0"/>
              <a:t>HA</a:t>
            </a:r>
            <a:r>
              <a:rPr lang="ja-JP" altLang="en-US" sz="1400" dirty="0"/>
              <a:t>など）</a:t>
            </a:r>
            <a:endParaRPr lang="en-US" altLang="ja-JP" sz="1400" dirty="0"/>
          </a:p>
          <a:p>
            <a:pPr marL="742950" lvl="1" indent="-285750">
              <a:buFont typeface="Arial" panose="020B0604020202020204" pitchFamily="34" charset="0"/>
              <a:buChar char="•"/>
            </a:pPr>
            <a:r>
              <a:rPr lang="ja-JP" altLang="en-US" sz="1400" dirty="0"/>
              <a:t>データ移行</a:t>
            </a:r>
            <a:endParaRPr lang="en-US" altLang="ja-JP" sz="1400" dirty="0"/>
          </a:p>
          <a:p>
            <a:pPr marL="285750" indent="-285750">
              <a:buFont typeface="Arial" panose="020B0604020202020204" pitchFamily="34" charset="0"/>
              <a:buChar char="•"/>
            </a:pPr>
            <a:r>
              <a:rPr lang="ja-JP" altLang="en-US" sz="1600" dirty="0"/>
              <a:t>機能一覧</a:t>
            </a:r>
            <a:endParaRPr lang="en-US" altLang="ja-JP" sz="1600" dirty="0"/>
          </a:p>
          <a:p>
            <a:pPr marL="285750" indent="-285750">
              <a:buFont typeface="Arial" panose="020B0604020202020204" pitchFamily="34" charset="0"/>
              <a:buChar char="•"/>
            </a:pPr>
            <a:r>
              <a:rPr lang="ja-JP" altLang="en-US" sz="1600" dirty="0"/>
              <a:t>プロジェクト重要検討事項</a:t>
            </a:r>
            <a:endParaRPr lang="en-US" altLang="ja-JP" sz="1600" dirty="0"/>
          </a:p>
          <a:p>
            <a:pPr marL="285750" indent="-285750">
              <a:buFont typeface="Arial" panose="020B0604020202020204" pitchFamily="34" charset="0"/>
              <a:buChar char="•"/>
            </a:pPr>
            <a:r>
              <a:rPr lang="ja-JP" altLang="en-US" sz="1600" dirty="0"/>
              <a:t>スケジュール</a:t>
            </a:r>
            <a:endParaRPr lang="en-US" altLang="ja-JP" sz="1600" dirty="0"/>
          </a:p>
          <a:p>
            <a:pPr marL="285750" indent="-285750">
              <a:buFont typeface="Arial" panose="020B0604020202020204" pitchFamily="34" charset="0"/>
              <a:buChar char="•"/>
            </a:pPr>
            <a:r>
              <a:rPr lang="ja-JP" altLang="en-US" sz="1600" dirty="0"/>
              <a:t>見積もり</a:t>
            </a:r>
            <a:endParaRPr lang="en-US" altLang="ja-JP" sz="1600" dirty="0"/>
          </a:p>
          <a:p>
            <a:pPr marL="285750" indent="-285750">
              <a:buFont typeface="Arial" panose="020B0604020202020204" pitchFamily="34" charset="0"/>
              <a:buChar char="•"/>
            </a:pPr>
            <a:r>
              <a:rPr lang="ja-JP" altLang="en-US" sz="1600" dirty="0"/>
              <a:t>結論</a:t>
            </a:r>
            <a:endParaRPr lang="en-US" altLang="ja-JP" sz="1600" dirty="0"/>
          </a:p>
          <a:p>
            <a:pPr marL="285750" indent="-285750">
              <a:buFont typeface="Arial" panose="020B0604020202020204" pitchFamily="34" charset="0"/>
              <a:buChar char="•"/>
            </a:pPr>
            <a:r>
              <a:rPr lang="ja-JP" altLang="en-US" sz="1600" dirty="0"/>
              <a:t>備考</a:t>
            </a:r>
            <a:endParaRPr lang="en-US" altLang="ja-JP" sz="1600" dirty="0"/>
          </a:p>
          <a:p>
            <a:pPr marL="742950" lvl="1" indent="-285750">
              <a:buFont typeface="Arial" panose="020B0604020202020204" pitchFamily="34" charset="0"/>
              <a:buChar char="•"/>
            </a:pPr>
            <a:r>
              <a:rPr lang="ja-JP" altLang="en-US" sz="1400" dirty="0"/>
              <a:t>サポートとメンテナンス－瑕疵範囲、保守提案</a:t>
            </a:r>
            <a:endParaRPr lang="en-US" altLang="ja-JP" sz="1400" dirty="0"/>
          </a:p>
        </p:txBody>
      </p:sp>
      <p:sp>
        <p:nvSpPr>
          <p:cNvPr id="3" name="タイトル 1">
            <a:extLst>
              <a:ext uri="{FF2B5EF4-FFF2-40B4-BE49-F238E27FC236}">
                <a16:creationId xmlns:a16="http://schemas.microsoft.com/office/drawing/2014/main" id="{0FF4EC80-8596-5D54-C4BC-E52BEA3A7CC4}"/>
              </a:ext>
            </a:extLst>
          </p:cNvPr>
          <p:cNvSpPr txBox="1">
            <a:spLocks/>
          </p:cNvSpPr>
          <p:nvPr/>
        </p:nvSpPr>
        <p:spPr>
          <a:xfrm>
            <a:off x="414337" y="209788"/>
            <a:ext cx="9327072" cy="369332"/>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r>
              <a:rPr kumimoji="0" lang="ja-JP" altLang="en-US" dirty="0"/>
              <a:t>目次</a:t>
            </a:r>
            <a:endParaRPr kumimoji="1" lang="ja-JP"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Autofit/>
          </a:bodyPr>
          <a:lstStyle/>
          <a:p>
            <a:r>
              <a:rPr lang="ja-JP" altLang="en-US" dirty="0"/>
              <a:t>提案の背景</a:t>
            </a:r>
            <a:endParaRPr kumimoji="1" lang="ja-JP" altLang="en-US" dirty="0"/>
          </a:p>
        </p:txBody>
      </p:sp>
      <p:sp>
        <p:nvSpPr>
          <p:cNvPr id="15" name="テキスト ボックス 14"/>
          <p:cNvSpPr txBox="1"/>
          <p:nvPr/>
        </p:nvSpPr>
        <p:spPr>
          <a:xfrm>
            <a:off x="414337" y="782995"/>
            <a:ext cx="11411904" cy="5541605"/>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a:lnSpc>
                <a:spcPct val="150000"/>
              </a:lnSpc>
            </a:pPr>
            <a:r>
              <a:rPr lang="ja-JP" altLang="en-US" sz="1600" dirty="0">
                <a:latin typeface="Yu Gothic UI" panose="020B0500000000000000" pitchFamily="50" charset="-128"/>
                <a:ea typeface="Yu Gothic UI" panose="020B0500000000000000" pitchFamily="50" charset="-128"/>
              </a:rPr>
              <a:t>提案の背景</a:t>
            </a:r>
            <a:r>
              <a:rPr lang="en-US" altLang="ja-JP" sz="1600" dirty="0">
                <a:latin typeface="Yu Gothic UI" panose="020B0500000000000000" pitchFamily="50" charset="-128"/>
                <a:ea typeface="Yu Gothic UI" panose="020B0500000000000000" pitchFamily="50" charset="-128"/>
              </a:rPr>
              <a:t>:</a:t>
            </a:r>
          </a:p>
          <a:p>
            <a:pPr marL="800100" lvl="1" indent="-342900">
              <a:lnSpc>
                <a:spcPct val="150000"/>
              </a:lnSpc>
              <a:buFont typeface="+mj-lt"/>
              <a:buAutoNum type="arabicPeriod"/>
            </a:pPr>
            <a:r>
              <a:rPr lang="en-US" altLang="ja-JP" sz="1600" dirty="0" err="1">
                <a:latin typeface="Yu Gothic UI" panose="020B0500000000000000" pitchFamily="50" charset="-128"/>
                <a:ea typeface="Yu Gothic UI" panose="020B0500000000000000" pitchFamily="50" charset="-128"/>
              </a:rPr>
              <a:t>LotusNotes</a:t>
            </a:r>
            <a:r>
              <a:rPr lang="ja-JP" altLang="en-US" sz="1600" dirty="0">
                <a:latin typeface="Yu Gothic UI" panose="020B0500000000000000" pitchFamily="50" charset="-128"/>
                <a:ea typeface="Yu Gothic UI" panose="020B0500000000000000" pitchFamily="50" charset="-128"/>
              </a:rPr>
              <a:t>のサポート中止に伴い、</a:t>
            </a:r>
            <a:r>
              <a:rPr lang="en-US" altLang="ja-JP" sz="1600" dirty="0">
                <a:latin typeface="Yu Gothic UI" panose="020B0500000000000000" pitchFamily="50" charset="-128"/>
                <a:ea typeface="Yu Gothic UI" panose="020B0500000000000000" pitchFamily="50" charset="-128"/>
              </a:rPr>
              <a:t>Notes</a:t>
            </a:r>
            <a:r>
              <a:rPr lang="ja-JP" altLang="en-US" sz="1600" dirty="0">
                <a:latin typeface="Yu Gothic UI" panose="020B0500000000000000" pitchFamily="50" charset="-128"/>
                <a:ea typeface="Yu Gothic UI" panose="020B0500000000000000" pitchFamily="50" charset="-128"/>
              </a:rPr>
              <a:t>で構築されている業務アプリケーションを移行・再構築する必要があります。</a:t>
            </a:r>
            <a:endParaRPr lang="en-US" altLang="ja-JP" sz="1600" dirty="0">
              <a:latin typeface="Yu Gothic UI" panose="020B0500000000000000" pitchFamily="50" charset="-128"/>
              <a:ea typeface="Yu Gothic UI" panose="020B0500000000000000" pitchFamily="50" charset="-128"/>
            </a:endParaRPr>
          </a:p>
          <a:p>
            <a:pPr marL="800100" lvl="1" indent="-342900">
              <a:lnSpc>
                <a:spcPct val="150000"/>
              </a:lnSpc>
              <a:buFont typeface="+mj-lt"/>
              <a:buAutoNum type="arabicPeriod"/>
            </a:pPr>
            <a:r>
              <a:rPr lang="ja-JP" altLang="en-US" sz="1600" dirty="0">
                <a:latin typeface="Yu Gothic UI" panose="020B0500000000000000" pitchFamily="50" charset="-128"/>
                <a:ea typeface="Yu Gothic UI" panose="020B0500000000000000" pitchFamily="50" charset="-128"/>
              </a:rPr>
              <a:t>今回の再構築対象業務は、文書を管理する業務アプリケーションであり、文書には定型項目と添付ファイルが含まれます。</a:t>
            </a:r>
            <a:r>
              <a:rPr lang="en-US" altLang="ja-JP" sz="1600" dirty="0">
                <a:latin typeface="Yu Gothic UI" panose="020B0500000000000000" pitchFamily="50" charset="-128"/>
                <a:ea typeface="Yu Gothic UI" panose="020B0500000000000000" pitchFamily="50" charset="-128"/>
              </a:rPr>
              <a:t>CMS</a:t>
            </a:r>
            <a:r>
              <a:rPr lang="ja-JP" altLang="en-US" sz="1600" dirty="0">
                <a:latin typeface="Yu Gothic UI" panose="020B0500000000000000" pitchFamily="50" charset="-128"/>
                <a:ea typeface="Yu Gothic UI" panose="020B0500000000000000" pitchFamily="50" charset="-128"/>
              </a:rPr>
              <a:t>（コンテンツ管理システム）の部分機能と類似する機能が求められます。</a:t>
            </a:r>
          </a:p>
          <a:p>
            <a:pPr marL="800100" lvl="1" indent="-342900">
              <a:lnSpc>
                <a:spcPct val="150000"/>
              </a:lnSpc>
              <a:buFont typeface="+mj-lt"/>
              <a:buAutoNum type="arabicPeriod"/>
            </a:pPr>
            <a:r>
              <a:rPr lang="en-US" altLang="ja-JP" sz="1600" dirty="0">
                <a:latin typeface="Yu Gothic UI" panose="020B0500000000000000" pitchFamily="50" charset="-128"/>
                <a:ea typeface="Yu Gothic UI" panose="020B0500000000000000" pitchFamily="50" charset="-128"/>
              </a:rPr>
              <a:t>PowerApps</a:t>
            </a:r>
            <a:r>
              <a:rPr lang="ja-JP" altLang="en-US" sz="1600" dirty="0">
                <a:latin typeface="Yu Gothic UI" panose="020B0500000000000000" pitchFamily="50" charset="-128"/>
                <a:ea typeface="Yu Gothic UI" panose="020B0500000000000000" pitchFamily="50" charset="-128"/>
              </a:rPr>
              <a:t>による実現が制約が多く、困難で、複数のパッケージを検討・評価しました。</a:t>
            </a:r>
          </a:p>
          <a:p>
            <a:pPr marL="800100" lvl="1" indent="-342900">
              <a:lnSpc>
                <a:spcPct val="150000"/>
              </a:lnSpc>
              <a:buFont typeface="+mj-lt"/>
              <a:buAutoNum type="arabicPeriod"/>
            </a:pPr>
            <a:r>
              <a:rPr lang="ja-JP" altLang="en-US" sz="1600" dirty="0">
                <a:latin typeface="Yu Gothic UI" panose="020B0500000000000000" pitchFamily="50" charset="-128"/>
                <a:ea typeface="Yu Gothic UI" panose="020B0500000000000000" pitchFamily="50" charset="-128"/>
              </a:rPr>
              <a:t>検討・評価対象の</a:t>
            </a:r>
            <a:r>
              <a:rPr lang="en-US" altLang="ja-JP" sz="1600" dirty="0">
                <a:latin typeface="Yu Gothic UI" panose="020B0500000000000000" pitchFamily="50" charset="-128"/>
                <a:ea typeface="Yu Gothic UI" panose="020B0500000000000000" pitchFamily="50" charset="-128"/>
              </a:rPr>
              <a:t>CMS</a:t>
            </a:r>
            <a:r>
              <a:rPr lang="ja-JP" altLang="en-US" sz="1600" dirty="0">
                <a:latin typeface="Yu Gothic UI" panose="020B0500000000000000" pitchFamily="50" charset="-128"/>
                <a:ea typeface="Yu Gothic UI" panose="020B0500000000000000" pitchFamily="50" charset="-128"/>
              </a:rPr>
              <a:t>パッケージソリューションを採用した場合、要求されるオンライン編集、承認プロセス（</a:t>
            </a:r>
            <a:r>
              <a:rPr lang="en-US" altLang="ja-JP" sz="1600" dirty="0">
                <a:latin typeface="Yu Gothic UI" panose="020B0500000000000000" pitchFamily="50" charset="-128"/>
                <a:ea typeface="Yu Gothic UI" panose="020B0500000000000000" pitchFamily="50" charset="-128"/>
              </a:rPr>
              <a:t>Workflow</a:t>
            </a:r>
            <a:r>
              <a:rPr lang="ja-JP" altLang="en-US" sz="1600" dirty="0">
                <a:latin typeface="Yu Gothic UI" panose="020B0500000000000000" pitchFamily="50" charset="-128"/>
                <a:ea typeface="Yu Gothic UI" panose="020B0500000000000000" pitchFamily="50" charset="-128"/>
              </a:rPr>
              <a:t>）制御、ファイルダウンロードなど、解決すべきシステム要件がいくつか残ります。</a:t>
            </a:r>
            <a:endParaRPr lang="en-US" altLang="ja-JP" sz="1600" dirty="0">
              <a:latin typeface="Yu Gothic UI" panose="020B0500000000000000" pitchFamily="50" charset="-128"/>
              <a:ea typeface="Yu Gothic UI" panose="020B0500000000000000" pitchFamily="50" charset="-128"/>
            </a:endParaRPr>
          </a:p>
          <a:p>
            <a:pPr marL="800100" lvl="1" indent="-342900">
              <a:lnSpc>
                <a:spcPct val="150000"/>
              </a:lnSpc>
              <a:buFont typeface="+mj-lt"/>
              <a:buAutoNum type="arabicPeriod"/>
            </a:pPr>
            <a:r>
              <a:rPr lang="ja-JP" altLang="en-US" sz="1600" dirty="0">
                <a:latin typeface="Yu Gothic UI" panose="020B0500000000000000" pitchFamily="50" charset="-128"/>
                <a:ea typeface="Yu Gothic UI" panose="020B0500000000000000" pitchFamily="50" charset="-128"/>
              </a:rPr>
              <a:t>また、</a:t>
            </a:r>
            <a:r>
              <a:rPr lang="en-US" altLang="ja-JP" sz="1600" dirty="0">
                <a:latin typeface="Yu Gothic UI" panose="020B0500000000000000" pitchFamily="50" charset="-128"/>
                <a:ea typeface="Yu Gothic UI" panose="020B0500000000000000" pitchFamily="50" charset="-128"/>
              </a:rPr>
              <a:t>CMS</a:t>
            </a:r>
            <a:r>
              <a:rPr lang="ja-JP" altLang="en-US" sz="1600" dirty="0">
                <a:latin typeface="Yu Gothic UI" panose="020B0500000000000000" pitchFamily="50" charset="-128"/>
                <a:ea typeface="Yu Gothic UI" panose="020B0500000000000000" pitchFamily="50" charset="-128"/>
              </a:rPr>
              <a:t>パッケージソリューションを採用した場合、 ライセンス費用などにより、運用コストを影響します。</a:t>
            </a:r>
            <a:endParaRPr lang="en-US" altLang="ja-JP" sz="1600" dirty="0">
              <a:latin typeface="Yu Gothic UI" panose="020B0500000000000000" pitchFamily="50" charset="-128"/>
              <a:ea typeface="Yu Gothic UI" panose="020B0500000000000000" pitchFamily="50" charset="-128"/>
            </a:endParaRPr>
          </a:p>
          <a:p>
            <a:pPr>
              <a:lnSpc>
                <a:spcPct val="150000"/>
              </a:lnSpc>
            </a:pPr>
            <a:r>
              <a:rPr lang="ja-JP" altLang="en-US" sz="1600" dirty="0">
                <a:latin typeface="Yu Gothic UI" panose="020B0500000000000000" pitchFamily="50" charset="-128"/>
                <a:ea typeface="Yu Gothic UI" panose="020B0500000000000000" pitchFamily="50" charset="-128"/>
              </a:rPr>
              <a:t>提案</a:t>
            </a:r>
            <a:r>
              <a:rPr lang="en-US" altLang="ja-JP" sz="1600" dirty="0">
                <a:latin typeface="Yu Gothic UI" panose="020B0500000000000000" pitchFamily="50" charset="-128"/>
                <a:ea typeface="Yu Gothic UI" panose="020B0500000000000000" pitchFamily="50" charset="-128"/>
              </a:rPr>
              <a:t>: </a:t>
            </a:r>
          </a:p>
          <a:p>
            <a:pPr lvl="1">
              <a:lnSpc>
                <a:spcPct val="150000"/>
              </a:lnSpc>
            </a:pPr>
            <a:r>
              <a:rPr lang="ja-JP" altLang="en-US" sz="1600" dirty="0">
                <a:latin typeface="Yu Gothic UI" panose="020B0500000000000000" pitchFamily="50" charset="-128"/>
                <a:ea typeface="Yu Gothic UI" panose="020B0500000000000000" pitchFamily="50" charset="-128"/>
              </a:rPr>
              <a:t>効率的な文書管理を実現し、ラインセス費用を抑え、業務生産性向上を考慮し、上記の背景を踏まえて、弊社の技術力は下記のシステム構成で貴社の業務要件を応えられるとの結論に至りました。</a:t>
            </a:r>
            <a:endParaRPr lang="en-US" altLang="ja-JP" sz="1600" dirty="0">
              <a:latin typeface="Yu Gothic UI" panose="020B0500000000000000" pitchFamily="50" charset="-128"/>
              <a:ea typeface="Yu Gothic UI" panose="020B0500000000000000" pitchFamily="50" charset="-128"/>
            </a:endParaRPr>
          </a:p>
          <a:p>
            <a:pPr lvl="1">
              <a:lnSpc>
                <a:spcPct val="150000"/>
              </a:lnSpc>
            </a:pPr>
            <a:r>
              <a:rPr lang="ja-JP" altLang="en-US" sz="1600" dirty="0">
                <a:latin typeface="Yu Gothic UI" panose="020B0500000000000000" pitchFamily="50" charset="-128"/>
                <a:ea typeface="Yu Gothic UI" panose="020B0500000000000000" pitchFamily="50" charset="-128"/>
              </a:rPr>
              <a:t>弊社の提案</a:t>
            </a:r>
            <a:endParaRPr lang="en-US" altLang="ja-JP" sz="1600" dirty="0">
              <a:latin typeface="Yu Gothic UI" panose="020B0500000000000000" pitchFamily="50" charset="-128"/>
              <a:ea typeface="Yu Gothic UI" panose="020B0500000000000000" pitchFamily="50" charset="-128"/>
            </a:endParaRPr>
          </a:p>
          <a:p>
            <a:pPr lvl="1">
              <a:lnSpc>
                <a:spcPct val="150000"/>
              </a:lnSpc>
            </a:pPr>
            <a:r>
              <a:rPr lang="en-US" altLang="ja-JP" sz="1600" dirty="0">
                <a:latin typeface="Yu Gothic UI" panose="020B0500000000000000" pitchFamily="50" charset="-128"/>
                <a:ea typeface="Yu Gothic UI" panose="020B0500000000000000" pitchFamily="50" charset="-128"/>
              </a:rPr>
              <a:t>	PowerPlatform+Office365+Azure </a:t>
            </a:r>
            <a:r>
              <a:rPr lang="en-US" altLang="ja-JP" sz="1600" dirty="0" err="1">
                <a:latin typeface="Yu Gothic UI" panose="020B0500000000000000" pitchFamily="50" charset="-128"/>
                <a:ea typeface="Yu Gothic UI" panose="020B0500000000000000" pitchFamily="50" charset="-128"/>
              </a:rPr>
              <a:t>Sql</a:t>
            </a:r>
            <a:endParaRPr lang="en-US" altLang="ja-JP" sz="1600" dirty="0">
              <a:latin typeface="Yu Gothic UI" panose="020B0500000000000000" pitchFamily="50" charset="-128"/>
              <a:ea typeface="Yu Gothic UI" panose="020B0500000000000000" pitchFamily="50" charset="-128"/>
            </a:endParaRPr>
          </a:p>
          <a:p>
            <a:pPr lvl="1">
              <a:lnSpc>
                <a:spcPct val="150000"/>
              </a:lnSpc>
            </a:pPr>
            <a:r>
              <a:rPr lang="ja-JP" altLang="en-US" sz="1600" dirty="0">
                <a:latin typeface="Yu Gothic UI" panose="020B0500000000000000" pitchFamily="50" charset="-128"/>
                <a:ea typeface="Yu Gothic UI" panose="020B0500000000000000" pitchFamily="50" charset="-128"/>
              </a:rPr>
              <a:t>で文書を管理する業務アプリケーションの再構築します。</a:t>
            </a:r>
            <a:endParaRPr lang="en-US" altLang="ja-JP" sz="1600" dirty="0">
              <a:latin typeface="Yu Gothic UI" panose="020B0500000000000000" pitchFamily="50" charset="-128"/>
              <a:ea typeface="Yu Gothic UI" panose="020B0500000000000000" pitchFamily="50" charset="-128"/>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Autofit/>
          </a:bodyPr>
          <a:lstStyle/>
          <a:p>
            <a:r>
              <a:rPr lang="ja-JP" altLang="en-US" dirty="0"/>
              <a:t>システム概要</a:t>
            </a:r>
            <a:endParaRPr lang="ja-JP" altLang="en-US" dirty="0">
              <a:effectLst/>
            </a:endParaRPr>
          </a:p>
        </p:txBody>
      </p:sp>
      <p:sp>
        <p:nvSpPr>
          <p:cNvPr id="15" name="テキスト ボックス 14"/>
          <p:cNvSpPr txBox="1"/>
          <p:nvPr/>
        </p:nvSpPr>
        <p:spPr>
          <a:xfrm>
            <a:off x="414337" y="782995"/>
            <a:ext cx="11386504" cy="5643684"/>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r>
              <a:rPr lang="ja-JP" altLang="en-US" sz="1400" dirty="0">
                <a:latin typeface="Yu Gothic UI" panose="020B0500000000000000" pitchFamily="50" charset="-128"/>
                <a:ea typeface="Yu Gothic UI" panose="020B0500000000000000" pitchFamily="50" charset="-128"/>
              </a:rPr>
              <a:t>システム構成</a:t>
            </a:r>
            <a:r>
              <a:rPr lang="en-US" altLang="ja-JP" sz="1400" dirty="0">
                <a:latin typeface="Yu Gothic UI" panose="020B0500000000000000" pitchFamily="50" charset="-128"/>
                <a:ea typeface="Yu Gothic UI" panose="020B0500000000000000" pitchFamily="50" charset="-128"/>
              </a:rPr>
              <a:t>: </a:t>
            </a:r>
          </a:p>
          <a:p>
            <a:pPr marL="742950" lvl="1" indent="-285750">
              <a:buFont typeface="Arial" panose="020B0604020202020204" pitchFamily="34" charset="0"/>
              <a:buChar char="•"/>
            </a:pPr>
            <a:r>
              <a:rPr lang="en-US" altLang="ja-JP" sz="1400" dirty="0">
                <a:latin typeface="Yu Gothic UI" panose="020B0500000000000000" pitchFamily="50" charset="-128"/>
                <a:ea typeface="Yu Gothic UI" panose="020B0500000000000000" pitchFamily="50" charset="-128"/>
              </a:rPr>
              <a:t>PowerApps</a:t>
            </a:r>
            <a:r>
              <a:rPr lang="ja-JP" altLang="en-US" sz="1400" dirty="0">
                <a:latin typeface="Yu Gothic UI" panose="020B0500000000000000" pitchFamily="50" charset="-128"/>
                <a:ea typeface="Yu Gothic UI" panose="020B0500000000000000" pitchFamily="50" charset="-128"/>
              </a:rPr>
              <a:t>、</a:t>
            </a:r>
            <a:r>
              <a:rPr lang="en-US" altLang="ja-JP" sz="1400" dirty="0">
                <a:latin typeface="Yu Gothic UI" panose="020B0500000000000000" pitchFamily="50" charset="-128"/>
                <a:ea typeface="Yu Gothic UI" panose="020B0500000000000000" pitchFamily="50" charset="-128"/>
              </a:rPr>
              <a:t>Office365</a:t>
            </a:r>
            <a:r>
              <a:rPr lang="ja-JP" altLang="en-US" sz="1400" dirty="0">
                <a:latin typeface="Yu Gothic UI" panose="020B0500000000000000" pitchFamily="50" charset="-128"/>
                <a:ea typeface="Yu Gothic UI" panose="020B0500000000000000" pitchFamily="50" charset="-128"/>
              </a:rPr>
              <a:t>と</a:t>
            </a:r>
            <a:r>
              <a:rPr lang="en-US" altLang="ja-JP" sz="1400" dirty="0">
                <a:latin typeface="Yu Gothic UI" panose="020B0500000000000000" pitchFamily="50" charset="-128"/>
                <a:ea typeface="Yu Gothic UI" panose="020B0500000000000000" pitchFamily="50" charset="-128"/>
              </a:rPr>
              <a:t>Azure SQL </a:t>
            </a:r>
            <a:r>
              <a:rPr lang="ja-JP" altLang="en-US" sz="1400" dirty="0">
                <a:latin typeface="Yu Gothic UI" panose="020B0500000000000000" pitchFamily="50" charset="-128"/>
                <a:ea typeface="Yu Gothic UI" panose="020B0500000000000000" pitchFamily="50" charset="-128"/>
              </a:rPr>
              <a:t>を利用してシステム構築し、パフォーマンスを配慮した上に、添付ファイル管理、オンライン編集、一括ダウンロード、検索機能を実現。</a:t>
            </a:r>
            <a:endParaRPr lang="en-US" altLang="ja-JP" sz="14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400" dirty="0">
                <a:latin typeface="Yu Gothic UI" panose="020B0500000000000000" pitchFamily="50" charset="-128"/>
                <a:ea typeface="Yu Gothic UI" panose="020B0500000000000000" pitchFamily="50" charset="-128"/>
              </a:rPr>
              <a:t>フロントエンド</a:t>
            </a:r>
            <a:r>
              <a:rPr lang="en-US" altLang="ja-JP" sz="1400" dirty="0">
                <a:latin typeface="Yu Gothic UI" panose="020B0500000000000000" pitchFamily="50" charset="-128"/>
                <a:ea typeface="Yu Gothic UI" panose="020B0500000000000000" pitchFamily="50" charset="-128"/>
              </a:rPr>
              <a:t>: </a:t>
            </a:r>
          </a:p>
          <a:p>
            <a:pPr marL="1200150" lvl="2" indent="-285750">
              <a:buFont typeface="Arial" panose="020B0604020202020204" pitchFamily="34" charset="0"/>
              <a:buChar char="•"/>
            </a:pPr>
            <a:r>
              <a:rPr lang="en-US" altLang="ja-JP" sz="1200" dirty="0">
                <a:latin typeface="Yu Gothic UI" panose="020B0500000000000000" pitchFamily="50" charset="-128"/>
                <a:ea typeface="Yu Gothic UI" panose="020B0500000000000000" pitchFamily="50" charset="-128"/>
              </a:rPr>
              <a:t>PowerApps Canvas App</a:t>
            </a:r>
            <a:r>
              <a:rPr lang="ja-JP" altLang="en-US" sz="1200" dirty="0">
                <a:latin typeface="Yu Gothic UI" panose="020B0500000000000000" pitchFamily="50" charset="-128"/>
                <a:ea typeface="Yu Gothic UI" panose="020B0500000000000000" pitchFamily="50" charset="-128"/>
              </a:rPr>
              <a:t>で構築。</a:t>
            </a:r>
            <a:endParaRPr lang="en-US" altLang="ja-JP" sz="1200" dirty="0">
              <a:latin typeface="Yu Gothic UI" panose="020B0500000000000000" pitchFamily="50" charset="-128"/>
              <a:ea typeface="Yu Gothic UI" panose="020B0500000000000000" pitchFamily="50" charset="-128"/>
            </a:endParaRPr>
          </a:p>
          <a:p>
            <a:pPr marL="1200150" lvl="2"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ユーザーインターフェースとして、文書の作成</a:t>
            </a:r>
            <a:r>
              <a:rPr lang="en-US" altLang="ja-JP" sz="1200" dirty="0">
                <a:latin typeface="Yu Gothic UI" panose="020B0500000000000000" pitchFamily="50" charset="-128"/>
                <a:ea typeface="Yu Gothic UI" panose="020B0500000000000000" pitchFamily="50" charset="-128"/>
              </a:rPr>
              <a:t>/</a:t>
            </a:r>
            <a:r>
              <a:rPr lang="ja-JP" altLang="en-US" sz="1200" dirty="0">
                <a:latin typeface="Yu Gothic UI" panose="020B0500000000000000" pitchFamily="50" charset="-128"/>
                <a:ea typeface="Yu Gothic UI" panose="020B0500000000000000" pitchFamily="50" charset="-128"/>
              </a:rPr>
              <a:t>閲覧</a:t>
            </a:r>
            <a:r>
              <a:rPr lang="en-US" altLang="ja-JP" sz="1200" dirty="0">
                <a:latin typeface="Yu Gothic UI" panose="020B0500000000000000" pitchFamily="50" charset="-128"/>
                <a:ea typeface="Yu Gothic UI" panose="020B0500000000000000" pitchFamily="50" charset="-128"/>
              </a:rPr>
              <a:t>/</a:t>
            </a:r>
            <a:r>
              <a:rPr lang="ja-JP" altLang="en-US" sz="1200" dirty="0">
                <a:latin typeface="Yu Gothic UI" panose="020B0500000000000000" pitchFamily="50" charset="-128"/>
                <a:ea typeface="Yu Gothic UI" panose="020B0500000000000000" pitchFamily="50" charset="-128"/>
              </a:rPr>
              <a:t>編集画面を提供。</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400" dirty="0">
                <a:latin typeface="Yu Gothic UI" panose="020B0500000000000000" pitchFamily="50" charset="-128"/>
                <a:ea typeface="Yu Gothic UI" panose="020B0500000000000000" pitchFamily="50" charset="-128"/>
              </a:rPr>
              <a:t>データベース</a:t>
            </a:r>
            <a:r>
              <a:rPr lang="en-US" altLang="ja-JP" sz="1400" dirty="0">
                <a:latin typeface="Yu Gothic UI" panose="020B0500000000000000" pitchFamily="50" charset="-128"/>
                <a:ea typeface="Yu Gothic UI" panose="020B0500000000000000" pitchFamily="50" charset="-128"/>
              </a:rPr>
              <a:t>: </a:t>
            </a:r>
          </a:p>
          <a:p>
            <a:pPr marL="1200150" lvl="2" indent="-285750">
              <a:buFont typeface="Arial" panose="020B0604020202020204" pitchFamily="34" charset="0"/>
              <a:buChar char="•"/>
            </a:pPr>
            <a:r>
              <a:rPr lang="en-US" altLang="ja-JP" sz="1200" dirty="0">
                <a:latin typeface="Yu Gothic UI" panose="020B0500000000000000" pitchFamily="50" charset="-128"/>
                <a:ea typeface="Yu Gothic UI" panose="020B0500000000000000" pitchFamily="50" charset="-128"/>
              </a:rPr>
              <a:t>Azure SQL </a:t>
            </a:r>
            <a:r>
              <a:rPr lang="ja-JP" altLang="en-US" sz="1200" dirty="0">
                <a:latin typeface="Yu Gothic UI" panose="020B0500000000000000" pitchFamily="50" charset="-128"/>
                <a:ea typeface="Yu Gothic UI" panose="020B0500000000000000" pitchFamily="50" charset="-128"/>
              </a:rPr>
              <a:t>をメインのデータストレージとして使用し、文書のメタデータ（文書</a:t>
            </a:r>
            <a:r>
              <a:rPr lang="en-US" altLang="ja-JP" sz="1200" dirty="0">
                <a:latin typeface="Yu Gothic UI" panose="020B0500000000000000" pitchFamily="50" charset="-128"/>
                <a:ea typeface="Yu Gothic UI" panose="020B0500000000000000" pitchFamily="50" charset="-128"/>
              </a:rPr>
              <a:t>ID</a:t>
            </a:r>
            <a:r>
              <a:rPr lang="ja-JP" altLang="en-US" sz="1200" dirty="0">
                <a:latin typeface="Yu Gothic UI" panose="020B0500000000000000" pitchFamily="50" charset="-128"/>
                <a:ea typeface="Yu Gothic UI" panose="020B0500000000000000" pitchFamily="50" charset="-128"/>
              </a:rPr>
              <a:t>、日付、ステータスなど）を格納し、</a:t>
            </a:r>
            <a:r>
              <a:rPr lang="en-US" altLang="ja-JP" sz="1200" dirty="0">
                <a:latin typeface="Yu Gothic UI" panose="020B0500000000000000" pitchFamily="50" charset="-128"/>
                <a:ea typeface="Yu Gothic UI" panose="020B0500000000000000" pitchFamily="50" charset="-128"/>
              </a:rPr>
              <a:t>Dataverse</a:t>
            </a:r>
            <a:r>
              <a:rPr lang="ja-JP" altLang="en-US" sz="1200" dirty="0">
                <a:latin typeface="Yu Gothic UI" panose="020B0500000000000000" pitchFamily="50" charset="-128"/>
                <a:ea typeface="Yu Gothic UI" panose="020B0500000000000000" pitchFamily="50" charset="-128"/>
              </a:rPr>
              <a:t>と連携し、</a:t>
            </a:r>
            <a:r>
              <a:rPr lang="en-US" altLang="ja-JP" sz="1200" dirty="0">
                <a:latin typeface="Yu Gothic UI" panose="020B0500000000000000" pitchFamily="50" charset="-128"/>
                <a:ea typeface="Yu Gothic UI" panose="020B0500000000000000" pitchFamily="50" charset="-128"/>
              </a:rPr>
              <a:t>PowerApps</a:t>
            </a:r>
            <a:r>
              <a:rPr lang="ja-JP" altLang="en-US" sz="1200" dirty="0">
                <a:latin typeface="Yu Gothic UI" panose="020B0500000000000000" pitchFamily="50" charset="-128"/>
                <a:ea typeface="Yu Gothic UI" panose="020B0500000000000000" pitchFamily="50" charset="-128"/>
              </a:rPr>
              <a:t>からのアクセス可能に。</a:t>
            </a:r>
            <a:endParaRPr lang="en-US" altLang="ja-JP" sz="1200" dirty="0">
              <a:latin typeface="Yu Gothic UI" panose="020B0500000000000000" pitchFamily="50" charset="-128"/>
              <a:ea typeface="Yu Gothic UI" panose="020B0500000000000000" pitchFamily="50" charset="-128"/>
            </a:endParaRPr>
          </a:p>
          <a:p>
            <a:pPr marL="1200150" lvl="2"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ファイルストレージとしては、</a:t>
            </a:r>
            <a:r>
              <a:rPr lang="en-US" altLang="ja-JP" sz="1200" dirty="0">
                <a:latin typeface="Yu Gothic UI" panose="020B0500000000000000" pitchFamily="50" charset="-128"/>
                <a:ea typeface="Yu Gothic UI" panose="020B0500000000000000" pitchFamily="50" charset="-128"/>
              </a:rPr>
              <a:t>SharePoint</a:t>
            </a:r>
            <a:r>
              <a:rPr lang="ja-JP" altLang="en-US" sz="1200" dirty="0">
                <a:latin typeface="Yu Gothic UI" panose="020B0500000000000000" pitchFamily="50" charset="-128"/>
                <a:ea typeface="Yu Gothic UI" panose="020B0500000000000000" pitchFamily="50" charset="-128"/>
              </a:rPr>
              <a:t>を使用し、</a:t>
            </a:r>
            <a:r>
              <a:rPr lang="en-US" altLang="ja-JP" sz="1200" dirty="0">
                <a:latin typeface="Yu Gothic UI" panose="020B0500000000000000" pitchFamily="50" charset="-128"/>
                <a:ea typeface="Yu Gothic UI" panose="020B0500000000000000" pitchFamily="50" charset="-128"/>
              </a:rPr>
              <a:t>:</a:t>
            </a:r>
            <a:r>
              <a:rPr lang="ja-JP" altLang="en-US" sz="1200" dirty="0">
                <a:latin typeface="Yu Gothic UI" panose="020B0500000000000000" pitchFamily="50" charset="-128"/>
                <a:ea typeface="Yu Gothic UI" panose="020B0500000000000000" pitchFamily="50" charset="-128"/>
              </a:rPr>
              <a:t>添付ファイル（</a:t>
            </a:r>
            <a:r>
              <a:rPr lang="en-US" altLang="ja-JP" sz="1200" dirty="0">
                <a:latin typeface="Yu Gothic UI" panose="020B0500000000000000" pitchFamily="50" charset="-128"/>
                <a:ea typeface="Yu Gothic UI" panose="020B0500000000000000" pitchFamily="50" charset="-128"/>
              </a:rPr>
              <a:t>Office</a:t>
            </a:r>
            <a:r>
              <a:rPr lang="ja-JP" altLang="en-US" sz="1200" dirty="0">
                <a:latin typeface="Yu Gothic UI" panose="020B0500000000000000" pitchFamily="50" charset="-128"/>
                <a:ea typeface="Yu Gothic UI" panose="020B0500000000000000" pitchFamily="50" charset="-128"/>
              </a:rPr>
              <a:t>ファイル、</a:t>
            </a:r>
            <a:r>
              <a:rPr lang="en-US" altLang="ja-JP" sz="1200" dirty="0">
                <a:latin typeface="Yu Gothic UI" panose="020B0500000000000000" pitchFamily="50" charset="-128"/>
                <a:ea typeface="Yu Gothic UI" panose="020B0500000000000000" pitchFamily="50" charset="-128"/>
              </a:rPr>
              <a:t>PDF</a:t>
            </a:r>
            <a:r>
              <a:rPr lang="ja-JP" altLang="en-US" sz="1200" dirty="0">
                <a:latin typeface="Yu Gothic UI" panose="020B0500000000000000" pitchFamily="50" charset="-128"/>
                <a:ea typeface="Yu Gothic UI" panose="020B0500000000000000" pitchFamily="50" charset="-128"/>
              </a:rPr>
              <a:t>）を保存。</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400" dirty="0">
                <a:latin typeface="Yu Gothic UI" panose="020B0500000000000000" pitchFamily="50" charset="-128"/>
                <a:ea typeface="Yu Gothic UI" panose="020B0500000000000000" pitchFamily="50" charset="-128"/>
              </a:rPr>
              <a:t>ワークフロー</a:t>
            </a:r>
            <a:r>
              <a:rPr lang="en-US" altLang="ja-JP" sz="1400" dirty="0">
                <a:latin typeface="Yu Gothic UI" panose="020B0500000000000000" pitchFamily="50" charset="-128"/>
                <a:ea typeface="Yu Gothic UI" panose="020B0500000000000000" pitchFamily="50" charset="-128"/>
              </a:rPr>
              <a:t>: </a:t>
            </a:r>
          </a:p>
          <a:p>
            <a:pPr marL="1200150" lvl="2" indent="-285750">
              <a:buFont typeface="Arial" panose="020B0604020202020204" pitchFamily="34" charset="0"/>
              <a:buChar char="•"/>
            </a:pPr>
            <a:r>
              <a:rPr lang="en-US" altLang="ja-JP" sz="1200" dirty="0">
                <a:latin typeface="Yu Gothic UI" panose="020B0500000000000000" pitchFamily="50" charset="-128"/>
                <a:ea typeface="Yu Gothic UI" panose="020B0500000000000000" pitchFamily="50" charset="-128"/>
              </a:rPr>
              <a:t>Power Automate</a:t>
            </a:r>
            <a:r>
              <a:rPr lang="ja-JP" altLang="en-US" sz="1200" dirty="0">
                <a:latin typeface="Yu Gothic UI" panose="020B0500000000000000" pitchFamily="50" charset="-128"/>
                <a:ea typeface="Yu Gothic UI" panose="020B0500000000000000" pitchFamily="50" charset="-128"/>
              </a:rPr>
              <a:t>で実現（例</a:t>
            </a:r>
            <a:r>
              <a:rPr lang="en-US" altLang="ja-JP" sz="1200" dirty="0">
                <a:latin typeface="Yu Gothic UI" panose="020B0500000000000000" pitchFamily="50" charset="-128"/>
                <a:ea typeface="Yu Gothic UI" panose="020B0500000000000000" pitchFamily="50" charset="-128"/>
              </a:rPr>
              <a:t>: </a:t>
            </a:r>
            <a:r>
              <a:rPr lang="ja-JP" altLang="en-US" sz="1200" dirty="0">
                <a:latin typeface="Yu Gothic UI" panose="020B0500000000000000" pitchFamily="50" charset="-128"/>
                <a:ea typeface="Yu Gothic UI" panose="020B0500000000000000" pitchFamily="50" charset="-128"/>
              </a:rPr>
              <a:t>ファイル編集後の同期、文書の承認プロセス）。</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400" dirty="0">
                <a:latin typeface="Yu Gothic UI" panose="020B0500000000000000" pitchFamily="50" charset="-128"/>
                <a:ea typeface="Yu Gothic UI" panose="020B0500000000000000" pitchFamily="50" charset="-128"/>
              </a:rPr>
              <a:t>セキュリティ</a:t>
            </a:r>
            <a:r>
              <a:rPr lang="en-US" altLang="ja-JP" sz="1400" dirty="0">
                <a:latin typeface="Yu Gothic UI" panose="020B0500000000000000" pitchFamily="50" charset="-128"/>
                <a:ea typeface="Yu Gothic UI" panose="020B0500000000000000" pitchFamily="50" charset="-128"/>
              </a:rPr>
              <a:t>: </a:t>
            </a:r>
          </a:p>
          <a:p>
            <a:pPr marL="1200150" lvl="2" indent="-285750">
              <a:buFont typeface="Arial" panose="020B0604020202020204" pitchFamily="34" charset="0"/>
              <a:buChar char="•"/>
            </a:pPr>
            <a:r>
              <a:rPr lang="en-US" altLang="ja-JP" sz="1200" dirty="0">
                <a:latin typeface="Yu Gothic UI" panose="020B0500000000000000" pitchFamily="50" charset="-128"/>
                <a:ea typeface="Yu Gothic UI" panose="020B0500000000000000" pitchFamily="50" charset="-128"/>
              </a:rPr>
              <a:t>Microsoft Entra ID</a:t>
            </a:r>
            <a:r>
              <a:rPr lang="ja-JP" altLang="en-US" sz="1200" dirty="0">
                <a:latin typeface="Yu Gothic UI" panose="020B0500000000000000" pitchFamily="50" charset="-128"/>
                <a:ea typeface="Yu Gothic UI" panose="020B0500000000000000" pitchFamily="50" charset="-128"/>
              </a:rPr>
              <a:t>（旧</a:t>
            </a:r>
            <a:r>
              <a:rPr lang="en-US" altLang="ja-JP" sz="1200" dirty="0">
                <a:latin typeface="Yu Gothic UI" panose="020B0500000000000000" pitchFamily="50" charset="-128"/>
                <a:ea typeface="Yu Gothic UI" panose="020B0500000000000000" pitchFamily="50" charset="-128"/>
              </a:rPr>
              <a:t>Azure AD</a:t>
            </a:r>
            <a:r>
              <a:rPr lang="ja-JP" altLang="en-US" sz="1200" dirty="0">
                <a:latin typeface="Yu Gothic UI" panose="020B0500000000000000" pitchFamily="50" charset="-128"/>
                <a:ea typeface="Yu Gothic UI" panose="020B0500000000000000" pitchFamily="50" charset="-128"/>
              </a:rPr>
              <a:t>）で認証。ロールベースアクセス制御（</a:t>
            </a:r>
            <a:r>
              <a:rPr lang="en-US" altLang="ja-JP" sz="1200" dirty="0">
                <a:latin typeface="Yu Gothic UI" panose="020B0500000000000000" pitchFamily="50" charset="-128"/>
                <a:ea typeface="Yu Gothic UI" panose="020B0500000000000000" pitchFamily="50" charset="-128"/>
              </a:rPr>
              <a:t>RBAC</a:t>
            </a:r>
            <a:r>
              <a:rPr lang="ja-JP" altLang="en-US" sz="1200" dirty="0">
                <a:latin typeface="Yu Gothic UI" panose="020B0500000000000000" pitchFamily="50" charset="-128"/>
                <a:ea typeface="Yu Gothic UI" panose="020B0500000000000000" pitchFamily="50" charset="-128"/>
              </a:rPr>
              <a:t>）を適用。</a:t>
            </a:r>
            <a:endParaRPr lang="en-US" altLang="ja-JP" sz="1200" dirty="0">
              <a:latin typeface="Yu Gothic UI" panose="020B0500000000000000" pitchFamily="50" charset="-128"/>
              <a:ea typeface="Yu Gothic UI" panose="020B0500000000000000" pitchFamily="50" charset="-128"/>
            </a:endParaRPr>
          </a:p>
          <a:p>
            <a:r>
              <a:rPr lang="ja-JP" altLang="en-US" sz="1400" dirty="0">
                <a:latin typeface="Yu Gothic UI" panose="020B0500000000000000" pitchFamily="50" charset="-128"/>
                <a:ea typeface="Yu Gothic UI" panose="020B0500000000000000" pitchFamily="50" charset="-128"/>
              </a:rPr>
              <a:t>機能要件</a:t>
            </a:r>
            <a:r>
              <a:rPr lang="en-US" altLang="ja-JP" sz="1400" dirty="0">
                <a:latin typeface="Yu Gothic UI" panose="020B0500000000000000" pitchFamily="50" charset="-128"/>
                <a:ea typeface="Yu Gothic UI" panose="020B0500000000000000" pitchFamily="50" charset="-128"/>
              </a:rPr>
              <a:t>:</a:t>
            </a: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オンライン編集</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承認プロセス（</a:t>
            </a:r>
            <a:r>
              <a:rPr lang="en-US" altLang="ja-JP" sz="1200" dirty="0">
                <a:latin typeface="Yu Gothic UI" panose="020B0500000000000000" pitchFamily="50" charset="-128"/>
                <a:ea typeface="Yu Gothic UI" panose="020B0500000000000000" pitchFamily="50" charset="-128"/>
              </a:rPr>
              <a:t>Workflow</a:t>
            </a:r>
            <a:r>
              <a:rPr lang="ja-JP" altLang="en-US" sz="1200" dirty="0">
                <a:latin typeface="Yu Gothic UI" panose="020B0500000000000000" pitchFamily="50" charset="-128"/>
                <a:ea typeface="Yu Gothic UI" panose="020B0500000000000000" pitchFamily="50" charset="-128"/>
              </a:rPr>
              <a:t>）制御</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複数ファイルをユーザローカルへ指定場所にダウンロード</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添付ファイルの内容に指定キーワードで検索</a:t>
            </a:r>
            <a:endParaRPr lang="en-US" altLang="ja-JP" sz="1200" dirty="0">
              <a:latin typeface="Yu Gothic UI" panose="020B0500000000000000" pitchFamily="50" charset="-128"/>
              <a:ea typeface="Yu Gothic UI" panose="020B0500000000000000" pitchFamily="50" charset="-128"/>
            </a:endParaRPr>
          </a:p>
          <a:p>
            <a:r>
              <a:rPr lang="ja-JP" altLang="en-US" sz="1400" dirty="0">
                <a:latin typeface="Yu Gothic UI" panose="020B0500000000000000" pitchFamily="50" charset="-128"/>
                <a:ea typeface="Yu Gothic UI" panose="020B0500000000000000" pitchFamily="50" charset="-128"/>
              </a:rPr>
              <a:t>その他システム要件：</a:t>
            </a:r>
            <a:endParaRPr lang="en-US" altLang="ja-JP" sz="14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利用ユーザー数（</a:t>
            </a:r>
            <a:r>
              <a:rPr lang="en-US" altLang="ja-JP" sz="1200" dirty="0">
                <a:latin typeface="Yu Gothic UI" panose="020B0500000000000000" pitchFamily="50" charset="-128"/>
                <a:ea typeface="Yu Gothic UI" panose="020B0500000000000000" pitchFamily="50" charset="-128"/>
              </a:rPr>
              <a:t>Azure AD</a:t>
            </a:r>
            <a:r>
              <a:rPr lang="ja-JP" altLang="en-US" sz="1200" dirty="0">
                <a:latin typeface="Yu Gothic UI" panose="020B0500000000000000" pitchFamily="50" charset="-128"/>
                <a:ea typeface="Yu Gothic UI" panose="020B0500000000000000" pitchFamily="50" charset="-128"/>
              </a:rPr>
              <a:t>あり）・・・最小利用人数　約５０００ユーザーのケースと、最大利用人数　約１００００ユーザーのケース二つパターン　</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同時接続数・・・約５００人</a:t>
            </a: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オンラインリクエスト件数・・・約</a:t>
            </a:r>
            <a:r>
              <a:rPr lang="en-US" altLang="ja-JP" sz="1200" dirty="0">
                <a:latin typeface="Yu Gothic UI" panose="020B0500000000000000" pitchFamily="50" charset="-128"/>
                <a:ea typeface="Yu Gothic UI" panose="020B0500000000000000" pitchFamily="50" charset="-128"/>
              </a:rPr>
              <a:t>2,000</a:t>
            </a:r>
            <a:r>
              <a:rPr lang="ja-JP" altLang="en-US" sz="1200" dirty="0">
                <a:latin typeface="Yu Gothic UI" panose="020B0500000000000000" pitchFamily="50" charset="-128"/>
                <a:ea typeface="Yu Gothic UI" panose="020B0500000000000000" pitchFamily="50" charset="-128"/>
              </a:rPr>
              <a:t>件</a:t>
            </a:r>
            <a:r>
              <a:rPr lang="en-US" altLang="ja-JP" sz="1200" dirty="0">
                <a:latin typeface="Yu Gothic UI" panose="020B0500000000000000" pitchFamily="50" charset="-128"/>
                <a:ea typeface="Yu Gothic UI" panose="020B0500000000000000" pitchFamily="50" charset="-128"/>
              </a:rPr>
              <a:t>/</a:t>
            </a:r>
            <a:r>
              <a:rPr lang="ja-JP" altLang="en-US" sz="1200" dirty="0">
                <a:latin typeface="Yu Gothic UI" panose="020B0500000000000000" pitchFamily="50" charset="-128"/>
                <a:ea typeface="Yu Gothic UI" panose="020B0500000000000000" pitchFamily="50" charset="-128"/>
              </a:rPr>
              <a:t>日</a:t>
            </a: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バッチ処理件数・・・約</a:t>
            </a:r>
            <a:r>
              <a:rPr lang="en-US" altLang="ja-JP" sz="1200" dirty="0">
                <a:latin typeface="Yu Gothic UI" panose="020B0500000000000000" pitchFamily="50" charset="-128"/>
                <a:ea typeface="Yu Gothic UI" panose="020B0500000000000000" pitchFamily="50" charset="-128"/>
              </a:rPr>
              <a:t>60</a:t>
            </a:r>
            <a:r>
              <a:rPr lang="ja-JP" altLang="en-US" sz="1200" dirty="0">
                <a:latin typeface="Yu Gothic UI" panose="020B0500000000000000" pitchFamily="50" charset="-128"/>
                <a:ea typeface="Yu Gothic UI" panose="020B0500000000000000" pitchFamily="50" charset="-128"/>
              </a:rPr>
              <a:t>件</a:t>
            </a:r>
            <a:r>
              <a:rPr lang="en-US" altLang="ja-JP" sz="1200" dirty="0">
                <a:latin typeface="Yu Gothic UI" panose="020B0500000000000000" pitchFamily="50" charset="-128"/>
                <a:ea typeface="Yu Gothic UI" panose="020B0500000000000000" pitchFamily="50" charset="-128"/>
              </a:rPr>
              <a:t>/</a:t>
            </a:r>
            <a:r>
              <a:rPr lang="ja-JP" altLang="en-US" sz="1200" dirty="0">
                <a:latin typeface="Yu Gothic UI" panose="020B0500000000000000" pitchFamily="50" charset="-128"/>
                <a:ea typeface="Yu Gothic UI" panose="020B0500000000000000" pitchFamily="50" charset="-128"/>
              </a:rPr>
              <a:t>日</a:t>
            </a: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データ容量・・・約</a:t>
            </a:r>
            <a:r>
              <a:rPr lang="en-US" altLang="ja-JP" sz="1200" dirty="0">
                <a:latin typeface="Yu Gothic UI" panose="020B0500000000000000" pitchFamily="50" charset="-128"/>
                <a:ea typeface="Yu Gothic UI" panose="020B0500000000000000" pitchFamily="50" charset="-128"/>
              </a:rPr>
              <a:t>650 GB</a:t>
            </a:r>
            <a:r>
              <a:rPr lang="ja-JP" altLang="en-US" sz="1200" dirty="0">
                <a:latin typeface="Yu Gothic UI" panose="020B0500000000000000" pitchFamily="50" charset="-128"/>
                <a:ea typeface="Yu Gothic UI" panose="020B0500000000000000" pitchFamily="50" charset="-128"/>
              </a:rPr>
              <a:t>　</a:t>
            </a:r>
            <a:r>
              <a:rPr lang="en-US" altLang="ja-JP" sz="1200" dirty="0">
                <a:latin typeface="Yu Gothic UI" panose="020B0500000000000000" pitchFamily="50" charset="-128"/>
                <a:ea typeface="Yu Gothic UI" panose="020B0500000000000000" pitchFamily="50" charset="-128"/>
              </a:rPr>
              <a:t>※</a:t>
            </a:r>
            <a:r>
              <a:rPr lang="ja-JP" altLang="en-US" sz="1200" dirty="0">
                <a:latin typeface="Yu Gothic UI" panose="020B0500000000000000" pitchFamily="50" charset="-128"/>
                <a:ea typeface="Yu Gothic UI" panose="020B0500000000000000" pitchFamily="50" charset="-128"/>
              </a:rPr>
              <a:t>現行</a:t>
            </a:r>
            <a:r>
              <a:rPr lang="en-US" altLang="ja-JP" sz="1200" dirty="0" err="1">
                <a:latin typeface="Yu Gothic UI" panose="020B0500000000000000" pitchFamily="50" charset="-128"/>
                <a:ea typeface="Yu Gothic UI" panose="020B0500000000000000" pitchFamily="50" charset="-128"/>
              </a:rPr>
              <a:t>NotesDB</a:t>
            </a:r>
            <a:r>
              <a:rPr lang="ja-JP" altLang="en-US" sz="1200" dirty="0">
                <a:latin typeface="Yu Gothic UI" panose="020B0500000000000000" pitchFamily="50" charset="-128"/>
                <a:ea typeface="Yu Gothic UI" panose="020B0500000000000000" pitchFamily="50" charset="-128"/>
              </a:rPr>
              <a:t>ベースの２倍を想定。添付ファイル含む</a:t>
            </a: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検索性・・・レコードデータだけでなく、添付ファイルの中身のフリーワード検索が可能</a:t>
            </a: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応答時間・・・インデックスありで５秒以内、インデックスなしで</a:t>
            </a:r>
            <a:r>
              <a:rPr lang="en-US" altLang="ja-JP" sz="1200" dirty="0">
                <a:latin typeface="Yu Gothic UI" panose="020B0500000000000000" pitchFamily="50" charset="-128"/>
                <a:ea typeface="Yu Gothic UI" panose="020B0500000000000000" pitchFamily="50" charset="-128"/>
              </a:rPr>
              <a:t>10</a:t>
            </a:r>
            <a:r>
              <a:rPr lang="ja-JP" altLang="en-US" sz="1200" dirty="0">
                <a:latin typeface="Yu Gothic UI" panose="020B0500000000000000" pitchFamily="50" charset="-128"/>
                <a:ea typeface="Yu Gothic UI" panose="020B0500000000000000" pitchFamily="50" charset="-128"/>
              </a:rPr>
              <a:t>秒～</a:t>
            </a:r>
            <a:r>
              <a:rPr lang="en-US" altLang="ja-JP" sz="1200" dirty="0">
                <a:latin typeface="Yu Gothic UI" panose="020B0500000000000000" pitchFamily="50" charset="-128"/>
                <a:ea typeface="Yu Gothic UI" panose="020B0500000000000000" pitchFamily="50" charset="-128"/>
              </a:rPr>
              <a:t>60</a:t>
            </a:r>
            <a:r>
              <a:rPr lang="ja-JP" altLang="en-US" sz="1200" dirty="0">
                <a:latin typeface="Yu Gothic UI" panose="020B0500000000000000" pitchFamily="50" charset="-128"/>
                <a:ea typeface="Yu Gothic UI" panose="020B0500000000000000" pitchFamily="50" charset="-128"/>
              </a:rPr>
              <a:t>秒</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添付ファイルの直接編集機能・・・現時点では、</a:t>
            </a:r>
            <a:r>
              <a:rPr lang="en-US" altLang="ja-JP" sz="1200" dirty="0">
                <a:latin typeface="Yu Gothic UI" panose="020B0500000000000000" pitchFamily="50" charset="-128"/>
                <a:ea typeface="Yu Gothic UI" panose="020B0500000000000000" pitchFamily="50" charset="-128"/>
              </a:rPr>
              <a:t>GCJ</a:t>
            </a:r>
            <a:r>
              <a:rPr lang="ja-JP" altLang="en-US" sz="1200" dirty="0">
                <a:latin typeface="Yu Gothic UI" panose="020B0500000000000000" pitchFamily="50" charset="-128"/>
                <a:ea typeface="Yu Gothic UI" panose="020B0500000000000000" pitchFamily="50" charset="-128"/>
              </a:rPr>
              <a:t>社からの提案のパターンと、ユーザー側で添付ファイルをダウンロード＆アップロードで実現するパターンとの</a:t>
            </a:r>
            <a:r>
              <a:rPr lang="en-US" altLang="ja-JP" sz="1200" dirty="0">
                <a:latin typeface="Yu Gothic UI" panose="020B0500000000000000" pitchFamily="50" charset="-128"/>
                <a:ea typeface="Yu Gothic UI" panose="020B0500000000000000" pitchFamily="50" charset="-128"/>
              </a:rPr>
              <a:t>2</a:t>
            </a:r>
            <a:r>
              <a:rPr lang="ja-JP" altLang="en-US" sz="1200" dirty="0">
                <a:latin typeface="Yu Gothic UI" panose="020B0500000000000000" pitchFamily="50" charset="-128"/>
                <a:ea typeface="Yu Gothic UI" panose="020B0500000000000000" pitchFamily="50" charset="-128"/>
              </a:rPr>
              <a:t>パターンを想定</a:t>
            </a:r>
            <a:endParaRPr lang="en-US" altLang="ja-JP" sz="1200" dirty="0">
              <a:latin typeface="Yu Gothic UI" panose="020B0500000000000000" pitchFamily="50" charset="-128"/>
              <a:ea typeface="Yu Gothic UI" panose="020B0500000000000000" pitchFamily="50" charset="-128"/>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8324E-E92D-D5A1-F8CB-DFBA1B4BCD7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639F42E-2427-3507-E203-456B4AD6255A}"/>
              </a:ext>
            </a:extLst>
          </p:cNvPr>
          <p:cNvSpPr>
            <a:spLocks noGrp="1"/>
          </p:cNvSpPr>
          <p:nvPr>
            <p:ph type="title"/>
          </p:nvPr>
        </p:nvSpPr>
        <p:spPr>
          <a:xfrm>
            <a:off x="414336" y="260076"/>
            <a:ext cx="9327072" cy="683629"/>
          </a:xfrm>
        </p:spPr>
        <p:txBody>
          <a:bodyPr>
            <a:normAutofit/>
          </a:bodyPr>
          <a:lstStyle/>
          <a:p>
            <a:r>
              <a:rPr lang="ja-JP" altLang="en-US" dirty="0"/>
              <a:t>ストレージの比較</a:t>
            </a:r>
          </a:p>
        </p:txBody>
      </p:sp>
      <p:graphicFrame>
        <p:nvGraphicFramePr>
          <p:cNvPr id="5" name="表 4">
            <a:extLst>
              <a:ext uri="{FF2B5EF4-FFF2-40B4-BE49-F238E27FC236}">
                <a16:creationId xmlns:a16="http://schemas.microsoft.com/office/drawing/2014/main" id="{3A6FBDD2-A439-C0DC-4D69-5232C77809C4}"/>
              </a:ext>
            </a:extLst>
          </p:cNvPr>
          <p:cNvGraphicFramePr>
            <a:graphicFrameLocks noGrp="1"/>
          </p:cNvGraphicFramePr>
          <p:nvPr>
            <p:extLst>
              <p:ext uri="{D42A27DB-BD31-4B8C-83A1-F6EECF244321}">
                <p14:modId xmlns:p14="http://schemas.microsoft.com/office/powerpoint/2010/main" val="713359367"/>
              </p:ext>
            </p:extLst>
          </p:nvPr>
        </p:nvGraphicFramePr>
        <p:xfrm>
          <a:off x="273718" y="959094"/>
          <a:ext cx="11723915" cy="5359261"/>
        </p:xfrm>
        <a:graphic>
          <a:graphicData uri="http://schemas.openxmlformats.org/drawingml/2006/table">
            <a:tbl>
              <a:tblPr firstRow="1">
                <a:tableStyleId>{2D5ABB26-0587-4C30-8999-92F81FD0307C}</a:tableStyleId>
              </a:tblPr>
              <a:tblGrid>
                <a:gridCol w="686402">
                  <a:extLst>
                    <a:ext uri="{9D8B030D-6E8A-4147-A177-3AD203B41FA5}">
                      <a16:colId xmlns:a16="http://schemas.microsoft.com/office/drawing/2014/main" val="2689841149"/>
                    </a:ext>
                  </a:extLst>
                </a:gridCol>
                <a:gridCol w="1119672">
                  <a:extLst>
                    <a:ext uri="{9D8B030D-6E8A-4147-A177-3AD203B41FA5}">
                      <a16:colId xmlns:a16="http://schemas.microsoft.com/office/drawing/2014/main" val="20000"/>
                    </a:ext>
                  </a:extLst>
                </a:gridCol>
                <a:gridCol w="1806127">
                  <a:extLst>
                    <a:ext uri="{9D8B030D-6E8A-4147-A177-3AD203B41FA5}">
                      <a16:colId xmlns:a16="http://schemas.microsoft.com/office/drawing/2014/main" val="20001"/>
                    </a:ext>
                  </a:extLst>
                </a:gridCol>
                <a:gridCol w="2015359">
                  <a:extLst>
                    <a:ext uri="{9D8B030D-6E8A-4147-A177-3AD203B41FA5}">
                      <a16:colId xmlns:a16="http://schemas.microsoft.com/office/drawing/2014/main" val="2142441908"/>
                    </a:ext>
                  </a:extLst>
                </a:gridCol>
                <a:gridCol w="2044377">
                  <a:extLst>
                    <a:ext uri="{9D8B030D-6E8A-4147-A177-3AD203B41FA5}">
                      <a16:colId xmlns:a16="http://schemas.microsoft.com/office/drawing/2014/main" val="20002"/>
                    </a:ext>
                  </a:extLst>
                </a:gridCol>
                <a:gridCol w="1852863">
                  <a:extLst>
                    <a:ext uri="{9D8B030D-6E8A-4147-A177-3AD203B41FA5}">
                      <a16:colId xmlns:a16="http://schemas.microsoft.com/office/drawing/2014/main" val="20003"/>
                    </a:ext>
                  </a:extLst>
                </a:gridCol>
                <a:gridCol w="2199115">
                  <a:extLst>
                    <a:ext uri="{9D8B030D-6E8A-4147-A177-3AD203B41FA5}">
                      <a16:colId xmlns:a16="http://schemas.microsoft.com/office/drawing/2014/main" val="20004"/>
                    </a:ext>
                  </a:extLst>
                </a:gridCol>
              </a:tblGrid>
              <a:tr h="210866">
                <a:tc>
                  <a:txBody>
                    <a:bodyPr/>
                    <a:lstStyle/>
                    <a:p>
                      <a:endParaRPr lang="ja-JP" altLang="en-US" sz="700" dirty="0"/>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r>
                        <a:rPr lang="ja-JP" altLang="en-US" sz="700" dirty="0"/>
                        <a:t>項目</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dirty="0"/>
                        <a:t>SQL Server 2022</a:t>
                      </a:r>
                      <a:r>
                        <a:rPr lang="en-US" altLang="ja-JP" sz="700" dirty="0">
                          <a:effectLst/>
                        </a:rPr>
                        <a:t>(</a:t>
                      </a:r>
                      <a:r>
                        <a:rPr lang="ja-JP" altLang="en-US" sz="700" dirty="0">
                          <a:effectLst/>
                        </a:rPr>
                        <a:t>オンプレミス</a:t>
                      </a:r>
                      <a:r>
                        <a:rPr lang="en-US" altLang="ja-JP" sz="700" dirty="0">
                          <a:effectLst/>
                        </a:rPr>
                        <a:t>DB</a:t>
                      </a:r>
                      <a:r>
                        <a:rPr lang="en-US" sz="700" dirty="0"/>
                        <a:t> - with Full-Text Search)</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altLang="ja-JP" sz="700" dirty="0">
                          <a:effectLst/>
                        </a:rPr>
                        <a:t>Azure SQL Database (</a:t>
                      </a:r>
                      <a:r>
                        <a:rPr lang="ja-JP" altLang="en-US" sz="700" kern="1200" dirty="0">
                          <a:solidFill>
                            <a:schemeClr val="tx1"/>
                          </a:solidFill>
                          <a:effectLst/>
                          <a:latin typeface="+mn-lt"/>
                          <a:ea typeface="+mn-ea"/>
                          <a:cs typeface="+mn-cs"/>
                        </a:rPr>
                        <a:t>クラウド</a:t>
                      </a:r>
                      <a:r>
                        <a:rPr lang="de-DE" altLang="ja-JP" sz="700" kern="1200" dirty="0">
                          <a:solidFill>
                            <a:schemeClr val="tx1"/>
                          </a:solidFill>
                          <a:effectLst/>
                          <a:latin typeface="+mn-lt"/>
                          <a:ea typeface="+mn-ea"/>
                          <a:cs typeface="+mn-cs"/>
                        </a:rPr>
                        <a:t>PaaS)</a:t>
                      </a:r>
                      <a:r>
                        <a:rPr lang="en-US" altLang="ja-JP" sz="700" kern="1200" dirty="0">
                          <a:solidFill>
                            <a:schemeClr val="tx1"/>
                          </a:solidFill>
                          <a:effectLst/>
                          <a:latin typeface="+mn-lt"/>
                          <a:ea typeface="+mn-ea"/>
                          <a:cs typeface="+mn-cs"/>
                        </a:rPr>
                        <a:t>-</a:t>
                      </a:r>
                      <a:r>
                        <a:rPr lang="ja-JP" altLang="en-US" sz="700" b="1" kern="1200" dirty="0">
                          <a:solidFill>
                            <a:srgbClr val="00B050"/>
                          </a:solidFill>
                          <a:effectLst/>
                          <a:latin typeface="+mn-lt"/>
                          <a:ea typeface="+mn-ea"/>
                          <a:cs typeface="+mn-cs"/>
                        </a:rPr>
                        <a:t>定型データ保存に推奨</a:t>
                      </a:r>
                      <a:endParaRPr lang="de-DE" altLang="ja-JP" sz="700" b="1" kern="1200" dirty="0">
                        <a:solidFill>
                          <a:srgbClr val="00B05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r>
                        <a:rPr lang="de-DE" sz="700" dirty="0"/>
                        <a:t>Dataverse (with relevant features)</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r>
                        <a:rPr lang="de-DE" sz="700" dirty="0"/>
                        <a:t>PostgreSQL (with extensions)</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r>
                        <a:rPr lang="de-DE" sz="700" b="1" dirty="0"/>
                        <a:t>SharePoint Online</a:t>
                      </a:r>
                      <a:r>
                        <a:rPr lang="en-US" altLang="ja-JP" sz="700" kern="1200" dirty="0">
                          <a:solidFill>
                            <a:schemeClr val="tx1"/>
                          </a:solidFill>
                          <a:effectLst/>
                          <a:latin typeface="+mn-lt"/>
                          <a:ea typeface="+mn-ea"/>
                          <a:cs typeface="+mn-cs"/>
                        </a:rPr>
                        <a:t>-</a:t>
                      </a:r>
                      <a:r>
                        <a:rPr lang="ja-JP" altLang="en-US" sz="700" b="1" dirty="0">
                          <a:solidFill>
                            <a:srgbClr val="00B050"/>
                          </a:solidFill>
                        </a:rPr>
                        <a:t>ファイル保存に</a:t>
                      </a:r>
                      <a:r>
                        <a:rPr kumimoji="1" lang="ja-JP" altLang="en-US" sz="700" b="1" dirty="0">
                          <a:solidFill>
                            <a:srgbClr val="00B050"/>
                          </a:solidFill>
                        </a:rPr>
                        <a:t>推奨</a:t>
                      </a:r>
                      <a:endParaRPr lang="de-DE" sz="700" b="1" dirty="0">
                        <a:solidFill>
                          <a:srgbClr val="00B050"/>
                        </a:solidFill>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0"/>
                  </a:ext>
                </a:extLst>
              </a:tr>
              <a:tr h="117682">
                <a:tc rowSpan="4">
                  <a:txBody>
                    <a:bodyPr/>
                    <a:lstStyle/>
                    <a:p>
                      <a:r>
                        <a:rPr lang="ja-JP" altLang="en-US" sz="700" b="1" kern="1200" dirty="0">
                          <a:solidFill>
                            <a:schemeClr val="dk1"/>
                          </a:solidFill>
                          <a:latin typeface="+mn-lt"/>
                          <a:ea typeface="+mn-ea"/>
                          <a:cs typeface="+mn-cs"/>
                        </a:rPr>
                        <a:t>機能制限</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t>最大サイズ</a:t>
                      </a:r>
                      <a:endParaRPr lang="ja-JP" altLang="en-US" sz="7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600" dirty="0">
                          <a:solidFill>
                            <a:srgbClr val="00B050"/>
                          </a:solidFill>
                        </a:rPr>
                        <a:t>データベースサイズに依存 </a:t>
                      </a:r>
                      <a:r>
                        <a:rPr lang="en-US" altLang="ja-JP" sz="600" dirty="0">
                          <a:solidFill>
                            <a:srgbClr val="00B050"/>
                          </a:solidFill>
                        </a:rPr>
                        <a:t>(</a:t>
                      </a:r>
                      <a:r>
                        <a:rPr lang="ja-JP" altLang="en-US" sz="600" dirty="0">
                          <a:solidFill>
                            <a:srgbClr val="00B050"/>
                          </a:solidFill>
                        </a:rPr>
                        <a:t>一般的に非常に大きい</a:t>
                      </a:r>
                      <a:r>
                        <a:rPr lang="en-US" altLang="ja-JP" sz="6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dirty="0">
                          <a:solidFill>
                            <a:srgbClr val="00B050"/>
                          </a:solidFill>
                        </a:rPr>
                        <a:t>データベースサイズに依存 </a:t>
                      </a:r>
                      <a:r>
                        <a:rPr lang="en-US" altLang="ja-JP" sz="600" dirty="0">
                          <a:solidFill>
                            <a:srgbClr val="00B050"/>
                          </a:solidFill>
                        </a:rPr>
                        <a:t>(</a:t>
                      </a:r>
                      <a:r>
                        <a:rPr lang="ja-JP" altLang="en-US" sz="600" dirty="0">
                          <a:solidFill>
                            <a:srgbClr val="00B050"/>
                          </a:solidFill>
                        </a:rPr>
                        <a:t>一般的に非常に大きい</a:t>
                      </a:r>
                      <a:r>
                        <a:rPr lang="en-US" altLang="ja-JP" sz="6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600" dirty="0">
                          <a:solidFill>
                            <a:srgbClr val="00B050"/>
                          </a:solidFill>
                        </a:rPr>
                        <a:t>300MB (</a:t>
                      </a:r>
                      <a:r>
                        <a:rPr lang="ja-JP" altLang="en-US" sz="600" dirty="0">
                          <a:solidFill>
                            <a:srgbClr val="00B050"/>
                          </a:solidFill>
                        </a:rPr>
                        <a:t>レコードあたり</a:t>
                      </a:r>
                      <a:r>
                        <a:rPr lang="en-US" altLang="ja-JP" sz="6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600" dirty="0">
                          <a:solidFill>
                            <a:srgbClr val="00B050"/>
                          </a:solidFill>
                        </a:rPr>
                        <a:t>データベース</a:t>
                      </a:r>
                      <a:r>
                        <a:rPr lang="en-US" altLang="ja-JP" sz="600" dirty="0">
                          <a:solidFill>
                            <a:srgbClr val="00B050"/>
                          </a:solidFill>
                        </a:rPr>
                        <a:t>/</a:t>
                      </a:r>
                      <a:r>
                        <a:rPr lang="ja-JP" altLang="en-US" sz="600" dirty="0">
                          <a:solidFill>
                            <a:srgbClr val="00B050"/>
                          </a:solidFill>
                        </a:rPr>
                        <a:t>サーバー設定に依存 </a:t>
                      </a:r>
                      <a:r>
                        <a:rPr lang="en-US" altLang="ja-JP" sz="600" dirty="0">
                          <a:solidFill>
                            <a:srgbClr val="00B050"/>
                          </a:solidFill>
                        </a:rPr>
                        <a:t>(</a:t>
                      </a:r>
                      <a:r>
                        <a:rPr lang="ja-JP" altLang="en-US" sz="600" dirty="0">
                          <a:solidFill>
                            <a:srgbClr val="00B050"/>
                          </a:solidFill>
                        </a:rPr>
                        <a:t>一般的に大きい</a:t>
                      </a:r>
                      <a:r>
                        <a:rPr lang="en-US" altLang="ja-JP" sz="6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600" dirty="0">
                          <a:solidFill>
                            <a:srgbClr val="00B050"/>
                          </a:solidFill>
                        </a:rPr>
                        <a:t>15GB (</a:t>
                      </a:r>
                      <a:r>
                        <a:rPr lang="ja-JP" altLang="en-US" sz="600" dirty="0">
                          <a:solidFill>
                            <a:srgbClr val="00B050"/>
                          </a:solidFill>
                        </a:rPr>
                        <a:t>ファイルあたり</a:t>
                      </a:r>
                      <a:r>
                        <a:rPr lang="en-US" altLang="ja-JP" sz="6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2"/>
                  </a:ext>
                </a:extLst>
              </a:tr>
              <a:tr h="264114">
                <a:tc vMerge="1">
                  <a:txBody>
                    <a:bodyPr/>
                    <a:lstStyle/>
                    <a:p>
                      <a:endParaRPr lang="ja-JP" altLang="en-US" sz="700" dirty="0"/>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t>ネイティブ全文検索</a:t>
                      </a:r>
                      <a:endParaRPr lang="ja-JP" altLang="en-US" sz="7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b="1" dirty="0">
                          <a:solidFill>
                            <a:srgbClr val="00B050"/>
                          </a:solidFill>
                        </a:rPr>
                        <a:t>はい</a:t>
                      </a:r>
                      <a:r>
                        <a:rPr lang="ja-JP" altLang="en-US" sz="600" dirty="0">
                          <a:solidFill>
                            <a:srgbClr val="00B050"/>
                          </a:solidFill>
                        </a:rPr>
                        <a:t> </a:t>
                      </a:r>
                      <a:r>
                        <a:rPr lang="en-US" altLang="ja-JP" sz="600" dirty="0">
                          <a:solidFill>
                            <a:srgbClr val="00B050"/>
                          </a:solidFill>
                        </a:rPr>
                        <a:t>(</a:t>
                      </a:r>
                      <a:r>
                        <a:rPr lang="de-DE" altLang="ja-JP" sz="600" dirty="0">
                          <a:solidFill>
                            <a:srgbClr val="00B050"/>
                          </a:solidFill>
                        </a:rPr>
                        <a:t>Full-Text Search</a:t>
                      </a:r>
                      <a:r>
                        <a:rPr lang="ja-JP" altLang="en-US" sz="600" dirty="0">
                          <a:solidFill>
                            <a:srgbClr val="00B050"/>
                          </a:solidFill>
                        </a:rPr>
                        <a:t>機能</a:t>
                      </a:r>
                      <a:r>
                        <a:rPr lang="en-US" altLang="ja-JP" sz="600" dirty="0">
                          <a:solidFill>
                            <a:srgbClr val="00B050"/>
                          </a:solidFill>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600" dirty="0">
                          <a:solidFill>
                            <a:srgbClr val="00B050"/>
                          </a:solidFill>
                          <a:effectLst/>
                        </a:rPr>
                        <a:t>SQL Server 2022</a:t>
                      </a:r>
                      <a:r>
                        <a:rPr lang="ja-JP" altLang="en-US" sz="600" dirty="0">
                          <a:solidFill>
                            <a:srgbClr val="00B050"/>
                          </a:solidFill>
                          <a:effectLst/>
                        </a:rPr>
                        <a:t>はサードパーティ</a:t>
                      </a:r>
                      <a:r>
                        <a:rPr lang="en-US" altLang="ja-JP" sz="600" dirty="0" err="1">
                          <a:solidFill>
                            <a:srgbClr val="00B050"/>
                          </a:solidFill>
                          <a:effectLst/>
                        </a:rPr>
                        <a:t>IFilter</a:t>
                      </a:r>
                      <a:r>
                        <a:rPr lang="ja-JP" altLang="en-US" sz="600" dirty="0">
                          <a:solidFill>
                            <a:srgbClr val="00B050"/>
                          </a:solidFill>
                          <a:effectLst/>
                        </a:rPr>
                        <a:t>やカスタム拡張で柔軟性が高く、大規模</a:t>
                      </a:r>
                      <a:r>
                        <a:rPr lang="en-US" altLang="ja-JP" sz="600" dirty="0">
                          <a:solidFill>
                            <a:srgbClr val="00B050"/>
                          </a:solidFill>
                          <a:effectLst/>
                        </a:rPr>
                        <a:t>/</a:t>
                      </a:r>
                      <a:r>
                        <a:rPr lang="ja-JP" altLang="en-US" sz="600" dirty="0">
                          <a:solidFill>
                            <a:srgbClr val="00B050"/>
                          </a:solidFill>
                          <a:effectLst/>
                        </a:rPr>
                        <a:t>複雑な検索に適。</a:t>
                      </a:r>
                      <a:r>
                        <a:rPr lang="en-US" altLang="ja-JP" sz="600" dirty="0">
                          <a:solidFill>
                            <a:srgbClr val="C00000"/>
                          </a:solidFill>
                          <a:effectLst/>
                        </a:rPr>
                        <a:t>Azure SQL</a:t>
                      </a:r>
                      <a:r>
                        <a:rPr lang="ja-JP" altLang="en-US" sz="600" dirty="0">
                          <a:solidFill>
                            <a:srgbClr val="C00000"/>
                          </a:solidFill>
                          <a:effectLst/>
                        </a:rPr>
                        <a:t>は基本に十分だが、カスタマイズ性に欠ける。</a:t>
                      </a:r>
                      <a:endParaRPr lang="en-US" altLang="ja-JP" sz="600" dirty="0">
                        <a:solidFill>
                          <a:srgbClr val="C0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a:txBody>
                    <a:bodyPr/>
                    <a:lstStyle/>
                    <a:p>
                      <a:endParaRPr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600" b="1" dirty="0">
                          <a:solidFill>
                            <a:srgbClr val="00B050"/>
                          </a:solidFill>
                        </a:rPr>
                        <a:t>はい</a:t>
                      </a:r>
                      <a:r>
                        <a:rPr lang="ja-JP" altLang="en-US" sz="600" dirty="0">
                          <a:solidFill>
                            <a:srgbClr val="00B050"/>
                          </a:solidFill>
                        </a:rPr>
                        <a:t> </a:t>
                      </a:r>
                      <a:r>
                        <a:rPr lang="en-US" altLang="ja-JP" sz="600" dirty="0">
                          <a:solidFill>
                            <a:srgbClr val="00B050"/>
                          </a:solidFill>
                        </a:rPr>
                        <a:t>(</a:t>
                      </a:r>
                      <a:r>
                        <a:rPr lang="de-DE" sz="600" dirty="0">
                          <a:solidFill>
                            <a:srgbClr val="00B050"/>
                          </a:solidFill>
                        </a:rPr>
                        <a:t>Dataverse Search)</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600" kern="1200" dirty="0">
                          <a:solidFill>
                            <a:srgbClr val="00B050"/>
                          </a:solidFill>
                          <a:latin typeface="+mn-lt"/>
                          <a:ea typeface="+mn-ea"/>
                          <a:cs typeface="+mn-cs"/>
                        </a:rPr>
                        <a:t>はい</a:t>
                      </a:r>
                      <a:r>
                        <a:rPr lang="ja-JP" altLang="en-US" sz="600" kern="1200" dirty="0">
                          <a:solidFill>
                            <a:schemeClr val="tx1"/>
                          </a:solidFill>
                          <a:latin typeface="+mn-lt"/>
                          <a:ea typeface="+mn-ea"/>
                          <a:cs typeface="+mn-cs"/>
                        </a:rPr>
                        <a:t> </a:t>
                      </a:r>
                      <a:r>
                        <a:rPr lang="en-US" altLang="ja-JP" sz="600" kern="1200" dirty="0">
                          <a:solidFill>
                            <a:schemeClr val="tx1"/>
                          </a:solidFill>
                          <a:latin typeface="+mn-lt"/>
                          <a:ea typeface="+mn-ea"/>
                          <a:cs typeface="+mn-cs"/>
                        </a:rPr>
                        <a:t>(</a:t>
                      </a:r>
                      <a:r>
                        <a:rPr lang="en-US" altLang="ja-JP" sz="600" kern="1200" dirty="0" err="1">
                          <a:solidFill>
                            <a:schemeClr val="tx1"/>
                          </a:solidFill>
                          <a:latin typeface="+mn-lt"/>
                          <a:ea typeface="+mn-ea"/>
                          <a:cs typeface="+mn-cs"/>
                        </a:rPr>
                        <a:t>pg_trgm</a:t>
                      </a:r>
                      <a:r>
                        <a:rPr lang="en-US" altLang="ja-JP" sz="600" kern="1200" dirty="0">
                          <a:solidFill>
                            <a:schemeClr val="tx1"/>
                          </a:solidFill>
                          <a:latin typeface="+mn-lt"/>
                          <a:ea typeface="+mn-ea"/>
                          <a:cs typeface="+mn-cs"/>
                        </a:rPr>
                        <a:t> </a:t>
                      </a:r>
                      <a:r>
                        <a:rPr lang="ja-JP" altLang="en-US" sz="600" kern="1200" dirty="0">
                          <a:solidFill>
                            <a:schemeClr val="tx1"/>
                          </a:solidFill>
                          <a:latin typeface="+mn-lt"/>
                          <a:ea typeface="+mn-ea"/>
                          <a:cs typeface="+mn-cs"/>
                        </a:rPr>
                        <a:t>拡張など</a:t>
                      </a:r>
                      <a:r>
                        <a:rPr lang="en-US" altLang="ja-JP" sz="600" kern="1200" dirty="0">
                          <a:solidFill>
                            <a:schemeClr val="tx1"/>
                          </a:solidFill>
                          <a:latin typeface="+mn-lt"/>
                          <a:ea typeface="+mn-ea"/>
                          <a:cs typeface="+mn-cs"/>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600" b="1" dirty="0">
                          <a:solidFill>
                            <a:srgbClr val="00B050"/>
                          </a:solidFill>
                        </a:rPr>
                        <a:t>はい</a:t>
                      </a:r>
                      <a:r>
                        <a:rPr lang="ja-JP" altLang="en-US" sz="600" dirty="0">
                          <a:solidFill>
                            <a:srgbClr val="00B050"/>
                          </a:solidFill>
                        </a:rPr>
                        <a:t> </a:t>
                      </a:r>
                      <a:r>
                        <a:rPr lang="en-US" altLang="ja-JP" sz="600" dirty="0">
                          <a:solidFill>
                            <a:srgbClr val="00B050"/>
                          </a:solidFill>
                        </a:rPr>
                        <a:t>(</a:t>
                      </a:r>
                      <a:r>
                        <a:rPr lang="de-DE" sz="600" dirty="0">
                          <a:solidFill>
                            <a:srgbClr val="00B050"/>
                          </a:solidFill>
                        </a:rPr>
                        <a:t>SharePoint </a:t>
                      </a:r>
                      <a:r>
                        <a:rPr lang="ja-JP" altLang="en-US" sz="600" dirty="0">
                          <a:solidFill>
                            <a:srgbClr val="00B050"/>
                          </a:solidFill>
                        </a:rPr>
                        <a:t>の検索機能</a:t>
                      </a:r>
                      <a:r>
                        <a:rPr lang="en-US" altLang="ja-JP" sz="6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3"/>
                  </a:ext>
                </a:extLst>
              </a:tr>
              <a:tr h="184242">
                <a:tc vMerge="1">
                  <a:txBody>
                    <a:bodyPr/>
                    <a:lstStyle/>
                    <a:p>
                      <a:endParaRPr lang="ja-JP" altLang="en-US" sz="700" dirty="0"/>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t>テキスト抽出機能</a:t>
                      </a:r>
                      <a:endParaRPr lang="ja-JP" altLang="en-US" sz="7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600" b="1" dirty="0">
                          <a:solidFill>
                            <a:srgbClr val="C00000"/>
                          </a:solidFill>
                        </a:rPr>
                        <a:t>限定的</a:t>
                      </a:r>
                      <a:r>
                        <a:rPr lang="ja-JP" altLang="en-US" sz="600" dirty="0">
                          <a:solidFill>
                            <a:srgbClr val="C00000"/>
                          </a:solidFill>
                        </a:rPr>
                        <a:t> </a:t>
                      </a:r>
                      <a:r>
                        <a:rPr lang="en-US" altLang="ja-JP" sz="600" dirty="0">
                          <a:solidFill>
                            <a:srgbClr val="C00000"/>
                          </a:solidFill>
                        </a:rPr>
                        <a:t>(</a:t>
                      </a:r>
                      <a:r>
                        <a:rPr lang="de-DE" sz="600" dirty="0">
                          <a:solidFill>
                            <a:srgbClr val="C00000"/>
                          </a:solidFill>
                        </a:rPr>
                        <a:t>SQL Server </a:t>
                      </a:r>
                      <a:r>
                        <a:rPr lang="ja-JP" altLang="en-US" sz="600" dirty="0">
                          <a:solidFill>
                            <a:srgbClr val="C00000"/>
                          </a:solidFill>
                        </a:rPr>
                        <a:t>の機能に依存</a:t>
                      </a:r>
                      <a:r>
                        <a:rPr lang="en-US" altLang="ja-JP" sz="600" dirty="0">
                          <a:solidFill>
                            <a:srgbClr val="C0000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600" dirty="0">
                          <a:solidFill>
                            <a:srgbClr val="00B050"/>
                          </a:solidFill>
                          <a:effectLst/>
                        </a:rPr>
                        <a:t>Azure SQL</a:t>
                      </a:r>
                      <a:r>
                        <a:rPr lang="ja-JP" altLang="en-US" sz="600" dirty="0">
                          <a:solidFill>
                            <a:srgbClr val="00B050"/>
                          </a:solidFill>
                          <a:effectLst/>
                        </a:rPr>
                        <a:t>はクラウド</a:t>
                      </a:r>
                      <a:r>
                        <a:rPr lang="en-US" altLang="ja-JP" sz="600" dirty="0">
                          <a:solidFill>
                            <a:srgbClr val="00B050"/>
                          </a:solidFill>
                          <a:effectLst/>
                        </a:rPr>
                        <a:t>AI</a:t>
                      </a:r>
                      <a:r>
                        <a:rPr lang="ja-JP" altLang="en-US" sz="600" dirty="0">
                          <a:solidFill>
                            <a:srgbClr val="00B050"/>
                          </a:solidFill>
                          <a:effectLst/>
                        </a:rPr>
                        <a:t>連携で高度な抽出（例</a:t>
                      </a:r>
                      <a:r>
                        <a:rPr lang="en-US" altLang="ja-JP" sz="600" dirty="0">
                          <a:solidFill>
                            <a:srgbClr val="00B050"/>
                          </a:solidFill>
                          <a:effectLst/>
                        </a:rPr>
                        <a:t>: </a:t>
                      </a:r>
                      <a:r>
                        <a:rPr lang="ja-JP" altLang="en-US" sz="600" dirty="0">
                          <a:solidFill>
                            <a:srgbClr val="00B050"/>
                          </a:solidFill>
                          <a:effectLst/>
                        </a:rPr>
                        <a:t>自然言語処理）が可能だ</a:t>
                      </a:r>
                      <a:r>
                        <a:rPr lang="ja-JP" altLang="en-US" sz="600" dirty="0">
                          <a:effectLst/>
                        </a:rPr>
                        <a:t>が、</a:t>
                      </a:r>
                      <a:r>
                        <a:rPr lang="ja-JP" altLang="en-US" sz="600" dirty="0">
                          <a:solidFill>
                            <a:srgbClr val="C00000"/>
                          </a:solidFill>
                          <a:effectLst/>
                        </a:rPr>
                        <a:t>外部サービス依存で設定が増える。</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600" b="1" dirty="0">
                          <a:solidFill>
                            <a:srgbClr val="C00000"/>
                          </a:solidFill>
                        </a:rPr>
                        <a:t>限定的</a:t>
                      </a:r>
                      <a:r>
                        <a:rPr lang="ja-JP" altLang="en-US" sz="600" dirty="0">
                          <a:solidFill>
                            <a:srgbClr val="C00000"/>
                          </a:solidFill>
                        </a:rPr>
                        <a:t> </a:t>
                      </a:r>
                      <a:r>
                        <a:rPr lang="en-US" altLang="ja-JP" sz="600" dirty="0">
                          <a:solidFill>
                            <a:srgbClr val="C00000"/>
                          </a:solidFill>
                        </a:rPr>
                        <a:t>(</a:t>
                      </a:r>
                      <a:r>
                        <a:rPr lang="de-DE" sz="600" dirty="0">
                          <a:solidFill>
                            <a:srgbClr val="C00000"/>
                          </a:solidFill>
                        </a:rPr>
                        <a:t>Dataverse Search </a:t>
                      </a:r>
                      <a:r>
                        <a:rPr lang="ja-JP" altLang="en-US" sz="600" dirty="0">
                          <a:solidFill>
                            <a:srgbClr val="C00000"/>
                          </a:solidFill>
                        </a:rPr>
                        <a:t>が内部で行う</a:t>
                      </a:r>
                      <a:r>
                        <a:rPr lang="en-US" altLang="ja-JP" sz="600" dirty="0">
                          <a:solidFill>
                            <a:srgbClr val="C0000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600" b="1" dirty="0">
                          <a:solidFill>
                            <a:srgbClr val="C00000"/>
                          </a:solidFill>
                        </a:rPr>
                        <a:t>限定的</a:t>
                      </a:r>
                      <a:r>
                        <a:rPr lang="ja-JP" altLang="en-US" sz="600" dirty="0">
                          <a:solidFill>
                            <a:srgbClr val="C00000"/>
                          </a:solidFill>
                        </a:rPr>
                        <a:t> </a:t>
                      </a:r>
                      <a:r>
                        <a:rPr lang="en-US" altLang="ja-JP" sz="600" dirty="0">
                          <a:solidFill>
                            <a:srgbClr val="C00000"/>
                          </a:solidFill>
                        </a:rPr>
                        <a:t>(</a:t>
                      </a:r>
                      <a:r>
                        <a:rPr lang="ja-JP" altLang="en-US" sz="600" dirty="0">
                          <a:solidFill>
                            <a:srgbClr val="C00000"/>
                          </a:solidFill>
                        </a:rPr>
                        <a:t>拡張機能や外部ツールが必要</a:t>
                      </a:r>
                      <a:r>
                        <a:rPr lang="en-US" altLang="ja-JP" sz="600" dirty="0">
                          <a:solidFill>
                            <a:srgbClr val="C0000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600" b="1" dirty="0">
                          <a:solidFill>
                            <a:srgbClr val="00B050"/>
                          </a:solidFill>
                        </a:rPr>
                        <a:t>はい</a:t>
                      </a:r>
                      <a:r>
                        <a:rPr lang="ja-JP" altLang="en-US" sz="600" dirty="0">
                          <a:solidFill>
                            <a:srgbClr val="00B050"/>
                          </a:solidFill>
                        </a:rPr>
                        <a:t> </a:t>
                      </a:r>
                      <a:r>
                        <a:rPr lang="en-US" altLang="ja-JP" sz="600" dirty="0">
                          <a:solidFill>
                            <a:srgbClr val="00B050"/>
                          </a:solidFill>
                        </a:rPr>
                        <a:t>(</a:t>
                      </a:r>
                      <a:r>
                        <a:rPr lang="de-DE" sz="600" dirty="0">
                          <a:solidFill>
                            <a:srgbClr val="00B050"/>
                          </a:solidFill>
                        </a:rPr>
                        <a:t>SharePoint </a:t>
                      </a:r>
                      <a:r>
                        <a:rPr lang="ja-JP" altLang="en-US" sz="600" dirty="0">
                          <a:solidFill>
                            <a:srgbClr val="00B050"/>
                          </a:solidFill>
                        </a:rPr>
                        <a:t>の検索機能が自動で行う</a:t>
                      </a:r>
                      <a:r>
                        <a:rPr lang="en-US" altLang="ja-JP" sz="6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4"/>
                  </a:ext>
                </a:extLst>
              </a:tr>
              <a:tr h="264114">
                <a:tc vMerge="1">
                  <a:txBody>
                    <a:bodyPr/>
                    <a:lstStyle/>
                    <a:p>
                      <a:endParaRPr lang="ja-JP" altLang="en-US" sz="700" dirty="0"/>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t>非テキスト検索</a:t>
                      </a:r>
                      <a:endParaRPr lang="ja-JP" altLang="en-US" sz="7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kern="1200" dirty="0">
                          <a:solidFill>
                            <a:srgbClr val="C00000"/>
                          </a:solidFill>
                        </a:rPr>
                        <a:t>限定的 </a:t>
                      </a:r>
                      <a:r>
                        <a:rPr lang="en-US" altLang="ja-JP" sz="600" kern="1200" dirty="0">
                          <a:solidFill>
                            <a:srgbClr val="C00000"/>
                          </a:solidFill>
                        </a:rPr>
                        <a:t>(</a:t>
                      </a:r>
                      <a:r>
                        <a:rPr lang="ja-JP" altLang="en-US" sz="600" kern="1200" dirty="0">
                          <a:solidFill>
                            <a:srgbClr val="C00000"/>
                          </a:solidFill>
                        </a:rPr>
                        <a:t>インデックスやクエリによる</a:t>
                      </a:r>
                      <a:r>
                        <a:rPr lang="en-US" altLang="ja-JP" sz="600" kern="1200" dirty="0">
                          <a:solidFill>
                            <a:srgbClr val="C00000"/>
                          </a:solidFill>
                        </a:rPr>
                        <a:t>)</a:t>
                      </a:r>
                      <a:r>
                        <a:rPr lang="ja-JP" altLang="en-US" sz="600" kern="1200" dirty="0">
                          <a:solidFill>
                            <a:srgbClr val="C00000"/>
                          </a:solidFill>
                        </a:rPr>
                        <a:t>　ネイティブでは画像</a:t>
                      </a:r>
                      <a:r>
                        <a:rPr lang="en-US" altLang="ja-JP" sz="600" kern="1200" dirty="0">
                          <a:solidFill>
                            <a:srgbClr val="C00000"/>
                          </a:solidFill>
                        </a:rPr>
                        <a:t>/</a:t>
                      </a:r>
                      <a:r>
                        <a:rPr lang="ja-JP" altLang="en-US" sz="600" kern="1200" dirty="0">
                          <a:solidFill>
                            <a:srgbClr val="C00000"/>
                          </a:solidFill>
                        </a:rPr>
                        <a:t>動画内容の認識非対応。カスタム開発に依存。</a:t>
                      </a:r>
                      <a:endParaRPr lang="ja-JP" altLang="en-US" sz="600" kern="1200" dirty="0">
                        <a:solidFill>
                          <a:srgbClr val="C00000"/>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600" dirty="0">
                          <a:solidFill>
                            <a:srgbClr val="C00000"/>
                          </a:solidFill>
                          <a:effectLst/>
                        </a:rPr>
                        <a:t>Azure SQL</a:t>
                      </a:r>
                      <a:r>
                        <a:rPr lang="ja-JP" altLang="en-US" sz="600" dirty="0">
                          <a:solidFill>
                            <a:srgbClr val="C00000"/>
                          </a:solidFill>
                          <a:effectLst/>
                        </a:rPr>
                        <a:t>は</a:t>
                      </a:r>
                      <a:r>
                        <a:rPr lang="en-US" altLang="ja-JP" sz="600" dirty="0">
                          <a:solidFill>
                            <a:srgbClr val="C00000"/>
                          </a:solidFill>
                          <a:effectLst/>
                        </a:rPr>
                        <a:t>AI Search</a:t>
                      </a:r>
                      <a:r>
                        <a:rPr lang="ja-JP" altLang="en-US" sz="600" dirty="0">
                          <a:solidFill>
                            <a:srgbClr val="C00000"/>
                          </a:solidFill>
                          <a:effectLst/>
                        </a:rPr>
                        <a:t>連携で高度な非テキスト検索（例</a:t>
                      </a:r>
                      <a:r>
                        <a:rPr lang="en-US" altLang="ja-JP" sz="600" dirty="0">
                          <a:solidFill>
                            <a:srgbClr val="C00000"/>
                          </a:solidFill>
                          <a:effectLst/>
                        </a:rPr>
                        <a:t>: </a:t>
                      </a:r>
                      <a:r>
                        <a:rPr lang="ja-JP" altLang="en-US" sz="600" dirty="0">
                          <a:solidFill>
                            <a:srgbClr val="C00000"/>
                          </a:solidFill>
                          <a:effectLst/>
                        </a:rPr>
                        <a:t>画像認識）が容易だが、コスト</a:t>
                      </a:r>
                      <a:r>
                        <a:rPr lang="en-US" altLang="ja-JP" sz="600" dirty="0">
                          <a:solidFill>
                            <a:srgbClr val="C00000"/>
                          </a:solidFill>
                          <a:effectLst/>
                        </a:rPr>
                        <a:t>/</a:t>
                      </a:r>
                      <a:r>
                        <a:rPr lang="ja-JP" altLang="en-US" sz="600" dirty="0">
                          <a:solidFill>
                            <a:srgbClr val="C00000"/>
                          </a:solidFill>
                          <a:effectLst/>
                        </a:rPr>
                        <a:t>依存性が増す。</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600" b="1" dirty="0">
                          <a:solidFill>
                            <a:srgbClr val="C00000"/>
                          </a:solidFill>
                        </a:rPr>
                        <a:t>限定的</a:t>
                      </a:r>
                      <a:r>
                        <a:rPr lang="ja-JP" altLang="en-US" sz="600" dirty="0">
                          <a:solidFill>
                            <a:srgbClr val="C00000"/>
                          </a:solidFill>
                        </a:rPr>
                        <a:t> </a:t>
                      </a:r>
                      <a:r>
                        <a:rPr lang="en-US" altLang="ja-JP" sz="600" dirty="0">
                          <a:solidFill>
                            <a:srgbClr val="C00000"/>
                          </a:solidFill>
                        </a:rPr>
                        <a:t>(</a:t>
                      </a:r>
                      <a:r>
                        <a:rPr lang="ja-JP" altLang="en-US" sz="600" dirty="0">
                          <a:solidFill>
                            <a:srgbClr val="C00000"/>
                          </a:solidFill>
                        </a:rPr>
                        <a:t>メタデータ検索が中心</a:t>
                      </a:r>
                      <a:r>
                        <a:rPr lang="en-US" altLang="ja-JP" sz="600" dirty="0">
                          <a:solidFill>
                            <a:srgbClr val="C0000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600" b="1" dirty="0">
                          <a:solidFill>
                            <a:srgbClr val="C00000"/>
                          </a:solidFill>
                        </a:rPr>
                        <a:t>限定的</a:t>
                      </a:r>
                      <a:r>
                        <a:rPr lang="ja-JP" altLang="en-US" sz="600" dirty="0">
                          <a:solidFill>
                            <a:srgbClr val="C00000"/>
                          </a:solidFill>
                        </a:rPr>
                        <a:t> </a:t>
                      </a:r>
                      <a:r>
                        <a:rPr lang="en-US" altLang="ja-JP" sz="600" dirty="0">
                          <a:solidFill>
                            <a:srgbClr val="C00000"/>
                          </a:solidFill>
                        </a:rPr>
                        <a:t>(</a:t>
                      </a:r>
                      <a:r>
                        <a:rPr lang="ja-JP" altLang="en-US" sz="600" dirty="0">
                          <a:solidFill>
                            <a:srgbClr val="C00000"/>
                          </a:solidFill>
                        </a:rPr>
                        <a:t>拡張機能や外部ツールが必要</a:t>
                      </a:r>
                      <a:r>
                        <a:rPr lang="en-US" altLang="ja-JP" sz="600" dirty="0">
                          <a:solidFill>
                            <a:srgbClr val="C0000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600" b="1" dirty="0">
                          <a:solidFill>
                            <a:srgbClr val="00B050"/>
                          </a:solidFill>
                        </a:rPr>
                        <a:t>はい</a:t>
                      </a:r>
                      <a:r>
                        <a:rPr lang="ja-JP" altLang="en-US" sz="600" dirty="0">
                          <a:solidFill>
                            <a:srgbClr val="00B050"/>
                          </a:solidFill>
                        </a:rPr>
                        <a:t> </a:t>
                      </a:r>
                      <a:r>
                        <a:rPr lang="en-US" altLang="ja-JP" sz="600" dirty="0">
                          <a:solidFill>
                            <a:srgbClr val="00B050"/>
                          </a:solidFill>
                        </a:rPr>
                        <a:t>(</a:t>
                      </a:r>
                      <a:r>
                        <a:rPr lang="ja-JP" altLang="en-US" sz="600" dirty="0">
                          <a:solidFill>
                            <a:srgbClr val="00B050"/>
                          </a:solidFill>
                        </a:rPr>
                        <a:t>メタデータ検索、ファイルプロパティ検索</a:t>
                      </a:r>
                      <a:r>
                        <a:rPr lang="en-US" altLang="ja-JP" sz="6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5"/>
                  </a:ext>
                </a:extLst>
              </a:tr>
              <a:tr h="184242">
                <a:tc rowSpan="2">
                  <a:txBody>
                    <a:bodyPr/>
                    <a:lstStyle/>
                    <a:p>
                      <a:r>
                        <a:rPr lang="ja-JP" altLang="en-US" sz="700" b="1" kern="1200" dirty="0">
                          <a:solidFill>
                            <a:schemeClr val="dk1"/>
                          </a:solidFill>
                          <a:latin typeface="+mn-lt"/>
                          <a:ea typeface="+mn-ea"/>
                          <a:cs typeface="+mn-cs"/>
                        </a:rPr>
                        <a:t>インテグレーション</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de-DE" sz="700" b="1" dirty="0"/>
                        <a:t>Power Apps </a:t>
                      </a:r>
                      <a:r>
                        <a:rPr lang="ja-JP" altLang="en-US" sz="700" b="1" dirty="0"/>
                        <a:t>統合</a:t>
                      </a:r>
                      <a:endParaRPr lang="ja-JP" altLang="en-US" sz="7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600" b="1" dirty="0">
                          <a:solidFill>
                            <a:srgbClr val="00B050"/>
                          </a:solidFill>
                        </a:rPr>
                        <a:t>可能</a:t>
                      </a:r>
                      <a:r>
                        <a:rPr lang="ja-JP" altLang="en-US" sz="600" dirty="0">
                          <a:solidFill>
                            <a:srgbClr val="00B050"/>
                          </a:solidFill>
                        </a:rPr>
                        <a:t> </a:t>
                      </a:r>
                      <a:r>
                        <a:rPr lang="en-US" altLang="ja-JP" sz="600" dirty="0">
                          <a:solidFill>
                            <a:srgbClr val="00B050"/>
                          </a:solidFill>
                        </a:rPr>
                        <a:t>(</a:t>
                      </a:r>
                      <a:r>
                        <a:rPr lang="ja-JP" altLang="en-US" sz="600" dirty="0">
                          <a:solidFill>
                            <a:srgbClr val="00B050"/>
                          </a:solidFill>
                        </a:rPr>
                        <a:t>カスタムコネクタ、</a:t>
                      </a:r>
                      <a:r>
                        <a:rPr lang="en-US" altLang="ja-JP" sz="600" dirty="0">
                          <a:solidFill>
                            <a:srgbClr val="00B050"/>
                          </a:solidFill>
                        </a:rPr>
                        <a:t>SQL Server </a:t>
                      </a:r>
                      <a:r>
                        <a:rPr lang="ja-JP" altLang="en-US" sz="600" dirty="0">
                          <a:solidFill>
                            <a:srgbClr val="00B050"/>
                          </a:solidFill>
                        </a:rPr>
                        <a:t>コネクタ</a:t>
                      </a:r>
                      <a:r>
                        <a:rPr lang="en-US" altLang="ja-JP" sz="6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dirty="0">
                          <a:solidFill>
                            <a:srgbClr val="00B050"/>
                          </a:solidFill>
                          <a:effectLst/>
                        </a:rPr>
                        <a:t>直接接続（</a:t>
                      </a:r>
                      <a:r>
                        <a:rPr lang="en-US" altLang="ja-JP" sz="600" dirty="0">
                          <a:solidFill>
                            <a:srgbClr val="00B050"/>
                          </a:solidFill>
                          <a:effectLst/>
                        </a:rPr>
                        <a:t>Gateway</a:t>
                      </a:r>
                      <a:r>
                        <a:rPr lang="ja-JP" altLang="en-US" sz="600" dirty="0">
                          <a:solidFill>
                            <a:srgbClr val="00B050"/>
                          </a:solidFill>
                          <a:effectLst/>
                        </a:rPr>
                        <a:t>不要）。 </a:t>
                      </a:r>
                      <a:endParaRPr lang="en-US" altLang="ja-JP" sz="600" dirty="0">
                        <a:solidFill>
                          <a:srgbClr val="00B05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dirty="0">
                          <a:solidFill>
                            <a:srgbClr val="00B050"/>
                          </a:solidFill>
                          <a:effectLst/>
                        </a:rPr>
                        <a:t>ファイル添付</a:t>
                      </a:r>
                      <a:r>
                        <a:rPr lang="en-US" altLang="ja-JP" sz="600" dirty="0">
                          <a:solidFill>
                            <a:srgbClr val="00B050"/>
                          </a:solidFill>
                          <a:effectLst/>
                        </a:rPr>
                        <a:t>: </a:t>
                      </a:r>
                      <a:r>
                        <a:rPr lang="ja-JP" altLang="en-US" sz="600" dirty="0">
                          <a:solidFill>
                            <a:srgbClr val="00B050"/>
                          </a:solidFill>
                          <a:effectLst/>
                        </a:rPr>
                        <a:t>ネイティブサポート、</a:t>
                      </a:r>
                      <a:r>
                        <a:rPr lang="en-US" altLang="ja-JP" sz="600" dirty="0">
                          <a:solidFill>
                            <a:srgbClr val="00B050"/>
                          </a:solidFill>
                          <a:effectLst/>
                        </a:rPr>
                        <a:t>Blob</a:t>
                      </a:r>
                      <a:r>
                        <a:rPr lang="ja-JP" altLang="en-US" sz="600" dirty="0">
                          <a:solidFill>
                            <a:srgbClr val="00B050"/>
                          </a:solidFill>
                          <a:effectLst/>
                        </a:rPr>
                        <a:t>連携でスムーズ。</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600" b="1" dirty="0">
                          <a:solidFill>
                            <a:srgbClr val="00B050"/>
                          </a:solidFill>
                        </a:rPr>
                        <a:t>直接統合</a:t>
                      </a:r>
                      <a:r>
                        <a:rPr lang="ja-JP" altLang="en-US" sz="600" dirty="0">
                          <a:solidFill>
                            <a:srgbClr val="00B050"/>
                          </a:solidFill>
                        </a:rPr>
                        <a:t> </a:t>
                      </a:r>
                      <a:r>
                        <a:rPr lang="en-US" altLang="ja-JP" sz="600" dirty="0">
                          <a:solidFill>
                            <a:srgbClr val="00B050"/>
                          </a:solidFill>
                        </a:rPr>
                        <a:t>(</a:t>
                      </a:r>
                      <a:r>
                        <a:rPr lang="ja-JP" altLang="en-US" sz="600" dirty="0">
                          <a:solidFill>
                            <a:srgbClr val="00B050"/>
                          </a:solidFill>
                        </a:rPr>
                        <a:t>ネイティブコネクタ</a:t>
                      </a:r>
                      <a:r>
                        <a:rPr lang="en-US" altLang="ja-JP" sz="6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600" b="1" dirty="0">
                          <a:solidFill>
                            <a:srgbClr val="00B050"/>
                          </a:solidFill>
                        </a:rPr>
                        <a:t>可能</a:t>
                      </a:r>
                      <a:r>
                        <a:rPr lang="ja-JP" altLang="en-US" sz="600" dirty="0">
                          <a:solidFill>
                            <a:srgbClr val="00B050"/>
                          </a:solidFill>
                        </a:rPr>
                        <a:t> </a:t>
                      </a:r>
                      <a:r>
                        <a:rPr lang="en-US" altLang="ja-JP" sz="600" dirty="0">
                          <a:solidFill>
                            <a:srgbClr val="00B050"/>
                          </a:solidFill>
                        </a:rPr>
                        <a:t>(</a:t>
                      </a:r>
                      <a:r>
                        <a:rPr lang="ja-JP" altLang="en-US" sz="600" dirty="0">
                          <a:solidFill>
                            <a:srgbClr val="C00000"/>
                          </a:solidFill>
                        </a:rPr>
                        <a:t>カスタムコネクタ</a:t>
                      </a:r>
                      <a:r>
                        <a:rPr lang="ja-JP" altLang="en-US" sz="600" dirty="0">
                          <a:solidFill>
                            <a:srgbClr val="00B050"/>
                          </a:solidFill>
                        </a:rPr>
                        <a:t>、</a:t>
                      </a:r>
                      <a:r>
                        <a:rPr lang="en-US" altLang="ja-JP" sz="600" dirty="0">
                          <a:solidFill>
                            <a:srgbClr val="00B050"/>
                          </a:solidFill>
                        </a:rPr>
                        <a:t>PostgreSQL </a:t>
                      </a:r>
                      <a:r>
                        <a:rPr lang="ja-JP" altLang="en-US" sz="600" dirty="0">
                          <a:solidFill>
                            <a:srgbClr val="00B050"/>
                          </a:solidFill>
                        </a:rPr>
                        <a:t>コネクタ</a:t>
                      </a:r>
                      <a:r>
                        <a:rPr lang="en-US" altLang="ja-JP" sz="6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600" b="1" dirty="0">
                          <a:solidFill>
                            <a:srgbClr val="00B050"/>
                          </a:solidFill>
                        </a:rPr>
                        <a:t>直接統合</a:t>
                      </a:r>
                      <a:r>
                        <a:rPr lang="ja-JP" altLang="en-US" sz="600" dirty="0">
                          <a:solidFill>
                            <a:srgbClr val="00B050"/>
                          </a:solidFill>
                        </a:rPr>
                        <a:t> </a:t>
                      </a:r>
                      <a:r>
                        <a:rPr lang="en-US" altLang="ja-JP" sz="600" dirty="0">
                          <a:solidFill>
                            <a:srgbClr val="00B050"/>
                          </a:solidFill>
                        </a:rPr>
                        <a:t>(</a:t>
                      </a:r>
                      <a:r>
                        <a:rPr lang="de-DE" sz="600" dirty="0">
                          <a:solidFill>
                            <a:srgbClr val="00B050"/>
                          </a:solidFill>
                        </a:rPr>
                        <a:t>SharePoint </a:t>
                      </a:r>
                      <a:r>
                        <a:rPr lang="ja-JP" altLang="en-US" sz="600" dirty="0">
                          <a:solidFill>
                            <a:srgbClr val="00B050"/>
                          </a:solidFill>
                        </a:rPr>
                        <a:t>コネクタ</a:t>
                      </a:r>
                      <a:r>
                        <a:rPr lang="en-US" altLang="ja-JP" sz="6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6"/>
                  </a:ext>
                </a:extLst>
              </a:tr>
              <a:tr h="184242">
                <a:tc vMerge="1">
                  <a:txBody>
                    <a:bodyPr/>
                    <a:lstStyle/>
                    <a:p>
                      <a:endParaRPr lang="ja-JP" altLang="en-US" sz="700" dirty="0"/>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de-DE" sz="700" b="1" dirty="0"/>
                        <a:t>Power Automate </a:t>
                      </a:r>
                      <a:r>
                        <a:rPr lang="ja-JP" altLang="en-US" sz="700" b="1" dirty="0"/>
                        <a:t>統合</a:t>
                      </a:r>
                      <a:endParaRPr lang="ja-JP" altLang="en-US" sz="7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600" b="1" dirty="0">
                          <a:solidFill>
                            <a:srgbClr val="00B050"/>
                          </a:solidFill>
                        </a:rPr>
                        <a:t>可能</a:t>
                      </a:r>
                      <a:r>
                        <a:rPr lang="ja-JP" altLang="en-US" sz="600" dirty="0">
                          <a:solidFill>
                            <a:srgbClr val="00B050"/>
                          </a:solidFill>
                        </a:rPr>
                        <a:t> </a:t>
                      </a:r>
                      <a:r>
                        <a:rPr lang="en-US" altLang="ja-JP" sz="600" dirty="0">
                          <a:solidFill>
                            <a:srgbClr val="00B050"/>
                          </a:solidFill>
                        </a:rPr>
                        <a:t>(</a:t>
                      </a:r>
                      <a:r>
                        <a:rPr lang="ja-JP" altLang="en-US" sz="600" dirty="0">
                          <a:solidFill>
                            <a:srgbClr val="00B050"/>
                          </a:solidFill>
                        </a:rPr>
                        <a:t>カスタムコネクタ、</a:t>
                      </a:r>
                      <a:r>
                        <a:rPr lang="en-US" altLang="ja-JP" sz="600" dirty="0">
                          <a:solidFill>
                            <a:srgbClr val="00B050"/>
                          </a:solidFill>
                        </a:rPr>
                        <a:t>SQL Server </a:t>
                      </a:r>
                      <a:r>
                        <a:rPr lang="ja-JP" altLang="en-US" sz="600" dirty="0">
                          <a:solidFill>
                            <a:srgbClr val="00B050"/>
                          </a:solidFill>
                        </a:rPr>
                        <a:t>コネクタ</a:t>
                      </a:r>
                      <a:r>
                        <a:rPr lang="en-US" altLang="ja-JP" sz="6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600" dirty="0">
                          <a:solidFill>
                            <a:srgbClr val="00B050"/>
                          </a:solidFill>
                          <a:effectLst/>
                        </a:rPr>
                        <a:t>SQL</a:t>
                      </a:r>
                      <a:r>
                        <a:rPr lang="ja-JP" altLang="en-US" sz="600" dirty="0">
                          <a:solidFill>
                            <a:srgbClr val="00B050"/>
                          </a:solidFill>
                          <a:effectLst/>
                        </a:rPr>
                        <a:t>コネクタ直接使用。 </a:t>
                      </a:r>
                      <a:endParaRPr lang="en-US" altLang="ja-JP" sz="600" dirty="0">
                        <a:solidFill>
                          <a:srgbClr val="00B05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dirty="0">
                          <a:solidFill>
                            <a:srgbClr val="00B050"/>
                          </a:solidFill>
                          <a:effectLst/>
                        </a:rPr>
                        <a:t>ファイルハンドリング</a:t>
                      </a:r>
                      <a:r>
                        <a:rPr lang="en-US" altLang="ja-JP" sz="600" dirty="0">
                          <a:solidFill>
                            <a:srgbClr val="00B050"/>
                          </a:solidFill>
                          <a:effectLst/>
                        </a:rPr>
                        <a:t>: Blob</a:t>
                      </a:r>
                      <a:r>
                        <a:rPr lang="ja-JP" altLang="en-US" sz="600" dirty="0">
                          <a:solidFill>
                            <a:srgbClr val="00B050"/>
                          </a:solidFill>
                          <a:effectLst/>
                        </a:rPr>
                        <a:t>フロー統合で自動化容易。</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600" b="1" dirty="0">
                          <a:solidFill>
                            <a:srgbClr val="00B050"/>
                          </a:solidFill>
                        </a:rPr>
                        <a:t>直接統合</a:t>
                      </a:r>
                      <a:r>
                        <a:rPr lang="ja-JP" altLang="en-US" sz="600" dirty="0">
                          <a:solidFill>
                            <a:srgbClr val="00B050"/>
                          </a:solidFill>
                        </a:rPr>
                        <a:t> </a:t>
                      </a:r>
                      <a:r>
                        <a:rPr lang="en-US" altLang="ja-JP" sz="600" dirty="0">
                          <a:solidFill>
                            <a:srgbClr val="00B050"/>
                          </a:solidFill>
                        </a:rPr>
                        <a:t>(</a:t>
                      </a:r>
                      <a:r>
                        <a:rPr lang="ja-JP" altLang="en-US" sz="600" dirty="0">
                          <a:solidFill>
                            <a:srgbClr val="00B050"/>
                          </a:solidFill>
                        </a:rPr>
                        <a:t>ネイティブコネクタ</a:t>
                      </a:r>
                      <a:r>
                        <a:rPr lang="en-US" altLang="ja-JP" sz="6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600" b="1" dirty="0">
                          <a:solidFill>
                            <a:srgbClr val="00B050"/>
                          </a:solidFill>
                        </a:rPr>
                        <a:t>可能</a:t>
                      </a:r>
                      <a:r>
                        <a:rPr lang="ja-JP" altLang="en-US" sz="600" dirty="0">
                          <a:solidFill>
                            <a:srgbClr val="00B050"/>
                          </a:solidFill>
                        </a:rPr>
                        <a:t> </a:t>
                      </a:r>
                      <a:r>
                        <a:rPr lang="en-US" altLang="ja-JP" sz="600" dirty="0">
                          <a:solidFill>
                            <a:srgbClr val="00B050"/>
                          </a:solidFill>
                        </a:rPr>
                        <a:t>(</a:t>
                      </a:r>
                      <a:r>
                        <a:rPr lang="ja-JP" altLang="en-US" sz="600" dirty="0">
                          <a:solidFill>
                            <a:srgbClr val="C00000"/>
                          </a:solidFill>
                        </a:rPr>
                        <a:t>カスタムコネクタ</a:t>
                      </a:r>
                      <a:r>
                        <a:rPr lang="ja-JP" altLang="en-US" sz="600" dirty="0">
                          <a:solidFill>
                            <a:srgbClr val="00B050"/>
                          </a:solidFill>
                        </a:rPr>
                        <a:t>、</a:t>
                      </a:r>
                      <a:r>
                        <a:rPr lang="en-US" altLang="ja-JP" sz="600" dirty="0">
                          <a:solidFill>
                            <a:srgbClr val="00B050"/>
                          </a:solidFill>
                        </a:rPr>
                        <a:t>PostgreSQL </a:t>
                      </a:r>
                      <a:r>
                        <a:rPr lang="ja-JP" altLang="en-US" sz="600" dirty="0">
                          <a:solidFill>
                            <a:srgbClr val="00B050"/>
                          </a:solidFill>
                        </a:rPr>
                        <a:t>コネクタ</a:t>
                      </a:r>
                      <a:r>
                        <a:rPr lang="en-US" altLang="ja-JP" sz="6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600" b="1" dirty="0">
                          <a:solidFill>
                            <a:srgbClr val="00B050"/>
                          </a:solidFill>
                        </a:rPr>
                        <a:t>直接統合</a:t>
                      </a:r>
                      <a:r>
                        <a:rPr lang="ja-JP" altLang="en-US" sz="600" dirty="0">
                          <a:solidFill>
                            <a:srgbClr val="00B050"/>
                          </a:solidFill>
                        </a:rPr>
                        <a:t> </a:t>
                      </a:r>
                      <a:r>
                        <a:rPr lang="en-US" altLang="ja-JP" sz="600" dirty="0">
                          <a:solidFill>
                            <a:srgbClr val="00B050"/>
                          </a:solidFill>
                        </a:rPr>
                        <a:t>(</a:t>
                      </a:r>
                      <a:r>
                        <a:rPr lang="de-DE" sz="600" dirty="0">
                          <a:solidFill>
                            <a:srgbClr val="00B050"/>
                          </a:solidFill>
                        </a:rPr>
                        <a:t>SharePoint </a:t>
                      </a:r>
                      <a:r>
                        <a:rPr lang="ja-JP" altLang="en-US" sz="600" dirty="0">
                          <a:solidFill>
                            <a:srgbClr val="00B050"/>
                          </a:solidFill>
                        </a:rPr>
                        <a:t>コネクタ</a:t>
                      </a:r>
                      <a:r>
                        <a:rPr lang="en-US" altLang="ja-JP" sz="6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7"/>
                  </a:ext>
                </a:extLst>
              </a:tr>
              <a:tr h="34398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700" b="1" kern="1200" dirty="0">
                          <a:solidFill>
                            <a:schemeClr val="dk1"/>
                          </a:solidFill>
                          <a:latin typeface="+mn-lt"/>
                          <a:ea typeface="+mn-ea"/>
                          <a:cs typeface="+mn-cs"/>
                        </a:rPr>
                        <a:t>ラインセス</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t>必要なライセンス</a:t>
                      </a:r>
                      <a:endParaRPr lang="ja-JP" altLang="en-US" sz="7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600" kern="1200" dirty="0">
                          <a:solidFill>
                            <a:srgbClr val="00B050"/>
                          </a:solidFill>
                          <a:effectLst/>
                          <a:latin typeface="+mn-lt"/>
                          <a:ea typeface="+mn-ea"/>
                          <a:cs typeface="+mn-cs"/>
                        </a:rPr>
                        <a:t>SQL Server Enterprise/Standard (Full-Text Search </a:t>
                      </a:r>
                      <a:r>
                        <a:rPr lang="ja-JP" altLang="en-US" sz="600" kern="1200" dirty="0">
                          <a:solidFill>
                            <a:srgbClr val="00B050"/>
                          </a:solidFill>
                          <a:effectLst/>
                          <a:latin typeface="+mn-lt"/>
                          <a:ea typeface="+mn-ea"/>
                          <a:cs typeface="+mn-cs"/>
                        </a:rPr>
                        <a:t>は追加費用なし</a:t>
                      </a:r>
                      <a:r>
                        <a:rPr lang="en-US" altLang="ja-JP" sz="600" kern="1200" dirty="0">
                          <a:solidFill>
                            <a:srgbClr val="00B050"/>
                          </a:solidFill>
                          <a:effectLst/>
                          <a:latin typeface="+mn-lt"/>
                          <a:ea typeface="+mn-ea"/>
                          <a:cs typeface="+mn-cs"/>
                        </a:rPr>
                        <a:t>)</a:t>
                      </a:r>
                      <a:r>
                        <a:rPr lang="ja-JP" altLang="en-US" sz="600" kern="1200" dirty="0">
                          <a:solidFill>
                            <a:srgbClr val="00B050"/>
                          </a:solidFill>
                          <a:effectLst/>
                          <a:latin typeface="+mn-lt"/>
                          <a:ea typeface="+mn-ea"/>
                          <a:cs typeface="+mn-cs"/>
                        </a:rPr>
                        <a:t> 、</a:t>
                      </a:r>
                      <a:r>
                        <a:rPr lang="ja-JP" altLang="en-US" sz="600" kern="1200" dirty="0">
                          <a:solidFill>
                            <a:srgbClr val="C00000"/>
                          </a:solidFill>
                          <a:effectLst/>
                        </a:rPr>
                        <a:t>ライセンスが複雑でコスト高。 </a:t>
                      </a:r>
                      <a:endParaRPr lang="en-US" altLang="ja-JP" sz="600" kern="1200" dirty="0">
                        <a:solidFill>
                          <a:srgbClr val="C0000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kern="1200" dirty="0">
                          <a:solidFill>
                            <a:srgbClr val="C00000"/>
                          </a:solidFill>
                          <a:effectLst/>
                        </a:rPr>
                        <a:t>ファイルの大容量ストレージに不向き（</a:t>
                      </a:r>
                      <a:r>
                        <a:rPr lang="en-US" altLang="ja-JP" sz="600" kern="1200" dirty="0">
                          <a:solidFill>
                            <a:srgbClr val="C00000"/>
                          </a:solidFill>
                          <a:effectLst/>
                        </a:rPr>
                        <a:t>Blob</a:t>
                      </a:r>
                      <a:r>
                        <a:rPr lang="ja-JP" altLang="en-US" sz="600" kern="1200" dirty="0">
                          <a:solidFill>
                            <a:srgbClr val="C00000"/>
                          </a:solidFill>
                          <a:effectLst/>
                        </a:rPr>
                        <a:t>推奨）。 </a:t>
                      </a:r>
                      <a:endParaRPr lang="en-US" altLang="ja-JP" sz="600" kern="1200" dirty="0">
                        <a:solidFill>
                          <a:srgbClr val="C0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kern="1200" dirty="0">
                          <a:solidFill>
                            <a:schemeClr val="tx1"/>
                          </a:solidFill>
                          <a:effectLst/>
                        </a:rPr>
                        <a:t>従量課金</a:t>
                      </a:r>
                      <a:r>
                        <a:rPr lang="en-US" altLang="ja-JP" sz="600" kern="1200" dirty="0">
                          <a:solidFill>
                            <a:schemeClr val="tx1"/>
                          </a:solidFill>
                          <a:effectLst/>
                        </a:rPr>
                        <a:t>: Basic $5/</a:t>
                      </a:r>
                      <a:r>
                        <a:rPr lang="ja-JP" altLang="en-US" sz="600" kern="1200" dirty="0">
                          <a:solidFill>
                            <a:schemeClr val="tx1"/>
                          </a:solidFill>
                          <a:effectLst/>
                        </a:rPr>
                        <a:t>月</a:t>
                      </a:r>
                      <a:r>
                        <a:rPr lang="en-US" altLang="ja-JP" sz="600" kern="1200" dirty="0">
                          <a:solidFill>
                            <a:schemeClr val="tx1"/>
                          </a:solidFill>
                          <a:effectLst/>
                        </a:rPr>
                        <a:t>〜</a:t>
                      </a:r>
                      <a:r>
                        <a:rPr lang="ja-JP" altLang="en-US" sz="600" kern="1200" dirty="0">
                          <a:solidFill>
                            <a:schemeClr val="tx1"/>
                          </a:solidFill>
                          <a:effectLst/>
                        </a:rPr>
                        <a:t>、</a:t>
                      </a:r>
                      <a:r>
                        <a:rPr lang="en-US" altLang="ja-JP" sz="600" kern="1200" dirty="0" err="1">
                          <a:solidFill>
                            <a:schemeClr val="tx1"/>
                          </a:solidFill>
                          <a:effectLst/>
                        </a:rPr>
                        <a:t>vCore</a:t>
                      </a:r>
                      <a:r>
                        <a:rPr lang="en-US" altLang="ja-JP" sz="600" kern="1200" dirty="0">
                          <a:solidFill>
                            <a:schemeClr val="tx1"/>
                          </a:solidFill>
                          <a:effectLst/>
                        </a:rPr>
                        <a:t> $0.5/</a:t>
                      </a:r>
                      <a:r>
                        <a:rPr lang="ja-JP" altLang="en-US" sz="600" kern="1200" dirty="0">
                          <a:solidFill>
                            <a:schemeClr val="tx1"/>
                          </a:solidFill>
                          <a:effectLst/>
                        </a:rPr>
                        <a:t>時間</a:t>
                      </a:r>
                      <a:r>
                        <a:rPr lang="en-US" altLang="ja-JP" sz="600" kern="1200" dirty="0">
                          <a:solidFill>
                            <a:schemeClr val="tx1"/>
                          </a:solidFill>
                          <a:effectLst/>
                        </a:rPr>
                        <a:t>〜</a:t>
                      </a:r>
                      <a:r>
                        <a:rPr lang="ja-JP" altLang="en-US" sz="600" kern="1200" dirty="0">
                          <a:solidFill>
                            <a:schemeClr val="tx1"/>
                          </a:solidFill>
                          <a:effectLst/>
                        </a:rPr>
                        <a:t>（ストレージ</a:t>
                      </a:r>
                      <a:r>
                        <a:rPr lang="en-US" altLang="ja-JP" sz="600" kern="1200" dirty="0">
                          <a:solidFill>
                            <a:schemeClr val="tx1"/>
                          </a:solidFill>
                          <a:effectLst/>
                        </a:rPr>
                        <a:t>$0.10/GB/</a:t>
                      </a:r>
                      <a:r>
                        <a:rPr lang="ja-JP" altLang="en-US" sz="600" kern="1200" dirty="0">
                          <a:solidFill>
                            <a:schemeClr val="tx1"/>
                          </a:solidFill>
                          <a:effectLst/>
                        </a:rPr>
                        <a:t>月）。 </a:t>
                      </a:r>
                      <a:endParaRPr lang="en-US" altLang="ja-JP" sz="600" kern="1200" dirty="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kern="1200" dirty="0">
                          <a:solidFill>
                            <a:schemeClr val="tx1"/>
                          </a:solidFill>
                          <a:effectLst/>
                        </a:rPr>
                        <a:t>ファイル</a:t>
                      </a:r>
                      <a:r>
                        <a:rPr lang="en-US" altLang="ja-JP" sz="600" kern="1200" dirty="0">
                          <a:solidFill>
                            <a:schemeClr val="tx1"/>
                          </a:solidFill>
                          <a:effectLst/>
                        </a:rPr>
                        <a:t>: </a:t>
                      </a:r>
                      <a:r>
                        <a:rPr lang="ja-JP" altLang="en-US" sz="600" kern="1200" dirty="0">
                          <a:solidFill>
                            <a:schemeClr val="tx1"/>
                          </a:solidFill>
                          <a:effectLst/>
                        </a:rPr>
                        <a:t>標準料金内、</a:t>
                      </a:r>
                      <a:r>
                        <a:rPr lang="en-US" altLang="ja-JP" sz="600" kern="1200" dirty="0">
                          <a:solidFill>
                            <a:schemeClr val="tx1"/>
                          </a:solidFill>
                          <a:effectLst/>
                        </a:rPr>
                        <a:t>Blob</a:t>
                      </a:r>
                      <a:r>
                        <a:rPr lang="ja-JP" altLang="en-US" sz="600" kern="1200" dirty="0">
                          <a:solidFill>
                            <a:schemeClr val="tx1"/>
                          </a:solidFill>
                          <a:effectLst/>
                        </a:rPr>
                        <a:t>追加で</a:t>
                      </a:r>
                      <a:r>
                        <a:rPr lang="en-US" altLang="ja-JP" sz="600" kern="1200" dirty="0">
                          <a:solidFill>
                            <a:schemeClr val="tx1"/>
                          </a:solidFill>
                          <a:effectLst/>
                        </a:rPr>
                        <a:t>$0.02/GB/</a:t>
                      </a:r>
                      <a:r>
                        <a:rPr lang="ja-JP" altLang="en-US" sz="600" kern="1200" dirty="0">
                          <a:solidFill>
                            <a:schemeClr val="tx1"/>
                          </a:solidFill>
                          <a:effectLst/>
                        </a:rPr>
                        <a:t>月。</a:t>
                      </a:r>
                      <a:endParaRPr lang="en-US" altLang="ja-JP" sz="600" kern="1200" dirty="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kern="1200" dirty="0">
                          <a:solidFill>
                            <a:srgbClr val="C00000"/>
                          </a:solidFill>
                          <a:effectLst/>
                          <a:latin typeface="+mn-lt"/>
                          <a:ea typeface="+mn-ea"/>
                          <a:cs typeface="+mn-cs"/>
                        </a:rPr>
                        <a:t>ファイルの</a:t>
                      </a:r>
                      <a:r>
                        <a:rPr lang="en-US" altLang="ja-JP" sz="600" kern="1200" dirty="0">
                          <a:solidFill>
                            <a:srgbClr val="C00000"/>
                          </a:solidFill>
                          <a:effectLst/>
                          <a:latin typeface="+mn-lt"/>
                          <a:ea typeface="+mn-ea"/>
                          <a:cs typeface="+mn-cs"/>
                        </a:rPr>
                        <a:t>Search</a:t>
                      </a:r>
                      <a:r>
                        <a:rPr lang="ja-JP" altLang="en-US" sz="600" kern="1200" dirty="0">
                          <a:solidFill>
                            <a:srgbClr val="C00000"/>
                          </a:solidFill>
                          <a:effectLst/>
                          <a:latin typeface="+mn-lt"/>
                          <a:ea typeface="+mn-ea"/>
                          <a:cs typeface="+mn-cs"/>
                        </a:rPr>
                        <a:t>には、外部サービス依存</a:t>
                      </a:r>
                      <a:endParaRPr lang="en-US" altLang="ja-JP" sz="600" kern="1200" dirty="0">
                        <a:solidFill>
                          <a:srgbClr val="C0000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600" dirty="0">
                          <a:solidFill>
                            <a:srgbClr val="00B050"/>
                          </a:solidFill>
                        </a:rPr>
                        <a:t>Microsoft Dataverse </a:t>
                      </a:r>
                      <a:r>
                        <a:rPr lang="ja-JP" altLang="en-US" sz="600" dirty="0">
                          <a:solidFill>
                            <a:srgbClr val="00B050"/>
                          </a:solidFill>
                        </a:rPr>
                        <a:t>ライセンス </a:t>
                      </a:r>
                      <a:r>
                        <a:rPr lang="en-US" altLang="ja-JP" sz="600" dirty="0">
                          <a:solidFill>
                            <a:srgbClr val="00B050"/>
                          </a:solidFill>
                        </a:rPr>
                        <a:t>(Dynamics 365 </a:t>
                      </a:r>
                      <a:r>
                        <a:rPr lang="ja-JP" altLang="en-US" sz="600" dirty="0">
                          <a:solidFill>
                            <a:srgbClr val="00B050"/>
                          </a:solidFill>
                        </a:rPr>
                        <a:t>または </a:t>
                      </a:r>
                      <a:r>
                        <a:rPr lang="en-US" altLang="ja-JP" sz="600" dirty="0">
                          <a:solidFill>
                            <a:srgbClr val="00B050"/>
                          </a:solidFill>
                        </a:rPr>
                        <a:t>Power Apps Premium </a:t>
                      </a:r>
                      <a:r>
                        <a:rPr lang="ja-JP" altLang="en-US" sz="600" dirty="0">
                          <a:solidFill>
                            <a:srgbClr val="00B050"/>
                          </a:solidFill>
                        </a:rPr>
                        <a:t>ライセンスに含まれる場合あり</a:t>
                      </a:r>
                      <a:r>
                        <a:rPr lang="en-US" altLang="ja-JP" sz="600" dirty="0">
                          <a:solidFill>
                            <a:srgbClr val="00B050"/>
                          </a:solidFill>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dirty="0">
                          <a:solidFill>
                            <a:srgbClr val="C00000"/>
                          </a:solidFill>
                          <a:effectLst/>
                        </a:rPr>
                        <a:t>容量制限（</a:t>
                      </a:r>
                      <a:r>
                        <a:rPr lang="en-US" altLang="ja-JP" sz="600" dirty="0">
                          <a:solidFill>
                            <a:srgbClr val="C00000"/>
                          </a:solidFill>
                          <a:effectLst/>
                        </a:rPr>
                        <a:t>DB/</a:t>
                      </a:r>
                      <a:r>
                        <a:rPr lang="ja-JP" altLang="en-US" sz="600" dirty="0">
                          <a:solidFill>
                            <a:srgbClr val="C00000"/>
                          </a:solidFill>
                          <a:effectLst/>
                        </a:rPr>
                        <a:t>ファイル</a:t>
                      </a:r>
                      <a:r>
                        <a:rPr lang="en-US" altLang="ja-JP" sz="600" dirty="0">
                          <a:solidFill>
                            <a:srgbClr val="C00000"/>
                          </a:solidFill>
                          <a:effectLst/>
                        </a:rPr>
                        <a:t>/</a:t>
                      </a:r>
                      <a:r>
                        <a:rPr lang="ja-JP" altLang="en-US" sz="600" dirty="0">
                          <a:solidFill>
                            <a:srgbClr val="C00000"/>
                          </a:solidFill>
                          <a:effectLst/>
                        </a:rPr>
                        <a:t>ログ別）と高コスト。 </a:t>
                      </a:r>
                      <a:endParaRPr lang="en-US" altLang="ja-JP" sz="600" dirty="0">
                        <a:solidFill>
                          <a:srgbClr val="C0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600" kern="1200" dirty="0">
                          <a:solidFill>
                            <a:schemeClr val="tx1"/>
                          </a:solidFill>
                          <a:latin typeface="+mn-lt"/>
                          <a:ea typeface="+mn-ea"/>
                          <a:cs typeface="+mn-cs"/>
                        </a:rPr>
                        <a:t>PostgreSQL </a:t>
                      </a:r>
                      <a:r>
                        <a:rPr lang="ja-JP" altLang="en-US" sz="600" kern="1200" dirty="0">
                          <a:solidFill>
                            <a:schemeClr val="tx1"/>
                          </a:solidFill>
                          <a:latin typeface="+mn-lt"/>
                          <a:ea typeface="+mn-ea"/>
                          <a:cs typeface="+mn-cs"/>
                        </a:rPr>
                        <a:t>自体はオープンソース。拡張機能は追加の構成が必要。</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de-DE" sz="600" kern="1200" dirty="0">
                          <a:solidFill>
                            <a:srgbClr val="00B050"/>
                          </a:solidFill>
                          <a:latin typeface="+mn-lt"/>
                          <a:ea typeface="+mn-ea"/>
                          <a:cs typeface="+mn-cs"/>
                        </a:rPr>
                        <a:t>Microsoft</a:t>
                      </a:r>
                      <a:r>
                        <a:rPr lang="de-DE" sz="600" dirty="0">
                          <a:solidFill>
                            <a:srgbClr val="00B050"/>
                          </a:solidFill>
                        </a:rPr>
                        <a:t> 365 </a:t>
                      </a:r>
                      <a:r>
                        <a:rPr lang="ja-JP" altLang="en-US" sz="600" dirty="0">
                          <a:solidFill>
                            <a:srgbClr val="00B050"/>
                          </a:solidFill>
                        </a:rPr>
                        <a:t>ライセンス </a:t>
                      </a:r>
                      <a:r>
                        <a:rPr lang="en-US" altLang="ja-JP" sz="600" dirty="0">
                          <a:solidFill>
                            <a:srgbClr val="00B050"/>
                          </a:solidFill>
                        </a:rPr>
                        <a:t>(</a:t>
                      </a:r>
                      <a:r>
                        <a:rPr lang="de-DE" sz="600" dirty="0">
                          <a:solidFill>
                            <a:srgbClr val="00B050"/>
                          </a:solidFill>
                        </a:rPr>
                        <a:t>SharePoint Online </a:t>
                      </a:r>
                      <a:r>
                        <a:rPr lang="ja-JP" altLang="en-US" sz="600" dirty="0">
                          <a:solidFill>
                            <a:srgbClr val="00B050"/>
                          </a:solidFill>
                        </a:rPr>
                        <a:t>を含むプラン</a:t>
                      </a:r>
                      <a:r>
                        <a:rPr lang="en-US" altLang="ja-JP" sz="6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8"/>
                  </a:ext>
                </a:extLst>
              </a:tr>
              <a:tr h="423859">
                <a:tc gridSpan="2">
                  <a:txBody>
                    <a:bodyPr/>
                    <a:lstStyle/>
                    <a:p>
                      <a:r>
                        <a:rPr lang="ja-JP" altLang="en-US" sz="700" b="1" kern="1200" dirty="0">
                          <a:solidFill>
                            <a:schemeClr val="dk1"/>
                          </a:solidFill>
                          <a:latin typeface="+mn-lt"/>
                          <a:ea typeface="+mn-ea"/>
                          <a:cs typeface="+mn-cs"/>
                        </a:rPr>
                        <a:t>運用</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a:txBody>
                    <a:bodyPr/>
                    <a:lstStyle/>
                    <a:p>
                      <a:endParaRPr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600" kern="1200" dirty="0">
                          <a:solidFill>
                            <a:srgbClr val="C00000"/>
                          </a:solidFill>
                          <a:effectLst/>
                        </a:rPr>
                        <a:t>Backup/</a:t>
                      </a:r>
                      <a:r>
                        <a:rPr lang="en-US" altLang="ja-JP" sz="600" kern="1200" dirty="0" err="1">
                          <a:solidFill>
                            <a:srgbClr val="C00000"/>
                          </a:solidFill>
                          <a:effectLst/>
                        </a:rPr>
                        <a:t>Restory</a:t>
                      </a:r>
                      <a:r>
                        <a:rPr lang="en-US" altLang="ja-JP" sz="600" kern="1200" dirty="0">
                          <a:solidFill>
                            <a:srgbClr val="C00000"/>
                          </a:solidFill>
                          <a:effectLst/>
                        </a:rPr>
                        <a:t>/Monitoring</a:t>
                      </a:r>
                      <a:r>
                        <a:rPr lang="ja-JP" altLang="en-US" sz="600" kern="1200" dirty="0">
                          <a:solidFill>
                            <a:srgbClr val="C00000"/>
                          </a:solidFill>
                          <a:effectLst/>
                        </a:rPr>
                        <a:t>の独自実現が必要</a:t>
                      </a:r>
                      <a:endParaRPr lang="en-US" altLang="ja-JP" sz="600" kern="1200" dirty="0">
                        <a:solidFill>
                          <a:srgbClr val="C0000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kern="1200" dirty="0">
                          <a:solidFill>
                            <a:srgbClr val="C00000"/>
                          </a:solidFill>
                          <a:effectLst/>
                        </a:rPr>
                        <a:t>添付ファイルの格納よりストレージの膨大化が避けず、初期</a:t>
                      </a:r>
                      <a:r>
                        <a:rPr lang="en-US" altLang="ja-JP" sz="600" kern="1200" dirty="0">
                          <a:solidFill>
                            <a:srgbClr val="C00000"/>
                          </a:solidFill>
                          <a:effectLst/>
                        </a:rPr>
                        <a:t>Sizing</a:t>
                      </a:r>
                      <a:r>
                        <a:rPr lang="ja-JP" altLang="en-US" sz="600" kern="1200" dirty="0">
                          <a:solidFill>
                            <a:srgbClr val="C00000"/>
                          </a:solidFill>
                          <a:effectLst/>
                        </a:rPr>
                        <a:t>と運用によりのリソース管理が必要</a:t>
                      </a:r>
                      <a:endParaRPr lang="en-US" altLang="ja-JP" sz="600" kern="1200" dirty="0">
                        <a:solidFill>
                          <a:srgbClr val="C0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kern="1200" dirty="0">
                          <a:solidFill>
                            <a:srgbClr val="00B050"/>
                          </a:solidFill>
                          <a:effectLst/>
                          <a:latin typeface="+mn-lt"/>
                          <a:ea typeface="+mn-ea"/>
                          <a:cs typeface="+mn-cs"/>
                        </a:rPr>
                        <a:t>完全マネージドで高可用性・自動バックアップ。</a:t>
                      </a:r>
                      <a:endParaRPr lang="en-US" altLang="ja-JP" sz="600" kern="1200" dirty="0">
                        <a:solidFill>
                          <a:srgbClr val="00B050"/>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dirty="0">
                          <a:solidFill>
                            <a:srgbClr val="00B050"/>
                          </a:solidFill>
                          <a:effectLst/>
                        </a:rPr>
                        <a:t>スケーラビリティが高く、ファイルは</a:t>
                      </a:r>
                      <a:r>
                        <a:rPr lang="en-US" altLang="ja-JP" sz="600" dirty="0">
                          <a:solidFill>
                            <a:srgbClr val="00B050"/>
                          </a:solidFill>
                          <a:effectLst/>
                        </a:rPr>
                        <a:t>Blob</a:t>
                      </a:r>
                      <a:r>
                        <a:rPr lang="ja-JP" altLang="en-US" sz="600" dirty="0">
                          <a:solidFill>
                            <a:srgbClr val="00B050"/>
                          </a:solidFill>
                          <a:effectLst/>
                        </a:rPr>
                        <a:t>統合で拡張。 </a:t>
                      </a:r>
                      <a:endParaRPr lang="en-US" altLang="ja-JP" sz="600" dirty="0">
                        <a:solidFill>
                          <a:srgbClr val="00B05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600" dirty="0">
                          <a:solidFill>
                            <a:srgbClr val="00B050"/>
                          </a:solidFill>
                          <a:effectLst/>
                        </a:rPr>
                        <a:t>Azure</a:t>
                      </a:r>
                      <a:r>
                        <a:rPr lang="ja-JP" altLang="en-US" sz="600" dirty="0">
                          <a:solidFill>
                            <a:srgbClr val="00B050"/>
                          </a:solidFill>
                          <a:effectLst/>
                        </a:rPr>
                        <a:t>エコシステムとの親和性抜群。</a:t>
                      </a:r>
                      <a:endParaRPr lang="en-US" altLang="ja-JP" sz="600" dirty="0">
                        <a:solidFill>
                          <a:srgbClr val="00B05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kern="1200" dirty="0">
                          <a:solidFill>
                            <a:srgbClr val="C00000"/>
                          </a:solidFill>
                          <a:effectLst/>
                        </a:rPr>
                        <a:t>添付ファイルの格納よりストレージの膨大化が避けず、初期</a:t>
                      </a:r>
                      <a:r>
                        <a:rPr lang="en-US" altLang="ja-JP" sz="600" kern="1200" dirty="0">
                          <a:solidFill>
                            <a:srgbClr val="C00000"/>
                          </a:solidFill>
                          <a:effectLst/>
                        </a:rPr>
                        <a:t>Sizing</a:t>
                      </a:r>
                      <a:r>
                        <a:rPr lang="ja-JP" altLang="en-US" sz="600" kern="1200" dirty="0">
                          <a:solidFill>
                            <a:srgbClr val="C00000"/>
                          </a:solidFill>
                          <a:effectLst/>
                        </a:rPr>
                        <a:t>と運用によりのリソース管理が必要</a:t>
                      </a:r>
                      <a:endParaRPr lang="en-US" altLang="ja-JP" sz="600" kern="1200" dirty="0">
                        <a:solidFill>
                          <a:srgbClr val="C0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kern="1200" dirty="0">
                          <a:solidFill>
                            <a:srgbClr val="00B050"/>
                          </a:solidFill>
                          <a:effectLst/>
                        </a:rPr>
                        <a:t>セキュリティ・スケーラビリティ高く、</a:t>
                      </a:r>
                      <a:r>
                        <a:rPr lang="en-US" altLang="ja-JP" sz="600" kern="1200" dirty="0">
                          <a:solidFill>
                            <a:srgbClr val="00B050"/>
                          </a:solidFill>
                          <a:effectLst/>
                        </a:rPr>
                        <a:t>Power Apps</a:t>
                      </a:r>
                      <a:r>
                        <a:rPr lang="ja-JP" altLang="en-US" sz="600" kern="1200" dirty="0">
                          <a:solidFill>
                            <a:srgbClr val="00B050"/>
                          </a:solidFill>
                          <a:effectLst/>
                        </a:rPr>
                        <a:t>統合。 </a:t>
                      </a:r>
                      <a:endParaRPr lang="en-US" altLang="ja-JP" sz="600" kern="1200" dirty="0">
                        <a:solidFill>
                          <a:srgbClr val="00B05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kern="1200" dirty="0">
                          <a:solidFill>
                            <a:srgbClr val="00B050"/>
                          </a:solidFill>
                          <a:effectLst/>
                        </a:rPr>
                        <a:t>ビジネスアプリ向けに最適化。</a:t>
                      </a:r>
                      <a:endParaRPr lang="en-US" altLang="ja-JP" sz="600" kern="1200" dirty="0">
                        <a:solidFill>
                          <a:srgbClr val="00B05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kern="1200" dirty="0">
                          <a:solidFill>
                            <a:srgbClr val="00B050"/>
                          </a:solidFill>
                          <a:latin typeface="+mn-lt"/>
                          <a:ea typeface="+mn-ea"/>
                          <a:cs typeface="+mn-cs"/>
                        </a:rPr>
                        <a:t>契約済みの</a:t>
                      </a:r>
                      <a:r>
                        <a:rPr lang="en-US" altLang="ja-JP" sz="600" kern="1200" dirty="0">
                          <a:solidFill>
                            <a:srgbClr val="00B050"/>
                          </a:solidFill>
                          <a:latin typeface="+mn-lt"/>
                          <a:ea typeface="+mn-ea"/>
                          <a:cs typeface="+mn-cs"/>
                        </a:rPr>
                        <a:t>PAAS</a:t>
                      </a:r>
                      <a:r>
                        <a:rPr lang="ja-JP" altLang="en-US" sz="600" kern="1200" dirty="0">
                          <a:solidFill>
                            <a:srgbClr val="00B050"/>
                          </a:solidFill>
                          <a:latin typeface="+mn-lt"/>
                          <a:ea typeface="+mn-ea"/>
                          <a:cs typeface="+mn-cs"/>
                        </a:rPr>
                        <a:t>の容量そのまま利用</a:t>
                      </a:r>
                      <a:endParaRPr lang="en-US" altLang="zh-CN" sz="600" kern="1200" dirty="0">
                        <a:solidFill>
                          <a:srgbClr val="00B050"/>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dirty="0">
                          <a:solidFill>
                            <a:srgbClr val="C00000"/>
                          </a:solidFill>
                          <a:effectLst/>
                        </a:rPr>
                        <a:t>セットアップ複雑でメンテナンス負荷。 </a:t>
                      </a:r>
                      <a:endParaRPr lang="en-US" altLang="ja-JP" sz="600" dirty="0">
                        <a:solidFill>
                          <a:srgbClr val="C0000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600" kern="1200" dirty="0">
                          <a:solidFill>
                            <a:srgbClr val="C00000"/>
                          </a:solidFill>
                          <a:effectLst/>
                        </a:rPr>
                        <a:t>Backup/</a:t>
                      </a:r>
                      <a:r>
                        <a:rPr lang="en-US" altLang="ja-JP" sz="600" kern="1200" dirty="0" err="1">
                          <a:solidFill>
                            <a:srgbClr val="C00000"/>
                          </a:solidFill>
                          <a:effectLst/>
                        </a:rPr>
                        <a:t>Restory</a:t>
                      </a:r>
                      <a:r>
                        <a:rPr lang="en-US" altLang="ja-JP" sz="600" kern="1200" dirty="0">
                          <a:solidFill>
                            <a:srgbClr val="C00000"/>
                          </a:solidFill>
                          <a:effectLst/>
                        </a:rPr>
                        <a:t>/Monitoring</a:t>
                      </a:r>
                      <a:r>
                        <a:rPr lang="ja-JP" altLang="en-US" sz="600" kern="1200" dirty="0">
                          <a:solidFill>
                            <a:srgbClr val="C00000"/>
                          </a:solidFill>
                          <a:effectLst/>
                        </a:rPr>
                        <a:t>の独自実現が必要</a:t>
                      </a:r>
                      <a:endParaRPr lang="en-US" altLang="ja-JP" sz="600" kern="1200" dirty="0">
                        <a:solidFill>
                          <a:srgbClr val="C0000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kern="1200" dirty="0">
                          <a:solidFill>
                            <a:srgbClr val="C00000"/>
                          </a:solidFill>
                          <a:effectLst/>
                        </a:rPr>
                        <a:t>添付ファイルの格納よりストレージの膨大化が避けず、初期</a:t>
                      </a:r>
                      <a:r>
                        <a:rPr lang="en-US" altLang="ja-JP" sz="600" kern="1200" dirty="0">
                          <a:solidFill>
                            <a:srgbClr val="C00000"/>
                          </a:solidFill>
                          <a:effectLst/>
                        </a:rPr>
                        <a:t>Sizing</a:t>
                      </a:r>
                      <a:r>
                        <a:rPr lang="ja-JP" altLang="en-US" sz="600" kern="1200" dirty="0">
                          <a:solidFill>
                            <a:srgbClr val="C00000"/>
                          </a:solidFill>
                          <a:effectLst/>
                        </a:rPr>
                        <a:t>と運用によりのリソース管理が必要</a:t>
                      </a:r>
                      <a:endParaRPr lang="en-US" altLang="ja-JP" sz="600" kern="1200" dirty="0">
                        <a:solidFill>
                          <a:srgbClr val="C0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kern="1200" dirty="0">
                          <a:solidFill>
                            <a:srgbClr val="00B050"/>
                          </a:solidFill>
                          <a:latin typeface="+mn-lt"/>
                          <a:ea typeface="+mn-ea"/>
                          <a:cs typeface="+mn-cs"/>
                        </a:rPr>
                        <a:t>契約済みの</a:t>
                      </a:r>
                      <a:r>
                        <a:rPr lang="en-US" altLang="ja-JP" sz="600" kern="1200" dirty="0">
                          <a:solidFill>
                            <a:srgbClr val="00B050"/>
                          </a:solidFill>
                          <a:latin typeface="+mn-lt"/>
                          <a:ea typeface="+mn-ea"/>
                          <a:cs typeface="+mn-cs"/>
                        </a:rPr>
                        <a:t>PAAS</a:t>
                      </a:r>
                      <a:r>
                        <a:rPr lang="ja-JP" altLang="en-US" sz="600" kern="1200" dirty="0">
                          <a:solidFill>
                            <a:srgbClr val="00B050"/>
                          </a:solidFill>
                          <a:latin typeface="+mn-lt"/>
                          <a:ea typeface="+mn-ea"/>
                          <a:cs typeface="+mn-cs"/>
                        </a:rPr>
                        <a:t>の容量そのまま利用</a:t>
                      </a:r>
                      <a:endParaRPr lang="en-US" altLang="zh-CN" sz="600" kern="1200" dirty="0">
                        <a:solidFill>
                          <a:srgbClr val="00B050"/>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06285698"/>
                  </a:ext>
                </a:extLst>
              </a:tr>
              <a:tr h="184242">
                <a:tc gridSpan="2">
                  <a:txBody>
                    <a:bodyPr/>
                    <a:lstStyle/>
                    <a:p>
                      <a:r>
                        <a:rPr lang="ja-JP" altLang="en-US" sz="700" b="1" kern="1200" dirty="0">
                          <a:solidFill>
                            <a:schemeClr val="dk1"/>
                          </a:solidFill>
                          <a:latin typeface="+mn-lt"/>
                          <a:ea typeface="+mn-ea"/>
                          <a:cs typeface="+mn-cs"/>
                        </a:rPr>
                        <a:t>製品の安定性</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a:txBody>
                    <a:bodyPr/>
                    <a:lstStyle/>
                    <a:p>
                      <a:endParaRPr lang="ja-JP" altLang="en-US" sz="700" b="1" kern="1200" dirty="0">
                        <a:solidFill>
                          <a:schemeClr val="dk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600" kern="1200" dirty="0">
                          <a:solidFill>
                            <a:srgbClr val="C00000"/>
                          </a:solidFill>
                          <a:effectLst/>
                        </a:rPr>
                        <a:t>Full</a:t>
                      </a:r>
                      <a:r>
                        <a:rPr lang="ja-JP" altLang="en-US" sz="600" kern="1200" dirty="0">
                          <a:solidFill>
                            <a:srgbClr val="C00000"/>
                          </a:solidFill>
                          <a:effectLst/>
                        </a:rPr>
                        <a:t> </a:t>
                      </a:r>
                      <a:r>
                        <a:rPr lang="en-US" altLang="ja-JP" sz="600" kern="1200" dirty="0">
                          <a:solidFill>
                            <a:srgbClr val="C00000"/>
                          </a:solidFill>
                          <a:effectLst/>
                        </a:rPr>
                        <a:t>Text Search</a:t>
                      </a:r>
                      <a:r>
                        <a:rPr lang="ja-JP" altLang="en-US" sz="600" kern="1200" dirty="0">
                          <a:solidFill>
                            <a:srgbClr val="C00000"/>
                          </a:solidFill>
                          <a:effectLst/>
                        </a:rPr>
                        <a:t>バグ報告あり（クエリ結果の不整合）。</a:t>
                      </a:r>
                      <a:endParaRPr lang="en-US" altLang="ja-JP" sz="600" kern="1200" dirty="0">
                        <a:solidFill>
                          <a:srgbClr val="C0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900" b="1" i="0" u="none" strike="noStrike" kern="1200" cap="none" spc="0" normalizeH="0" baseline="0" noProof="0">
                          <a:ln>
                            <a:noFill/>
                          </a:ln>
                          <a:solidFill>
                            <a:prstClr val="black"/>
                          </a:solidFill>
                          <a:effectLst/>
                          <a:uLnTx/>
                          <a:uFillTx/>
                          <a:latin typeface="Gill Sans MT"/>
                          <a:ea typeface="游ゴシック" panose="020B0400000000000000" pitchFamily="50" charset="-128"/>
                          <a:cs typeface="+mn-cs"/>
                        </a:rPr>
                        <a:t>-</a:t>
                      </a:r>
                      <a:endParaRPr lang="ja-JP" altLang="en-US" sz="600" dirty="0">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kumimoji="0" lang="en-US" altLang="ja-JP" sz="900" b="1" i="0" u="none" strike="noStrike" kern="1200" cap="none" spc="0" normalizeH="0" baseline="0" noProof="0">
                          <a:ln>
                            <a:noFill/>
                          </a:ln>
                          <a:solidFill>
                            <a:prstClr val="black"/>
                          </a:solidFill>
                          <a:effectLst/>
                          <a:uLnTx/>
                          <a:uFillTx/>
                          <a:latin typeface="Gill Sans MT"/>
                          <a:ea typeface="游ゴシック" panose="020B0400000000000000" pitchFamily="50" charset="-128"/>
                          <a:cs typeface="+mn-cs"/>
                        </a:rPr>
                        <a:t>-</a:t>
                      </a:r>
                      <a:endParaRPr lang="en-US" altLang="ja-JP" sz="600" dirty="0">
                        <a:solidFill>
                          <a:srgbClr val="FF0000"/>
                        </a:solidFill>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kumimoji="0" lang="en-US" altLang="ja-JP" sz="900" b="1" i="0" u="none" strike="noStrike" kern="1200" cap="none" spc="0" normalizeH="0" baseline="0" noProof="0">
                          <a:ln>
                            <a:noFill/>
                          </a:ln>
                          <a:solidFill>
                            <a:prstClr val="black"/>
                          </a:solidFill>
                          <a:effectLst/>
                          <a:uLnTx/>
                          <a:uFillTx/>
                          <a:latin typeface="Gill Sans MT"/>
                          <a:ea typeface="游ゴシック" panose="020B0400000000000000" pitchFamily="50" charset="-128"/>
                          <a:cs typeface="+mn-cs"/>
                        </a:rPr>
                        <a:t>-</a:t>
                      </a:r>
                      <a:endParaRPr lang="ja-JP" altLang="en-US" sz="600" dirty="0">
                        <a:solidFill>
                          <a:srgbClr val="FF0000"/>
                        </a:solidFill>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kumimoji="0" lang="en-US" altLang="ja-JP" sz="900" b="1"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a:t>
                      </a:r>
                      <a:endParaRPr lang="en-US" altLang="zh-CN" sz="600" dirty="0">
                        <a:solidFill>
                          <a:srgbClr val="FF0000"/>
                        </a:solidFill>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582702529"/>
                  </a:ext>
                </a:extLst>
              </a:tr>
              <a:tr h="503731">
                <a:tc gridSpan="2">
                  <a:txBody>
                    <a:bodyPr/>
                    <a:lstStyle/>
                    <a:p>
                      <a:pPr marL="0" algn="l" defTabSz="914400" rtl="0" eaLnBrk="1" latinLnBrk="0" hangingPunct="1"/>
                      <a:r>
                        <a:rPr lang="ja-JP" altLang="en-US" sz="700" b="1" kern="1200" dirty="0">
                          <a:solidFill>
                            <a:schemeClr val="dk1"/>
                          </a:solidFill>
                          <a:latin typeface="+mn-lt"/>
                          <a:ea typeface="+mn-ea"/>
                          <a:cs typeface="+mn-cs"/>
                        </a:rPr>
                        <a:t>性能</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a:txBody>
                    <a:bodyPr/>
                    <a:lstStyle/>
                    <a:p>
                      <a:endParaRPr lang="ja-JP" altLang="en-US" sz="700" b="1" kern="1200" dirty="0">
                        <a:solidFill>
                          <a:schemeClr val="dk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kern="1200" dirty="0">
                          <a:solidFill>
                            <a:srgbClr val="00B050"/>
                          </a:solidFill>
                          <a:effectLst/>
                        </a:rPr>
                        <a:t>フルテキスト検索でコンテンツ検索が効率的。 </a:t>
                      </a:r>
                      <a:endParaRPr lang="en-US" altLang="ja-JP" sz="600" kern="1200" dirty="0">
                        <a:solidFill>
                          <a:srgbClr val="00B05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kern="1200" dirty="0">
                          <a:solidFill>
                            <a:srgbClr val="00B050"/>
                          </a:solidFill>
                          <a:effectLst/>
                        </a:rPr>
                        <a:t>高性能で大規模データに強い。</a:t>
                      </a: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b="1" u="sng" kern="1200" dirty="0">
                          <a:solidFill>
                            <a:srgbClr val="C00000"/>
                          </a:solidFill>
                          <a:effectLst/>
                        </a:rPr>
                        <a:t>ネットワークボトルネックが発生しやすい（</a:t>
                      </a:r>
                      <a:r>
                        <a:rPr lang="en-US" altLang="ja-JP" sz="600" b="1" u="sng" kern="1200" dirty="0">
                          <a:solidFill>
                            <a:srgbClr val="C00000"/>
                          </a:solidFill>
                          <a:effectLst/>
                        </a:rPr>
                        <a:t>AWS-Azure</a:t>
                      </a:r>
                      <a:r>
                        <a:rPr lang="ja-JP" altLang="en-US" sz="600" b="1" u="sng" kern="1200" dirty="0">
                          <a:solidFill>
                            <a:srgbClr val="C00000"/>
                          </a:solidFill>
                          <a:effectLst/>
                        </a:rPr>
                        <a:t>間の遅延</a:t>
                      </a:r>
                      <a:r>
                        <a:rPr lang="en-US" altLang="ja-JP" sz="600" b="1" u="sng" kern="1200" dirty="0">
                          <a:solidFill>
                            <a:srgbClr val="C00000"/>
                          </a:solidFill>
                          <a:effectLst/>
                        </a:rPr>
                        <a:t>: 50-200ms</a:t>
                      </a:r>
                      <a:r>
                        <a:rPr lang="ja-JP" altLang="en-US" sz="600" b="1" u="sng" kern="1200" dirty="0">
                          <a:solidFill>
                            <a:srgbClr val="C00000"/>
                          </a:solidFill>
                          <a:effectLst/>
                        </a:rPr>
                        <a:t>程度、データ転送量次第でボトルネック）。大規模クエリで顕著。</a:t>
                      </a:r>
                      <a:endParaRPr lang="ja-JP" altLang="en-US" sz="600" b="1" u="sng" kern="1200" dirty="0">
                        <a:solidFill>
                          <a:srgbClr val="C0000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dirty="0">
                          <a:solidFill>
                            <a:srgbClr val="00B050"/>
                          </a:solidFill>
                          <a:effectLst/>
                        </a:rPr>
                        <a:t>リレーショナルクエリとコンテンツ検索（フルテキスト）がネイティブサポート。 </a:t>
                      </a:r>
                      <a:endParaRPr lang="en-US" altLang="ja-JP" sz="600" kern="1200" dirty="0">
                        <a:solidFill>
                          <a:schemeClr val="dk1"/>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ja-JP" altLang="en-US" sz="600"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sz="600" dirty="0">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dirty="0">
                          <a:solidFill>
                            <a:srgbClr val="C00000"/>
                          </a:solidFill>
                          <a:effectLst/>
                        </a:rPr>
                        <a:t>複雑なクエリでパフォーマンス低下。 </a:t>
                      </a:r>
                      <a:endParaRPr lang="ja-JP" altLang="en-US" sz="600" kern="1200" dirty="0">
                        <a:solidFill>
                          <a:schemeClr val="dk1"/>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600" dirty="0">
                          <a:solidFill>
                            <a:srgbClr val="00B050"/>
                          </a:solidFill>
                          <a:effectLst/>
                        </a:rPr>
                        <a:t>ACID</a:t>
                      </a:r>
                      <a:r>
                        <a:rPr lang="ja-JP" altLang="en-US" sz="600" dirty="0">
                          <a:solidFill>
                            <a:srgbClr val="00B050"/>
                          </a:solidFill>
                          <a:effectLst/>
                        </a:rPr>
                        <a:t>準拠で信頼性高く、拡張性良好。 </a:t>
                      </a:r>
                      <a:r>
                        <a:rPr lang="en-US" altLang="ja-JP" sz="600" dirty="0">
                          <a:solidFill>
                            <a:srgbClr val="00B050"/>
                          </a:solidFill>
                          <a:effectLst/>
                        </a:rPr>
                        <a:t>- </a:t>
                      </a:r>
                      <a:r>
                        <a:rPr lang="ja-JP" altLang="en-US" sz="600" dirty="0">
                          <a:solidFill>
                            <a:srgbClr val="00B050"/>
                          </a:solidFill>
                          <a:effectLst/>
                        </a:rPr>
                        <a:t>カスタム拡張（</a:t>
                      </a:r>
                      <a:r>
                        <a:rPr lang="en-US" altLang="ja-JP" sz="600" dirty="0" err="1">
                          <a:solidFill>
                            <a:srgbClr val="00B050"/>
                          </a:solidFill>
                          <a:effectLst/>
                        </a:rPr>
                        <a:t>pg_trgm</a:t>
                      </a:r>
                      <a:r>
                        <a:rPr lang="ja-JP" altLang="en-US" sz="600" dirty="0">
                          <a:solidFill>
                            <a:srgbClr val="00B050"/>
                          </a:solidFill>
                          <a:effectLst/>
                        </a:rPr>
                        <a:t>など）でファイル検索強化。</a:t>
                      </a:r>
                      <a:endParaRPr lang="en-US" altLang="ja-JP" sz="600" dirty="0">
                        <a:solidFill>
                          <a:srgbClr val="00B05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b="1" u="sng" dirty="0">
                          <a:solidFill>
                            <a:srgbClr val="C00000"/>
                          </a:solidFill>
                          <a:effectLst/>
                        </a:rPr>
                        <a:t>大容量ファイルストレージに不向き（</a:t>
                      </a:r>
                      <a:r>
                        <a:rPr lang="en-US" altLang="ja-JP" sz="600" b="1" u="sng" dirty="0">
                          <a:solidFill>
                            <a:srgbClr val="C00000"/>
                          </a:solidFill>
                          <a:effectLst/>
                        </a:rPr>
                        <a:t>TOAST</a:t>
                      </a:r>
                      <a:r>
                        <a:rPr lang="ja-JP" altLang="en-US" sz="600" b="1" u="sng" dirty="0">
                          <a:solidFill>
                            <a:srgbClr val="C00000"/>
                          </a:solidFill>
                          <a:effectLst/>
                        </a:rPr>
                        <a:t>使用でパフォーマンス低下）</a:t>
                      </a:r>
                      <a:r>
                        <a:rPr lang="ja-JP" altLang="en-US" sz="600" u="sng" dirty="0">
                          <a:solidFill>
                            <a:srgbClr val="C00000"/>
                          </a:solidFill>
                          <a:effectLst/>
                        </a:rPr>
                        <a:t>。 </a:t>
                      </a:r>
                      <a:endParaRPr lang="en-US" altLang="ja-JP" sz="600" u="sng" dirty="0">
                        <a:solidFill>
                          <a:srgbClr val="C0000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dirty="0">
                          <a:solidFill>
                            <a:srgbClr val="C00000"/>
                          </a:solidFill>
                          <a:effectLst/>
                        </a:rPr>
                        <a:t>商用サポート別途必要。</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dirty="0">
                          <a:solidFill>
                            <a:srgbClr val="00B050"/>
                          </a:solidFill>
                          <a:effectLst/>
                        </a:rPr>
                        <a:t>ファイル中心のストレージでメタデータによる関係性管理。 </a:t>
                      </a:r>
                      <a:endParaRPr lang="en-US" altLang="ja-JP" sz="600" dirty="0">
                        <a:solidFill>
                          <a:srgbClr val="00B05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dirty="0">
                          <a:solidFill>
                            <a:srgbClr val="00B050"/>
                          </a:solidFill>
                          <a:effectLst/>
                        </a:rPr>
                        <a:t>強力な検索（</a:t>
                      </a:r>
                      <a:r>
                        <a:rPr lang="en-US" altLang="ja-JP" sz="600" dirty="0">
                          <a:solidFill>
                            <a:srgbClr val="00B050"/>
                          </a:solidFill>
                          <a:effectLst/>
                        </a:rPr>
                        <a:t>Microsoft Search</a:t>
                      </a:r>
                      <a:r>
                        <a:rPr lang="ja-JP" altLang="en-US" sz="600" dirty="0">
                          <a:solidFill>
                            <a:srgbClr val="00B050"/>
                          </a:solidFill>
                          <a:effectLst/>
                        </a:rPr>
                        <a:t>）でコンテンツ抽出優秀。 </a:t>
                      </a:r>
                      <a:endParaRPr lang="en-US" altLang="ja-JP" sz="600" dirty="0">
                        <a:solidFill>
                          <a:srgbClr val="00B05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dirty="0">
                          <a:solidFill>
                            <a:srgbClr val="00B050"/>
                          </a:solidFill>
                          <a:effectLst/>
                        </a:rPr>
                        <a:t>コラボレーション・バージョン管理がネイティブ。 </a:t>
                      </a:r>
                      <a:endParaRPr lang="en-US" altLang="ja-JP" sz="600" dirty="0">
                        <a:solidFill>
                          <a:srgbClr val="00B05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600" dirty="0">
                          <a:solidFill>
                            <a:srgbClr val="00B050"/>
                          </a:solidFill>
                          <a:effectLst/>
                        </a:rPr>
                        <a:t>M365</a:t>
                      </a:r>
                      <a:r>
                        <a:rPr lang="ja-JP" altLang="en-US" sz="600" dirty="0">
                          <a:solidFill>
                            <a:srgbClr val="00B050"/>
                          </a:solidFill>
                          <a:effectLst/>
                        </a:rPr>
                        <a:t>統合でユーザー友好。</a:t>
                      </a:r>
                    </a:p>
                    <a:p>
                      <a:endParaRPr lang="en-US" altLang="zh-CN" sz="600" dirty="0">
                        <a:solidFill>
                          <a:srgbClr val="FF0000"/>
                        </a:solidFill>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91555614"/>
                  </a:ext>
                </a:extLst>
              </a:tr>
              <a:tr h="503731">
                <a:tc rowSpan="5">
                  <a:txBody>
                    <a:bodyPr/>
                    <a:lstStyle/>
                    <a:p>
                      <a:pPr marL="0" algn="l" defTabSz="914400" rtl="0" eaLnBrk="1" latinLnBrk="0" hangingPunct="1"/>
                      <a:r>
                        <a:rPr lang="ja-JP" altLang="en-US" sz="700" b="1" kern="1200" dirty="0">
                          <a:solidFill>
                            <a:schemeClr val="dk1"/>
                          </a:solidFill>
                          <a:latin typeface="+mn-lt"/>
                          <a:ea typeface="+mn-ea"/>
                          <a:cs typeface="+mn-cs"/>
                        </a:rPr>
                        <a:t>ディリバリ</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ja-JP" altLang="en-US" sz="700" b="1" kern="1200" dirty="0">
                          <a:solidFill>
                            <a:schemeClr val="dk1"/>
                          </a:solidFill>
                          <a:latin typeface="+mn-lt"/>
                          <a:ea typeface="+mn-ea"/>
                          <a:cs typeface="+mn-cs"/>
                        </a:rPr>
                        <a:t>インフラ、環境構築</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ltLang="ja-JP" sz="600" kern="1200" dirty="0">
                          <a:solidFill>
                            <a:srgbClr val="C00000"/>
                          </a:solidFill>
                          <a:effectLst/>
                        </a:rPr>
                        <a:t>On-premises data gateway</a:t>
                      </a:r>
                      <a:r>
                        <a:rPr lang="ja-JP" altLang="de-DE" sz="600" kern="1200" dirty="0">
                          <a:solidFill>
                            <a:srgbClr val="C00000"/>
                          </a:solidFill>
                          <a:effectLst/>
                        </a:rPr>
                        <a:t>（</a:t>
                      </a:r>
                      <a:r>
                        <a:rPr lang="ja-JP" altLang="en-US" sz="600" kern="1200" dirty="0">
                          <a:solidFill>
                            <a:srgbClr val="C00000"/>
                          </a:solidFill>
                          <a:effectLst/>
                        </a:rPr>
                        <a:t>以下、</a:t>
                      </a:r>
                      <a:r>
                        <a:rPr lang="de-DE" altLang="ja-JP" sz="600" kern="1200" dirty="0">
                          <a:solidFill>
                            <a:srgbClr val="C00000"/>
                          </a:solidFill>
                          <a:effectLst/>
                        </a:rPr>
                        <a:t>Gateway</a:t>
                      </a:r>
                      <a:r>
                        <a:rPr lang="ja-JP" altLang="de-DE" sz="600" kern="1200" dirty="0">
                          <a:solidFill>
                            <a:srgbClr val="C00000"/>
                          </a:solidFill>
                          <a:effectLst/>
                        </a:rPr>
                        <a:t>）</a:t>
                      </a:r>
                      <a:r>
                        <a:rPr lang="ja-JP" altLang="en-US" sz="600" kern="1200" dirty="0">
                          <a:solidFill>
                            <a:srgbClr val="C00000"/>
                          </a:solidFill>
                          <a:effectLst/>
                        </a:rPr>
                        <a:t>のインストールが必要。</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600" kern="1200" dirty="0">
                          <a:solidFill>
                            <a:srgbClr val="C00000"/>
                          </a:solidFill>
                          <a:effectLst/>
                        </a:rPr>
                        <a:t>作業量高：サーバー</a:t>
                      </a:r>
                      <a:r>
                        <a:rPr lang="en-US" altLang="ja-JP" sz="600" kern="1200" dirty="0">
                          <a:solidFill>
                            <a:srgbClr val="C00000"/>
                          </a:solidFill>
                          <a:effectLst/>
                        </a:rPr>
                        <a:t>OS</a:t>
                      </a:r>
                      <a:r>
                        <a:rPr lang="ja-JP" altLang="en-US" sz="600" kern="1200" dirty="0">
                          <a:solidFill>
                            <a:srgbClr val="C00000"/>
                          </a:solidFill>
                          <a:effectLst/>
                        </a:rPr>
                        <a:t>インストール、</a:t>
                      </a:r>
                      <a:r>
                        <a:rPr lang="en-US" altLang="ja-JP" sz="600" kern="1200" dirty="0">
                          <a:solidFill>
                            <a:srgbClr val="C00000"/>
                          </a:solidFill>
                          <a:effectLst/>
                        </a:rPr>
                        <a:t>DB</a:t>
                      </a:r>
                      <a:r>
                        <a:rPr lang="ja-JP" altLang="en-US" sz="600" kern="1200" dirty="0">
                          <a:solidFill>
                            <a:srgbClr val="C00000"/>
                          </a:solidFill>
                          <a:effectLst/>
                        </a:rPr>
                        <a:t>セットアップ、セキュリティ設定、バックアップ構成が必要。デバッグでツール（</a:t>
                      </a:r>
                      <a:r>
                        <a:rPr lang="en-US" altLang="ja-JP" sz="600" kern="1200" dirty="0">
                          <a:solidFill>
                            <a:srgbClr val="C00000"/>
                          </a:solidFill>
                          <a:effectLst/>
                        </a:rPr>
                        <a:t>SSMS</a:t>
                      </a:r>
                      <a:r>
                        <a:rPr lang="ja-JP" altLang="en-US" sz="600" kern="1200" dirty="0">
                          <a:solidFill>
                            <a:srgbClr val="C00000"/>
                          </a:solidFill>
                          <a:effectLst/>
                        </a:rPr>
                        <a:t>）導入、テストがすべて必要。</a:t>
                      </a:r>
                      <a:endParaRPr lang="en-US" altLang="ja-JP" sz="600" kern="1200" dirty="0">
                        <a:solidFill>
                          <a:srgbClr val="C0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600" dirty="0">
                          <a:solidFill>
                            <a:srgbClr val="00B050"/>
                          </a:solidFill>
                          <a:effectLst/>
                        </a:rPr>
                        <a:t>作業量低：</a:t>
                      </a:r>
                      <a:r>
                        <a:rPr lang="en-US" altLang="ja-JP" sz="600" dirty="0">
                          <a:solidFill>
                            <a:srgbClr val="00B050"/>
                          </a:solidFill>
                          <a:effectLst/>
                        </a:rPr>
                        <a:t>Azure</a:t>
                      </a:r>
                      <a:r>
                        <a:rPr lang="ja-JP" altLang="en-US" sz="600" dirty="0">
                          <a:solidFill>
                            <a:srgbClr val="00B050"/>
                          </a:solidFill>
                          <a:effectLst/>
                        </a:rPr>
                        <a:t>ポータルで数分でデプロイ。</a:t>
                      </a:r>
                      <a:endParaRPr lang="en-US" altLang="ja-JP" sz="600" dirty="0">
                        <a:solidFill>
                          <a:srgbClr val="00B050"/>
                        </a:solidFill>
                        <a:effectLst/>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600" dirty="0">
                          <a:solidFill>
                            <a:srgbClr val="00B050"/>
                          </a:solidFill>
                          <a:effectLst/>
                        </a:rPr>
                        <a:t>デバッグは</a:t>
                      </a:r>
                      <a:r>
                        <a:rPr lang="en-US" altLang="ja-JP" sz="600" dirty="0">
                          <a:solidFill>
                            <a:srgbClr val="00B050"/>
                          </a:solidFill>
                          <a:effectLst/>
                        </a:rPr>
                        <a:t>Azure</a:t>
                      </a:r>
                      <a:r>
                        <a:rPr lang="ja-JP" altLang="en-US" sz="600" dirty="0">
                          <a:solidFill>
                            <a:srgbClr val="00B050"/>
                          </a:solidFill>
                          <a:effectLst/>
                        </a:rPr>
                        <a:t>ツールで即時、学習曲線短め（数時間）。</a:t>
                      </a:r>
                      <a:endParaRPr lang="en-US" altLang="ja-JP" sz="6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ja-JP" altLang="en-US" sz="600" dirty="0">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600" dirty="0">
                          <a:solidFill>
                            <a:srgbClr val="00B050"/>
                          </a:solidFill>
                          <a:effectLst/>
                        </a:rPr>
                        <a:t>作業量低：</a:t>
                      </a:r>
                      <a:r>
                        <a:rPr lang="en-US" altLang="ja-JP" sz="600" dirty="0">
                          <a:solidFill>
                            <a:srgbClr val="00B050"/>
                          </a:solidFill>
                          <a:effectLst/>
                        </a:rPr>
                        <a:t>Microsoft 365</a:t>
                      </a:r>
                      <a:r>
                        <a:rPr lang="ja-JP" altLang="en-US" sz="600" dirty="0">
                          <a:solidFill>
                            <a:srgbClr val="00B050"/>
                          </a:solidFill>
                          <a:effectLst/>
                        </a:rPr>
                        <a:t>統合で即時セットアップ。デバッグは</a:t>
                      </a:r>
                      <a:r>
                        <a:rPr lang="en-US" altLang="ja-JP" sz="600" dirty="0">
                          <a:solidFill>
                            <a:srgbClr val="00B050"/>
                          </a:solidFill>
                          <a:effectLst/>
                        </a:rPr>
                        <a:t>Power Platform</a:t>
                      </a:r>
                      <a:r>
                        <a:rPr lang="ja-JP" altLang="en-US" sz="600" dirty="0">
                          <a:solidFill>
                            <a:srgbClr val="00B050"/>
                          </a:solidFill>
                          <a:effectLst/>
                        </a:rPr>
                        <a:t>ツールで簡単</a:t>
                      </a:r>
                      <a:endParaRPr lang="en-US" altLang="ja-JP" sz="600" dirty="0">
                        <a:solidFill>
                          <a:srgbClr val="00B050"/>
                        </a:solidFill>
                        <a:effectLst/>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600" dirty="0">
                          <a:solidFill>
                            <a:srgbClr val="00B050"/>
                          </a:solidFill>
                          <a:effectLst/>
                        </a:rPr>
                        <a:t>弊社実績があり、</a:t>
                      </a:r>
                    </a:p>
                    <a:p>
                      <a:pPr marL="0" indent="0">
                        <a:buFont typeface="Arial" panose="020B0604020202020204" pitchFamily="34" charset="0"/>
                        <a:buNone/>
                      </a:pPr>
                      <a:endParaRPr lang="en-US" altLang="ja-JP" sz="600" dirty="0">
                        <a:solidFill>
                          <a:srgbClr val="FF0000"/>
                        </a:solidFill>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600" dirty="0">
                          <a:solidFill>
                            <a:srgbClr val="C00000"/>
                          </a:solidFill>
                          <a:effectLst/>
                        </a:rPr>
                        <a:t>作業量中：インストール（</a:t>
                      </a:r>
                      <a:r>
                        <a:rPr lang="en-US" altLang="ja-JP" sz="600" dirty="0">
                          <a:solidFill>
                            <a:srgbClr val="C00000"/>
                          </a:solidFill>
                          <a:effectLst/>
                        </a:rPr>
                        <a:t>Docker</a:t>
                      </a:r>
                      <a:r>
                        <a:rPr lang="ja-JP" altLang="en-US" sz="600" dirty="0">
                          <a:solidFill>
                            <a:srgbClr val="C00000"/>
                          </a:solidFill>
                          <a:effectLst/>
                        </a:rPr>
                        <a:t>推奨）、構成（インデックス</a:t>
                      </a:r>
                      <a:r>
                        <a:rPr lang="en-US" altLang="ja-JP" sz="600" dirty="0">
                          <a:solidFill>
                            <a:srgbClr val="C00000"/>
                          </a:solidFill>
                          <a:effectLst/>
                        </a:rPr>
                        <a:t>/</a:t>
                      </a:r>
                      <a:r>
                        <a:rPr lang="ja-JP" altLang="en-US" sz="600" dirty="0">
                          <a:solidFill>
                            <a:srgbClr val="C00000"/>
                          </a:solidFill>
                          <a:effectLst/>
                        </a:rPr>
                        <a:t>検索設定）で複難。</a:t>
                      </a:r>
                      <a:endParaRPr lang="en-US" altLang="ja-JP" sz="600" dirty="0">
                        <a:solidFill>
                          <a:srgbClr val="C00000"/>
                        </a:solidFill>
                        <a:effectLst/>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600" dirty="0">
                          <a:solidFill>
                            <a:srgbClr val="C00000"/>
                          </a:solidFill>
                          <a:effectLst/>
                        </a:rPr>
                        <a:t>デバッグツール（</a:t>
                      </a:r>
                      <a:r>
                        <a:rPr lang="en-US" altLang="ja-JP" sz="600" dirty="0" err="1">
                          <a:solidFill>
                            <a:srgbClr val="C00000"/>
                          </a:solidFill>
                          <a:effectLst/>
                        </a:rPr>
                        <a:t>pgAdmin</a:t>
                      </a:r>
                      <a:r>
                        <a:rPr lang="ja-JP" altLang="en-US" sz="600" dirty="0">
                          <a:solidFill>
                            <a:srgbClr val="C00000"/>
                          </a:solidFill>
                          <a:effectLst/>
                        </a:rPr>
                        <a:t>）で中程度。</a:t>
                      </a:r>
                      <a:endParaRPr lang="en-US" altLang="ja-JP" sz="600" dirty="0">
                        <a:solidFill>
                          <a:srgbClr val="C00000"/>
                        </a:solidFill>
                        <a:effectLst/>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altLang="ja-JP" sz="600" dirty="0">
                        <a:solidFill>
                          <a:srgbClr val="C0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indent="0">
                        <a:buFont typeface="Arial" panose="020B0604020202020204" pitchFamily="34" charset="0"/>
                        <a:buNone/>
                      </a:pPr>
                      <a:r>
                        <a:rPr lang="ja-JP" altLang="en-US" sz="600" dirty="0">
                          <a:effectLst/>
                        </a:rPr>
                        <a:t>下記以外に個別環境構築不要</a:t>
                      </a:r>
                      <a:endParaRPr lang="en-US" altLang="ja-JP" sz="600" dirty="0">
                        <a:effectLst/>
                      </a:endParaRPr>
                    </a:p>
                    <a:p>
                      <a:pPr marL="0" indent="0">
                        <a:buFont typeface="Arial" panose="020B0604020202020204" pitchFamily="34" charset="0"/>
                        <a:buNone/>
                      </a:pPr>
                      <a:r>
                        <a:rPr lang="en-US" altLang="ja-JP" sz="600" dirty="0">
                          <a:effectLst/>
                        </a:rPr>
                        <a:t>Microsoft Search</a:t>
                      </a:r>
                      <a:r>
                        <a:rPr lang="ja-JP" altLang="en-US" sz="600" dirty="0">
                          <a:effectLst/>
                        </a:rPr>
                        <a:t>の実現には、</a:t>
                      </a:r>
                      <a:endParaRPr lang="en-US" altLang="ja-JP" sz="600" dirty="0">
                        <a:effectLst/>
                      </a:endParaRPr>
                    </a:p>
                    <a:p>
                      <a:pPr marL="228600" indent="-228600">
                        <a:buFont typeface="+mj-lt"/>
                        <a:buAutoNum type="arabicPeriod"/>
                      </a:pPr>
                      <a:r>
                        <a:rPr lang="en-US" altLang="ja-JP" sz="600" dirty="0">
                          <a:solidFill>
                            <a:srgbClr val="C00000"/>
                          </a:solidFill>
                        </a:rPr>
                        <a:t>Azure AD</a:t>
                      </a:r>
                      <a:r>
                        <a:rPr lang="ja-JP" altLang="en-US" sz="600" dirty="0">
                          <a:solidFill>
                            <a:srgbClr val="C00000"/>
                          </a:solidFill>
                        </a:rPr>
                        <a:t>に事前の</a:t>
                      </a:r>
                      <a:r>
                        <a:rPr lang="en-US" altLang="ja-JP" sz="600" dirty="0">
                          <a:solidFill>
                            <a:srgbClr val="C00000"/>
                          </a:solidFill>
                        </a:rPr>
                        <a:t>App</a:t>
                      </a:r>
                      <a:r>
                        <a:rPr lang="ja-JP" altLang="en-US" sz="600" dirty="0">
                          <a:solidFill>
                            <a:srgbClr val="C00000"/>
                          </a:solidFill>
                        </a:rPr>
                        <a:t>登録が必須</a:t>
                      </a:r>
                      <a:endParaRPr lang="en-US" altLang="ja-JP" sz="600" dirty="0">
                        <a:solidFill>
                          <a:srgbClr val="C00000"/>
                        </a:solidFill>
                      </a:endParaRPr>
                    </a:p>
                    <a:p>
                      <a:pPr marL="228600" indent="-228600">
                        <a:buFont typeface="+mj-lt"/>
                        <a:buAutoNum type="arabicPeriod"/>
                      </a:pPr>
                      <a:r>
                        <a:rPr lang="en-US" altLang="zh-CN" sz="600" dirty="0" err="1">
                          <a:solidFill>
                            <a:srgbClr val="C00000"/>
                          </a:solidFill>
                        </a:rPr>
                        <a:t>GraphAPI</a:t>
                      </a:r>
                      <a:r>
                        <a:rPr lang="ja-JP" altLang="en-US" sz="600" dirty="0">
                          <a:solidFill>
                            <a:srgbClr val="C00000"/>
                          </a:solidFill>
                        </a:rPr>
                        <a:t>コールが必要</a:t>
                      </a:r>
                      <a:endParaRPr lang="en-US" altLang="ja-JP" sz="600" dirty="0">
                        <a:solidFill>
                          <a:srgbClr val="C00000"/>
                        </a:solidFill>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669198767"/>
                  </a:ext>
                </a:extLst>
              </a:tr>
              <a:tr h="343986">
                <a:tc vMerge="1">
                  <a:txBody>
                    <a:bodyPr/>
                    <a:lstStyle/>
                    <a:p>
                      <a:endParaRPr lang="ja-JP" altLang="en-US" sz="70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kern="1200" dirty="0">
                          <a:solidFill>
                            <a:schemeClr val="dk1"/>
                          </a:solidFill>
                          <a:latin typeface="+mn-lt"/>
                          <a:ea typeface="+mn-ea"/>
                          <a:cs typeface="+mn-cs"/>
                        </a:rPr>
                        <a:t>業務ロジックの実装</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gridSpan="2">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600" kern="1200" dirty="0">
                          <a:solidFill>
                            <a:srgbClr val="00B050"/>
                          </a:solidFill>
                          <a:effectLst/>
                        </a:rPr>
                        <a:t>強力なリレーショナル機能（</a:t>
                      </a:r>
                      <a:r>
                        <a:rPr lang="en-US" altLang="ja-JP" sz="600" kern="1200" dirty="0">
                          <a:solidFill>
                            <a:srgbClr val="00B050"/>
                          </a:solidFill>
                          <a:effectLst/>
                        </a:rPr>
                        <a:t>FILESTREAM</a:t>
                      </a:r>
                      <a:r>
                        <a:rPr lang="ja-JP" altLang="en-US" sz="600" kern="1200" dirty="0">
                          <a:solidFill>
                            <a:srgbClr val="00B050"/>
                          </a:solidFill>
                          <a:effectLst/>
                        </a:rPr>
                        <a:t>でファイルストレージ対応）。 </a:t>
                      </a:r>
                      <a:endParaRPr lang="en-US" altLang="ja-JP" sz="600" kern="1200" dirty="0">
                        <a:solidFill>
                          <a:srgbClr val="00B05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ja-JP" altLang="en-US" sz="600" dirty="0">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600" kern="1200" dirty="0">
                          <a:solidFill>
                            <a:srgbClr val="00B050"/>
                          </a:solidFill>
                          <a:effectLst/>
                        </a:rPr>
                        <a:t>低コードでリレーショナルモデル構築容易（テーブル間関係）。 </a:t>
                      </a:r>
                      <a:endParaRPr lang="en-US" altLang="ja-JP" sz="600" kern="1200" dirty="0">
                        <a:solidFill>
                          <a:srgbClr val="00B050"/>
                        </a:solidFill>
                        <a:effectLst/>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ja-JP" sz="600" kern="1200" dirty="0">
                          <a:solidFill>
                            <a:srgbClr val="C00000"/>
                          </a:solidFill>
                          <a:effectLst/>
                          <a:latin typeface="+mn-lt"/>
                          <a:ea typeface="+mn-ea"/>
                          <a:cs typeface="+mn-cs"/>
                        </a:rPr>
                        <a:t>SharePoint</a:t>
                      </a:r>
                      <a:r>
                        <a:rPr lang="ja-JP" altLang="en-US" sz="600" kern="1200" dirty="0">
                          <a:solidFill>
                            <a:srgbClr val="C00000"/>
                          </a:solidFill>
                          <a:effectLst/>
                          <a:latin typeface="+mn-lt"/>
                          <a:ea typeface="+mn-ea"/>
                          <a:cs typeface="+mn-cs"/>
                        </a:rPr>
                        <a:t>リストよりスケールするが、</a:t>
                      </a:r>
                      <a:r>
                        <a:rPr lang="en-US" altLang="ja-JP" sz="600" kern="1200" dirty="0">
                          <a:solidFill>
                            <a:srgbClr val="C00000"/>
                          </a:solidFill>
                          <a:effectLst/>
                          <a:latin typeface="+mn-lt"/>
                          <a:ea typeface="+mn-ea"/>
                          <a:cs typeface="+mn-cs"/>
                        </a:rPr>
                        <a:t>SQL</a:t>
                      </a:r>
                      <a:r>
                        <a:rPr lang="ja-JP" altLang="en-US" sz="600" kern="1200" dirty="0">
                          <a:solidFill>
                            <a:srgbClr val="C00000"/>
                          </a:solidFill>
                          <a:effectLst/>
                          <a:latin typeface="+mn-lt"/>
                          <a:ea typeface="+mn-ea"/>
                          <a:cs typeface="+mn-cs"/>
                        </a:rPr>
                        <a:t>ほど柔軟でない。</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600" dirty="0">
                          <a:solidFill>
                            <a:srgbClr val="00B050"/>
                          </a:solidFill>
                          <a:effectLst/>
                        </a:rPr>
                        <a:t>無料で</a:t>
                      </a:r>
                      <a:r>
                        <a:rPr lang="ja-JP" altLang="en-US" sz="600" kern="1200" dirty="0">
                          <a:solidFill>
                            <a:srgbClr val="00B050"/>
                          </a:solidFill>
                          <a:effectLst/>
                        </a:rPr>
                        <a:t>強力な</a:t>
                      </a:r>
                      <a:r>
                        <a:rPr lang="ja-JP" altLang="en-US" sz="600" dirty="0">
                          <a:solidFill>
                            <a:srgbClr val="00B050"/>
                          </a:solidFill>
                          <a:effectLst/>
                        </a:rPr>
                        <a:t>フルリレーショナル（</a:t>
                      </a:r>
                      <a:r>
                        <a:rPr lang="en-US" altLang="ja-JP" sz="600" dirty="0">
                          <a:solidFill>
                            <a:srgbClr val="00B050"/>
                          </a:solidFill>
                          <a:effectLst/>
                        </a:rPr>
                        <a:t>JSON</a:t>
                      </a:r>
                      <a:r>
                        <a:rPr lang="ja-JP" altLang="en-US" sz="600" dirty="0">
                          <a:solidFill>
                            <a:srgbClr val="00B050"/>
                          </a:solidFill>
                          <a:effectLst/>
                        </a:rPr>
                        <a:t>サポートで柔軟）。 </a:t>
                      </a:r>
                      <a:endParaRPr lang="en-US" altLang="ja-JP" sz="600" dirty="0">
                        <a:solidFill>
                          <a:srgbClr val="00B05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indent="0" algn="l" defTabSz="914400" rtl="0" eaLnBrk="1" latinLnBrk="0" hangingPunct="1">
                        <a:buFont typeface="Arial" panose="020B0604020202020204" pitchFamily="34" charset="0"/>
                        <a:buNone/>
                      </a:pPr>
                      <a:r>
                        <a:rPr lang="en-US" altLang="ja-JP" sz="600" kern="1200" dirty="0">
                          <a:solidFill>
                            <a:schemeClr val="tx1"/>
                          </a:solidFill>
                          <a:effectLst/>
                          <a:latin typeface="+mn-lt"/>
                          <a:ea typeface="+mn-ea"/>
                          <a:cs typeface="+mn-cs"/>
                        </a:rPr>
                        <a:t>N/A</a:t>
                      </a:r>
                      <a:r>
                        <a:rPr lang="ja-JP" altLang="en-US" sz="600" kern="1200" dirty="0">
                          <a:solidFill>
                            <a:schemeClr val="tx1"/>
                          </a:solidFill>
                          <a:effectLst/>
                          <a:latin typeface="+mn-lt"/>
                          <a:ea typeface="+mn-ea"/>
                          <a:cs typeface="+mn-cs"/>
                        </a:rPr>
                        <a:t>（定型データは</a:t>
                      </a:r>
                      <a:r>
                        <a:rPr lang="en-US" altLang="ja-JP" sz="600" kern="1200" dirty="0">
                          <a:solidFill>
                            <a:schemeClr val="tx1"/>
                          </a:solidFill>
                          <a:effectLst/>
                          <a:latin typeface="+mn-lt"/>
                          <a:ea typeface="+mn-ea"/>
                          <a:cs typeface="+mn-cs"/>
                        </a:rPr>
                        <a:t>SPO</a:t>
                      </a:r>
                      <a:r>
                        <a:rPr lang="ja-JP" altLang="en-US" sz="600" kern="1200" dirty="0">
                          <a:solidFill>
                            <a:schemeClr val="tx1"/>
                          </a:solidFill>
                          <a:effectLst/>
                          <a:latin typeface="+mn-lt"/>
                          <a:ea typeface="+mn-ea"/>
                          <a:cs typeface="+mn-cs"/>
                        </a:rPr>
                        <a:t>で管理しない）</a:t>
                      </a:r>
                      <a:endParaRPr lang="en-US" altLang="ja-JP" sz="600" kern="1200" dirty="0">
                        <a:solidFill>
                          <a:schemeClr val="tx1"/>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549740188"/>
                  </a:ext>
                </a:extLst>
              </a:tr>
              <a:tr h="343986">
                <a:tc vMerge="1">
                  <a:txBody>
                    <a:bodyPr/>
                    <a:lstStyle/>
                    <a:p>
                      <a:endParaRPr kumimoji="1" lang="ja-JP" altLang="en-US"/>
                    </a:p>
                  </a:txBody>
                  <a:tcPr/>
                </a:tc>
                <a:tc>
                  <a:txBody>
                    <a:bodyPr/>
                    <a:lstStyle/>
                    <a:p>
                      <a:r>
                        <a:rPr lang="ja-JP" altLang="en-US" sz="700" b="1" kern="1200" dirty="0">
                          <a:solidFill>
                            <a:schemeClr val="dk1"/>
                          </a:solidFill>
                          <a:latin typeface="+mn-lt"/>
                          <a:ea typeface="+mn-ea"/>
                          <a:cs typeface="+mn-cs"/>
                        </a:rPr>
                        <a:t>検索機能</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600" kern="1200" dirty="0">
                          <a:solidFill>
                            <a:srgbClr val="00B050"/>
                          </a:solidFill>
                          <a:effectLst/>
                          <a:latin typeface="+mn-lt"/>
                          <a:ea typeface="+mn-ea"/>
                          <a:cs typeface="+mn-cs"/>
                        </a:rPr>
                        <a:t>定型データの検索は</a:t>
                      </a:r>
                      <a:r>
                        <a:rPr lang="en-US" altLang="ja-JP" sz="600" kern="1200" dirty="0">
                          <a:solidFill>
                            <a:srgbClr val="00B050"/>
                          </a:solidFill>
                          <a:effectLst/>
                          <a:latin typeface="+mn-lt"/>
                          <a:ea typeface="+mn-ea"/>
                          <a:cs typeface="+mn-cs"/>
                        </a:rPr>
                        <a:t>SQL</a:t>
                      </a:r>
                      <a:r>
                        <a:rPr lang="ja-JP" altLang="en-US" sz="600" kern="1200" dirty="0">
                          <a:solidFill>
                            <a:srgbClr val="00B050"/>
                          </a:solidFill>
                          <a:effectLst/>
                          <a:latin typeface="+mn-lt"/>
                          <a:ea typeface="+mn-ea"/>
                          <a:cs typeface="+mn-cs"/>
                        </a:rPr>
                        <a:t>で容易</a:t>
                      </a:r>
                      <a:endParaRPr lang="en-US" altLang="ja-JP" sz="600" kern="1200" dirty="0">
                        <a:solidFill>
                          <a:srgbClr val="00B050"/>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600" kern="1200" dirty="0">
                          <a:solidFill>
                            <a:srgbClr val="00B050"/>
                          </a:solidFill>
                          <a:effectLst/>
                          <a:latin typeface="+mn-lt"/>
                          <a:ea typeface="+mn-ea"/>
                          <a:cs typeface="+mn-cs"/>
                        </a:rPr>
                        <a:t>添付ファイル検索は</a:t>
                      </a:r>
                      <a:r>
                        <a:rPr lang="de-DE" altLang="ja-JP" sz="600" dirty="0">
                          <a:solidFill>
                            <a:srgbClr val="00B050"/>
                          </a:solidFill>
                        </a:rPr>
                        <a:t>Full-Text Search</a:t>
                      </a:r>
                      <a:r>
                        <a:rPr lang="ja-JP" altLang="en-US" sz="600" dirty="0">
                          <a:solidFill>
                            <a:srgbClr val="00B050"/>
                          </a:solidFill>
                        </a:rPr>
                        <a:t>機能で容易</a:t>
                      </a:r>
                      <a:endParaRPr lang="en-US" altLang="ja-JP" sz="600" dirty="0">
                        <a:solidFill>
                          <a:srgbClr val="00B050"/>
                        </a:solidFill>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600" dirty="0">
                          <a:solidFill>
                            <a:srgbClr val="00B050"/>
                          </a:solidFill>
                          <a:effectLst/>
                        </a:rPr>
                        <a:t>サードパーティ</a:t>
                      </a:r>
                      <a:r>
                        <a:rPr lang="en-US" altLang="ja-JP" sz="600" dirty="0" err="1">
                          <a:solidFill>
                            <a:srgbClr val="00B050"/>
                          </a:solidFill>
                          <a:effectLst/>
                        </a:rPr>
                        <a:t>IFilter</a:t>
                      </a:r>
                      <a:r>
                        <a:rPr lang="ja-JP" altLang="en-US" sz="600" dirty="0">
                          <a:solidFill>
                            <a:srgbClr val="00B050"/>
                          </a:solidFill>
                          <a:effectLst/>
                        </a:rPr>
                        <a:t>やカスタム拡張で柔軟性が高い</a:t>
                      </a:r>
                      <a:endParaRPr lang="ja-JP" altLang="en-US" sz="600" kern="1200" dirty="0">
                        <a:solidFill>
                          <a:srgbClr val="00B05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600" kern="1200" dirty="0">
                          <a:solidFill>
                            <a:srgbClr val="00B050"/>
                          </a:solidFill>
                          <a:effectLst/>
                          <a:latin typeface="+mn-lt"/>
                          <a:ea typeface="+mn-ea"/>
                          <a:cs typeface="+mn-cs"/>
                        </a:rPr>
                        <a:t>定型データの検索は</a:t>
                      </a:r>
                      <a:r>
                        <a:rPr lang="en-US" altLang="ja-JP" sz="600" kern="1200" dirty="0">
                          <a:solidFill>
                            <a:srgbClr val="00B050"/>
                          </a:solidFill>
                          <a:effectLst/>
                          <a:latin typeface="+mn-lt"/>
                          <a:ea typeface="+mn-ea"/>
                          <a:cs typeface="+mn-cs"/>
                        </a:rPr>
                        <a:t>SQL</a:t>
                      </a:r>
                      <a:r>
                        <a:rPr lang="ja-JP" altLang="en-US" sz="600" kern="1200" dirty="0">
                          <a:solidFill>
                            <a:srgbClr val="00B050"/>
                          </a:solidFill>
                          <a:effectLst/>
                          <a:latin typeface="+mn-lt"/>
                          <a:ea typeface="+mn-ea"/>
                          <a:cs typeface="+mn-cs"/>
                        </a:rPr>
                        <a:t>で容易</a:t>
                      </a:r>
                      <a:endParaRPr lang="en-US" altLang="ja-JP" sz="600" kern="1200" dirty="0">
                        <a:solidFill>
                          <a:srgbClr val="00B050"/>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600" kern="1200" dirty="0">
                          <a:solidFill>
                            <a:srgbClr val="00B050"/>
                          </a:solidFill>
                          <a:effectLst/>
                          <a:latin typeface="+mn-lt"/>
                          <a:ea typeface="+mn-ea"/>
                          <a:cs typeface="+mn-cs"/>
                        </a:rPr>
                        <a:t>添付ファイル検索は</a:t>
                      </a:r>
                      <a:r>
                        <a:rPr lang="de-DE" altLang="ja-JP" sz="600" dirty="0">
                          <a:solidFill>
                            <a:srgbClr val="00B050"/>
                          </a:solidFill>
                        </a:rPr>
                        <a:t>Full-Text Search</a:t>
                      </a:r>
                      <a:r>
                        <a:rPr lang="ja-JP" altLang="en-US" sz="600" dirty="0">
                          <a:solidFill>
                            <a:srgbClr val="00B050"/>
                          </a:solidFill>
                        </a:rPr>
                        <a:t>機能で容易、</a:t>
                      </a:r>
                      <a:r>
                        <a:rPr lang="ja-JP" altLang="en-US" sz="600" dirty="0">
                          <a:solidFill>
                            <a:srgbClr val="C00000"/>
                          </a:solidFill>
                          <a:effectLst/>
                        </a:rPr>
                        <a:t>カスタマイズ性に欠ける</a:t>
                      </a:r>
                      <a:endParaRPr lang="en-US" altLang="ja-JP" sz="600" dirty="0">
                        <a:solidFill>
                          <a:srgbClr val="00B050"/>
                        </a:solidFill>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600" kern="1200" dirty="0">
                          <a:solidFill>
                            <a:srgbClr val="00B050"/>
                          </a:solidFill>
                          <a:effectLst/>
                          <a:latin typeface="+mn-lt"/>
                          <a:ea typeface="+mn-ea"/>
                          <a:cs typeface="+mn-cs"/>
                        </a:rPr>
                        <a:t>定型データの検索は</a:t>
                      </a:r>
                      <a:r>
                        <a:rPr lang="en-US" altLang="ja-JP" sz="600" kern="1200" dirty="0">
                          <a:solidFill>
                            <a:srgbClr val="00B050"/>
                          </a:solidFill>
                          <a:effectLst/>
                          <a:latin typeface="+mn-lt"/>
                          <a:ea typeface="+mn-ea"/>
                          <a:cs typeface="+mn-cs"/>
                        </a:rPr>
                        <a:t>Filter</a:t>
                      </a:r>
                      <a:r>
                        <a:rPr lang="ja-JP" altLang="en-US" sz="600" kern="1200" dirty="0">
                          <a:solidFill>
                            <a:srgbClr val="00B050"/>
                          </a:solidFill>
                          <a:effectLst/>
                          <a:latin typeface="+mn-lt"/>
                          <a:ea typeface="+mn-ea"/>
                          <a:cs typeface="+mn-cs"/>
                        </a:rPr>
                        <a:t>機能で容易</a:t>
                      </a:r>
                      <a:endParaRPr lang="en-US" altLang="ja-JP" sz="600" kern="1200" dirty="0">
                        <a:solidFill>
                          <a:srgbClr val="00B050"/>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600" kern="1200" dirty="0">
                          <a:solidFill>
                            <a:srgbClr val="00B050"/>
                          </a:solidFill>
                          <a:effectLst/>
                        </a:rPr>
                        <a:t>ファイル添付と</a:t>
                      </a:r>
                      <a:r>
                        <a:rPr lang="en-US" altLang="ja-JP" sz="600" kern="1200" dirty="0">
                          <a:solidFill>
                            <a:srgbClr val="00B050"/>
                          </a:solidFill>
                          <a:effectLst/>
                        </a:rPr>
                        <a:t>AI</a:t>
                      </a:r>
                      <a:r>
                        <a:rPr lang="ja-JP" altLang="en-US" sz="600" kern="1200" dirty="0">
                          <a:solidFill>
                            <a:srgbClr val="00B050"/>
                          </a:solidFill>
                          <a:effectLst/>
                        </a:rPr>
                        <a:t>駆動検索（</a:t>
                      </a:r>
                      <a:r>
                        <a:rPr lang="en-US" altLang="ja-JP" sz="600" kern="1200" dirty="0">
                          <a:solidFill>
                            <a:srgbClr val="00B050"/>
                          </a:solidFill>
                          <a:effectLst/>
                        </a:rPr>
                        <a:t>Dataverse Search</a:t>
                      </a:r>
                      <a:r>
                        <a:rPr lang="ja-JP" altLang="en-US" sz="600" kern="1200" dirty="0">
                          <a:solidFill>
                            <a:srgbClr val="00B050"/>
                          </a:solidFill>
                          <a:effectLst/>
                        </a:rPr>
                        <a:t>）が強み。 </a:t>
                      </a:r>
                      <a:endParaRPr lang="en-US" altLang="ja-JP" sz="600" kern="1200" dirty="0">
                        <a:solidFill>
                          <a:srgbClr val="00B050"/>
                        </a:solidFill>
                        <a:effectLst/>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ja-JP" sz="600" kern="1200" dirty="0">
                          <a:solidFill>
                            <a:srgbClr val="C00000"/>
                          </a:solidFill>
                          <a:effectLst/>
                        </a:rPr>
                        <a:t>Power Apps</a:t>
                      </a:r>
                      <a:r>
                        <a:rPr lang="ja-JP" altLang="en-US" sz="600" kern="1200" dirty="0">
                          <a:solidFill>
                            <a:srgbClr val="C00000"/>
                          </a:solidFill>
                          <a:effectLst/>
                        </a:rPr>
                        <a:t>の</a:t>
                      </a:r>
                      <a:r>
                        <a:rPr lang="en-US" altLang="ja-JP" sz="600" kern="1200" dirty="0">
                          <a:solidFill>
                            <a:srgbClr val="C00000"/>
                          </a:solidFill>
                          <a:effectLst/>
                        </a:rPr>
                        <a:t>Delegation</a:t>
                      </a:r>
                      <a:r>
                        <a:rPr lang="ja-JP" altLang="en-US" sz="600" kern="1200" dirty="0">
                          <a:solidFill>
                            <a:srgbClr val="C00000"/>
                          </a:solidFill>
                          <a:effectLst/>
                        </a:rPr>
                        <a:t>機能に制限あり（</a:t>
                      </a:r>
                      <a:r>
                        <a:rPr lang="en-US" altLang="ja-JP" sz="600" kern="1200" dirty="0">
                          <a:solidFill>
                            <a:srgbClr val="C00000"/>
                          </a:solidFill>
                          <a:effectLst/>
                        </a:rPr>
                        <a:t>MAX 2000</a:t>
                      </a:r>
                      <a:r>
                        <a:rPr lang="ja-JP" altLang="en-US" sz="600" kern="1200" dirty="0">
                          <a:solidFill>
                            <a:srgbClr val="C00000"/>
                          </a:solidFill>
                          <a:effectLst/>
                        </a:rPr>
                        <a:t>件</a:t>
                      </a:r>
                      <a:r>
                        <a:rPr lang="en-US" altLang="ja-JP" sz="600" kern="1200" dirty="0">
                          <a:solidFill>
                            <a:srgbClr val="C00000"/>
                          </a:solidFill>
                          <a:effectLst/>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600" kern="1200" dirty="0">
                          <a:solidFill>
                            <a:srgbClr val="00B050"/>
                          </a:solidFill>
                          <a:effectLst/>
                          <a:latin typeface="+mn-lt"/>
                          <a:ea typeface="+mn-ea"/>
                          <a:cs typeface="+mn-cs"/>
                        </a:rPr>
                        <a:t>定型データの検索は</a:t>
                      </a:r>
                      <a:r>
                        <a:rPr lang="en-US" altLang="ja-JP" sz="600" kern="1200" dirty="0">
                          <a:solidFill>
                            <a:srgbClr val="00B050"/>
                          </a:solidFill>
                          <a:effectLst/>
                          <a:latin typeface="+mn-lt"/>
                          <a:ea typeface="+mn-ea"/>
                          <a:cs typeface="+mn-cs"/>
                        </a:rPr>
                        <a:t>Filter</a:t>
                      </a:r>
                      <a:r>
                        <a:rPr lang="ja-JP" altLang="en-US" sz="600" kern="1200" dirty="0">
                          <a:solidFill>
                            <a:srgbClr val="00B050"/>
                          </a:solidFill>
                          <a:effectLst/>
                          <a:latin typeface="+mn-lt"/>
                          <a:ea typeface="+mn-ea"/>
                          <a:cs typeface="+mn-cs"/>
                        </a:rPr>
                        <a:t>機能で容易</a:t>
                      </a:r>
                      <a:endParaRPr lang="en-US" altLang="ja-JP" sz="600" kern="1200" dirty="0">
                        <a:solidFill>
                          <a:srgbClr val="00B050"/>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600" dirty="0">
                          <a:solidFill>
                            <a:srgbClr val="00B050"/>
                          </a:solidFill>
                          <a:effectLst/>
                        </a:rPr>
                        <a:t>フルテキスト検索（</a:t>
                      </a:r>
                      <a:r>
                        <a:rPr lang="en-US" altLang="ja-JP" sz="600" dirty="0" err="1">
                          <a:solidFill>
                            <a:srgbClr val="00B050"/>
                          </a:solidFill>
                          <a:effectLst/>
                        </a:rPr>
                        <a:t>tsvector</a:t>
                      </a:r>
                      <a:r>
                        <a:rPr lang="ja-JP" altLang="en-US" sz="600" dirty="0">
                          <a:solidFill>
                            <a:srgbClr val="00B050"/>
                          </a:solidFill>
                          <a:effectLst/>
                        </a:rPr>
                        <a:t>）が強力でコンテンツ検索対応。 </a:t>
                      </a:r>
                      <a:endParaRPr lang="en-US" altLang="ja-JP" sz="600" dirty="0">
                        <a:solidFill>
                          <a:srgbClr val="00B050"/>
                        </a:solidFill>
                        <a:effectLst/>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altLang="ja-JP" sz="600" dirty="0">
                        <a:solidFill>
                          <a:srgbClr val="C0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indent="0" algn="l" defTabSz="914400" rtl="0" eaLnBrk="1" latinLnBrk="0" hangingPunct="1">
                        <a:buFont typeface="Arial" panose="020B0604020202020204" pitchFamily="34" charset="0"/>
                        <a:buNone/>
                      </a:pPr>
                      <a:r>
                        <a:rPr lang="en-US" altLang="ja-JP" sz="600" dirty="0">
                          <a:solidFill>
                            <a:srgbClr val="C00000"/>
                          </a:solidFill>
                          <a:effectLst/>
                        </a:rPr>
                        <a:t>Microsoft Search</a:t>
                      </a:r>
                      <a:r>
                        <a:rPr lang="ja-JP" altLang="en-US" sz="600" dirty="0">
                          <a:solidFill>
                            <a:srgbClr val="C00000"/>
                          </a:solidFill>
                          <a:effectLst/>
                        </a:rPr>
                        <a:t>（</a:t>
                      </a:r>
                      <a:r>
                        <a:rPr lang="en-US" altLang="ja-JP" sz="600" dirty="0" err="1">
                          <a:solidFill>
                            <a:srgbClr val="C00000"/>
                          </a:solidFill>
                          <a:effectLst/>
                        </a:rPr>
                        <a:t>GraphAPI</a:t>
                      </a:r>
                      <a:r>
                        <a:rPr lang="ja-JP" altLang="en-US" sz="600" dirty="0">
                          <a:solidFill>
                            <a:srgbClr val="C00000"/>
                          </a:solidFill>
                          <a:effectLst/>
                        </a:rPr>
                        <a:t>）で実現。</a:t>
                      </a:r>
                      <a:endParaRPr lang="en-US" altLang="ja-JP" sz="600" kern="1200" dirty="0">
                        <a:solidFill>
                          <a:srgbClr val="C0000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752301083"/>
                  </a:ext>
                </a:extLst>
              </a:tr>
              <a:tr h="264114">
                <a:tc vMerge="1">
                  <a:txBody>
                    <a:bodyPr/>
                    <a:lstStyle/>
                    <a:p>
                      <a:endParaRPr lang="ja-JP" altLang="en-US" sz="70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ja-JP" altLang="en-US" sz="700" b="1" kern="1200" dirty="0">
                          <a:solidFill>
                            <a:schemeClr val="dk1"/>
                          </a:solidFill>
                          <a:latin typeface="+mn-lt"/>
                          <a:ea typeface="+mn-ea"/>
                          <a:cs typeface="+mn-cs"/>
                        </a:rPr>
                        <a:t>実績</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600" kern="1200" dirty="0">
                          <a:solidFill>
                            <a:srgbClr val="00B050"/>
                          </a:solidFill>
                          <a:effectLst/>
                        </a:rPr>
                        <a:t>実績があり</a:t>
                      </a:r>
                      <a:endParaRPr lang="ja-JP" altLang="en-US" sz="600" kern="1200" dirty="0">
                        <a:solidFill>
                          <a:srgbClr val="00B05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600" dirty="0">
                          <a:solidFill>
                            <a:srgbClr val="00B050"/>
                          </a:solidFill>
                          <a:effectLst/>
                        </a:rPr>
                        <a:t>弊社</a:t>
                      </a:r>
                      <a:r>
                        <a:rPr lang="en-US" altLang="ja-JP" sz="600" dirty="0">
                          <a:solidFill>
                            <a:srgbClr val="00B050"/>
                          </a:solidFill>
                          <a:effectLst/>
                        </a:rPr>
                        <a:t>Azure SQL</a:t>
                      </a:r>
                      <a:r>
                        <a:rPr lang="ja-JP" altLang="en-US" sz="600" dirty="0">
                          <a:solidFill>
                            <a:srgbClr val="00B050"/>
                          </a:solidFill>
                          <a:effectLst/>
                        </a:rPr>
                        <a:t>ベースの実案件の実績がないが、検証経緯があり（ファイル以外には</a:t>
                      </a:r>
                      <a:r>
                        <a:rPr lang="en-US" altLang="ja-JP" sz="600" dirty="0" err="1">
                          <a:solidFill>
                            <a:srgbClr val="00B050"/>
                          </a:solidFill>
                          <a:effectLst/>
                        </a:rPr>
                        <a:t>Sqlserver</a:t>
                      </a:r>
                      <a:r>
                        <a:rPr lang="ja-JP" altLang="en-US" sz="600" dirty="0">
                          <a:solidFill>
                            <a:srgbClr val="00B050"/>
                          </a:solidFill>
                          <a:effectLst/>
                        </a:rPr>
                        <a:t>　</a:t>
                      </a:r>
                      <a:r>
                        <a:rPr lang="en-US" altLang="ja-JP" sz="600" dirty="0">
                          <a:solidFill>
                            <a:srgbClr val="00B050"/>
                          </a:solidFill>
                          <a:effectLst/>
                        </a:rPr>
                        <a:t>2022</a:t>
                      </a:r>
                      <a:r>
                        <a:rPr lang="ja-JP" altLang="en-US" sz="600" dirty="0">
                          <a:solidFill>
                            <a:srgbClr val="00B050"/>
                          </a:solidFill>
                          <a:effectLst/>
                        </a:rPr>
                        <a:t>とは差異がない）</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indent="0">
                        <a:buFont typeface="Arial" panose="020B0604020202020204" pitchFamily="34" charset="0"/>
                        <a:buNone/>
                      </a:pPr>
                      <a:r>
                        <a:rPr lang="ja-JP" altLang="en-US" sz="600" dirty="0">
                          <a:solidFill>
                            <a:srgbClr val="00B050"/>
                          </a:solidFill>
                        </a:rPr>
                        <a:t>実績あり</a:t>
                      </a:r>
                      <a:endParaRPr lang="en-US" altLang="ja-JP" sz="600" dirty="0">
                        <a:solidFill>
                          <a:srgbClr val="00B050"/>
                        </a:solidFill>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ja-JP" sz="600" dirty="0">
                          <a:solidFill>
                            <a:srgbClr val="C00000"/>
                          </a:solidFill>
                          <a:effectLst/>
                        </a:rPr>
                        <a:t>Power</a:t>
                      </a:r>
                      <a:r>
                        <a:rPr lang="ja-JP" altLang="en-US" sz="600" dirty="0">
                          <a:solidFill>
                            <a:srgbClr val="C00000"/>
                          </a:solidFill>
                          <a:effectLst/>
                        </a:rPr>
                        <a:t> </a:t>
                      </a:r>
                      <a:r>
                        <a:rPr lang="en-US" altLang="ja-JP" sz="600" dirty="0">
                          <a:solidFill>
                            <a:srgbClr val="C00000"/>
                          </a:solidFill>
                          <a:effectLst/>
                        </a:rPr>
                        <a:t>Platform</a:t>
                      </a:r>
                      <a:r>
                        <a:rPr lang="ja-JP" altLang="en-US" sz="600" dirty="0">
                          <a:solidFill>
                            <a:srgbClr val="C00000"/>
                          </a:solidFill>
                          <a:effectLst/>
                        </a:rPr>
                        <a:t>との連携には実績がない、</a:t>
                      </a:r>
                      <a:r>
                        <a:rPr lang="en-US" altLang="ja-JP" sz="600" dirty="0">
                          <a:solidFill>
                            <a:srgbClr val="C00000"/>
                          </a:solidFill>
                          <a:effectLst/>
                        </a:rPr>
                        <a:t>POC</a:t>
                      </a:r>
                      <a:r>
                        <a:rPr lang="ja-JP" altLang="en-US" sz="600" dirty="0">
                          <a:solidFill>
                            <a:srgbClr val="C00000"/>
                          </a:solidFill>
                          <a:effectLst/>
                        </a:rPr>
                        <a:t>範囲は拡大。</a:t>
                      </a:r>
                      <a:endParaRPr lang="en-US" altLang="ja-JP" sz="600" dirty="0">
                        <a:solidFill>
                          <a:srgbClr val="C0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ja-JP" sz="600" dirty="0">
                          <a:solidFill>
                            <a:srgbClr val="00B050"/>
                          </a:solidFill>
                          <a:effectLst/>
                        </a:rPr>
                        <a:t>Microsoft Search(Graph API)</a:t>
                      </a:r>
                      <a:r>
                        <a:rPr lang="ja-JP" altLang="en-US" sz="600" dirty="0">
                          <a:solidFill>
                            <a:srgbClr val="00B050"/>
                          </a:solidFill>
                          <a:effectLst/>
                        </a:rPr>
                        <a:t>の弊社実績があり</a:t>
                      </a:r>
                      <a:endParaRPr lang="en-US" altLang="ja-JP" sz="600" dirty="0">
                        <a:solidFill>
                          <a:srgbClr val="00B050"/>
                        </a:solidFill>
                        <a:effectLst/>
                      </a:endParaRPr>
                    </a:p>
                    <a:p>
                      <a:pPr marL="0" indent="0" algn="l" defTabSz="914400" rtl="0" eaLnBrk="1" latinLnBrk="0" hangingPunct="1">
                        <a:buFont typeface="Arial" panose="020B0604020202020204" pitchFamily="34" charset="0"/>
                        <a:buNone/>
                      </a:pPr>
                      <a:endParaRPr lang="en-US" altLang="ja-JP" sz="600" kern="1200" dirty="0">
                        <a:solidFill>
                          <a:srgbClr val="C0000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4260201674"/>
                  </a:ext>
                </a:extLst>
              </a:tr>
              <a:tr h="423859">
                <a:tc vMerge="1">
                  <a:txBody>
                    <a:bodyPr/>
                    <a:lstStyle/>
                    <a:p>
                      <a:pPr marL="0" algn="l" defTabSz="914400" rtl="0" eaLnBrk="1" latinLnBrk="0" hangingPunct="1"/>
                      <a:endParaRPr lang="ja-JP" altLang="en-US" sz="700" b="1" kern="1200" dirty="0">
                        <a:solidFill>
                          <a:schemeClr val="dk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ja-JP" altLang="en-US" sz="700" b="1" kern="1200" dirty="0">
                          <a:solidFill>
                            <a:schemeClr val="dk1"/>
                          </a:solidFill>
                          <a:latin typeface="+mn-lt"/>
                          <a:ea typeface="+mn-ea"/>
                          <a:cs typeface="+mn-cs"/>
                        </a:rPr>
                        <a:t>設計・実装の特別考慮</a:t>
                      </a:r>
                      <a:endParaRPr lang="en-US" altLang="ja-JP" sz="700" b="1" kern="1200" dirty="0">
                        <a:solidFill>
                          <a:schemeClr val="dk1"/>
                        </a:solidFill>
                        <a:latin typeface="+mn-lt"/>
                        <a:ea typeface="+mn-ea"/>
                        <a:cs typeface="+mn-cs"/>
                      </a:endParaRPr>
                    </a:p>
                    <a:p>
                      <a:r>
                        <a:rPr lang="en-US" altLang="ja-JP" sz="700" b="1" kern="1200" dirty="0">
                          <a:solidFill>
                            <a:schemeClr val="dk1"/>
                          </a:solidFill>
                          <a:latin typeface="+mn-lt"/>
                          <a:ea typeface="+mn-ea"/>
                          <a:cs typeface="+mn-cs"/>
                        </a:rPr>
                        <a:t>(</a:t>
                      </a:r>
                      <a:r>
                        <a:rPr lang="ja-JP" altLang="en-US" sz="700" b="1" kern="1200" dirty="0">
                          <a:solidFill>
                            <a:schemeClr val="dk1"/>
                          </a:solidFill>
                          <a:latin typeface="+mn-lt"/>
                          <a:ea typeface="+mn-ea"/>
                          <a:cs typeface="+mn-cs"/>
                        </a:rPr>
                        <a:t>権限</a:t>
                      </a:r>
                      <a:r>
                        <a:rPr lang="en-US" altLang="ja-JP" sz="700" b="1" kern="1200" dirty="0">
                          <a:solidFill>
                            <a:schemeClr val="dk1"/>
                          </a:solidFill>
                          <a:latin typeface="+mn-lt"/>
                          <a:ea typeface="+mn-ea"/>
                          <a:cs typeface="+mn-cs"/>
                        </a:rPr>
                        <a:t>)</a:t>
                      </a:r>
                      <a:endParaRPr lang="ja-JP" altLang="en-US" sz="700" b="1" kern="1200" dirty="0">
                        <a:solidFill>
                          <a:schemeClr val="dk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ja-JP" sz="900" b="1" kern="1200" dirty="0">
                          <a:solidFill>
                            <a:schemeClr val="tx1"/>
                          </a:solidFill>
                          <a:effectLst/>
                          <a:latin typeface="+mn-lt"/>
                          <a:ea typeface="+mn-ea"/>
                          <a:cs typeface="+mn-cs"/>
                        </a:rPr>
                        <a:t>-</a:t>
                      </a:r>
                      <a:endParaRPr lang="ja-JP" altLang="en-US" sz="900" b="1" kern="1200" dirty="0">
                        <a:solidFill>
                          <a:schemeClr val="tx1"/>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ja-JP" sz="900" b="1" kern="1200" dirty="0">
                          <a:solidFill>
                            <a:schemeClr val="tx1"/>
                          </a:solidFill>
                          <a:effectLst/>
                          <a:latin typeface="+mn-lt"/>
                          <a:ea typeface="+mn-ea"/>
                          <a:cs typeface="+mn-cs"/>
                        </a:rPr>
                        <a:t>-</a:t>
                      </a:r>
                      <a:endParaRPr lang="ja-JP" altLang="en-US" sz="900" b="1" kern="1200" dirty="0">
                        <a:solidFill>
                          <a:schemeClr val="tx1"/>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ja-JP" sz="900" b="1" kern="1200" dirty="0">
                          <a:solidFill>
                            <a:schemeClr val="tx1"/>
                          </a:solidFill>
                          <a:effectLst/>
                          <a:latin typeface="+mn-lt"/>
                          <a:ea typeface="+mn-ea"/>
                          <a:cs typeface="+mn-cs"/>
                        </a:rPr>
                        <a:t>-</a:t>
                      </a:r>
                      <a:endParaRPr lang="ja-JP" altLang="en-US" sz="900" b="1" kern="1200" dirty="0">
                        <a:solidFill>
                          <a:schemeClr val="tx1"/>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ja-JP" sz="900" b="1" kern="1200" dirty="0">
                          <a:solidFill>
                            <a:schemeClr val="tx1"/>
                          </a:solidFill>
                          <a:effectLst/>
                          <a:latin typeface="+mn-lt"/>
                          <a:ea typeface="+mn-ea"/>
                          <a:cs typeface="+mn-cs"/>
                        </a:rPr>
                        <a:t>-</a:t>
                      </a:r>
                      <a:endParaRPr lang="ja-JP" altLang="en-US" sz="900" b="1" kern="1200" dirty="0">
                        <a:solidFill>
                          <a:schemeClr val="tx1"/>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defTabSz="914400" rtl="0" eaLnBrk="1" latinLnBrk="0" hangingPunct="1">
                        <a:buFont typeface="Arial" panose="020B0604020202020204" pitchFamily="34" charset="0"/>
                        <a:buNone/>
                      </a:pPr>
                      <a:r>
                        <a:rPr lang="en-US" altLang="ja-JP" sz="600" kern="1200" dirty="0">
                          <a:solidFill>
                            <a:srgbClr val="C00000"/>
                          </a:solidFill>
                          <a:effectLst/>
                          <a:latin typeface="+mn-lt"/>
                          <a:ea typeface="+mn-ea"/>
                          <a:cs typeface="+mn-cs"/>
                        </a:rPr>
                        <a:t>SharePoint</a:t>
                      </a:r>
                      <a:r>
                        <a:rPr lang="ja-JP" altLang="en-US" sz="600" kern="1200" dirty="0">
                          <a:solidFill>
                            <a:srgbClr val="C00000"/>
                          </a:solidFill>
                          <a:effectLst/>
                          <a:latin typeface="+mn-lt"/>
                          <a:ea typeface="+mn-ea"/>
                          <a:cs typeface="+mn-cs"/>
                        </a:rPr>
                        <a:t>に置いている添付ファイルの権限管理が必要（実績があり）</a:t>
                      </a:r>
                      <a:endParaRPr lang="en-US" altLang="ja-JP" sz="600" kern="1200" dirty="0">
                        <a:solidFill>
                          <a:srgbClr val="C00000"/>
                        </a:solidFill>
                        <a:effectLst/>
                        <a:latin typeface="+mn-lt"/>
                        <a:ea typeface="+mn-ea"/>
                        <a:cs typeface="+mn-cs"/>
                      </a:endParaRPr>
                    </a:p>
                    <a:p>
                      <a:pPr marL="0" indent="0" algn="l" defTabSz="914400" rtl="0" eaLnBrk="1" latinLnBrk="0" hangingPunct="1">
                        <a:buFont typeface="Arial" panose="020B0604020202020204" pitchFamily="34" charset="0"/>
                        <a:buNone/>
                      </a:pPr>
                      <a:r>
                        <a:rPr lang="ja-JP" altLang="en-US" sz="600" kern="1200" dirty="0">
                          <a:solidFill>
                            <a:srgbClr val="C00000"/>
                          </a:solidFill>
                          <a:effectLst/>
                          <a:latin typeface="+mn-lt"/>
                          <a:ea typeface="+mn-ea"/>
                          <a:cs typeface="+mn-cs"/>
                        </a:rPr>
                        <a:t>論理</a:t>
                      </a:r>
                      <a:r>
                        <a:rPr lang="en-US" altLang="ja-JP" sz="600" kern="1200" dirty="0">
                          <a:solidFill>
                            <a:srgbClr val="C00000"/>
                          </a:solidFill>
                          <a:effectLst/>
                          <a:latin typeface="+mn-lt"/>
                          <a:ea typeface="+mn-ea"/>
                          <a:cs typeface="+mn-cs"/>
                        </a:rPr>
                        <a:t>Group</a:t>
                      </a:r>
                      <a:r>
                        <a:rPr lang="ja-JP" altLang="en-US" sz="600" kern="1200" dirty="0">
                          <a:solidFill>
                            <a:srgbClr val="C00000"/>
                          </a:solidFill>
                          <a:effectLst/>
                          <a:latin typeface="+mn-lt"/>
                          <a:ea typeface="+mn-ea"/>
                          <a:cs typeface="+mn-cs"/>
                        </a:rPr>
                        <a:t>が変更された場合、登録済みの仕様書添付ファイルに対して再設定が必要</a:t>
                      </a:r>
                      <a:endParaRPr lang="en-US" altLang="ja-JP" sz="600" kern="1200" dirty="0">
                        <a:solidFill>
                          <a:srgbClr val="C00000"/>
                        </a:solidFill>
                        <a:effectLst/>
                        <a:latin typeface="+mn-lt"/>
                        <a:ea typeface="+mn-ea"/>
                        <a:cs typeface="+mn-cs"/>
                      </a:endParaRPr>
                    </a:p>
                    <a:p>
                      <a:pPr marL="0" indent="0" algn="l" defTabSz="914400" rtl="0" eaLnBrk="1" latinLnBrk="0" hangingPunct="1">
                        <a:buFont typeface="Arial" panose="020B0604020202020204" pitchFamily="34" charset="0"/>
                        <a:buNone/>
                      </a:pPr>
                      <a:endParaRPr lang="en-US" altLang="ja-JP" sz="600" kern="1200" dirty="0">
                        <a:solidFill>
                          <a:srgbClr val="C0000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74594237"/>
                  </a:ext>
                </a:extLst>
              </a:tr>
            </a:tbl>
          </a:graphicData>
        </a:graphic>
      </p:graphicFrame>
      <p:sp>
        <p:nvSpPr>
          <p:cNvPr id="6" name="テキスト ボックス 5">
            <a:extLst>
              <a:ext uri="{FF2B5EF4-FFF2-40B4-BE49-F238E27FC236}">
                <a16:creationId xmlns:a16="http://schemas.microsoft.com/office/drawing/2014/main" id="{2ACDC925-AF97-854B-68F7-31FDCC8F04E2}"/>
              </a:ext>
            </a:extLst>
          </p:cNvPr>
          <p:cNvSpPr txBox="1"/>
          <p:nvPr/>
        </p:nvSpPr>
        <p:spPr>
          <a:xfrm>
            <a:off x="273718" y="682095"/>
            <a:ext cx="11412096" cy="276999"/>
          </a:xfrm>
          <a:prstGeom prst="rect">
            <a:avLst/>
          </a:prstGeom>
          <a:noFill/>
        </p:spPr>
        <p:txBody>
          <a:bodyPr wrap="square" rtlCol="0">
            <a:spAutoFit/>
          </a:bodyPr>
          <a:lstStyle/>
          <a:p>
            <a:r>
              <a:rPr lang="ja-JP" altLang="en-US" sz="1200" dirty="0">
                <a:solidFill>
                  <a:srgbClr val="FF0000"/>
                </a:solidFill>
              </a:rPr>
              <a:t>本案件でなりえるストレージについて、下記の評価項目について比較を行い、その結果を</a:t>
            </a:r>
            <a:r>
              <a:rPr kumimoji="1" lang="ja-JP" altLang="en-US" sz="1200" dirty="0">
                <a:solidFill>
                  <a:srgbClr val="FF0000"/>
                </a:solidFill>
              </a:rPr>
              <a:t>表にまとめた。</a:t>
            </a:r>
            <a:endParaRPr kumimoji="1" lang="en-US" altLang="ja-JP" sz="1400" b="1" dirty="0">
              <a:solidFill>
                <a:srgbClr val="FF0000"/>
              </a:solidFill>
            </a:endParaRPr>
          </a:p>
        </p:txBody>
      </p:sp>
    </p:spTree>
    <p:extLst>
      <p:ext uri="{BB962C8B-B14F-4D97-AF65-F5344CB8AC3E}">
        <p14:creationId xmlns:p14="http://schemas.microsoft.com/office/powerpoint/2010/main" val="10147372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65146-47DF-A6E3-4EFF-D8B92D4820C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B02FF0C-CED3-3935-A58D-B604EE783CF5}"/>
              </a:ext>
            </a:extLst>
          </p:cNvPr>
          <p:cNvSpPr>
            <a:spLocks noGrp="1"/>
          </p:cNvSpPr>
          <p:nvPr>
            <p:ph type="title"/>
          </p:nvPr>
        </p:nvSpPr>
        <p:spPr>
          <a:xfrm>
            <a:off x="414336" y="255263"/>
            <a:ext cx="9327072" cy="683629"/>
          </a:xfrm>
        </p:spPr>
        <p:txBody>
          <a:bodyPr>
            <a:normAutofit/>
          </a:bodyPr>
          <a:lstStyle/>
          <a:p>
            <a:r>
              <a:rPr lang="ja-JP" altLang="en-US" dirty="0"/>
              <a:t>ストレージの評価</a:t>
            </a:r>
          </a:p>
        </p:txBody>
      </p:sp>
      <p:graphicFrame>
        <p:nvGraphicFramePr>
          <p:cNvPr id="5" name="表 4">
            <a:extLst>
              <a:ext uri="{FF2B5EF4-FFF2-40B4-BE49-F238E27FC236}">
                <a16:creationId xmlns:a16="http://schemas.microsoft.com/office/drawing/2014/main" id="{C0E8CF2F-B9FE-4574-119C-F285BA61248C}"/>
              </a:ext>
            </a:extLst>
          </p:cNvPr>
          <p:cNvGraphicFramePr>
            <a:graphicFrameLocks noGrp="1"/>
          </p:cNvGraphicFramePr>
          <p:nvPr>
            <p:extLst>
              <p:ext uri="{D42A27DB-BD31-4B8C-83A1-F6EECF244321}">
                <p14:modId xmlns:p14="http://schemas.microsoft.com/office/powerpoint/2010/main" val="4039698271"/>
              </p:ext>
            </p:extLst>
          </p:nvPr>
        </p:nvGraphicFramePr>
        <p:xfrm>
          <a:off x="294143" y="1833698"/>
          <a:ext cx="11459480" cy="3981976"/>
        </p:xfrm>
        <a:graphic>
          <a:graphicData uri="http://schemas.openxmlformats.org/drawingml/2006/table">
            <a:tbl>
              <a:tblPr firstRow="1">
                <a:tableStyleId>{2D5ABB26-0587-4C30-8999-92F81FD0307C}</a:tableStyleId>
              </a:tblPr>
              <a:tblGrid>
                <a:gridCol w="670920">
                  <a:extLst>
                    <a:ext uri="{9D8B030D-6E8A-4147-A177-3AD203B41FA5}">
                      <a16:colId xmlns:a16="http://schemas.microsoft.com/office/drawing/2014/main" val="2689841149"/>
                    </a:ext>
                  </a:extLst>
                </a:gridCol>
                <a:gridCol w="1094418">
                  <a:extLst>
                    <a:ext uri="{9D8B030D-6E8A-4147-A177-3AD203B41FA5}">
                      <a16:colId xmlns:a16="http://schemas.microsoft.com/office/drawing/2014/main" val="20000"/>
                    </a:ext>
                  </a:extLst>
                </a:gridCol>
                <a:gridCol w="1765389">
                  <a:extLst>
                    <a:ext uri="{9D8B030D-6E8A-4147-A177-3AD203B41FA5}">
                      <a16:colId xmlns:a16="http://schemas.microsoft.com/office/drawing/2014/main" val="20001"/>
                    </a:ext>
                  </a:extLst>
                </a:gridCol>
                <a:gridCol w="1969902">
                  <a:extLst>
                    <a:ext uri="{9D8B030D-6E8A-4147-A177-3AD203B41FA5}">
                      <a16:colId xmlns:a16="http://schemas.microsoft.com/office/drawing/2014/main" val="2142441908"/>
                    </a:ext>
                  </a:extLst>
                </a:gridCol>
                <a:gridCol w="2017082">
                  <a:extLst>
                    <a:ext uri="{9D8B030D-6E8A-4147-A177-3AD203B41FA5}">
                      <a16:colId xmlns:a16="http://schemas.microsoft.com/office/drawing/2014/main" val="20002"/>
                    </a:ext>
                  </a:extLst>
                </a:gridCol>
                <a:gridCol w="1698176">
                  <a:extLst>
                    <a:ext uri="{9D8B030D-6E8A-4147-A177-3AD203B41FA5}">
                      <a16:colId xmlns:a16="http://schemas.microsoft.com/office/drawing/2014/main" val="20003"/>
                    </a:ext>
                  </a:extLst>
                </a:gridCol>
                <a:gridCol w="2243593">
                  <a:extLst>
                    <a:ext uri="{9D8B030D-6E8A-4147-A177-3AD203B41FA5}">
                      <a16:colId xmlns:a16="http://schemas.microsoft.com/office/drawing/2014/main" val="20004"/>
                    </a:ext>
                  </a:extLst>
                </a:gridCol>
              </a:tblGrid>
              <a:tr h="211254">
                <a:tc gridSpan="2">
                  <a:txBody>
                    <a:bodyPr/>
                    <a:lstStyle/>
                    <a:p>
                      <a:r>
                        <a:rPr lang="ja-JP" altLang="en-US" sz="900" dirty="0"/>
                        <a:t>項目</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hMerge="1">
                  <a:txBody>
                    <a:bodyPr/>
                    <a:lstStyle/>
                    <a:p>
                      <a:endParaRPr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t>SQL Server 2022</a:t>
                      </a:r>
                      <a:r>
                        <a:rPr lang="en-US" altLang="ja-JP" sz="900" dirty="0">
                          <a:effectLst/>
                        </a:rPr>
                        <a:t>(</a:t>
                      </a:r>
                      <a:r>
                        <a:rPr lang="ja-JP" altLang="en-US" sz="900" dirty="0">
                          <a:effectLst/>
                        </a:rPr>
                        <a:t>オンプレミス</a:t>
                      </a:r>
                      <a:r>
                        <a:rPr lang="en-US" altLang="ja-JP" sz="900" dirty="0">
                          <a:effectLst/>
                        </a:rPr>
                        <a:t>DB</a:t>
                      </a:r>
                      <a:r>
                        <a:rPr lang="en-US" sz="900" dirty="0"/>
                        <a:t> - with Full-Text Search)</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altLang="ja-JP" sz="900" dirty="0">
                          <a:effectLst/>
                        </a:rPr>
                        <a:t>Azure SQL Database (</a:t>
                      </a:r>
                      <a:r>
                        <a:rPr lang="ja-JP" altLang="en-US" sz="900" kern="1200" dirty="0">
                          <a:solidFill>
                            <a:schemeClr val="tx1"/>
                          </a:solidFill>
                          <a:effectLst/>
                          <a:latin typeface="+mn-lt"/>
                          <a:ea typeface="+mn-ea"/>
                          <a:cs typeface="+mn-cs"/>
                        </a:rPr>
                        <a:t>クラウド</a:t>
                      </a:r>
                      <a:r>
                        <a:rPr lang="de-DE" altLang="ja-JP" sz="900" kern="1200" dirty="0">
                          <a:solidFill>
                            <a:schemeClr val="tx1"/>
                          </a:solidFill>
                          <a:effectLst/>
                          <a:latin typeface="+mn-lt"/>
                          <a:ea typeface="+mn-ea"/>
                          <a:cs typeface="+mn-cs"/>
                        </a:rPr>
                        <a:t>PaaS)</a:t>
                      </a:r>
                      <a:r>
                        <a:rPr lang="en-US" altLang="ja-JP" sz="900" kern="1200" dirty="0">
                          <a:solidFill>
                            <a:schemeClr val="tx1"/>
                          </a:solidFill>
                          <a:effectLst/>
                          <a:latin typeface="+mn-lt"/>
                          <a:ea typeface="+mn-ea"/>
                          <a:cs typeface="+mn-cs"/>
                        </a:rPr>
                        <a:t>-</a:t>
                      </a:r>
                      <a:r>
                        <a:rPr lang="ja-JP" altLang="en-US" sz="900" b="1" kern="1200" dirty="0">
                          <a:solidFill>
                            <a:srgbClr val="00B050"/>
                          </a:solidFill>
                          <a:effectLst/>
                          <a:latin typeface="+mn-lt"/>
                          <a:ea typeface="+mn-ea"/>
                          <a:cs typeface="+mn-cs"/>
                        </a:rPr>
                        <a:t>定型データ保存に推奨</a:t>
                      </a:r>
                      <a:endParaRPr lang="de-DE" altLang="ja-JP" sz="900" b="1" kern="1200" dirty="0">
                        <a:solidFill>
                          <a:srgbClr val="00B05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r>
                        <a:rPr lang="de-DE" sz="900" dirty="0"/>
                        <a:t>Dataverse (with relevant features)</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r>
                        <a:rPr lang="de-DE" sz="900" dirty="0"/>
                        <a:t>PostgreSQL (with extensions)</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r>
                        <a:rPr lang="de-DE" sz="900" b="1" dirty="0"/>
                        <a:t>SharePoint Online</a:t>
                      </a:r>
                      <a:r>
                        <a:rPr lang="en-US" altLang="ja-JP" sz="900" kern="1200" dirty="0">
                          <a:solidFill>
                            <a:schemeClr val="tx1"/>
                          </a:solidFill>
                          <a:effectLst/>
                          <a:latin typeface="+mn-lt"/>
                          <a:ea typeface="+mn-ea"/>
                          <a:cs typeface="+mn-cs"/>
                        </a:rPr>
                        <a:t>-</a:t>
                      </a:r>
                      <a:r>
                        <a:rPr lang="ja-JP" altLang="en-US" sz="900" b="1" dirty="0">
                          <a:solidFill>
                            <a:srgbClr val="00B050"/>
                          </a:solidFill>
                        </a:rPr>
                        <a:t>ファイル保存に</a:t>
                      </a:r>
                      <a:r>
                        <a:rPr kumimoji="1" lang="ja-JP" altLang="en-US" sz="900" b="1" dirty="0">
                          <a:solidFill>
                            <a:srgbClr val="00B050"/>
                          </a:solidFill>
                        </a:rPr>
                        <a:t>推奨</a:t>
                      </a:r>
                      <a:endParaRPr lang="de-DE" sz="900" b="1" dirty="0">
                        <a:solidFill>
                          <a:srgbClr val="00B050"/>
                        </a:solidFill>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0"/>
                  </a:ext>
                </a:extLst>
              </a:tr>
              <a:tr h="307083">
                <a:tc>
                  <a:txBody>
                    <a:bodyPr/>
                    <a:lstStyle/>
                    <a:p>
                      <a:r>
                        <a:rPr lang="ja-JP" altLang="en-US" sz="800" b="1" kern="1200" dirty="0">
                          <a:solidFill>
                            <a:schemeClr val="dk1"/>
                          </a:solidFill>
                          <a:latin typeface="+mn-lt"/>
                          <a:ea typeface="+mn-ea"/>
                          <a:cs typeface="+mn-cs"/>
                        </a:rPr>
                        <a:t>インテグレーション</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de-DE" sz="900" b="1" dirty="0"/>
                        <a:t>Power Apps/</a:t>
                      </a:r>
                      <a:r>
                        <a:rPr lang="de-DE" altLang="ja-JP" sz="900" b="1" dirty="0"/>
                        <a:t>Automate</a:t>
                      </a:r>
                      <a:r>
                        <a:rPr lang="de-DE" sz="900" b="1" dirty="0"/>
                        <a:t> </a:t>
                      </a:r>
                      <a:r>
                        <a:rPr lang="ja-JP" altLang="en-US" sz="900" b="1" dirty="0"/>
                        <a:t>統合</a:t>
                      </a:r>
                      <a:endParaRPr lang="ja-JP" altLang="en-US" sz="9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800" b="1" i="0" u="none" strike="noStrike" kern="1200" cap="none" spc="0" normalizeH="0" baseline="0" noProof="0" dirty="0">
                          <a:ln>
                            <a:noFill/>
                          </a:ln>
                          <a:solidFill>
                            <a:srgbClr val="00B050"/>
                          </a:solidFill>
                          <a:effectLst/>
                          <a:uLnTx/>
                          <a:uFillTx/>
                          <a:latin typeface="Gill Sans MT"/>
                          <a:ea typeface="游ゴシック" panose="020B0400000000000000" pitchFamily="50" charset="-128"/>
                          <a:cs typeface="+mn-cs"/>
                        </a:rPr>
                        <a:t>〇</a:t>
                      </a:r>
                      <a:endParaRPr kumimoji="0" lang="en-US" altLang="ja-JP" sz="800" b="0" i="0" u="none" strike="noStrike" kern="1200" cap="none" spc="0" normalizeH="0" baseline="0" noProof="0" dirty="0">
                        <a:ln>
                          <a:noFill/>
                        </a:ln>
                        <a:solidFill>
                          <a:srgbClr val="00B050"/>
                        </a:solidFill>
                        <a:effectLst/>
                        <a:uLnTx/>
                        <a:uFillTx/>
                        <a:latin typeface="Gill Sans MT"/>
                        <a:ea typeface="游ゴシック" panose="020B0400000000000000" pitchFamily="50" charset="-128"/>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800" b="1" i="0" u="none" strike="noStrike" kern="1200" cap="none" spc="0" normalizeH="0" baseline="0" noProof="0" dirty="0">
                          <a:ln>
                            <a:noFill/>
                          </a:ln>
                          <a:solidFill>
                            <a:srgbClr val="00B050"/>
                          </a:solidFill>
                          <a:effectLst/>
                          <a:uLnTx/>
                          <a:uFillTx/>
                          <a:latin typeface="Gill Sans MT"/>
                          <a:ea typeface="游ゴシック" panose="020B0400000000000000" pitchFamily="50" charset="-128"/>
                          <a:cs typeface="+mn-cs"/>
                        </a:rPr>
                        <a:t>〇</a:t>
                      </a:r>
                      <a:endParaRPr kumimoji="0" lang="en-US" altLang="ja-JP" sz="800" b="0" i="0" u="none" strike="noStrike" kern="1200" cap="none" spc="0" normalizeH="0" baseline="0" noProof="0" dirty="0">
                        <a:ln>
                          <a:noFill/>
                        </a:ln>
                        <a:solidFill>
                          <a:srgbClr val="00B050"/>
                        </a:solidFill>
                        <a:effectLst/>
                        <a:uLnTx/>
                        <a:uFillTx/>
                        <a:latin typeface="Gill Sans MT"/>
                        <a:ea typeface="游ゴシック" panose="020B0400000000000000" pitchFamily="50" charset="-128"/>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800" b="1" i="0" u="none" strike="noStrike" kern="1200" cap="none" spc="0" normalizeH="0" baseline="0" noProof="0" dirty="0">
                          <a:ln>
                            <a:noFill/>
                          </a:ln>
                          <a:solidFill>
                            <a:srgbClr val="00B050"/>
                          </a:solidFill>
                          <a:effectLst/>
                          <a:uLnTx/>
                          <a:uFillTx/>
                          <a:latin typeface="Gill Sans MT"/>
                          <a:ea typeface="游ゴシック" panose="020B0400000000000000" pitchFamily="50" charset="-128"/>
                          <a:cs typeface="+mn-cs"/>
                        </a:rPr>
                        <a:t>〇</a:t>
                      </a:r>
                      <a:endParaRPr kumimoji="0" lang="en-US" altLang="ja-JP" sz="800" b="0" i="0" u="none" strike="noStrike" kern="1200" cap="none" spc="0" normalizeH="0" baseline="0" noProof="0" dirty="0">
                        <a:ln>
                          <a:noFill/>
                        </a:ln>
                        <a:solidFill>
                          <a:srgbClr val="00B050"/>
                        </a:solidFill>
                        <a:effectLst/>
                        <a:uLnTx/>
                        <a:uFillTx/>
                        <a:latin typeface="Gill Sans MT"/>
                        <a:ea typeface="游ゴシック" panose="020B0400000000000000" pitchFamily="50" charset="-128"/>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800" b="1" dirty="0">
                          <a:solidFill>
                            <a:srgbClr val="C00000"/>
                          </a:solidFill>
                        </a:rPr>
                        <a:t>×</a:t>
                      </a:r>
                      <a:r>
                        <a:rPr lang="ja-JP" altLang="en-US" sz="800" dirty="0">
                          <a:solidFill>
                            <a:srgbClr val="C00000"/>
                          </a:solidFill>
                        </a:rPr>
                        <a:t>　カスタムコネクタの作成は一気に技術リスクを高める</a:t>
                      </a:r>
                      <a:endParaRPr lang="en-US" altLang="ja-JP" sz="800" dirty="0">
                        <a:solidFill>
                          <a:srgbClr val="00B050"/>
                        </a:solidFill>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800" b="1" dirty="0">
                          <a:solidFill>
                            <a:srgbClr val="00B050"/>
                          </a:solidFill>
                        </a:rPr>
                        <a:t>〇</a:t>
                      </a:r>
                      <a:endParaRPr lang="en-US" altLang="ja-JP" sz="800" dirty="0">
                        <a:solidFill>
                          <a:srgbClr val="00B050"/>
                        </a:solidFill>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6"/>
                  </a:ext>
                </a:extLst>
              </a:tr>
              <a:tr h="1154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800" b="1" kern="1200" dirty="0">
                          <a:solidFill>
                            <a:schemeClr val="dk1"/>
                          </a:solidFill>
                          <a:latin typeface="+mn-lt"/>
                          <a:ea typeface="+mn-ea"/>
                          <a:cs typeface="+mn-cs"/>
                        </a:rPr>
                        <a:t>ラインセス</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900" b="1" dirty="0"/>
                        <a:t>必要なライセンス</a:t>
                      </a:r>
                      <a:endParaRPr lang="ja-JP" altLang="en-US" sz="9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800" b="1" kern="1200" dirty="0">
                          <a:solidFill>
                            <a:schemeClr val="tx1"/>
                          </a:solidFill>
                          <a:effectLst/>
                        </a:rPr>
                        <a:t>△</a:t>
                      </a:r>
                      <a:endParaRPr lang="en-US" altLang="ja-JP" sz="800" b="1" kern="1200" dirty="0">
                        <a:solidFill>
                          <a:schemeClr val="tx1"/>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800" b="1" kern="1200" dirty="0">
                          <a:solidFill>
                            <a:schemeClr val="tx1"/>
                          </a:solidFill>
                          <a:effectLst/>
                        </a:rPr>
                        <a:t>△</a:t>
                      </a:r>
                      <a:endParaRPr lang="en-US" altLang="ja-JP" sz="800" b="1" kern="1200" dirty="0">
                        <a:solidFill>
                          <a:schemeClr val="tx1"/>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800" b="1" dirty="0">
                          <a:solidFill>
                            <a:srgbClr val="00B050"/>
                          </a:solidFill>
                          <a:effectLst/>
                        </a:rPr>
                        <a:t>〇</a:t>
                      </a:r>
                      <a:endParaRPr lang="en-US" altLang="ja-JP" sz="800" b="1" dirty="0">
                        <a:solidFill>
                          <a:srgbClr val="00B05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800" b="1" dirty="0">
                          <a:solidFill>
                            <a:srgbClr val="00B050"/>
                          </a:solidFill>
                          <a:effectLst/>
                        </a:rPr>
                        <a:t>〇</a:t>
                      </a:r>
                      <a:endParaRPr lang="ja-JP" altLang="en-US" sz="800" b="1" kern="1200" dirty="0">
                        <a:solidFill>
                          <a:srgbClr val="00B050"/>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800" b="1" dirty="0">
                          <a:solidFill>
                            <a:srgbClr val="00B050"/>
                          </a:solidFill>
                          <a:effectLst/>
                        </a:rPr>
                        <a:t>〇</a:t>
                      </a:r>
                      <a:endParaRPr lang="ja-JP" altLang="en-US" sz="800" b="1" kern="1200" dirty="0">
                        <a:solidFill>
                          <a:srgbClr val="00B050"/>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8"/>
                  </a:ext>
                </a:extLst>
              </a:tr>
              <a:tr h="123307">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800" b="1" kern="1200" dirty="0">
                          <a:solidFill>
                            <a:schemeClr val="dk1"/>
                          </a:solidFill>
                          <a:latin typeface="+mn-lt"/>
                          <a:ea typeface="+mn-ea"/>
                          <a:cs typeface="+mn-cs"/>
                        </a:rPr>
                        <a:t>運用</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900" b="1" dirty="0"/>
                        <a:t>添付ファイル以外</a:t>
                      </a:r>
                      <a:endParaRPr lang="ja-JP" altLang="en-US" sz="9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800" b="1" kern="1200" dirty="0">
                          <a:solidFill>
                            <a:srgbClr val="00B050"/>
                          </a:solidFill>
                          <a:effectLst/>
                          <a:latin typeface="+mn-lt"/>
                          <a:ea typeface="+mn-ea"/>
                          <a:cs typeface="+mn-cs"/>
                        </a:rPr>
                        <a:t>〇</a:t>
                      </a:r>
                      <a:endParaRPr lang="en-US" altLang="ja-JP" sz="800" b="1" kern="1200" dirty="0">
                        <a:solidFill>
                          <a:srgbClr val="C0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800" b="1" kern="1200" dirty="0">
                          <a:solidFill>
                            <a:srgbClr val="00B050"/>
                          </a:solidFill>
                          <a:effectLst/>
                          <a:latin typeface="+mn-lt"/>
                          <a:ea typeface="+mn-ea"/>
                          <a:cs typeface="+mn-cs"/>
                        </a:rPr>
                        <a:t>〇</a:t>
                      </a:r>
                      <a:endParaRPr lang="en-US" altLang="ja-JP" sz="800" b="1" kern="1200" dirty="0">
                        <a:solidFill>
                          <a:srgbClr val="C0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800" b="1" kern="1200" dirty="0">
                          <a:solidFill>
                            <a:srgbClr val="00B050"/>
                          </a:solidFill>
                          <a:effectLst/>
                        </a:rPr>
                        <a:t>〇</a:t>
                      </a:r>
                      <a:endParaRPr lang="en-US" altLang="zh-CN" sz="800" b="1" kern="1200" dirty="0">
                        <a:solidFill>
                          <a:srgbClr val="00B050"/>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800" b="1" kern="1200" dirty="0">
                          <a:solidFill>
                            <a:schemeClr val="tx1"/>
                          </a:solidFill>
                          <a:effectLst/>
                        </a:rPr>
                        <a:t>△</a:t>
                      </a:r>
                      <a:endParaRPr lang="en-US" altLang="ja-JP" sz="800" b="1" kern="1200" dirty="0">
                        <a:solidFill>
                          <a:schemeClr val="tx1"/>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800" b="1" kern="1200" dirty="0">
                          <a:solidFill>
                            <a:schemeClr val="tx1"/>
                          </a:solidFill>
                          <a:effectLst/>
                        </a:rPr>
                        <a:t>ー</a:t>
                      </a:r>
                      <a:endParaRPr lang="en-US" altLang="zh-CN" sz="800" b="1"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06285698"/>
                  </a:ext>
                </a:extLst>
              </a:tr>
              <a:tr h="115424">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sz="700" b="1" kern="1200" dirty="0">
                        <a:solidFill>
                          <a:schemeClr val="dk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900" b="1" kern="1200" dirty="0">
                          <a:solidFill>
                            <a:schemeClr val="tx1"/>
                          </a:solidFill>
                          <a:latin typeface="+mn-lt"/>
                          <a:ea typeface="+mn-ea"/>
                          <a:cs typeface="+mn-cs"/>
                        </a:rPr>
                        <a:t>添付ファイル</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800" b="1" kern="1200" dirty="0">
                          <a:solidFill>
                            <a:schemeClr val="tx1"/>
                          </a:solidFill>
                          <a:effectLst/>
                        </a:rPr>
                        <a:t>△</a:t>
                      </a:r>
                      <a:endParaRPr lang="en-US" altLang="ja-JP" sz="800" b="1" kern="1200" dirty="0">
                        <a:solidFill>
                          <a:schemeClr val="tx1"/>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800" b="1" kern="1200" dirty="0">
                          <a:solidFill>
                            <a:schemeClr val="tx1"/>
                          </a:solidFill>
                          <a:effectLst/>
                        </a:rPr>
                        <a:t>△</a:t>
                      </a:r>
                      <a:endParaRPr lang="en-US" altLang="ja-JP" sz="800" b="1" kern="1200" dirty="0">
                        <a:solidFill>
                          <a:schemeClr val="tx1"/>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800" b="1" kern="1200">
                          <a:solidFill>
                            <a:srgbClr val="00B050"/>
                          </a:solidFill>
                          <a:effectLst/>
                        </a:rPr>
                        <a:t>〇</a:t>
                      </a:r>
                      <a:endParaRPr lang="en-US" altLang="zh-CN" sz="800" b="1" kern="1200" dirty="0">
                        <a:solidFill>
                          <a:srgbClr val="00B050"/>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800" b="1" kern="1200" dirty="0">
                          <a:solidFill>
                            <a:schemeClr val="tx1"/>
                          </a:solidFill>
                          <a:effectLst/>
                        </a:rPr>
                        <a:t>△</a:t>
                      </a:r>
                      <a:endParaRPr lang="en-US" altLang="ja-JP" sz="800" b="1" kern="1200" dirty="0">
                        <a:solidFill>
                          <a:schemeClr val="tx1"/>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800" b="1" kern="1200" dirty="0">
                          <a:solidFill>
                            <a:srgbClr val="00B050"/>
                          </a:solidFill>
                          <a:latin typeface="+mn-lt"/>
                          <a:ea typeface="+mn-ea"/>
                          <a:cs typeface="+mn-cs"/>
                        </a:rPr>
                        <a:t>〇</a:t>
                      </a:r>
                      <a:endParaRPr lang="en-US" altLang="zh-CN" sz="800" b="1" kern="1200" dirty="0">
                        <a:solidFill>
                          <a:srgbClr val="00B050"/>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49484509"/>
                  </a:ext>
                </a:extLst>
              </a:tr>
              <a:tr h="189958">
                <a:tc gridSpan="2">
                  <a:txBody>
                    <a:bodyPr/>
                    <a:lstStyle/>
                    <a:p>
                      <a:r>
                        <a:rPr lang="ja-JP" altLang="en-US" sz="900" b="1" kern="1200" dirty="0">
                          <a:solidFill>
                            <a:schemeClr val="dk1"/>
                          </a:solidFill>
                          <a:latin typeface="+mn-lt"/>
                          <a:ea typeface="+mn-ea"/>
                          <a:cs typeface="+mn-cs"/>
                        </a:rPr>
                        <a:t>製品の安定性</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a:txBody>
                    <a:bodyPr/>
                    <a:lstStyle/>
                    <a:p>
                      <a:endParaRPr lang="ja-JP" altLang="en-US" sz="700" b="1" kern="1200" dirty="0">
                        <a:solidFill>
                          <a:schemeClr val="dk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800" kern="1200" dirty="0">
                          <a:solidFill>
                            <a:schemeClr val="tx1"/>
                          </a:solidFill>
                          <a:effectLst/>
                        </a:rPr>
                        <a:t>△ </a:t>
                      </a:r>
                      <a:r>
                        <a:rPr lang="ja-JP" altLang="en-US" sz="800" kern="1200" dirty="0">
                          <a:solidFill>
                            <a:srgbClr val="C00000"/>
                          </a:solidFill>
                          <a:effectLst/>
                        </a:rPr>
                        <a:t> </a:t>
                      </a:r>
                      <a:r>
                        <a:rPr lang="en-US" altLang="ja-JP" sz="800" kern="1200" dirty="0">
                          <a:solidFill>
                            <a:srgbClr val="C00000"/>
                          </a:solidFill>
                          <a:effectLst/>
                        </a:rPr>
                        <a:t>Full</a:t>
                      </a:r>
                      <a:r>
                        <a:rPr lang="ja-JP" altLang="en-US" sz="800" kern="1200" dirty="0">
                          <a:solidFill>
                            <a:srgbClr val="C00000"/>
                          </a:solidFill>
                          <a:effectLst/>
                        </a:rPr>
                        <a:t> </a:t>
                      </a:r>
                      <a:r>
                        <a:rPr lang="en-US" altLang="ja-JP" sz="800" kern="1200" dirty="0">
                          <a:solidFill>
                            <a:srgbClr val="C00000"/>
                          </a:solidFill>
                          <a:effectLst/>
                        </a:rPr>
                        <a:t>Text Search</a:t>
                      </a:r>
                      <a:r>
                        <a:rPr lang="ja-JP" altLang="en-US" sz="800" kern="1200" dirty="0">
                          <a:solidFill>
                            <a:srgbClr val="C00000"/>
                          </a:solidFill>
                          <a:effectLst/>
                        </a:rPr>
                        <a:t>バグ報告あり（クエリ結果の不整合）。</a:t>
                      </a:r>
                      <a:endParaRPr lang="en-US" altLang="ja-JP" sz="800" kern="1200" dirty="0">
                        <a:solidFill>
                          <a:srgbClr val="C0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800" b="1"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ー</a:t>
                      </a:r>
                      <a:endParaRPr kumimoji="0" lang="en-US" altLang="zh-CN" sz="800" b="1" i="0" u="none" strike="noStrike" kern="1200" cap="none" spc="0" normalizeH="0" baseline="0" noProof="0" dirty="0">
                        <a:ln>
                          <a:noFill/>
                        </a:ln>
                        <a:solidFill>
                          <a:prstClr val="black"/>
                        </a:solidFill>
                        <a:effectLst/>
                        <a:uLnTx/>
                        <a:uFillTx/>
                        <a:latin typeface="Gill Sans MT"/>
                        <a:ea typeface="等线" panose="02010600030101010101" pitchFamily="2" charset="-122"/>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800" b="1"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ー</a:t>
                      </a:r>
                      <a:endParaRPr kumimoji="0" lang="en-US" altLang="zh-CN" sz="800" b="1" i="0" u="none" strike="noStrike" kern="1200" cap="none" spc="0" normalizeH="0" baseline="0" noProof="0" dirty="0">
                        <a:ln>
                          <a:noFill/>
                        </a:ln>
                        <a:solidFill>
                          <a:prstClr val="black"/>
                        </a:solidFill>
                        <a:effectLst/>
                        <a:uLnTx/>
                        <a:uFillTx/>
                        <a:latin typeface="Gill Sans MT"/>
                        <a:ea typeface="等线" panose="02010600030101010101" pitchFamily="2" charset="-122"/>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800" b="1"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ー</a:t>
                      </a:r>
                      <a:endParaRPr kumimoji="0" lang="en-US" altLang="zh-CN" sz="800" b="1" i="0" u="none" strike="noStrike" kern="1200" cap="none" spc="0" normalizeH="0" baseline="0" noProof="0" dirty="0">
                        <a:ln>
                          <a:noFill/>
                        </a:ln>
                        <a:solidFill>
                          <a:prstClr val="black"/>
                        </a:solidFill>
                        <a:effectLst/>
                        <a:uLnTx/>
                        <a:uFillTx/>
                        <a:latin typeface="Gill Sans MT"/>
                        <a:ea typeface="等线" panose="02010600030101010101" pitchFamily="2" charset="-122"/>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800" b="1"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ー</a:t>
                      </a:r>
                      <a:endParaRPr kumimoji="0" lang="en-US" altLang="zh-CN" sz="800" b="1" i="0" u="none" strike="noStrike" kern="1200" cap="none" spc="0" normalizeH="0" baseline="0" noProof="0" dirty="0">
                        <a:ln>
                          <a:noFill/>
                        </a:ln>
                        <a:solidFill>
                          <a:prstClr val="black"/>
                        </a:solidFill>
                        <a:effectLst/>
                        <a:uLnTx/>
                        <a:uFillTx/>
                        <a:latin typeface="Gill Sans MT"/>
                        <a:ea typeface="等线" panose="02010600030101010101" pitchFamily="2" charset="-122"/>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582702529"/>
                  </a:ext>
                </a:extLst>
              </a:tr>
              <a:tr h="360322">
                <a:tc gridSpan="2">
                  <a:txBody>
                    <a:bodyPr/>
                    <a:lstStyle/>
                    <a:p>
                      <a:pPr marL="0" algn="l" defTabSz="914400" rtl="0" eaLnBrk="1" latinLnBrk="0" hangingPunct="1"/>
                      <a:r>
                        <a:rPr lang="ja-JP" altLang="en-US" sz="900" b="1" kern="1200" dirty="0">
                          <a:solidFill>
                            <a:schemeClr val="dk1"/>
                          </a:solidFill>
                          <a:latin typeface="+mn-lt"/>
                          <a:ea typeface="+mn-ea"/>
                          <a:cs typeface="+mn-cs"/>
                        </a:rPr>
                        <a:t>性能</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a:txBody>
                    <a:bodyPr/>
                    <a:lstStyle/>
                    <a:p>
                      <a:endParaRPr lang="ja-JP" altLang="en-US" sz="700" b="1" kern="1200" dirty="0">
                        <a:solidFill>
                          <a:schemeClr val="dk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800" b="1" u="sng" kern="1200" dirty="0">
                          <a:solidFill>
                            <a:srgbClr val="C00000"/>
                          </a:solidFill>
                          <a:effectLst/>
                        </a:rPr>
                        <a:t>×</a:t>
                      </a:r>
                      <a:r>
                        <a:rPr lang="ja-JP" altLang="en-US" sz="800" b="1" u="sng" kern="1200" dirty="0">
                          <a:solidFill>
                            <a:srgbClr val="C00000"/>
                          </a:solidFill>
                          <a:effectLst/>
                        </a:rPr>
                        <a:t> </a:t>
                      </a:r>
                      <a:r>
                        <a:rPr lang="en-US" altLang="ja-JP" sz="800" b="1" u="sng" kern="1200" dirty="0">
                          <a:solidFill>
                            <a:srgbClr val="C00000"/>
                          </a:solidFill>
                          <a:effectLst/>
                        </a:rPr>
                        <a:t>On</a:t>
                      </a:r>
                      <a:r>
                        <a:rPr lang="ja-JP" altLang="en-US" sz="800" b="1" u="sng" kern="1200" dirty="0">
                          <a:solidFill>
                            <a:srgbClr val="C00000"/>
                          </a:solidFill>
                          <a:effectLst/>
                        </a:rPr>
                        <a:t> </a:t>
                      </a:r>
                      <a:r>
                        <a:rPr lang="en-US" altLang="ja-JP" sz="800" b="1" u="sng" kern="1200" dirty="0" err="1">
                          <a:solidFill>
                            <a:srgbClr val="C00000"/>
                          </a:solidFill>
                          <a:effectLst/>
                        </a:rPr>
                        <a:t>promsise</a:t>
                      </a:r>
                      <a:r>
                        <a:rPr lang="en-US" altLang="ja-JP" sz="800" b="1" u="sng" kern="1200" dirty="0">
                          <a:solidFill>
                            <a:srgbClr val="C00000"/>
                          </a:solidFill>
                          <a:effectLst/>
                        </a:rPr>
                        <a:t> Gateway</a:t>
                      </a:r>
                      <a:r>
                        <a:rPr lang="ja-JP" altLang="en-US" sz="800" b="1" u="sng" kern="1200" dirty="0">
                          <a:solidFill>
                            <a:srgbClr val="C00000"/>
                          </a:solidFill>
                          <a:effectLst/>
                        </a:rPr>
                        <a:t>のネットワークボトルネックが発生しやすい。大規模クエリで顕著。</a:t>
                      </a:r>
                      <a:endParaRPr lang="ja-JP" altLang="en-US" sz="800" b="1" u="sng" kern="1200" dirty="0">
                        <a:solidFill>
                          <a:srgbClr val="C0000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800" b="1" i="0" u="none" strike="noStrike" kern="1200" cap="none" spc="0" normalizeH="0" baseline="0" noProof="0" dirty="0">
                          <a:ln>
                            <a:noFill/>
                          </a:ln>
                          <a:solidFill>
                            <a:srgbClr val="00B050"/>
                          </a:solidFill>
                          <a:effectLst/>
                          <a:uLnTx/>
                          <a:uFillTx/>
                          <a:latin typeface="Gill Sans MT"/>
                          <a:ea typeface="游ゴシック" panose="020B0400000000000000" pitchFamily="50" charset="-128"/>
                          <a:cs typeface="+mn-cs"/>
                        </a:rPr>
                        <a:t>〇</a:t>
                      </a:r>
                      <a:endParaRPr kumimoji="0" lang="en-US" altLang="ja-JP" sz="800" b="1" i="0" u="none" strike="noStrike" kern="1200" cap="none" spc="0" normalizeH="0" baseline="0" noProof="0" dirty="0">
                        <a:ln>
                          <a:noFill/>
                        </a:ln>
                        <a:solidFill>
                          <a:srgbClr val="C00000"/>
                        </a:solidFill>
                        <a:effectLst/>
                        <a:uLnTx/>
                        <a:uFillTx/>
                        <a:latin typeface="Gill Sans MT"/>
                        <a:ea typeface="游ゴシック" panose="020B0400000000000000" pitchFamily="50" charset="-128"/>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800" b="1" dirty="0">
                          <a:solidFill>
                            <a:srgbClr val="C00000"/>
                          </a:solidFill>
                          <a:effectLst/>
                        </a:rPr>
                        <a:t>×</a:t>
                      </a:r>
                      <a:r>
                        <a:rPr lang="ja-JP" altLang="en-US" sz="800" b="1" dirty="0">
                          <a:solidFill>
                            <a:srgbClr val="C00000"/>
                          </a:solidFill>
                          <a:effectLst/>
                        </a:rPr>
                        <a:t> </a:t>
                      </a:r>
                      <a:r>
                        <a:rPr lang="ja-JP" altLang="en-US" sz="800" dirty="0">
                          <a:solidFill>
                            <a:srgbClr val="C00000"/>
                          </a:solidFill>
                          <a:effectLst/>
                        </a:rPr>
                        <a:t>複雑なクエリでパフォーマンス低下。 </a:t>
                      </a:r>
                      <a:endParaRPr lang="ja-JP" altLang="en-US" sz="800" kern="1200" dirty="0">
                        <a:solidFill>
                          <a:schemeClr val="dk1"/>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800" dirty="0">
                          <a:solidFill>
                            <a:srgbClr val="C00000"/>
                          </a:solidFill>
                          <a:effectLst/>
                        </a:rPr>
                        <a:t>×</a:t>
                      </a:r>
                      <a:r>
                        <a:rPr lang="ja-JP" altLang="en-US" sz="800" dirty="0">
                          <a:solidFill>
                            <a:srgbClr val="C00000"/>
                          </a:solidFill>
                          <a:effectLst/>
                        </a:rPr>
                        <a:t> </a:t>
                      </a:r>
                      <a:r>
                        <a:rPr lang="ja-JP" altLang="en-US" sz="800" b="0" dirty="0">
                          <a:solidFill>
                            <a:srgbClr val="C00000"/>
                          </a:solidFill>
                          <a:effectLst/>
                        </a:rPr>
                        <a:t>大容量ファイルストレージに不向き（</a:t>
                      </a:r>
                      <a:r>
                        <a:rPr lang="en-US" altLang="ja-JP" sz="800" b="0" dirty="0">
                          <a:solidFill>
                            <a:srgbClr val="C00000"/>
                          </a:solidFill>
                          <a:effectLst/>
                        </a:rPr>
                        <a:t>TOAST</a:t>
                      </a:r>
                      <a:r>
                        <a:rPr lang="ja-JP" altLang="en-US" sz="800" b="0" dirty="0">
                          <a:solidFill>
                            <a:srgbClr val="C00000"/>
                          </a:solidFill>
                          <a:effectLst/>
                        </a:rPr>
                        <a:t>使用でパフォーマンス低下）</a:t>
                      </a:r>
                      <a:r>
                        <a:rPr lang="ja-JP" altLang="en-US" sz="800" dirty="0">
                          <a:solidFill>
                            <a:srgbClr val="C00000"/>
                          </a:solidFill>
                          <a:effectLst/>
                        </a:rPr>
                        <a:t>。 </a:t>
                      </a:r>
                      <a:endParaRPr lang="en-US" altLang="ja-JP" sz="800" dirty="0">
                        <a:solidFill>
                          <a:srgbClr val="C0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800" b="1" dirty="0">
                          <a:solidFill>
                            <a:srgbClr val="00B050"/>
                          </a:solidFill>
                          <a:effectLst/>
                        </a:rPr>
                        <a:t>〇</a:t>
                      </a:r>
                      <a:endParaRPr lang="en-US" altLang="zh-CN" sz="800" b="1" dirty="0">
                        <a:solidFill>
                          <a:srgbClr val="FF0000"/>
                        </a:solidFill>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91555614"/>
                  </a:ext>
                </a:extLst>
              </a:tr>
              <a:tr h="115424">
                <a:tc rowSpan="6">
                  <a:txBody>
                    <a:bodyPr/>
                    <a:lstStyle/>
                    <a:p>
                      <a:pPr marL="0" algn="l" defTabSz="914400" rtl="0" eaLnBrk="1" latinLnBrk="0" hangingPunct="1"/>
                      <a:r>
                        <a:rPr lang="ja-JP" altLang="en-US" sz="800" b="1" kern="1200" dirty="0">
                          <a:solidFill>
                            <a:schemeClr val="dk1"/>
                          </a:solidFill>
                          <a:latin typeface="+mn-lt"/>
                          <a:ea typeface="+mn-ea"/>
                          <a:cs typeface="+mn-cs"/>
                        </a:rPr>
                        <a:t>ディリバリ</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ja-JP" altLang="en-US" sz="900" b="1" kern="1200" dirty="0">
                          <a:solidFill>
                            <a:schemeClr val="dk1"/>
                          </a:solidFill>
                          <a:latin typeface="+mn-lt"/>
                          <a:ea typeface="+mn-ea"/>
                          <a:cs typeface="+mn-cs"/>
                        </a:rPr>
                        <a:t>インフラ、環境構築</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800" kern="1200" dirty="0">
                          <a:solidFill>
                            <a:schemeClr val="tx1"/>
                          </a:solidFill>
                          <a:effectLst/>
                        </a:rPr>
                        <a:t>△</a:t>
                      </a:r>
                      <a:r>
                        <a:rPr lang="ja-JP" altLang="en-US" sz="800" kern="1200" dirty="0">
                          <a:solidFill>
                            <a:srgbClr val="C00000"/>
                          </a:solidFill>
                          <a:effectLst/>
                        </a:rPr>
                        <a:t>　独自構築</a:t>
                      </a:r>
                      <a:endParaRPr lang="en-US" altLang="ja-JP" sz="800" kern="1200" dirty="0">
                        <a:solidFill>
                          <a:srgbClr val="C0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800" b="1" i="0" u="none" strike="noStrike" kern="1200" cap="none" spc="0" normalizeH="0" baseline="0" noProof="0" dirty="0">
                          <a:ln>
                            <a:noFill/>
                          </a:ln>
                          <a:solidFill>
                            <a:srgbClr val="00B050"/>
                          </a:solidFill>
                          <a:effectLst/>
                          <a:uLnTx/>
                          <a:uFillTx/>
                          <a:latin typeface="Gill Sans MT"/>
                          <a:ea typeface="游ゴシック" panose="020B0400000000000000" pitchFamily="50" charset="-128"/>
                          <a:cs typeface="+mn-cs"/>
                        </a:rPr>
                        <a:t>〇</a:t>
                      </a:r>
                      <a:endParaRPr kumimoji="0" lang="en-US" altLang="ja-JP" sz="800" b="1" i="0" u="none" strike="noStrike" kern="1200" cap="none" spc="0" normalizeH="0" baseline="0" noProof="0" dirty="0">
                        <a:ln>
                          <a:noFill/>
                        </a:ln>
                        <a:solidFill>
                          <a:srgbClr val="C00000"/>
                        </a:solidFill>
                        <a:effectLst/>
                        <a:uLnTx/>
                        <a:uFillTx/>
                        <a:latin typeface="Gill Sans MT"/>
                        <a:ea typeface="游ゴシック" panose="020B0400000000000000" pitchFamily="50" charset="-128"/>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800" b="1" dirty="0">
                          <a:solidFill>
                            <a:srgbClr val="00B050"/>
                          </a:solidFill>
                          <a:effectLst/>
                        </a:rPr>
                        <a:t>〇</a:t>
                      </a:r>
                      <a:endParaRPr lang="en-US" altLang="ja-JP" sz="800" b="1" dirty="0">
                        <a:solidFill>
                          <a:srgbClr val="FF0000"/>
                        </a:solidFill>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800" dirty="0">
                          <a:solidFill>
                            <a:schemeClr val="tx1"/>
                          </a:solidFill>
                          <a:effectLst/>
                        </a:rPr>
                        <a:t>△</a:t>
                      </a:r>
                      <a:r>
                        <a:rPr lang="ja-JP" altLang="en-US" sz="800" dirty="0">
                          <a:solidFill>
                            <a:srgbClr val="C00000"/>
                          </a:solidFill>
                          <a:effectLst/>
                        </a:rPr>
                        <a:t>　</a:t>
                      </a:r>
                      <a:r>
                        <a:rPr lang="ja-JP" altLang="en-US" sz="800" kern="1200" dirty="0">
                          <a:solidFill>
                            <a:srgbClr val="C00000"/>
                          </a:solidFill>
                          <a:effectLst/>
                        </a:rPr>
                        <a:t>独自構築</a:t>
                      </a:r>
                      <a:endParaRPr lang="en-US" altLang="ja-JP" sz="800" dirty="0">
                        <a:solidFill>
                          <a:srgbClr val="C0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indent="0">
                        <a:buFont typeface="Arial" panose="020B0604020202020204" pitchFamily="34" charset="0"/>
                        <a:buNone/>
                      </a:pPr>
                      <a:r>
                        <a:rPr lang="ja-JP" altLang="en-US" sz="800" b="1" dirty="0">
                          <a:solidFill>
                            <a:srgbClr val="00B050"/>
                          </a:solidFill>
                          <a:effectLst/>
                        </a:rPr>
                        <a:t>〇</a:t>
                      </a:r>
                      <a:endParaRPr lang="en-US" altLang="ja-JP" sz="800" b="1" dirty="0">
                        <a:solidFill>
                          <a:srgbClr val="C00000"/>
                        </a:solidFill>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669198767"/>
                  </a:ext>
                </a:extLst>
              </a:tr>
              <a:tr h="115424">
                <a:tc vMerge="1">
                  <a:txBody>
                    <a:bodyPr/>
                    <a:lstStyle/>
                    <a:p>
                      <a:endParaRPr lang="ja-JP" altLang="en-US" sz="70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900" b="1" kern="1200" dirty="0">
                          <a:solidFill>
                            <a:schemeClr val="dk1"/>
                          </a:solidFill>
                          <a:latin typeface="+mn-lt"/>
                          <a:ea typeface="+mn-ea"/>
                          <a:cs typeface="+mn-cs"/>
                        </a:rPr>
                        <a:t>業務機能実現</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800" b="1" i="0" u="none" strike="noStrike" kern="1200" cap="none" spc="0" normalizeH="0" baseline="0" noProof="0" dirty="0">
                          <a:ln>
                            <a:noFill/>
                          </a:ln>
                          <a:solidFill>
                            <a:srgbClr val="00B050"/>
                          </a:solidFill>
                          <a:effectLst/>
                          <a:uLnTx/>
                          <a:uFillTx/>
                          <a:latin typeface="Gill Sans MT"/>
                          <a:ea typeface="游ゴシック" panose="020B0400000000000000" pitchFamily="50" charset="-128"/>
                          <a:cs typeface="+mn-cs"/>
                        </a:rPr>
                        <a:t>〇</a:t>
                      </a:r>
                      <a:endParaRPr kumimoji="0" lang="en-US" altLang="ja-JP" sz="800" b="0" i="0" u="none" strike="noStrike" kern="1200" cap="none" spc="0" normalizeH="0" baseline="0" noProof="0" dirty="0">
                        <a:ln>
                          <a:noFill/>
                        </a:ln>
                        <a:solidFill>
                          <a:srgbClr val="00B050"/>
                        </a:solidFill>
                        <a:effectLst/>
                        <a:uLnTx/>
                        <a:uFillTx/>
                        <a:latin typeface="Gill Sans MT"/>
                        <a:ea typeface="游ゴシック" panose="020B0400000000000000" pitchFamily="50" charset="-128"/>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800" b="1" i="0" u="none" strike="noStrike" kern="1200" cap="none" spc="0" normalizeH="0" baseline="0" noProof="0" dirty="0">
                          <a:ln>
                            <a:noFill/>
                          </a:ln>
                          <a:solidFill>
                            <a:srgbClr val="00B050"/>
                          </a:solidFill>
                          <a:effectLst/>
                          <a:uLnTx/>
                          <a:uFillTx/>
                          <a:latin typeface="Gill Sans MT"/>
                          <a:ea typeface="游ゴシック" panose="020B0400000000000000" pitchFamily="50" charset="-128"/>
                          <a:cs typeface="+mn-cs"/>
                        </a:rPr>
                        <a:t>〇</a:t>
                      </a:r>
                      <a:endParaRPr kumimoji="0" lang="en-US" altLang="ja-JP" sz="800" b="1" i="0" u="none" strike="noStrike" kern="1200" cap="none" spc="0" normalizeH="0" baseline="0" noProof="0" dirty="0">
                        <a:ln>
                          <a:noFill/>
                        </a:ln>
                        <a:solidFill>
                          <a:srgbClr val="C00000"/>
                        </a:solidFill>
                        <a:effectLst/>
                        <a:uLnTx/>
                        <a:uFillTx/>
                        <a:latin typeface="Gill Sans MT"/>
                        <a:ea typeface="游ゴシック" panose="020B0400000000000000" pitchFamily="50" charset="-128"/>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800" b="1" kern="1200" dirty="0">
                          <a:solidFill>
                            <a:schemeClr val="tx1"/>
                          </a:solidFill>
                          <a:effectLst/>
                          <a:latin typeface="+mn-lt"/>
                          <a:ea typeface="+mn-ea"/>
                          <a:cs typeface="+mn-cs"/>
                        </a:rPr>
                        <a:t>△</a:t>
                      </a:r>
                      <a:r>
                        <a:rPr lang="ja-JP" altLang="en-US" sz="800" b="1" kern="1200" dirty="0">
                          <a:solidFill>
                            <a:srgbClr val="00B050"/>
                          </a:solidFill>
                          <a:effectLst/>
                          <a:latin typeface="+mn-lt"/>
                          <a:ea typeface="+mn-ea"/>
                          <a:cs typeface="+mn-cs"/>
                        </a:rPr>
                        <a:t> </a:t>
                      </a:r>
                      <a:r>
                        <a:rPr lang="en-US" altLang="ja-JP" sz="800" kern="1200" dirty="0">
                          <a:solidFill>
                            <a:srgbClr val="C00000"/>
                          </a:solidFill>
                          <a:effectLst/>
                          <a:latin typeface="+mn-lt"/>
                          <a:ea typeface="+mn-ea"/>
                          <a:cs typeface="+mn-cs"/>
                        </a:rPr>
                        <a:t>SQL</a:t>
                      </a:r>
                      <a:r>
                        <a:rPr lang="ja-JP" altLang="en-US" sz="800" kern="1200" dirty="0">
                          <a:solidFill>
                            <a:srgbClr val="C00000"/>
                          </a:solidFill>
                          <a:effectLst/>
                          <a:latin typeface="+mn-lt"/>
                          <a:ea typeface="+mn-ea"/>
                          <a:cs typeface="+mn-cs"/>
                        </a:rPr>
                        <a:t>ほど柔軟でない</a:t>
                      </a:r>
                      <a:endParaRPr lang="en-US" altLang="ja-JP" sz="800" kern="1200" dirty="0">
                        <a:solidFill>
                          <a:srgbClr val="00B050"/>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800" kern="1200" dirty="0">
                          <a:solidFill>
                            <a:srgbClr val="C00000"/>
                          </a:solidFill>
                          <a:effectLst/>
                          <a:latin typeface="+mn-lt"/>
                          <a:ea typeface="+mn-ea"/>
                          <a:cs typeface="+mn-cs"/>
                        </a:rPr>
                        <a:t>定型データの検索に</a:t>
                      </a:r>
                      <a:r>
                        <a:rPr lang="en-US" altLang="ja-JP" sz="800" kern="1200" dirty="0">
                          <a:solidFill>
                            <a:srgbClr val="C00000"/>
                          </a:solidFill>
                          <a:effectLst/>
                          <a:latin typeface="+mn-lt"/>
                          <a:ea typeface="+mn-ea"/>
                          <a:cs typeface="+mn-cs"/>
                        </a:rPr>
                        <a:t>Power Apps</a:t>
                      </a:r>
                      <a:r>
                        <a:rPr lang="ja-JP" altLang="en-US" sz="800" kern="1200" dirty="0">
                          <a:solidFill>
                            <a:srgbClr val="C00000"/>
                          </a:solidFill>
                          <a:effectLst/>
                          <a:latin typeface="+mn-lt"/>
                          <a:ea typeface="+mn-ea"/>
                          <a:cs typeface="+mn-cs"/>
                        </a:rPr>
                        <a:t>の</a:t>
                      </a:r>
                      <a:r>
                        <a:rPr lang="en-US" altLang="ja-JP" sz="800" kern="1200" dirty="0">
                          <a:solidFill>
                            <a:srgbClr val="C00000"/>
                          </a:solidFill>
                          <a:effectLst/>
                          <a:latin typeface="+mn-lt"/>
                          <a:ea typeface="+mn-ea"/>
                          <a:cs typeface="+mn-cs"/>
                        </a:rPr>
                        <a:t>Delegation</a:t>
                      </a:r>
                      <a:r>
                        <a:rPr lang="ja-JP" altLang="en-US" sz="800" kern="1200" dirty="0">
                          <a:solidFill>
                            <a:srgbClr val="C00000"/>
                          </a:solidFill>
                          <a:effectLst/>
                          <a:latin typeface="+mn-lt"/>
                          <a:ea typeface="+mn-ea"/>
                          <a:cs typeface="+mn-cs"/>
                        </a:rPr>
                        <a:t>機能に制限あり（</a:t>
                      </a:r>
                      <a:r>
                        <a:rPr lang="en-US" altLang="ja-JP" sz="800" kern="1200" dirty="0">
                          <a:solidFill>
                            <a:srgbClr val="C00000"/>
                          </a:solidFill>
                          <a:effectLst/>
                          <a:latin typeface="+mn-lt"/>
                          <a:ea typeface="+mn-ea"/>
                          <a:cs typeface="+mn-cs"/>
                        </a:rPr>
                        <a:t>MAX 2000</a:t>
                      </a:r>
                      <a:r>
                        <a:rPr lang="ja-JP" altLang="en-US" sz="800" kern="1200" dirty="0">
                          <a:solidFill>
                            <a:srgbClr val="C00000"/>
                          </a:solidFill>
                          <a:effectLst/>
                          <a:latin typeface="+mn-lt"/>
                          <a:ea typeface="+mn-ea"/>
                          <a:cs typeface="+mn-cs"/>
                        </a:rPr>
                        <a:t>件</a:t>
                      </a:r>
                      <a:r>
                        <a:rPr lang="en-US" altLang="ja-JP" sz="800" kern="1200" dirty="0">
                          <a:solidFill>
                            <a:srgbClr val="C00000"/>
                          </a:solidFill>
                          <a:effectLst/>
                          <a:latin typeface="+mn-lt"/>
                          <a:ea typeface="+mn-ea"/>
                          <a:cs typeface="+mn-cs"/>
                        </a:rPr>
                        <a:t>)</a:t>
                      </a:r>
                      <a:endParaRPr lang="ja-JP" altLang="en-US" sz="800" kern="1200" dirty="0">
                        <a:solidFill>
                          <a:srgbClr val="C0000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800" b="1" i="0" u="none" strike="noStrike" kern="1200" cap="none" spc="0" normalizeH="0" baseline="0" noProof="0" dirty="0">
                          <a:ln>
                            <a:noFill/>
                          </a:ln>
                          <a:solidFill>
                            <a:srgbClr val="00B050"/>
                          </a:solidFill>
                          <a:effectLst/>
                          <a:uLnTx/>
                          <a:uFillTx/>
                          <a:latin typeface="+mn-lt"/>
                          <a:ea typeface="+mn-ea"/>
                          <a:cs typeface="+mn-cs"/>
                        </a:rPr>
                        <a:t>〇</a:t>
                      </a:r>
                      <a:endParaRPr kumimoji="0" lang="en-US" altLang="ja-JP" sz="800" b="0" i="0" u="none" strike="noStrike" kern="1200" cap="none" spc="0" normalizeH="0" baseline="0" noProof="0" dirty="0">
                        <a:ln>
                          <a:noFill/>
                        </a:ln>
                        <a:solidFill>
                          <a:srgbClr val="00B050"/>
                        </a:solidFill>
                        <a:effectLst/>
                        <a:uLnTx/>
                        <a:uFillTx/>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indent="0">
                        <a:buFont typeface="Arial" panose="020B0604020202020204" pitchFamily="34" charset="0"/>
                        <a:buNone/>
                      </a:pPr>
                      <a:r>
                        <a:rPr lang="ja-JP" altLang="en-US" sz="800" b="1" dirty="0">
                          <a:solidFill>
                            <a:srgbClr val="00B050"/>
                          </a:solidFill>
                          <a:effectLst/>
                        </a:rPr>
                        <a:t>〇</a:t>
                      </a:r>
                      <a:endParaRPr lang="en-US" altLang="ja-JP" sz="800" b="1" dirty="0">
                        <a:solidFill>
                          <a:srgbClr val="C00000"/>
                        </a:solidFill>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549740188"/>
                  </a:ext>
                </a:extLst>
              </a:tr>
              <a:tr h="216424">
                <a:tc vMerge="1">
                  <a:txBody>
                    <a:bodyPr/>
                    <a:lstStyle/>
                    <a:p>
                      <a:endParaRPr kumimoji="1" lang="ja-JP" altLang="en-US"/>
                    </a:p>
                  </a:txBody>
                  <a:tcPr/>
                </a:tc>
                <a:tc>
                  <a:txBody>
                    <a:bodyPr/>
                    <a:lstStyle/>
                    <a:p>
                      <a:r>
                        <a:rPr lang="ja-JP" altLang="en-US" sz="900" b="1" kern="1200" dirty="0">
                          <a:solidFill>
                            <a:schemeClr val="dk1"/>
                          </a:solidFill>
                          <a:latin typeface="+mn-lt"/>
                          <a:ea typeface="+mn-ea"/>
                          <a:cs typeface="+mn-cs"/>
                        </a:rPr>
                        <a:t>定型検索機能</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800" b="1" i="0" u="none" strike="noStrike" kern="1200" cap="none" spc="0" normalizeH="0" baseline="0" noProof="0" dirty="0">
                          <a:ln>
                            <a:noFill/>
                          </a:ln>
                          <a:solidFill>
                            <a:srgbClr val="00B050"/>
                          </a:solidFill>
                          <a:effectLst/>
                          <a:uLnTx/>
                          <a:uFillTx/>
                          <a:latin typeface="Gill Sans MT"/>
                          <a:ea typeface="游ゴシック" panose="020B0400000000000000" pitchFamily="50" charset="-128"/>
                          <a:cs typeface="+mn-cs"/>
                        </a:rPr>
                        <a:t>〇</a:t>
                      </a:r>
                      <a:endParaRPr kumimoji="0" lang="en-US" altLang="ja-JP" sz="800" b="0" i="0" u="none" strike="noStrike" kern="1200" cap="none" spc="0" normalizeH="0" baseline="0" noProof="0" dirty="0">
                        <a:ln>
                          <a:noFill/>
                        </a:ln>
                        <a:solidFill>
                          <a:srgbClr val="00B050"/>
                        </a:solidFill>
                        <a:effectLst/>
                        <a:uLnTx/>
                        <a:uFillTx/>
                        <a:latin typeface="Gill Sans MT"/>
                        <a:ea typeface="游ゴシック" panose="020B0400000000000000" pitchFamily="50" charset="-128"/>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800" b="1" i="0" u="none" strike="noStrike" kern="1200" cap="none" spc="0" normalizeH="0" baseline="0" noProof="0" dirty="0">
                          <a:ln>
                            <a:noFill/>
                          </a:ln>
                          <a:solidFill>
                            <a:srgbClr val="00B050"/>
                          </a:solidFill>
                          <a:effectLst/>
                          <a:uLnTx/>
                          <a:uFillTx/>
                          <a:latin typeface="Gill Sans MT"/>
                          <a:ea typeface="游ゴシック" panose="020B0400000000000000" pitchFamily="50" charset="-128"/>
                          <a:cs typeface="+mn-cs"/>
                        </a:rPr>
                        <a:t>〇</a:t>
                      </a:r>
                      <a:endParaRPr kumimoji="0" lang="en-US" altLang="ja-JP" sz="800" b="0" i="0" u="none" strike="noStrike" kern="1200" cap="none" spc="0" normalizeH="0" baseline="0" noProof="0" dirty="0">
                        <a:ln>
                          <a:noFill/>
                        </a:ln>
                        <a:solidFill>
                          <a:srgbClr val="00B050"/>
                        </a:solidFill>
                        <a:effectLst/>
                        <a:uLnTx/>
                        <a:uFillTx/>
                        <a:latin typeface="Gill Sans MT"/>
                        <a:ea typeface="游ゴシック" panose="020B0400000000000000" pitchFamily="50" charset="-128"/>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ja-JP" sz="800" b="1" kern="1200" dirty="0">
                          <a:solidFill>
                            <a:schemeClr val="tx1"/>
                          </a:solidFill>
                          <a:effectLst/>
                          <a:latin typeface="+mn-lt"/>
                          <a:ea typeface="+mn-ea"/>
                          <a:cs typeface="+mn-cs"/>
                        </a:rPr>
                        <a:t>×</a:t>
                      </a:r>
                      <a:r>
                        <a:rPr lang="ja-JP" altLang="en-US" sz="800" b="1" kern="1200" dirty="0">
                          <a:solidFill>
                            <a:srgbClr val="00B050"/>
                          </a:solidFill>
                          <a:effectLst/>
                          <a:latin typeface="+mn-lt"/>
                          <a:ea typeface="+mn-ea"/>
                          <a:cs typeface="+mn-cs"/>
                        </a:rPr>
                        <a:t>　</a:t>
                      </a:r>
                      <a:endParaRPr lang="en-US" altLang="ja-JP" sz="800" kern="1200" dirty="0">
                        <a:solidFill>
                          <a:srgbClr val="C0000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800" b="1" i="0" u="none" strike="noStrike" kern="1200" cap="none" spc="0" normalizeH="0" baseline="0" noProof="0" dirty="0">
                          <a:ln>
                            <a:noFill/>
                          </a:ln>
                          <a:solidFill>
                            <a:srgbClr val="00B050"/>
                          </a:solidFill>
                          <a:effectLst/>
                          <a:uLnTx/>
                          <a:uFillTx/>
                          <a:latin typeface="+mn-lt"/>
                          <a:ea typeface="+mn-ea"/>
                          <a:cs typeface="+mn-cs"/>
                        </a:rPr>
                        <a:t>〇</a:t>
                      </a:r>
                      <a:endParaRPr kumimoji="0" lang="en-US" altLang="ja-JP" sz="800" b="0" i="0" u="none" strike="noStrike" kern="1200" cap="none" spc="0" normalizeH="0" baseline="0" noProof="0" dirty="0">
                        <a:ln>
                          <a:noFill/>
                        </a:ln>
                        <a:solidFill>
                          <a:srgbClr val="00B050"/>
                        </a:solidFill>
                        <a:effectLst/>
                        <a:uLnTx/>
                        <a:uFillTx/>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800" kern="1200" dirty="0">
                          <a:solidFill>
                            <a:srgbClr val="00B050"/>
                          </a:solidFill>
                          <a:effectLst/>
                          <a:latin typeface="+mn-lt"/>
                          <a:ea typeface="+mn-ea"/>
                          <a:cs typeface="+mn-cs"/>
                        </a:rPr>
                        <a:t>定型データの検索：　〇</a:t>
                      </a:r>
                      <a:endParaRPr lang="en-US" altLang="ja-JP" sz="800" kern="1200" dirty="0">
                        <a:solidFill>
                          <a:srgbClr val="00B05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60454792"/>
                  </a:ext>
                </a:extLst>
              </a:tr>
              <a:tr h="275140">
                <a:tc vMerge="1">
                  <a:txBody>
                    <a:bodyPr/>
                    <a:lstStyle/>
                    <a:p>
                      <a:endParaRPr kumimoji="1" lang="ja-JP" altLang="en-US"/>
                    </a:p>
                  </a:txBody>
                  <a:tcPr/>
                </a:tc>
                <a:tc>
                  <a:txBody>
                    <a:bodyPr/>
                    <a:lstStyle/>
                    <a:p>
                      <a:r>
                        <a:rPr lang="ja-JP" altLang="en-US" sz="900" b="1" kern="1200" dirty="0">
                          <a:solidFill>
                            <a:schemeClr val="dk1"/>
                          </a:solidFill>
                          <a:latin typeface="+mn-lt"/>
                          <a:ea typeface="+mn-ea"/>
                          <a:cs typeface="+mn-cs"/>
                        </a:rPr>
                        <a:t>添付ファイルの検索機能</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800" kern="1200" dirty="0">
                          <a:solidFill>
                            <a:srgbClr val="00B050"/>
                          </a:solidFill>
                          <a:effectLst/>
                          <a:latin typeface="+mn-lt"/>
                          <a:ea typeface="+mn-ea"/>
                          <a:cs typeface="+mn-cs"/>
                        </a:rPr>
                        <a:t>定型データの検索：　〇</a:t>
                      </a:r>
                      <a:endParaRPr lang="en-US" altLang="ja-JP" sz="800" kern="1200" dirty="0">
                        <a:solidFill>
                          <a:srgbClr val="00B050"/>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800" kern="1200" dirty="0">
                          <a:solidFill>
                            <a:schemeClr val="tx1"/>
                          </a:solidFill>
                          <a:effectLst/>
                          <a:latin typeface="+mn-lt"/>
                          <a:ea typeface="+mn-ea"/>
                          <a:cs typeface="+mn-cs"/>
                        </a:rPr>
                        <a:t>添付ファイルの検索：△</a:t>
                      </a:r>
                      <a:r>
                        <a:rPr lang="ja-JP" altLang="en-US" sz="800" kern="1200" dirty="0">
                          <a:solidFill>
                            <a:srgbClr val="C00000"/>
                          </a:solidFill>
                          <a:effectLst/>
                          <a:latin typeface="+mn-lt"/>
                          <a:ea typeface="+mn-ea"/>
                          <a:cs typeface="+mn-cs"/>
                        </a:rPr>
                        <a:t>（</a:t>
                      </a:r>
                      <a:r>
                        <a:rPr lang="en-US" altLang="ja-JP" sz="800" kern="1200" dirty="0">
                          <a:solidFill>
                            <a:srgbClr val="C00000"/>
                          </a:solidFill>
                          <a:effectLst/>
                          <a:latin typeface="+mn-lt"/>
                          <a:ea typeface="+mn-ea"/>
                          <a:cs typeface="+mn-cs"/>
                        </a:rPr>
                        <a:t>Bug</a:t>
                      </a:r>
                      <a:r>
                        <a:rPr lang="ja-JP" altLang="en-US" sz="800" kern="1200" dirty="0">
                          <a:solidFill>
                            <a:srgbClr val="C00000"/>
                          </a:solidFill>
                          <a:effectLst/>
                          <a:latin typeface="+mn-lt"/>
                          <a:ea typeface="+mn-ea"/>
                          <a:cs typeface="+mn-cs"/>
                        </a:rPr>
                        <a:t>リポートあり）</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800" b="1" kern="1200" dirty="0">
                          <a:solidFill>
                            <a:schemeClr val="tx1"/>
                          </a:solidFill>
                          <a:effectLst/>
                          <a:latin typeface="+mn-lt"/>
                          <a:ea typeface="+mn-ea"/>
                          <a:cs typeface="+mn-cs"/>
                        </a:rPr>
                        <a:t>△ </a:t>
                      </a:r>
                      <a:r>
                        <a:rPr lang="ja-JP" altLang="en-US" sz="800" kern="1200" dirty="0">
                          <a:solidFill>
                            <a:srgbClr val="00B050"/>
                          </a:solidFill>
                          <a:effectLst/>
                          <a:latin typeface="+mn-lt"/>
                          <a:ea typeface="+mn-ea"/>
                          <a:cs typeface="+mn-cs"/>
                        </a:rPr>
                        <a:t>基本機能はできているが、</a:t>
                      </a:r>
                      <a:r>
                        <a:rPr lang="ja-JP" altLang="en-US" sz="800" dirty="0">
                          <a:solidFill>
                            <a:srgbClr val="C00000"/>
                          </a:solidFill>
                          <a:effectLst/>
                        </a:rPr>
                        <a:t>カスタマイズ性に欠ける</a:t>
                      </a:r>
                      <a:endParaRPr lang="en-US" altLang="ja-JP" sz="800" dirty="0">
                        <a:solidFill>
                          <a:srgbClr val="00B050"/>
                        </a:solidFill>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ja-JP" sz="800" b="1" kern="1200" dirty="0">
                          <a:solidFill>
                            <a:srgbClr val="C00000"/>
                          </a:solidFill>
                          <a:effectLst/>
                          <a:latin typeface="+mn-lt"/>
                          <a:ea typeface="+mn-ea"/>
                          <a:cs typeface="+mn-cs"/>
                        </a:rPr>
                        <a:t>×</a:t>
                      </a:r>
                      <a:r>
                        <a:rPr lang="ja-JP" altLang="en-US" sz="800" b="1" kern="1200" dirty="0">
                          <a:solidFill>
                            <a:srgbClr val="00B050"/>
                          </a:solidFill>
                          <a:effectLst/>
                          <a:latin typeface="+mn-lt"/>
                          <a:ea typeface="+mn-ea"/>
                          <a:cs typeface="+mn-cs"/>
                        </a:rPr>
                        <a:t>　</a:t>
                      </a:r>
                      <a:r>
                        <a:rPr lang="ja-JP" altLang="en-US" sz="800" kern="1200" dirty="0">
                          <a:solidFill>
                            <a:srgbClr val="C00000"/>
                          </a:solidFill>
                          <a:effectLst/>
                          <a:latin typeface="+mn-lt"/>
                          <a:ea typeface="+mn-ea"/>
                          <a:cs typeface="+mn-cs"/>
                        </a:rPr>
                        <a:t>テキスト抽出機能、非テキスト検索のサポートが限定的</a:t>
                      </a:r>
                      <a:endParaRPr lang="en-US" altLang="ja-JP" sz="800" kern="1200" dirty="0">
                        <a:solidFill>
                          <a:srgbClr val="C0000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800" b="1" dirty="0">
                          <a:solidFill>
                            <a:schemeClr val="tx1"/>
                          </a:solidFill>
                          <a:effectLst/>
                        </a:rPr>
                        <a:t>△</a:t>
                      </a:r>
                      <a:r>
                        <a:rPr lang="en-US" altLang="ja-JP" sz="800" b="1" kern="1200" dirty="0">
                          <a:solidFill>
                            <a:schemeClr val="tx1"/>
                          </a:solidFill>
                          <a:effectLst/>
                          <a:latin typeface="+mn-lt"/>
                          <a:ea typeface="+mn-ea"/>
                          <a:cs typeface="+mn-cs"/>
                        </a:rPr>
                        <a:t> </a:t>
                      </a:r>
                      <a:r>
                        <a:rPr lang="ja-JP" altLang="en-US" sz="800" kern="1200" dirty="0">
                          <a:solidFill>
                            <a:schemeClr val="tx1"/>
                          </a:solidFill>
                          <a:effectLst/>
                          <a:latin typeface="+mn-lt"/>
                          <a:ea typeface="+mn-ea"/>
                          <a:cs typeface="+mn-cs"/>
                        </a:rPr>
                        <a:t>独自対応が必要</a:t>
                      </a:r>
                      <a:r>
                        <a:rPr lang="ja-JP" altLang="en-US" sz="800" dirty="0">
                          <a:solidFill>
                            <a:schemeClr val="tx1"/>
                          </a:solidFill>
                          <a:effectLst/>
                        </a:rPr>
                        <a:t> </a:t>
                      </a:r>
                      <a:endParaRPr lang="en-US" altLang="ja-JP" sz="800" dirty="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altLang="ja-JP" sz="800" dirty="0">
                        <a:solidFill>
                          <a:srgbClr val="C0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indent="0" algn="l" defTabSz="914400" rtl="0" eaLnBrk="1" latinLnBrk="0" hangingPunct="1">
                        <a:buFont typeface="Arial" panose="020B0604020202020204" pitchFamily="34" charset="0"/>
                        <a:buNone/>
                      </a:pPr>
                      <a:r>
                        <a:rPr lang="ja-JP" altLang="en-US" sz="800" b="1" dirty="0">
                          <a:solidFill>
                            <a:srgbClr val="00B050"/>
                          </a:solidFill>
                          <a:effectLst/>
                        </a:rPr>
                        <a:t>〇</a:t>
                      </a:r>
                      <a:r>
                        <a:rPr lang="ja-JP" altLang="en-US" sz="800" dirty="0">
                          <a:solidFill>
                            <a:srgbClr val="C00000"/>
                          </a:solidFill>
                          <a:effectLst/>
                        </a:rPr>
                        <a:t> </a:t>
                      </a:r>
                      <a:r>
                        <a:rPr lang="en-US" altLang="ja-JP" sz="800" dirty="0">
                          <a:solidFill>
                            <a:schemeClr val="tx1"/>
                          </a:solidFill>
                          <a:effectLst/>
                        </a:rPr>
                        <a:t>Microsoft Search</a:t>
                      </a:r>
                      <a:r>
                        <a:rPr lang="ja-JP" altLang="en-US" sz="800" dirty="0">
                          <a:solidFill>
                            <a:schemeClr val="tx1"/>
                          </a:solidFill>
                          <a:effectLst/>
                        </a:rPr>
                        <a:t>（</a:t>
                      </a:r>
                      <a:r>
                        <a:rPr lang="en-US" altLang="ja-JP" sz="800" dirty="0">
                          <a:solidFill>
                            <a:schemeClr val="tx1"/>
                          </a:solidFill>
                          <a:effectLst/>
                        </a:rPr>
                        <a:t>Graph</a:t>
                      </a:r>
                      <a:r>
                        <a:rPr lang="ja-JP" altLang="en-US" sz="800" dirty="0">
                          <a:solidFill>
                            <a:schemeClr val="tx1"/>
                          </a:solidFill>
                          <a:effectLst/>
                        </a:rPr>
                        <a:t> </a:t>
                      </a:r>
                      <a:r>
                        <a:rPr lang="en-US" altLang="ja-JP" sz="800" dirty="0">
                          <a:solidFill>
                            <a:schemeClr val="tx1"/>
                          </a:solidFill>
                          <a:effectLst/>
                        </a:rPr>
                        <a:t>API</a:t>
                      </a:r>
                      <a:r>
                        <a:rPr lang="ja-JP" altLang="en-US" sz="800" dirty="0">
                          <a:solidFill>
                            <a:schemeClr val="tx1"/>
                          </a:solidFill>
                          <a:effectLst/>
                        </a:rPr>
                        <a:t>）で実現。</a:t>
                      </a:r>
                      <a:endParaRPr lang="en-US" altLang="ja-JP" sz="800" kern="1200" dirty="0">
                        <a:solidFill>
                          <a:schemeClr val="tx1"/>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752301083"/>
                  </a:ext>
                </a:extLst>
              </a:tr>
              <a:tr h="275140">
                <a:tc vMerge="1">
                  <a:txBody>
                    <a:bodyPr/>
                    <a:lstStyle/>
                    <a:p>
                      <a:endParaRPr lang="ja-JP" altLang="en-US" sz="70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ja-JP" altLang="en-US" sz="900" b="1" kern="1200" dirty="0">
                          <a:solidFill>
                            <a:schemeClr val="dk1"/>
                          </a:solidFill>
                          <a:latin typeface="+mn-lt"/>
                          <a:ea typeface="+mn-ea"/>
                          <a:cs typeface="+mn-cs"/>
                        </a:rPr>
                        <a:t>実績</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800" b="1" i="0" u="none" strike="noStrike" kern="1200" cap="none" spc="0" normalizeH="0" baseline="0" noProof="0" dirty="0">
                          <a:ln>
                            <a:noFill/>
                          </a:ln>
                          <a:solidFill>
                            <a:srgbClr val="00B050"/>
                          </a:solidFill>
                          <a:effectLst/>
                          <a:uLnTx/>
                          <a:uFillTx/>
                          <a:latin typeface="+mn-lt"/>
                          <a:ea typeface="+mn-ea"/>
                          <a:cs typeface="+mn-cs"/>
                        </a:rPr>
                        <a:t>〇</a:t>
                      </a:r>
                      <a:endParaRPr kumimoji="0" lang="en-US" altLang="ja-JP" sz="800" b="0" i="0" u="none" strike="noStrike" kern="1200" cap="none" spc="0" normalizeH="0" baseline="0" noProof="0" dirty="0">
                        <a:ln>
                          <a:noFill/>
                        </a:ln>
                        <a:solidFill>
                          <a:srgbClr val="00B050"/>
                        </a:solidFill>
                        <a:effectLst/>
                        <a:uLnTx/>
                        <a:uFillTx/>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800" dirty="0">
                          <a:solidFill>
                            <a:schemeClr val="tx1"/>
                          </a:solidFill>
                          <a:effectLst/>
                        </a:rPr>
                        <a:t>△（評価のみだが、</a:t>
                      </a:r>
                      <a:r>
                        <a:rPr lang="en-US" altLang="ja-JP" sz="800" dirty="0">
                          <a:solidFill>
                            <a:schemeClr val="tx1"/>
                          </a:solidFill>
                          <a:effectLst/>
                        </a:rPr>
                        <a:t>Azure SQL</a:t>
                      </a:r>
                      <a:r>
                        <a:rPr lang="ja-JP" altLang="en-US" sz="800" dirty="0">
                          <a:solidFill>
                            <a:schemeClr val="tx1"/>
                          </a:solidFill>
                          <a:effectLst/>
                        </a:rPr>
                        <a:t>と</a:t>
                      </a:r>
                      <a:r>
                        <a:rPr lang="en-US" altLang="ja-JP" sz="800" dirty="0">
                          <a:solidFill>
                            <a:schemeClr val="tx1"/>
                          </a:solidFill>
                          <a:effectLst/>
                        </a:rPr>
                        <a:t>SQL</a:t>
                      </a:r>
                      <a:r>
                        <a:rPr lang="ja-JP" altLang="en-US" sz="800" dirty="0">
                          <a:solidFill>
                            <a:schemeClr val="tx1"/>
                          </a:solidFill>
                          <a:effectLst/>
                        </a:rPr>
                        <a:t> </a:t>
                      </a:r>
                      <a:r>
                        <a:rPr lang="en-US" altLang="ja-JP" sz="800" dirty="0">
                          <a:solidFill>
                            <a:schemeClr val="tx1"/>
                          </a:solidFill>
                          <a:effectLst/>
                        </a:rPr>
                        <a:t>Server</a:t>
                      </a:r>
                      <a:r>
                        <a:rPr lang="ja-JP" altLang="en-US" sz="800" dirty="0">
                          <a:solidFill>
                            <a:schemeClr val="tx1"/>
                          </a:solidFill>
                          <a:effectLst/>
                        </a:rPr>
                        <a:t> </a:t>
                      </a:r>
                      <a:r>
                        <a:rPr lang="en-US" altLang="ja-JP" sz="800" dirty="0">
                          <a:solidFill>
                            <a:schemeClr val="tx1"/>
                          </a:solidFill>
                          <a:effectLst/>
                        </a:rPr>
                        <a:t>2022</a:t>
                      </a:r>
                      <a:r>
                        <a:rPr lang="ja-JP" altLang="en-US" sz="800" dirty="0">
                          <a:solidFill>
                            <a:schemeClr val="tx1"/>
                          </a:solidFill>
                          <a:effectLst/>
                        </a:rPr>
                        <a:t>の定型データ管理には差異がないため、リスクがないと認識）</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800" kern="1200" dirty="0">
                          <a:solidFill>
                            <a:srgbClr val="00B050"/>
                          </a:solidFill>
                          <a:effectLst/>
                        </a:rPr>
                        <a:t>〇</a:t>
                      </a:r>
                      <a:endParaRPr lang="ja-JP" altLang="en-US" sz="800" kern="1200" dirty="0">
                        <a:solidFill>
                          <a:srgbClr val="00B05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ja-JP" sz="800" b="1" dirty="0">
                          <a:solidFill>
                            <a:srgbClr val="C00000"/>
                          </a:solidFill>
                          <a:effectLst/>
                        </a:rPr>
                        <a:t>×</a:t>
                      </a:r>
                      <a:r>
                        <a:rPr lang="ja-JP" altLang="en-US" sz="800" dirty="0">
                          <a:solidFill>
                            <a:srgbClr val="C00000"/>
                          </a:solidFill>
                          <a:effectLst/>
                        </a:rPr>
                        <a:t>　</a:t>
                      </a:r>
                      <a:r>
                        <a:rPr lang="en-US" altLang="ja-JP" sz="800" dirty="0">
                          <a:solidFill>
                            <a:srgbClr val="C00000"/>
                          </a:solidFill>
                          <a:effectLst/>
                        </a:rPr>
                        <a:t>Power</a:t>
                      </a:r>
                      <a:r>
                        <a:rPr lang="ja-JP" altLang="en-US" sz="800" dirty="0">
                          <a:solidFill>
                            <a:srgbClr val="C00000"/>
                          </a:solidFill>
                          <a:effectLst/>
                        </a:rPr>
                        <a:t> </a:t>
                      </a:r>
                      <a:r>
                        <a:rPr lang="en-US" altLang="ja-JP" sz="800" dirty="0">
                          <a:solidFill>
                            <a:srgbClr val="C00000"/>
                          </a:solidFill>
                          <a:effectLst/>
                        </a:rPr>
                        <a:t>Platform</a:t>
                      </a:r>
                      <a:r>
                        <a:rPr lang="ja-JP" altLang="en-US" sz="800" dirty="0">
                          <a:solidFill>
                            <a:srgbClr val="C00000"/>
                          </a:solidFill>
                          <a:effectLst/>
                        </a:rPr>
                        <a:t>連携に実績ない</a:t>
                      </a:r>
                      <a:endParaRPr lang="en-US" altLang="ja-JP" sz="800" dirty="0">
                        <a:solidFill>
                          <a:srgbClr val="C0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800" dirty="0">
                          <a:solidFill>
                            <a:srgbClr val="00B050"/>
                          </a:solidFill>
                          <a:effectLst/>
                        </a:rPr>
                        <a:t>〇</a:t>
                      </a:r>
                      <a:endParaRPr lang="en-US" altLang="ja-JP" sz="800" kern="1200" dirty="0">
                        <a:solidFill>
                          <a:srgbClr val="C0000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4260201674"/>
                  </a:ext>
                </a:extLst>
              </a:tr>
              <a:tr h="445503">
                <a:tc vMerge="1">
                  <a:txBody>
                    <a:bodyPr/>
                    <a:lstStyle/>
                    <a:p>
                      <a:pPr marL="0" algn="l" defTabSz="914400" rtl="0" eaLnBrk="1" latinLnBrk="0" hangingPunct="1"/>
                      <a:endParaRPr lang="ja-JP" altLang="en-US" sz="700" b="1" kern="1200" dirty="0">
                        <a:solidFill>
                          <a:schemeClr val="dk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ja-JP" altLang="en-US" sz="900" b="1" kern="1200" dirty="0">
                          <a:solidFill>
                            <a:schemeClr val="dk1"/>
                          </a:solidFill>
                          <a:latin typeface="+mn-lt"/>
                          <a:ea typeface="+mn-ea"/>
                          <a:cs typeface="+mn-cs"/>
                        </a:rPr>
                        <a:t>設計・実装の特別考慮</a:t>
                      </a:r>
                      <a:endParaRPr lang="en-US" altLang="ja-JP" sz="900" b="1" kern="1200" dirty="0">
                        <a:solidFill>
                          <a:schemeClr val="dk1"/>
                        </a:solidFill>
                        <a:latin typeface="+mn-lt"/>
                        <a:ea typeface="+mn-ea"/>
                        <a:cs typeface="+mn-cs"/>
                      </a:endParaRPr>
                    </a:p>
                    <a:p>
                      <a:r>
                        <a:rPr lang="en-US" altLang="ja-JP" sz="900" b="1" kern="1200" dirty="0">
                          <a:solidFill>
                            <a:schemeClr val="dk1"/>
                          </a:solidFill>
                          <a:latin typeface="+mn-lt"/>
                          <a:ea typeface="+mn-ea"/>
                          <a:cs typeface="+mn-cs"/>
                        </a:rPr>
                        <a:t>(</a:t>
                      </a:r>
                      <a:r>
                        <a:rPr lang="ja-JP" altLang="en-US" sz="900" b="1" kern="1200" dirty="0">
                          <a:solidFill>
                            <a:schemeClr val="dk1"/>
                          </a:solidFill>
                          <a:latin typeface="+mn-lt"/>
                          <a:ea typeface="+mn-ea"/>
                          <a:cs typeface="+mn-cs"/>
                        </a:rPr>
                        <a:t>権限</a:t>
                      </a:r>
                      <a:r>
                        <a:rPr lang="en-US" altLang="ja-JP" sz="900" b="1" kern="1200" dirty="0">
                          <a:solidFill>
                            <a:schemeClr val="dk1"/>
                          </a:solidFill>
                          <a:latin typeface="+mn-lt"/>
                          <a:ea typeface="+mn-ea"/>
                          <a:cs typeface="+mn-cs"/>
                        </a:rPr>
                        <a:t>)</a:t>
                      </a:r>
                      <a:endParaRPr lang="ja-JP" altLang="en-US" sz="900" b="1" kern="1200" dirty="0">
                        <a:solidFill>
                          <a:schemeClr val="dk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ja-JP" altLang="en-US" sz="800" b="1" kern="1200" dirty="0">
                          <a:solidFill>
                            <a:schemeClr val="dk1"/>
                          </a:solidFill>
                          <a:latin typeface="+mn-lt"/>
                          <a:ea typeface="+mn-ea"/>
                          <a:cs typeface="+mn-cs"/>
                        </a:rPr>
                        <a:t>ー</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800" b="1" kern="1200" dirty="0">
                          <a:solidFill>
                            <a:schemeClr val="dk1"/>
                          </a:solidFill>
                          <a:latin typeface="+mn-lt"/>
                          <a:ea typeface="+mn-ea"/>
                          <a:cs typeface="+mn-cs"/>
                        </a:rPr>
                        <a:t>ー</a:t>
                      </a:r>
                      <a:endParaRPr lang="ja-JP" altLang="en-US" sz="800" dirty="0">
                        <a:solidFill>
                          <a:srgbClr val="00B05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 typeface="Arial" panose="020B0604020202020204" pitchFamily="34" charset="0"/>
                        <a:buNone/>
                      </a:pPr>
                      <a:r>
                        <a:rPr lang="ja-JP" altLang="en-US" sz="800" b="1" kern="1200" dirty="0">
                          <a:solidFill>
                            <a:schemeClr val="dk1"/>
                          </a:solidFill>
                          <a:latin typeface="+mn-lt"/>
                          <a:ea typeface="+mn-ea"/>
                          <a:cs typeface="+mn-cs"/>
                        </a:rPr>
                        <a:t>ー</a:t>
                      </a:r>
                      <a:endParaRPr lang="en-US" altLang="ja-JP" sz="800" dirty="0">
                        <a:solidFill>
                          <a:srgbClr val="00B050"/>
                        </a:solidFill>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800" b="1" kern="1200" dirty="0">
                          <a:solidFill>
                            <a:schemeClr val="dk1"/>
                          </a:solidFill>
                          <a:latin typeface="+mn-lt"/>
                          <a:ea typeface="+mn-ea"/>
                          <a:cs typeface="+mn-cs"/>
                        </a:rPr>
                        <a:t>ー</a:t>
                      </a:r>
                      <a:endParaRPr lang="en-US" altLang="ja-JP" sz="800" dirty="0">
                        <a:solidFill>
                          <a:srgbClr val="C0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defTabSz="914400" rtl="0" eaLnBrk="1" latinLnBrk="0" hangingPunct="1">
                        <a:buFont typeface="Arial" panose="020B0604020202020204" pitchFamily="34" charset="0"/>
                        <a:buNone/>
                      </a:pPr>
                      <a:r>
                        <a:rPr lang="ja-JP" altLang="en-US" sz="800" kern="1200" dirty="0">
                          <a:solidFill>
                            <a:schemeClr val="tx1"/>
                          </a:solidFill>
                          <a:effectLst/>
                          <a:latin typeface="+mn-lt"/>
                          <a:ea typeface="+mn-ea"/>
                          <a:cs typeface="+mn-cs"/>
                        </a:rPr>
                        <a:t>△　</a:t>
                      </a:r>
                      <a:endParaRPr lang="en-US" altLang="ja-JP" sz="800" kern="1200" dirty="0">
                        <a:solidFill>
                          <a:schemeClr val="tx1"/>
                        </a:solidFill>
                        <a:effectLst/>
                        <a:latin typeface="+mn-lt"/>
                        <a:ea typeface="+mn-ea"/>
                        <a:cs typeface="+mn-cs"/>
                      </a:endParaRPr>
                    </a:p>
                    <a:p>
                      <a:pPr marL="0" indent="0" algn="l" defTabSz="914400" rtl="0" eaLnBrk="1" latinLnBrk="0" hangingPunct="1">
                        <a:buFont typeface="Arial" panose="020B0604020202020204" pitchFamily="34" charset="0"/>
                        <a:buNone/>
                      </a:pPr>
                      <a:r>
                        <a:rPr lang="en-US" altLang="ja-JP" sz="800" kern="1200" dirty="0">
                          <a:solidFill>
                            <a:srgbClr val="C00000"/>
                          </a:solidFill>
                          <a:effectLst/>
                          <a:latin typeface="+mn-lt"/>
                          <a:ea typeface="+mn-ea"/>
                          <a:cs typeface="+mn-cs"/>
                        </a:rPr>
                        <a:t>SharePoint</a:t>
                      </a:r>
                      <a:r>
                        <a:rPr lang="ja-JP" altLang="en-US" sz="800" kern="1200" dirty="0">
                          <a:solidFill>
                            <a:srgbClr val="C00000"/>
                          </a:solidFill>
                          <a:effectLst/>
                          <a:latin typeface="+mn-lt"/>
                          <a:ea typeface="+mn-ea"/>
                          <a:cs typeface="+mn-cs"/>
                        </a:rPr>
                        <a:t>に置いている添付ファイルは</a:t>
                      </a:r>
                      <a:r>
                        <a:rPr lang="en-US" altLang="ja-JP" sz="800" kern="1200" dirty="0">
                          <a:solidFill>
                            <a:srgbClr val="C00000"/>
                          </a:solidFill>
                          <a:effectLst/>
                          <a:latin typeface="+mn-lt"/>
                          <a:ea typeface="+mn-ea"/>
                          <a:cs typeface="+mn-cs"/>
                        </a:rPr>
                        <a:t>Direct</a:t>
                      </a:r>
                      <a:r>
                        <a:rPr lang="ja-JP" altLang="en-US" sz="800" kern="1200" dirty="0">
                          <a:solidFill>
                            <a:srgbClr val="C00000"/>
                          </a:solidFill>
                          <a:effectLst/>
                          <a:latin typeface="+mn-lt"/>
                          <a:ea typeface="+mn-ea"/>
                          <a:cs typeface="+mn-cs"/>
                        </a:rPr>
                        <a:t>あ</a:t>
                      </a:r>
                      <a:r>
                        <a:rPr lang="en-US" altLang="ja-JP" sz="800" kern="1200" dirty="0">
                          <a:solidFill>
                            <a:srgbClr val="C00000"/>
                          </a:solidFill>
                          <a:effectLst/>
                          <a:latin typeface="+mn-lt"/>
                          <a:ea typeface="+mn-ea"/>
                          <a:cs typeface="+mn-cs"/>
                        </a:rPr>
                        <a:t>Access</a:t>
                      </a:r>
                      <a:r>
                        <a:rPr lang="ja-JP" altLang="en-US" sz="800" kern="1200" dirty="0">
                          <a:solidFill>
                            <a:srgbClr val="C00000"/>
                          </a:solidFill>
                          <a:effectLst/>
                          <a:latin typeface="+mn-lt"/>
                          <a:ea typeface="+mn-ea"/>
                          <a:cs typeface="+mn-cs"/>
                        </a:rPr>
                        <a:t>のため、個別ファイルレベルの権限付与が必須</a:t>
                      </a:r>
                      <a:endParaRPr lang="en-US" altLang="ja-JP" sz="800" kern="1200" dirty="0">
                        <a:solidFill>
                          <a:srgbClr val="C0000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74594237"/>
                  </a:ext>
                </a:extLst>
              </a:tr>
            </a:tbl>
          </a:graphicData>
        </a:graphic>
      </p:graphicFrame>
      <p:sp>
        <p:nvSpPr>
          <p:cNvPr id="4" name="テキスト ボックス 3">
            <a:extLst>
              <a:ext uri="{FF2B5EF4-FFF2-40B4-BE49-F238E27FC236}">
                <a16:creationId xmlns:a16="http://schemas.microsoft.com/office/drawing/2014/main" id="{03B5C205-C213-AC35-BFF9-8FA23463B000}"/>
              </a:ext>
            </a:extLst>
          </p:cNvPr>
          <p:cNvSpPr txBox="1"/>
          <p:nvPr/>
        </p:nvSpPr>
        <p:spPr>
          <a:xfrm>
            <a:off x="234042" y="818409"/>
            <a:ext cx="11723915" cy="954107"/>
          </a:xfrm>
          <a:prstGeom prst="rect">
            <a:avLst/>
          </a:prstGeom>
          <a:noFill/>
        </p:spPr>
        <p:txBody>
          <a:bodyPr wrap="square">
            <a:spAutoFit/>
          </a:bodyPr>
          <a:lstStyle/>
          <a:p>
            <a:r>
              <a:rPr lang="ja-JP" altLang="en-US" sz="1400" dirty="0"/>
              <a:t>ストレージに関して下記表で羅列した項目について評価を行った。評価の基準は下記の以下の</a:t>
            </a:r>
            <a:r>
              <a:rPr lang="en-US" altLang="ja-JP" sz="1400" dirty="0"/>
              <a:t>2</a:t>
            </a:r>
            <a:r>
              <a:rPr lang="ja-JP" altLang="en-US" sz="1400" dirty="0"/>
              <a:t>点である。</a:t>
            </a:r>
            <a:endParaRPr lang="en-US" altLang="ja-JP" sz="1400" dirty="0"/>
          </a:p>
          <a:p>
            <a:pPr marL="342900" indent="-342900">
              <a:buFont typeface="+mj-lt"/>
              <a:buAutoNum type="arabicPeriod"/>
            </a:pPr>
            <a:r>
              <a:rPr lang="ja-JP" altLang="en-US" sz="1400" dirty="0"/>
              <a:t>過去の実績有無。</a:t>
            </a:r>
            <a:endParaRPr lang="en-US" altLang="ja-JP" sz="1400" dirty="0"/>
          </a:p>
          <a:p>
            <a:pPr marL="342900" indent="-342900">
              <a:buFont typeface="+mj-lt"/>
              <a:buAutoNum type="arabicPeriod"/>
            </a:pPr>
            <a:r>
              <a:rPr lang="ja-JP" altLang="en-US" sz="1400" dirty="0"/>
              <a:t>業務機能の実装ロジックの実現複雑さとロジック性能の考慮</a:t>
            </a:r>
            <a:endParaRPr lang="en-US" altLang="ja-JP" sz="1400" dirty="0"/>
          </a:p>
          <a:p>
            <a:r>
              <a:rPr lang="ja-JP" altLang="en-US" sz="1400" dirty="0"/>
              <a:t>評価の結果：ストレージは</a:t>
            </a:r>
            <a:r>
              <a:rPr lang="en-US" altLang="ja-JP" sz="1400" dirty="0" err="1"/>
              <a:t>AzureSQL</a:t>
            </a:r>
            <a:r>
              <a:rPr lang="ja-JP" altLang="en-US" sz="1400" dirty="0"/>
              <a:t>＋</a:t>
            </a:r>
            <a:r>
              <a:rPr lang="en-US" altLang="ja-JP" sz="1400" dirty="0"/>
              <a:t>SPO</a:t>
            </a:r>
            <a:r>
              <a:rPr lang="ja-JP" altLang="en-US" sz="1400" dirty="0"/>
              <a:t>を採用する</a:t>
            </a:r>
            <a:endParaRPr lang="en-US" altLang="ja-JP" sz="1400" dirty="0"/>
          </a:p>
        </p:txBody>
      </p:sp>
    </p:spTree>
    <p:extLst>
      <p:ext uri="{BB962C8B-B14F-4D97-AF65-F5344CB8AC3E}">
        <p14:creationId xmlns:p14="http://schemas.microsoft.com/office/powerpoint/2010/main" val="30286444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normAutofit/>
          </a:bodyPr>
          <a:lstStyle/>
          <a:p>
            <a:r>
              <a:rPr lang="ja-JP" altLang="en-US" dirty="0"/>
              <a:t>ストレージの選定理由（</a:t>
            </a:r>
            <a:r>
              <a:rPr kumimoji="1" lang="en-US" altLang="ja-JP" b="1" cap="none" dirty="0">
                <a:ea typeface="游ゴシック" panose="020B0400000000000000" pitchFamily="50" charset="-128"/>
              </a:rPr>
              <a:t> </a:t>
            </a:r>
            <a:r>
              <a:rPr kumimoji="1" lang="en-US" altLang="ja-JP" b="1" cap="none" dirty="0" err="1">
                <a:ea typeface="游ゴシック" panose="020B0400000000000000" pitchFamily="50" charset="-128"/>
              </a:rPr>
              <a:t>AzureSQL</a:t>
            </a:r>
            <a:r>
              <a:rPr kumimoji="1" lang="ja-JP" altLang="en-US" b="1" cap="none" dirty="0">
                <a:ea typeface="游ゴシック" panose="020B0400000000000000" pitchFamily="50" charset="-128"/>
              </a:rPr>
              <a:t>＋</a:t>
            </a:r>
            <a:r>
              <a:rPr kumimoji="1" lang="en-US" altLang="ja-JP" b="1" cap="none" dirty="0">
                <a:ea typeface="游ゴシック" panose="020B0400000000000000" pitchFamily="50" charset="-128"/>
              </a:rPr>
              <a:t>SPO</a:t>
            </a:r>
            <a:r>
              <a:rPr lang="ja-JP" altLang="en-US" dirty="0"/>
              <a:t>）</a:t>
            </a:r>
          </a:p>
        </p:txBody>
      </p:sp>
      <p:sp>
        <p:nvSpPr>
          <p:cNvPr id="6" name="テキスト ボックス 5">
            <a:extLst>
              <a:ext uri="{FF2B5EF4-FFF2-40B4-BE49-F238E27FC236}">
                <a16:creationId xmlns:a16="http://schemas.microsoft.com/office/drawing/2014/main" id="{A7946F1D-E353-5E80-9B00-F27D13B7E874}"/>
              </a:ext>
            </a:extLst>
          </p:cNvPr>
          <p:cNvSpPr txBox="1"/>
          <p:nvPr/>
        </p:nvSpPr>
        <p:spPr>
          <a:xfrm>
            <a:off x="273718" y="836099"/>
            <a:ext cx="11412096" cy="4278094"/>
          </a:xfrm>
          <a:prstGeom prst="rect">
            <a:avLst/>
          </a:prstGeom>
          <a:noFill/>
        </p:spPr>
        <p:txBody>
          <a:bodyPr wrap="square" rtlCol="0">
            <a:spAutoFit/>
          </a:bodyPr>
          <a:lstStyle/>
          <a:p>
            <a:pPr lvl="0"/>
            <a:r>
              <a:rPr kumimoji="1" lang="en-US" altLang="ja-JP" sz="1600" b="1" i="0" u="none" strike="noStrike" kern="1200" cap="none" spc="0" normalizeH="0" baseline="0" noProof="0" dirty="0" err="1">
                <a:ln>
                  <a:noFill/>
                </a:ln>
                <a:effectLst/>
                <a:uLnTx/>
                <a:uFillTx/>
                <a:latin typeface="Gill Sans MT"/>
                <a:ea typeface="游ゴシック" panose="020B0400000000000000" pitchFamily="50" charset="-128"/>
                <a:cs typeface="+mn-cs"/>
              </a:rPr>
              <a:t>AzureSQL</a:t>
            </a:r>
            <a:r>
              <a:rPr kumimoji="1" lang="ja-JP" altLang="en-US" sz="1600" b="1" i="0" u="none" strike="noStrike" kern="1200" cap="none" spc="0" normalizeH="0" baseline="0" noProof="0" dirty="0">
                <a:ln>
                  <a:noFill/>
                </a:ln>
                <a:effectLst/>
                <a:uLnTx/>
                <a:uFillTx/>
                <a:latin typeface="Gill Sans MT"/>
                <a:ea typeface="游ゴシック" panose="020B0400000000000000" pitchFamily="50" charset="-128"/>
                <a:cs typeface="+mn-cs"/>
              </a:rPr>
              <a:t>の選定について：</a:t>
            </a:r>
            <a:endParaRPr kumimoji="1" lang="en-US" altLang="ja-JP" sz="1600" b="1" i="0" u="none" strike="noStrike" kern="1200" cap="none" spc="0" normalizeH="0" baseline="0" noProof="0" dirty="0">
              <a:ln>
                <a:noFill/>
              </a:ln>
              <a:effectLst/>
              <a:uLnTx/>
              <a:uFillTx/>
              <a:latin typeface="Gill Sans MT"/>
              <a:ea typeface="游ゴシック" panose="020B0400000000000000" pitchFamily="50" charset="-128"/>
              <a:cs typeface="+mn-cs"/>
            </a:endParaRPr>
          </a:p>
          <a:p>
            <a:pPr marL="285750" lvl="0" indent="-285750">
              <a:buFont typeface="Arial" panose="020B0604020202020204" pitchFamily="34" charset="0"/>
              <a:buChar char="•"/>
            </a:pPr>
            <a:r>
              <a:rPr lang="en-US" altLang="ja-JP" sz="1600" dirty="0"/>
              <a:t>On promise Gateway</a:t>
            </a:r>
            <a:r>
              <a:rPr lang="ja-JP" altLang="en-US" sz="1600" dirty="0"/>
              <a:t>のネットワークボトルネックを解消</a:t>
            </a:r>
            <a:endParaRPr kumimoji="1" lang="en-US" altLang="ja-JP" sz="1600" b="1" i="0" u="none" strike="noStrike" kern="1200" cap="none" spc="0" normalizeH="0" baseline="0" noProof="0" dirty="0">
              <a:ln>
                <a:noFill/>
              </a:ln>
              <a:effectLst/>
              <a:uLnTx/>
              <a:uFillTx/>
              <a:latin typeface="Gill Sans MT"/>
              <a:ea typeface="游ゴシック" panose="020B0400000000000000" pitchFamily="50" charset="-128"/>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ja-JP" sz="1600" dirty="0" err="1"/>
              <a:t>AzureSQL</a:t>
            </a:r>
            <a:r>
              <a:rPr lang="ja-JP" altLang="en-US" sz="1600" dirty="0"/>
              <a:t>が提供している性能保証を考慮して、想定しているユーザ数に対するパフォーマンスへの配慮</a:t>
            </a:r>
            <a:endParaRPr lang="en-US" altLang="ja-JP" sz="1600" dirty="0"/>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ja-JP" sz="1600" dirty="0" err="1"/>
              <a:t>AzureSQL</a:t>
            </a:r>
            <a:r>
              <a:rPr lang="ja-JP" altLang="en-US" sz="1600" dirty="0"/>
              <a:t>が統合した機能を生かして、システムの構成を単純化にし、運用保守コストへの配慮</a:t>
            </a:r>
            <a:endParaRPr lang="en-US" altLang="ja-JP" sz="1600" dirty="0"/>
          </a:p>
          <a:p>
            <a:pPr marL="285750" lvl="0" indent="-285750">
              <a:buFont typeface="Arial" panose="020B0604020202020204" pitchFamily="34" charset="0"/>
              <a:buChar char="•"/>
              <a:defRPr/>
            </a:pPr>
            <a:r>
              <a:rPr lang="ja-JP" altLang="en-US" sz="1600" dirty="0"/>
              <a:t>添付ファイルの検索サポートは弱いので、添付ファイルのストレージに適切ではないと判断</a:t>
            </a:r>
            <a:endParaRPr lang="en-US" altLang="ja-JP" sz="1600" dirty="0"/>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600" b="0" i="0" u="none" strike="noStrike" kern="1200" cap="none" spc="0" normalizeH="0" baseline="0" noProof="0" dirty="0">
                <a:ln>
                  <a:noFill/>
                </a:ln>
                <a:effectLst/>
                <a:uLnTx/>
                <a:uFillTx/>
                <a:latin typeface="Gill Sans MT"/>
                <a:ea typeface="游ゴシック" panose="020B0400000000000000" pitchFamily="50" charset="-128"/>
                <a:cs typeface="+mn-cs"/>
              </a:rPr>
              <a:t>添付フィルのオンライン編集を対応できないので、添付ファイルのストレージに適切ではないと判断</a:t>
            </a:r>
            <a:endParaRPr kumimoji="1" lang="en-US" altLang="ja-JP" sz="1600" b="0" i="0" u="none" strike="noStrike" kern="1200" cap="none" spc="0" normalizeH="0" baseline="0" noProof="0" dirty="0">
              <a:ln>
                <a:noFill/>
              </a:ln>
              <a:effectLst/>
              <a:uLnTx/>
              <a:uFillTx/>
              <a:latin typeface="Gill Sans MT"/>
              <a:ea typeface="游ゴシック" panose="020B0400000000000000" pitchFamily="50" charset="-128"/>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altLang="ja-JP" sz="1600"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600" b="1" i="0" u="none" strike="noStrike" kern="1200" cap="none" spc="0" normalizeH="0" baseline="0" noProof="0" dirty="0">
              <a:ln>
                <a:noFill/>
              </a:ln>
              <a:effectLst/>
              <a:uLnTx/>
              <a:uFillTx/>
              <a:latin typeface="Gill Sans MT"/>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600" b="1" i="0" u="none" strike="noStrike" kern="1200" cap="none" spc="0" normalizeH="0" baseline="0" noProof="0" dirty="0">
                <a:ln>
                  <a:noFill/>
                </a:ln>
                <a:effectLst/>
                <a:uLnTx/>
                <a:uFillTx/>
                <a:latin typeface="Gill Sans MT"/>
                <a:ea typeface="游ゴシック" panose="020B0400000000000000" pitchFamily="50" charset="-128"/>
                <a:cs typeface="+mn-cs"/>
              </a:rPr>
              <a:t>SharePoint</a:t>
            </a:r>
            <a:r>
              <a:rPr kumimoji="1" lang="ja-JP" altLang="en-US" sz="1600" b="1" i="0" u="none" strike="noStrike" kern="1200" cap="none" spc="0" normalizeH="0" baseline="0" noProof="0" dirty="0">
                <a:ln>
                  <a:noFill/>
                </a:ln>
                <a:effectLst/>
                <a:uLnTx/>
                <a:uFillTx/>
                <a:latin typeface="Gill Sans MT"/>
                <a:ea typeface="游ゴシック" panose="020B0400000000000000" pitchFamily="50" charset="-128"/>
                <a:cs typeface="+mn-cs"/>
              </a:rPr>
              <a:t>の選定について</a:t>
            </a:r>
            <a:endParaRPr kumimoji="1" lang="en-US" altLang="ja-JP" sz="1600" b="1" i="0" u="none" strike="noStrike" kern="1200" cap="none" spc="0" normalizeH="0" baseline="0" noProof="0" dirty="0">
              <a:ln>
                <a:noFill/>
              </a:ln>
              <a:effectLst/>
              <a:uLnTx/>
              <a:uFillTx/>
              <a:latin typeface="Gill Sans MT"/>
              <a:ea typeface="游ゴシック" panose="020B0400000000000000" pitchFamily="50" charset="-128"/>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600" i="0" u="none" strike="noStrike" kern="1200" cap="none" spc="0" normalizeH="0" baseline="0" noProof="0" dirty="0">
                <a:ln>
                  <a:noFill/>
                </a:ln>
                <a:effectLst/>
                <a:uLnTx/>
                <a:uFillTx/>
                <a:latin typeface="Gill Sans MT"/>
                <a:ea typeface="游ゴシック" panose="020B0400000000000000" pitchFamily="50" charset="-128"/>
                <a:cs typeface="+mn-cs"/>
              </a:rPr>
              <a:t>SharePoint</a:t>
            </a:r>
            <a:r>
              <a:rPr kumimoji="1" lang="ja-JP" altLang="en-US" sz="1600" i="0" u="none" strike="noStrike" kern="1200" cap="none" spc="0" normalizeH="0" baseline="0" noProof="0" dirty="0">
                <a:ln>
                  <a:noFill/>
                </a:ln>
                <a:effectLst/>
                <a:uLnTx/>
                <a:uFillTx/>
                <a:latin typeface="Gill Sans MT"/>
                <a:ea typeface="游ゴシック" panose="020B0400000000000000" pitchFamily="50" charset="-128"/>
                <a:cs typeface="+mn-cs"/>
              </a:rPr>
              <a:t>が提供している検索機能を生かすことで、ソリューションが簡単になり、性能の保証と構築・保守コストへの配慮</a:t>
            </a:r>
            <a:endParaRPr kumimoji="1" lang="en-US" altLang="ja-JP" sz="1600" i="0" u="none" strike="noStrike" kern="1200" cap="none" spc="0" normalizeH="0" baseline="0" noProof="0" dirty="0">
              <a:ln>
                <a:noFill/>
              </a:ln>
              <a:effectLst/>
              <a:uLnTx/>
              <a:uFillTx/>
              <a:latin typeface="Gill Sans MT"/>
              <a:ea typeface="游ゴシック" panose="020B0400000000000000" pitchFamily="50" charset="-128"/>
              <a:cs typeface="+mn-cs"/>
            </a:endParaRPr>
          </a:p>
          <a:p>
            <a:pPr marL="285750" indent="-285750">
              <a:buFont typeface="Arial" panose="020B0604020202020204" pitchFamily="34" charset="0"/>
              <a:buChar char="•"/>
              <a:defRPr/>
            </a:pPr>
            <a:r>
              <a:rPr lang="en-US" altLang="ja-JP" sz="1600" dirty="0">
                <a:latin typeface="Gill Sans MT"/>
                <a:ea typeface="游ゴシック" panose="020B0400000000000000" pitchFamily="50" charset="-128"/>
              </a:rPr>
              <a:t>SharePoint</a:t>
            </a:r>
            <a:r>
              <a:rPr lang="ja-JP" altLang="en-US" sz="1600" dirty="0">
                <a:latin typeface="Gill Sans MT"/>
                <a:ea typeface="游ゴシック" panose="020B0400000000000000" pitchFamily="50" charset="-128"/>
              </a:rPr>
              <a:t>のアクセス管理機能を生かして、ソリューションが簡単になり、セキュリティーへの配慮</a:t>
            </a:r>
            <a:endParaRPr lang="en-US" altLang="ja-JP" sz="1600" dirty="0">
              <a:latin typeface="Gill Sans MT"/>
              <a:ea typeface="游ゴシック" panose="020B0400000000000000" pitchFamily="50" charset="-128"/>
            </a:endParaRPr>
          </a:p>
          <a:p>
            <a:pPr marL="285750" indent="-285750">
              <a:buFont typeface="Arial" panose="020B0604020202020204" pitchFamily="34" charset="0"/>
              <a:buChar char="•"/>
              <a:defRPr/>
            </a:pPr>
            <a:r>
              <a:rPr lang="en-US" altLang="ja-JP" sz="1600" dirty="0">
                <a:latin typeface="Gill Sans MT"/>
                <a:ea typeface="游ゴシック" panose="020B0400000000000000" pitchFamily="50" charset="-128"/>
              </a:rPr>
              <a:t>SharePoint</a:t>
            </a:r>
            <a:r>
              <a:rPr lang="ja-JP" altLang="en-US" sz="1600" dirty="0">
                <a:latin typeface="Gill Sans MT"/>
                <a:ea typeface="游ゴシック" panose="020B0400000000000000" pitchFamily="50" charset="-128"/>
              </a:rPr>
              <a:t>が提供しているオンライン編集機能で、ユーザ要件の実現</a:t>
            </a:r>
            <a:endParaRPr lang="en-US" altLang="ja-JP" sz="1600" dirty="0">
              <a:latin typeface="Gill Sans MT"/>
              <a:ea typeface="游ゴシック" panose="020B0400000000000000" pitchFamily="50" charset="-128"/>
            </a:endParaRPr>
          </a:p>
          <a:p>
            <a:pPr marL="285750" indent="-285750">
              <a:buFont typeface="Arial" panose="020B0604020202020204" pitchFamily="34" charset="0"/>
              <a:buChar char="•"/>
              <a:defRPr/>
            </a:pPr>
            <a:r>
              <a:rPr lang="ja-JP" altLang="en-US" sz="1600" dirty="0">
                <a:latin typeface="Gill Sans MT"/>
                <a:ea typeface="游ゴシック" panose="020B0400000000000000" pitchFamily="50" charset="-128"/>
              </a:rPr>
              <a:t>大量ファイルを扱うによるパフォーマンスへの影響をソリューションで対応が必要であるが、その他の提供機能と比較してデメリットが少ない</a:t>
            </a:r>
            <a:endParaRPr lang="en-US" altLang="ja-JP" sz="1600" dirty="0">
              <a:latin typeface="Gill Sans MT"/>
              <a:ea typeface="游ゴシック" panose="020B0400000000000000" pitchFamily="50" charset="-128"/>
            </a:endParaRPr>
          </a:p>
          <a:p>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400" b="1" i="0" u="none" strike="noStrike" kern="1200" cap="none" spc="0" normalizeH="0" baseline="0" noProof="0" dirty="0">
              <a:ln>
                <a:noFill/>
              </a:ln>
              <a:effectLst/>
              <a:uLnTx/>
              <a:uFillTx/>
              <a:latin typeface="Gill Sans MT"/>
              <a:ea typeface="游ゴシック" panose="020B0400000000000000" pitchFamily="50" charset="-128"/>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4"/>
            <a:ext cx="9327072" cy="765272"/>
          </a:xfrm>
        </p:spPr>
        <p:txBody>
          <a:bodyPr>
            <a:normAutofit/>
          </a:bodyPr>
          <a:lstStyle/>
          <a:p>
            <a:r>
              <a:rPr lang="ja-JP" altLang="en-US" dirty="0"/>
              <a:t>全体アーキテクチャ</a:t>
            </a:r>
            <a:endParaRPr lang="ja-JP" altLang="en-US" sz="2000" dirty="0">
              <a:effectLst/>
            </a:endParaRPr>
          </a:p>
        </p:txBody>
      </p:sp>
      <p:pic>
        <p:nvPicPr>
          <p:cNvPr id="8" name="図 7" descr="アイコン&#10;&#10;AI によって生成されたコンテンツは間違っている可能性があります。">
            <a:extLst>
              <a:ext uri="{FF2B5EF4-FFF2-40B4-BE49-F238E27FC236}">
                <a16:creationId xmlns:a16="http://schemas.microsoft.com/office/drawing/2014/main" id="{08B72080-E595-55AE-DA37-B895B80E9F49}"/>
              </a:ext>
            </a:extLst>
          </p:cNvPr>
          <p:cNvPicPr>
            <a:picLocks noChangeAspect="1"/>
          </p:cNvPicPr>
          <p:nvPr/>
        </p:nvPicPr>
        <p:blipFill>
          <a:blip r:embed="rId3"/>
          <a:stretch>
            <a:fillRect/>
          </a:stretch>
        </p:blipFill>
        <p:spPr>
          <a:xfrm>
            <a:off x="8108659" y="5557623"/>
            <a:ext cx="527498" cy="457200"/>
          </a:xfrm>
          <a:prstGeom prst="rect">
            <a:avLst/>
          </a:prstGeom>
        </p:spPr>
      </p:pic>
      <p:pic>
        <p:nvPicPr>
          <p:cNvPr id="11" name="図 10" descr="アイコン&#10;&#10;AI によって生成されたコンテンツは間違っている可能性があります。">
            <a:extLst>
              <a:ext uri="{FF2B5EF4-FFF2-40B4-BE49-F238E27FC236}">
                <a16:creationId xmlns:a16="http://schemas.microsoft.com/office/drawing/2014/main" id="{9A966844-04C8-85D5-67EA-CDEBFF761641}"/>
              </a:ext>
            </a:extLst>
          </p:cNvPr>
          <p:cNvPicPr>
            <a:picLocks noChangeAspect="1"/>
          </p:cNvPicPr>
          <p:nvPr/>
        </p:nvPicPr>
        <p:blipFill>
          <a:blip r:embed="rId4"/>
          <a:stretch>
            <a:fillRect/>
          </a:stretch>
        </p:blipFill>
        <p:spPr>
          <a:xfrm>
            <a:off x="4459898" y="3195235"/>
            <a:ext cx="1877560" cy="1126536"/>
          </a:xfrm>
          <a:prstGeom prst="rect">
            <a:avLst/>
          </a:prstGeom>
        </p:spPr>
      </p:pic>
      <p:pic>
        <p:nvPicPr>
          <p:cNvPr id="12"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57A95851-BDD7-672D-3100-C2B187C29472}"/>
              </a:ext>
            </a:extLst>
          </p:cNvPr>
          <p:cNvPicPr>
            <a:picLocks noChangeAspect="1"/>
          </p:cNvPicPr>
          <p:nvPr/>
        </p:nvPicPr>
        <p:blipFill>
          <a:blip r:embed="rId5"/>
          <a:stretch>
            <a:fillRect/>
          </a:stretch>
        </p:blipFill>
        <p:spPr>
          <a:xfrm>
            <a:off x="7325376" y="5561483"/>
            <a:ext cx="771118" cy="456744"/>
          </a:xfrm>
          <a:prstGeom prst="rect">
            <a:avLst/>
          </a:prstGeom>
        </p:spPr>
      </p:pic>
      <p:pic>
        <p:nvPicPr>
          <p:cNvPr id="13" name="図 12" descr="グラフィカル ユーザー インターフェイス, アプリケーション, テーブル, Excel">
            <a:extLst>
              <a:ext uri="{FF2B5EF4-FFF2-40B4-BE49-F238E27FC236}">
                <a16:creationId xmlns:a16="http://schemas.microsoft.com/office/drawing/2014/main" id="{9AC86EFF-5F42-B9DF-DC43-E9011E90638B}"/>
              </a:ext>
            </a:extLst>
          </p:cNvPr>
          <p:cNvPicPr>
            <a:picLocks noChangeAspect="1"/>
          </p:cNvPicPr>
          <p:nvPr/>
        </p:nvPicPr>
        <p:blipFill>
          <a:blip r:embed="rId6"/>
          <a:stretch>
            <a:fillRect/>
          </a:stretch>
        </p:blipFill>
        <p:spPr>
          <a:xfrm>
            <a:off x="8904533" y="5229702"/>
            <a:ext cx="802571" cy="396289"/>
          </a:xfrm>
          <a:prstGeom prst="rect">
            <a:avLst/>
          </a:prstGeom>
        </p:spPr>
      </p:pic>
      <p:pic>
        <p:nvPicPr>
          <p:cNvPr id="14"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04A5CF27-FD87-CD50-5369-50CF4CF40E3D}"/>
              </a:ext>
            </a:extLst>
          </p:cNvPr>
          <p:cNvPicPr>
            <a:picLocks noChangeAspect="1"/>
          </p:cNvPicPr>
          <p:nvPr/>
        </p:nvPicPr>
        <p:blipFill>
          <a:blip r:embed="rId5"/>
          <a:stretch>
            <a:fillRect/>
          </a:stretch>
        </p:blipFill>
        <p:spPr>
          <a:xfrm>
            <a:off x="2413854" y="2815215"/>
            <a:ext cx="1302261" cy="748800"/>
          </a:xfrm>
          <a:prstGeom prst="rect">
            <a:avLst/>
          </a:prstGeom>
        </p:spPr>
      </p:pic>
      <p:pic>
        <p:nvPicPr>
          <p:cNvPr id="15" name="図 14" descr="アイコン&#10;&#10;AI によって生成されたコンテンツは間違っている可能性があります。">
            <a:extLst>
              <a:ext uri="{FF2B5EF4-FFF2-40B4-BE49-F238E27FC236}">
                <a16:creationId xmlns:a16="http://schemas.microsoft.com/office/drawing/2014/main" id="{27DD81B2-908B-ED4A-BE8B-39834D383CD1}"/>
              </a:ext>
            </a:extLst>
          </p:cNvPr>
          <p:cNvPicPr>
            <a:picLocks noChangeAspect="1"/>
          </p:cNvPicPr>
          <p:nvPr/>
        </p:nvPicPr>
        <p:blipFill>
          <a:blip r:embed="rId3"/>
          <a:stretch>
            <a:fillRect/>
          </a:stretch>
        </p:blipFill>
        <p:spPr>
          <a:xfrm>
            <a:off x="2633018" y="4304122"/>
            <a:ext cx="863933" cy="748800"/>
          </a:xfrm>
          <a:prstGeom prst="rect">
            <a:avLst/>
          </a:prstGeom>
        </p:spPr>
      </p:pic>
      <p:cxnSp>
        <p:nvCxnSpPr>
          <p:cNvPr id="16" name="コネクタ: カギ線 15">
            <a:extLst>
              <a:ext uri="{FF2B5EF4-FFF2-40B4-BE49-F238E27FC236}">
                <a16:creationId xmlns:a16="http://schemas.microsoft.com/office/drawing/2014/main" id="{469A6D71-03C3-EB44-E4A4-8A07C5891581}"/>
              </a:ext>
            </a:extLst>
          </p:cNvPr>
          <p:cNvCxnSpPr>
            <a:cxnSpLocks/>
            <a:stCxn id="15" idx="3"/>
            <a:endCxn id="1052" idx="1"/>
          </p:cNvCxnSpPr>
          <p:nvPr/>
        </p:nvCxnSpPr>
        <p:spPr>
          <a:xfrm flipV="1">
            <a:off x="3496951" y="4014889"/>
            <a:ext cx="1374217" cy="663633"/>
          </a:xfrm>
          <a:prstGeom prst="bentConnector3">
            <a:avLst>
              <a:gd name="adj1" fmla="val 50000"/>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コネクタ: カギ線 16">
            <a:extLst>
              <a:ext uri="{FF2B5EF4-FFF2-40B4-BE49-F238E27FC236}">
                <a16:creationId xmlns:a16="http://schemas.microsoft.com/office/drawing/2014/main" id="{A7BA9534-2C53-6864-D865-56ED3C0EAE54}"/>
              </a:ext>
            </a:extLst>
          </p:cNvPr>
          <p:cNvCxnSpPr>
            <a:cxnSpLocks/>
            <a:stCxn id="14" idx="3"/>
          </p:cNvCxnSpPr>
          <p:nvPr/>
        </p:nvCxnSpPr>
        <p:spPr>
          <a:xfrm>
            <a:off x="3716115" y="3189615"/>
            <a:ext cx="1155053" cy="545345"/>
          </a:xfrm>
          <a:prstGeom prst="bentConnector3">
            <a:avLst>
              <a:gd name="adj1" fmla="val 50000"/>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A833CEED-9A98-1F67-6A8E-57160E67060F}"/>
              </a:ext>
            </a:extLst>
          </p:cNvPr>
          <p:cNvSpPr txBox="1"/>
          <p:nvPr/>
        </p:nvSpPr>
        <p:spPr>
          <a:xfrm>
            <a:off x="2191820" y="2530293"/>
            <a:ext cx="3232212" cy="276999"/>
          </a:xfrm>
          <a:prstGeom prst="rect">
            <a:avLst/>
          </a:prstGeom>
          <a:noFill/>
        </p:spPr>
        <p:txBody>
          <a:bodyPr wrap="square">
            <a:spAutoFit/>
          </a:bodyPr>
          <a:lstStyle/>
          <a:p>
            <a:r>
              <a:rPr lang="ja-JP" altLang="en-US" sz="1200"/>
              <a:t>https://apps.powerapps.com/play/e/</a:t>
            </a:r>
            <a:r>
              <a:rPr lang="en-US" altLang="ja-JP" sz="1200"/>
              <a:t>xxx</a:t>
            </a:r>
            <a:endParaRPr lang="ja-JP" altLang="en-US" sz="1200"/>
          </a:p>
        </p:txBody>
      </p:sp>
      <p:pic>
        <p:nvPicPr>
          <p:cNvPr id="19" name="図 18" descr="電子機器の内部&#10;&#10;AI によって生成されたコンテンツは間違っている可能性があります。">
            <a:extLst>
              <a:ext uri="{FF2B5EF4-FFF2-40B4-BE49-F238E27FC236}">
                <a16:creationId xmlns:a16="http://schemas.microsoft.com/office/drawing/2014/main" id="{76A4987F-45E6-2CB2-0D8D-FC197705CC3F}"/>
              </a:ext>
            </a:extLst>
          </p:cNvPr>
          <p:cNvPicPr>
            <a:picLocks noChangeAspect="1"/>
          </p:cNvPicPr>
          <p:nvPr/>
        </p:nvPicPr>
        <p:blipFill>
          <a:blip r:embed="rId7"/>
          <a:stretch>
            <a:fillRect/>
          </a:stretch>
        </p:blipFill>
        <p:spPr>
          <a:xfrm>
            <a:off x="2412244" y="3285672"/>
            <a:ext cx="480623" cy="270351"/>
          </a:xfrm>
          <a:prstGeom prst="rect">
            <a:avLst/>
          </a:prstGeom>
        </p:spPr>
      </p:pic>
      <p:pic>
        <p:nvPicPr>
          <p:cNvPr id="20" name="図 19" descr="ロゴ, アイコン&#10;&#10;AI によって生成されたコンテンツは間違っている可能性があります。">
            <a:extLst>
              <a:ext uri="{FF2B5EF4-FFF2-40B4-BE49-F238E27FC236}">
                <a16:creationId xmlns:a16="http://schemas.microsoft.com/office/drawing/2014/main" id="{6237D05B-6DAA-F121-7FE3-EE5C1026E7A9}"/>
              </a:ext>
            </a:extLst>
          </p:cNvPr>
          <p:cNvPicPr>
            <a:picLocks noChangeAspect="1"/>
          </p:cNvPicPr>
          <p:nvPr/>
        </p:nvPicPr>
        <p:blipFill>
          <a:blip r:embed="rId8"/>
          <a:stretch>
            <a:fillRect/>
          </a:stretch>
        </p:blipFill>
        <p:spPr>
          <a:xfrm>
            <a:off x="510341" y="1189757"/>
            <a:ext cx="771118" cy="753768"/>
          </a:xfrm>
          <a:prstGeom prst="rect">
            <a:avLst/>
          </a:prstGeom>
        </p:spPr>
      </p:pic>
      <p:sp>
        <p:nvSpPr>
          <p:cNvPr id="21" name="テキスト ボックス 20">
            <a:extLst>
              <a:ext uri="{FF2B5EF4-FFF2-40B4-BE49-F238E27FC236}">
                <a16:creationId xmlns:a16="http://schemas.microsoft.com/office/drawing/2014/main" id="{88B2B401-3A8C-3E1C-F3C2-62AF13591BB9}"/>
              </a:ext>
            </a:extLst>
          </p:cNvPr>
          <p:cNvSpPr txBox="1"/>
          <p:nvPr/>
        </p:nvSpPr>
        <p:spPr>
          <a:xfrm>
            <a:off x="921423" y="1098218"/>
            <a:ext cx="1270397" cy="307777"/>
          </a:xfrm>
          <a:prstGeom prst="rect">
            <a:avLst/>
          </a:prstGeom>
          <a:noFill/>
        </p:spPr>
        <p:txBody>
          <a:bodyPr wrap="square" rtlCol="0">
            <a:spAutoFit/>
          </a:bodyPr>
          <a:lstStyle/>
          <a:p>
            <a:pPr algn="ctr"/>
            <a:r>
              <a:rPr kumimoji="1" lang="en-US" altLang="ja-JP" sz="1400"/>
              <a:t>Share Point</a:t>
            </a:r>
            <a:endParaRPr kumimoji="1" lang="ja-JP" altLang="en-US" sz="1400"/>
          </a:p>
        </p:txBody>
      </p:sp>
      <p:sp>
        <p:nvSpPr>
          <p:cNvPr id="26" name="テキスト ボックス 25">
            <a:extLst>
              <a:ext uri="{FF2B5EF4-FFF2-40B4-BE49-F238E27FC236}">
                <a16:creationId xmlns:a16="http://schemas.microsoft.com/office/drawing/2014/main" id="{1451EDA9-2653-82EF-0808-398E2FD87A6C}"/>
              </a:ext>
            </a:extLst>
          </p:cNvPr>
          <p:cNvSpPr txBox="1"/>
          <p:nvPr/>
        </p:nvSpPr>
        <p:spPr>
          <a:xfrm>
            <a:off x="1750098" y="1365503"/>
            <a:ext cx="5667794" cy="530915"/>
          </a:xfrm>
          <a:prstGeom prst="rect">
            <a:avLst/>
          </a:prstGeom>
          <a:noFill/>
        </p:spPr>
        <p:txBody>
          <a:bodyPr wrap="square" rtlCol="0">
            <a:spAutoFit/>
          </a:bodyPr>
          <a:lstStyle/>
          <a:p>
            <a:r>
              <a:rPr kumimoji="1" lang="ja-JP" altLang="en-US" sz="1050" dirty="0"/>
              <a:t>添付ファイルの</a:t>
            </a:r>
            <a:r>
              <a:rPr kumimoji="1" lang="en-US" altLang="ja-JP" sz="1050" dirty="0"/>
              <a:t>Direct Access</a:t>
            </a:r>
          </a:p>
          <a:p>
            <a:r>
              <a:rPr lang="en-US" altLang="ja-JP" sz="900" dirty="0">
                <a:solidFill>
                  <a:srgbClr val="FF0000"/>
                </a:solidFill>
              </a:rPr>
              <a:t>SPO</a:t>
            </a:r>
            <a:r>
              <a:rPr lang="ja-JP" altLang="en-US" sz="900" dirty="0">
                <a:solidFill>
                  <a:srgbClr val="FF0000"/>
                </a:solidFill>
              </a:rPr>
              <a:t>に保存されているファイルのアクセス権限（</a:t>
            </a:r>
            <a:r>
              <a:rPr lang="en-US" altLang="ja-JP" sz="900" dirty="0">
                <a:solidFill>
                  <a:srgbClr val="FF0000"/>
                </a:solidFill>
              </a:rPr>
              <a:t>Read/Edit/</a:t>
            </a:r>
            <a:r>
              <a:rPr lang="en-US" altLang="ja-JP" sz="900" dirty="0" err="1">
                <a:solidFill>
                  <a:srgbClr val="FF0000"/>
                </a:solidFill>
              </a:rPr>
              <a:t>Downoad</a:t>
            </a:r>
            <a:r>
              <a:rPr lang="ja-JP" altLang="en-US" sz="900" dirty="0">
                <a:solidFill>
                  <a:srgbClr val="FF0000"/>
                </a:solidFill>
              </a:rPr>
              <a:t>）は、</a:t>
            </a:r>
            <a:r>
              <a:rPr lang="en-US" altLang="ja-JP" sz="900" dirty="0">
                <a:solidFill>
                  <a:srgbClr val="FF0000"/>
                </a:solidFill>
              </a:rPr>
              <a:t>SPO</a:t>
            </a:r>
            <a:r>
              <a:rPr lang="ja-JP" altLang="en-US" sz="900" dirty="0">
                <a:solidFill>
                  <a:srgbClr val="FF0000"/>
                </a:solidFill>
              </a:rPr>
              <a:t>に直接にアクセスするときも有効にすることで、添付ファイル</a:t>
            </a:r>
            <a:r>
              <a:rPr lang="en-US" altLang="ja-JP" sz="900" dirty="0">
                <a:solidFill>
                  <a:srgbClr val="FF0000"/>
                </a:solidFill>
              </a:rPr>
              <a:t>Upload</a:t>
            </a:r>
            <a:r>
              <a:rPr lang="ja-JP" altLang="en-US" sz="900" dirty="0">
                <a:solidFill>
                  <a:srgbClr val="FF0000"/>
                </a:solidFill>
              </a:rPr>
              <a:t>する時に定義したアクセス権限を設定することで制約できます。</a:t>
            </a:r>
            <a:endParaRPr kumimoji="1" lang="ja-JP" altLang="en-US" sz="900" dirty="0">
              <a:solidFill>
                <a:srgbClr val="FF0000"/>
              </a:solidFill>
            </a:endParaRPr>
          </a:p>
        </p:txBody>
      </p:sp>
      <p:sp>
        <p:nvSpPr>
          <p:cNvPr id="29" name="テキスト ボックス 28">
            <a:extLst>
              <a:ext uri="{FF2B5EF4-FFF2-40B4-BE49-F238E27FC236}">
                <a16:creationId xmlns:a16="http://schemas.microsoft.com/office/drawing/2014/main" id="{B25FB6C2-2B13-84E1-83F2-1B1C22F77B81}"/>
              </a:ext>
            </a:extLst>
          </p:cNvPr>
          <p:cNvSpPr txBox="1"/>
          <p:nvPr/>
        </p:nvSpPr>
        <p:spPr>
          <a:xfrm>
            <a:off x="5015821" y="1877305"/>
            <a:ext cx="3347747" cy="276999"/>
          </a:xfrm>
          <a:prstGeom prst="rect">
            <a:avLst/>
          </a:prstGeom>
          <a:noFill/>
        </p:spPr>
        <p:txBody>
          <a:bodyPr wrap="square" rtlCol="0">
            <a:spAutoFit/>
          </a:bodyPr>
          <a:lstStyle/>
          <a:p>
            <a:pPr algn="ctr"/>
            <a:r>
              <a:rPr kumimoji="1" lang="en-US" altLang="ja-JP" sz="1200" dirty="0"/>
              <a:t>Table/View/Stored Procedure Access</a:t>
            </a:r>
            <a:endParaRPr kumimoji="1" lang="ja-JP" altLang="en-US" sz="1200" dirty="0"/>
          </a:p>
        </p:txBody>
      </p:sp>
      <p:pic>
        <p:nvPicPr>
          <p:cNvPr id="31" name="図 30" descr="グラフィカル ユーザー インターフェイス, アプリケーション&#10;&#10;AI によって生成されたコンテンツは間違っている可能性があります。">
            <a:extLst>
              <a:ext uri="{FF2B5EF4-FFF2-40B4-BE49-F238E27FC236}">
                <a16:creationId xmlns:a16="http://schemas.microsoft.com/office/drawing/2014/main" id="{D2BA7115-BB47-83ED-F9D0-B828AB49EF25}"/>
              </a:ext>
            </a:extLst>
          </p:cNvPr>
          <p:cNvPicPr>
            <a:picLocks noChangeAspect="1"/>
          </p:cNvPicPr>
          <p:nvPr/>
        </p:nvPicPr>
        <p:blipFill>
          <a:blip r:embed="rId9"/>
          <a:stretch>
            <a:fillRect/>
          </a:stretch>
        </p:blipFill>
        <p:spPr>
          <a:xfrm>
            <a:off x="572944" y="3599975"/>
            <a:ext cx="642168" cy="789867"/>
          </a:xfrm>
          <a:prstGeom prst="rect">
            <a:avLst/>
          </a:prstGeom>
        </p:spPr>
      </p:pic>
      <p:cxnSp>
        <p:nvCxnSpPr>
          <p:cNvPr id="32" name="直線コネクタ 31">
            <a:extLst>
              <a:ext uri="{FF2B5EF4-FFF2-40B4-BE49-F238E27FC236}">
                <a16:creationId xmlns:a16="http://schemas.microsoft.com/office/drawing/2014/main" id="{CF3B3C38-800A-F6D3-C156-B29F4B9E89D2}"/>
              </a:ext>
            </a:extLst>
          </p:cNvPr>
          <p:cNvCxnSpPr>
            <a:cxnSpLocks/>
          </p:cNvCxnSpPr>
          <p:nvPr/>
        </p:nvCxnSpPr>
        <p:spPr>
          <a:xfrm>
            <a:off x="6670448" y="717162"/>
            <a:ext cx="33669" cy="5413735"/>
          </a:xfrm>
          <a:prstGeom prst="line">
            <a:avLst/>
          </a:prstGeom>
          <a:ln w="38100">
            <a:solidFill>
              <a:srgbClr val="FF9B45"/>
            </a:solidFill>
            <a:prstDash val="sysDash"/>
          </a:ln>
        </p:spPr>
        <p:style>
          <a:lnRef idx="1">
            <a:schemeClr val="accent1"/>
          </a:lnRef>
          <a:fillRef idx="0">
            <a:schemeClr val="accent1"/>
          </a:fillRef>
          <a:effectRef idx="0">
            <a:schemeClr val="accent1"/>
          </a:effectRef>
          <a:fontRef idx="minor">
            <a:schemeClr val="tx1"/>
          </a:fontRef>
        </p:style>
      </p:cxnSp>
      <p:pic>
        <p:nvPicPr>
          <p:cNvPr id="33" name="図 32">
            <a:extLst>
              <a:ext uri="{FF2B5EF4-FFF2-40B4-BE49-F238E27FC236}">
                <a16:creationId xmlns:a16="http://schemas.microsoft.com/office/drawing/2014/main" id="{92510209-6328-31B9-3B05-CFBAF8987688}"/>
              </a:ext>
            </a:extLst>
          </p:cNvPr>
          <p:cNvPicPr>
            <a:picLocks noChangeAspect="1"/>
          </p:cNvPicPr>
          <p:nvPr/>
        </p:nvPicPr>
        <p:blipFill>
          <a:blip r:embed="rId10"/>
          <a:stretch>
            <a:fillRect/>
          </a:stretch>
        </p:blipFill>
        <p:spPr>
          <a:xfrm flipH="1">
            <a:off x="8018808" y="5112223"/>
            <a:ext cx="879391" cy="494658"/>
          </a:xfrm>
          <a:prstGeom prst="rect">
            <a:avLst/>
          </a:prstGeom>
        </p:spPr>
      </p:pic>
      <p:pic>
        <p:nvPicPr>
          <p:cNvPr id="35" name="図 34">
            <a:extLst>
              <a:ext uri="{FF2B5EF4-FFF2-40B4-BE49-F238E27FC236}">
                <a16:creationId xmlns:a16="http://schemas.microsoft.com/office/drawing/2014/main" id="{A21BC5E2-2DC7-7435-33BA-0723BB09818E}"/>
              </a:ext>
            </a:extLst>
          </p:cNvPr>
          <p:cNvPicPr>
            <a:picLocks noChangeAspect="1"/>
          </p:cNvPicPr>
          <p:nvPr/>
        </p:nvPicPr>
        <p:blipFill>
          <a:blip r:embed="rId11"/>
          <a:stretch>
            <a:fillRect/>
          </a:stretch>
        </p:blipFill>
        <p:spPr>
          <a:xfrm flipH="1">
            <a:off x="8411063" y="1910936"/>
            <a:ext cx="820738" cy="430887"/>
          </a:xfrm>
          <a:prstGeom prst="rect">
            <a:avLst/>
          </a:prstGeom>
        </p:spPr>
      </p:pic>
      <p:sp>
        <p:nvSpPr>
          <p:cNvPr id="37" name="テキスト ボックス 36">
            <a:extLst>
              <a:ext uri="{FF2B5EF4-FFF2-40B4-BE49-F238E27FC236}">
                <a16:creationId xmlns:a16="http://schemas.microsoft.com/office/drawing/2014/main" id="{EC8B77B1-5BDE-02B7-0C21-6AC53C2169DE}"/>
              </a:ext>
            </a:extLst>
          </p:cNvPr>
          <p:cNvSpPr txBox="1"/>
          <p:nvPr/>
        </p:nvSpPr>
        <p:spPr>
          <a:xfrm>
            <a:off x="8636852" y="5626186"/>
            <a:ext cx="2677573" cy="369332"/>
          </a:xfrm>
          <a:prstGeom prst="rect">
            <a:avLst/>
          </a:prstGeom>
          <a:noFill/>
        </p:spPr>
        <p:txBody>
          <a:bodyPr wrap="square" rtlCol="0">
            <a:spAutoFit/>
          </a:bodyPr>
          <a:lstStyle/>
          <a:p>
            <a:r>
              <a:rPr lang="ja-JP" altLang="en-US" sz="900" dirty="0"/>
              <a:t>システム</a:t>
            </a:r>
            <a:r>
              <a:rPr kumimoji="1" lang="ja-JP" altLang="en-US" sz="900" dirty="0"/>
              <a:t>利用者</a:t>
            </a:r>
            <a:endParaRPr kumimoji="1" lang="en-US" altLang="ja-JP" sz="900" dirty="0"/>
          </a:p>
          <a:p>
            <a:r>
              <a:rPr lang="en-US" altLang="zh-CN" sz="900" dirty="0"/>
              <a:t>PowerApps/Power BI/</a:t>
            </a:r>
            <a:r>
              <a:rPr lang="en-US" altLang="ja-JP" sz="900" dirty="0"/>
              <a:t>Office 365</a:t>
            </a:r>
            <a:r>
              <a:rPr lang="en-US" altLang="zh-CN" sz="900" dirty="0"/>
              <a:t> </a:t>
            </a:r>
            <a:r>
              <a:rPr lang="ja-JP" altLang="en-US" sz="900" dirty="0"/>
              <a:t>画面</a:t>
            </a:r>
            <a:endParaRPr kumimoji="1" lang="ja-JP" altLang="en-US" sz="900" dirty="0"/>
          </a:p>
        </p:txBody>
      </p:sp>
      <p:sp>
        <p:nvSpPr>
          <p:cNvPr id="56" name="テキスト ボックス 55">
            <a:extLst>
              <a:ext uri="{FF2B5EF4-FFF2-40B4-BE49-F238E27FC236}">
                <a16:creationId xmlns:a16="http://schemas.microsoft.com/office/drawing/2014/main" id="{FE55B6E1-0AA8-16FC-8FBA-0A05ADBBC283}"/>
              </a:ext>
            </a:extLst>
          </p:cNvPr>
          <p:cNvSpPr txBox="1"/>
          <p:nvPr/>
        </p:nvSpPr>
        <p:spPr>
          <a:xfrm>
            <a:off x="8155961" y="2330601"/>
            <a:ext cx="1330939" cy="261610"/>
          </a:xfrm>
          <a:prstGeom prst="rect">
            <a:avLst/>
          </a:prstGeom>
          <a:noFill/>
        </p:spPr>
        <p:txBody>
          <a:bodyPr wrap="square" rtlCol="0">
            <a:spAutoFit/>
          </a:bodyPr>
          <a:lstStyle/>
          <a:p>
            <a:pPr algn="ctr"/>
            <a:r>
              <a:rPr kumimoji="1" lang="en-US" altLang="ja-JP" sz="1100"/>
              <a:t>Operator/Admin</a:t>
            </a:r>
            <a:endParaRPr kumimoji="1" lang="ja-JP" altLang="en-US" sz="1100"/>
          </a:p>
        </p:txBody>
      </p:sp>
      <p:sp>
        <p:nvSpPr>
          <p:cNvPr id="60" name="フローチャート: 判断 59">
            <a:extLst>
              <a:ext uri="{FF2B5EF4-FFF2-40B4-BE49-F238E27FC236}">
                <a16:creationId xmlns:a16="http://schemas.microsoft.com/office/drawing/2014/main" id="{0FD3D497-A213-3525-F994-E55165994060}"/>
              </a:ext>
            </a:extLst>
          </p:cNvPr>
          <p:cNvSpPr/>
          <p:nvPr/>
        </p:nvSpPr>
        <p:spPr>
          <a:xfrm>
            <a:off x="3655584" y="2890189"/>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1" name="コネクタ: カギ線 60">
            <a:extLst>
              <a:ext uri="{FF2B5EF4-FFF2-40B4-BE49-F238E27FC236}">
                <a16:creationId xmlns:a16="http://schemas.microsoft.com/office/drawing/2014/main" id="{6412D21D-9C6E-0EF1-9ACD-FCBCCBEB612B}"/>
              </a:ext>
            </a:extLst>
          </p:cNvPr>
          <p:cNvCxnSpPr>
            <a:stCxn id="60" idx="3"/>
            <a:endCxn id="35" idx="3"/>
          </p:cNvCxnSpPr>
          <p:nvPr/>
        </p:nvCxnSpPr>
        <p:spPr>
          <a:xfrm flipV="1">
            <a:off x="3704352" y="2126380"/>
            <a:ext cx="4706711" cy="795506"/>
          </a:xfrm>
          <a:prstGeom prst="bentConnector3">
            <a:avLst>
              <a:gd name="adj1" fmla="val 42833"/>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2" name="コネクタ: カギ線 61">
            <a:extLst>
              <a:ext uri="{FF2B5EF4-FFF2-40B4-BE49-F238E27FC236}">
                <a16:creationId xmlns:a16="http://schemas.microsoft.com/office/drawing/2014/main" id="{607145EB-ACAA-C9B6-4011-BCE252C6A05F}"/>
              </a:ext>
            </a:extLst>
          </p:cNvPr>
          <p:cNvCxnSpPr>
            <a:stCxn id="1031" idx="3"/>
            <a:endCxn id="63" idx="1"/>
          </p:cNvCxnSpPr>
          <p:nvPr/>
        </p:nvCxnSpPr>
        <p:spPr>
          <a:xfrm flipV="1">
            <a:off x="3495806" y="2229113"/>
            <a:ext cx="4891523" cy="2605178"/>
          </a:xfrm>
          <a:prstGeom prst="bentConnector3">
            <a:avLst>
              <a:gd name="adj1" fmla="val 58724"/>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63" name="フローチャート: 判断 62">
            <a:extLst>
              <a:ext uri="{FF2B5EF4-FFF2-40B4-BE49-F238E27FC236}">
                <a16:creationId xmlns:a16="http://schemas.microsoft.com/office/drawing/2014/main" id="{9170D809-DD80-1BFF-AF24-F9F55AC885E7}"/>
              </a:ext>
            </a:extLst>
          </p:cNvPr>
          <p:cNvSpPr/>
          <p:nvPr/>
        </p:nvSpPr>
        <p:spPr>
          <a:xfrm>
            <a:off x="8387329" y="219741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24" name="フローチャート: 判断 1023">
            <a:extLst>
              <a:ext uri="{FF2B5EF4-FFF2-40B4-BE49-F238E27FC236}">
                <a16:creationId xmlns:a16="http://schemas.microsoft.com/office/drawing/2014/main" id="{FBDB4C53-5C34-FBC5-5C99-CCF6FE2E429A}"/>
              </a:ext>
            </a:extLst>
          </p:cNvPr>
          <p:cNvSpPr/>
          <p:nvPr/>
        </p:nvSpPr>
        <p:spPr>
          <a:xfrm>
            <a:off x="3447036" y="495701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29" name="コネクタ: カギ線 1028">
            <a:extLst>
              <a:ext uri="{FF2B5EF4-FFF2-40B4-BE49-F238E27FC236}">
                <a16:creationId xmlns:a16="http://schemas.microsoft.com/office/drawing/2014/main" id="{82A0DAC9-247C-CF0A-0EA8-5E11D28F2423}"/>
              </a:ext>
            </a:extLst>
          </p:cNvPr>
          <p:cNvCxnSpPr>
            <a:cxnSpLocks/>
            <a:stCxn id="1024" idx="3"/>
          </p:cNvCxnSpPr>
          <p:nvPr/>
        </p:nvCxnSpPr>
        <p:spPr>
          <a:xfrm>
            <a:off x="3495804" y="4988713"/>
            <a:ext cx="4510839" cy="523210"/>
          </a:xfrm>
          <a:prstGeom prst="bentConnector3">
            <a:avLst>
              <a:gd name="adj1" fmla="val 54263"/>
            </a:avLst>
          </a:prstGeom>
          <a:ln w="25400">
            <a:solidFill>
              <a:schemeClr val="accent6">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1031" name="フローチャート: 判断 1030">
            <a:extLst>
              <a:ext uri="{FF2B5EF4-FFF2-40B4-BE49-F238E27FC236}">
                <a16:creationId xmlns:a16="http://schemas.microsoft.com/office/drawing/2014/main" id="{ADCFBD93-CE62-66D5-E110-F4507340DCD7}"/>
              </a:ext>
            </a:extLst>
          </p:cNvPr>
          <p:cNvSpPr/>
          <p:nvPr/>
        </p:nvSpPr>
        <p:spPr>
          <a:xfrm>
            <a:off x="3447038" y="4802594"/>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33" name="コネクタ: カギ線 1032">
            <a:extLst>
              <a:ext uri="{FF2B5EF4-FFF2-40B4-BE49-F238E27FC236}">
                <a16:creationId xmlns:a16="http://schemas.microsoft.com/office/drawing/2014/main" id="{C079CE01-71B5-1D12-A446-D7E72537CC1D}"/>
              </a:ext>
            </a:extLst>
          </p:cNvPr>
          <p:cNvCxnSpPr>
            <a:cxnSpLocks/>
            <a:stCxn id="1034" idx="3"/>
            <a:endCxn id="33" idx="3"/>
          </p:cNvCxnSpPr>
          <p:nvPr/>
        </p:nvCxnSpPr>
        <p:spPr>
          <a:xfrm>
            <a:off x="3707968" y="3032461"/>
            <a:ext cx="4310840" cy="2327091"/>
          </a:xfrm>
          <a:prstGeom prst="bentConnector3">
            <a:avLst>
              <a:gd name="adj1" fmla="val 56641"/>
            </a:avLst>
          </a:prstGeom>
          <a:ln w="25400">
            <a:solidFill>
              <a:schemeClr val="accent6">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1034" name="フローチャート: 判断 1033">
            <a:extLst>
              <a:ext uri="{FF2B5EF4-FFF2-40B4-BE49-F238E27FC236}">
                <a16:creationId xmlns:a16="http://schemas.microsoft.com/office/drawing/2014/main" id="{6F0B322A-31AE-FABD-95D9-433BBF906203}"/>
              </a:ext>
            </a:extLst>
          </p:cNvPr>
          <p:cNvSpPr/>
          <p:nvPr/>
        </p:nvSpPr>
        <p:spPr>
          <a:xfrm>
            <a:off x="3659200" y="3000764"/>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35" name="テキスト ボックス 1034">
            <a:extLst>
              <a:ext uri="{FF2B5EF4-FFF2-40B4-BE49-F238E27FC236}">
                <a16:creationId xmlns:a16="http://schemas.microsoft.com/office/drawing/2014/main" id="{7A2F762E-1F68-E5B7-EA1D-0E391AEC147C}"/>
              </a:ext>
            </a:extLst>
          </p:cNvPr>
          <p:cNvSpPr txBox="1"/>
          <p:nvPr/>
        </p:nvSpPr>
        <p:spPr>
          <a:xfrm>
            <a:off x="3717215" y="919407"/>
            <a:ext cx="2848443" cy="369332"/>
          </a:xfrm>
          <a:prstGeom prst="rect">
            <a:avLst/>
          </a:prstGeom>
          <a:noFill/>
        </p:spPr>
        <p:txBody>
          <a:bodyPr wrap="square" rtlCol="0">
            <a:spAutoFit/>
          </a:bodyPr>
          <a:lstStyle/>
          <a:p>
            <a:pPr algn="r"/>
            <a:r>
              <a:rPr kumimoji="1" lang="en-US" altLang="ja-JP" dirty="0">
                <a:ln w="0"/>
                <a:solidFill>
                  <a:schemeClr val="accent1"/>
                </a:solidFill>
                <a:effectLst>
                  <a:outerShdw blurRad="38100" dist="25400" dir="5400000" algn="ctr" rotWithShape="0">
                    <a:srgbClr val="6E747A">
                      <a:alpha val="43000"/>
                    </a:srgbClr>
                  </a:outerShdw>
                </a:effectLst>
              </a:rPr>
              <a:t>Microsoft Data Center</a:t>
            </a:r>
            <a:endParaRPr kumimoji="1" lang="ja-JP" altLang="en-US" dirty="0">
              <a:ln w="0"/>
              <a:solidFill>
                <a:schemeClr val="accent1"/>
              </a:solidFill>
              <a:effectLst>
                <a:outerShdw blurRad="38100" dist="25400" dir="5400000" algn="ctr" rotWithShape="0">
                  <a:srgbClr val="6E747A">
                    <a:alpha val="43000"/>
                  </a:srgbClr>
                </a:outerShdw>
              </a:effectLst>
            </a:endParaRPr>
          </a:p>
        </p:txBody>
      </p:sp>
      <p:sp>
        <p:nvSpPr>
          <p:cNvPr id="1037" name="テキスト ボックス 1036">
            <a:extLst>
              <a:ext uri="{FF2B5EF4-FFF2-40B4-BE49-F238E27FC236}">
                <a16:creationId xmlns:a16="http://schemas.microsoft.com/office/drawing/2014/main" id="{F6185404-0BA9-7215-45CA-6EEF2FFAAD24}"/>
              </a:ext>
            </a:extLst>
          </p:cNvPr>
          <p:cNvSpPr txBox="1"/>
          <p:nvPr/>
        </p:nvSpPr>
        <p:spPr>
          <a:xfrm>
            <a:off x="6865134" y="919407"/>
            <a:ext cx="2848443" cy="369332"/>
          </a:xfrm>
          <a:prstGeom prst="rect">
            <a:avLst/>
          </a:prstGeom>
          <a:noFill/>
        </p:spPr>
        <p:txBody>
          <a:bodyPr wrap="square" lIns="91440" tIns="45720" rIns="91440" bIns="45720" rtlCol="0" anchor="t">
            <a:spAutoFit/>
          </a:bodyPr>
          <a:lstStyle/>
          <a:p>
            <a:r>
              <a:rPr kumimoji="1" lang="en-US" altLang="ja-JP" dirty="0">
                <a:ln w="0"/>
                <a:solidFill>
                  <a:schemeClr val="accent1"/>
                </a:solidFill>
                <a:effectLst>
                  <a:outerShdw blurRad="38100" dist="25400" dir="5400000" algn="ctr" rotWithShape="0">
                    <a:srgbClr val="6E747A">
                      <a:alpha val="43000"/>
                    </a:srgbClr>
                  </a:outerShdw>
                </a:effectLst>
                <a:ea typeface="游ゴシック"/>
              </a:rPr>
              <a:t>MCC</a:t>
            </a:r>
            <a:r>
              <a:rPr kumimoji="1" lang="ja-JP" altLang="en-US" dirty="0">
                <a:ln w="0"/>
                <a:solidFill>
                  <a:schemeClr val="accent1"/>
                </a:solidFill>
                <a:effectLst>
                  <a:outerShdw blurRad="38100" dist="25400" dir="5400000" algn="ctr" rotWithShape="0">
                    <a:srgbClr val="6E747A">
                      <a:alpha val="43000"/>
                    </a:srgbClr>
                  </a:outerShdw>
                </a:effectLst>
                <a:ea typeface="游ゴシック"/>
              </a:rPr>
              <a:t>様</a:t>
            </a:r>
            <a:r>
              <a:rPr kumimoji="1" lang="en-US" altLang="ja-JP" dirty="0">
                <a:ln w="0"/>
                <a:solidFill>
                  <a:schemeClr val="accent1"/>
                </a:solidFill>
                <a:effectLst>
                  <a:outerShdw blurRad="38100" dist="25400" dir="5400000" algn="ctr" rotWithShape="0">
                    <a:srgbClr val="6E747A">
                      <a:alpha val="43000"/>
                    </a:srgbClr>
                  </a:outerShdw>
                </a:effectLst>
                <a:ea typeface="游ゴシック"/>
              </a:rPr>
              <a:t> </a:t>
            </a:r>
            <a:r>
              <a:rPr kumimoji="1" lang="ja-JP" altLang="en-US" dirty="0">
                <a:ln w="0"/>
                <a:solidFill>
                  <a:schemeClr val="accent1"/>
                </a:solidFill>
                <a:effectLst>
                  <a:outerShdw blurRad="38100" dist="25400" dir="5400000" algn="ctr" rotWithShape="0">
                    <a:srgbClr val="6E747A">
                      <a:alpha val="43000"/>
                    </a:srgbClr>
                  </a:outerShdw>
                </a:effectLst>
                <a:ea typeface="游ゴシック"/>
              </a:rPr>
              <a:t>環境</a:t>
            </a:r>
            <a:r>
              <a:rPr lang="ja-JP" altLang="en-US" dirty="0">
                <a:ln w="0"/>
                <a:solidFill>
                  <a:schemeClr val="accent1"/>
                </a:solidFill>
                <a:effectLst>
                  <a:outerShdw blurRad="38100" dist="25400" dir="5400000" algn="ctr" rotWithShape="0">
                    <a:srgbClr val="6E747A">
                      <a:alpha val="43000"/>
                    </a:srgbClr>
                  </a:outerShdw>
                </a:effectLst>
                <a:ea typeface="游ゴシック"/>
              </a:rPr>
              <a:t>（AWS含む）</a:t>
            </a:r>
            <a:endParaRPr kumimoji="1" lang="ja-JP" altLang="en-US" dirty="0">
              <a:ln w="0"/>
              <a:solidFill>
                <a:schemeClr val="accent1"/>
              </a:solidFill>
              <a:effectLst>
                <a:outerShdw blurRad="38100" dist="25400" dir="5400000" algn="ctr" rotWithShape="0">
                  <a:srgbClr val="6E747A">
                    <a:alpha val="43000"/>
                  </a:srgbClr>
                </a:outerShdw>
              </a:effectLst>
            </a:endParaRPr>
          </a:p>
        </p:txBody>
      </p:sp>
      <p:pic>
        <p:nvPicPr>
          <p:cNvPr id="1039"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A336E591-1A09-4B42-B233-AE9C5C2864F5}"/>
              </a:ext>
            </a:extLst>
          </p:cNvPr>
          <p:cNvPicPr>
            <a:picLocks noChangeAspect="1"/>
          </p:cNvPicPr>
          <p:nvPr/>
        </p:nvPicPr>
        <p:blipFill>
          <a:blip r:embed="rId5"/>
          <a:stretch>
            <a:fillRect/>
          </a:stretch>
        </p:blipFill>
        <p:spPr>
          <a:xfrm>
            <a:off x="8481119" y="2557871"/>
            <a:ext cx="771118" cy="456744"/>
          </a:xfrm>
          <a:prstGeom prst="rect">
            <a:avLst/>
          </a:prstGeom>
        </p:spPr>
      </p:pic>
      <p:pic>
        <p:nvPicPr>
          <p:cNvPr id="1040" name="図 1039" descr="アイコン&#10;&#10;AI によって生成されたコンテンツは間違っている可能性があります。">
            <a:extLst>
              <a:ext uri="{FF2B5EF4-FFF2-40B4-BE49-F238E27FC236}">
                <a16:creationId xmlns:a16="http://schemas.microsoft.com/office/drawing/2014/main" id="{13C8B91D-3012-F34B-3AF8-86CAEEE46785}"/>
              </a:ext>
            </a:extLst>
          </p:cNvPr>
          <p:cNvPicPr>
            <a:picLocks noChangeAspect="1"/>
          </p:cNvPicPr>
          <p:nvPr/>
        </p:nvPicPr>
        <p:blipFill>
          <a:blip r:embed="rId3"/>
          <a:stretch>
            <a:fillRect/>
          </a:stretch>
        </p:blipFill>
        <p:spPr>
          <a:xfrm>
            <a:off x="7904437" y="2564533"/>
            <a:ext cx="527498" cy="457200"/>
          </a:xfrm>
          <a:prstGeom prst="rect">
            <a:avLst/>
          </a:prstGeom>
        </p:spPr>
      </p:pic>
      <p:pic>
        <p:nvPicPr>
          <p:cNvPr id="1041" name="Picture 2" descr="Sql Server Icons For Windows PNG Transparent Background, Free Download  #11351 - FreeIconsPNG">
            <a:extLst>
              <a:ext uri="{FF2B5EF4-FFF2-40B4-BE49-F238E27FC236}">
                <a16:creationId xmlns:a16="http://schemas.microsoft.com/office/drawing/2014/main" id="{0836F7C5-1F1A-7334-F7F2-6E290DE9F4F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496944" y="2999513"/>
            <a:ext cx="561417" cy="561417"/>
          </a:xfrm>
          <a:prstGeom prst="rect">
            <a:avLst/>
          </a:prstGeom>
          <a:noFill/>
          <a:extLst>
            <a:ext uri="{909E8E84-426E-40DD-AFC4-6F175D3DCCD1}">
              <a14:hiddenFill xmlns:a14="http://schemas.microsoft.com/office/drawing/2010/main">
                <a:solidFill>
                  <a:srgbClr val="FFFFFF"/>
                </a:solidFill>
              </a14:hiddenFill>
            </a:ext>
          </a:extLst>
        </p:spPr>
      </p:pic>
      <p:sp>
        <p:nvSpPr>
          <p:cNvPr id="1042" name="テキスト ボックス 1041">
            <a:extLst>
              <a:ext uri="{FF2B5EF4-FFF2-40B4-BE49-F238E27FC236}">
                <a16:creationId xmlns:a16="http://schemas.microsoft.com/office/drawing/2014/main" id="{624BB405-FE59-3A88-24AF-D9950441FEEB}"/>
              </a:ext>
            </a:extLst>
          </p:cNvPr>
          <p:cNvSpPr txBox="1"/>
          <p:nvPr/>
        </p:nvSpPr>
        <p:spPr>
          <a:xfrm>
            <a:off x="4487023" y="4170561"/>
            <a:ext cx="2538877" cy="415498"/>
          </a:xfrm>
          <a:prstGeom prst="rect">
            <a:avLst/>
          </a:prstGeom>
          <a:noFill/>
        </p:spPr>
        <p:txBody>
          <a:bodyPr wrap="square" rtlCol="0">
            <a:spAutoFit/>
          </a:bodyPr>
          <a:lstStyle/>
          <a:p>
            <a:r>
              <a:rPr lang="ja-JP" altLang="en-US" sz="1050" dirty="0"/>
              <a:t>文書</a:t>
            </a:r>
            <a:r>
              <a:rPr lang="en-US" altLang="ja-JP" sz="1050" dirty="0"/>
              <a:t>Transaction</a:t>
            </a:r>
            <a:r>
              <a:rPr lang="ja-JP" altLang="en-US" sz="1050" dirty="0"/>
              <a:t>データ</a:t>
            </a:r>
          </a:p>
          <a:p>
            <a:r>
              <a:rPr lang="ja-JP" altLang="en-US" sz="1050" dirty="0"/>
              <a:t>各種マスタ（属性データ</a:t>
            </a:r>
            <a:r>
              <a:rPr lang="en-US" altLang="ja-JP" sz="1050" dirty="0"/>
              <a:t>/</a:t>
            </a:r>
            <a:r>
              <a:rPr lang="ja-JP" altLang="en-US" sz="1050" dirty="0"/>
              <a:t>定型データ）</a:t>
            </a:r>
            <a:endParaRPr lang="en-US" altLang="ja-JP" sz="1050" dirty="0"/>
          </a:p>
        </p:txBody>
      </p:sp>
      <p:cxnSp>
        <p:nvCxnSpPr>
          <p:cNvPr id="1043" name="コネクタ: カギ線 1042">
            <a:extLst>
              <a:ext uri="{FF2B5EF4-FFF2-40B4-BE49-F238E27FC236}">
                <a16:creationId xmlns:a16="http://schemas.microsoft.com/office/drawing/2014/main" id="{13E6D415-8665-D80B-E632-D1209521E955}"/>
              </a:ext>
            </a:extLst>
          </p:cNvPr>
          <p:cNvCxnSpPr>
            <a:stCxn id="31" idx="3"/>
            <a:endCxn id="1047" idx="2"/>
          </p:cNvCxnSpPr>
          <p:nvPr/>
        </p:nvCxnSpPr>
        <p:spPr>
          <a:xfrm flipV="1">
            <a:off x="1215112" y="3619746"/>
            <a:ext cx="1574962" cy="375163"/>
          </a:xfrm>
          <a:prstGeom prst="bentConnector2">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44" name="テキスト ボックス 1043">
            <a:extLst>
              <a:ext uri="{FF2B5EF4-FFF2-40B4-BE49-F238E27FC236}">
                <a16:creationId xmlns:a16="http://schemas.microsoft.com/office/drawing/2014/main" id="{175BC87F-CEBB-E258-7CE0-581B7474F0CB}"/>
              </a:ext>
            </a:extLst>
          </p:cNvPr>
          <p:cNvSpPr txBox="1"/>
          <p:nvPr/>
        </p:nvSpPr>
        <p:spPr>
          <a:xfrm>
            <a:off x="352525" y="4391627"/>
            <a:ext cx="1831889" cy="276999"/>
          </a:xfrm>
          <a:prstGeom prst="rect">
            <a:avLst/>
          </a:prstGeom>
          <a:noFill/>
        </p:spPr>
        <p:txBody>
          <a:bodyPr wrap="square" rtlCol="0">
            <a:spAutoFit/>
          </a:bodyPr>
          <a:lstStyle/>
          <a:p>
            <a:pPr algn="ctr"/>
            <a:r>
              <a:rPr kumimoji="1" lang="en-US" altLang="ja-JP" sz="1200" dirty="0"/>
              <a:t>Power Automation Flow</a:t>
            </a:r>
            <a:endParaRPr kumimoji="1" lang="ja-JP" altLang="en-US" sz="1200" dirty="0"/>
          </a:p>
        </p:txBody>
      </p:sp>
      <p:sp>
        <p:nvSpPr>
          <p:cNvPr id="1045" name="テキスト ボックス 1044">
            <a:extLst>
              <a:ext uri="{FF2B5EF4-FFF2-40B4-BE49-F238E27FC236}">
                <a16:creationId xmlns:a16="http://schemas.microsoft.com/office/drawing/2014/main" id="{21BB30D2-CC62-8D5D-8A2A-0E794164EE7C}"/>
              </a:ext>
            </a:extLst>
          </p:cNvPr>
          <p:cNvSpPr txBox="1"/>
          <p:nvPr/>
        </p:nvSpPr>
        <p:spPr>
          <a:xfrm>
            <a:off x="1631700" y="3769698"/>
            <a:ext cx="1057324" cy="253916"/>
          </a:xfrm>
          <a:prstGeom prst="rect">
            <a:avLst/>
          </a:prstGeom>
          <a:noFill/>
        </p:spPr>
        <p:txBody>
          <a:bodyPr wrap="square" rtlCol="0">
            <a:spAutoFit/>
          </a:bodyPr>
          <a:lstStyle/>
          <a:p>
            <a:r>
              <a:rPr lang="ja-JP" altLang="en-US" sz="1050" dirty="0"/>
              <a:t>業務処理</a:t>
            </a:r>
            <a:endParaRPr lang="en-US" altLang="ja-JP" sz="1050" dirty="0"/>
          </a:p>
        </p:txBody>
      </p:sp>
      <p:cxnSp>
        <p:nvCxnSpPr>
          <p:cNvPr id="1046" name="コネクタ: カギ線 1045">
            <a:extLst>
              <a:ext uri="{FF2B5EF4-FFF2-40B4-BE49-F238E27FC236}">
                <a16:creationId xmlns:a16="http://schemas.microsoft.com/office/drawing/2014/main" id="{C3FD9102-86F5-C5EF-602D-4D60AFF5A97F}"/>
              </a:ext>
            </a:extLst>
          </p:cNvPr>
          <p:cNvCxnSpPr>
            <a:cxnSpLocks/>
            <a:stCxn id="1053" idx="3"/>
            <a:endCxn id="1049" idx="1"/>
          </p:cNvCxnSpPr>
          <p:nvPr/>
        </p:nvCxnSpPr>
        <p:spPr>
          <a:xfrm flipV="1">
            <a:off x="1255145" y="3877363"/>
            <a:ext cx="3608456" cy="335737"/>
          </a:xfrm>
          <a:prstGeom prst="bentConnector3">
            <a:avLst>
              <a:gd name="adj1" fmla="val 50000"/>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sp>
        <p:nvSpPr>
          <p:cNvPr id="1047" name="フローチャート: 判断 1046">
            <a:extLst>
              <a:ext uri="{FF2B5EF4-FFF2-40B4-BE49-F238E27FC236}">
                <a16:creationId xmlns:a16="http://schemas.microsoft.com/office/drawing/2014/main" id="{72C2D57E-527C-E21C-F09E-2723EE50084B}"/>
              </a:ext>
            </a:extLst>
          </p:cNvPr>
          <p:cNvSpPr/>
          <p:nvPr/>
        </p:nvSpPr>
        <p:spPr>
          <a:xfrm>
            <a:off x="2765690" y="3556352"/>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9" name="フローチャート: 判断 1048">
            <a:extLst>
              <a:ext uri="{FF2B5EF4-FFF2-40B4-BE49-F238E27FC236}">
                <a16:creationId xmlns:a16="http://schemas.microsoft.com/office/drawing/2014/main" id="{7195AADC-8B8F-B2E1-B557-43D0CD685D8A}"/>
              </a:ext>
            </a:extLst>
          </p:cNvPr>
          <p:cNvSpPr/>
          <p:nvPr/>
        </p:nvSpPr>
        <p:spPr>
          <a:xfrm>
            <a:off x="4863601" y="384566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2" name="フローチャート: 判断 1051">
            <a:extLst>
              <a:ext uri="{FF2B5EF4-FFF2-40B4-BE49-F238E27FC236}">
                <a16:creationId xmlns:a16="http://schemas.microsoft.com/office/drawing/2014/main" id="{4D0D7CAB-5CDF-BB9A-6414-13E484C92FA6}"/>
              </a:ext>
            </a:extLst>
          </p:cNvPr>
          <p:cNvSpPr/>
          <p:nvPr/>
        </p:nvSpPr>
        <p:spPr>
          <a:xfrm>
            <a:off x="4871168" y="3983192"/>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3" name="フローチャート: 判断 1052">
            <a:extLst>
              <a:ext uri="{FF2B5EF4-FFF2-40B4-BE49-F238E27FC236}">
                <a16:creationId xmlns:a16="http://schemas.microsoft.com/office/drawing/2014/main" id="{7D6915FF-99B4-3C46-B1C5-13BE8981332D}"/>
              </a:ext>
            </a:extLst>
          </p:cNvPr>
          <p:cNvSpPr/>
          <p:nvPr/>
        </p:nvSpPr>
        <p:spPr>
          <a:xfrm>
            <a:off x="1206377" y="4181403"/>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5" name="テキスト ボックス 1054">
            <a:extLst>
              <a:ext uri="{FF2B5EF4-FFF2-40B4-BE49-F238E27FC236}">
                <a16:creationId xmlns:a16="http://schemas.microsoft.com/office/drawing/2014/main" id="{22F2AEEC-8761-5992-DB36-55DE93E4FDA1}"/>
              </a:ext>
            </a:extLst>
          </p:cNvPr>
          <p:cNvSpPr txBox="1"/>
          <p:nvPr/>
        </p:nvSpPr>
        <p:spPr>
          <a:xfrm>
            <a:off x="3155238" y="3604670"/>
            <a:ext cx="1717979" cy="646331"/>
          </a:xfrm>
          <a:prstGeom prst="rect">
            <a:avLst/>
          </a:prstGeom>
          <a:noFill/>
        </p:spPr>
        <p:txBody>
          <a:bodyPr wrap="square" rtlCol="0">
            <a:spAutoFit/>
          </a:bodyPr>
          <a:lstStyle/>
          <a:p>
            <a:pPr algn="ctr"/>
            <a:r>
              <a:rPr kumimoji="1" lang="en-US" altLang="ja-JP" sz="1200" dirty="0"/>
              <a:t>Table/View/</a:t>
            </a:r>
          </a:p>
          <a:p>
            <a:pPr algn="ctr"/>
            <a:r>
              <a:rPr kumimoji="1" lang="en-US" altLang="ja-JP" sz="1200" dirty="0"/>
              <a:t>Stored Procedure </a:t>
            </a:r>
          </a:p>
          <a:p>
            <a:pPr algn="ctr"/>
            <a:r>
              <a:rPr kumimoji="1" lang="en-US" altLang="ja-JP" sz="1200" dirty="0"/>
              <a:t>Access</a:t>
            </a:r>
            <a:endParaRPr kumimoji="1" lang="ja-JP" altLang="en-US" sz="1200" dirty="0"/>
          </a:p>
        </p:txBody>
      </p:sp>
      <p:sp>
        <p:nvSpPr>
          <p:cNvPr id="1057" name="フローチャート: 判断 1056">
            <a:extLst>
              <a:ext uri="{FF2B5EF4-FFF2-40B4-BE49-F238E27FC236}">
                <a16:creationId xmlns:a16="http://schemas.microsoft.com/office/drawing/2014/main" id="{1B5DE344-E23B-2E3E-CBB7-7228D7E1AF20}"/>
              </a:ext>
            </a:extLst>
          </p:cNvPr>
          <p:cNvSpPr/>
          <p:nvPr/>
        </p:nvSpPr>
        <p:spPr>
          <a:xfrm>
            <a:off x="2369883" y="294467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8" name="フローチャート: 判断 1057">
            <a:extLst>
              <a:ext uri="{FF2B5EF4-FFF2-40B4-BE49-F238E27FC236}">
                <a16:creationId xmlns:a16="http://schemas.microsoft.com/office/drawing/2014/main" id="{7FB35478-5841-CDD3-D2A7-6CC9D04371C8}"/>
              </a:ext>
            </a:extLst>
          </p:cNvPr>
          <p:cNvSpPr/>
          <p:nvPr/>
        </p:nvSpPr>
        <p:spPr>
          <a:xfrm>
            <a:off x="2367485" y="3207027"/>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59" name="コネクタ: カギ線 1058">
            <a:extLst>
              <a:ext uri="{FF2B5EF4-FFF2-40B4-BE49-F238E27FC236}">
                <a16:creationId xmlns:a16="http://schemas.microsoft.com/office/drawing/2014/main" id="{98421EEB-B3A5-66ED-DAB2-10E66F7E26AB}"/>
              </a:ext>
            </a:extLst>
          </p:cNvPr>
          <p:cNvCxnSpPr>
            <a:cxnSpLocks/>
            <a:stCxn id="1061" idx="2"/>
            <a:endCxn id="1057" idx="1"/>
          </p:cNvCxnSpPr>
          <p:nvPr/>
        </p:nvCxnSpPr>
        <p:spPr>
          <a:xfrm rot="16200000" flipH="1">
            <a:off x="1179236" y="1785719"/>
            <a:ext cx="1034861" cy="1346434"/>
          </a:xfrm>
          <a:prstGeom prst="bentConnector2">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60" name="コネクタ: カギ線 1059">
            <a:extLst>
              <a:ext uri="{FF2B5EF4-FFF2-40B4-BE49-F238E27FC236}">
                <a16:creationId xmlns:a16="http://schemas.microsoft.com/office/drawing/2014/main" id="{DE98FAF7-B642-8E12-4246-21A1CF50B52C}"/>
              </a:ext>
            </a:extLst>
          </p:cNvPr>
          <p:cNvCxnSpPr>
            <a:stCxn id="20" idx="2"/>
            <a:endCxn id="31" idx="0"/>
          </p:cNvCxnSpPr>
          <p:nvPr/>
        </p:nvCxnSpPr>
        <p:spPr>
          <a:xfrm rot="5400000">
            <a:off x="66739" y="2770814"/>
            <a:ext cx="1656450" cy="1872"/>
          </a:xfrm>
          <a:prstGeom prst="bentConnector3">
            <a:avLst>
              <a:gd name="adj1" fmla="val 50000"/>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61" name="フローチャート: 判断 1060">
            <a:extLst>
              <a:ext uri="{FF2B5EF4-FFF2-40B4-BE49-F238E27FC236}">
                <a16:creationId xmlns:a16="http://schemas.microsoft.com/office/drawing/2014/main" id="{8A8FA419-1D2F-E242-6A89-6A9FFE89A806}"/>
              </a:ext>
            </a:extLst>
          </p:cNvPr>
          <p:cNvSpPr/>
          <p:nvPr/>
        </p:nvSpPr>
        <p:spPr>
          <a:xfrm>
            <a:off x="999065" y="1878112"/>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62" name="コネクタ: カギ線 1061">
            <a:extLst>
              <a:ext uri="{FF2B5EF4-FFF2-40B4-BE49-F238E27FC236}">
                <a16:creationId xmlns:a16="http://schemas.microsoft.com/office/drawing/2014/main" id="{22EAAE7C-D501-4E60-2D12-421629C79A1E}"/>
              </a:ext>
            </a:extLst>
          </p:cNvPr>
          <p:cNvCxnSpPr>
            <a:cxnSpLocks/>
            <a:stCxn id="1041" idx="1"/>
          </p:cNvCxnSpPr>
          <p:nvPr/>
        </p:nvCxnSpPr>
        <p:spPr>
          <a:xfrm rot="10800000" flipV="1">
            <a:off x="5645392" y="3280222"/>
            <a:ext cx="2851552" cy="460358"/>
          </a:xfrm>
          <a:prstGeom prst="bentConnector3">
            <a:avLst>
              <a:gd name="adj1" fmla="val 50000"/>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64" name="コネクタ: カギ線 1063">
            <a:extLst>
              <a:ext uri="{FF2B5EF4-FFF2-40B4-BE49-F238E27FC236}">
                <a16:creationId xmlns:a16="http://schemas.microsoft.com/office/drawing/2014/main" id="{7C52C70A-207E-C8E6-19AA-7825596E8022}"/>
              </a:ext>
            </a:extLst>
          </p:cNvPr>
          <p:cNvCxnSpPr>
            <a:cxnSpLocks/>
            <a:stCxn id="20" idx="3"/>
            <a:endCxn id="13" idx="0"/>
          </p:cNvCxnSpPr>
          <p:nvPr/>
        </p:nvCxnSpPr>
        <p:spPr>
          <a:xfrm>
            <a:off x="1281459" y="1566641"/>
            <a:ext cx="8024360" cy="3663061"/>
          </a:xfrm>
          <a:prstGeom prst="bentConnector2">
            <a:avLst/>
          </a:prstGeom>
          <a:ln w="25400">
            <a:solidFill>
              <a:schemeClr val="accent6">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1065" name="テキスト ボックス 1064">
            <a:extLst>
              <a:ext uri="{FF2B5EF4-FFF2-40B4-BE49-F238E27FC236}">
                <a16:creationId xmlns:a16="http://schemas.microsoft.com/office/drawing/2014/main" id="{B0AAACC8-BA60-F22C-330F-0D31C329A08E}"/>
              </a:ext>
            </a:extLst>
          </p:cNvPr>
          <p:cNvSpPr txBox="1"/>
          <p:nvPr/>
        </p:nvSpPr>
        <p:spPr>
          <a:xfrm>
            <a:off x="615706" y="2273257"/>
            <a:ext cx="1057324" cy="577081"/>
          </a:xfrm>
          <a:prstGeom prst="rect">
            <a:avLst/>
          </a:prstGeom>
          <a:noFill/>
        </p:spPr>
        <p:txBody>
          <a:bodyPr wrap="square" rtlCol="0">
            <a:spAutoFit/>
          </a:bodyPr>
          <a:lstStyle/>
          <a:p>
            <a:r>
              <a:rPr kumimoji="1" lang="ja-JP" altLang="en-US" sz="1050" dirty="0"/>
              <a:t>社員、組織、役職リスト</a:t>
            </a:r>
            <a:endParaRPr kumimoji="1" lang="en-US" altLang="ja-JP" sz="1050" dirty="0"/>
          </a:p>
          <a:p>
            <a:r>
              <a:rPr kumimoji="1" lang="ja-JP" altLang="en-US" sz="1050" dirty="0"/>
              <a:t>添付ファイル</a:t>
            </a:r>
          </a:p>
        </p:txBody>
      </p:sp>
      <p:sp>
        <p:nvSpPr>
          <p:cNvPr id="1067" name="四角形: 角を丸くする 1066">
            <a:extLst>
              <a:ext uri="{FF2B5EF4-FFF2-40B4-BE49-F238E27FC236}">
                <a16:creationId xmlns:a16="http://schemas.microsoft.com/office/drawing/2014/main" id="{F5808236-6E93-378C-44B2-CC21D88E6C89}"/>
              </a:ext>
            </a:extLst>
          </p:cNvPr>
          <p:cNvSpPr/>
          <p:nvPr/>
        </p:nvSpPr>
        <p:spPr>
          <a:xfrm>
            <a:off x="9744384" y="1080709"/>
            <a:ext cx="2037964" cy="4536121"/>
          </a:xfrm>
          <a:prstGeom prst="roundRect">
            <a:avLst>
              <a:gd name="adj" fmla="val 6115"/>
            </a:avLst>
          </a:prstGeom>
          <a:solidFill>
            <a:schemeClr val="accent6">
              <a:lumMod val="20000"/>
              <a:lumOff val="80000"/>
              <a:alpha val="50000"/>
            </a:schemeClr>
          </a:solidFill>
          <a:ln w="317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69" name="テキスト ボックス 1068">
            <a:extLst>
              <a:ext uri="{FF2B5EF4-FFF2-40B4-BE49-F238E27FC236}">
                <a16:creationId xmlns:a16="http://schemas.microsoft.com/office/drawing/2014/main" id="{92523C2A-4A11-2C59-F439-9A2D6A0337F6}"/>
              </a:ext>
            </a:extLst>
          </p:cNvPr>
          <p:cNvSpPr txBox="1"/>
          <p:nvPr/>
        </p:nvSpPr>
        <p:spPr>
          <a:xfrm>
            <a:off x="9800604" y="1160613"/>
            <a:ext cx="1112261" cy="307777"/>
          </a:xfrm>
          <a:prstGeom prst="rect">
            <a:avLst/>
          </a:prstGeom>
          <a:noFill/>
        </p:spPr>
        <p:txBody>
          <a:bodyPr wrap="square" rtlCol="0">
            <a:spAutoFit/>
          </a:bodyPr>
          <a:lstStyle/>
          <a:p>
            <a:r>
              <a:rPr kumimoji="1" lang="ja-JP" altLang="en-US" sz="1400" b="1" dirty="0"/>
              <a:t>凡例</a:t>
            </a:r>
          </a:p>
        </p:txBody>
      </p:sp>
      <p:pic>
        <p:nvPicPr>
          <p:cNvPr id="1070"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95FCFDA0-2F47-1062-03E4-5C0D17765C59}"/>
              </a:ext>
            </a:extLst>
          </p:cNvPr>
          <p:cNvPicPr>
            <a:picLocks noChangeAspect="1"/>
          </p:cNvPicPr>
          <p:nvPr/>
        </p:nvPicPr>
        <p:blipFill>
          <a:blip r:embed="rId5"/>
          <a:stretch>
            <a:fillRect/>
          </a:stretch>
        </p:blipFill>
        <p:spPr>
          <a:xfrm>
            <a:off x="9869463" y="1496318"/>
            <a:ext cx="771118" cy="456744"/>
          </a:xfrm>
          <a:prstGeom prst="rect">
            <a:avLst/>
          </a:prstGeom>
        </p:spPr>
      </p:pic>
      <p:sp>
        <p:nvSpPr>
          <p:cNvPr id="1071" name="テキスト ボックス 1070">
            <a:extLst>
              <a:ext uri="{FF2B5EF4-FFF2-40B4-BE49-F238E27FC236}">
                <a16:creationId xmlns:a16="http://schemas.microsoft.com/office/drawing/2014/main" id="{2CF094C4-A530-4E63-34D1-7C283B62C1A7}"/>
              </a:ext>
            </a:extLst>
          </p:cNvPr>
          <p:cNvSpPr txBox="1"/>
          <p:nvPr/>
        </p:nvSpPr>
        <p:spPr>
          <a:xfrm>
            <a:off x="10634114" y="1590262"/>
            <a:ext cx="1148602" cy="253916"/>
          </a:xfrm>
          <a:prstGeom prst="rect">
            <a:avLst/>
          </a:prstGeom>
          <a:noFill/>
        </p:spPr>
        <p:txBody>
          <a:bodyPr wrap="square" rtlCol="0">
            <a:spAutoFit/>
          </a:bodyPr>
          <a:lstStyle/>
          <a:p>
            <a:r>
              <a:rPr kumimoji="1" lang="en-US" altLang="ja-JP" sz="1050" dirty="0"/>
              <a:t>Power Apps</a:t>
            </a:r>
            <a:r>
              <a:rPr kumimoji="1" lang="ja-JP" altLang="en-US" sz="1050" dirty="0"/>
              <a:t>画面</a:t>
            </a:r>
          </a:p>
        </p:txBody>
      </p:sp>
      <p:pic>
        <p:nvPicPr>
          <p:cNvPr id="1072" name="図 1071" descr="グラフィカル ユーザー インターフェイス, アプリケーション&#10;&#10;AI によって生成されたコンテンツは間違っている可能性があります。">
            <a:extLst>
              <a:ext uri="{FF2B5EF4-FFF2-40B4-BE49-F238E27FC236}">
                <a16:creationId xmlns:a16="http://schemas.microsoft.com/office/drawing/2014/main" id="{F8BE9A00-84B5-96FC-B0E7-8105F62A2850}"/>
              </a:ext>
            </a:extLst>
          </p:cNvPr>
          <p:cNvPicPr>
            <a:picLocks noChangeAspect="1"/>
          </p:cNvPicPr>
          <p:nvPr/>
        </p:nvPicPr>
        <p:blipFill>
          <a:blip r:embed="rId9"/>
          <a:stretch>
            <a:fillRect/>
          </a:stretch>
        </p:blipFill>
        <p:spPr>
          <a:xfrm>
            <a:off x="10028959" y="2029260"/>
            <a:ext cx="478111" cy="588077"/>
          </a:xfrm>
          <a:prstGeom prst="rect">
            <a:avLst/>
          </a:prstGeom>
        </p:spPr>
      </p:pic>
      <p:sp>
        <p:nvSpPr>
          <p:cNvPr id="1073" name="テキスト ボックス 1072">
            <a:extLst>
              <a:ext uri="{FF2B5EF4-FFF2-40B4-BE49-F238E27FC236}">
                <a16:creationId xmlns:a16="http://schemas.microsoft.com/office/drawing/2014/main" id="{4C018F88-F44F-2F25-6969-FECF28053E9C}"/>
              </a:ext>
            </a:extLst>
          </p:cNvPr>
          <p:cNvSpPr txBox="1"/>
          <p:nvPr/>
        </p:nvSpPr>
        <p:spPr>
          <a:xfrm>
            <a:off x="10634114" y="2178546"/>
            <a:ext cx="1148602" cy="415498"/>
          </a:xfrm>
          <a:prstGeom prst="rect">
            <a:avLst/>
          </a:prstGeom>
          <a:noFill/>
        </p:spPr>
        <p:txBody>
          <a:bodyPr wrap="square" rtlCol="0">
            <a:spAutoFit/>
          </a:bodyPr>
          <a:lstStyle/>
          <a:p>
            <a:r>
              <a:rPr kumimoji="1" lang="en-US" altLang="ja-JP" sz="1050" dirty="0"/>
              <a:t>Power Automate Flow</a:t>
            </a:r>
            <a:endParaRPr kumimoji="1" lang="ja-JP" altLang="en-US" sz="1050" dirty="0"/>
          </a:p>
        </p:txBody>
      </p:sp>
      <p:pic>
        <p:nvPicPr>
          <p:cNvPr id="1076" name="図 1075" descr="アイコン&#10;&#10;AI によって生成されたコンテンツは間違っている可能性があります。">
            <a:extLst>
              <a:ext uri="{FF2B5EF4-FFF2-40B4-BE49-F238E27FC236}">
                <a16:creationId xmlns:a16="http://schemas.microsoft.com/office/drawing/2014/main" id="{014C6484-9F25-2D3C-1EF7-4D5C4F4E1AFB}"/>
              </a:ext>
            </a:extLst>
          </p:cNvPr>
          <p:cNvPicPr>
            <a:picLocks noChangeAspect="1"/>
          </p:cNvPicPr>
          <p:nvPr/>
        </p:nvPicPr>
        <p:blipFill>
          <a:blip r:embed="rId3"/>
          <a:stretch>
            <a:fillRect/>
          </a:stretch>
        </p:blipFill>
        <p:spPr>
          <a:xfrm>
            <a:off x="10011828" y="2863627"/>
            <a:ext cx="537172" cy="465585"/>
          </a:xfrm>
          <a:prstGeom prst="rect">
            <a:avLst/>
          </a:prstGeom>
        </p:spPr>
      </p:pic>
      <p:sp>
        <p:nvSpPr>
          <p:cNvPr id="1077" name="テキスト ボックス 1076">
            <a:extLst>
              <a:ext uri="{FF2B5EF4-FFF2-40B4-BE49-F238E27FC236}">
                <a16:creationId xmlns:a16="http://schemas.microsoft.com/office/drawing/2014/main" id="{88A4FCF8-9F47-8AE9-416E-F5456F6D96CD}"/>
              </a:ext>
            </a:extLst>
          </p:cNvPr>
          <p:cNvSpPr txBox="1"/>
          <p:nvPr/>
        </p:nvSpPr>
        <p:spPr>
          <a:xfrm>
            <a:off x="10634114" y="2971408"/>
            <a:ext cx="1148602" cy="253916"/>
          </a:xfrm>
          <a:prstGeom prst="rect">
            <a:avLst/>
          </a:prstGeom>
          <a:noFill/>
        </p:spPr>
        <p:txBody>
          <a:bodyPr wrap="square" rtlCol="0">
            <a:spAutoFit/>
          </a:bodyPr>
          <a:lstStyle/>
          <a:p>
            <a:r>
              <a:rPr kumimoji="1" lang="en-US" altLang="ja-JP" sz="1050" dirty="0"/>
              <a:t>Power BI</a:t>
            </a:r>
            <a:endParaRPr kumimoji="1" lang="ja-JP" altLang="en-US" sz="1050" dirty="0"/>
          </a:p>
        </p:txBody>
      </p:sp>
      <p:pic>
        <p:nvPicPr>
          <p:cNvPr id="1094" name="図 1093" descr="ロゴ, アイコン&#10;&#10;AI によって生成されたコンテンツは間違っている可能性があります。">
            <a:extLst>
              <a:ext uri="{FF2B5EF4-FFF2-40B4-BE49-F238E27FC236}">
                <a16:creationId xmlns:a16="http://schemas.microsoft.com/office/drawing/2014/main" id="{3EE7C183-F2A7-1031-CF75-C3BEB9B843B8}"/>
              </a:ext>
            </a:extLst>
          </p:cNvPr>
          <p:cNvPicPr>
            <a:picLocks noChangeAspect="1"/>
          </p:cNvPicPr>
          <p:nvPr/>
        </p:nvPicPr>
        <p:blipFill>
          <a:blip r:embed="rId8"/>
          <a:stretch>
            <a:fillRect/>
          </a:stretch>
        </p:blipFill>
        <p:spPr>
          <a:xfrm>
            <a:off x="9987393" y="3433763"/>
            <a:ext cx="566246" cy="553505"/>
          </a:xfrm>
          <a:prstGeom prst="rect">
            <a:avLst/>
          </a:prstGeom>
        </p:spPr>
      </p:pic>
      <p:sp>
        <p:nvSpPr>
          <p:cNvPr id="1095" name="テキスト ボックス 1094">
            <a:extLst>
              <a:ext uri="{FF2B5EF4-FFF2-40B4-BE49-F238E27FC236}">
                <a16:creationId xmlns:a16="http://schemas.microsoft.com/office/drawing/2014/main" id="{E594B9BA-097A-4AA2-6ED6-6792E9741934}"/>
              </a:ext>
            </a:extLst>
          </p:cNvPr>
          <p:cNvSpPr txBox="1"/>
          <p:nvPr/>
        </p:nvSpPr>
        <p:spPr>
          <a:xfrm>
            <a:off x="10634114" y="3580894"/>
            <a:ext cx="1148602" cy="253916"/>
          </a:xfrm>
          <a:prstGeom prst="rect">
            <a:avLst/>
          </a:prstGeom>
          <a:noFill/>
        </p:spPr>
        <p:txBody>
          <a:bodyPr wrap="square" rtlCol="0">
            <a:spAutoFit/>
          </a:bodyPr>
          <a:lstStyle/>
          <a:p>
            <a:r>
              <a:rPr kumimoji="1" lang="en-US" altLang="ja-JP" sz="1050" dirty="0"/>
              <a:t>Share Point</a:t>
            </a:r>
            <a:endParaRPr kumimoji="1" lang="ja-JP" altLang="en-US" sz="1050" dirty="0"/>
          </a:p>
        </p:txBody>
      </p:sp>
      <p:pic>
        <p:nvPicPr>
          <p:cNvPr id="1096" name="図 1095" descr="アイコン&#10;&#10;AI によって生成されたコンテンツは間違っている可能性があります。">
            <a:extLst>
              <a:ext uri="{FF2B5EF4-FFF2-40B4-BE49-F238E27FC236}">
                <a16:creationId xmlns:a16="http://schemas.microsoft.com/office/drawing/2014/main" id="{A82DF722-B7AE-AAC4-62F6-F610A0E4FE56}"/>
              </a:ext>
            </a:extLst>
          </p:cNvPr>
          <p:cNvPicPr>
            <a:picLocks noChangeAspect="1"/>
          </p:cNvPicPr>
          <p:nvPr/>
        </p:nvPicPr>
        <p:blipFill>
          <a:blip r:embed="rId4"/>
          <a:stretch>
            <a:fillRect/>
          </a:stretch>
        </p:blipFill>
        <p:spPr>
          <a:xfrm>
            <a:off x="10009073" y="4116168"/>
            <a:ext cx="658774" cy="395265"/>
          </a:xfrm>
          <a:prstGeom prst="rect">
            <a:avLst/>
          </a:prstGeom>
        </p:spPr>
      </p:pic>
      <p:sp>
        <p:nvSpPr>
          <p:cNvPr id="1097" name="テキスト ボックス 1096">
            <a:extLst>
              <a:ext uri="{FF2B5EF4-FFF2-40B4-BE49-F238E27FC236}">
                <a16:creationId xmlns:a16="http://schemas.microsoft.com/office/drawing/2014/main" id="{49672E91-AD2A-4718-E3C6-4D3D22DB29E5}"/>
              </a:ext>
            </a:extLst>
          </p:cNvPr>
          <p:cNvSpPr txBox="1"/>
          <p:nvPr/>
        </p:nvSpPr>
        <p:spPr>
          <a:xfrm>
            <a:off x="10634114" y="4151150"/>
            <a:ext cx="1148602" cy="253916"/>
          </a:xfrm>
          <a:prstGeom prst="rect">
            <a:avLst/>
          </a:prstGeom>
          <a:noFill/>
        </p:spPr>
        <p:txBody>
          <a:bodyPr wrap="square" rtlCol="0">
            <a:spAutoFit/>
          </a:bodyPr>
          <a:lstStyle/>
          <a:p>
            <a:r>
              <a:rPr kumimoji="1" lang="en-US" altLang="ja-JP" sz="1050" dirty="0"/>
              <a:t>Azure </a:t>
            </a:r>
            <a:r>
              <a:rPr kumimoji="1" lang="en-US" altLang="ja-JP" sz="1050" dirty="0" err="1"/>
              <a:t>Sql</a:t>
            </a:r>
            <a:r>
              <a:rPr lang="ja-JP" altLang="en-US" sz="1050" dirty="0"/>
              <a:t> </a:t>
            </a:r>
            <a:r>
              <a:rPr lang="en-US" altLang="ja-JP" sz="1050" dirty="0"/>
              <a:t>Service</a:t>
            </a:r>
            <a:endParaRPr kumimoji="1" lang="ja-JP" altLang="en-US" sz="1050" dirty="0"/>
          </a:p>
        </p:txBody>
      </p:sp>
      <p:pic>
        <p:nvPicPr>
          <p:cNvPr id="1098" name="Picture 2" descr="Sql Server Icons For Windows PNG Transparent Background, Free Download  #11351 - FreeIconsPNG">
            <a:extLst>
              <a:ext uri="{FF2B5EF4-FFF2-40B4-BE49-F238E27FC236}">
                <a16:creationId xmlns:a16="http://schemas.microsoft.com/office/drawing/2014/main" id="{B2AB4697-06D6-C6FC-2946-312198B7FDE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063320" y="4661038"/>
            <a:ext cx="414392" cy="414392"/>
          </a:xfrm>
          <a:prstGeom prst="rect">
            <a:avLst/>
          </a:prstGeom>
          <a:noFill/>
          <a:extLst>
            <a:ext uri="{909E8E84-426E-40DD-AFC4-6F175D3DCCD1}">
              <a14:hiddenFill xmlns:a14="http://schemas.microsoft.com/office/drawing/2010/main">
                <a:solidFill>
                  <a:srgbClr val="FFFFFF"/>
                </a:solidFill>
              </a14:hiddenFill>
            </a:ext>
          </a:extLst>
        </p:spPr>
      </p:pic>
      <p:sp>
        <p:nvSpPr>
          <p:cNvPr id="1099" name="テキスト ボックス 1098">
            <a:extLst>
              <a:ext uri="{FF2B5EF4-FFF2-40B4-BE49-F238E27FC236}">
                <a16:creationId xmlns:a16="http://schemas.microsoft.com/office/drawing/2014/main" id="{AA6A1354-D127-4830-5B00-7514FF45A985}"/>
              </a:ext>
            </a:extLst>
          </p:cNvPr>
          <p:cNvSpPr txBox="1"/>
          <p:nvPr/>
        </p:nvSpPr>
        <p:spPr>
          <a:xfrm>
            <a:off x="10646735" y="4730277"/>
            <a:ext cx="1148602" cy="415498"/>
          </a:xfrm>
          <a:prstGeom prst="rect">
            <a:avLst/>
          </a:prstGeom>
          <a:noFill/>
        </p:spPr>
        <p:txBody>
          <a:bodyPr wrap="square" rtlCol="0">
            <a:spAutoFit/>
          </a:bodyPr>
          <a:lstStyle/>
          <a:p>
            <a:r>
              <a:rPr lang="en-US" altLang="ja-JP" sz="1050" dirty="0" err="1"/>
              <a:t>Dvlp</a:t>
            </a:r>
            <a:r>
              <a:rPr lang="en-US" altLang="ja-JP" sz="1050" dirty="0"/>
              <a:t>/Operator Tools</a:t>
            </a:r>
            <a:endParaRPr lang="ja-JP" altLang="en-US" sz="1050" dirty="0"/>
          </a:p>
        </p:txBody>
      </p:sp>
      <p:pic>
        <p:nvPicPr>
          <p:cNvPr id="1100" name="図 1099" descr="グラフィカル ユーザー インターフェイス, アプリケーション, テーブル, Excel">
            <a:extLst>
              <a:ext uri="{FF2B5EF4-FFF2-40B4-BE49-F238E27FC236}">
                <a16:creationId xmlns:a16="http://schemas.microsoft.com/office/drawing/2014/main" id="{261AA832-34A6-FFC5-16C5-6EAEEE42A0E7}"/>
              </a:ext>
            </a:extLst>
          </p:cNvPr>
          <p:cNvPicPr>
            <a:picLocks noChangeAspect="1"/>
          </p:cNvPicPr>
          <p:nvPr/>
        </p:nvPicPr>
        <p:blipFill>
          <a:blip r:embed="rId6"/>
          <a:stretch>
            <a:fillRect/>
          </a:stretch>
        </p:blipFill>
        <p:spPr>
          <a:xfrm>
            <a:off x="10005420" y="5207850"/>
            <a:ext cx="566540" cy="279743"/>
          </a:xfrm>
          <a:prstGeom prst="rect">
            <a:avLst/>
          </a:prstGeom>
        </p:spPr>
      </p:pic>
      <p:sp>
        <p:nvSpPr>
          <p:cNvPr id="1101" name="テキスト ボックス 1100">
            <a:extLst>
              <a:ext uri="{FF2B5EF4-FFF2-40B4-BE49-F238E27FC236}">
                <a16:creationId xmlns:a16="http://schemas.microsoft.com/office/drawing/2014/main" id="{C4C48FEC-0E34-C36E-8626-AC008765BF9B}"/>
              </a:ext>
            </a:extLst>
          </p:cNvPr>
          <p:cNvSpPr txBox="1"/>
          <p:nvPr/>
        </p:nvSpPr>
        <p:spPr>
          <a:xfrm>
            <a:off x="10633746" y="5187682"/>
            <a:ext cx="1148602" cy="253916"/>
          </a:xfrm>
          <a:prstGeom prst="rect">
            <a:avLst/>
          </a:prstGeom>
          <a:noFill/>
        </p:spPr>
        <p:txBody>
          <a:bodyPr wrap="square" rtlCol="0">
            <a:spAutoFit/>
          </a:bodyPr>
          <a:lstStyle/>
          <a:p>
            <a:r>
              <a:rPr lang="en-US" altLang="ja-JP" sz="1050" dirty="0"/>
              <a:t>Office 365</a:t>
            </a:r>
            <a:endParaRPr lang="ja-JP" alt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48F1A-B802-D149-C82C-94A6C978BB0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0C5381E-BAE4-4E71-8CA1-50E8C9FB34BE}"/>
              </a:ext>
            </a:extLst>
          </p:cNvPr>
          <p:cNvSpPr>
            <a:spLocks noGrp="1"/>
          </p:cNvSpPr>
          <p:nvPr>
            <p:ph type="title"/>
          </p:nvPr>
        </p:nvSpPr>
        <p:spPr/>
        <p:txBody>
          <a:bodyPr>
            <a:noAutofit/>
          </a:bodyPr>
          <a:lstStyle/>
          <a:p>
            <a:r>
              <a:rPr kumimoji="1" lang="ja-JP" altLang="en-US" dirty="0"/>
              <a:t>要件の実現（メイン機能）</a:t>
            </a:r>
          </a:p>
        </p:txBody>
      </p:sp>
      <p:sp>
        <p:nvSpPr>
          <p:cNvPr id="4" name="テキスト ボックス 3">
            <a:extLst>
              <a:ext uri="{FF2B5EF4-FFF2-40B4-BE49-F238E27FC236}">
                <a16:creationId xmlns:a16="http://schemas.microsoft.com/office/drawing/2014/main" id="{40DC9C1A-9B7D-DA37-7A46-AA52CA38B3F3}"/>
              </a:ext>
            </a:extLst>
          </p:cNvPr>
          <p:cNvSpPr txBox="1"/>
          <p:nvPr/>
        </p:nvSpPr>
        <p:spPr>
          <a:xfrm>
            <a:off x="414336" y="764418"/>
            <a:ext cx="11366184" cy="378710"/>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r>
              <a:rPr lang="ja-JP" altLang="en-US" sz="2400" dirty="0"/>
              <a:t>提案したアーキテクチャでは下記の要件（メイン）が実現可能</a:t>
            </a:r>
            <a:endParaRPr lang="en-US" altLang="ja-JP" sz="2000" dirty="0"/>
          </a:p>
        </p:txBody>
      </p:sp>
      <p:sp>
        <p:nvSpPr>
          <p:cNvPr id="5" name="テキスト ボックス 4">
            <a:extLst>
              <a:ext uri="{FF2B5EF4-FFF2-40B4-BE49-F238E27FC236}">
                <a16:creationId xmlns:a16="http://schemas.microsoft.com/office/drawing/2014/main" id="{740DE17A-635C-296D-D582-BD854B6E9AF0}"/>
              </a:ext>
            </a:extLst>
          </p:cNvPr>
          <p:cNvSpPr txBox="1"/>
          <p:nvPr/>
        </p:nvSpPr>
        <p:spPr>
          <a:xfrm>
            <a:off x="284308" y="5562472"/>
            <a:ext cx="11172585"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effectLst/>
                <a:uLnTx/>
                <a:uFillTx/>
                <a:latin typeface="Gill Sans MT"/>
                <a:ea typeface="游ゴシック" panose="020B0400000000000000" pitchFamily="50" charset="-128"/>
                <a:cs typeface="+mn-cs"/>
              </a:rPr>
              <a:t>次ページより詳細について説明します。</a:t>
            </a:r>
            <a:endParaRPr kumimoji="1" lang="en-US" altLang="ja-JP" sz="1800" b="0" i="0" u="none" strike="noStrike" kern="1200" cap="none" spc="0" normalizeH="0" baseline="0" noProof="0" dirty="0">
              <a:ln>
                <a:noFill/>
              </a:ln>
              <a:effectLst/>
              <a:uLnTx/>
              <a:uFillTx/>
              <a:latin typeface="Gill Sans MT"/>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400" b="1" i="0" u="none" strike="noStrike" kern="1200" cap="none" spc="0" normalizeH="0" baseline="0" noProof="0" dirty="0">
              <a:ln>
                <a:noFill/>
              </a:ln>
              <a:effectLst/>
              <a:uLnTx/>
              <a:uFillTx/>
              <a:latin typeface="Gill Sans MT"/>
              <a:ea typeface="游ゴシック" panose="020B0400000000000000" pitchFamily="50" charset="-128"/>
              <a:cs typeface="+mn-cs"/>
            </a:endParaRPr>
          </a:p>
        </p:txBody>
      </p:sp>
      <p:sp>
        <p:nvSpPr>
          <p:cNvPr id="6" name="テキスト ボックス 5">
            <a:extLst>
              <a:ext uri="{FF2B5EF4-FFF2-40B4-BE49-F238E27FC236}">
                <a16:creationId xmlns:a16="http://schemas.microsoft.com/office/drawing/2014/main" id="{A1E8D3B5-6211-F128-163F-FC4D4BA63EA2}"/>
              </a:ext>
            </a:extLst>
          </p:cNvPr>
          <p:cNvSpPr txBox="1"/>
          <p:nvPr/>
        </p:nvSpPr>
        <p:spPr>
          <a:xfrm>
            <a:off x="802765" y="1143128"/>
            <a:ext cx="10253162" cy="4289484"/>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r>
              <a:rPr lang="ja-JP" altLang="en-US" sz="2000" dirty="0"/>
              <a:t>★添付ファイル管理（編集を含む）</a:t>
            </a:r>
            <a:endParaRPr lang="en-US" altLang="ja-JP" sz="2000" dirty="0"/>
          </a:p>
          <a:p>
            <a:r>
              <a:rPr lang="en-US" altLang="ja-JP" sz="2000" dirty="0"/>
              <a:t>	</a:t>
            </a:r>
            <a:r>
              <a:rPr lang="ja-JP" altLang="en-US" sz="2000" dirty="0"/>
              <a:t>・オンライン編集</a:t>
            </a:r>
            <a:endParaRPr lang="en-US" altLang="ja-JP" sz="2000" dirty="0"/>
          </a:p>
          <a:p>
            <a:r>
              <a:rPr lang="en-US" altLang="ja-JP" sz="2000" dirty="0"/>
              <a:t>	</a:t>
            </a:r>
            <a:r>
              <a:rPr lang="ja-JP" altLang="en-US" sz="2000" dirty="0"/>
              <a:t>・検索機能</a:t>
            </a:r>
            <a:endParaRPr lang="en-US" altLang="ja-JP" sz="2000" dirty="0"/>
          </a:p>
          <a:p>
            <a:r>
              <a:rPr lang="en-US" altLang="ja-JP" sz="2000" dirty="0"/>
              <a:t>	</a:t>
            </a:r>
            <a:r>
              <a:rPr lang="ja-JP" altLang="en-US" sz="2000" dirty="0"/>
              <a:t>・一括ダウンロード機能</a:t>
            </a:r>
            <a:endParaRPr lang="en-US" altLang="ja-JP" sz="2000" dirty="0"/>
          </a:p>
          <a:p>
            <a:r>
              <a:rPr lang="ja-JP" altLang="en-US" sz="2000" dirty="0"/>
              <a:t>★権限管理</a:t>
            </a:r>
            <a:endParaRPr lang="en-US" altLang="ja-JP" sz="2000" dirty="0"/>
          </a:p>
          <a:p>
            <a:r>
              <a:rPr lang="en-US" altLang="ja-JP" sz="2000" dirty="0"/>
              <a:t>	</a:t>
            </a:r>
            <a:r>
              <a:rPr lang="ja-JP" altLang="en-US" sz="2000" dirty="0"/>
              <a:t>・定型データの権限は定義されたグループ（複数のユーザを管理）で管理</a:t>
            </a:r>
            <a:endParaRPr lang="en-US" altLang="ja-JP" sz="2000" dirty="0"/>
          </a:p>
          <a:p>
            <a:r>
              <a:rPr lang="en-US" altLang="ja-JP" sz="2000" dirty="0"/>
              <a:t>	</a:t>
            </a:r>
            <a:r>
              <a:rPr lang="ja-JP" altLang="en-US" sz="2000" dirty="0"/>
              <a:t>・定型データのユーザ単位・項目別での権限管理（</a:t>
            </a:r>
            <a:r>
              <a:rPr lang="en-US" altLang="ja-JP" sz="2000" dirty="0"/>
              <a:t>Option</a:t>
            </a:r>
            <a:r>
              <a:rPr lang="ja-JP" altLang="en-US" sz="2000" dirty="0"/>
              <a:t>）</a:t>
            </a:r>
            <a:endParaRPr lang="en-US" altLang="ja-JP" sz="2000" dirty="0"/>
          </a:p>
          <a:p>
            <a:pPr lvl="2"/>
            <a:r>
              <a:rPr lang="ja-JP" altLang="en-US" sz="2000" dirty="0"/>
              <a:t>・アクセス権限管理</a:t>
            </a:r>
            <a:endParaRPr lang="en-US" altLang="ja-JP" sz="2000" dirty="0"/>
          </a:p>
          <a:p>
            <a:r>
              <a:rPr lang="en-US" altLang="ja-JP" sz="2000" dirty="0"/>
              <a:t>		</a:t>
            </a:r>
            <a:r>
              <a:rPr lang="ja-JP" altLang="en-US" dirty="0"/>
              <a:t>*ソリューション内と</a:t>
            </a:r>
            <a:r>
              <a:rPr lang="en-US" altLang="ja-JP" dirty="0"/>
              <a:t>SPO</a:t>
            </a:r>
            <a:r>
              <a:rPr lang="ja-JP" altLang="en-US" dirty="0"/>
              <a:t>に直接アクセスの双方において</a:t>
            </a:r>
            <a:endParaRPr lang="en-US" altLang="ja-JP" sz="2000" dirty="0"/>
          </a:p>
          <a:p>
            <a:r>
              <a:rPr lang="ja-JP" altLang="en-US" sz="2000" dirty="0"/>
              <a:t>★非機能要件</a:t>
            </a:r>
            <a:endParaRPr lang="en-US" altLang="ja-JP" sz="2000" dirty="0"/>
          </a:p>
          <a:p>
            <a:r>
              <a:rPr lang="en-US" altLang="ja-JP" sz="2000" dirty="0"/>
              <a:t>	</a:t>
            </a:r>
            <a:r>
              <a:rPr lang="ja-JP" altLang="en-US" sz="2000" dirty="0"/>
              <a:t>・パフォーマンスの保証</a:t>
            </a:r>
            <a:endParaRPr lang="en-US" altLang="ja-JP" sz="2000" dirty="0"/>
          </a:p>
          <a:p>
            <a:r>
              <a:rPr lang="en-US" altLang="ja-JP" sz="2000" dirty="0"/>
              <a:t>	</a:t>
            </a:r>
            <a:r>
              <a:rPr lang="ja-JP" altLang="en-US" sz="2000" dirty="0"/>
              <a:t>・</a:t>
            </a:r>
            <a:r>
              <a:rPr lang="en-US" altLang="ja-JP" sz="2000" dirty="0"/>
              <a:t>HA</a:t>
            </a:r>
            <a:r>
              <a:rPr lang="ja-JP" altLang="en-US" sz="2000" dirty="0"/>
              <a:t>の保証</a:t>
            </a:r>
            <a:endParaRPr lang="en-US" altLang="ja-JP" sz="2000" dirty="0"/>
          </a:p>
          <a:p>
            <a:r>
              <a:rPr lang="ja-JP" altLang="en-US" sz="2000" dirty="0"/>
              <a:t>★データ移行</a:t>
            </a:r>
            <a:endParaRPr lang="en-US" altLang="ja-JP" sz="2000" dirty="0"/>
          </a:p>
          <a:p>
            <a:r>
              <a:rPr lang="en-US" altLang="ja-JP" sz="2000" dirty="0"/>
              <a:t>	</a:t>
            </a:r>
            <a:r>
              <a:rPr lang="ja-JP" altLang="en-US" sz="2000" dirty="0"/>
              <a:t>・移行ツールで実施可能</a:t>
            </a:r>
            <a:endParaRPr lang="en-US" altLang="ja-JP" sz="2000" dirty="0"/>
          </a:p>
        </p:txBody>
      </p:sp>
    </p:spTree>
    <p:extLst>
      <p:ext uri="{BB962C8B-B14F-4D97-AF65-F5344CB8AC3E}">
        <p14:creationId xmlns:p14="http://schemas.microsoft.com/office/powerpoint/2010/main" val="28996518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11040602" cy="683629"/>
          </a:xfrm>
        </p:spPr>
        <p:txBody>
          <a:bodyPr>
            <a:noAutofit/>
          </a:bodyPr>
          <a:lstStyle/>
          <a:p>
            <a:r>
              <a:rPr lang="ja-JP" altLang="en-US" dirty="0"/>
              <a:t>要件／ソリューション－添付ファイル管理（編集を含む）</a:t>
            </a:r>
            <a:endParaRPr lang="ja-JP" altLang="en-US" dirty="0">
              <a:effectLst/>
            </a:endParaRPr>
          </a:p>
        </p:txBody>
      </p:sp>
      <p:graphicFrame>
        <p:nvGraphicFramePr>
          <p:cNvPr id="4" name="表 3">
            <a:extLst>
              <a:ext uri="{FF2B5EF4-FFF2-40B4-BE49-F238E27FC236}">
                <a16:creationId xmlns:a16="http://schemas.microsoft.com/office/drawing/2014/main" id="{779030DD-64E8-ACD7-B48D-9E3D2B688ADA}"/>
              </a:ext>
            </a:extLst>
          </p:cNvPr>
          <p:cNvGraphicFramePr>
            <a:graphicFrameLocks noGrp="1"/>
          </p:cNvGraphicFramePr>
          <p:nvPr>
            <p:extLst>
              <p:ext uri="{D42A27DB-BD31-4B8C-83A1-F6EECF244321}">
                <p14:modId xmlns:p14="http://schemas.microsoft.com/office/powerpoint/2010/main" val="2696379614"/>
              </p:ext>
            </p:extLst>
          </p:nvPr>
        </p:nvGraphicFramePr>
        <p:xfrm>
          <a:off x="453571" y="757391"/>
          <a:ext cx="11284857" cy="5543446"/>
        </p:xfrm>
        <a:graphic>
          <a:graphicData uri="http://schemas.openxmlformats.org/drawingml/2006/table">
            <a:tbl>
              <a:tblPr firstRow="1">
                <a:tableStyleId>{2D5ABB26-0587-4C30-8999-92F81FD0307C}</a:tableStyleId>
              </a:tblPr>
              <a:tblGrid>
                <a:gridCol w="2882585">
                  <a:extLst>
                    <a:ext uri="{9D8B030D-6E8A-4147-A177-3AD203B41FA5}">
                      <a16:colId xmlns:a16="http://schemas.microsoft.com/office/drawing/2014/main" val="307087368"/>
                    </a:ext>
                  </a:extLst>
                </a:gridCol>
                <a:gridCol w="8402272">
                  <a:extLst>
                    <a:ext uri="{9D8B030D-6E8A-4147-A177-3AD203B41FA5}">
                      <a16:colId xmlns:a16="http://schemas.microsoft.com/office/drawing/2014/main" val="1007415991"/>
                    </a:ext>
                  </a:extLst>
                </a:gridCol>
              </a:tblGrid>
              <a:tr h="98977">
                <a:tc>
                  <a:txBody>
                    <a:bodyPr/>
                    <a:lstStyle/>
                    <a:p>
                      <a:r>
                        <a:rPr lang="ja-JP" altLang="en-US" sz="1200" b="1" dirty="0"/>
                        <a:t>要件</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b="1" dirty="0"/>
                        <a:t>機能、ソリューション</a:t>
                      </a:r>
                      <a:endParaRPr lang="en-US" sz="1200" b="1"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607360652"/>
                  </a:ext>
                </a:extLst>
              </a:tr>
              <a:tr h="98977">
                <a:tc>
                  <a:txBody>
                    <a:bodyPr/>
                    <a:lstStyle/>
                    <a:p>
                      <a:r>
                        <a:rPr lang="ja-JP" altLang="en-US" sz="1050" dirty="0">
                          <a:solidFill>
                            <a:schemeClr val="tx1"/>
                          </a:solidFill>
                        </a:rPr>
                        <a:t>仕様書管理</a:t>
                      </a:r>
                      <a:r>
                        <a:rPr lang="en-US" altLang="ja-JP" sz="1050" dirty="0">
                          <a:solidFill>
                            <a:schemeClr val="tx1"/>
                          </a:solidFill>
                        </a:rPr>
                        <a:t>TBL</a:t>
                      </a:r>
                      <a:r>
                        <a:rPr lang="ja-JP" altLang="en-US" sz="1050" dirty="0">
                          <a:solidFill>
                            <a:schemeClr val="tx1"/>
                          </a:solidFill>
                        </a:rPr>
                        <a:t>と添付ファイルの紐付け</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900" dirty="0">
                          <a:solidFill>
                            <a:schemeClr val="tx1"/>
                          </a:solidFill>
                        </a:rPr>
                        <a:t>仕様書管理</a:t>
                      </a:r>
                      <a:r>
                        <a:rPr lang="en-US" altLang="ja-JP" sz="900" dirty="0">
                          <a:solidFill>
                            <a:schemeClr val="tx1"/>
                          </a:solidFill>
                        </a:rPr>
                        <a:t>TBL</a:t>
                      </a:r>
                      <a:r>
                        <a:rPr lang="ja-JP" altLang="en-US" sz="900" dirty="0">
                          <a:solidFill>
                            <a:schemeClr val="tx1"/>
                          </a:solidFill>
                        </a:rPr>
                        <a:t>に、添付ファイル（複数</a:t>
                      </a:r>
                      <a:r>
                        <a:rPr lang="en-US" altLang="ja-JP" sz="900" dirty="0">
                          <a:solidFill>
                            <a:schemeClr val="tx1"/>
                          </a:solidFill>
                        </a:rPr>
                        <a:t>)</a:t>
                      </a:r>
                      <a:r>
                        <a:rPr lang="ja-JP" altLang="en-US" sz="900" dirty="0">
                          <a:solidFill>
                            <a:schemeClr val="tx1"/>
                          </a:solidFill>
                        </a:rPr>
                        <a:t>のファイル</a:t>
                      </a:r>
                      <a:r>
                        <a:rPr lang="en-US" altLang="ja-JP" sz="900" dirty="0">
                          <a:solidFill>
                            <a:schemeClr val="tx1"/>
                          </a:solidFill>
                        </a:rPr>
                        <a:t>ID</a:t>
                      </a:r>
                      <a:r>
                        <a:rPr lang="ja-JP" altLang="en-US" sz="900" dirty="0">
                          <a:solidFill>
                            <a:schemeClr val="tx1"/>
                          </a:solidFill>
                        </a:rPr>
                        <a:t>、ファイル名情報、</a:t>
                      </a:r>
                      <a:r>
                        <a:rPr lang="en-US" altLang="ja-JP" sz="900" dirty="0" err="1">
                          <a:solidFill>
                            <a:schemeClr val="tx1"/>
                          </a:solidFill>
                        </a:rPr>
                        <a:t>Url</a:t>
                      </a:r>
                      <a:r>
                        <a:rPr lang="ja-JP" altLang="en-US" sz="900" dirty="0">
                          <a:solidFill>
                            <a:schemeClr val="tx1"/>
                          </a:solidFill>
                        </a:rPr>
                        <a:t>情報を保存、管理で実現ができる</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453962866"/>
                  </a:ext>
                </a:extLst>
              </a:tr>
              <a:tr h="170491">
                <a:tc>
                  <a:txBody>
                    <a:bodyPr/>
                    <a:lstStyle/>
                    <a:p>
                      <a:r>
                        <a:rPr lang="ja-JP" altLang="en-US" sz="1050" kern="1200" dirty="0">
                          <a:solidFill>
                            <a:schemeClr val="tx1"/>
                          </a:solidFill>
                          <a:latin typeface="+mn-lt"/>
                          <a:ea typeface="+mn-ea"/>
                          <a:cs typeface="+mn-cs"/>
                        </a:rPr>
                        <a:t>添付ファイル検索</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900" kern="1200" dirty="0">
                          <a:solidFill>
                            <a:schemeClr val="tx1"/>
                          </a:solidFill>
                          <a:latin typeface="+mn-lt"/>
                          <a:ea typeface="+mn-ea"/>
                          <a:cs typeface="+mn-cs"/>
                        </a:rPr>
                        <a:t>SharePoint</a:t>
                      </a:r>
                      <a:r>
                        <a:rPr lang="ja-JP" altLang="en-US" sz="900" kern="1200" dirty="0">
                          <a:solidFill>
                            <a:schemeClr val="tx1"/>
                          </a:solidFill>
                          <a:latin typeface="+mn-lt"/>
                          <a:ea typeface="+mn-ea"/>
                          <a:cs typeface="+mn-cs"/>
                        </a:rPr>
                        <a:t>の</a:t>
                      </a:r>
                      <a:r>
                        <a:rPr lang="en-US" altLang="ja-JP" sz="900" kern="1200" dirty="0">
                          <a:solidFill>
                            <a:schemeClr val="tx1"/>
                          </a:solidFill>
                          <a:latin typeface="+mn-lt"/>
                          <a:ea typeface="+mn-ea"/>
                          <a:cs typeface="+mn-cs"/>
                        </a:rPr>
                        <a:t>Microsoft Search</a:t>
                      </a:r>
                      <a:r>
                        <a:rPr lang="ja-JP" altLang="en-US" sz="900" kern="1200" dirty="0">
                          <a:solidFill>
                            <a:schemeClr val="tx1"/>
                          </a:solidFill>
                          <a:latin typeface="+mn-lt"/>
                          <a:ea typeface="+mn-ea"/>
                          <a:cs typeface="+mn-cs"/>
                        </a:rPr>
                        <a:t>機能を利用</a:t>
                      </a:r>
                      <a:r>
                        <a:rPr kumimoji="0" lang="ja-JP" altLang="en-US" sz="900" b="0" i="0" u="none" strike="noStrike" kern="1200" cap="none" spc="0" normalizeH="0" baseline="0" noProof="0" dirty="0">
                          <a:ln>
                            <a:noFill/>
                          </a:ln>
                          <a:solidFill>
                            <a:schemeClr val="tx1"/>
                          </a:solidFill>
                          <a:effectLst/>
                          <a:uLnTx/>
                          <a:uFillTx/>
                          <a:latin typeface="+mn-lt"/>
                          <a:ea typeface="+mn-ea"/>
                          <a:cs typeface="+mn-cs"/>
                        </a:rPr>
                        <a:t>で実現ができる</a:t>
                      </a:r>
                      <a:endParaRPr lang="en-US" altLang="ja-JP" sz="900" kern="1200" dirty="0">
                        <a:solidFill>
                          <a:schemeClr val="tx1"/>
                        </a:solidFill>
                        <a:latin typeface="+mn-lt"/>
                        <a:ea typeface="+mn-ea"/>
                        <a:cs typeface="+mn-cs"/>
                      </a:endParaRPr>
                    </a:p>
                    <a:p>
                      <a:pPr marL="171450" indent="-171450">
                        <a:buFont typeface="Arial" panose="020B0604020202020204" pitchFamily="34" charset="0"/>
                        <a:buChar char="•"/>
                      </a:pPr>
                      <a:r>
                        <a:rPr lang="ja-JP" altLang="en-US" sz="900" kern="1200" dirty="0">
                          <a:solidFill>
                            <a:schemeClr val="tx1"/>
                          </a:solidFill>
                          <a:latin typeface="+mn-lt"/>
                          <a:ea typeface="+mn-ea"/>
                          <a:cs typeface="+mn-cs"/>
                        </a:rPr>
                        <a:t>実装には、</a:t>
                      </a:r>
                      <a:r>
                        <a:rPr lang="en-US" altLang="ja-JP" sz="900" kern="1200" dirty="0">
                          <a:solidFill>
                            <a:schemeClr val="tx1"/>
                          </a:solidFill>
                          <a:latin typeface="+mn-lt"/>
                          <a:ea typeface="+mn-ea"/>
                          <a:cs typeface="+mn-cs"/>
                        </a:rPr>
                        <a:t>Microsoft</a:t>
                      </a:r>
                      <a:r>
                        <a:rPr lang="ja-JP" altLang="en-US" sz="900" kern="1200" dirty="0">
                          <a:solidFill>
                            <a:schemeClr val="tx1"/>
                          </a:solidFill>
                          <a:latin typeface="+mn-lt"/>
                          <a:ea typeface="+mn-ea"/>
                          <a:cs typeface="+mn-cs"/>
                        </a:rPr>
                        <a:t> </a:t>
                      </a:r>
                      <a:r>
                        <a:rPr lang="en-US" altLang="ja-JP" sz="900" kern="1200" dirty="0" err="1">
                          <a:solidFill>
                            <a:schemeClr val="tx1"/>
                          </a:solidFill>
                          <a:latin typeface="+mn-lt"/>
                          <a:ea typeface="+mn-ea"/>
                          <a:cs typeface="+mn-cs"/>
                        </a:rPr>
                        <a:t>GraphAPI</a:t>
                      </a:r>
                      <a:r>
                        <a:rPr lang="ja-JP" altLang="en-US" sz="900" kern="1200" dirty="0">
                          <a:solidFill>
                            <a:schemeClr val="tx1"/>
                          </a:solidFill>
                          <a:latin typeface="+mn-lt"/>
                          <a:ea typeface="+mn-ea"/>
                          <a:cs typeface="+mn-cs"/>
                        </a:rPr>
                        <a:t>を利用</a:t>
                      </a:r>
                      <a:endParaRPr lang="en-US" altLang="ja-JP" sz="90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65751194"/>
                  </a:ext>
                </a:extLst>
              </a:tr>
              <a:tr h="98977">
                <a:tc>
                  <a:txBody>
                    <a:bodyPr/>
                    <a:lstStyle/>
                    <a:p>
                      <a:r>
                        <a:rPr lang="ja-JP" altLang="en-US" sz="1000" kern="1200" dirty="0">
                          <a:solidFill>
                            <a:schemeClr val="tx1"/>
                          </a:solidFill>
                          <a:latin typeface="+mn-lt"/>
                          <a:ea typeface="+mn-ea"/>
                          <a:cs typeface="+mn-cs"/>
                        </a:rPr>
                        <a:t>添付ファイルの履歴管理</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900" kern="1200" dirty="0">
                          <a:solidFill>
                            <a:schemeClr val="tx1"/>
                          </a:solidFill>
                          <a:latin typeface="+mn-lt"/>
                          <a:ea typeface="+mn-ea"/>
                          <a:cs typeface="+mn-cs"/>
                        </a:rPr>
                        <a:t>SharePoint</a:t>
                      </a:r>
                      <a:r>
                        <a:rPr lang="ja-JP" altLang="en-US" sz="900" kern="1200" dirty="0">
                          <a:solidFill>
                            <a:schemeClr val="tx1"/>
                          </a:solidFill>
                          <a:latin typeface="+mn-lt"/>
                          <a:ea typeface="+mn-ea"/>
                          <a:cs typeface="+mn-cs"/>
                        </a:rPr>
                        <a:t>の履歴管理機能を利用（</a:t>
                      </a:r>
                      <a:r>
                        <a:rPr lang="en-US" altLang="ja-JP" sz="900" kern="1200" dirty="0">
                          <a:solidFill>
                            <a:schemeClr val="tx1"/>
                          </a:solidFill>
                          <a:latin typeface="+mn-lt"/>
                          <a:ea typeface="+mn-ea"/>
                          <a:cs typeface="+mn-cs"/>
                        </a:rPr>
                        <a:t>Power Automate Flow</a:t>
                      </a:r>
                      <a:r>
                        <a:rPr lang="ja-JP" altLang="en-US" sz="900" kern="1200" dirty="0">
                          <a:solidFill>
                            <a:schemeClr val="tx1"/>
                          </a:solidFill>
                          <a:latin typeface="+mn-lt"/>
                          <a:ea typeface="+mn-ea"/>
                          <a:cs typeface="+mn-cs"/>
                        </a:rPr>
                        <a:t>サポート）</a:t>
                      </a:r>
                      <a:r>
                        <a:rPr kumimoji="0" lang="ja-JP" altLang="en-US" sz="900" b="0" i="0" u="none" strike="noStrike" kern="1200" cap="none" spc="0" normalizeH="0" baseline="0" noProof="0" dirty="0">
                          <a:ln>
                            <a:noFill/>
                          </a:ln>
                          <a:solidFill>
                            <a:schemeClr val="tx1"/>
                          </a:solidFill>
                          <a:effectLst/>
                          <a:uLnTx/>
                          <a:uFillTx/>
                          <a:latin typeface="+mn-lt"/>
                          <a:ea typeface="+mn-ea"/>
                          <a:cs typeface="+mn-cs"/>
                        </a:rPr>
                        <a:t>で実現ができる</a:t>
                      </a:r>
                      <a:endParaRPr lang="en-US" altLang="ja-JP" sz="90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58281788"/>
                  </a:ext>
                </a:extLst>
              </a:tr>
              <a:tr h="989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00" kern="1200" dirty="0">
                          <a:solidFill>
                            <a:schemeClr val="tx1"/>
                          </a:solidFill>
                          <a:latin typeface="+mn-lt"/>
                          <a:ea typeface="+mn-ea"/>
                          <a:cs typeface="+mn-cs"/>
                        </a:rPr>
                        <a:t>添付ファイルの権限管理</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900" kern="1200" dirty="0">
                          <a:solidFill>
                            <a:schemeClr val="tx1"/>
                          </a:solidFill>
                          <a:latin typeface="+mn-lt"/>
                          <a:ea typeface="+mn-ea"/>
                          <a:cs typeface="+mn-cs"/>
                        </a:rPr>
                        <a:t>SPO</a:t>
                      </a:r>
                      <a:r>
                        <a:rPr lang="ja-JP" altLang="en-US" sz="900" kern="1200" dirty="0">
                          <a:solidFill>
                            <a:schemeClr val="tx1"/>
                          </a:solidFill>
                          <a:latin typeface="+mn-lt"/>
                          <a:ea typeface="+mn-ea"/>
                          <a:cs typeface="+mn-cs"/>
                        </a:rPr>
                        <a:t>の権限管理仕組みを利用（</a:t>
                      </a:r>
                      <a:r>
                        <a:rPr lang="en-US" altLang="ja-JP" sz="900" kern="1200" dirty="0">
                          <a:solidFill>
                            <a:schemeClr val="tx1"/>
                          </a:solidFill>
                          <a:latin typeface="+mn-lt"/>
                          <a:ea typeface="+mn-ea"/>
                          <a:cs typeface="+mn-cs"/>
                        </a:rPr>
                        <a:t>Power Automate Flow</a:t>
                      </a:r>
                      <a:r>
                        <a:rPr lang="ja-JP" altLang="en-US" sz="900" kern="1200" dirty="0">
                          <a:solidFill>
                            <a:schemeClr val="tx1"/>
                          </a:solidFill>
                          <a:latin typeface="+mn-lt"/>
                          <a:ea typeface="+mn-ea"/>
                          <a:cs typeface="+mn-cs"/>
                        </a:rPr>
                        <a:t>サポート）</a:t>
                      </a:r>
                      <a:r>
                        <a:rPr kumimoji="0" lang="ja-JP" altLang="en-US" sz="900" b="0" i="0" u="none" strike="noStrike" kern="1200" cap="none" spc="0" normalizeH="0" baseline="0" noProof="0" dirty="0">
                          <a:ln>
                            <a:noFill/>
                          </a:ln>
                          <a:solidFill>
                            <a:schemeClr val="tx1"/>
                          </a:solidFill>
                          <a:effectLst/>
                          <a:uLnTx/>
                          <a:uFillTx/>
                          <a:latin typeface="+mn-lt"/>
                          <a:ea typeface="+mn-ea"/>
                          <a:cs typeface="+mn-cs"/>
                        </a:rPr>
                        <a:t>で実現ができる</a:t>
                      </a:r>
                      <a:endParaRPr lang="en-US" altLang="ja-JP" sz="90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422909428"/>
                  </a:ext>
                </a:extLst>
              </a:tr>
              <a:tr h="184794">
                <a:tc>
                  <a:txBody>
                    <a:bodyPr/>
                    <a:lstStyle/>
                    <a:p>
                      <a:r>
                        <a:rPr lang="ja-JP" altLang="en-US" sz="1000" kern="1200" dirty="0">
                          <a:solidFill>
                            <a:schemeClr val="tx1"/>
                          </a:solidFill>
                          <a:latin typeface="+mn-lt"/>
                          <a:ea typeface="+mn-ea"/>
                          <a:cs typeface="+mn-cs"/>
                        </a:rPr>
                        <a:t>サポートファイルタイプ（</a:t>
                      </a:r>
                      <a:r>
                        <a:rPr lang="en-US" altLang="ja-JP" sz="1000" kern="1200" dirty="0">
                          <a:solidFill>
                            <a:schemeClr val="tx1"/>
                          </a:solidFill>
                          <a:latin typeface="+mn-lt"/>
                          <a:ea typeface="+mn-ea"/>
                          <a:cs typeface="+mn-cs"/>
                        </a:rPr>
                        <a:t>Office</a:t>
                      </a:r>
                      <a:r>
                        <a:rPr lang="ja-JP" altLang="en-US" sz="1000" kern="1200" dirty="0">
                          <a:solidFill>
                            <a:schemeClr val="tx1"/>
                          </a:solidFill>
                          <a:latin typeface="+mn-lt"/>
                          <a:ea typeface="+mn-ea"/>
                          <a:cs typeface="+mn-cs"/>
                        </a:rPr>
                        <a:t>（</a:t>
                      </a:r>
                      <a:r>
                        <a:rPr lang="en-US" altLang="ja-JP" sz="1000" kern="1200" dirty="0">
                          <a:solidFill>
                            <a:schemeClr val="tx1"/>
                          </a:solidFill>
                          <a:latin typeface="+mn-lt"/>
                          <a:ea typeface="+mn-ea"/>
                          <a:cs typeface="+mn-cs"/>
                        </a:rPr>
                        <a:t>Word, Excel, PowerPoint</a:t>
                      </a:r>
                      <a:r>
                        <a:rPr lang="ja-JP" altLang="en-US" sz="1000" kern="1200" dirty="0">
                          <a:solidFill>
                            <a:schemeClr val="tx1"/>
                          </a:solidFill>
                          <a:latin typeface="+mn-lt"/>
                          <a:ea typeface="+mn-ea"/>
                          <a:cs typeface="+mn-cs"/>
                        </a:rPr>
                        <a:t>）、</a:t>
                      </a:r>
                      <a:r>
                        <a:rPr lang="en-US" altLang="ja-JP" sz="1000" kern="1200" dirty="0">
                          <a:solidFill>
                            <a:schemeClr val="tx1"/>
                          </a:solidFill>
                          <a:latin typeface="+mn-lt"/>
                          <a:ea typeface="+mn-ea"/>
                          <a:cs typeface="+mn-cs"/>
                        </a:rPr>
                        <a:t>PDF</a:t>
                      </a:r>
                      <a:r>
                        <a:rPr lang="ja-JP" altLang="en-US" sz="1000" kern="1200" dirty="0">
                          <a:solidFill>
                            <a:schemeClr val="tx1"/>
                          </a:solidFill>
                          <a:latin typeface="+mn-lt"/>
                          <a:ea typeface="+mn-ea"/>
                          <a:cs typeface="+mn-cs"/>
                        </a:rPr>
                        <a:t>をサポート）</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900" kern="1200" dirty="0">
                          <a:solidFill>
                            <a:schemeClr val="tx1"/>
                          </a:solidFill>
                          <a:latin typeface="+mn-lt"/>
                          <a:ea typeface="+mn-ea"/>
                          <a:cs typeface="+mn-cs"/>
                        </a:rPr>
                        <a:t>SharePoint</a:t>
                      </a:r>
                      <a:r>
                        <a:rPr lang="ja-JP" altLang="en-US" sz="900" kern="1200" dirty="0">
                          <a:solidFill>
                            <a:schemeClr val="tx1"/>
                          </a:solidFill>
                          <a:latin typeface="+mn-lt"/>
                          <a:ea typeface="+mn-ea"/>
                          <a:cs typeface="+mn-cs"/>
                        </a:rPr>
                        <a:t>の機能で対応で</a:t>
                      </a:r>
                      <a:r>
                        <a:rPr kumimoji="0" lang="ja-JP" altLang="en-US" sz="900" b="0" i="0" u="none" strike="noStrike" kern="1200" cap="none" spc="0" normalizeH="0" baseline="0" noProof="0" dirty="0">
                          <a:ln>
                            <a:noFill/>
                          </a:ln>
                          <a:solidFill>
                            <a:schemeClr val="tx1"/>
                          </a:solidFill>
                          <a:effectLst/>
                          <a:uLnTx/>
                          <a:uFillTx/>
                          <a:latin typeface="+mn-lt"/>
                          <a:ea typeface="+mn-ea"/>
                          <a:cs typeface="+mn-cs"/>
                        </a:rPr>
                        <a:t>きる</a:t>
                      </a:r>
                      <a:endParaRPr lang="en-US" altLang="ja-JP" sz="90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501357562"/>
                  </a:ext>
                </a:extLst>
              </a:tr>
              <a:tr h="98977">
                <a:tc>
                  <a:txBody>
                    <a:bodyPr/>
                    <a:lstStyle/>
                    <a:p>
                      <a:r>
                        <a:rPr lang="ja-JP" altLang="en-US" sz="1000" kern="1200" dirty="0">
                          <a:solidFill>
                            <a:schemeClr val="tx1"/>
                          </a:solidFill>
                          <a:latin typeface="+mn-lt"/>
                          <a:ea typeface="+mn-ea"/>
                          <a:cs typeface="+mn-cs"/>
                        </a:rPr>
                        <a:t>ファイルサイズ</a:t>
                      </a:r>
                      <a:r>
                        <a:rPr lang="en-US" altLang="ja-JP" sz="1000" kern="1200" dirty="0">
                          <a:solidFill>
                            <a:schemeClr val="tx1"/>
                          </a:solidFill>
                          <a:latin typeface="+mn-lt"/>
                          <a:ea typeface="+mn-ea"/>
                          <a:cs typeface="+mn-cs"/>
                        </a:rPr>
                        <a:t>: 50MB/</a:t>
                      </a:r>
                      <a:r>
                        <a:rPr lang="ja-JP" altLang="en-US" sz="1000" kern="1200" dirty="0">
                          <a:solidFill>
                            <a:schemeClr val="tx1"/>
                          </a:solidFill>
                          <a:latin typeface="+mn-lt"/>
                          <a:ea typeface="+mn-ea"/>
                          <a:cs typeface="+mn-cs"/>
                        </a:rPr>
                        <a:t>ファイル</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900" kern="1200" dirty="0">
                          <a:solidFill>
                            <a:schemeClr val="tx1"/>
                          </a:solidFill>
                          <a:latin typeface="+mn-lt"/>
                          <a:ea typeface="+mn-ea"/>
                          <a:cs typeface="+mn-cs"/>
                        </a:rPr>
                        <a:t>PowerApps</a:t>
                      </a:r>
                      <a:r>
                        <a:rPr lang="ja-JP" altLang="en-US" sz="900" kern="1200" dirty="0">
                          <a:solidFill>
                            <a:schemeClr val="tx1"/>
                          </a:solidFill>
                          <a:latin typeface="+mn-lt"/>
                          <a:ea typeface="+mn-ea"/>
                          <a:cs typeface="+mn-cs"/>
                        </a:rPr>
                        <a:t>の内蔵</a:t>
                      </a:r>
                      <a:r>
                        <a:rPr lang="en-US" altLang="ja-JP" sz="900" kern="1200" dirty="0">
                          <a:solidFill>
                            <a:schemeClr val="tx1"/>
                          </a:solidFill>
                          <a:latin typeface="+mn-lt"/>
                          <a:ea typeface="+mn-ea"/>
                          <a:cs typeface="+mn-cs"/>
                        </a:rPr>
                        <a:t>File Download/Upload</a:t>
                      </a:r>
                      <a:r>
                        <a:rPr lang="ja-JP" altLang="en-US" sz="900" kern="1200" dirty="0">
                          <a:solidFill>
                            <a:schemeClr val="tx1"/>
                          </a:solidFill>
                          <a:latin typeface="+mn-lt"/>
                          <a:ea typeface="+mn-ea"/>
                          <a:cs typeface="+mn-cs"/>
                        </a:rPr>
                        <a:t>コントロールで対応（</a:t>
                      </a:r>
                      <a:r>
                        <a:rPr lang="en-US" altLang="ja-JP" sz="900" kern="1200" dirty="0">
                          <a:solidFill>
                            <a:schemeClr val="tx1"/>
                          </a:solidFill>
                          <a:latin typeface="+mn-lt"/>
                          <a:ea typeface="+mn-ea"/>
                          <a:cs typeface="+mn-cs"/>
                        </a:rPr>
                        <a:t>Upload</a:t>
                      </a:r>
                      <a:r>
                        <a:rPr lang="ja-JP" altLang="en-US" sz="900" kern="1200" dirty="0">
                          <a:solidFill>
                            <a:schemeClr val="tx1"/>
                          </a:solidFill>
                          <a:latin typeface="+mn-lt"/>
                          <a:ea typeface="+mn-ea"/>
                          <a:cs typeface="+mn-cs"/>
                        </a:rPr>
                        <a:t>可能ファイルのサイズはカスタマイズ可能）</a:t>
                      </a:r>
                      <a:r>
                        <a:rPr kumimoji="0" lang="ja-JP" altLang="en-US" sz="900" b="0" i="0" u="none" strike="noStrike" kern="1200" cap="none" spc="0" normalizeH="0" baseline="0" noProof="0" dirty="0">
                          <a:ln>
                            <a:noFill/>
                          </a:ln>
                          <a:solidFill>
                            <a:schemeClr val="tx1"/>
                          </a:solidFill>
                          <a:effectLst/>
                          <a:uLnTx/>
                          <a:uFillTx/>
                          <a:latin typeface="+mn-lt"/>
                          <a:ea typeface="+mn-ea"/>
                          <a:cs typeface="+mn-cs"/>
                        </a:rPr>
                        <a:t>できる</a:t>
                      </a:r>
                      <a:endParaRPr lang="ja-JP" altLang="en-US" sz="90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515025090"/>
                  </a:ext>
                </a:extLst>
              </a:tr>
              <a:tr h="98977">
                <a:tc>
                  <a:txBody>
                    <a:bodyPr/>
                    <a:lstStyle/>
                    <a:p>
                      <a:r>
                        <a:rPr lang="ja-JP" altLang="en-US" sz="1000" kern="1200" dirty="0">
                          <a:solidFill>
                            <a:schemeClr val="tx1"/>
                          </a:solidFill>
                          <a:latin typeface="+mn-lt"/>
                          <a:ea typeface="+mn-ea"/>
                          <a:cs typeface="+mn-cs"/>
                        </a:rPr>
                        <a:t>ファイルアクセスのパフォーマンス保証</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900" dirty="0">
                          <a:solidFill>
                            <a:schemeClr val="tx1"/>
                          </a:solidFill>
                          <a:latin typeface="Yu Gothic UI" panose="020B0500000000000000" pitchFamily="50" charset="-128"/>
                          <a:ea typeface="Yu Gothic UI" panose="020B0500000000000000" pitchFamily="50" charset="-128"/>
                        </a:rPr>
                        <a:t>Directory</a:t>
                      </a:r>
                      <a:r>
                        <a:rPr lang="ja-JP" altLang="en-US" sz="900" dirty="0">
                          <a:solidFill>
                            <a:schemeClr val="tx1"/>
                          </a:solidFill>
                          <a:latin typeface="Yu Gothic UI" panose="020B0500000000000000" pitchFamily="50" charset="-128"/>
                          <a:ea typeface="Yu Gothic UI" panose="020B0500000000000000" pitchFamily="50" charset="-128"/>
                        </a:rPr>
                        <a:t>構造を多階層にし、一つの</a:t>
                      </a:r>
                      <a:r>
                        <a:rPr lang="en-US" altLang="ja-JP" sz="900" dirty="0">
                          <a:solidFill>
                            <a:schemeClr val="tx1"/>
                          </a:solidFill>
                          <a:latin typeface="Yu Gothic UI" panose="020B0500000000000000" pitchFamily="50" charset="-128"/>
                          <a:ea typeface="Yu Gothic UI" panose="020B0500000000000000" pitchFamily="50" charset="-128"/>
                        </a:rPr>
                        <a:t>Directory</a:t>
                      </a:r>
                      <a:r>
                        <a:rPr lang="ja-JP" altLang="en-US" sz="900" dirty="0">
                          <a:solidFill>
                            <a:schemeClr val="tx1"/>
                          </a:solidFill>
                          <a:latin typeface="Yu Gothic UI" panose="020B0500000000000000" pitchFamily="50" charset="-128"/>
                          <a:ea typeface="Yu Gothic UI" panose="020B0500000000000000" pitchFamily="50" charset="-128"/>
                        </a:rPr>
                        <a:t>にファイルを</a:t>
                      </a:r>
                      <a:r>
                        <a:rPr lang="en-US" altLang="ja-JP" sz="900" dirty="0">
                          <a:solidFill>
                            <a:schemeClr val="tx1"/>
                          </a:solidFill>
                          <a:latin typeface="Yu Gothic UI" panose="020B0500000000000000" pitchFamily="50" charset="-128"/>
                          <a:ea typeface="Yu Gothic UI" panose="020B0500000000000000" pitchFamily="50" charset="-128"/>
                        </a:rPr>
                        <a:t>1000</a:t>
                      </a:r>
                      <a:r>
                        <a:rPr lang="ja-JP" altLang="en-US" sz="900" dirty="0">
                          <a:solidFill>
                            <a:schemeClr val="tx1"/>
                          </a:solidFill>
                          <a:latin typeface="Yu Gothic UI" panose="020B0500000000000000" pitchFamily="50" charset="-128"/>
                          <a:ea typeface="Yu Gothic UI" panose="020B0500000000000000" pitchFamily="50" charset="-128"/>
                        </a:rPr>
                        <a:t>以内に抑えることでパフォーマンスを確保</a:t>
                      </a:r>
                      <a:r>
                        <a:rPr kumimoji="0" lang="ja-JP" altLang="en-US" sz="900" b="0" i="0" u="none" strike="noStrike" kern="1200" cap="none" spc="0" normalizeH="0" baseline="0" noProof="0" dirty="0">
                          <a:ln>
                            <a:noFill/>
                          </a:ln>
                          <a:solidFill>
                            <a:schemeClr val="tx1"/>
                          </a:solidFill>
                          <a:effectLst/>
                          <a:uLnTx/>
                          <a:uFillTx/>
                          <a:latin typeface="+mn-lt"/>
                          <a:ea typeface="+mn-ea"/>
                          <a:cs typeface="+mn-cs"/>
                        </a:rPr>
                        <a:t>できる</a:t>
                      </a:r>
                      <a:endParaRPr lang="en-US" altLang="ja-JP" sz="900" dirty="0">
                        <a:solidFill>
                          <a:schemeClr val="tx1"/>
                        </a:solidFill>
                        <a:latin typeface="Yu Gothic UI" panose="020B0500000000000000" pitchFamily="50" charset="-128"/>
                        <a:ea typeface="Yu Gothic UI" panose="020B0500000000000000" pitchFamily="50" charset="-128"/>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894016093"/>
                  </a:ext>
                </a:extLst>
              </a:tr>
              <a:tr h="170491">
                <a:tc>
                  <a:txBody>
                    <a:bodyPr/>
                    <a:lstStyle/>
                    <a:p>
                      <a:r>
                        <a:rPr lang="ja-JP" altLang="en-US" sz="1000" kern="1200" dirty="0">
                          <a:solidFill>
                            <a:schemeClr val="tx1"/>
                          </a:solidFill>
                          <a:latin typeface="+mn-lt"/>
                          <a:ea typeface="+mn-ea"/>
                          <a:cs typeface="+mn-cs"/>
                        </a:rPr>
                        <a:t>ファイルの</a:t>
                      </a:r>
                      <a:r>
                        <a:rPr lang="en-US" altLang="ja-JP" sz="1000" kern="1200" dirty="0">
                          <a:solidFill>
                            <a:schemeClr val="tx1"/>
                          </a:solidFill>
                          <a:latin typeface="+mn-lt"/>
                          <a:ea typeface="+mn-ea"/>
                          <a:cs typeface="+mn-cs"/>
                        </a:rPr>
                        <a:t>Download/</a:t>
                      </a:r>
                      <a:r>
                        <a:rPr lang="ja-JP" altLang="en-US" sz="1000" kern="1200" dirty="0">
                          <a:solidFill>
                            <a:schemeClr val="tx1"/>
                          </a:solidFill>
                          <a:latin typeface="+mn-lt"/>
                          <a:ea typeface="+mn-ea"/>
                          <a:cs typeface="+mn-cs"/>
                        </a:rPr>
                        <a:t>編集</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228600" lvl="0" indent="-228600" eaLnBrk="0" fontAlgn="base" hangingPunct="0">
                        <a:spcBef>
                          <a:spcPct val="0"/>
                        </a:spcBef>
                        <a:spcAft>
                          <a:spcPct val="0"/>
                        </a:spcAft>
                        <a:buFont typeface="+mj-lt"/>
                        <a:buAutoNum type="arabicPeriod"/>
                      </a:pPr>
                      <a:r>
                        <a:rPr lang="ja-JP" altLang="en-US" sz="900" kern="1200" dirty="0">
                          <a:solidFill>
                            <a:schemeClr val="tx1"/>
                          </a:solidFill>
                          <a:latin typeface="+mn-lt"/>
                          <a:ea typeface="+mn-ea"/>
                          <a:cs typeface="+mn-cs"/>
                        </a:rPr>
                        <a:t>データベーステーブルから</a:t>
                      </a:r>
                      <a:r>
                        <a:rPr lang="zh-CN" altLang="zh-CN" sz="900" kern="1200" dirty="0">
                          <a:solidFill>
                            <a:schemeClr val="tx1"/>
                          </a:solidFill>
                          <a:latin typeface="+mn-lt"/>
                          <a:ea typeface="+mn-ea"/>
                          <a:cs typeface="+mn-cs"/>
                        </a:rPr>
                        <a:t>選択</a:t>
                      </a:r>
                      <a:r>
                        <a:rPr lang="ja-JP" altLang="en-US" sz="900" kern="1200" dirty="0">
                          <a:solidFill>
                            <a:schemeClr val="tx1"/>
                          </a:solidFill>
                          <a:latin typeface="+mn-lt"/>
                          <a:ea typeface="+mn-ea"/>
                          <a:cs typeface="+mn-cs"/>
                        </a:rPr>
                        <a:t>対象の添付</a:t>
                      </a:r>
                      <a:r>
                        <a:rPr lang="zh-CN" altLang="zh-CN" sz="900" kern="1200" dirty="0">
                          <a:solidFill>
                            <a:schemeClr val="tx1"/>
                          </a:solidFill>
                          <a:latin typeface="+mn-lt"/>
                          <a:ea typeface="+mn-ea"/>
                          <a:cs typeface="+mn-cs"/>
                        </a:rPr>
                        <a:t>ファイル</a:t>
                      </a:r>
                      <a:r>
                        <a:rPr lang="ja-JP" altLang="en-US" sz="900" kern="1200" dirty="0">
                          <a:solidFill>
                            <a:schemeClr val="tx1"/>
                          </a:solidFill>
                          <a:latin typeface="+mn-lt"/>
                          <a:ea typeface="+mn-ea"/>
                          <a:cs typeface="+mn-cs"/>
                        </a:rPr>
                        <a:t>の</a:t>
                      </a:r>
                      <a:r>
                        <a:rPr lang="en-US" altLang="ja-JP" sz="900" kern="1200" dirty="0">
                          <a:solidFill>
                            <a:schemeClr val="tx1"/>
                          </a:solidFill>
                          <a:latin typeface="+mn-lt"/>
                          <a:ea typeface="+mn-ea"/>
                          <a:cs typeface="+mn-cs"/>
                        </a:rPr>
                        <a:t>SPO</a:t>
                      </a:r>
                      <a:r>
                        <a:rPr lang="ja-JP" altLang="en-US" sz="900" kern="1200" dirty="0">
                          <a:solidFill>
                            <a:schemeClr val="tx1"/>
                          </a:solidFill>
                          <a:latin typeface="+mn-lt"/>
                          <a:ea typeface="+mn-ea"/>
                          <a:cs typeface="+mn-cs"/>
                        </a:rPr>
                        <a:t> </a:t>
                      </a:r>
                      <a:r>
                        <a:rPr lang="zh-CN" altLang="zh-CN" sz="900" kern="1200" dirty="0">
                          <a:solidFill>
                            <a:schemeClr val="tx1"/>
                          </a:solidFill>
                          <a:latin typeface="+mn-lt"/>
                          <a:ea typeface="+mn-ea"/>
                          <a:cs typeface="+mn-cs"/>
                        </a:rPr>
                        <a:t>URLを取得</a:t>
                      </a:r>
                      <a:r>
                        <a:rPr kumimoji="0" lang="ja-JP" altLang="en-US" sz="900" b="0" i="0" u="none" strike="noStrike" kern="1200" cap="none" spc="0" normalizeH="0" baseline="0" noProof="0" dirty="0">
                          <a:ln>
                            <a:noFill/>
                          </a:ln>
                          <a:solidFill>
                            <a:schemeClr val="tx1"/>
                          </a:solidFill>
                          <a:effectLst/>
                          <a:uLnTx/>
                          <a:uFillTx/>
                          <a:latin typeface="+mn-lt"/>
                          <a:ea typeface="+mn-ea"/>
                          <a:cs typeface="+mn-cs"/>
                        </a:rPr>
                        <a:t>できる</a:t>
                      </a:r>
                      <a:r>
                        <a:rPr lang="zh-CN" altLang="zh-CN" sz="900" kern="1200" dirty="0">
                          <a:solidFill>
                            <a:schemeClr val="tx1"/>
                          </a:solidFill>
                          <a:latin typeface="+mn-lt"/>
                          <a:ea typeface="+mn-ea"/>
                          <a:cs typeface="+mn-cs"/>
                        </a:rPr>
                        <a:t>。 </a:t>
                      </a:r>
                    </a:p>
                    <a:p>
                      <a:pPr marL="228600" lvl="0" indent="-228600" eaLnBrk="0" fontAlgn="base" hangingPunct="0">
                        <a:spcBef>
                          <a:spcPct val="0"/>
                        </a:spcBef>
                        <a:spcAft>
                          <a:spcPct val="0"/>
                        </a:spcAft>
                        <a:buFont typeface="+mj-lt"/>
                        <a:buAutoNum type="arabicPeriod"/>
                      </a:pPr>
                      <a:r>
                        <a:rPr lang="en-US" altLang="ja-JP" sz="900" kern="1200" dirty="0">
                          <a:solidFill>
                            <a:schemeClr val="tx1"/>
                          </a:solidFill>
                          <a:latin typeface="+mn-lt"/>
                          <a:ea typeface="+mn-ea"/>
                          <a:cs typeface="+mn-cs"/>
                        </a:rPr>
                        <a:t>Power Apps</a:t>
                      </a:r>
                      <a:r>
                        <a:rPr lang="ja-JP" altLang="en-US" sz="900" kern="1200" dirty="0">
                          <a:solidFill>
                            <a:schemeClr val="tx1"/>
                          </a:solidFill>
                          <a:latin typeface="+mn-lt"/>
                          <a:ea typeface="+mn-ea"/>
                          <a:cs typeface="+mn-cs"/>
                        </a:rPr>
                        <a:t>の</a:t>
                      </a:r>
                      <a:r>
                        <a:rPr lang="en-US" altLang="ja-JP" sz="900" kern="1200" dirty="0">
                          <a:solidFill>
                            <a:schemeClr val="tx1"/>
                          </a:solidFill>
                          <a:latin typeface="+mn-lt"/>
                          <a:ea typeface="+mn-ea"/>
                          <a:cs typeface="+mn-cs"/>
                        </a:rPr>
                        <a:t>Launch</a:t>
                      </a:r>
                      <a:r>
                        <a:rPr lang="ja-JP" altLang="en-US" sz="900" kern="1200" dirty="0">
                          <a:solidFill>
                            <a:schemeClr val="tx1"/>
                          </a:solidFill>
                          <a:latin typeface="+mn-lt"/>
                          <a:ea typeface="+mn-ea"/>
                          <a:cs typeface="+mn-cs"/>
                        </a:rPr>
                        <a:t>機能を利用して実現</a:t>
                      </a:r>
                      <a:r>
                        <a:rPr kumimoji="0" lang="ja-JP" altLang="en-US" sz="900" b="0" i="0" u="none" strike="noStrike" kern="1200" cap="none" spc="0" normalizeH="0" baseline="0" noProof="0" dirty="0">
                          <a:ln>
                            <a:noFill/>
                          </a:ln>
                          <a:solidFill>
                            <a:schemeClr val="tx1"/>
                          </a:solidFill>
                          <a:effectLst/>
                          <a:uLnTx/>
                          <a:uFillTx/>
                          <a:latin typeface="+mn-lt"/>
                          <a:ea typeface="+mn-ea"/>
                          <a:cs typeface="+mn-cs"/>
                        </a:rPr>
                        <a:t>できる。</a:t>
                      </a:r>
                      <a:r>
                        <a:rPr lang="zh-CN" altLang="zh-CN" sz="900" kern="1200" dirty="0">
                          <a:solidFill>
                            <a:schemeClr val="tx1"/>
                          </a:solidFill>
                          <a:latin typeface="+mn-lt"/>
                          <a:ea typeface="+mn-ea"/>
                          <a:cs typeface="+mn-cs"/>
                        </a:rPr>
                        <a:t>Office Onlineで</a:t>
                      </a:r>
                      <a:r>
                        <a:rPr lang="ja-JP" altLang="en-US" sz="900" kern="1200" dirty="0">
                          <a:solidFill>
                            <a:schemeClr val="tx1"/>
                          </a:solidFill>
                          <a:latin typeface="+mn-lt"/>
                          <a:ea typeface="+mn-ea"/>
                          <a:cs typeface="+mn-cs"/>
                        </a:rPr>
                        <a:t>直接</a:t>
                      </a:r>
                      <a:r>
                        <a:rPr lang="zh-CN" altLang="zh-CN" sz="900" kern="1200" dirty="0">
                          <a:solidFill>
                            <a:schemeClr val="tx1"/>
                          </a:solidFill>
                          <a:latin typeface="+mn-lt"/>
                          <a:ea typeface="+mn-ea"/>
                          <a:cs typeface="+mn-cs"/>
                        </a:rPr>
                        <a:t>開く（例: </a:t>
                      </a:r>
                      <a:r>
                        <a:rPr lang="zh-CN" altLang="zh-CN" sz="900" kern="1200" dirty="0">
                          <a:solidFill>
                            <a:schemeClr val="tx1"/>
                          </a:solidFill>
                          <a:latin typeface="+mn-lt"/>
                          <a:ea typeface="+mn-ea"/>
                          <a:cs typeface="+mn-cs"/>
                          <a:hlinkClick r:id="rId3">
                            <a:extLst>
                              <a:ext uri="{A12FA001-AC4F-418D-AE19-62706E023703}">
                                <ahyp:hlinkClr xmlns:ahyp="http://schemas.microsoft.com/office/drawing/2018/hyperlinkcolor" val="tx"/>
                              </a:ext>
                            </a:extLst>
                          </a:hlinkClick>
                        </a:rPr>
                        <a:t>https://office.com/edit?url=[file_url</a:t>
                      </a:r>
                      <a:r>
                        <a:rPr lang="zh-CN" altLang="zh-CN" sz="900" kern="1200" dirty="0">
                          <a:solidFill>
                            <a:schemeClr val="tx1"/>
                          </a:solidFill>
                          <a:latin typeface="+mn-lt"/>
                          <a:ea typeface="+mn-ea"/>
                          <a:cs typeface="+mn-cs"/>
                        </a:rPr>
                        <a:t>]）</a:t>
                      </a:r>
                      <a:r>
                        <a:rPr lang="en-US" altLang="ja-JP" sz="900" kern="1200" dirty="0" err="1">
                          <a:solidFill>
                            <a:schemeClr val="tx1"/>
                          </a:solidFill>
                          <a:latin typeface="+mn-lt"/>
                          <a:ea typeface="+mn-ea"/>
                          <a:cs typeface="+mn-cs"/>
                        </a:rPr>
                        <a:t>ReadOnly</a:t>
                      </a:r>
                      <a:r>
                        <a:rPr lang="en-US" altLang="ja-JP" sz="900" kern="1200" dirty="0">
                          <a:solidFill>
                            <a:schemeClr val="tx1"/>
                          </a:solidFill>
                          <a:latin typeface="+mn-lt"/>
                          <a:ea typeface="+mn-ea"/>
                          <a:cs typeface="+mn-cs"/>
                        </a:rPr>
                        <a:t>/</a:t>
                      </a:r>
                      <a:r>
                        <a:rPr lang="ja-JP" altLang="en-US" sz="900" kern="1200" dirty="0">
                          <a:solidFill>
                            <a:schemeClr val="tx1"/>
                          </a:solidFill>
                          <a:latin typeface="+mn-lt"/>
                          <a:ea typeface="+mn-ea"/>
                          <a:cs typeface="+mn-cs"/>
                        </a:rPr>
                        <a:t>編集モードは仕様に従って定義</a:t>
                      </a:r>
                      <a:endParaRPr lang="en-US" altLang="zh-CN" sz="90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486074552"/>
                  </a:ext>
                </a:extLst>
              </a:tr>
              <a:tr h="2491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00" kern="1200" dirty="0">
                          <a:solidFill>
                            <a:schemeClr val="tx1"/>
                          </a:solidFill>
                          <a:latin typeface="+mn-lt"/>
                          <a:ea typeface="+mn-ea"/>
                          <a:cs typeface="+mn-cs"/>
                        </a:rPr>
                        <a:t>ファイルの</a:t>
                      </a:r>
                      <a:r>
                        <a:rPr lang="en-US" altLang="ja-JP" sz="1000" kern="1200" dirty="0">
                          <a:solidFill>
                            <a:schemeClr val="tx1"/>
                          </a:solidFill>
                          <a:latin typeface="+mn-lt"/>
                          <a:ea typeface="+mn-ea"/>
                          <a:cs typeface="+mn-cs"/>
                        </a:rPr>
                        <a:t>Upload</a:t>
                      </a:r>
                      <a:endParaRPr lang="ja-JP" altLang="en-US" sz="100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228600" lvl="0" indent="-228600" eaLnBrk="0" fontAlgn="base" hangingPunct="0">
                        <a:spcBef>
                          <a:spcPct val="0"/>
                        </a:spcBef>
                        <a:spcAft>
                          <a:spcPct val="0"/>
                        </a:spcAft>
                        <a:buFont typeface="+mj-lt"/>
                        <a:buAutoNum type="arabicPeriod"/>
                      </a:pPr>
                      <a:r>
                        <a:rPr lang="en-US" altLang="ja-JP" sz="900" kern="1200" dirty="0">
                          <a:solidFill>
                            <a:schemeClr val="tx1"/>
                          </a:solidFill>
                          <a:latin typeface="+mn-lt"/>
                          <a:ea typeface="+mn-ea"/>
                          <a:cs typeface="+mn-cs"/>
                        </a:rPr>
                        <a:t>Upload</a:t>
                      </a:r>
                      <a:r>
                        <a:rPr lang="ja-JP" altLang="en-US" sz="900" kern="1200" dirty="0">
                          <a:solidFill>
                            <a:schemeClr val="tx1"/>
                          </a:solidFill>
                          <a:latin typeface="+mn-lt"/>
                          <a:ea typeface="+mn-ea"/>
                          <a:cs typeface="+mn-cs"/>
                        </a:rPr>
                        <a:t>される</a:t>
                      </a:r>
                      <a:r>
                        <a:rPr lang="zh-CN" altLang="zh-CN" sz="900" kern="1200" dirty="0">
                          <a:solidFill>
                            <a:schemeClr val="tx1"/>
                          </a:solidFill>
                          <a:latin typeface="+mn-lt"/>
                          <a:ea typeface="+mn-ea"/>
                          <a:cs typeface="+mn-cs"/>
                        </a:rPr>
                        <a:t>ファイル</a:t>
                      </a:r>
                      <a:r>
                        <a:rPr lang="ja-JP" altLang="en-US" sz="900" kern="1200" dirty="0">
                          <a:solidFill>
                            <a:schemeClr val="tx1"/>
                          </a:solidFill>
                          <a:latin typeface="+mn-lt"/>
                          <a:ea typeface="+mn-ea"/>
                          <a:cs typeface="+mn-cs"/>
                        </a:rPr>
                        <a:t>のソリューションで定義した</a:t>
                      </a:r>
                      <a:r>
                        <a:rPr lang="en-US" altLang="ja-JP" sz="900" kern="1200" dirty="0">
                          <a:solidFill>
                            <a:schemeClr val="tx1"/>
                          </a:solidFill>
                          <a:latin typeface="+mn-lt"/>
                          <a:ea typeface="+mn-ea"/>
                          <a:cs typeface="+mn-cs"/>
                        </a:rPr>
                        <a:t>SPO</a:t>
                      </a:r>
                      <a:r>
                        <a:rPr lang="ja-JP" altLang="en-US" sz="900" kern="1200" dirty="0">
                          <a:solidFill>
                            <a:schemeClr val="tx1"/>
                          </a:solidFill>
                          <a:latin typeface="+mn-lt"/>
                          <a:ea typeface="+mn-ea"/>
                          <a:cs typeface="+mn-cs"/>
                        </a:rPr>
                        <a:t> </a:t>
                      </a:r>
                      <a:r>
                        <a:rPr lang="zh-CN" altLang="zh-CN" sz="900" kern="1200" dirty="0">
                          <a:solidFill>
                            <a:schemeClr val="tx1"/>
                          </a:solidFill>
                          <a:latin typeface="+mn-lt"/>
                          <a:ea typeface="+mn-ea"/>
                          <a:cs typeface="+mn-cs"/>
                        </a:rPr>
                        <a:t>URL</a:t>
                      </a:r>
                      <a:r>
                        <a:rPr lang="ja-JP" altLang="en-US" sz="900" kern="1200" dirty="0">
                          <a:solidFill>
                            <a:schemeClr val="tx1"/>
                          </a:solidFill>
                          <a:latin typeface="+mn-lt"/>
                          <a:ea typeface="+mn-ea"/>
                          <a:cs typeface="+mn-cs"/>
                        </a:rPr>
                        <a:t>を算出</a:t>
                      </a:r>
                      <a:r>
                        <a:rPr lang="zh-CN" altLang="zh-CN" sz="900" kern="1200" dirty="0">
                          <a:solidFill>
                            <a:schemeClr val="tx1"/>
                          </a:solidFill>
                          <a:latin typeface="+mn-lt"/>
                          <a:ea typeface="+mn-ea"/>
                          <a:cs typeface="+mn-cs"/>
                        </a:rPr>
                        <a:t> </a:t>
                      </a:r>
                    </a:p>
                    <a:p>
                      <a:pPr marL="228600" lvl="0" indent="-228600" eaLnBrk="0" fontAlgn="base" hangingPunct="0">
                        <a:spcBef>
                          <a:spcPct val="0"/>
                        </a:spcBef>
                        <a:spcAft>
                          <a:spcPct val="0"/>
                        </a:spcAft>
                        <a:buFont typeface="+mj-lt"/>
                        <a:buAutoNum type="arabicPeriod"/>
                      </a:pPr>
                      <a:r>
                        <a:rPr lang="ja-JP" altLang="en-US" sz="900" dirty="0">
                          <a:solidFill>
                            <a:schemeClr val="tx1"/>
                          </a:solidFill>
                        </a:rPr>
                        <a:t>ファイルを算出した</a:t>
                      </a:r>
                      <a:r>
                        <a:rPr lang="en-US" altLang="ja-JP" sz="900" kern="1200" dirty="0">
                          <a:solidFill>
                            <a:schemeClr val="tx1"/>
                          </a:solidFill>
                          <a:latin typeface="+mn-lt"/>
                          <a:ea typeface="+mn-ea"/>
                          <a:cs typeface="+mn-cs"/>
                        </a:rPr>
                        <a:t>SPO</a:t>
                      </a:r>
                      <a:r>
                        <a:rPr lang="ja-JP" altLang="en-US" sz="900" kern="1200" dirty="0">
                          <a:solidFill>
                            <a:schemeClr val="tx1"/>
                          </a:solidFill>
                          <a:latin typeface="+mn-lt"/>
                          <a:ea typeface="+mn-ea"/>
                          <a:cs typeface="+mn-cs"/>
                        </a:rPr>
                        <a:t> </a:t>
                      </a:r>
                      <a:r>
                        <a:rPr lang="zh-CN" altLang="zh-CN" sz="900" kern="1200" dirty="0">
                          <a:solidFill>
                            <a:schemeClr val="tx1"/>
                          </a:solidFill>
                          <a:latin typeface="+mn-lt"/>
                          <a:ea typeface="+mn-ea"/>
                          <a:cs typeface="+mn-cs"/>
                        </a:rPr>
                        <a:t>URL</a:t>
                      </a:r>
                      <a:r>
                        <a:rPr lang="ja-JP" altLang="en-US" sz="900" dirty="0">
                          <a:solidFill>
                            <a:schemeClr val="tx1"/>
                          </a:solidFill>
                        </a:rPr>
                        <a:t>に</a:t>
                      </a:r>
                      <a:r>
                        <a:rPr lang="en-US" altLang="ja-JP" sz="900" dirty="0">
                          <a:solidFill>
                            <a:schemeClr val="tx1"/>
                          </a:solidFill>
                        </a:rPr>
                        <a:t>Upload</a:t>
                      </a:r>
                      <a:r>
                        <a:rPr kumimoji="0" lang="ja-JP" altLang="en-US" sz="900" b="0" i="0" u="none" strike="noStrike" kern="1200" cap="none" spc="0" normalizeH="0" baseline="0" noProof="0" dirty="0">
                          <a:ln>
                            <a:noFill/>
                          </a:ln>
                          <a:solidFill>
                            <a:schemeClr val="tx1"/>
                          </a:solidFill>
                          <a:effectLst/>
                          <a:uLnTx/>
                          <a:uFillTx/>
                          <a:latin typeface="+mn-lt"/>
                          <a:ea typeface="+mn-ea"/>
                          <a:cs typeface="+mn-cs"/>
                        </a:rPr>
                        <a:t>できる</a:t>
                      </a:r>
                      <a:endParaRPr lang="en-US" altLang="ja-JP" sz="900" dirty="0">
                        <a:solidFill>
                          <a:schemeClr val="tx1"/>
                        </a:solidFill>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defRPr/>
                      </a:pPr>
                      <a:r>
                        <a:rPr lang="ja-JP" altLang="en-US" sz="900" dirty="0">
                          <a:solidFill>
                            <a:schemeClr val="tx1"/>
                          </a:solidFill>
                        </a:rPr>
                        <a:t>ファイルの権限を設定（共有相手個人、組織のみに与える）</a:t>
                      </a:r>
                      <a:r>
                        <a:rPr kumimoji="0" lang="ja-JP" altLang="en-US" sz="900" b="0" i="0" u="none" strike="noStrike" kern="1200" cap="none" spc="0" normalizeH="0" baseline="0" noProof="0" dirty="0">
                          <a:ln>
                            <a:noFill/>
                          </a:ln>
                          <a:solidFill>
                            <a:schemeClr val="tx1"/>
                          </a:solidFill>
                          <a:effectLst/>
                          <a:uLnTx/>
                          <a:uFillTx/>
                          <a:latin typeface="+mn-lt"/>
                          <a:ea typeface="+mn-ea"/>
                          <a:cs typeface="+mn-cs"/>
                        </a:rPr>
                        <a:t>できる</a:t>
                      </a:r>
                      <a:endParaRPr lang="en-US" altLang="ja-JP" sz="900" dirty="0">
                        <a:solidFill>
                          <a:schemeClr val="tx1"/>
                        </a:solidFill>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defRPr/>
                      </a:pPr>
                      <a:r>
                        <a:rPr lang="ja-JP" altLang="en-US" sz="900" dirty="0">
                          <a:solidFill>
                            <a:schemeClr val="tx1"/>
                          </a:solidFill>
                        </a:rPr>
                        <a:t>仕様書</a:t>
                      </a:r>
                      <a:r>
                        <a:rPr lang="en-US" altLang="ja-JP" sz="900" dirty="0">
                          <a:solidFill>
                            <a:schemeClr val="tx1"/>
                          </a:solidFill>
                        </a:rPr>
                        <a:t>Table</a:t>
                      </a:r>
                      <a:r>
                        <a:rPr lang="ja-JP" altLang="en-US" sz="900" dirty="0">
                          <a:solidFill>
                            <a:schemeClr val="tx1"/>
                          </a:solidFill>
                        </a:rPr>
                        <a:t>に添付ファイル情報を登録することで権限管理できる</a:t>
                      </a:r>
                      <a:endParaRPr lang="en-US" altLang="ja-JP" sz="900" dirty="0">
                        <a:solidFill>
                          <a:schemeClr val="tx1"/>
                        </a:solidFill>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4111963461"/>
                  </a:ext>
                </a:extLst>
              </a:tr>
              <a:tr h="726153">
                <a:tc>
                  <a:txBody>
                    <a:bodyPr/>
                    <a:lstStyle/>
                    <a:p>
                      <a:endParaRPr lang="ja-JP" altLang="en-US" sz="105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ltLang="ja-JP" sz="1050" kern="120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b="1" kern="1200" dirty="0">
                          <a:solidFill>
                            <a:schemeClr val="tx1"/>
                          </a:solidFill>
                          <a:latin typeface="+mn-lt"/>
                          <a:ea typeface="+mn-ea"/>
                          <a:cs typeface="+mn-cs"/>
                        </a:rPr>
                        <a:t>ソリューションデータフロー</a:t>
                      </a:r>
                      <a:endParaRPr lang="en-US" altLang="ja-JP" sz="1050" b="1"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2867419"/>
                  </a:ext>
                </a:extLst>
              </a:tr>
            </a:tbl>
          </a:graphicData>
        </a:graphic>
      </p:graphicFrame>
      <p:pic>
        <p:nvPicPr>
          <p:cNvPr id="3" name="図 2">
            <a:extLst>
              <a:ext uri="{FF2B5EF4-FFF2-40B4-BE49-F238E27FC236}">
                <a16:creationId xmlns:a16="http://schemas.microsoft.com/office/drawing/2014/main" id="{66F8C394-8B67-198B-AD67-9AE5BA7B7BA5}"/>
              </a:ext>
            </a:extLst>
          </p:cNvPr>
          <p:cNvPicPr>
            <a:picLocks noChangeAspect="1"/>
          </p:cNvPicPr>
          <p:nvPr/>
        </p:nvPicPr>
        <p:blipFill>
          <a:blip r:embed="rId4"/>
          <a:stretch>
            <a:fillRect/>
          </a:stretch>
        </p:blipFill>
        <p:spPr>
          <a:xfrm>
            <a:off x="5030003" y="3306279"/>
            <a:ext cx="6573926" cy="3149392"/>
          </a:xfrm>
          <a:prstGeom prst="rect">
            <a:avLst/>
          </a:prstGeom>
        </p:spPr>
      </p:pic>
      <p:pic>
        <p:nvPicPr>
          <p:cNvPr id="8" name="図 7">
            <a:extLst>
              <a:ext uri="{FF2B5EF4-FFF2-40B4-BE49-F238E27FC236}">
                <a16:creationId xmlns:a16="http://schemas.microsoft.com/office/drawing/2014/main" id="{9579E1CA-8004-710B-ABF4-3CF24476591C}"/>
              </a:ext>
            </a:extLst>
          </p:cNvPr>
          <p:cNvPicPr>
            <a:picLocks noChangeAspect="1"/>
          </p:cNvPicPr>
          <p:nvPr/>
        </p:nvPicPr>
        <p:blipFill>
          <a:blip r:embed="rId5"/>
          <a:stretch>
            <a:fillRect/>
          </a:stretch>
        </p:blipFill>
        <p:spPr>
          <a:xfrm>
            <a:off x="1974080" y="5187218"/>
            <a:ext cx="2348563" cy="839009"/>
          </a:xfrm>
          <a:prstGeom prst="rect">
            <a:avLst/>
          </a:prstGeom>
        </p:spPr>
      </p:pic>
      <p:sp>
        <p:nvSpPr>
          <p:cNvPr id="10" name="矢印: 上カーブ 9">
            <a:extLst>
              <a:ext uri="{FF2B5EF4-FFF2-40B4-BE49-F238E27FC236}">
                <a16:creationId xmlns:a16="http://schemas.microsoft.com/office/drawing/2014/main" id="{EFD53EB5-2DF5-3837-D664-047A23D6F5BB}"/>
              </a:ext>
            </a:extLst>
          </p:cNvPr>
          <p:cNvSpPr/>
          <p:nvPr/>
        </p:nvSpPr>
        <p:spPr>
          <a:xfrm rot="2998930">
            <a:off x="1061115" y="5107853"/>
            <a:ext cx="953141" cy="339355"/>
          </a:xfrm>
          <a:prstGeom prst="curvedUpArrow">
            <a:avLst/>
          </a:prstGeom>
          <a:solidFill>
            <a:schemeClr val="accent3">
              <a:alpha val="50000"/>
            </a:schemeClr>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ja-JP" altLang="en-US"/>
          </a:p>
        </p:txBody>
      </p:sp>
      <p:sp>
        <p:nvSpPr>
          <p:cNvPr id="6" name="テキスト ボックス 5">
            <a:extLst>
              <a:ext uri="{FF2B5EF4-FFF2-40B4-BE49-F238E27FC236}">
                <a16:creationId xmlns:a16="http://schemas.microsoft.com/office/drawing/2014/main" id="{2396854E-3FA1-0DE9-3B7A-3C45CCDF352D}"/>
              </a:ext>
            </a:extLst>
          </p:cNvPr>
          <p:cNvSpPr txBox="1"/>
          <p:nvPr/>
        </p:nvSpPr>
        <p:spPr>
          <a:xfrm>
            <a:off x="451684" y="5383103"/>
            <a:ext cx="1259980" cy="230832"/>
          </a:xfrm>
          <a:prstGeom prst="rect">
            <a:avLst/>
          </a:prstGeom>
          <a:noFill/>
        </p:spPr>
        <p:txBody>
          <a:bodyPr wrap="square">
            <a:spAutoFit/>
          </a:bodyPr>
          <a:lstStyle/>
          <a:p>
            <a:r>
              <a:rPr lang="ja-JP" altLang="en-US" sz="900" dirty="0"/>
              <a:t>ファイル</a:t>
            </a:r>
            <a:r>
              <a:rPr lang="en-US" altLang="ja-JP" sz="900" dirty="0"/>
              <a:t>ID</a:t>
            </a:r>
            <a:r>
              <a:rPr lang="ja-JP" altLang="en-US" sz="900" dirty="0"/>
              <a:t>で</a:t>
            </a:r>
            <a:r>
              <a:rPr lang="en-US" altLang="ja-JP" sz="900" dirty="0"/>
              <a:t>Link</a:t>
            </a:r>
            <a:endParaRPr lang="ja-JP" altLang="en-US" sz="900" dirty="0"/>
          </a:p>
        </p:txBody>
      </p:sp>
      <p:pic>
        <p:nvPicPr>
          <p:cNvPr id="5" name="図 4">
            <a:extLst>
              <a:ext uri="{FF2B5EF4-FFF2-40B4-BE49-F238E27FC236}">
                <a16:creationId xmlns:a16="http://schemas.microsoft.com/office/drawing/2014/main" id="{1C68BE6A-E4C9-E9C5-C905-F4CCD77F529E}"/>
              </a:ext>
            </a:extLst>
          </p:cNvPr>
          <p:cNvPicPr>
            <a:picLocks noChangeAspect="1"/>
          </p:cNvPicPr>
          <p:nvPr/>
        </p:nvPicPr>
        <p:blipFill>
          <a:blip r:embed="rId6"/>
          <a:stretch>
            <a:fillRect/>
          </a:stretch>
        </p:blipFill>
        <p:spPr>
          <a:xfrm>
            <a:off x="472067" y="3464970"/>
            <a:ext cx="2634712" cy="1436013"/>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0AC2E-1FAE-312E-D110-20D395CB174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08C0104-32A6-9C45-287A-3D2D4E0C7071}"/>
              </a:ext>
            </a:extLst>
          </p:cNvPr>
          <p:cNvSpPr>
            <a:spLocks noGrp="1"/>
          </p:cNvSpPr>
          <p:nvPr>
            <p:ph type="title"/>
          </p:nvPr>
        </p:nvSpPr>
        <p:spPr>
          <a:xfrm>
            <a:off x="414336" y="255263"/>
            <a:ext cx="9327072" cy="683629"/>
          </a:xfrm>
        </p:spPr>
        <p:txBody>
          <a:bodyPr>
            <a:normAutofit/>
          </a:bodyPr>
          <a:lstStyle/>
          <a:p>
            <a:r>
              <a:rPr lang="ja-JP" altLang="en-US" dirty="0"/>
              <a:t>要件／ソリューション－権限管理</a:t>
            </a:r>
            <a:endParaRPr lang="ja-JP" altLang="en-US" dirty="0">
              <a:effectLst/>
            </a:endParaRPr>
          </a:p>
        </p:txBody>
      </p:sp>
      <p:graphicFrame>
        <p:nvGraphicFramePr>
          <p:cNvPr id="3" name="表 2">
            <a:extLst>
              <a:ext uri="{FF2B5EF4-FFF2-40B4-BE49-F238E27FC236}">
                <a16:creationId xmlns:a16="http://schemas.microsoft.com/office/drawing/2014/main" id="{47F76232-F63A-F4BC-EE19-C00ABF0AE54F}"/>
              </a:ext>
            </a:extLst>
          </p:cNvPr>
          <p:cNvGraphicFramePr>
            <a:graphicFrameLocks noGrp="1"/>
          </p:cNvGraphicFramePr>
          <p:nvPr>
            <p:extLst>
              <p:ext uri="{D42A27DB-BD31-4B8C-83A1-F6EECF244321}">
                <p14:modId xmlns:p14="http://schemas.microsoft.com/office/powerpoint/2010/main" val="715390910"/>
              </p:ext>
            </p:extLst>
          </p:nvPr>
        </p:nvGraphicFramePr>
        <p:xfrm>
          <a:off x="453572" y="804707"/>
          <a:ext cx="11284856" cy="5644304"/>
        </p:xfrm>
        <a:graphic>
          <a:graphicData uri="http://schemas.openxmlformats.org/drawingml/2006/table">
            <a:tbl>
              <a:tblPr firstRow="1">
                <a:tableStyleId>{2D5ABB26-0587-4C30-8999-92F81FD0307C}</a:tableStyleId>
              </a:tblPr>
              <a:tblGrid>
                <a:gridCol w="2161441">
                  <a:extLst>
                    <a:ext uri="{9D8B030D-6E8A-4147-A177-3AD203B41FA5}">
                      <a16:colId xmlns:a16="http://schemas.microsoft.com/office/drawing/2014/main" val="307087368"/>
                    </a:ext>
                  </a:extLst>
                </a:gridCol>
                <a:gridCol w="2798748">
                  <a:extLst>
                    <a:ext uri="{9D8B030D-6E8A-4147-A177-3AD203B41FA5}">
                      <a16:colId xmlns:a16="http://schemas.microsoft.com/office/drawing/2014/main" val="1007415991"/>
                    </a:ext>
                  </a:extLst>
                </a:gridCol>
                <a:gridCol w="6324667">
                  <a:extLst>
                    <a:ext uri="{9D8B030D-6E8A-4147-A177-3AD203B41FA5}">
                      <a16:colId xmlns:a16="http://schemas.microsoft.com/office/drawing/2014/main" val="3160565433"/>
                    </a:ext>
                  </a:extLst>
                </a:gridCol>
              </a:tblGrid>
              <a:tr h="166953">
                <a:tc>
                  <a:txBody>
                    <a:bodyPr/>
                    <a:lstStyle/>
                    <a:p>
                      <a:r>
                        <a:rPr lang="ja-JP" altLang="en-US" sz="1200" dirty="0"/>
                        <a:t>要件</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機能</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ソリューション</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607360652"/>
                  </a:ext>
                </a:extLst>
              </a:tr>
              <a:tr h="239330">
                <a:tc>
                  <a:txBody>
                    <a:bodyPr/>
                    <a:lstStyle/>
                    <a:p>
                      <a:r>
                        <a:rPr kumimoji="0" lang="ja-JP" altLang="en-US" sz="900" kern="1200" dirty="0">
                          <a:solidFill>
                            <a:schemeClr val="tx1"/>
                          </a:solidFill>
                          <a:latin typeface="Arial" panose="020B0604020202020204" pitchFamily="34" charset="0"/>
                          <a:ea typeface="+mn-ea"/>
                          <a:cs typeface="+mn-cs"/>
                        </a:rPr>
                        <a:t>ログインユーザは</a:t>
                      </a:r>
                      <a:r>
                        <a:rPr kumimoji="0" lang="en-US" altLang="ja-JP" sz="900" kern="1200" dirty="0">
                          <a:solidFill>
                            <a:schemeClr val="tx1"/>
                          </a:solidFill>
                          <a:latin typeface="Arial" panose="020B0604020202020204" pitchFamily="34" charset="0"/>
                          <a:ea typeface="+mn-ea"/>
                          <a:cs typeface="+mn-cs"/>
                        </a:rPr>
                        <a:t>PowerApps</a:t>
                      </a:r>
                      <a:r>
                        <a:rPr kumimoji="0" lang="ja-JP" altLang="en-US" sz="900" kern="1200" dirty="0">
                          <a:solidFill>
                            <a:schemeClr val="tx1"/>
                          </a:solidFill>
                          <a:latin typeface="Arial" panose="020B0604020202020204" pitchFamily="34" charset="0"/>
                          <a:ea typeface="+mn-ea"/>
                          <a:cs typeface="+mn-cs"/>
                        </a:rPr>
                        <a:t>のアクセス可否はコントロール可能</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kumimoji="0" lang="en-US" altLang="ja-JP" sz="900" kern="1200" dirty="0">
                          <a:solidFill>
                            <a:schemeClr val="tx1"/>
                          </a:solidFill>
                          <a:latin typeface="Arial" panose="020B0604020202020204" pitchFamily="34" charset="0"/>
                          <a:ea typeface="+mn-ea"/>
                          <a:cs typeface="+mn-cs"/>
                        </a:rPr>
                        <a:t>Azure AD</a:t>
                      </a:r>
                      <a:r>
                        <a:rPr kumimoji="0" lang="ja-JP" altLang="en-US" sz="900" kern="1200" dirty="0">
                          <a:solidFill>
                            <a:schemeClr val="tx1"/>
                          </a:solidFill>
                          <a:latin typeface="Arial" panose="020B0604020202020204" pitchFamily="34" charset="0"/>
                          <a:ea typeface="+mn-ea"/>
                          <a:cs typeface="+mn-cs"/>
                        </a:rPr>
                        <a:t>の</a:t>
                      </a:r>
                      <a:r>
                        <a:rPr kumimoji="0" lang="en-US" altLang="ja-JP" sz="900" kern="1200" dirty="0">
                          <a:solidFill>
                            <a:schemeClr val="tx1"/>
                          </a:solidFill>
                          <a:latin typeface="Arial" panose="020B0604020202020204" pitchFamily="34" charset="0"/>
                          <a:ea typeface="+mn-ea"/>
                          <a:cs typeface="+mn-cs"/>
                        </a:rPr>
                        <a:t>Security Group</a:t>
                      </a:r>
                      <a:r>
                        <a:rPr kumimoji="0" lang="ja-JP" altLang="en-US" sz="900" kern="1200" dirty="0">
                          <a:solidFill>
                            <a:schemeClr val="tx1"/>
                          </a:solidFill>
                          <a:latin typeface="Arial" panose="020B0604020202020204" pitchFamily="34" charset="0"/>
                          <a:ea typeface="+mn-ea"/>
                          <a:cs typeface="+mn-cs"/>
                        </a:rPr>
                        <a:t>の管理機能</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kumimoji="0" lang="en-US" altLang="ja-JP" sz="900" kern="1200" dirty="0">
                          <a:solidFill>
                            <a:schemeClr val="tx1"/>
                          </a:solidFill>
                          <a:latin typeface="Arial" panose="020B0604020202020204" pitchFamily="34" charset="0"/>
                          <a:ea typeface="+mn-ea"/>
                          <a:cs typeface="+mn-cs"/>
                        </a:rPr>
                        <a:t>MCC tenant</a:t>
                      </a:r>
                      <a:r>
                        <a:rPr kumimoji="0" lang="ja-JP" altLang="en-US" sz="900" kern="1200" dirty="0">
                          <a:solidFill>
                            <a:schemeClr val="tx1"/>
                          </a:solidFill>
                          <a:latin typeface="Arial" panose="020B0604020202020204" pitchFamily="34" charset="0"/>
                          <a:ea typeface="+mn-ea"/>
                          <a:cs typeface="+mn-cs"/>
                        </a:rPr>
                        <a:t>既定機能（申請すれば使える）で実現できる</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65751194"/>
                  </a:ext>
                </a:extLst>
              </a:tr>
              <a:tr h="130764">
                <a:tc rowSpan="4">
                  <a:txBody>
                    <a:bodyPr/>
                    <a:lstStyle/>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r>
                        <a:rPr kumimoji="0" lang="ja-JP" altLang="en-US" sz="900" kern="1200" dirty="0">
                          <a:solidFill>
                            <a:schemeClr val="tx1"/>
                          </a:solidFill>
                          <a:latin typeface="Arial" panose="020B0604020202020204" pitchFamily="34" charset="0"/>
                          <a:ea typeface="+mn-ea"/>
                          <a:cs typeface="+mn-cs"/>
                        </a:rPr>
                        <a:t>定型データの権限制限</a:t>
                      </a:r>
                    </a:p>
                  </a:txBody>
                  <a:tcPr marL="28046" marR="28046" marT="14023" marB="14023">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lvl="0" indent="0" eaLnBrk="0" fontAlgn="base" hangingPunct="0">
                        <a:spcBef>
                          <a:spcPct val="0"/>
                        </a:spcBef>
                        <a:spcAft>
                          <a:spcPct val="0"/>
                        </a:spcAft>
                        <a:buFont typeface="+mj-lt"/>
                        <a:buNone/>
                      </a:pPr>
                      <a:r>
                        <a:rPr kumimoji="0" lang="ja-JP" altLang="en-US" sz="900" kern="1200" dirty="0">
                          <a:solidFill>
                            <a:schemeClr val="tx1"/>
                          </a:solidFill>
                          <a:latin typeface="Arial" panose="020B0604020202020204" pitchFamily="34" charset="0"/>
                          <a:ea typeface="+mn-ea"/>
                          <a:cs typeface="+mn-cs"/>
                        </a:rPr>
                        <a:t>仕様書（仕様書アクセス権限</a:t>
                      </a:r>
                      <a:r>
                        <a:rPr kumimoji="0" lang="en-US" altLang="ja-JP" sz="900" kern="1200" dirty="0">
                          <a:solidFill>
                            <a:schemeClr val="tx1"/>
                          </a:solidFill>
                          <a:latin typeface="Arial" panose="020B0604020202020204" pitchFamily="34" charset="0"/>
                          <a:ea typeface="+mn-ea"/>
                          <a:cs typeface="+mn-cs"/>
                        </a:rPr>
                        <a:t>TBL</a:t>
                      </a:r>
                      <a:r>
                        <a:rPr kumimoji="0" lang="ja-JP" altLang="en-US" sz="900" kern="1200" dirty="0">
                          <a:solidFill>
                            <a:schemeClr val="tx1"/>
                          </a:solidFill>
                          <a:latin typeface="Arial" panose="020B0604020202020204" pitchFamily="34" charset="0"/>
                          <a:ea typeface="+mn-ea"/>
                          <a:cs typeface="+mn-cs"/>
                        </a:rPr>
                        <a:t>）単位で、開示範囲が定義可能</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rowSpan="4">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900" kern="1200" dirty="0">
                          <a:solidFill>
                            <a:schemeClr val="tx1"/>
                          </a:solidFill>
                          <a:latin typeface="Arial" panose="020B0604020202020204" pitchFamily="34" charset="0"/>
                          <a:ea typeface="+mn-ea"/>
                          <a:cs typeface="+mn-cs"/>
                        </a:rPr>
                        <a:t>仕様書単位に、仕様書アクセス権限</a:t>
                      </a:r>
                      <a:r>
                        <a:rPr kumimoji="0" lang="en-US" altLang="ja-JP" sz="900" kern="1200" dirty="0">
                          <a:solidFill>
                            <a:schemeClr val="tx1"/>
                          </a:solidFill>
                          <a:latin typeface="Arial" panose="020B0604020202020204" pitchFamily="34" charset="0"/>
                          <a:ea typeface="+mn-ea"/>
                          <a:cs typeface="+mn-cs"/>
                        </a:rPr>
                        <a:t>TBL</a:t>
                      </a:r>
                      <a:r>
                        <a:rPr kumimoji="0" lang="ja-JP" altLang="en-US" sz="900" kern="1200" dirty="0">
                          <a:solidFill>
                            <a:schemeClr val="tx1"/>
                          </a:solidFill>
                          <a:latin typeface="Arial" panose="020B0604020202020204" pitchFamily="34" charset="0"/>
                          <a:ea typeface="+mn-ea"/>
                          <a:cs typeface="+mn-cs"/>
                        </a:rPr>
                        <a:t>を設計、開示範囲（＝参照権限　ユーザ、グループ向け）の</a:t>
                      </a:r>
                      <a:r>
                        <a:rPr kumimoji="0" lang="en-US" altLang="ja-JP" sz="900" kern="1200" dirty="0">
                          <a:solidFill>
                            <a:schemeClr val="tx1"/>
                          </a:solidFill>
                          <a:latin typeface="Arial" panose="020B0604020202020204" pitchFamily="34" charset="0"/>
                          <a:ea typeface="+mn-ea"/>
                          <a:cs typeface="+mn-cs"/>
                        </a:rPr>
                        <a:t>CRUD</a:t>
                      </a:r>
                      <a:r>
                        <a:rPr kumimoji="0" lang="ja-JP" altLang="en-US" sz="900" kern="1200" dirty="0">
                          <a:solidFill>
                            <a:schemeClr val="tx1"/>
                          </a:solidFill>
                          <a:latin typeface="Arial" panose="020B0604020202020204" pitchFamily="34" charset="0"/>
                          <a:ea typeface="+mn-ea"/>
                          <a:cs typeface="+mn-cs"/>
                        </a:rPr>
                        <a:t>権限の定義可能の画面を提供することで</a:t>
                      </a:r>
                      <a:r>
                        <a:rPr kumimoji="0" lang="ja-JP" alt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mn-cs"/>
                        </a:rPr>
                        <a:t>で実現できる</a:t>
                      </a:r>
                      <a:endParaRPr kumimoji="0" lang="en-US" altLang="ja-JP" sz="900" kern="1200" dirty="0">
                        <a:solidFill>
                          <a:schemeClr val="tx1"/>
                        </a:solidFill>
                        <a:latin typeface="Arial"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900" kern="1200" dirty="0">
                          <a:solidFill>
                            <a:schemeClr val="tx1"/>
                          </a:solidFill>
                          <a:latin typeface="Arial" panose="020B0604020202020204" pitchFamily="34" charset="0"/>
                          <a:ea typeface="+mn-ea"/>
                          <a:cs typeface="+mn-cs"/>
                        </a:rPr>
                        <a:t>ユーザグループ単位で、画面の</a:t>
                      </a:r>
                      <a:r>
                        <a:rPr kumimoji="0" lang="en-US" altLang="ja-JP" sz="900" kern="1200" dirty="0">
                          <a:solidFill>
                            <a:schemeClr val="tx1"/>
                          </a:solidFill>
                          <a:latin typeface="Arial" panose="020B0604020202020204" pitchFamily="34" charset="0"/>
                          <a:ea typeface="+mn-ea"/>
                          <a:cs typeface="+mn-cs"/>
                        </a:rPr>
                        <a:t>CRUD</a:t>
                      </a:r>
                      <a:r>
                        <a:rPr kumimoji="0" lang="ja-JP" altLang="en-US" sz="900" kern="1200" dirty="0">
                          <a:solidFill>
                            <a:schemeClr val="tx1"/>
                          </a:solidFill>
                          <a:latin typeface="Arial" panose="020B0604020202020204" pitchFamily="34" charset="0"/>
                          <a:ea typeface="+mn-ea"/>
                          <a:cs typeface="+mn-cs"/>
                        </a:rPr>
                        <a:t>権限の定義ができる</a:t>
                      </a:r>
                      <a:endParaRPr kumimoji="0" lang="en-US" altLang="ja-JP" sz="900" kern="1200" dirty="0">
                        <a:solidFill>
                          <a:schemeClr val="tx1"/>
                        </a:solidFill>
                        <a:latin typeface="Arial"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mn-cs"/>
                        </a:rPr>
                        <a:t>添付ファイルの</a:t>
                      </a:r>
                      <a:r>
                        <a:rPr kumimoji="0" lang="ja-JP" altLang="en-US" sz="900" kern="1200" dirty="0">
                          <a:solidFill>
                            <a:schemeClr val="tx1"/>
                          </a:solidFill>
                          <a:latin typeface="Arial" panose="020B0604020202020204" pitchFamily="34" charset="0"/>
                          <a:ea typeface="+mn-ea"/>
                          <a:cs typeface="+mn-cs"/>
                        </a:rPr>
                        <a:t>アクセス権限は、</a:t>
                      </a:r>
                      <a:r>
                        <a:rPr kumimoji="0" lang="ja-JP" alt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mn-cs"/>
                        </a:rPr>
                        <a:t>仕様書の</a:t>
                      </a:r>
                      <a:r>
                        <a:rPr kumimoji="0" lang="ja-JP" altLang="en-US" sz="900" kern="1200" dirty="0">
                          <a:solidFill>
                            <a:schemeClr val="tx1"/>
                          </a:solidFill>
                          <a:latin typeface="Arial" panose="020B0604020202020204" pitchFamily="34" charset="0"/>
                          <a:ea typeface="+mn-ea"/>
                          <a:cs typeface="+mn-cs"/>
                        </a:rPr>
                        <a:t>新規作成</a:t>
                      </a:r>
                      <a:r>
                        <a:rPr kumimoji="0" lang="en-US" altLang="ja-JP" sz="900" kern="1200" dirty="0">
                          <a:solidFill>
                            <a:schemeClr val="tx1"/>
                          </a:solidFill>
                          <a:latin typeface="Arial" panose="020B0604020202020204" pitchFamily="34" charset="0"/>
                          <a:ea typeface="+mn-ea"/>
                          <a:cs typeface="+mn-cs"/>
                        </a:rPr>
                        <a:t>/</a:t>
                      </a:r>
                      <a:r>
                        <a:rPr kumimoji="0" lang="ja-JP" altLang="en-US" sz="900" kern="1200" dirty="0">
                          <a:solidFill>
                            <a:schemeClr val="tx1"/>
                          </a:solidFill>
                          <a:latin typeface="Arial" panose="020B0604020202020204" pitchFamily="34" charset="0"/>
                          <a:ea typeface="+mn-ea"/>
                          <a:cs typeface="+mn-cs"/>
                        </a:rPr>
                        <a:t>編集機能と連携することで権限管理ができる</a:t>
                      </a:r>
                      <a:endParaRPr kumimoji="0" lang="en-US" altLang="ja-JP" sz="900" kern="1200" dirty="0">
                        <a:solidFill>
                          <a:schemeClr val="tx1"/>
                        </a:solidFill>
                        <a:latin typeface="Arial"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900" dirty="0">
                          <a:solidFill>
                            <a:schemeClr val="tx1"/>
                          </a:solidFill>
                          <a:latin typeface="Arial" panose="020B0604020202020204" pitchFamily="34" charset="0"/>
                        </a:rPr>
                        <a:t>Azure SQL Table</a:t>
                      </a:r>
                      <a:r>
                        <a:rPr kumimoji="0" lang="ja-JP" altLang="en-US" sz="900" dirty="0">
                          <a:solidFill>
                            <a:schemeClr val="tx1"/>
                          </a:solidFill>
                          <a:latin typeface="Arial" panose="020B0604020202020204" pitchFamily="34" charset="0"/>
                        </a:rPr>
                        <a:t>の</a:t>
                      </a:r>
                      <a:r>
                        <a:rPr kumimoji="0" lang="en-US" altLang="ja-JP" sz="900" dirty="0">
                          <a:solidFill>
                            <a:schemeClr val="tx1"/>
                          </a:solidFill>
                          <a:latin typeface="Arial" panose="020B0604020202020204" pitchFamily="34" charset="0"/>
                        </a:rPr>
                        <a:t>Where</a:t>
                      </a:r>
                      <a:r>
                        <a:rPr kumimoji="0" lang="ja-JP" altLang="en-US" sz="900" dirty="0">
                          <a:solidFill>
                            <a:schemeClr val="tx1"/>
                          </a:solidFill>
                          <a:latin typeface="Arial" panose="020B0604020202020204" pitchFamily="34" charset="0"/>
                        </a:rPr>
                        <a:t>条件で</a:t>
                      </a:r>
                      <a:r>
                        <a:rPr kumimoji="0" lang="en-US" altLang="ja-JP" sz="900" dirty="0">
                          <a:solidFill>
                            <a:schemeClr val="tx1"/>
                          </a:solidFill>
                          <a:latin typeface="Arial" panose="020B0604020202020204" pitchFamily="34" charset="0"/>
                        </a:rPr>
                        <a:t>Filter</a:t>
                      </a:r>
                      <a:r>
                        <a:rPr kumimoji="0" lang="ja-JP" altLang="en-US" sz="900" dirty="0">
                          <a:solidFill>
                            <a:schemeClr val="tx1"/>
                          </a:solidFill>
                          <a:latin typeface="Arial" panose="020B0604020202020204" pitchFamily="34" charset="0"/>
                        </a:rPr>
                        <a:t>することによってアクセスコントロールできる</a:t>
                      </a:r>
                      <a:endParaRPr kumimoji="0" lang="en-US" altLang="ja-JP" sz="900" dirty="0">
                        <a:solidFill>
                          <a:schemeClr val="tx1"/>
                        </a:solidFill>
                        <a:latin typeface="Arial" panose="020B0604020202020204" pitchFamily="34" charset="0"/>
                      </a:endParaRPr>
                    </a:p>
                    <a:p>
                      <a:pPr marL="628650" marR="0" lvl="1"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ja-JP" altLang="en-US" sz="900" dirty="0">
                          <a:solidFill>
                            <a:schemeClr val="tx1"/>
                          </a:solidFill>
                          <a:latin typeface="Arial" panose="020B0604020202020204" pitchFamily="34" charset="0"/>
                        </a:rPr>
                        <a:t>一覧系（検索結果）は、</a:t>
                      </a:r>
                      <a:r>
                        <a:rPr kumimoji="0" lang="en-US" altLang="ja-JP" sz="900" dirty="0" err="1">
                          <a:solidFill>
                            <a:schemeClr val="tx1"/>
                          </a:solidFill>
                          <a:latin typeface="Arial" panose="020B0604020202020204" pitchFamily="34" charset="0"/>
                        </a:rPr>
                        <a:t>Sql</a:t>
                      </a:r>
                      <a:r>
                        <a:rPr kumimoji="0" lang="ja-JP" altLang="en-US" sz="900" dirty="0">
                          <a:solidFill>
                            <a:schemeClr val="tx1"/>
                          </a:solidFill>
                          <a:latin typeface="Arial" panose="020B0604020202020204" pitchFamily="34" charset="0"/>
                        </a:rPr>
                        <a:t>の</a:t>
                      </a:r>
                      <a:r>
                        <a:rPr kumimoji="0" lang="en-US" altLang="ja-JP" sz="900" dirty="0">
                          <a:solidFill>
                            <a:schemeClr val="tx1"/>
                          </a:solidFill>
                          <a:latin typeface="Arial" panose="020B0604020202020204" pitchFamily="34" charset="0"/>
                        </a:rPr>
                        <a:t>Where</a:t>
                      </a:r>
                      <a:r>
                        <a:rPr kumimoji="0" lang="ja-JP" altLang="en-US" sz="900" dirty="0">
                          <a:solidFill>
                            <a:schemeClr val="tx1"/>
                          </a:solidFill>
                          <a:latin typeface="Arial" panose="020B0604020202020204" pitchFamily="34" charset="0"/>
                        </a:rPr>
                        <a:t>条件でアクセス可能の文書のみで</a:t>
                      </a:r>
                      <a:r>
                        <a:rPr kumimoji="0" lang="en-US" altLang="ja-JP" sz="900" dirty="0">
                          <a:solidFill>
                            <a:schemeClr val="tx1"/>
                          </a:solidFill>
                          <a:latin typeface="Arial" panose="020B0604020202020204" pitchFamily="34" charset="0"/>
                        </a:rPr>
                        <a:t>Filter</a:t>
                      </a:r>
                      <a:r>
                        <a:rPr kumimoji="0" lang="ja-JP" altLang="en-US" sz="900" dirty="0">
                          <a:solidFill>
                            <a:schemeClr val="tx1"/>
                          </a:solidFill>
                          <a:latin typeface="Arial" panose="020B0604020202020204" pitchFamily="34" charset="0"/>
                        </a:rPr>
                        <a:t>する</a:t>
                      </a:r>
                      <a:endParaRPr kumimoji="0" lang="en-US" altLang="ja-JP" sz="900" dirty="0">
                        <a:solidFill>
                          <a:schemeClr val="tx1"/>
                        </a:solidFill>
                        <a:latin typeface="Arial" panose="020B0604020202020204" pitchFamily="34" charset="0"/>
                      </a:endParaRPr>
                    </a:p>
                    <a:p>
                      <a:pPr marL="628650" marR="0" lvl="1"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ja-JP" altLang="en-US" sz="900" dirty="0">
                          <a:solidFill>
                            <a:schemeClr val="tx1"/>
                          </a:solidFill>
                          <a:latin typeface="Arial" panose="020B0604020202020204" pitchFamily="34" charset="0"/>
                        </a:rPr>
                        <a:t>仕様書の詳細画面直接開く場合、カレントログインユーザのアクセス可否を再度判断する（直接</a:t>
                      </a:r>
                      <a:r>
                        <a:rPr kumimoji="0" lang="en-US" altLang="ja-JP" sz="900" dirty="0" err="1">
                          <a:solidFill>
                            <a:schemeClr val="tx1"/>
                          </a:solidFill>
                          <a:latin typeface="Arial" panose="020B0604020202020204" pitchFamily="34" charset="0"/>
                        </a:rPr>
                        <a:t>Url</a:t>
                      </a:r>
                      <a:r>
                        <a:rPr kumimoji="0" lang="ja-JP" altLang="en-US" sz="900" dirty="0">
                          <a:solidFill>
                            <a:schemeClr val="tx1"/>
                          </a:solidFill>
                          <a:latin typeface="Arial" panose="020B0604020202020204" pitchFamily="34" charset="0"/>
                        </a:rPr>
                        <a:t>修正で不正アクセスを避ける）</a:t>
                      </a:r>
                    </a:p>
                    <a:p>
                      <a:pPr marL="628650" marR="0" lvl="1"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altLang="ja-JP" sz="900" dirty="0">
                          <a:latin typeface="Arial" panose="020B0604020202020204" pitchFamily="34" charset="0"/>
                        </a:rPr>
                        <a:t>MCC</a:t>
                      </a:r>
                      <a:r>
                        <a:rPr kumimoji="0" lang="ja-JP" altLang="en-US" sz="900" dirty="0">
                          <a:latin typeface="Arial" panose="020B0604020202020204" pitchFamily="34" charset="0"/>
                        </a:rPr>
                        <a:t>様社内の共通リスト（社員情報マスタ、組織情報マスタ）を利用し、既存資産を活用する</a:t>
                      </a:r>
                      <a:endParaRPr kumimoji="0" lang="en-US" altLang="ja-JP" sz="900" dirty="0">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ja-JP" sz="900" dirty="0">
                          <a:latin typeface="Arial" panose="020B0604020202020204" pitchFamily="34" charset="0"/>
                        </a:rPr>
                        <a:t>※</a:t>
                      </a:r>
                      <a:r>
                        <a:rPr kumimoji="0" lang="ja-JP" altLang="en-US" sz="900" dirty="0">
                          <a:latin typeface="Arial" panose="020B0604020202020204" pitchFamily="34" charset="0"/>
                        </a:rPr>
                        <a:t>　実現案の一例であり、今回案件の組織定義・権限管理粒度に合わせて設計フェーズに、詳細化する予定</a:t>
                      </a:r>
                      <a:endParaRPr kumimoji="0" lang="en-US" altLang="ja-JP"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altLang="zh-CN" sz="900" dirty="0">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altLang="zh-CN" sz="900" dirty="0">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zh-CN" altLang="zh-CN" sz="900" dirty="0">
                        <a:latin typeface="Arial" panose="020B0604020202020204" pitchFamily="34" charset="0"/>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58281788"/>
                  </a:ext>
                </a:extLst>
              </a:tr>
              <a:tr h="130764">
                <a:tc vMerge="1">
                  <a:txBody>
                    <a:bodyPr/>
                    <a:lstStyle/>
                    <a:p>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複数ユーザ、組織へユーザグループ単位で権限管理</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279690395"/>
                  </a:ext>
                </a:extLst>
              </a:tr>
              <a:tr h="239330">
                <a:tc vMerge="1">
                  <a:txBody>
                    <a:bodyPr/>
                    <a:lstStyle/>
                    <a:p>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0" fontAlgn="base" latinLnBrk="0" hangingPunct="0">
                        <a:lnSpc>
                          <a:spcPct val="100000"/>
                        </a:lnSpc>
                        <a:spcBef>
                          <a:spcPct val="0"/>
                        </a:spcBef>
                        <a:spcAft>
                          <a:spcPct val="0"/>
                        </a:spcAft>
                        <a:buClrTx/>
                        <a:buSzTx/>
                        <a:buFont typeface="+mj-lt"/>
                        <a:buNone/>
                        <a:tabLst/>
                        <a:defRPr/>
                      </a:pPr>
                      <a:r>
                        <a:rPr kumimoji="0" lang="ja-JP" altLang="en-US" sz="900" kern="1200" dirty="0">
                          <a:solidFill>
                            <a:schemeClr val="tx1"/>
                          </a:solidFill>
                          <a:latin typeface="Arial" panose="020B0604020202020204" pitchFamily="34" charset="0"/>
                          <a:ea typeface="+mn-ea"/>
                          <a:cs typeface="+mn-cs"/>
                        </a:rPr>
                        <a:t>検索機能に、権限の与える仕様書のみが検索結果に含まる</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817482234"/>
                  </a:ext>
                </a:extLst>
              </a:tr>
              <a:tr h="2669735">
                <a:tc vMerge="1">
                  <a:txBody>
                    <a:bodyPr/>
                    <a:lstStyle/>
                    <a:p>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lvl="0" indent="0" eaLnBrk="0" fontAlgn="base" hangingPunct="0">
                        <a:spcBef>
                          <a:spcPct val="0"/>
                        </a:spcBef>
                        <a:spcAft>
                          <a:spcPct val="0"/>
                        </a:spcAft>
                        <a:buFont typeface="+mj-lt"/>
                        <a:buNone/>
                      </a:pP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vMerge="1">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901283258"/>
                  </a:ext>
                </a:extLst>
              </a:tr>
              <a:tr h="239330">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b="1" kern="1200" dirty="0">
                          <a:solidFill>
                            <a:schemeClr val="tx1"/>
                          </a:solidFill>
                          <a:latin typeface="Arial" panose="020B0604020202020204" pitchFamily="34" charset="0"/>
                          <a:ea typeface="+mn-ea"/>
                          <a:cs typeface="+mn-cs"/>
                        </a:rPr>
                        <a:t>添付ファイルの権限制限</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添付ファイルのアクセス権限（</a:t>
                      </a:r>
                      <a:r>
                        <a:rPr kumimoji="0" lang="en-US" altLang="ja-JP" sz="900" kern="1200" dirty="0">
                          <a:solidFill>
                            <a:schemeClr val="tx1"/>
                          </a:solidFill>
                          <a:latin typeface="Arial" panose="020B0604020202020204" pitchFamily="34" charset="0"/>
                          <a:ea typeface="+mn-ea"/>
                          <a:cs typeface="+mn-cs"/>
                        </a:rPr>
                        <a:t>SPO</a:t>
                      </a:r>
                      <a:r>
                        <a:rPr kumimoji="0" lang="ja-JP" altLang="en-US" sz="900" kern="1200" dirty="0">
                          <a:solidFill>
                            <a:schemeClr val="tx1"/>
                          </a:solidFill>
                          <a:latin typeface="Arial" panose="020B0604020202020204" pitchFamily="34" charset="0"/>
                          <a:ea typeface="+mn-ea"/>
                          <a:cs typeface="+mn-cs"/>
                        </a:rPr>
                        <a:t>ファイルの権限設定）は紐付く仕様書の権限に従う</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rowSpan="3">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altLang="ja-JP" sz="900" b="1" dirty="0">
                          <a:solidFill>
                            <a:srgbClr val="0070C0"/>
                          </a:solidFill>
                        </a:rPr>
                        <a:t>SPO</a:t>
                      </a:r>
                      <a:r>
                        <a:rPr lang="ja-JP" altLang="en-US" sz="900" b="1" dirty="0">
                          <a:solidFill>
                            <a:srgbClr val="0070C0"/>
                          </a:solidFill>
                        </a:rPr>
                        <a:t>に保存されている添付ファイルのアクセス権限（</a:t>
                      </a:r>
                      <a:r>
                        <a:rPr lang="en-US" altLang="ja-JP" sz="900" b="1" dirty="0">
                          <a:solidFill>
                            <a:srgbClr val="0070C0"/>
                          </a:solidFill>
                        </a:rPr>
                        <a:t>Read/Edit/</a:t>
                      </a:r>
                      <a:r>
                        <a:rPr lang="en-US" altLang="ja-JP" sz="900" b="1" dirty="0" err="1">
                          <a:solidFill>
                            <a:srgbClr val="0070C0"/>
                          </a:solidFill>
                        </a:rPr>
                        <a:t>Downoad</a:t>
                      </a:r>
                      <a:r>
                        <a:rPr lang="ja-JP" altLang="en-US" sz="900" b="1" dirty="0">
                          <a:solidFill>
                            <a:srgbClr val="0070C0"/>
                          </a:solidFill>
                        </a:rPr>
                        <a:t>）は、</a:t>
                      </a:r>
                      <a:r>
                        <a:rPr lang="en-US" altLang="ja-JP" sz="900" b="1" dirty="0">
                          <a:solidFill>
                            <a:srgbClr val="0070C0"/>
                          </a:solidFill>
                        </a:rPr>
                        <a:t>SPO</a:t>
                      </a:r>
                      <a:r>
                        <a:rPr lang="ja-JP" altLang="en-US" sz="900" b="1" dirty="0">
                          <a:solidFill>
                            <a:srgbClr val="0070C0"/>
                          </a:solidFill>
                        </a:rPr>
                        <a:t>に直接にアクセスするときも有効にすることで、添付ファイル</a:t>
                      </a:r>
                      <a:r>
                        <a:rPr lang="en-US" altLang="ja-JP" sz="900" b="1" dirty="0">
                          <a:solidFill>
                            <a:srgbClr val="0070C0"/>
                          </a:solidFill>
                        </a:rPr>
                        <a:t>Upload</a:t>
                      </a:r>
                      <a:r>
                        <a:rPr lang="ja-JP" altLang="en-US" sz="900" b="1" dirty="0">
                          <a:solidFill>
                            <a:srgbClr val="0070C0"/>
                          </a:solidFill>
                        </a:rPr>
                        <a:t>する時に対象添付ファイルに対して仕様書に定義したアクセス権限を設定することで制約できます。</a:t>
                      </a:r>
                      <a:endParaRPr lang="en-US" altLang="ja-JP" sz="900" b="1" dirty="0">
                        <a:solidFill>
                          <a:srgbClr val="0070C0"/>
                        </a:solidFill>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chemeClr val="tx1"/>
                          </a:solidFill>
                          <a:latin typeface="Arial" panose="020B0604020202020204" pitchFamily="34" charset="0"/>
                          <a:ea typeface="+mn-ea"/>
                          <a:cs typeface="+mn-cs"/>
                        </a:rPr>
                        <a:t>仕様書（</a:t>
                      </a:r>
                      <a:r>
                        <a:rPr kumimoji="0" lang="en-US" altLang="ja-JP" sz="900" kern="1200" dirty="0">
                          <a:solidFill>
                            <a:schemeClr val="tx1"/>
                          </a:solidFill>
                          <a:latin typeface="Arial" panose="020B0604020202020204" pitchFamily="34" charset="0"/>
                          <a:ea typeface="+mn-ea"/>
                          <a:cs typeface="+mn-cs"/>
                        </a:rPr>
                        <a:t>Table </a:t>
                      </a:r>
                      <a:r>
                        <a:rPr kumimoji="0" lang="ja-JP" altLang="en-US" sz="900" kern="1200" dirty="0">
                          <a:solidFill>
                            <a:schemeClr val="tx1"/>
                          </a:solidFill>
                          <a:latin typeface="Arial" panose="020B0604020202020204" pitchFamily="34" charset="0"/>
                          <a:ea typeface="+mn-ea"/>
                          <a:cs typeface="+mn-cs"/>
                        </a:rPr>
                        <a:t>レコード）新規登録</a:t>
                      </a:r>
                      <a:r>
                        <a:rPr kumimoji="0" lang="en-US" altLang="ja-JP" sz="900" kern="1200" dirty="0">
                          <a:solidFill>
                            <a:schemeClr val="tx1"/>
                          </a:solidFill>
                          <a:latin typeface="Arial" panose="020B0604020202020204" pitchFamily="34" charset="0"/>
                          <a:ea typeface="+mn-ea"/>
                          <a:cs typeface="+mn-cs"/>
                        </a:rPr>
                        <a:t>/</a:t>
                      </a:r>
                      <a:r>
                        <a:rPr kumimoji="0" lang="ja-JP" altLang="en-US" sz="900" kern="1200" dirty="0">
                          <a:solidFill>
                            <a:schemeClr val="tx1"/>
                          </a:solidFill>
                          <a:latin typeface="Arial" panose="020B0604020202020204" pitchFamily="34" charset="0"/>
                          <a:ea typeface="+mn-ea"/>
                          <a:cs typeface="+mn-cs"/>
                        </a:rPr>
                        <a:t>編集するときに、添付ファイル</a:t>
                      </a:r>
                      <a:r>
                        <a:rPr kumimoji="0" lang="en-US" altLang="ja-JP" sz="900" kern="1200" dirty="0">
                          <a:solidFill>
                            <a:schemeClr val="tx1"/>
                          </a:solidFill>
                          <a:latin typeface="Arial" panose="020B0604020202020204" pitchFamily="34" charset="0"/>
                          <a:ea typeface="+mn-ea"/>
                          <a:cs typeface="+mn-cs"/>
                        </a:rPr>
                        <a:t>Upload</a:t>
                      </a:r>
                      <a:r>
                        <a:rPr kumimoji="0" lang="ja-JP" altLang="en-US" sz="900" kern="1200" dirty="0">
                          <a:solidFill>
                            <a:schemeClr val="tx1"/>
                          </a:solidFill>
                          <a:latin typeface="Arial" panose="020B0604020202020204" pitchFamily="34" charset="0"/>
                          <a:ea typeface="+mn-ea"/>
                          <a:cs typeface="+mn-cs"/>
                        </a:rPr>
                        <a:t>処理に、仕様書の開示権限に従い、</a:t>
                      </a:r>
                      <a:r>
                        <a:rPr kumimoji="0" lang="en-US" altLang="ja-JP" sz="900" kern="1200" dirty="0">
                          <a:solidFill>
                            <a:srgbClr val="FF0000"/>
                          </a:solidFill>
                          <a:latin typeface="Arial" panose="020B0604020202020204" pitchFamily="34" charset="0"/>
                          <a:ea typeface="+mn-ea"/>
                          <a:cs typeface="+mn-cs"/>
                        </a:rPr>
                        <a:t>Upload</a:t>
                      </a:r>
                      <a:r>
                        <a:rPr kumimoji="0" lang="ja-JP" altLang="en-US" sz="900" kern="1200" dirty="0">
                          <a:solidFill>
                            <a:srgbClr val="FF0000"/>
                          </a:solidFill>
                          <a:latin typeface="Arial" panose="020B0604020202020204" pitchFamily="34" charset="0"/>
                          <a:ea typeface="+mn-ea"/>
                          <a:cs typeface="+mn-cs"/>
                        </a:rPr>
                        <a:t>ファイルに該当する権限を付与する</a:t>
                      </a:r>
                      <a:r>
                        <a:rPr kumimoji="0" lang="ja-JP" altLang="en-US" sz="900" kern="1200" dirty="0">
                          <a:solidFill>
                            <a:schemeClr val="tx1"/>
                          </a:solidFill>
                          <a:latin typeface="Arial" panose="020B0604020202020204" pitchFamily="34" charset="0"/>
                          <a:ea typeface="+mn-ea"/>
                          <a:cs typeface="+mn-cs"/>
                        </a:rPr>
                        <a:t>（ファイル</a:t>
                      </a:r>
                      <a:r>
                        <a:rPr kumimoji="0" lang="en-US" altLang="ja-JP" sz="900" kern="1200" dirty="0">
                          <a:solidFill>
                            <a:schemeClr val="tx1"/>
                          </a:solidFill>
                          <a:latin typeface="Arial" panose="020B0604020202020204" pitchFamily="34" charset="0"/>
                          <a:ea typeface="+mn-ea"/>
                          <a:cs typeface="+mn-cs"/>
                        </a:rPr>
                        <a:t>Owner:</a:t>
                      </a:r>
                      <a:r>
                        <a:rPr kumimoji="0" lang="ja-JP" altLang="en-US" sz="900" kern="1200" dirty="0">
                          <a:solidFill>
                            <a:schemeClr val="tx1"/>
                          </a:solidFill>
                          <a:latin typeface="Arial" panose="020B0604020202020204" pitchFamily="34" charset="0"/>
                          <a:ea typeface="+mn-ea"/>
                          <a:cs typeface="+mn-cs"/>
                        </a:rPr>
                        <a:t>専用</a:t>
                      </a:r>
                      <a:r>
                        <a:rPr kumimoji="0" lang="en-US" altLang="ja-JP" sz="900" kern="1200" dirty="0">
                          <a:solidFill>
                            <a:schemeClr val="tx1"/>
                          </a:solidFill>
                          <a:latin typeface="Arial" panose="020B0604020202020204" pitchFamily="34" charset="0"/>
                          <a:ea typeface="+mn-ea"/>
                          <a:cs typeface="+mn-cs"/>
                        </a:rPr>
                        <a:t>system User, </a:t>
                      </a:r>
                      <a:r>
                        <a:rPr kumimoji="0" lang="ja-JP" altLang="en-US" sz="900" kern="1200" dirty="0">
                          <a:solidFill>
                            <a:schemeClr val="tx1"/>
                          </a:solidFill>
                          <a:latin typeface="Arial" panose="020B0604020202020204" pitchFamily="34" charset="0"/>
                          <a:ea typeface="+mn-ea"/>
                          <a:cs typeface="+mn-cs"/>
                        </a:rPr>
                        <a:t>作成者</a:t>
                      </a:r>
                      <a:r>
                        <a:rPr kumimoji="0" lang="en-US" altLang="ja-JP" sz="900" kern="1200" dirty="0">
                          <a:solidFill>
                            <a:schemeClr val="tx1"/>
                          </a:solidFill>
                          <a:latin typeface="Arial" panose="020B0604020202020204" pitchFamily="34" charset="0"/>
                          <a:ea typeface="+mn-ea"/>
                          <a:cs typeface="+mn-cs"/>
                        </a:rPr>
                        <a:t>/Group:</a:t>
                      </a:r>
                      <a:r>
                        <a:rPr kumimoji="0" lang="ja-JP" altLang="en-US" sz="900" kern="1200" dirty="0">
                          <a:solidFill>
                            <a:schemeClr val="tx1"/>
                          </a:solidFill>
                          <a:latin typeface="Arial" panose="020B0604020202020204" pitchFamily="34" charset="0"/>
                          <a:ea typeface="+mn-ea"/>
                          <a:cs typeface="+mn-cs"/>
                        </a:rPr>
                        <a:t>編集可能</a:t>
                      </a:r>
                      <a:r>
                        <a:rPr kumimoji="0" lang="en-US" altLang="ja-JP" sz="900" kern="1200" dirty="0">
                          <a:solidFill>
                            <a:schemeClr val="tx1"/>
                          </a:solidFill>
                          <a:latin typeface="Arial" panose="020B0604020202020204" pitchFamily="34" charset="0"/>
                          <a:ea typeface="+mn-ea"/>
                          <a:cs typeface="+mn-cs"/>
                        </a:rPr>
                        <a:t>,</a:t>
                      </a:r>
                      <a:r>
                        <a:rPr kumimoji="0" lang="ja-JP" altLang="en-US" sz="900" kern="1200" dirty="0">
                          <a:solidFill>
                            <a:schemeClr val="tx1"/>
                          </a:solidFill>
                          <a:latin typeface="Arial" panose="020B0604020202020204" pitchFamily="34" charset="0"/>
                          <a:ea typeface="+mn-ea"/>
                          <a:cs typeface="+mn-cs"/>
                        </a:rPr>
                        <a:t>開示対象：閲覧</a:t>
                      </a:r>
                      <a:r>
                        <a:rPr kumimoji="0" lang="en-US" altLang="ja-JP" sz="900" kern="1200" dirty="0">
                          <a:solidFill>
                            <a:schemeClr val="tx1"/>
                          </a:solidFill>
                          <a:latin typeface="Arial" panose="020B0604020202020204" pitchFamily="34" charset="0"/>
                          <a:ea typeface="+mn-ea"/>
                          <a:cs typeface="+mn-cs"/>
                        </a:rPr>
                        <a:t>+Download</a:t>
                      </a:r>
                      <a:r>
                        <a:rPr kumimoji="0" lang="ja-JP" altLang="en-US" sz="900" kern="1200" dirty="0">
                          <a:solidFill>
                            <a:schemeClr val="tx1"/>
                          </a:solidFill>
                          <a:latin typeface="Arial" panose="020B0604020202020204" pitchFamily="34" charset="0"/>
                          <a:ea typeface="+mn-ea"/>
                          <a:cs typeface="+mn-cs"/>
                        </a:rPr>
                        <a:t>）</a:t>
                      </a:r>
                      <a:endParaRPr kumimoji="0" lang="en-US" altLang="ja-JP" sz="900" kern="1200" dirty="0">
                        <a:solidFill>
                          <a:schemeClr val="tx1"/>
                        </a:solidFill>
                        <a:latin typeface="Arial" panose="020B060402020202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chemeClr val="tx1"/>
                          </a:solidFill>
                          <a:latin typeface="Arial" panose="020B0604020202020204" pitchFamily="34" charset="0"/>
                          <a:ea typeface="+mn-ea"/>
                          <a:cs typeface="+mn-cs"/>
                        </a:rPr>
                        <a:t>仕様書が承認完了の場合、該当する添付ファイルの作成者</a:t>
                      </a:r>
                      <a:r>
                        <a:rPr kumimoji="0" lang="en-US" altLang="ja-JP" sz="900" kern="1200" dirty="0">
                          <a:solidFill>
                            <a:schemeClr val="tx1"/>
                          </a:solidFill>
                          <a:latin typeface="Arial" panose="020B0604020202020204" pitchFamily="34" charset="0"/>
                          <a:ea typeface="+mn-ea"/>
                          <a:cs typeface="+mn-cs"/>
                        </a:rPr>
                        <a:t>/Group</a:t>
                      </a:r>
                      <a:r>
                        <a:rPr kumimoji="0" lang="ja-JP" altLang="en-US" sz="900" kern="1200" dirty="0">
                          <a:solidFill>
                            <a:schemeClr val="tx1"/>
                          </a:solidFill>
                          <a:latin typeface="Arial" panose="020B0604020202020204" pitchFamily="34" charset="0"/>
                          <a:ea typeface="+mn-ea"/>
                          <a:cs typeface="+mn-cs"/>
                        </a:rPr>
                        <a:t>も編集⇒閲覧</a:t>
                      </a:r>
                      <a:r>
                        <a:rPr kumimoji="0" lang="en-US" altLang="ja-JP" sz="900" kern="1200" dirty="0">
                          <a:solidFill>
                            <a:schemeClr val="tx1"/>
                          </a:solidFill>
                          <a:latin typeface="Arial" panose="020B0604020202020204" pitchFamily="34" charset="0"/>
                          <a:ea typeface="+mn-ea"/>
                          <a:cs typeface="+mn-cs"/>
                        </a:rPr>
                        <a:t>+Download</a:t>
                      </a:r>
                      <a:r>
                        <a:rPr kumimoji="0" lang="ja-JP" altLang="en-US" sz="900" kern="1200" dirty="0">
                          <a:solidFill>
                            <a:schemeClr val="tx1"/>
                          </a:solidFill>
                          <a:latin typeface="Arial" panose="020B0604020202020204" pitchFamily="34" charset="0"/>
                          <a:ea typeface="+mn-ea"/>
                          <a:cs typeface="+mn-cs"/>
                        </a:rPr>
                        <a:t>に権限変更</a:t>
                      </a:r>
                      <a:endParaRPr kumimoji="0" lang="en-US" altLang="ja-JP" sz="900" kern="1200" dirty="0">
                        <a:solidFill>
                          <a:schemeClr val="tx1"/>
                        </a:solidFill>
                        <a:latin typeface="Arial" panose="020B060402020202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chemeClr val="tx1"/>
                          </a:solidFill>
                          <a:latin typeface="Arial" panose="020B0604020202020204" pitchFamily="34" charset="0"/>
                          <a:ea typeface="+mn-ea"/>
                          <a:cs typeface="+mn-cs"/>
                        </a:rPr>
                        <a:t>権限</a:t>
                      </a:r>
                      <a:r>
                        <a:rPr kumimoji="0" lang="en-US" altLang="ja-JP" sz="900" kern="1200" dirty="0">
                          <a:solidFill>
                            <a:schemeClr val="tx1"/>
                          </a:solidFill>
                          <a:latin typeface="Arial" panose="020B0604020202020204" pitchFamily="34" charset="0"/>
                          <a:ea typeface="+mn-ea"/>
                          <a:cs typeface="+mn-cs"/>
                        </a:rPr>
                        <a:t>Group(Azure AD</a:t>
                      </a:r>
                      <a:r>
                        <a:rPr kumimoji="0" lang="ja-JP" altLang="en-US" sz="900" kern="1200" dirty="0">
                          <a:solidFill>
                            <a:schemeClr val="tx1"/>
                          </a:solidFill>
                          <a:latin typeface="Arial" panose="020B0604020202020204" pitchFamily="34" charset="0"/>
                          <a:ea typeface="+mn-ea"/>
                          <a:cs typeface="+mn-cs"/>
                        </a:rPr>
                        <a:t>の</a:t>
                      </a:r>
                      <a:r>
                        <a:rPr kumimoji="0" lang="en-US" altLang="ja-JP" sz="900" kern="1200" dirty="0">
                          <a:solidFill>
                            <a:schemeClr val="tx1"/>
                          </a:solidFill>
                          <a:latin typeface="Arial" panose="020B0604020202020204" pitchFamily="34" charset="0"/>
                          <a:ea typeface="+mn-ea"/>
                          <a:cs typeface="+mn-cs"/>
                        </a:rPr>
                        <a:t>Security Group</a:t>
                      </a:r>
                      <a:r>
                        <a:rPr kumimoji="0" lang="ja-JP" altLang="en-US" sz="900" kern="1200" dirty="0">
                          <a:solidFill>
                            <a:schemeClr val="tx1"/>
                          </a:solidFill>
                          <a:latin typeface="Arial" panose="020B0604020202020204" pitchFamily="34" charset="0"/>
                          <a:ea typeface="+mn-ea"/>
                          <a:cs typeface="+mn-cs"/>
                        </a:rPr>
                        <a:t>ではなく、</a:t>
                      </a:r>
                      <a:r>
                        <a:rPr kumimoji="0" lang="en-US" altLang="ja-JP" sz="900" kern="1200" dirty="0">
                          <a:solidFill>
                            <a:schemeClr val="tx1"/>
                          </a:solidFill>
                          <a:latin typeface="Arial" panose="020B0604020202020204" pitchFamily="34" charset="0"/>
                          <a:ea typeface="+mn-ea"/>
                          <a:cs typeface="+mn-cs"/>
                        </a:rPr>
                        <a:t>DB</a:t>
                      </a:r>
                      <a:r>
                        <a:rPr kumimoji="0" lang="ja-JP" altLang="en-US" sz="900" kern="1200" dirty="0">
                          <a:solidFill>
                            <a:schemeClr val="tx1"/>
                          </a:solidFill>
                          <a:latin typeface="Arial" panose="020B0604020202020204" pitchFamily="34" charset="0"/>
                          <a:ea typeface="+mn-ea"/>
                          <a:cs typeface="+mn-cs"/>
                        </a:rPr>
                        <a:t>で管理される権限</a:t>
                      </a:r>
                      <a:r>
                        <a:rPr kumimoji="0" lang="en-US" altLang="ja-JP" sz="900" kern="1200" dirty="0">
                          <a:solidFill>
                            <a:schemeClr val="tx1"/>
                          </a:solidFill>
                          <a:latin typeface="Arial" panose="020B0604020202020204" pitchFamily="34" charset="0"/>
                          <a:ea typeface="+mn-ea"/>
                          <a:cs typeface="+mn-cs"/>
                        </a:rPr>
                        <a:t>Group)</a:t>
                      </a:r>
                      <a:r>
                        <a:rPr kumimoji="0" lang="ja-JP" altLang="en-US" sz="900" kern="1200" dirty="0">
                          <a:solidFill>
                            <a:schemeClr val="tx1"/>
                          </a:solidFill>
                          <a:latin typeface="Arial" panose="020B0604020202020204" pitchFamily="34" charset="0"/>
                          <a:ea typeface="+mn-ea"/>
                          <a:cs typeface="+mn-cs"/>
                        </a:rPr>
                        <a:t>が変更されるときに、すでに登録済みの関係仕様書（</a:t>
                      </a:r>
                      <a:r>
                        <a:rPr kumimoji="0" lang="en-US" altLang="ja-JP" sz="900" kern="1200" dirty="0">
                          <a:solidFill>
                            <a:schemeClr val="tx1"/>
                          </a:solidFill>
                          <a:latin typeface="Arial" panose="020B0604020202020204" pitchFamily="34" charset="0"/>
                          <a:ea typeface="+mn-ea"/>
                          <a:cs typeface="+mn-cs"/>
                        </a:rPr>
                        <a:t>Table</a:t>
                      </a:r>
                      <a:r>
                        <a:rPr kumimoji="0" lang="ja-JP" altLang="en-US" sz="900" kern="1200" dirty="0">
                          <a:solidFill>
                            <a:schemeClr val="tx1"/>
                          </a:solidFill>
                          <a:latin typeface="Arial" panose="020B0604020202020204" pitchFamily="34" charset="0"/>
                          <a:ea typeface="+mn-ea"/>
                          <a:cs typeface="+mn-cs"/>
                        </a:rPr>
                        <a:t>レコード）の添付ファイルに対して、承認フローの状態により</a:t>
                      </a:r>
                      <a:r>
                        <a:rPr kumimoji="0" lang="en-US" altLang="ja-JP" sz="900" kern="1200" dirty="0">
                          <a:solidFill>
                            <a:schemeClr val="tx1"/>
                          </a:solidFill>
                          <a:latin typeface="Arial" panose="020B0604020202020204" pitchFamily="34" charset="0"/>
                          <a:ea typeface="+mn-ea"/>
                          <a:cs typeface="+mn-cs"/>
                        </a:rPr>
                        <a:t>No.1/No.2</a:t>
                      </a:r>
                      <a:r>
                        <a:rPr kumimoji="0" lang="ja-JP" altLang="en-US" sz="900" kern="1200" dirty="0">
                          <a:solidFill>
                            <a:schemeClr val="tx1"/>
                          </a:solidFill>
                          <a:latin typeface="Arial" panose="020B0604020202020204" pitchFamily="34" charset="0"/>
                          <a:ea typeface="+mn-ea"/>
                          <a:cs typeface="+mn-cs"/>
                        </a:rPr>
                        <a:t>で再度権限を設定</a:t>
                      </a:r>
                      <a:r>
                        <a:rPr kumimoji="0" lang="ja-JP" altLang="en-US" sz="900" b="1" kern="1200" dirty="0">
                          <a:solidFill>
                            <a:srgbClr val="FF0000"/>
                          </a:solidFill>
                          <a:latin typeface="Arial" panose="020B0604020202020204" pitchFamily="34" charset="0"/>
                          <a:ea typeface="+mn-ea"/>
                          <a:cs typeface="+mn-cs"/>
                        </a:rPr>
                        <a:t>（この処理のパフォーマンス（時間）を考慮して、非同期処理方式を採用する）</a:t>
                      </a:r>
                      <a:endParaRPr kumimoji="0" lang="en-US" altLang="ja-JP" sz="900" b="1" kern="1200" dirty="0">
                        <a:solidFill>
                          <a:srgbClr val="FF0000"/>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15025090"/>
                  </a:ext>
                </a:extLst>
              </a:tr>
              <a:tr h="267951">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アクセス権限のある仕様書（</a:t>
                      </a:r>
                      <a:r>
                        <a:rPr kumimoji="0" lang="en-US" altLang="ja-JP" sz="900" kern="1200" dirty="0">
                          <a:solidFill>
                            <a:schemeClr val="tx1"/>
                          </a:solidFill>
                          <a:latin typeface="Arial" panose="020B0604020202020204" pitchFamily="34" charset="0"/>
                          <a:ea typeface="+mn-ea"/>
                          <a:cs typeface="+mn-cs"/>
                        </a:rPr>
                        <a:t>Table record</a:t>
                      </a:r>
                      <a:r>
                        <a:rPr kumimoji="0" lang="ja-JP" altLang="en-US" sz="900" kern="1200" dirty="0">
                          <a:solidFill>
                            <a:schemeClr val="tx1"/>
                          </a:solidFill>
                          <a:latin typeface="Arial" panose="020B0604020202020204" pitchFamily="34" charset="0"/>
                          <a:ea typeface="+mn-ea"/>
                          <a:cs typeface="+mn-cs"/>
                        </a:rPr>
                        <a:t>）と添付ファイルのみは検索結果対象とする</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vMerge="1">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972437489"/>
                  </a:ext>
                </a:extLst>
              </a:tr>
              <a:tr h="274875">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仕様書（</a:t>
                      </a:r>
                      <a:r>
                        <a:rPr kumimoji="0" lang="en-US" altLang="ja-JP" sz="900" kern="1200" dirty="0">
                          <a:solidFill>
                            <a:schemeClr val="tx1"/>
                          </a:solidFill>
                          <a:latin typeface="Arial" panose="020B0604020202020204" pitchFamily="34" charset="0"/>
                          <a:ea typeface="+mn-ea"/>
                          <a:cs typeface="+mn-cs"/>
                        </a:rPr>
                        <a:t>Table record</a:t>
                      </a:r>
                      <a:r>
                        <a:rPr kumimoji="0" lang="ja-JP" altLang="en-US" sz="900" kern="1200" dirty="0">
                          <a:solidFill>
                            <a:schemeClr val="tx1"/>
                          </a:solidFill>
                          <a:latin typeface="Arial" panose="020B0604020202020204" pitchFamily="34" charset="0"/>
                          <a:ea typeface="+mn-ea"/>
                          <a:cs typeface="+mn-cs"/>
                        </a:rPr>
                        <a:t>）に公開権限が変更された場合、すでに</a:t>
                      </a:r>
                      <a:r>
                        <a:rPr kumimoji="0" lang="en-US" altLang="ja-JP" sz="900" kern="1200" dirty="0">
                          <a:solidFill>
                            <a:schemeClr val="tx1"/>
                          </a:solidFill>
                          <a:latin typeface="Arial" panose="020B0604020202020204" pitchFamily="34" charset="0"/>
                          <a:ea typeface="+mn-ea"/>
                          <a:cs typeface="+mn-cs"/>
                        </a:rPr>
                        <a:t>Upload</a:t>
                      </a:r>
                      <a:r>
                        <a:rPr kumimoji="0" lang="ja-JP" altLang="en-US" sz="900" kern="1200" dirty="0">
                          <a:solidFill>
                            <a:schemeClr val="tx1"/>
                          </a:solidFill>
                          <a:latin typeface="Arial" panose="020B0604020202020204" pitchFamily="34" charset="0"/>
                          <a:ea typeface="+mn-ea"/>
                          <a:cs typeface="+mn-cs"/>
                        </a:rPr>
                        <a:t>済のファイルに対して、個別権限処理</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277697783"/>
                  </a:ext>
                </a:extLst>
              </a:tr>
            </a:tbl>
          </a:graphicData>
        </a:graphic>
      </p:graphicFrame>
      <p:pic>
        <p:nvPicPr>
          <p:cNvPr id="4" name="図 3">
            <a:extLst>
              <a:ext uri="{FF2B5EF4-FFF2-40B4-BE49-F238E27FC236}">
                <a16:creationId xmlns:a16="http://schemas.microsoft.com/office/drawing/2014/main" id="{789371F3-936E-B9E1-D075-335627DB929E}"/>
              </a:ext>
            </a:extLst>
          </p:cNvPr>
          <p:cNvPicPr>
            <a:picLocks noChangeAspect="1"/>
          </p:cNvPicPr>
          <p:nvPr/>
        </p:nvPicPr>
        <p:blipFill>
          <a:blip r:embed="rId3"/>
          <a:stretch>
            <a:fillRect/>
          </a:stretch>
        </p:blipFill>
        <p:spPr>
          <a:xfrm>
            <a:off x="6405579" y="2591925"/>
            <a:ext cx="4814316" cy="2459878"/>
          </a:xfrm>
          <a:prstGeom prst="rect">
            <a:avLst/>
          </a:prstGeom>
        </p:spPr>
      </p:pic>
      <p:pic>
        <p:nvPicPr>
          <p:cNvPr id="1026" name="Picture 2" descr="Share SharePoint files or folders - Microsoft Support">
            <a:extLst>
              <a:ext uri="{FF2B5EF4-FFF2-40B4-BE49-F238E27FC236}">
                <a16:creationId xmlns:a16="http://schemas.microsoft.com/office/drawing/2014/main" id="{F06D48CA-BC62-02F8-29DC-D269FD6F3A6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8494" y="4417533"/>
            <a:ext cx="1630880" cy="1205977"/>
          </a:xfrm>
          <a:prstGeom prst="rect">
            <a:avLst/>
          </a:prstGeom>
          <a:noFill/>
          <a:extLst>
            <a:ext uri="{909E8E84-426E-40DD-AFC4-6F175D3DCCD1}">
              <a14:hiddenFill xmlns:a14="http://schemas.microsoft.com/office/drawing/2010/main">
                <a:solidFill>
                  <a:srgbClr val="FFFFFF"/>
                </a:solidFill>
              </a14:hiddenFill>
            </a:ext>
          </a:extLst>
        </p:spPr>
      </p:pic>
      <p:sp>
        <p:nvSpPr>
          <p:cNvPr id="18" name="矢印: 下 17">
            <a:extLst>
              <a:ext uri="{FF2B5EF4-FFF2-40B4-BE49-F238E27FC236}">
                <a16:creationId xmlns:a16="http://schemas.microsoft.com/office/drawing/2014/main" id="{949B0A6D-60BC-E983-E991-6B0AC3B687FE}"/>
              </a:ext>
            </a:extLst>
          </p:cNvPr>
          <p:cNvSpPr/>
          <p:nvPr/>
        </p:nvSpPr>
        <p:spPr>
          <a:xfrm>
            <a:off x="1667540" y="3669732"/>
            <a:ext cx="181695" cy="1205977"/>
          </a:xfrm>
          <a:prstGeom prst="downArrow">
            <a:avLst/>
          </a:prstGeom>
          <a:solidFill>
            <a:schemeClr val="accent3">
              <a:alpha val="50000"/>
            </a:schemeClr>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ja-JP" altLang="en-US"/>
          </a:p>
        </p:txBody>
      </p:sp>
      <p:sp>
        <p:nvSpPr>
          <p:cNvPr id="6" name="テキスト ボックス 5">
            <a:extLst>
              <a:ext uri="{FF2B5EF4-FFF2-40B4-BE49-F238E27FC236}">
                <a16:creationId xmlns:a16="http://schemas.microsoft.com/office/drawing/2014/main" id="{985B5FA5-1D14-A2BC-C281-E5CC22E4ED5D}"/>
              </a:ext>
            </a:extLst>
          </p:cNvPr>
          <p:cNvSpPr txBox="1"/>
          <p:nvPr/>
        </p:nvSpPr>
        <p:spPr>
          <a:xfrm>
            <a:off x="1758387" y="3923308"/>
            <a:ext cx="2616295" cy="553998"/>
          </a:xfrm>
          <a:prstGeom prst="rect">
            <a:avLst/>
          </a:prstGeom>
          <a:noFill/>
        </p:spPr>
        <p:txBody>
          <a:bodyPr wrap="square">
            <a:spAutoFit/>
          </a:bodyPr>
          <a:lstStyle/>
          <a:p>
            <a:r>
              <a:rPr kumimoji="0" lang="ja-JP" altLang="en-US" sz="900" dirty="0">
                <a:solidFill>
                  <a:srgbClr val="FF0000"/>
                </a:solidFill>
                <a:latin typeface="Arial" panose="020B0604020202020204" pitchFamily="34" charset="0"/>
              </a:rPr>
              <a:t>添付ファイルのアクセス権限は</a:t>
            </a:r>
            <a:endParaRPr kumimoji="0" lang="en-US" altLang="ja-JP" sz="900" dirty="0">
              <a:solidFill>
                <a:srgbClr val="FF0000"/>
              </a:solidFill>
              <a:latin typeface="Arial" panose="020B0604020202020204" pitchFamily="34" charset="0"/>
            </a:endParaRPr>
          </a:p>
          <a:p>
            <a:r>
              <a:rPr kumimoji="0" lang="ja-JP" altLang="en-US" sz="900" dirty="0">
                <a:solidFill>
                  <a:srgbClr val="FF0000"/>
                </a:solidFill>
                <a:latin typeface="Arial" panose="020B0604020202020204" pitchFamily="34" charset="0"/>
              </a:rPr>
              <a:t>紐付く仕様書のアクセス権限に従う</a:t>
            </a:r>
            <a:endParaRPr kumimoji="0" lang="en-US" altLang="ja-JP" sz="900" dirty="0">
              <a:solidFill>
                <a:srgbClr val="FF0000"/>
              </a:solidFill>
              <a:latin typeface="Arial" panose="020B0604020202020204" pitchFamily="34" charset="0"/>
            </a:endParaRPr>
          </a:p>
          <a:p>
            <a:r>
              <a:rPr kumimoji="0" lang="en-US" altLang="ja-JP" sz="600" dirty="0">
                <a:solidFill>
                  <a:srgbClr val="FF0000"/>
                </a:solidFill>
                <a:latin typeface="Arial" panose="020B0604020202020204" pitchFamily="34" charset="0"/>
              </a:rPr>
              <a:t>※ SPO </a:t>
            </a:r>
            <a:r>
              <a:rPr kumimoji="0" lang="ja-JP" altLang="en-US" sz="600" dirty="0">
                <a:solidFill>
                  <a:srgbClr val="FF0000"/>
                </a:solidFill>
                <a:latin typeface="Arial" panose="020B0604020202020204" pitchFamily="34" charset="0"/>
              </a:rPr>
              <a:t>には</a:t>
            </a:r>
            <a:r>
              <a:rPr kumimoji="0" lang="en-US" altLang="ja-JP" sz="600" dirty="0">
                <a:solidFill>
                  <a:srgbClr val="FF0000"/>
                </a:solidFill>
                <a:latin typeface="Arial" panose="020B0604020202020204" pitchFamily="34" charset="0"/>
              </a:rPr>
              <a:t> DB</a:t>
            </a:r>
            <a:r>
              <a:rPr kumimoji="0" lang="ja-JP" altLang="en-US" sz="600" dirty="0">
                <a:solidFill>
                  <a:srgbClr val="FF0000"/>
                </a:solidFill>
                <a:latin typeface="Arial" panose="020B0604020202020204" pitchFamily="34" charset="0"/>
              </a:rPr>
              <a:t>に定義された権限グループにないため、権限グループ所属する</a:t>
            </a:r>
            <a:r>
              <a:rPr kumimoji="0" lang="ja-JP" altLang="en-US" sz="600" b="1" u="sng" dirty="0">
                <a:solidFill>
                  <a:srgbClr val="FF0000"/>
                </a:solidFill>
                <a:latin typeface="Arial" panose="020B0604020202020204" pitchFamily="34" charset="0"/>
              </a:rPr>
              <a:t>すべてのユーザ</a:t>
            </a:r>
            <a:r>
              <a:rPr kumimoji="0" lang="ja-JP" altLang="en-US" sz="600" dirty="0">
                <a:solidFill>
                  <a:srgbClr val="FF0000"/>
                </a:solidFill>
                <a:latin typeface="Arial" panose="020B0604020202020204" pitchFamily="34" charset="0"/>
              </a:rPr>
              <a:t>に対して個別権限を付与する</a:t>
            </a:r>
          </a:p>
        </p:txBody>
      </p:sp>
      <p:pic>
        <p:nvPicPr>
          <p:cNvPr id="5" name="図 4">
            <a:extLst>
              <a:ext uri="{FF2B5EF4-FFF2-40B4-BE49-F238E27FC236}">
                <a16:creationId xmlns:a16="http://schemas.microsoft.com/office/drawing/2014/main" id="{0BFE3A5F-4E33-B81C-E1B2-0CD0F7459078}"/>
              </a:ext>
            </a:extLst>
          </p:cNvPr>
          <p:cNvPicPr>
            <a:picLocks noChangeAspect="1"/>
          </p:cNvPicPr>
          <p:nvPr/>
        </p:nvPicPr>
        <p:blipFill>
          <a:blip r:embed="rId5"/>
          <a:stretch>
            <a:fillRect/>
          </a:stretch>
        </p:blipFill>
        <p:spPr>
          <a:xfrm>
            <a:off x="412951" y="2525826"/>
            <a:ext cx="2383990" cy="1299361"/>
          </a:xfrm>
          <a:prstGeom prst="rect">
            <a:avLst/>
          </a:prstGeom>
        </p:spPr>
      </p:pic>
    </p:spTree>
    <p:extLst>
      <p:ext uri="{BB962C8B-B14F-4D97-AF65-F5344CB8AC3E}">
        <p14:creationId xmlns:p14="http://schemas.microsoft.com/office/powerpoint/2010/main" val="7651735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5E855-8A62-0A1B-98AF-DFC2CC659B2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DBE280D-3950-F734-B87F-94DD25C7A3F9}"/>
              </a:ext>
            </a:extLst>
          </p:cNvPr>
          <p:cNvSpPr>
            <a:spLocks noGrp="1"/>
          </p:cNvSpPr>
          <p:nvPr>
            <p:ph type="title"/>
          </p:nvPr>
        </p:nvSpPr>
        <p:spPr>
          <a:xfrm>
            <a:off x="414336" y="255263"/>
            <a:ext cx="9327072" cy="683629"/>
          </a:xfrm>
        </p:spPr>
        <p:txBody>
          <a:bodyPr>
            <a:normAutofit/>
          </a:bodyPr>
          <a:lstStyle/>
          <a:p>
            <a:r>
              <a:rPr lang="ja-JP" altLang="en-US" dirty="0"/>
              <a:t>要件／ソリューション－検索機能</a:t>
            </a:r>
          </a:p>
        </p:txBody>
      </p:sp>
      <p:sp>
        <p:nvSpPr>
          <p:cNvPr id="5" name="Rectangle 1">
            <a:extLst>
              <a:ext uri="{FF2B5EF4-FFF2-40B4-BE49-F238E27FC236}">
                <a16:creationId xmlns:a16="http://schemas.microsoft.com/office/drawing/2014/main" id="{42A14819-5FD1-0839-145E-66EAAD48AD2E}"/>
              </a:ext>
            </a:extLst>
          </p:cNvPr>
          <p:cNvSpPr>
            <a:spLocks noChangeArrowheads="1"/>
          </p:cNvSpPr>
          <p:nvPr/>
        </p:nvSpPr>
        <p:spPr bwMode="auto">
          <a:xfrm>
            <a:off x="3233738" y="20161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ja-JP" altLang="en-US"/>
          </a:p>
        </p:txBody>
      </p:sp>
      <p:graphicFrame>
        <p:nvGraphicFramePr>
          <p:cNvPr id="3" name="表 2">
            <a:extLst>
              <a:ext uri="{FF2B5EF4-FFF2-40B4-BE49-F238E27FC236}">
                <a16:creationId xmlns:a16="http://schemas.microsoft.com/office/drawing/2014/main" id="{EF0BA90B-B478-1CC0-7733-B06E25EFC338}"/>
              </a:ext>
            </a:extLst>
          </p:cNvPr>
          <p:cNvGraphicFramePr>
            <a:graphicFrameLocks noGrp="1"/>
          </p:cNvGraphicFramePr>
          <p:nvPr>
            <p:extLst>
              <p:ext uri="{D42A27DB-BD31-4B8C-83A1-F6EECF244321}">
                <p14:modId xmlns:p14="http://schemas.microsoft.com/office/powerpoint/2010/main" val="449688345"/>
              </p:ext>
            </p:extLst>
          </p:nvPr>
        </p:nvGraphicFramePr>
        <p:xfrm>
          <a:off x="453572" y="867273"/>
          <a:ext cx="11284856" cy="5431262"/>
        </p:xfrm>
        <a:graphic>
          <a:graphicData uri="http://schemas.openxmlformats.org/drawingml/2006/table">
            <a:tbl>
              <a:tblPr firstRow="1">
                <a:tableStyleId>{2D5ABB26-0587-4C30-8999-92F81FD0307C}</a:tableStyleId>
              </a:tblPr>
              <a:tblGrid>
                <a:gridCol w="1739204">
                  <a:extLst>
                    <a:ext uri="{9D8B030D-6E8A-4147-A177-3AD203B41FA5}">
                      <a16:colId xmlns:a16="http://schemas.microsoft.com/office/drawing/2014/main" val="307087368"/>
                    </a:ext>
                  </a:extLst>
                </a:gridCol>
                <a:gridCol w="3313944">
                  <a:extLst>
                    <a:ext uri="{9D8B030D-6E8A-4147-A177-3AD203B41FA5}">
                      <a16:colId xmlns:a16="http://schemas.microsoft.com/office/drawing/2014/main" val="1007415991"/>
                    </a:ext>
                  </a:extLst>
                </a:gridCol>
                <a:gridCol w="137777">
                  <a:extLst>
                    <a:ext uri="{9D8B030D-6E8A-4147-A177-3AD203B41FA5}">
                      <a16:colId xmlns:a16="http://schemas.microsoft.com/office/drawing/2014/main" val="78186435"/>
                    </a:ext>
                  </a:extLst>
                </a:gridCol>
                <a:gridCol w="6093931">
                  <a:extLst>
                    <a:ext uri="{9D8B030D-6E8A-4147-A177-3AD203B41FA5}">
                      <a16:colId xmlns:a16="http://schemas.microsoft.com/office/drawing/2014/main" val="467773725"/>
                    </a:ext>
                  </a:extLst>
                </a:gridCol>
              </a:tblGrid>
              <a:tr h="158935">
                <a:tc>
                  <a:txBody>
                    <a:bodyPr/>
                    <a:lstStyle/>
                    <a:p>
                      <a:r>
                        <a:rPr lang="ja-JP" altLang="en-US" sz="1200" dirty="0"/>
                        <a:t>要件</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機能</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t>ソリューション</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ソリューション</a:t>
                      </a:r>
                      <a:endParaRPr lang="en-US" altLang="ja-JP" sz="1200"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607360652"/>
                  </a:ext>
                </a:extLst>
              </a:tr>
              <a:tr h="147451">
                <a:tc>
                  <a:txBody>
                    <a:bodyPr/>
                    <a:lstStyle/>
                    <a:p>
                      <a:r>
                        <a:rPr lang="ja-JP" altLang="en-US" sz="1100" dirty="0"/>
                        <a:t>仕様書の定型データの検索</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定型データ（属性データ）の検索</a:t>
                      </a: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rowSpan="2" gridSpan="2">
                  <a:txBody>
                    <a:bodyPr/>
                    <a:lstStyle/>
                    <a:p>
                      <a:r>
                        <a:rPr kumimoji="0" lang="en-US" altLang="ja-JP" sz="900" dirty="0">
                          <a:latin typeface="Arial" panose="020B0604020202020204" pitchFamily="34" charset="0"/>
                        </a:rPr>
                        <a:t>Azure SQL Table</a:t>
                      </a:r>
                      <a:r>
                        <a:rPr kumimoji="0" lang="ja-JP" altLang="en-US" sz="900" dirty="0">
                          <a:latin typeface="Arial" panose="020B0604020202020204" pitchFamily="34" charset="0"/>
                        </a:rPr>
                        <a:t>の</a:t>
                      </a:r>
                      <a:r>
                        <a:rPr kumimoji="0" lang="en-US" altLang="ja-JP" sz="900" dirty="0">
                          <a:latin typeface="Arial" panose="020B0604020202020204" pitchFamily="34" charset="0"/>
                        </a:rPr>
                        <a:t>Where</a:t>
                      </a:r>
                      <a:r>
                        <a:rPr kumimoji="0" lang="ja-JP" altLang="en-US" sz="900" dirty="0">
                          <a:latin typeface="Arial" panose="020B0604020202020204" pitchFamily="34" charset="0"/>
                        </a:rPr>
                        <a:t>条件で</a:t>
                      </a:r>
                      <a:r>
                        <a:rPr kumimoji="0" lang="en-US" altLang="ja-JP" sz="900" dirty="0">
                          <a:latin typeface="Arial" panose="020B0604020202020204" pitchFamily="34" charset="0"/>
                        </a:rPr>
                        <a:t>Filter</a:t>
                      </a:r>
                      <a:r>
                        <a:rPr kumimoji="0" lang="ja-JP" altLang="en-US" sz="900" dirty="0">
                          <a:solidFill>
                            <a:schemeClr val="tx1"/>
                          </a:solidFill>
                          <a:latin typeface="Arial" panose="020B0604020202020204" pitchFamily="34" charset="0"/>
                        </a:rPr>
                        <a:t>する</a:t>
                      </a:r>
                      <a:r>
                        <a:rPr kumimoji="0" lang="ja-JP" alt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mn-cs"/>
                        </a:rPr>
                        <a:t>ことによってアクセスコントロールできる</a:t>
                      </a:r>
                      <a:endParaRPr kumimoji="0" lang="ja-JP" altLang="en-US" sz="900" dirty="0">
                        <a:solidFill>
                          <a:schemeClr val="tx1"/>
                        </a:solidFill>
                        <a:latin typeface="Arial" panose="020B0604020202020204" pitchFamily="34" charset="0"/>
                      </a:endParaRPr>
                    </a:p>
                  </a:txBody>
                  <a:tcPr marL="28046" marR="28046" marT="14023" marB="14023">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rowSpan="2" hMerge="1">
                  <a:txBody>
                    <a:bodyPr/>
                    <a:lstStyle/>
                    <a:p>
                      <a:r>
                        <a:rPr kumimoji="0" lang="en-US" altLang="ja-JP" sz="900" dirty="0">
                          <a:latin typeface="Arial" panose="020B0604020202020204" pitchFamily="34" charset="0"/>
                        </a:rPr>
                        <a:t>Azure SQL Table</a:t>
                      </a:r>
                      <a:r>
                        <a:rPr kumimoji="0" lang="ja-JP" altLang="en-US" sz="900" dirty="0">
                          <a:latin typeface="Arial" panose="020B0604020202020204" pitchFamily="34" charset="0"/>
                        </a:rPr>
                        <a:t>の</a:t>
                      </a:r>
                      <a:r>
                        <a:rPr kumimoji="0" lang="en-US" altLang="ja-JP" sz="900" dirty="0">
                          <a:latin typeface="Arial" panose="020B0604020202020204" pitchFamily="34" charset="0"/>
                        </a:rPr>
                        <a:t>Where</a:t>
                      </a:r>
                      <a:r>
                        <a:rPr kumimoji="0" lang="ja-JP" altLang="en-US" sz="900" dirty="0">
                          <a:latin typeface="Arial" panose="020B0604020202020204" pitchFamily="34" charset="0"/>
                        </a:rPr>
                        <a:t>条件で</a:t>
                      </a:r>
                      <a:r>
                        <a:rPr kumimoji="0" lang="en-US" altLang="ja-JP" sz="900" dirty="0">
                          <a:latin typeface="Arial" panose="020B0604020202020204" pitchFamily="34" charset="0"/>
                        </a:rPr>
                        <a:t>Filter</a:t>
                      </a:r>
                      <a:r>
                        <a:rPr kumimoji="0" lang="ja-JP" altLang="en-US" sz="900" dirty="0">
                          <a:latin typeface="Arial" panose="020B0604020202020204" pitchFamily="34" charset="0"/>
                        </a:rPr>
                        <a:t>する</a:t>
                      </a:r>
                      <a:endParaRPr kumimoji="0" lang="zh-CN" altLang="zh-CN" sz="900" dirty="0">
                        <a:latin typeface="Arial" panose="020B0604020202020204" pitchFamily="34" charset="0"/>
                      </a:endParaRPr>
                    </a:p>
                  </a:txBody>
                  <a:tcPr marL="28046" marR="28046" marT="14023" marB="14023">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453962866"/>
                  </a:ext>
                </a:extLst>
              </a:tr>
              <a:tr h="147451">
                <a:tc>
                  <a:txBody>
                    <a:bodyPr/>
                    <a:lstStyle/>
                    <a:p>
                      <a:r>
                        <a:rPr lang="ja-JP" altLang="en-US" sz="1100" dirty="0"/>
                        <a:t>仕様書の定型データの権限制限</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アクセスできる仕様書のみを検索結果から出すようにする</a:t>
                      </a: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gridSpan="2" vMerge="1">
                  <a:txBody>
                    <a:bodyPr/>
                    <a:lstStyle/>
                    <a:p>
                      <a:endParaRPr dirty="0"/>
                    </a:p>
                  </a:txBody>
                  <a:tcPr marL="28046" marR="28046" marT="14023" marB="14023">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900" dirty="0">
                          <a:latin typeface="Arial" panose="020B0604020202020204" pitchFamily="34" charset="0"/>
                        </a:rPr>
                        <a:t>Azure SQL Table</a:t>
                      </a:r>
                      <a:r>
                        <a:rPr kumimoji="0" lang="ja-JP" altLang="en-US" sz="900" dirty="0">
                          <a:latin typeface="Arial" panose="020B0604020202020204" pitchFamily="34" charset="0"/>
                        </a:rPr>
                        <a:t>の</a:t>
                      </a:r>
                      <a:r>
                        <a:rPr kumimoji="0" lang="en-US" altLang="ja-JP" sz="900" dirty="0">
                          <a:latin typeface="Arial" panose="020B0604020202020204" pitchFamily="34" charset="0"/>
                        </a:rPr>
                        <a:t>Where</a:t>
                      </a:r>
                      <a:r>
                        <a:rPr kumimoji="0" lang="ja-JP" altLang="en-US" sz="900" dirty="0">
                          <a:latin typeface="Arial" panose="020B0604020202020204" pitchFamily="34" charset="0"/>
                        </a:rPr>
                        <a:t>条件で</a:t>
                      </a:r>
                      <a:r>
                        <a:rPr kumimoji="0" lang="en-US" altLang="ja-JP" sz="900" dirty="0">
                          <a:latin typeface="Arial" panose="020B0604020202020204" pitchFamily="34" charset="0"/>
                        </a:rPr>
                        <a:t>Filter</a:t>
                      </a:r>
                      <a:r>
                        <a:rPr kumimoji="0" lang="ja-JP" altLang="en-US" sz="900" dirty="0">
                          <a:latin typeface="Arial" panose="020B0604020202020204" pitchFamily="34" charset="0"/>
                        </a:rPr>
                        <a:t>する</a:t>
                      </a:r>
                      <a:endParaRPr kumimoji="0" lang="zh-CN" altLang="zh-CN" sz="900" dirty="0">
                        <a:latin typeface="Arial" panose="020B0604020202020204" pitchFamily="34" charset="0"/>
                      </a:endParaRPr>
                    </a:p>
                  </a:txBody>
                  <a:tcPr marL="28046" marR="28046" marT="14023" marB="14023">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65751194"/>
                  </a:ext>
                </a:extLst>
              </a:tr>
              <a:tr h="1468050">
                <a:tc>
                  <a:txBody>
                    <a:bodyPr/>
                    <a:lstStyle/>
                    <a:p>
                      <a:r>
                        <a:rPr lang="ja-JP" altLang="en-US" sz="1100" dirty="0"/>
                        <a:t>添付ファイルの内容検索</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仕様書の添付ファイルの内容から検索キーワードを含むファイルを検索し、該当添付ファイルの所有仕様書レコードを画面に表示する</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900" kern="1200" dirty="0">
                          <a:solidFill>
                            <a:schemeClr val="tx1"/>
                          </a:solidFill>
                          <a:latin typeface="Arial" panose="020B0604020202020204" pitchFamily="34" charset="0"/>
                          <a:ea typeface="+mn-ea"/>
                          <a:cs typeface="+mn-cs"/>
                        </a:rPr>
                        <a:t>SPO</a:t>
                      </a:r>
                      <a:r>
                        <a:rPr kumimoji="0" lang="ja-JP" altLang="en-US" sz="900" kern="1200" dirty="0">
                          <a:solidFill>
                            <a:schemeClr val="tx1"/>
                          </a:solidFill>
                          <a:latin typeface="Arial" panose="020B0604020202020204" pitchFamily="34" charset="0"/>
                          <a:ea typeface="+mn-ea"/>
                          <a:cs typeface="+mn-cs"/>
                        </a:rPr>
                        <a:t>の「</a:t>
                      </a:r>
                      <a:r>
                        <a:rPr kumimoji="0" lang="en-US" altLang="ja-JP" sz="900" kern="1200" dirty="0">
                          <a:solidFill>
                            <a:schemeClr val="tx1"/>
                          </a:solidFill>
                          <a:latin typeface="Arial" panose="020B0604020202020204" pitchFamily="34" charset="0"/>
                          <a:ea typeface="+mn-ea"/>
                          <a:cs typeface="+mn-cs"/>
                        </a:rPr>
                        <a:t>Microsoft Search</a:t>
                      </a:r>
                      <a:r>
                        <a:rPr kumimoji="0" lang="ja-JP" altLang="en-US" sz="900" kern="1200" dirty="0">
                          <a:solidFill>
                            <a:schemeClr val="tx1"/>
                          </a:solidFill>
                          <a:latin typeface="Arial" panose="020B0604020202020204" pitchFamily="34" charset="0"/>
                          <a:ea typeface="+mn-ea"/>
                          <a:cs typeface="+mn-cs"/>
                        </a:rPr>
                        <a:t>」機能を利用で実現できる</a:t>
                      </a:r>
                      <a:endParaRPr kumimoji="0" lang="en-US" altLang="ja-JP" sz="900" kern="1200" dirty="0">
                        <a:solidFill>
                          <a:schemeClr val="tx1"/>
                        </a:solidFill>
                        <a:latin typeface="Arial"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900" kern="1200" dirty="0">
                          <a:solidFill>
                            <a:schemeClr val="tx1"/>
                          </a:solidFill>
                          <a:latin typeface="Arial" panose="020B0604020202020204" pitchFamily="34" charset="0"/>
                          <a:ea typeface="+mn-ea"/>
                          <a:cs typeface="+mn-cs"/>
                        </a:rPr>
                        <a:t>右の</a:t>
                      </a:r>
                      <a:r>
                        <a:rPr kumimoji="0" lang="en-US" altLang="ja-JP" sz="900" kern="1200" dirty="0">
                          <a:solidFill>
                            <a:schemeClr val="tx1"/>
                          </a:solidFill>
                          <a:latin typeface="Arial" panose="020B0604020202020204" pitchFamily="34" charset="0"/>
                          <a:ea typeface="+mn-ea"/>
                          <a:cs typeface="+mn-cs"/>
                        </a:rPr>
                        <a:t>SPO</a:t>
                      </a:r>
                      <a:r>
                        <a:rPr kumimoji="0" lang="ja-JP" altLang="en-US" sz="900" kern="1200" dirty="0">
                          <a:solidFill>
                            <a:schemeClr val="tx1"/>
                          </a:solidFill>
                          <a:latin typeface="Arial" panose="020B0604020202020204" pitchFamily="34" charset="0"/>
                          <a:ea typeface="+mn-ea"/>
                          <a:cs typeface="+mn-cs"/>
                        </a:rPr>
                        <a:t>画面機能の</a:t>
                      </a:r>
                      <a:r>
                        <a:rPr kumimoji="0" lang="en-US" altLang="ja-JP" sz="900" kern="1200" dirty="0">
                          <a:solidFill>
                            <a:schemeClr val="tx1"/>
                          </a:solidFill>
                          <a:latin typeface="Arial" panose="020B0604020202020204" pitchFamily="34" charset="0"/>
                          <a:ea typeface="+mn-ea"/>
                          <a:cs typeface="+mn-cs"/>
                        </a:rPr>
                        <a:t>API</a:t>
                      </a:r>
                      <a:r>
                        <a:rPr kumimoji="0" lang="ja-JP" altLang="en-US" sz="900" kern="1200" dirty="0">
                          <a:solidFill>
                            <a:schemeClr val="tx1"/>
                          </a:solidFill>
                          <a:latin typeface="Arial" panose="020B0604020202020204" pitchFamily="34" charset="0"/>
                          <a:ea typeface="+mn-ea"/>
                          <a:cs typeface="+mn-cs"/>
                        </a:rPr>
                        <a:t>レベルの実装（</a:t>
                      </a:r>
                      <a:r>
                        <a:rPr kumimoji="0" lang="en-US" altLang="ja-JP" sz="900" kern="1200" dirty="0">
                          <a:solidFill>
                            <a:schemeClr val="tx1"/>
                          </a:solidFill>
                          <a:latin typeface="Arial" panose="020B0604020202020204" pitchFamily="34" charset="0"/>
                          <a:ea typeface="+mn-ea"/>
                          <a:cs typeface="+mn-cs"/>
                        </a:rPr>
                        <a:t>Graph API</a:t>
                      </a:r>
                      <a:r>
                        <a:rPr kumimoji="0" lang="ja-JP" altLang="en-US" sz="900" kern="1200" dirty="0">
                          <a:solidFill>
                            <a:schemeClr val="tx1"/>
                          </a:solidFill>
                          <a:latin typeface="Arial" panose="020B0604020202020204" pitchFamily="34" charset="0"/>
                          <a:ea typeface="+mn-ea"/>
                          <a:cs typeface="+mn-cs"/>
                        </a:rPr>
                        <a:t>）</a:t>
                      </a: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b="1" kern="1200" dirty="0">
                          <a:solidFill>
                            <a:schemeClr val="tx1"/>
                          </a:solidFill>
                          <a:latin typeface="Arial" panose="020B0604020202020204" pitchFamily="34" charset="0"/>
                          <a:ea typeface="+mn-ea"/>
                          <a:cs typeface="+mn-cs"/>
                        </a:rPr>
                        <a:t>実現面：</a:t>
                      </a:r>
                      <a:endParaRPr kumimoji="0" lang="en-US" altLang="ja-JP" sz="900" b="1" kern="1200" dirty="0">
                        <a:solidFill>
                          <a:schemeClr val="tx1"/>
                        </a:solidFill>
                        <a:latin typeface="Arial"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900" kern="1200" dirty="0">
                          <a:solidFill>
                            <a:schemeClr val="tx1"/>
                          </a:solidFill>
                          <a:latin typeface="Arial" panose="020B0604020202020204" pitchFamily="34" charset="0"/>
                          <a:ea typeface="+mn-ea"/>
                          <a:cs typeface="+mn-cs"/>
                        </a:rPr>
                        <a:t>Microsoft</a:t>
                      </a:r>
                      <a:r>
                        <a:rPr kumimoji="0" lang="ja-JP" altLang="en-US" sz="900" kern="1200" dirty="0">
                          <a:solidFill>
                            <a:schemeClr val="tx1"/>
                          </a:solidFill>
                          <a:latin typeface="Arial" panose="020B0604020202020204" pitchFamily="34" charset="0"/>
                          <a:ea typeface="+mn-ea"/>
                          <a:cs typeface="+mn-cs"/>
                        </a:rPr>
                        <a:t>提供された</a:t>
                      </a:r>
                      <a:r>
                        <a:rPr kumimoji="0" lang="en-US" altLang="ja-JP" sz="900" kern="1200" dirty="0" err="1">
                          <a:solidFill>
                            <a:schemeClr val="tx1"/>
                          </a:solidFill>
                          <a:latin typeface="Arial" panose="020B0604020202020204" pitchFamily="34" charset="0"/>
                          <a:ea typeface="+mn-ea"/>
                          <a:cs typeface="+mn-cs"/>
                        </a:rPr>
                        <a:t>GraphAPI</a:t>
                      </a:r>
                      <a:r>
                        <a:rPr kumimoji="0" lang="en-US" altLang="ja-JP" sz="900" kern="1200" dirty="0">
                          <a:solidFill>
                            <a:schemeClr val="tx1"/>
                          </a:solidFill>
                          <a:latin typeface="Arial" panose="020B0604020202020204" pitchFamily="34" charset="0"/>
                          <a:ea typeface="+mn-ea"/>
                          <a:cs typeface="+mn-cs"/>
                        </a:rPr>
                        <a:t>(https)</a:t>
                      </a:r>
                      <a:r>
                        <a:rPr kumimoji="0" lang="ja-JP" altLang="en-US" sz="900" kern="1200" dirty="0">
                          <a:solidFill>
                            <a:schemeClr val="tx1"/>
                          </a:solidFill>
                          <a:latin typeface="Arial" panose="020B0604020202020204" pitchFamily="34" charset="0"/>
                          <a:ea typeface="+mn-ea"/>
                          <a:cs typeface="+mn-cs"/>
                        </a:rPr>
                        <a:t>を経由し、</a:t>
                      </a:r>
                      <a:r>
                        <a:rPr kumimoji="0" lang="en-US" altLang="ja-JP" sz="900" kern="1200" dirty="0">
                          <a:solidFill>
                            <a:schemeClr val="tx1"/>
                          </a:solidFill>
                          <a:latin typeface="Arial" panose="020B0604020202020204" pitchFamily="34" charset="0"/>
                          <a:ea typeface="+mn-ea"/>
                          <a:cs typeface="+mn-cs"/>
                        </a:rPr>
                        <a:t>Microsoft Search</a:t>
                      </a:r>
                      <a:r>
                        <a:rPr kumimoji="0" lang="ja-JP" altLang="en-US" sz="900" kern="1200" dirty="0">
                          <a:solidFill>
                            <a:schemeClr val="tx1"/>
                          </a:solidFill>
                          <a:latin typeface="Arial" panose="020B0604020202020204" pitchFamily="34" charset="0"/>
                          <a:ea typeface="+mn-ea"/>
                          <a:cs typeface="+mn-cs"/>
                        </a:rPr>
                        <a:t>機能を利用で実現できる</a:t>
                      </a:r>
                      <a:endParaRPr kumimoji="0" lang="en-US" altLang="ja-JP" sz="900" kern="1200" dirty="0">
                        <a:solidFill>
                          <a:schemeClr val="tx1"/>
                        </a:solidFill>
                        <a:latin typeface="Arial"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900" kern="1200" dirty="0" err="1">
                          <a:solidFill>
                            <a:schemeClr val="tx1"/>
                          </a:solidFill>
                          <a:latin typeface="Arial" panose="020B0604020202020204" pitchFamily="34" charset="0"/>
                          <a:ea typeface="+mn-ea"/>
                          <a:cs typeface="+mn-cs"/>
                        </a:rPr>
                        <a:t>GraphAPI</a:t>
                      </a:r>
                      <a:r>
                        <a:rPr kumimoji="0" lang="ja-JP" altLang="en-US" sz="900" kern="1200" dirty="0">
                          <a:solidFill>
                            <a:schemeClr val="tx1"/>
                          </a:solidFill>
                          <a:latin typeface="Arial" panose="020B0604020202020204" pitchFamily="34" charset="0"/>
                          <a:ea typeface="+mn-ea"/>
                          <a:cs typeface="+mn-cs"/>
                        </a:rPr>
                        <a:t>が認証と承認を通すため、事前に</a:t>
                      </a:r>
                      <a:r>
                        <a:rPr kumimoji="0" lang="en-US" altLang="ja-JP" sz="900" kern="1200" dirty="0" err="1">
                          <a:solidFill>
                            <a:schemeClr val="tx1"/>
                          </a:solidFill>
                          <a:latin typeface="Arial" panose="020B0604020202020204" pitchFamily="34" charset="0"/>
                          <a:ea typeface="+mn-ea"/>
                          <a:cs typeface="+mn-cs"/>
                        </a:rPr>
                        <a:t>AzureAD</a:t>
                      </a:r>
                      <a:r>
                        <a:rPr kumimoji="0" lang="ja-JP" altLang="en-US" sz="900" kern="1200" dirty="0">
                          <a:solidFill>
                            <a:schemeClr val="tx1"/>
                          </a:solidFill>
                          <a:latin typeface="Arial" panose="020B0604020202020204" pitchFamily="34" charset="0"/>
                          <a:ea typeface="+mn-ea"/>
                          <a:cs typeface="+mn-cs"/>
                        </a:rPr>
                        <a:t>に</a:t>
                      </a:r>
                      <a:r>
                        <a:rPr kumimoji="0" lang="en-US" altLang="ja-JP" sz="900" kern="1200" dirty="0">
                          <a:solidFill>
                            <a:schemeClr val="tx1"/>
                          </a:solidFill>
                          <a:latin typeface="Arial" panose="020B0604020202020204" pitchFamily="34" charset="0"/>
                          <a:ea typeface="+mn-ea"/>
                          <a:cs typeface="+mn-cs"/>
                        </a:rPr>
                        <a:t>App</a:t>
                      </a:r>
                      <a:r>
                        <a:rPr kumimoji="0" lang="ja-JP" altLang="en-US" sz="900" kern="1200" dirty="0">
                          <a:solidFill>
                            <a:schemeClr val="tx1"/>
                          </a:solidFill>
                          <a:latin typeface="Arial" panose="020B0604020202020204" pitchFamily="34" charset="0"/>
                          <a:ea typeface="+mn-ea"/>
                          <a:cs typeface="+mn-cs"/>
                        </a:rPr>
                        <a:t>を登録し、</a:t>
                      </a:r>
                      <a:r>
                        <a:rPr kumimoji="0" lang="en-US" altLang="ja-JP" sz="900" kern="1200" dirty="0" err="1">
                          <a:solidFill>
                            <a:schemeClr val="tx1"/>
                          </a:solidFill>
                          <a:latin typeface="Arial" panose="020B0604020202020204" pitchFamily="34" charset="0"/>
                          <a:ea typeface="+mn-ea"/>
                          <a:cs typeface="+mn-cs"/>
                        </a:rPr>
                        <a:t>File.Read.All</a:t>
                      </a:r>
                      <a:r>
                        <a:rPr kumimoji="0" lang="ja-JP" altLang="en-US" sz="900" kern="1200" dirty="0">
                          <a:solidFill>
                            <a:schemeClr val="tx1"/>
                          </a:solidFill>
                          <a:latin typeface="Arial" panose="020B0604020202020204" pitchFamily="34" charset="0"/>
                          <a:ea typeface="+mn-ea"/>
                          <a:cs typeface="+mn-cs"/>
                        </a:rPr>
                        <a:t>権限の</a:t>
                      </a:r>
                      <a:r>
                        <a:rPr kumimoji="0" lang="en-US" altLang="ja-JP" sz="900" kern="1200" dirty="0">
                          <a:solidFill>
                            <a:schemeClr val="tx1"/>
                          </a:solidFill>
                          <a:latin typeface="Arial" panose="020B0604020202020204" pitchFamily="34" charset="0"/>
                          <a:ea typeface="+mn-ea"/>
                          <a:cs typeface="+mn-cs"/>
                        </a:rPr>
                        <a:t>Client ID/Client Secret</a:t>
                      </a:r>
                      <a:r>
                        <a:rPr kumimoji="0" lang="ja-JP" altLang="en-US" sz="900" kern="1200" dirty="0">
                          <a:solidFill>
                            <a:schemeClr val="tx1"/>
                          </a:solidFill>
                          <a:latin typeface="Arial" panose="020B0604020202020204" pitchFamily="34" charset="0"/>
                          <a:ea typeface="+mn-ea"/>
                          <a:cs typeface="+mn-cs"/>
                        </a:rPr>
                        <a:t>を取得する（</a:t>
                      </a:r>
                      <a:r>
                        <a:rPr kumimoji="0" lang="en-US" altLang="ja-JP" sz="900" kern="1200" dirty="0" err="1">
                          <a:solidFill>
                            <a:schemeClr val="tx1"/>
                          </a:solidFill>
                          <a:latin typeface="Arial" panose="020B0604020202020204" pitchFamily="34" charset="0"/>
                          <a:ea typeface="+mn-ea"/>
                          <a:cs typeface="+mn-cs"/>
                        </a:rPr>
                        <a:t>GraphAPI</a:t>
                      </a:r>
                      <a:r>
                        <a:rPr kumimoji="0" lang="ja-JP" altLang="en-US" sz="900" kern="1200" dirty="0">
                          <a:solidFill>
                            <a:schemeClr val="tx1"/>
                          </a:solidFill>
                          <a:latin typeface="Arial" panose="020B0604020202020204" pitchFamily="34" charset="0"/>
                          <a:ea typeface="+mn-ea"/>
                          <a:cs typeface="+mn-cs"/>
                        </a:rPr>
                        <a:t>の権限付与は</a:t>
                      </a:r>
                      <a:r>
                        <a:rPr kumimoji="0" lang="en-US" altLang="ja-JP" sz="900" kern="1200" dirty="0">
                          <a:solidFill>
                            <a:schemeClr val="tx1"/>
                          </a:solidFill>
                          <a:latin typeface="Arial" panose="020B0604020202020204" pitchFamily="34" charset="0"/>
                          <a:ea typeface="+mn-ea"/>
                          <a:cs typeface="+mn-cs"/>
                        </a:rPr>
                        <a:t>Tenant/App</a:t>
                      </a:r>
                      <a:r>
                        <a:rPr kumimoji="0" lang="ja-JP" altLang="en-US" sz="900" kern="1200" dirty="0">
                          <a:solidFill>
                            <a:schemeClr val="tx1"/>
                          </a:solidFill>
                          <a:latin typeface="Arial" panose="020B0604020202020204" pitchFamily="34" charset="0"/>
                          <a:ea typeface="+mn-ea"/>
                          <a:cs typeface="+mn-cs"/>
                        </a:rPr>
                        <a:t>単位であるため）</a:t>
                      </a: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ja-JP" altLang="en-US" sz="900" b="1" kern="1200" dirty="0">
                          <a:solidFill>
                            <a:schemeClr val="tx1"/>
                          </a:solidFill>
                          <a:latin typeface="Arial" panose="020B0604020202020204" pitchFamily="34" charset="0"/>
                          <a:ea typeface="+mn-ea"/>
                          <a:cs typeface="+mn-cs"/>
                        </a:rPr>
                        <a:t>参照：</a:t>
                      </a:r>
                      <a:endParaRPr kumimoji="0" lang="en-US" altLang="ja-JP" sz="900" b="1"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ja-JP" sz="900" kern="1200" dirty="0">
                          <a:solidFill>
                            <a:schemeClr val="tx1"/>
                          </a:solidFill>
                          <a:latin typeface="Arial" panose="020B0604020202020204" pitchFamily="34" charset="0"/>
                          <a:ea typeface="+mn-ea"/>
                          <a:cs typeface="+mn-cs"/>
                        </a:rPr>
                        <a:t>※</a:t>
                      </a:r>
                      <a:r>
                        <a:rPr kumimoji="0" lang="ja-JP" altLang="en-US" sz="900" kern="1200" dirty="0">
                          <a:solidFill>
                            <a:schemeClr val="tx1"/>
                          </a:solidFill>
                          <a:latin typeface="Arial" panose="020B0604020202020204" pitchFamily="34" charset="0"/>
                          <a:ea typeface="+mn-ea"/>
                          <a:cs typeface="+mn-cs"/>
                        </a:rPr>
                        <a:t>　</a:t>
                      </a:r>
                      <a:r>
                        <a:rPr kumimoji="0" lang="en-US" altLang="ja-JP" sz="900" kern="1200" dirty="0">
                          <a:solidFill>
                            <a:schemeClr val="tx1"/>
                          </a:solidFill>
                          <a:latin typeface="Arial" panose="020B0604020202020204" pitchFamily="34" charset="0"/>
                          <a:ea typeface="+mn-ea"/>
                          <a:cs typeface="+mn-cs"/>
                          <a:hlinkClick r:id="rId3"/>
                        </a:rPr>
                        <a:t>https://learn.microsoft.com/ja-jp/graph/auth/</a:t>
                      </a: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ja-JP" sz="900" kern="1200" dirty="0">
                          <a:solidFill>
                            <a:schemeClr val="tx1"/>
                          </a:solidFill>
                          <a:latin typeface="Arial" panose="020B0604020202020204" pitchFamily="34" charset="0"/>
                          <a:ea typeface="+mn-ea"/>
                          <a:cs typeface="+mn-cs"/>
                        </a:rPr>
                        <a:t>※</a:t>
                      </a:r>
                      <a:r>
                        <a:rPr kumimoji="0" lang="ja-JP" altLang="en-US" sz="900" kern="1200" dirty="0">
                          <a:solidFill>
                            <a:schemeClr val="tx1"/>
                          </a:solidFill>
                          <a:latin typeface="Arial" panose="020B0604020202020204" pitchFamily="34" charset="0"/>
                          <a:ea typeface="+mn-ea"/>
                          <a:cs typeface="+mn-cs"/>
                        </a:rPr>
                        <a:t>　</a:t>
                      </a:r>
                      <a:r>
                        <a:rPr kumimoji="0" lang="de-DE" altLang="ja-JP" sz="900" kern="1200" dirty="0">
                          <a:solidFill>
                            <a:schemeClr val="tx1"/>
                          </a:solidFill>
                          <a:latin typeface="Arial" panose="020B0604020202020204" pitchFamily="34" charset="0"/>
                          <a:ea typeface="+mn-ea"/>
                          <a:cs typeface="+mn-cs"/>
                          <a:hlinkClick r:id="rId4"/>
                        </a:rPr>
                        <a:t>https://learn.microsoft.com/ja-jp/graph/search-concept-overview</a:t>
                      </a:r>
                      <a:endParaRPr kumimoji="0" lang="de-DE"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900" kern="1200" dirty="0">
                          <a:solidFill>
                            <a:schemeClr val="tx1"/>
                          </a:solidFill>
                          <a:latin typeface="Arial" panose="020B0604020202020204" pitchFamily="34" charset="0"/>
                          <a:ea typeface="+mn-ea"/>
                          <a:cs typeface="+mn-cs"/>
                        </a:rPr>
                        <a:t>SPO</a:t>
                      </a:r>
                      <a:r>
                        <a:rPr kumimoji="0" lang="ja-JP" altLang="en-US" sz="900" kern="1200" dirty="0">
                          <a:solidFill>
                            <a:schemeClr val="tx1"/>
                          </a:solidFill>
                          <a:latin typeface="Arial" panose="020B0604020202020204" pitchFamily="34" charset="0"/>
                          <a:ea typeface="+mn-ea"/>
                          <a:cs typeface="+mn-cs"/>
                        </a:rPr>
                        <a:t>の「</a:t>
                      </a:r>
                      <a:r>
                        <a:rPr kumimoji="0" lang="en-US" altLang="ja-JP" sz="900" kern="1200" dirty="0">
                          <a:solidFill>
                            <a:schemeClr val="tx1"/>
                          </a:solidFill>
                          <a:latin typeface="Arial" panose="020B0604020202020204" pitchFamily="34" charset="0"/>
                          <a:ea typeface="+mn-ea"/>
                          <a:cs typeface="+mn-cs"/>
                        </a:rPr>
                        <a:t>Microsoft Search</a:t>
                      </a:r>
                      <a:r>
                        <a:rPr kumimoji="0" lang="ja-JP" altLang="en-US" sz="900" kern="1200" dirty="0">
                          <a:solidFill>
                            <a:schemeClr val="tx1"/>
                          </a:solidFill>
                          <a:latin typeface="Arial" panose="020B0604020202020204" pitchFamily="34" charset="0"/>
                          <a:ea typeface="+mn-ea"/>
                          <a:cs typeface="+mn-cs"/>
                        </a:rPr>
                        <a:t>」機能を利用する</a:t>
                      </a:r>
                      <a:endParaRPr kumimoji="0" lang="en-US" altLang="ja-JP" sz="900" kern="1200" dirty="0">
                        <a:solidFill>
                          <a:schemeClr val="tx1"/>
                        </a:solidFill>
                        <a:latin typeface="Arial"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900" kern="1200" dirty="0">
                          <a:solidFill>
                            <a:schemeClr val="tx1"/>
                          </a:solidFill>
                          <a:latin typeface="Arial" panose="020B0604020202020204" pitchFamily="34" charset="0"/>
                          <a:ea typeface="+mn-ea"/>
                          <a:cs typeface="+mn-cs"/>
                        </a:rPr>
                        <a:t>右の</a:t>
                      </a:r>
                      <a:r>
                        <a:rPr kumimoji="0" lang="en-US" altLang="ja-JP" sz="900" kern="1200" dirty="0">
                          <a:solidFill>
                            <a:schemeClr val="tx1"/>
                          </a:solidFill>
                          <a:latin typeface="Arial" panose="020B0604020202020204" pitchFamily="34" charset="0"/>
                          <a:ea typeface="+mn-ea"/>
                          <a:cs typeface="+mn-cs"/>
                        </a:rPr>
                        <a:t>SPO</a:t>
                      </a:r>
                      <a:r>
                        <a:rPr kumimoji="0" lang="ja-JP" altLang="en-US" sz="900" kern="1200" dirty="0">
                          <a:solidFill>
                            <a:schemeClr val="tx1"/>
                          </a:solidFill>
                          <a:latin typeface="Arial" panose="020B0604020202020204" pitchFamily="34" charset="0"/>
                          <a:ea typeface="+mn-ea"/>
                          <a:cs typeface="+mn-cs"/>
                        </a:rPr>
                        <a:t>画面機能の</a:t>
                      </a:r>
                      <a:r>
                        <a:rPr kumimoji="0" lang="en-US" altLang="ja-JP" sz="900" kern="1200" dirty="0">
                          <a:solidFill>
                            <a:schemeClr val="tx1"/>
                          </a:solidFill>
                          <a:latin typeface="Arial" panose="020B0604020202020204" pitchFamily="34" charset="0"/>
                          <a:ea typeface="+mn-ea"/>
                          <a:cs typeface="+mn-cs"/>
                        </a:rPr>
                        <a:t>API</a:t>
                      </a:r>
                      <a:r>
                        <a:rPr kumimoji="0" lang="ja-JP" altLang="en-US" sz="900" kern="1200" dirty="0">
                          <a:solidFill>
                            <a:schemeClr val="tx1"/>
                          </a:solidFill>
                          <a:latin typeface="Arial" panose="020B0604020202020204" pitchFamily="34" charset="0"/>
                          <a:ea typeface="+mn-ea"/>
                          <a:cs typeface="+mn-cs"/>
                        </a:rPr>
                        <a:t>レベルの実装（</a:t>
                      </a:r>
                      <a:r>
                        <a:rPr kumimoji="0" lang="en-US" altLang="ja-JP" sz="900" kern="1200" dirty="0">
                          <a:solidFill>
                            <a:schemeClr val="tx1"/>
                          </a:solidFill>
                          <a:latin typeface="Arial" panose="020B0604020202020204" pitchFamily="34" charset="0"/>
                          <a:ea typeface="+mn-ea"/>
                          <a:cs typeface="+mn-cs"/>
                        </a:rPr>
                        <a:t>Graph API</a:t>
                      </a:r>
                      <a:r>
                        <a:rPr kumimoji="0" lang="ja-JP" altLang="en-US" sz="900" kern="1200" dirty="0">
                          <a:solidFill>
                            <a:schemeClr val="tx1"/>
                          </a:solidFill>
                          <a:latin typeface="Arial" panose="020B0604020202020204" pitchFamily="34" charset="0"/>
                          <a:ea typeface="+mn-ea"/>
                          <a:cs typeface="+mn-cs"/>
                        </a:rPr>
                        <a:t>）</a:t>
                      </a: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b="1" kern="1200" dirty="0">
                          <a:solidFill>
                            <a:schemeClr val="tx1"/>
                          </a:solidFill>
                          <a:latin typeface="Arial" panose="020B0604020202020204" pitchFamily="34" charset="0"/>
                          <a:ea typeface="+mn-ea"/>
                          <a:cs typeface="+mn-cs"/>
                        </a:rPr>
                        <a:t>実現面：</a:t>
                      </a:r>
                      <a:endParaRPr kumimoji="0" lang="en-US" altLang="ja-JP" sz="900" b="1" kern="1200" dirty="0">
                        <a:solidFill>
                          <a:schemeClr val="tx1"/>
                        </a:solidFill>
                        <a:latin typeface="Arial"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900" kern="1200" dirty="0">
                          <a:solidFill>
                            <a:schemeClr val="tx1"/>
                          </a:solidFill>
                          <a:latin typeface="Arial" panose="020B0604020202020204" pitchFamily="34" charset="0"/>
                          <a:ea typeface="+mn-ea"/>
                          <a:cs typeface="+mn-cs"/>
                        </a:rPr>
                        <a:t>Microsoft</a:t>
                      </a:r>
                      <a:r>
                        <a:rPr kumimoji="0" lang="ja-JP" altLang="en-US" sz="900" kern="1200" dirty="0">
                          <a:solidFill>
                            <a:schemeClr val="tx1"/>
                          </a:solidFill>
                          <a:latin typeface="Arial" panose="020B0604020202020204" pitchFamily="34" charset="0"/>
                          <a:ea typeface="+mn-ea"/>
                          <a:cs typeface="+mn-cs"/>
                        </a:rPr>
                        <a:t>提供された</a:t>
                      </a:r>
                      <a:r>
                        <a:rPr kumimoji="0" lang="en-US" altLang="ja-JP" sz="900" kern="1200" dirty="0" err="1">
                          <a:solidFill>
                            <a:schemeClr val="tx1"/>
                          </a:solidFill>
                          <a:latin typeface="Arial" panose="020B0604020202020204" pitchFamily="34" charset="0"/>
                          <a:ea typeface="+mn-ea"/>
                          <a:cs typeface="+mn-cs"/>
                        </a:rPr>
                        <a:t>GraphAPI</a:t>
                      </a:r>
                      <a:r>
                        <a:rPr kumimoji="0" lang="en-US" altLang="ja-JP" sz="900" kern="1200" dirty="0">
                          <a:solidFill>
                            <a:schemeClr val="tx1"/>
                          </a:solidFill>
                          <a:latin typeface="Arial" panose="020B0604020202020204" pitchFamily="34" charset="0"/>
                          <a:ea typeface="+mn-ea"/>
                          <a:cs typeface="+mn-cs"/>
                        </a:rPr>
                        <a:t>(https)</a:t>
                      </a:r>
                      <a:r>
                        <a:rPr kumimoji="0" lang="ja-JP" altLang="en-US" sz="900" kern="1200" dirty="0">
                          <a:solidFill>
                            <a:schemeClr val="tx1"/>
                          </a:solidFill>
                          <a:latin typeface="Arial" panose="020B0604020202020204" pitchFamily="34" charset="0"/>
                          <a:ea typeface="+mn-ea"/>
                          <a:cs typeface="+mn-cs"/>
                        </a:rPr>
                        <a:t>を経由し、</a:t>
                      </a:r>
                      <a:r>
                        <a:rPr kumimoji="0" lang="en-US" altLang="ja-JP" sz="900" kern="1200" dirty="0">
                          <a:solidFill>
                            <a:schemeClr val="tx1"/>
                          </a:solidFill>
                          <a:latin typeface="Arial" panose="020B0604020202020204" pitchFamily="34" charset="0"/>
                          <a:ea typeface="+mn-ea"/>
                          <a:cs typeface="+mn-cs"/>
                        </a:rPr>
                        <a:t>Microsoft Search</a:t>
                      </a:r>
                      <a:r>
                        <a:rPr kumimoji="0" lang="ja-JP" altLang="en-US" sz="900" kern="1200" dirty="0">
                          <a:solidFill>
                            <a:schemeClr val="tx1"/>
                          </a:solidFill>
                          <a:latin typeface="Arial" panose="020B0604020202020204" pitchFamily="34" charset="0"/>
                          <a:ea typeface="+mn-ea"/>
                          <a:cs typeface="+mn-cs"/>
                        </a:rPr>
                        <a:t>機能を利用する</a:t>
                      </a:r>
                      <a:endParaRPr kumimoji="0" lang="en-US" altLang="ja-JP" sz="900" kern="1200" dirty="0">
                        <a:solidFill>
                          <a:schemeClr val="tx1"/>
                        </a:solidFill>
                        <a:latin typeface="Arial"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900" kern="1200" dirty="0" err="1">
                          <a:solidFill>
                            <a:schemeClr val="tx1"/>
                          </a:solidFill>
                          <a:latin typeface="Arial" panose="020B0604020202020204" pitchFamily="34" charset="0"/>
                          <a:ea typeface="+mn-ea"/>
                          <a:cs typeface="+mn-cs"/>
                        </a:rPr>
                        <a:t>GraphAPI</a:t>
                      </a:r>
                      <a:r>
                        <a:rPr kumimoji="0" lang="ja-JP" altLang="en-US" sz="900" kern="1200" dirty="0">
                          <a:solidFill>
                            <a:schemeClr val="tx1"/>
                          </a:solidFill>
                          <a:latin typeface="Arial" panose="020B0604020202020204" pitchFamily="34" charset="0"/>
                          <a:ea typeface="+mn-ea"/>
                          <a:cs typeface="+mn-cs"/>
                        </a:rPr>
                        <a:t>が認証と承認を通すため、事前に</a:t>
                      </a:r>
                      <a:r>
                        <a:rPr kumimoji="0" lang="en-US" altLang="ja-JP" sz="900" kern="1200" dirty="0" err="1">
                          <a:solidFill>
                            <a:schemeClr val="tx1"/>
                          </a:solidFill>
                          <a:latin typeface="Arial" panose="020B0604020202020204" pitchFamily="34" charset="0"/>
                          <a:ea typeface="+mn-ea"/>
                          <a:cs typeface="+mn-cs"/>
                        </a:rPr>
                        <a:t>AzureAD</a:t>
                      </a:r>
                      <a:r>
                        <a:rPr kumimoji="0" lang="ja-JP" altLang="en-US" sz="900" kern="1200" dirty="0">
                          <a:solidFill>
                            <a:schemeClr val="tx1"/>
                          </a:solidFill>
                          <a:latin typeface="Arial" panose="020B0604020202020204" pitchFamily="34" charset="0"/>
                          <a:ea typeface="+mn-ea"/>
                          <a:cs typeface="+mn-cs"/>
                        </a:rPr>
                        <a:t>に</a:t>
                      </a:r>
                      <a:r>
                        <a:rPr kumimoji="0" lang="en-US" altLang="ja-JP" sz="900" kern="1200" dirty="0">
                          <a:solidFill>
                            <a:schemeClr val="tx1"/>
                          </a:solidFill>
                          <a:latin typeface="Arial" panose="020B0604020202020204" pitchFamily="34" charset="0"/>
                          <a:ea typeface="+mn-ea"/>
                          <a:cs typeface="+mn-cs"/>
                        </a:rPr>
                        <a:t>App</a:t>
                      </a:r>
                      <a:r>
                        <a:rPr kumimoji="0" lang="ja-JP" altLang="en-US" sz="900" kern="1200" dirty="0">
                          <a:solidFill>
                            <a:schemeClr val="tx1"/>
                          </a:solidFill>
                          <a:latin typeface="Arial" panose="020B0604020202020204" pitchFamily="34" charset="0"/>
                          <a:ea typeface="+mn-ea"/>
                          <a:cs typeface="+mn-cs"/>
                        </a:rPr>
                        <a:t>を登録し、</a:t>
                      </a:r>
                      <a:r>
                        <a:rPr kumimoji="0" lang="en-US" altLang="ja-JP" sz="900" kern="1200" dirty="0" err="1">
                          <a:solidFill>
                            <a:schemeClr val="tx1"/>
                          </a:solidFill>
                          <a:latin typeface="Arial" panose="020B0604020202020204" pitchFamily="34" charset="0"/>
                          <a:ea typeface="+mn-ea"/>
                          <a:cs typeface="+mn-cs"/>
                        </a:rPr>
                        <a:t>File.Read.All</a:t>
                      </a:r>
                      <a:r>
                        <a:rPr kumimoji="0" lang="ja-JP" altLang="en-US" sz="900" kern="1200" dirty="0">
                          <a:solidFill>
                            <a:schemeClr val="tx1"/>
                          </a:solidFill>
                          <a:latin typeface="Arial" panose="020B0604020202020204" pitchFamily="34" charset="0"/>
                          <a:ea typeface="+mn-ea"/>
                          <a:cs typeface="+mn-cs"/>
                        </a:rPr>
                        <a:t>権限の</a:t>
                      </a:r>
                      <a:r>
                        <a:rPr kumimoji="0" lang="en-US" altLang="ja-JP" sz="900" kern="1200" dirty="0">
                          <a:solidFill>
                            <a:schemeClr val="tx1"/>
                          </a:solidFill>
                          <a:latin typeface="Arial" panose="020B0604020202020204" pitchFamily="34" charset="0"/>
                          <a:ea typeface="+mn-ea"/>
                          <a:cs typeface="+mn-cs"/>
                        </a:rPr>
                        <a:t>Client ID/Client Secret</a:t>
                      </a:r>
                      <a:r>
                        <a:rPr kumimoji="0" lang="ja-JP" altLang="en-US" sz="900" kern="1200" dirty="0">
                          <a:solidFill>
                            <a:schemeClr val="tx1"/>
                          </a:solidFill>
                          <a:latin typeface="Arial" panose="020B0604020202020204" pitchFamily="34" charset="0"/>
                          <a:ea typeface="+mn-ea"/>
                          <a:cs typeface="+mn-cs"/>
                        </a:rPr>
                        <a:t>を取得する（</a:t>
                      </a:r>
                      <a:r>
                        <a:rPr kumimoji="0" lang="en-US" altLang="ja-JP" sz="900" kern="1200" dirty="0" err="1">
                          <a:solidFill>
                            <a:schemeClr val="tx1"/>
                          </a:solidFill>
                          <a:latin typeface="Arial" panose="020B0604020202020204" pitchFamily="34" charset="0"/>
                          <a:ea typeface="+mn-ea"/>
                          <a:cs typeface="+mn-cs"/>
                        </a:rPr>
                        <a:t>GraphAPI</a:t>
                      </a:r>
                      <a:r>
                        <a:rPr kumimoji="0" lang="ja-JP" altLang="en-US" sz="900" kern="1200" dirty="0">
                          <a:solidFill>
                            <a:schemeClr val="tx1"/>
                          </a:solidFill>
                          <a:latin typeface="Arial" panose="020B0604020202020204" pitchFamily="34" charset="0"/>
                          <a:ea typeface="+mn-ea"/>
                          <a:cs typeface="+mn-cs"/>
                        </a:rPr>
                        <a:t>の権限付与は</a:t>
                      </a:r>
                      <a:r>
                        <a:rPr kumimoji="0" lang="en-US" altLang="ja-JP" sz="900" kern="1200" dirty="0">
                          <a:solidFill>
                            <a:schemeClr val="tx1"/>
                          </a:solidFill>
                          <a:latin typeface="Arial" panose="020B0604020202020204" pitchFamily="34" charset="0"/>
                          <a:ea typeface="+mn-ea"/>
                          <a:cs typeface="+mn-cs"/>
                        </a:rPr>
                        <a:t>Tenant/App</a:t>
                      </a:r>
                      <a:r>
                        <a:rPr kumimoji="0" lang="ja-JP" altLang="en-US" sz="900" kern="1200" dirty="0">
                          <a:solidFill>
                            <a:schemeClr val="tx1"/>
                          </a:solidFill>
                          <a:latin typeface="Arial" panose="020B0604020202020204" pitchFamily="34" charset="0"/>
                          <a:ea typeface="+mn-ea"/>
                          <a:cs typeface="+mn-cs"/>
                        </a:rPr>
                        <a:t>単位であるため）</a:t>
                      </a: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ja-JP" altLang="en-US" sz="900" b="1" kern="1200" dirty="0">
                          <a:solidFill>
                            <a:schemeClr val="tx1"/>
                          </a:solidFill>
                          <a:latin typeface="Arial" panose="020B0604020202020204" pitchFamily="34" charset="0"/>
                          <a:ea typeface="+mn-ea"/>
                          <a:cs typeface="+mn-cs"/>
                        </a:rPr>
                        <a:t>参照：</a:t>
                      </a:r>
                      <a:endParaRPr kumimoji="0" lang="en-US" altLang="ja-JP" sz="900" b="1"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ja-JP" sz="900" kern="1200" dirty="0">
                          <a:solidFill>
                            <a:schemeClr val="tx1"/>
                          </a:solidFill>
                          <a:latin typeface="Arial" panose="020B0604020202020204" pitchFamily="34" charset="0"/>
                          <a:ea typeface="+mn-ea"/>
                          <a:cs typeface="+mn-cs"/>
                        </a:rPr>
                        <a:t>※</a:t>
                      </a:r>
                      <a:r>
                        <a:rPr kumimoji="0" lang="ja-JP" altLang="en-US" sz="900" kern="1200" dirty="0">
                          <a:solidFill>
                            <a:schemeClr val="tx1"/>
                          </a:solidFill>
                          <a:latin typeface="Arial" panose="020B0604020202020204" pitchFamily="34" charset="0"/>
                          <a:ea typeface="+mn-ea"/>
                          <a:cs typeface="+mn-cs"/>
                        </a:rPr>
                        <a:t>　</a:t>
                      </a:r>
                      <a:r>
                        <a:rPr kumimoji="0" lang="en-US" altLang="ja-JP" sz="900" kern="1200" dirty="0">
                          <a:solidFill>
                            <a:schemeClr val="tx1"/>
                          </a:solidFill>
                          <a:latin typeface="Arial" panose="020B0604020202020204" pitchFamily="34" charset="0"/>
                          <a:ea typeface="+mn-ea"/>
                          <a:cs typeface="+mn-cs"/>
                          <a:hlinkClick r:id="rId3"/>
                        </a:rPr>
                        <a:t>https://learn.microsoft.com/ja-jp/graph/auth/</a:t>
                      </a: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ja-JP" sz="900" kern="1200" dirty="0">
                          <a:solidFill>
                            <a:schemeClr val="tx1"/>
                          </a:solidFill>
                          <a:latin typeface="Arial" panose="020B0604020202020204" pitchFamily="34" charset="0"/>
                          <a:ea typeface="+mn-ea"/>
                          <a:cs typeface="+mn-cs"/>
                        </a:rPr>
                        <a:t>※</a:t>
                      </a:r>
                      <a:r>
                        <a:rPr kumimoji="0" lang="ja-JP" altLang="en-US" sz="900" kern="1200" dirty="0">
                          <a:solidFill>
                            <a:schemeClr val="tx1"/>
                          </a:solidFill>
                          <a:latin typeface="Arial" panose="020B0604020202020204" pitchFamily="34" charset="0"/>
                          <a:ea typeface="+mn-ea"/>
                          <a:cs typeface="+mn-cs"/>
                        </a:rPr>
                        <a:t>　</a:t>
                      </a:r>
                      <a:r>
                        <a:rPr kumimoji="0" lang="de-DE" altLang="ja-JP" sz="900" kern="1200" dirty="0">
                          <a:solidFill>
                            <a:schemeClr val="tx1"/>
                          </a:solidFill>
                          <a:latin typeface="Arial" panose="020B0604020202020204" pitchFamily="34" charset="0"/>
                          <a:ea typeface="+mn-ea"/>
                          <a:cs typeface="+mn-cs"/>
                          <a:hlinkClick r:id="rId4"/>
                        </a:rPr>
                        <a:t>https://learn.microsoft.com/ja-jp/graph/search-concept-overview</a:t>
                      </a:r>
                      <a:endParaRPr kumimoji="0" lang="de-DE"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58281788"/>
                  </a:ext>
                </a:extLst>
              </a:tr>
              <a:tr h="6412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dirty="0"/>
                        <a:t>添付ファイルの権限制限</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アクセス権限ありの仕様書（</a:t>
                      </a:r>
                      <a:r>
                        <a:rPr kumimoji="0" lang="en-US" altLang="ja-JP" sz="900" kern="1200" dirty="0">
                          <a:solidFill>
                            <a:schemeClr val="tx1"/>
                          </a:solidFill>
                          <a:latin typeface="Arial" panose="020B0604020202020204" pitchFamily="34" charset="0"/>
                          <a:ea typeface="+mn-ea"/>
                          <a:cs typeface="+mn-cs"/>
                        </a:rPr>
                        <a:t>Table record</a:t>
                      </a:r>
                      <a:r>
                        <a:rPr kumimoji="0" lang="ja-JP" altLang="en-US" sz="900" kern="1200" dirty="0">
                          <a:solidFill>
                            <a:schemeClr val="tx1"/>
                          </a:solidFill>
                          <a:latin typeface="Arial" panose="020B0604020202020204" pitchFamily="34" charset="0"/>
                          <a:ea typeface="+mn-ea"/>
                          <a:cs typeface="+mn-cs"/>
                        </a:rPr>
                        <a:t>）の添付ファイルのみはログインユーザの</a:t>
                      </a:r>
                      <a:r>
                        <a:rPr kumimoji="0" lang="en-US" altLang="ja-JP" sz="900" kern="1200" dirty="0">
                          <a:solidFill>
                            <a:schemeClr val="tx1"/>
                          </a:solidFill>
                          <a:latin typeface="Arial" panose="020B0604020202020204" pitchFamily="34" charset="0"/>
                          <a:ea typeface="+mn-ea"/>
                          <a:cs typeface="+mn-cs"/>
                        </a:rPr>
                        <a:t>SPO</a:t>
                      </a:r>
                      <a:r>
                        <a:rPr kumimoji="0" lang="ja-JP" altLang="en-US" sz="900" kern="1200" dirty="0">
                          <a:solidFill>
                            <a:schemeClr val="tx1"/>
                          </a:solidFill>
                          <a:latin typeface="Arial" panose="020B0604020202020204" pitchFamily="34" charset="0"/>
                          <a:ea typeface="+mn-ea"/>
                          <a:cs typeface="+mn-cs"/>
                        </a:rPr>
                        <a:t>画面に表示し、承認状態により、編集</a:t>
                      </a:r>
                      <a:r>
                        <a:rPr kumimoji="0" lang="en-US" altLang="ja-JP" sz="900" kern="1200" dirty="0">
                          <a:solidFill>
                            <a:schemeClr val="tx1"/>
                          </a:solidFill>
                          <a:latin typeface="Arial" panose="020B0604020202020204" pitchFamily="34" charset="0"/>
                          <a:ea typeface="+mn-ea"/>
                          <a:cs typeface="+mn-cs"/>
                        </a:rPr>
                        <a:t>/</a:t>
                      </a:r>
                      <a:r>
                        <a:rPr kumimoji="0" lang="ja-JP" altLang="en-US" sz="900" kern="1200" dirty="0">
                          <a:solidFill>
                            <a:schemeClr val="tx1"/>
                          </a:solidFill>
                          <a:latin typeface="Arial" panose="020B0604020202020204" pitchFamily="34" charset="0"/>
                          <a:ea typeface="+mn-ea"/>
                          <a:cs typeface="+mn-cs"/>
                        </a:rPr>
                        <a:t>閲覧のみが可能とする</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900" kern="1200" dirty="0">
                          <a:solidFill>
                            <a:schemeClr val="tx1"/>
                          </a:solidFill>
                          <a:latin typeface="Arial" panose="020B0604020202020204" pitchFamily="34" charset="0"/>
                          <a:ea typeface="+mn-ea"/>
                          <a:cs typeface="+mn-cs"/>
                        </a:rPr>
                        <a:t>Microsoft Search</a:t>
                      </a:r>
                      <a:r>
                        <a:rPr kumimoji="0" lang="ja-JP" altLang="en-US" sz="900" kern="1200" dirty="0">
                          <a:solidFill>
                            <a:schemeClr val="tx1"/>
                          </a:solidFill>
                          <a:latin typeface="Arial" panose="020B0604020202020204" pitchFamily="34" charset="0"/>
                          <a:ea typeface="+mn-ea"/>
                          <a:cs typeface="+mn-cs"/>
                        </a:rPr>
                        <a:t>の権限チェック仕組みを利用で実現できる</a:t>
                      </a:r>
                      <a:endParaRPr kumimoji="0" lang="en-US" altLang="ja-JP" sz="900" kern="1200" dirty="0">
                        <a:solidFill>
                          <a:schemeClr val="tx1"/>
                        </a:solidFill>
                        <a:latin typeface="Arial" panose="020B060402020202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rgbClr val="C00000"/>
                          </a:solidFill>
                          <a:latin typeface="Arial" panose="020B0604020202020204" pitchFamily="34" charset="0"/>
                          <a:ea typeface="+mn-ea"/>
                          <a:cs typeface="+mn-cs"/>
                        </a:rPr>
                        <a:t>ログインユーザ</a:t>
                      </a:r>
                      <a:r>
                        <a:rPr kumimoji="0" lang="en-US" altLang="ja-JP" sz="900" kern="1200" dirty="0">
                          <a:solidFill>
                            <a:srgbClr val="C00000"/>
                          </a:solidFill>
                          <a:latin typeface="Arial" panose="020B0604020202020204" pitchFamily="34" charset="0"/>
                          <a:ea typeface="+mn-ea"/>
                          <a:cs typeface="+mn-cs"/>
                        </a:rPr>
                        <a:t>SPO</a:t>
                      </a:r>
                      <a:r>
                        <a:rPr kumimoji="0" lang="ja-JP" altLang="en-US" sz="900" kern="1200" dirty="0">
                          <a:solidFill>
                            <a:srgbClr val="C00000"/>
                          </a:solidFill>
                          <a:latin typeface="Arial" panose="020B0604020202020204" pitchFamily="34" charset="0"/>
                          <a:ea typeface="+mn-ea"/>
                          <a:cs typeface="+mn-cs"/>
                        </a:rPr>
                        <a:t>に読込可能のファイルのみが検索対象（検索時も同様、</a:t>
                      </a:r>
                      <a:r>
                        <a:rPr kumimoji="0" lang="en-US" altLang="ja-JP" sz="900" b="1" kern="1200" dirty="0">
                          <a:solidFill>
                            <a:srgbClr val="C00000"/>
                          </a:solidFill>
                          <a:latin typeface="Arial" panose="020B0604020202020204" pitchFamily="34" charset="0"/>
                          <a:ea typeface="+mn-ea"/>
                          <a:cs typeface="+mn-cs"/>
                        </a:rPr>
                        <a:t>SPO</a:t>
                      </a:r>
                      <a:r>
                        <a:rPr kumimoji="0" lang="ja-JP" altLang="en-US" sz="900" b="1" kern="1200" dirty="0">
                          <a:solidFill>
                            <a:srgbClr val="C00000"/>
                          </a:solidFill>
                          <a:latin typeface="Arial" panose="020B0604020202020204" pitchFamily="34" charset="0"/>
                          <a:ea typeface="+mn-ea"/>
                          <a:cs typeface="+mn-cs"/>
                        </a:rPr>
                        <a:t>の機能を利用</a:t>
                      </a:r>
                      <a:r>
                        <a:rPr kumimoji="0" lang="ja-JP" altLang="en-US" sz="900" kern="1200" dirty="0">
                          <a:solidFill>
                            <a:srgbClr val="C00000"/>
                          </a:solidFill>
                          <a:latin typeface="Arial" panose="020B0604020202020204" pitchFamily="34" charset="0"/>
                          <a:ea typeface="+mn-ea"/>
                          <a:cs typeface="+mn-cs"/>
                        </a:rPr>
                        <a:t>）</a:t>
                      </a:r>
                      <a:endParaRPr kumimoji="0" lang="en-US" altLang="ja-JP" sz="900" kern="1200" dirty="0">
                        <a:solidFill>
                          <a:srgbClr val="C00000"/>
                        </a:solidFill>
                        <a:latin typeface="Arial" panose="020B060402020202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chemeClr val="tx1"/>
                          </a:solidFill>
                          <a:latin typeface="Arial" panose="020B0604020202020204" pitchFamily="34" charset="0"/>
                          <a:ea typeface="+mn-ea"/>
                          <a:cs typeface="+mn-cs"/>
                        </a:rPr>
                        <a:t>ファイル毎に誰（ユーザ、グループ）がアクセス可能か、ファイル</a:t>
                      </a:r>
                      <a:r>
                        <a:rPr kumimoji="0" lang="en-US" altLang="ja-JP" sz="900" kern="1200" dirty="0">
                          <a:solidFill>
                            <a:schemeClr val="tx1"/>
                          </a:solidFill>
                          <a:latin typeface="Arial" panose="020B0604020202020204" pitchFamily="34" charset="0"/>
                          <a:ea typeface="+mn-ea"/>
                          <a:cs typeface="+mn-cs"/>
                        </a:rPr>
                        <a:t>Upload</a:t>
                      </a:r>
                      <a:r>
                        <a:rPr kumimoji="0" lang="ja-JP" altLang="en-US" sz="900" kern="1200" dirty="0">
                          <a:solidFill>
                            <a:schemeClr val="tx1"/>
                          </a:solidFill>
                          <a:latin typeface="Arial" panose="020B0604020202020204" pitchFamily="34" charset="0"/>
                          <a:ea typeface="+mn-ea"/>
                          <a:cs typeface="+mn-cs"/>
                        </a:rPr>
                        <a:t>時点でファイル毎に設定する</a:t>
                      </a:r>
                      <a:endParaRPr kumimoji="0" lang="en-US" altLang="ja-JP" sz="900" kern="1200" dirty="0">
                        <a:solidFill>
                          <a:schemeClr val="tx1"/>
                        </a:solidFill>
                        <a:latin typeface="Arial" panose="020B060402020202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chemeClr val="tx1"/>
                          </a:solidFill>
                          <a:latin typeface="Arial" panose="020B0604020202020204" pitchFamily="34" charset="0"/>
                          <a:ea typeface="+mn-ea"/>
                          <a:cs typeface="+mn-cs"/>
                        </a:rPr>
                        <a:t>仕様書（</a:t>
                      </a:r>
                      <a:r>
                        <a:rPr kumimoji="0" lang="en-US" altLang="ja-JP" sz="900" kern="1200" dirty="0">
                          <a:solidFill>
                            <a:schemeClr val="tx1"/>
                          </a:solidFill>
                          <a:latin typeface="Arial" panose="020B0604020202020204" pitchFamily="34" charset="0"/>
                          <a:ea typeface="+mn-ea"/>
                          <a:cs typeface="+mn-cs"/>
                        </a:rPr>
                        <a:t>Table record</a:t>
                      </a:r>
                      <a:r>
                        <a:rPr kumimoji="0" lang="ja-JP" altLang="en-US" sz="900" kern="1200" dirty="0">
                          <a:solidFill>
                            <a:schemeClr val="tx1"/>
                          </a:solidFill>
                          <a:latin typeface="Arial" panose="020B0604020202020204" pitchFamily="34" charset="0"/>
                          <a:ea typeface="+mn-ea"/>
                          <a:cs typeface="+mn-cs"/>
                        </a:rPr>
                        <a:t>）に公開権限が変更された場合、或いは公開グループにユーザが増減された場合、すでに</a:t>
                      </a:r>
                      <a:r>
                        <a:rPr kumimoji="0" lang="en-US" altLang="ja-JP" sz="900" kern="1200" dirty="0">
                          <a:solidFill>
                            <a:schemeClr val="tx1"/>
                          </a:solidFill>
                          <a:latin typeface="Arial" panose="020B0604020202020204" pitchFamily="34" charset="0"/>
                          <a:ea typeface="+mn-ea"/>
                          <a:cs typeface="+mn-cs"/>
                        </a:rPr>
                        <a:t>Upload</a:t>
                      </a:r>
                      <a:r>
                        <a:rPr kumimoji="0" lang="ja-JP" altLang="en-US" sz="900" kern="1200" dirty="0">
                          <a:solidFill>
                            <a:schemeClr val="tx1"/>
                          </a:solidFill>
                          <a:latin typeface="Arial" panose="020B0604020202020204" pitchFamily="34" charset="0"/>
                          <a:ea typeface="+mn-ea"/>
                          <a:cs typeface="+mn-cs"/>
                        </a:rPr>
                        <a:t>済のファイルに対して、関係添付ファイルを権限見直すことで対応</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900" kern="1200" dirty="0">
                          <a:solidFill>
                            <a:schemeClr val="tx1"/>
                          </a:solidFill>
                          <a:latin typeface="Arial" panose="020B0604020202020204" pitchFamily="34" charset="0"/>
                          <a:ea typeface="+mn-ea"/>
                          <a:cs typeface="+mn-cs"/>
                        </a:rPr>
                        <a:t>Microsoft Search</a:t>
                      </a:r>
                      <a:r>
                        <a:rPr kumimoji="0" lang="ja-JP" altLang="en-US" sz="900" kern="1200" dirty="0">
                          <a:solidFill>
                            <a:schemeClr val="tx1"/>
                          </a:solidFill>
                          <a:latin typeface="Arial" panose="020B0604020202020204" pitchFamily="34" charset="0"/>
                          <a:ea typeface="+mn-ea"/>
                          <a:cs typeface="+mn-cs"/>
                        </a:rPr>
                        <a:t>の権限チェック仕組みを利用する。</a:t>
                      </a:r>
                      <a:endParaRPr kumimoji="0" lang="en-US" altLang="ja-JP" sz="900" kern="1200" dirty="0">
                        <a:solidFill>
                          <a:schemeClr val="tx1"/>
                        </a:solidFill>
                        <a:latin typeface="Arial" panose="020B060402020202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altLang="ja-JP" sz="900" kern="1200" dirty="0">
                          <a:solidFill>
                            <a:schemeClr val="tx1"/>
                          </a:solidFill>
                          <a:latin typeface="Arial" panose="020B0604020202020204" pitchFamily="34" charset="0"/>
                          <a:ea typeface="+mn-ea"/>
                          <a:cs typeface="+mn-cs"/>
                        </a:rPr>
                        <a:t>SPO</a:t>
                      </a:r>
                      <a:r>
                        <a:rPr kumimoji="0" lang="ja-JP" altLang="en-US" sz="900" kern="1200" dirty="0">
                          <a:solidFill>
                            <a:schemeClr val="tx1"/>
                          </a:solidFill>
                          <a:latin typeface="Arial" panose="020B0604020202020204" pitchFamily="34" charset="0"/>
                          <a:ea typeface="+mn-ea"/>
                          <a:cs typeface="+mn-cs"/>
                        </a:rPr>
                        <a:t>に読込可能のファイルのみが検索対象（</a:t>
                      </a:r>
                      <a:r>
                        <a:rPr kumimoji="0" lang="en-US" altLang="ja-JP" sz="900" kern="1200" dirty="0">
                          <a:solidFill>
                            <a:schemeClr val="tx1"/>
                          </a:solidFill>
                          <a:latin typeface="Arial" panose="020B0604020202020204" pitchFamily="34" charset="0"/>
                          <a:ea typeface="+mn-ea"/>
                          <a:cs typeface="+mn-cs"/>
                        </a:rPr>
                        <a:t>MS</a:t>
                      </a:r>
                      <a:r>
                        <a:rPr kumimoji="0" lang="ja-JP" altLang="en-US" sz="900" kern="1200" dirty="0">
                          <a:solidFill>
                            <a:schemeClr val="tx1"/>
                          </a:solidFill>
                          <a:latin typeface="Arial" panose="020B0604020202020204" pitchFamily="34" charset="0"/>
                          <a:ea typeface="+mn-ea"/>
                          <a:cs typeface="+mn-cs"/>
                        </a:rPr>
                        <a:t>の仕様）</a:t>
                      </a:r>
                      <a:endParaRPr kumimoji="0" lang="en-US" altLang="ja-JP" sz="900" kern="1200" dirty="0">
                        <a:solidFill>
                          <a:schemeClr val="tx1"/>
                        </a:solidFill>
                        <a:latin typeface="Arial" panose="020B060402020202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chemeClr val="tx1"/>
                          </a:solidFill>
                          <a:latin typeface="Arial" panose="020B0604020202020204" pitchFamily="34" charset="0"/>
                          <a:ea typeface="+mn-ea"/>
                          <a:cs typeface="+mn-cs"/>
                        </a:rPr>
                        <a:t>ファイル毎に誰（ユーザ、グループ）がアクセス可能か、ファイル</a:t>
                      </a:r>
                      <a:r>
                        <a:rPr kumimoji="0" lang="en-US" altLang="ja-JP" sz="900" kern="1200" dirty="0">
                          <a:solidFill>
                            <a:schemeClr val="tx1"/>
                          </a:solidFill>
                          <a:latin typeface="Arial" panose="020B0604020202020204" pitchFamily="34" charset="0"/>
                          <a:ea typeface="+mn-ea"/>
                          <a:cs typeface="+mn-cs"/>
                        </a:rPr>
                        <a:t>Upload</a:t>
                      </a:r>
                      <a:r>
                        <a:rPr kumimoji="0" lang="ja-JP" altLang="en-US" sz="900" kern="1200" dirty="0">
                          <a:solidFill>
                            <a:schemeClr val="tx1"/>
                          </a:solidFill>
                          <a:latin typeface="Arial" panose="020B0604020202020204" pitchFamily="34" charset="0"/>
                          <a:ea typeface="+mn-ea"/>
                          <a:cs typeface="+mn-cs"/>
                        </a:rPr>
                        <a:t>時点で設定する</a:t>
                      </a:r>
                      <a:endParaRPr kumimoji="0" lang="en-US" altLang="ja-JP" sz="900" kern="1200" dirty="0">
                        <a:solidFill>
                          <a:schemeClr val="tx1"/>
                        </a:solidFill>
                        <a:latin typeface="Arial" panose="020B060402020202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chemeClr val="tx1"/>
                          </a:solidFill>
                          <a:latin typeface="Arial" panose="020B0604020202020204" pitchFamily="34" charset="0"/>
                          <a:ea typeface="+mn-ea"/>
                          <a:cs typeface="+mn-cs"/>
                        </a:rPr>
                        <a:t>仕様書（</a:t>
                      </a:r>
                      <a:r>
                        <a:rPr kumimoji="0" lang="en-US" altLang="ja-JP" sz="900" kern="1200" dirty="0">
                          <a:solidFill>
                            <a:schemeClr val="tx1"/>
                          </a:solidFill>
                          <a:latin typeface="Arial" panose="020B0604020202020204" pitchFamily="34" charset="0"/>
                          <a:ea typeface="+mn-ea"/>
                          <a:cs typeface="+mn-cs"/>
                        </a:rPr>
                        <a:t>Table record</a:t>
                      </a:r>
                      <a:r>
                        <a:rPr kumimoji="0" lang="ja-JP" altLang="en-US" sz="900" kern="1200" dirty="0">
                          <a:solidFill>
                            <a:schemeClr val="tx1"/>
                          </a:solidFill>
                          <a:latin typeface="Arial" panose="020B0604020202020204" pitchFamily="34" charset="0"/>
                          <a:ea typeface="+mn-ea"/>
                          <a:cs typeface="+mn-cs"/>
                        </a:rPr>
                        <a:t>）に公開権限が変更された場合、すでに</a:t>
                      </a:r>
                      <a:r>
                        <a:rPr kumimoji="0" lang="en-US" altLang="ja-JP" sz="900" kern="1200" dirty="0">
                          <a:solidFill>
                            <a:schemeClr val="tx1"/>
                          </a:solidFill>
                          <a:latin typeface="Arial" panose="020B0604020202020204" pitchFamily="34" charset="0"/>
                          <a:ea typeface="+mn-ea"/>
                          <a:cs typeface="+mn-cs"/>
                        </a:rPr>
                        <a:t>Upload</a:t>
                      </a:r>
                      <a:r>
                        <a:rPr kumimoji="0" lang="ja-JP" altLang="en-US" sz="900" kern="1200" dirty="0">
                          <a:solidFill>
                            <a:schemeClr val="tx1"/>
                          </a:solidFill>
                          <a:latin typeface="Arial" panose="020B0604020202020204" pitchFamily="34" charset="0"/>
                          <a:ea typeface="+mn-ea"/>
                          <a:cs typeface="+mn-cs"/>
                        </a:rPr>
                        <a:t>済のファイルに対して、個別権限処理が必要（複雑）</a:t>
                      </a: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515025090"/>
                  </a:ext>
                </a:extLst>
              </a:tr>
              <a:tr h="16878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kern="1200" dirty="0">
                          <a:solidFill>
                            <a:schemeClr val="tx1"/>
                          </a:solidFill>
                          <a:latin typeface="+mn-lt"/>
                          <a:ea typeface="+mn-ea"/>
                          <a:cs typeface="+mn-cs"/>
                        </a:rPr>
                        <a:t>備考</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900" kern="1200" dirty="0">
                          <a:solidFill>
                            <a:schemeClr val="tx1"/>
                          </a:solidFill>
                          <a:latin typeface="Arial" panose="020B0604020202020204" pitchFamily="34" charset="0"/>
                          <a:ea typeface="+mn-ea"/>
                          <a:cs typeface="+mn-cs"/>
                        </a:rPr>
                        <a:t>Graph API</a:t>
                      </a:r>
                      <a:r>
                        <a:rPr kumimoji="0" lang="ja-JP" altLang="en-US" sz="900" kern="1200" dirty="0">
                          <a:solidFill>
                            <a:schemeClr val="tx1"/>
                          </a:solidFill>
                          <a:latin typeface="Arial" panose="020B0604020202020204" pitchFamily="34" charset="0"/>
                          <a:ea typeface="+mn-ea"/>
                          <a:cs typeface="+mn-cs"/>
                        </a:rPr>
                        <a:t>は何？</a:t>
                      </a:r>
                      <a:r>
                        <a:rPr kumimoji="0" lang="en-US" altLang="ja-JP" sz="900" kern="1200" dirty="0">
                          <a:solidFill>
                            <a:schemeClr val="tx1"/>
                          </a:solidFill>
                          <a:latin typeface="Arial" panose="020B0604020202020204" pitchFamily="34" charset="0"/>
                          <a:ea typeface="+mn-ea"/>
                          <a:cs typeface="+mn-cs"/>
                        </a:rPr>
                        <a:t>Graph API</a:t>
                      </a:r>
                      <a:r>
                        <a:rPr kumimoji="0" lang="ja-JP" altLang="en-US" sz="900" kern="1200" dirty="0">
                          <a:solidFill>
                            <a:schemeClr val="tx1"/>
                          </a:solidFill>
                          <a:latin typeface="Arial" panose="020B0604020202020204" pitchFamily="34" charset="0"/>
                          <a:ea typeface="+mn-ea"/>
                          <a:cs typeface="+mn-cs"/>
                        </a:rPr>
                        <a:t>の仕組み（右図）</a:t>
                      </a:r>
                      <a:endParaRPr kumimoji="0" lang="en-US" altLang="ja-JP" sz="900" kern="1200" dirty="0">
                        <a:solidFill>
                          <a:schemeClr val="tx1"/>
                        </a:solidFill>
                        <a:latin typeface="Arial" panose="020B0604020202020204" pitchFamily="34" charset="0"/>
                        <a:ea typeface="+mn-ea"/>
                        <a:cs typeface="+mn-cs"/>
                      </a:endParaRPr>
                    </a:p>
                    <a:p>
                      <a:r>
                        <a:rPr lang="en-US" altLang="ja-JP" sz="900" dirty="0"/>
                        <a:t>PowerApps </a:t>
                      </a:r>
                      <a:r>
                        <a:rPr lang="ja-JP" altLang="en-US" sz="900" dirty="0"/>
                        <a:t>における </a:t>
                      </a:r>
                      <a:r>
                        <a:rPr lang="en-US" altLang="ja-JP" sz="900" b="1" dirty="0"/>
                        <a:t>Office 365 </a:t>
                      </a:r>
                      <a:r>
                        <a:rPr lang="ja-JP" altLang="en-US" sz="900" b="1" dirty="0"/>
                        <a:t>シリーズのデータオブジェクト（コネクタ）</a:t>
                      </a:r>
                      <a:r>
                        <a:rPr lang="ja-JP" altLang="en-US" sz="900" dirty="0"/>
                        <a:t>は、</a:t>
                      </a:r>
                      <a:endParaRPr lang="en-US" altLang="ja-JP" sz="900" dirty="0"/>
                    </a:p>
                    <a:p>
                      <a:r>
                        <a:rPr lang="en-US" altLang="ja-JP" sz="900" b="1" dirty="0"/>
                        <a:t>Microsoft Graph</a:t>
                      </a:r>
                      <a:r>
                        <a:rPr lang="ja-JP" altLang="en-US" sz="900" dirty="0"/>
                        <a:t> という共通の基盤サービスを通じて、</a:t>
                      </a:r>
                      <a:endParaRPr lang="en-US" altLang="ja-JP" sz="900" dirty="0"/>
                    </a:p>
                    <a:p>
                      <a:r>
                        <a:rPr lang="ja-JP" altLang="en-US" sz="900" dirty="0"/>
                        <a:t>ユーザーや組織のデータにアクセスしています。</a:t>
                      </a:r>
                    </a:p>
                    <a:p>
                      <a:r>
                        <a:rPr lang="ja-JP" altLang="en-US" sz="900" dirty="0"/>
                        <a:t>簡単に言えば、これらのコネクタは、</a:t>
                      </a:r>
                      <a:r>
                        <a:rPr lang="en-US" altLang="ja-JP" sz="900" dirty="0"/>
                        <a:t>PowerApps </a:t>
                      </a:r>
                      <a:r>
                        <a:rPr lang="ja-JP" altLang="en-US" sz="900" dirty="0"/>
                        <a:t>アプリが </a:t>
                      </a:r>
                      <a:r>
                        <a:rPr lang="en-US" altLang="ja-JP" sz="900" b="1" dirty="0"/>
                        <a:t>Microsoft 365 (</a:t>
                      </a:r>
                      <a:r>
                        <a:rPr lang="ja-JP" altLang="en-US" sz="900" b="1" dirty="0"/>
                        <a:t>旧 </a:t>
                      </a:r>
                      <a:r>
                        <a:rPr lang="en-US" altLang="ja-JP" sz="900" b="1" dirty="0"/>
                        <a:t>Office 365) </a:t>
                      </a:r>
                    </a:p>
                    <a:p>
                      <a:r>
                        <a:rPr lang="ja-JP" altLang="en-US" sz="900" b="1" dirty="0"/>
                        <a:t>のサービスと「会話」するための「通訳者」</a:t>
                      </a:r>
                      <a:r>
                        <a:rPr lang="ja-JP" altLang="en-US" sz="900" dirty="0"/>
                        <a:t> のようなものです。</a:t>
                      </a:r>
                      <a:endParaRPr lang="en-US" altLang="ja-JP" sz="900" dirty="0"/>
                    </a:p>
                    <a:p>
                      <a:r>
                        <a:rPr lang="en-US" altLang="ja-JP" sz="900" b="1" dirty="0">
                          <a:solidFill>
                            <a:srgbClr val="FF0000"/>
                          </a:solidFill>
                        </a:rPr>
                        <a:t>Microsoft</a:t>
                      </a:r>
                      <a:r>
                        <a:rPr lang="ja-JP" altLang="en-US" sz="900" b="1" dirty="0">
                          <a:solidFill>
                            <a:srgbClr val="FF0000"/>
                          </a:solidFill>
                        </a:rPr>
                        <a:t> </a:t>
                      </a:r>
                      <a:r>
                        <a:rPr lang="en-US" altLang="ja-JP" sz="900" b="1" dirty="0">
                          <a:solidFill>
                            <a:srgbClr val="FF0000"/>
                          </a:solidFill>
                        </a:rPr>
                        <a:t>Search</a:t>
                      </a:r>
                      <a:r>
                        <a:rPr lang="ja-JP" altLang="en-US" sz="900" b="1" dirty="0">
                          <a:solidFill>
                            <a:srgbClr val="FF0000"/>
                          </a:solidFill>
                        </a:rPr>
                        <a:t>のコネクタが提供されていないため、</a:t>
                      </a:r>
                      <a:r>
                        <a:rPr lang="en-US" altLang="ja-JP" sz="900" b="1" dirty="0">
                          <a:solidFill>
                            <a:srgbClr val="FF0000"/>
                          </a:solidFill>
                        </a:rPr>
                        <a:t>Power Apps</a:t>
                      </a:r>
                      <a:r>
                        <a:rPr lang="ja-JP" altLang="en-US" sz="900" b="1" dirty="0">
                          <a:solidFill>
                            <a:srgbClr val="FF0000"/>
                          </a:solidFill>
                        </a:rPr>
                        <a:t>から直接利用するのは必須。</a:t>
                      </a:r>
                      <a:endParaRPr kumimoji="0" lang="en-US" altLang="ja-JP" sz="900" b="1" kern="1200" dirty="0">
                        <a:solidFill>
                          <a:srgbClr val="FF0000"/>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a:txBody>
                    <a:bodyPr/>
                    <a:lstStyle/>
                    <a:p>
                      <a:endParaRPr kumimoji="1" lang="ja-JP" altLang="en-US"/>
                    </a:p>
                  </a:txBody>
                  <a:tcPr/>
                </a:tc>
                <a:tc hMerge="1">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987537692"/>
                  </a:ext>
                </a:extLst>
              </a:tr>
              <a:tr h="141709">
                <a:tc>
                  <a:txBody>
                    <a:bodyPr/>
                    <a:lstStyle/>
                    <a:p>
                      <a:endParaRPr lang="ja-JP" altLang="en-US" sz="105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271190"/>
                  </a:ext>
                </a:extLst>
              </a:tr>
            </a:tbl>
          </a:graphicData>
        </a:graphic>
      </p:graphicFrame>
      <p:pic>
        <p:nvPicPr>
          <p:cNvPr id="4" name="Picture 2" descr="Microsoft Graph、Microsoft Graph Data Connect、Copilot コネクタを使用すると、Microsoft 365 エクスペリエンスを拡張し、インテリジェント なアプリを構築できます。">
            <a:extLst>
              <a:ext uri="{FF2B5EF4-FFF2-40B4-BE49-F238E27FC236}">
                <a16:creationId xmlns:a16="http://schemas.microsoft.com/office/drawing/2014/main" id="{4A539BC9-27F8-11C1-74DD-0E247EAFAB2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87831" y="4241577"/>
            <a:ext cx="3653509" cy="181190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表 6">
            <a:extLst>
              <a:ext uri="{FF2B5EF4-FFF2-40B4-BE49-F238E27FC236}">
                <a16:creationId xmlns:a16="http://schemas.microsoft.com/office/drawing/2014/main" id="{053A7B1C-9D6B-DD7E-DEB5-B85372EBE02F}"/>
              </a:ext>
            </a:extLst>
          </p:cNvPr>
          <p:cNvGraphicFramePr>
            <a:graphicFrameLocks noGrp="1"/>
          </p:cNvGraphicFramePr>
          <p:nvPr>
            <p:extLst>
              <p:ext uri="{D42A27DB-BD31-4B8C-83A1-F6EECF244321}">
                <p14:modId xmlns:p14="http://schemas.microsoft.com/office/powerpoint/2010/main" val="2676872575"/>
              </p:ext>
            </p:extLst>
          </p:nvPr>
        </p:nvGraphicFramePr>
        <p:xfrm>
          <a:off x="2324608" y="5147529"/>
          <a:ext cx="5161281" cy="983408"/>
        </p:xfrm>
        <a:graphic>
          <a:graphicData uri="http://schemas.openxmlformats.org/drawingml/2006/table">
            <a:tbl>
              <a:tblPr firstRow="1">
                <a:tableStyleId>{35758FB7-9AC5-4552-8A53-C91805E547FA}</a:tableStyleId>
              </a:tblPr>
              <a:tblGrid>
                <a:gridCol w="652467">
                  <a:extLst>
                    <a:ext uri="{9D8B030D-6E8A-4147-A177-3AD203B41FA5}">
                      <a16:colId xmlns:a16="http://schemas.microsoft.com/office/drawing/2014/main" val="2071358957"/>
                    </a:ext>
                  </a:extLst>
                </a:gridCol>
                <a:gridCol w="1579901">
                  <a:extLst>
                    <a:ext uri="{9D8B030D-6E8A-4147-A177-3AD203B41FA5}">
                      <a16:colId xmlns:a16="http://schemas.microsoft.com/office/drawing/2014/main" val="3815825157"/>
                    </a:ext>
                  </a:extLst>
                </a:gridCol>
                <a:gridCol w="960059">
                  <a:extLst>
                    <a:ext uri="{9D8B030D-6E8A-4147-A177-3AD203B41FA5}">
                      <a16:colId xmlns:a16="http://schemas.microsoft.com/office/drawing/2014/main" val="3610100658"/>
                    </a:ext>
                  </a:extLst>
                </a:gridCol>
                <a:gridCol w="1968854">
                  <a:extLst>
                    <a:ext uri="{9D8B030D-6E8A-4147-A177-3AD203B41FA5}">
                      <a16:colId xmlns:a16="http://schemas.microsoft.com/office/drawing/2014/main" val="2805758698"/>
                    </a:ext>
                  </a:extLst>
                </a:gridCol>
              </a:tblGrid>
              <a:tr h="69075">
                <a:tc>
                  <a:txBody>
                    <a:bodyPr/>
                    <a:lstStyle/>
                    <a:p>
                      <a:r>
                        <a:rPr lang="ja-JP" altLang="en-US" sz="600" dirty="0"/>
                        <a:t>コネクタ名</a:t>
                      </a:r>
                    </a:p>
                  </a:txBody>
                  <a:tcPr marL="40112" marR="40112" marT="20056" marB="20056" anchor="ctr"/>
                </a:tc>
                <a:tc>
                  <a:txBody>
                    <a:bodyPr/>
                    <a:lstStyle/>
                    <a:p>
                      <a:r>
                        <a:rPr lang="ja-JP" altLang="en-US" sz="600" dirty="0"/>
                        <a:t>主な役割</a:t>
                      </a:r>
                    </a:p>
                  </a:txBody>
                  <a:tcPr marL="40112" marR="40112" marT="20056" marB="20056" anchor="ctr"/>
                </a:tc>
                <a:tc>
                  <a:txBody>
                    <a:bodyPr/>
                    <a:lstStyle/>
                    <a:p>
                      <a:r>
                        <a:rPr lang="ja-JP" altLang="en-US" sz="600" dirty="0"/>
                        <a:t>データソース</a:t>
                      </a:r>
                    </a:p>
                  </a:txBody>
                  <a:tcPr marL="40112" marR="40112" marT="20056" marB="20056" anchor="ctr"/>
                </a:tc>
                <a:tc>
                  <a:txBody>
                    <a:bodyPr/>
                    <a:lstStyle/>
                    <a:p>
                      <a:r>
                        <a:rPr lang="ja-JP" altLang="en-US" sz="600"/>
                        <a:t>関係性</a:t>
                      </a:r>
                      <a:r>
                        <a:rPr lang="en-US" altLang="ja-JP" sz="600"/>
                        <a:t>/</a:t>
                      </a:r>
                      <a:r>
                        <a:rPr lang="ja-JP" altLang="en-US" sz="600"/>
                        <a:t>共通点</a:t>
                      </a:r>
                    </a:p>
                  </a:txBody>
                  <a:tcPr marL="40112" marR="40112" marT="20056" marB="20056" anchor="ctr"/>
                </a:tc>
                <a:extLst>
                  <a:ext uri="{0D108BD9-81ED-4DB2-BD59-A6C34878D82A}">
                    <a16:rowId xmlns:a16="http://schemas.microsoft.com/office/drawing/2014/main" val="1925658862"/>
                  </a:ext>
                </a:extLst>
              </a:tr>
              <a:tr h="202054">
                <a:tc>
                  <a:txBody>
                    <a:bodyPr/>
                    <a:lstStyle/>
                    <a:p>
                      <a:r>
                        <a:rPr lang="de-DE" sz="600" b="1" dirty="0"/>
                        <a:t>Office 365 Users</a:t>
                      </a:r>
                      <a:endParaRPr lang="de-DE" sz="600" dirty="0"/>
                    </a:p>
                  </a:txBody>
                  <a:tcPr marL="40112" marR="40112" marT="20056" marB="20056" anchor="ctr"/>
                </a:tc>
                <a:tc>
                  <a:txBody>
                    <a:bodyPr/>
                    <a:lstStyle/>
                    <a:p>
                      <a:r>
                        <a:rPr lang="ja-JP" altLang="en-US" sz="600" dirty="0"/>
                        <a:t>組織内のユーザー（名前、メールアドレス、部署など）の</a:t>
                      </a:r>
                      <a:r>
                        <a:rPr lang="ja-JP" altLang="en-US" sz="600" b="1" dirty="0"/>
                        <a:t>読み取り</a:t>
                      </a:r>
                      <a:r>
                        <a:rPr lang="ja-JP" altLang="en-US" sz="600" dirty="0"/>
                        <a:t>。</a:t>
                      </a:r>
                    </a:p>
                  </a:txBody>
                  <a:tcPr marL="40112" marR="40112" marT="20056" marB="20056" anchor="ctr"/>
                </a:tc>
                <a:tc>
                  <a:txBody>
                    <a:bodyPr/>
                    <a:lstStyle/>
                    <a:p>
                      <a:r>
                        <a:rPr lang="de-DE" sz="600" dirty="0"/>
                        <a:t>Microsoft Graph (Azure AD)</a:t>
                      </a:r>
                    </a:p>
                  </a:txBody>
                  <a:tcPr marL="40112" marR="40112" marT="20056" marB="20056" anchor="ctr"/>
                </a:tc>
                <a:tc>
                  <a:txBody>
                    <a:bodyPr/>
                    <a:lstStyle/>
                    <a:p>
                      <a:r>
                        <a:rPr lang="ja-JP" altLang="en-US" sz="600"/>
                        <a:t>ユーザー情報を取得する最も基本的なコネクタ。他の多くのサービスと共通の認証基盤（</a:t>
                      </a:r>
                      <a:r>
                        <a:rPr lang="en-US" altLang="ja-JP" sz="600"/>
                        <a:t>Azure AD</a:t>
                      </a:r>
                      <a:r>
                        <a:rPr lang="ja-JP" altLang="en-US" sz="600"/>
                        <a:t>）を使用します。</a:t>
                      </a:r>
                    </a:p>
                  </a:txBody>
                  <a:tcPr marL="40112" marR="40112" marT="20056" marB="20056" anchor="ctr"/>
                </a:tc>
                <a:extLst>
                  <a:ext uri="{0D108BD9-81ED-4DB2-BD59-A6C34878D82A}">
                    <a16:rowId xmlns:a16="http://schemas.microsoft.com/office/drawing/2014/main" val="3837482820"/>
                  </a:ext>
                </a:extLst>
              </a:tr>
              <a:tr h="202054">
                <a:tc>
                  <a:txBody>
                    <a:bodyPr/>
                    <a:lstStyle/>
                    <a:p>
                      <a:r>
                        <a:rPr lang="de-DE" sz="600" b="1" dirty="0"/>
                        <a:t>Office 365 Outlook</a:t>
                      </a:r>
                      <a:endParaRPr lang="de-DE" sz="600" dirty="0"/>
                    </a:p>
                  </a:txBody>
                  <a:tcPr marL="40112" marR="40112" marT="20056" marB="20056" anchor="ctr"/>
                </a:tc>
                <a:tc>
                  <a:txBody>
                    <a:bodyPr/>
                    <a:lstStyle/>
                    <a:p>
                      <a:r>
                        <a:rPr lang="ja-JP" altLang="en-US" sz="600" dirty="0"/>
                        <a:t>ユーザーの</a:t>
                      </a:r>
                      <a:r>
                        <a:rPr lang="ja-JP" altLang="en-US" sz="600" b="1" dirty="0"/>
                        <a:t>メールボックス、カレンダー</a:t>
                      </a:r>
                      <a:r>
                        <a:rPr lang="ja-JP" altLang="en-US" sz="600" dirty="0"/>
                        <a:t>へのアクセス（メール送信、イベントの読み書き）。</a:t>
                      </a:r>
                    </a:p>
                  </a:txBody>
                  <a:tcPr marL="40112" marR="40112" marT="20056" marB="20056" anchor="ctr"/>
                </a:tc>
                <a:tc>
                  <a:txBody>
                    <a:bodyPr/>
                    <a:lstStyle/>
                    <a:p>
                      <a:r>
                        <a:rPr lang="de-DE" sz="600" dirty="0"/>
                        <a:t>Exchange Online / Microsoft Graph</a:t>
                      </a:r>
                    </a:p>
                  </a:txBody>
                  <a:tcPr marL="40112" marR="40112" marT="20056" marB="20056" anchor="ctr"/>
                </a:tc>
                <a:tc>
                  <a:txBody>
                    <a:bodyPr/>
                    <a:lstStyle/>
                    <a:p>
                      <a:r>
                        <a:rPr lang="ja-JP" altLang="en-US" sz="600" dirty="0"/>
                        <a:t>ユーザー固有のメールやカレンダー操作に特化しています。認証は </a:t>
                      </a:r>
                      <a:r>
                        <a:rPr lang="en-US" altLang="ja-JP" sz="600" dirty="0"/>
                        <a:t>Users </a:t>
                      </a:r>
                      <a:r>
                        <a:rPr lang="ja-JP" altLang="en-US" sz="600" dirty="0"/>
                        <a:t>と同じく </a:t>
                      </a:r>
                      <a:r>
                        <a:rPr lang="en-US" altLang="ja-JP" sz="600" dirty="0"/>
                        <a:t>Microsoft 365 </a:t>
                      </a:r>
                      <a:r>
                        <a:rPr lang="ja-JP" altLang="en-US" sz="600" dirty="0"/>
                        <a:t>ユーザー認証です。</a:t>
                      </a:r>
                    </a:p>
                  </a:txBody>
                  <a:tcPr marL="40112" marR="40112" marT="20056" marB="20056" anchor="ctr"/>
                </a:tc>
                <a:extLst>
                  <a:ext uri="{0D108BD9-81ED-4DB2-BD59-A6C34878D82A}">
                    <a16:rowId xmlns:a16="http://schemas.microsoft.com/office/drawing/2014/main" val="1069455160"/>
                  </a:ext>
                </a:extLst>
              </a:tr>
              <a:tr h="202054">
                <a:tc>
                  <a:txBody>
                    <a:bodyPr/>
                    <a:lstStyle/>
                    <a:p>
                      <a:r>
                        <a:rPr lang="de-DE" sz="600" b="1" dirty="0"/>
                        <a:t>Office 365 Groups</a:t>
                      </a:r>
                      <a:endParaRPr lang="de-DE" sz="600" dirty="0"/>
                    </a:p>
                  </a:txBody>
                  <a:tcPr marL="40112" marR="40112" marT="20056" marB="20056" anchor="ctr"/>
                </a:tc>
                <a:tc>
                  <a:txBody>
                    <a:bodyPr/>
                    <a:lstStyle/>
                    <a:p>
                      <a:r>
                        <a:rPr lang="ja-JP" altLang="en-US" sz="600" dirty="0"/>
                        <a:t>組織内の </a:t>
                      </a:r>
                      <a:r>
                        <a:rPr lang="en-US" altLang="ja-JP" sz="600" b="1" dirty="0"/>
                        <a:t>Microsoft 365 </a:t>
                      </a:r>
                      <a:r>
                        <a:rPr lang="ja-JP" altLang="en-US" sz="600" b="1" dirty="0"/>
                        <a:t>グループ</a:t>
                      </a:r>
                      <a:r>
                        <a:rPr lang="ja-JP" altLang="en-US" sz="600" dirty="0"/>
                        <a:t>の情報取得と管理。</a:t>
                      </a:r>
                    </a:p>
                  </a:txBody>
                  <a:tcPr marL="40112" marR="40112" marT="20056" marB="20056" anchor="ctr"/>
                </a:tc>
                <a:tc>
                  <a:txBody>
                    <a:bodyPr/>
                    <a:lstStyle/>
                    <a:p>
                      <a:r>
                        <a:rPr lang="de-DE" sz="600" dirty="0"/>
                        <a:t>Microsoft Graph</a:t>
                      </a:r>
                    </a:p>
                  </a:txBody>
                  <a:tcPr marL="40112" marR="40112" marT="20056" marB="20056" anchor="ctr"/>
                </a:tc>
                <a:tc>
                  <a:txBody>
                    <a:bodyPr/>
                    <a:lstStyle/>
                    <a:p>
                      <a:r>
                        <a:rPr lang="ja-JP" altLang="en-US" sz="600" dirty="0"/>
                        <a:t>組織構造（グループ単位）の情報にアクセスします。</a:t>
                      </a:r>
                      <a:r>
                        <a:rPr lang="en-US" altLang="ja-JP" sz="600" dirty="0"/>
                        <a:t>Users </a:t>
                      </a:r>
                      <a:r>
                        <a:rPr lang="ja-JP" altLang="en-US" sz="600" dirty="0"/>
                        <a:t>コネクタの情報を拡張したような位置付けです。</a:t>
                      </a:r>
                    </a:p>
                  </a:txBody>
                  <a:tcPr marL="40112" marR="40112" marT="20056" marB="20056" anchor="ctr"/>
                </a:tc>
                <a:extLst>
                  <a:ext uri="{0D108BD9-81ED-4DB2-BD59-A6C34878D82A}">
                    <a16:rowId xmlns:a16="http://schemas.microsoft.com/office/drawing/2014/main" val="1958721351"/>
                  </a:ext>
                </a:extLst>
              </a:tr>
            </a:tbl>
          </a:graphicData>
        </a:graphic>
      </p:graphicFrame>
      <p:pic>
        <p:nvPicPr>
          <p:cNvPr id="8" name="図 7">
            <a:extLst>
              <a:ext uri="{FF2B5EF4-FFF2-40B4-BE49-F238E27FC236}">
                <a16:creationId xmlns:a16="http://schemas.microsoft.com/office/drawing/2014/main" id="{AD73975E-A25D-320F-AE73-774135CFE90A}"/>
              </a:ext>
            </a:extLst>
          </p:cNvPr>
          <p:cNvPicPr>
            <a:picLocks noChangeAspect="1"/>
          </p:cNvPicPr>
          <p:nvPr/>
        </p:nvPicPr>
        <p:blipFill>
          <a:blip r:embed="rId6"/>
          <a:stretch>
            <a:fillRect/>
          </a:stretch>
        </p:blipFill>
        <p:spPr>
          <a:xfrm>
            <a:off x="7544523" y="1982070"/>
            <a:ext cx="2187995" cy="598392"/>
          </a:xfrm>
          <a:prstGeom prst="rect">
            <a:avLst/>
          </a:prstGeom>
        </p:spPr>
      </p:pic>
      <p:pic>
        <p:nvPicPr>
          <p:cNvPr id="2050" name="Picture 2" descr="Microsoft Graph を使用してカスタム データを使用して Microsoft Search を拡張する - Microsoft Graph  | Microsoft Learn">
            <a:extLst>
              <a:ext uri="{FF2B5EF4-FFF2-40B4-BE49-F238E27FC236}">
                <a16:creationId xmlns:a16="http://schemas.microsoft.com/office/drawing/2014/main" id="{8D380253-D92F-F37C-C5E8-C19245CF6A3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818852" y="1079123"/>
            <a:ext cx="1899739" cy="902947"/>
          </a:xfrm>
          <a:prstGeom prst="rect">
            <a:avLst/>
          </a:prstGeom>
          <a:noFill/>
          <a:extLst>
            <a:ext uri="{909E8E84-426E-40DD-AFC4-6F175D3DCCD1}">
              <a14:hiddenFill xmlns:a14="http://schemas.microsoft.com/office/drawing/2010/main">
                <a:solidFill>
                  <a:srgbClr val="FFFFFF"/>
                </a:solidFill>
              </a14:hiddenFill>
            </a:ext>
          </a:extLst>
        </p:spPr>
      </p:pic>
      <p:sp>
        <p:nvSpPr>
          <p:cNvPr id="6" name="テキスト ボックス 5">
            <a:extLst>
              <a:ext uri="{FF2B5EF4-FFF2-40B4-BE49-F238E27FC236}">
                <a16:creationId xmlns:a16="http://schemas.microsoft.com/office/drawing/2014/main" id="{30B3DE47-6330-5419-3AAF-F17BDAA7F5F7}"/>
              </a:ext>
            </a:extLst>
          </p:cNvPr>
          <p:cNvSpPr txBox="1"/>
          <p:nvPr/>
        </p:nvSpPr>
        <p:spPr>
          <a:xfrm>
            <a:off x="8953220" y="2176835"/>
            <a:ext cx="759900" cy="230832"/>
          </a:xfrm>
          <a:prstGeom prst="rect">
            <a:avLst/>
          </a:prstGeom>
          <a:noFill/>
        </p:spPr>
        <p:txBody>
          <a:bodyPr wrap="square" rtlCol="0">
            <a:spAutoFit/>
          </a:bodyPr>
          <a:lstStyle/>
          <a:p>
            <a:r>
              <a:rPr kumimoji="1" lang="en-US" altLang="ja-JP" sz="900" dirty="0">
                <a:solidFill>
                  <a:srgbClr val="0070C0"/>
                </a:solidFill>
              </a:rPr>
              <a:t>Front end</a:t>
            </a:r>
            <a:endParaRPr kumimoji="1" lang="ja-JP" altLang="en-US" sz="900" dirty="0">
              <a:solidFill>
                <a:srgbClr val="0070C0"/>
              </a:solidFill>
            </a:endParaRPr>
          </a:p>
        </p:txBody>
      </p:sp>
      <p:sp>
        <p:nvSpPr>
          <p:cNvPr id="9" name="テキスト ボックス 8">
            <a:extLst>
              <a:ext uri="{FF2B5EF4-FFF2-40B4-BE49-F238E27FC236}">
                <a16:creationId xmlns:a16="http://schemas.microsoft.com/office/drawing/2014/main" id="{2D91E257-6E96-85A9-59E0-FFF85CF63D75}"/>
              </a:ext>
            </a:extLst>
          </p:cNvPr>
          <p:cNvSpPr txBox="1"/>
          <p:nvPr/>
        </p:nvSpPr>
        <p:spPr>
          <a:xfrm>
            <a:off x="10581440" y="1765078"/>
            <a:ext cx="759900" cy="230832"/>
          </a:xfrm>
          <a:prstGeom prst="rect">
            <a:avLst/>
          </a:prstGeom>
          <a:noFill/>
        </p:spPr>
        <p:txBody>
          <a:bodyPr wrap="square" rtlCol="0">
            <a:spAutoFit/>
          </a:bodyPr>
          <a:lstStyle/>
          <a:p>
            <a:r>
              <a:rPr kumimoji="1" lang="en-US" altLang="ja-JP" sz="900" dirty="0">
                <a:solidFill>
                  <a:srgbClr val="0070C0"/>
                </a:solidFill>
              </a:rPr>
              <a:t>Back End</a:t>
            </a:r>
            <a:endParaRPr kumimoji="1" lang="ja-JP" altLang="en-US" sz="900" dirty="0">
              <a:solidFill>
                <a:srgbClr val="0070C0"/>
              </a:solidFill>
            </a:endParaRPr>
          </a:p>
        </p:txBody>
      </p:sp>
      <p:sp>
        <p:nvSpPr>
          <p:cNvPr id="10" name="矢印: 上カーブ 9">
            <a:extLst>
              <a:ext uri="{FF2B5EF4-FFF2-40B4-BE49-F238E27FC236}">
                <a16:creationId xmlns:a16="http://schemas.microsoft.com/office/drawing/2014/main" id="{83EA7370-CCA8-6FED-C1B1-44C0CF79D4A0}"/>
              </a:ext>
            </a:extLst>
          </p:cNvPr>
          <p:cNvSpPr/>
          <p:nvPr/>
        </p:nvSpPr>
        <p:spPr>
          <a:xfrm rot="20002720">
            <a:off x="9776085" y="2075807"/>
            <a:ext cx="690888" cy="269369"/>
          </a:xfrm>
          <a:prstGeom prst="curvedUpArrow">
            <a:avLst/>
          </a:prstGeom>
          <a:solidFill>
            <a:schemeClr val="accent3">
              <a:alpha val="50000"/>
            </a:schemeClr>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ja-JP" altLang="en-US"/>
          </a:p>
        </p:txBody>
      </p:sp>
    </p:spTree>
    <p:extLst>
      <p:ext uri="{BB962C8B-B14F-4D97-AF65-F5344CB8AC3E}">
        <p14:creationId xmlns:p14="http://schemas.microsoft.com/office/powerpoint/2010/main" val="29259702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normAutofit/>
          </a:bodyPr>
          <a:lstStyle/>
          <a:p>
            <a:r>
              <a:rPr lang="ja-JP" altLang="en-US" dirty="0"/>
              <a:t>要件／ソリューション－一括ダウンロード機能</a:t>
            </a:r>
            <a:endParaRPr lang="ja-JP" altLang="en-US" dirty="0">
              <a:effectLst/>
            </a:endParaRPr>
          </a:p>
        </p:txBody>
      </p:sp>
      <p:graphicFrame>
        <p:nvGraphicFramePr>
          <p:cNvPr id="13" name="表 12">
            <a:extLst>
              <a:ext uri="{FF2B5EF4-FFF2-40B4-BE49-F238E27FC236}">
                <a16:creationId xmlns:a16="http://schemas.microsoft.com/office/drawing/2014/main" id="{A60206F5-E460-AEF5-7288-6E12BD5B035C}"/>
              </a:ext>
            </a:extLst>
          </p:cNvPr>
          <p:cNvGraphicFramePr>
            <a:graphicFrameLocks noGrp="1"/>
          </p:cNvGraphicFramePr>
          <p:nvPr>
            <p:extLst>
              <p:ext uri="{D42A27DB-BD31-4B8C-83A1-F6EECF244321}">
                <p14:modId xmlns:p14="http://schemas.microsoft.com/office/powerpoint/2010/main" val="3043424529"/>
              </p:ext>
            </p:extLst>
          </p:nvPr>
        </p:nvGraphicFramePr>
        <p:xfrm>
          <a:off x="414336" y="1068576"/>
          <a:ext cx="11363328" cy="5255221"/>
        </p:xfrm>
        <a:graphic>
          <a:graphicData uri="http://schemas.openxmlformats.org/drawingml/2006/table">
            <a:tbl>
              <a:tblPr firstRow="1">
                <a:tableStyleId>{2D5ABB26-0587-4C30-8999-92F81FD0307C}</a:tableStyleId>
              </a:tblPr>
              <a:tblGrid>
                <a:gridCol w="1987167">
                  <a:extLst>
                    <a:ext uri="{9D8B030D-6E8A-4147-A177-3AD203B41FA5}">
                      <a16:colId xmlns:a16="http://schemas.microsoft.com/office/drawing/2014/main" val="307087368"/>
                    </a:ext>
                  </a:extLst>
                </a:gridCol>
                <a:gridCol w="4600266">
                  <a:extLst>
                    <a:ext uri="{9D8B030D-6E8A-4147-A177-3AD203B41FA5}">
                      <a16:colId xmlns:a16="http://schemas.microsoft.com/office/drawing/2014/main" val="1007415991"/>
                    </a:ext>
                  </a:extLst>
                </a:gridCol>
                <a:gridCol w="4775895">
                  <a:extLst>
                    <a:ext uri="{9D8B030D-6E8A-4147-A177-3AD203B41FA5}">
                      <a16:colId xmlns:a16="http://schemas.microsoft.com/office/drawing/2014/main" val="467773725"/>
                    </a:ext>
                  </a:extLst>
                </a:gridCol>
              </a:tblGrid>
              <a:tr h="261330">
                <a:tc>
                  <a:txBody>
                    <a:bodyPr/>
                    <a:lstStyle/>
                    <a:p>
                      <a:r>
                        <a:rPr lang="ja-JP" altLang="en-US" sz="1200" dirty="0"/>
                        <a:t>実現案、評価ポイント</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既定案</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向上案（</a:t>
                      </a:r>
                      <a:r>
                        <a:rPr lang="ja-JP" altLang="en-US" sz="1200" dirty="0">
                          <a:solidFill>
                            <a:srgbClr val="FF0000"/>
                          </a:solidFill>
                        </a:rPr>
                        <a:t>操作性向上：</a:t>
                      </a:r>
                      <a:r>
                        <a:rPr lang="en-US" altLang="ja-JP" sz="1200" dirty="0">
                          <a:solidFill>
                            <a:srgbClr val="FF0000"/>
                          </a:solidFill>
                        </a:rPr>
                        <a:t>Zip</a:t>
                      </a:r>
                      <a:r>
                        <a:rPr lang="ja-JP" altLang="en-US" sz="1200" dirty="0">
                          <a:solidFill>
                            <a:srgbClr val="FF0000"/>
                          </a:solidFill>
                        </a:rPr>
                        <a:t>ファイルに変更する作業が不要となる</a:t>
                      </a:r>
                      <a:r>
                        <a:rPr lang="ja-JP" altLang="en-US" sz="1200" dirty="0"/>
                        <a:t>）</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607360652"/>
                  </a:ext>
                </a:extLst>
              </a:tr>
              <a:tr h="2980315">
                <a:tc>
                  <a:txBody>
                    <a:bodyPr/>
                    <a:lstStyle/>
                    <a:p>
                      <a:r>
                        <a:rPr lang="ja-JP" altLang="en-US" sz="1100" dirty="0"/>
                        <a:t>実現案</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1000" b="1" dirty="0"/>
                        <a:t>Flow</a:t>
                      </a:r>
                      <a:r>
                        <a:rPr lang="ja-JP" altLang="en-US" sz="1000" b="1" dirty="0">
                          <a:solidFill>
                            <a:schemeClr val="tx1"/>
                          </a:solidFill>
                        </a:rPr>
                        <a:t>で実現できる</a:t>
                      </a:r>
                      <a:endParaRPr lang="en-US" altLang="ja-JP" sz="1000" b="1" dirty="0">
                        <a:solidFill>
                          <a:schemeClr val="tx1"/>
                        </a:solidFill>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ja-JP" sz="900" kern="1200" dirty="0">
                          <a:solidFill>
                            <a:schemeClr val="tx1"/>
                          </a:solidFill>
                          <a:latin typeface="Arial" panose="020B0604020202020204" pitchFamily="34" charset="0"/>
                          <a:ea typeface="+mn-ea"/>
                          <a:cs typeface="+mn-cs"/>
                        </a:rPr>
                        <a:t>PowerApps</a:t>
                      </a:r>
                      <a:r>
                        <a:rPr kumimoji="0" lang="ja-JP" altLang="en-US" sz="900" kern="1200" dirty="0">
                          <a:solidFill>
                            <a:schemeClr val="tx1"/>
                          </a:solidFill>
                          <a:latin typeface="Arial" panose="020B0604020202020204" pitchFamily="34" charset="0"/>
                          <a:ea typeface="+mn-ea"/>
                          <a:cs typeface="+mn-cs"/>
                        </a:rPr>
                        <a:t>で</a:t>
                      </a:r>
                      <a:r>
                        <a:rPr kumimoji="0" lang="en-US" altLang="ja-JP" sz="900" kern="1200" dirty="0">
                          <a:solidFill>
                            <a:schemeClr val="tx1"/>
                          </a:solidFill>
                          <a:latin typeface="Arial" panose="020B0604020202020204" pitchFamily="34" charset="0"/>
                          <a:ea typeface="+mn-ea"/>
                          <a:cs typeface="+mn-cs"/>
                        </a:rPr>
                        <a:t>SPO</a:t>
                      </a:r>
                      <a:r>
                        <a:rPr kumimoji="0" lang="ja-JP" altLang="en-US" sz="900" kern="1200" dirty="0">
                          <a:solidFill>
                            <a:schemeClr val="tx1"/>
                          </a:solidFill>
                          <a:latin typeface="Arial" panose="020B0604020202020204" pitchFamily="34" charset="0"/>
                          <a:ea typeface="+mn-ea"/>
                          <a:cs typeface="+mn-cs"/>
                        </a:rPr>
                        <a:t>から添付ファイル情報取得</a:t>
                      </a:r>
                      <a:endParaRPr kumimoji="0" lang="en-US" altLang="zh-CN" sz="900" kern="1200" dirty="0">
                        <a:solidFill>
                          <a:schemeClr val="tx1"/>
                        </a:solidFill>
                        <a:latin typeface="Arial" panose="020B0604020202020204" pitchFamily="34" charset="0"/>
                        <a:ea typeface="+mn-ea"/>
                        <a:cs typeface="+mn-cs"/>
                      </a:endParaRPr>
                    </a:p>
                    <a:p>
                      <a:pPr marL="285750" lvl="0" indent="-285750" eaLnBrk="0" fontAlgn="base" hangingPunct="0">
                        <a:spcBef>
                          <a:spcPct val="0"/>
                        </a:spcBef>
                        <a:spcAft>
                          <a:spcPct val="0"/>
                        </a:spcAft>
                        <a:buFont typeface="Arial" panose="020B0604020202020204" pitchFamily="34" charset="0"/>
                        <a:buChar char="•"/>
                      </a:pPr>
                      <a:r>
                        <a:rPr kumimoji="0" lang="zh-CN" altLang="zh-CN" sz="900" dirty="0">
                          <a:solidFill>
                            <a:schemeClr val="tx1"/>
                          </a:solidFill>
                          <a:latin typeface="Arial" panose="020B0604020202020204" pitchFamily="34" charset="0"/>
                        </a:rPr>
                        <a:t>PowerAppsで選択機能を実装（Checkbox付きGallery）。 </a:t>
                      </a:r>
                    </a:p>
                    <a:p>
                      <a:pPr marL="285750" lvl="0" indent="-285750" eaLnBrk="0" fontAlgn="base" hangingPunct="0">
                        <a:spcBef>
                          <a:spcPct val="0"/>
                        </a:spcBef>
                        <a:spcAft>
                          <a:spcPct val="0"/>
                        </a:spcAft>
                        <a:buFont typeface="Arial" panose="020B0604020202020204" pitchFamily="34" charset="0"/>
                        <a:buChar char="•"/>
                      </a:pPr>
                      <a:r>
                        <a:rPr kumimoji="0" lang="zh-CN" altLang="zh-CN" sz="900" dirty="0">
                          <a:solidFill>
                            <a:schemeClr val="tx1"/>
                          </a:solidFill>
                          <a:latin typeface="Arial" panose="020B0604020202020204" pitchFamily="34" charset="0"/>
                        </a:rPr>
                        <a:t>ダウンロード処理: Power Automate Flowをトリガー。 </a:t>
                      </a:r>
                    </a:p>
                    <a:p>
                      <a:pPr marL="285750" lvl="0" indent="-285750" eaLnBrk="0" fontAlgn="base" hangingPunct="0">
                        <a:spcBef>
                          <a:spcPct val="0"/>
                        </a:spcBef>
                        <a:spcAft>
                          <a:spcPct val="0"/>
                        </a:spcAft>
                        <a:buFont typeface="Arial" panose="020B0604020202020204" pitchFamily="34" charset="0"/>
                        <a:buChar char="•"/>
                      </a:pPr>
                      <a:r>
                        <a:rPr kumimoji="0" lang="zh-CN" altLang="zh-CN" sz="900" dirty="0">
                          <a:solidFill>
                            <a:schemeClr val="tx1"/>
                          </a:solidFill>
                          <a:latin typeface="Arial" panose="020B0604020202020204" pitchFamily="34" charset="0"/>
                        </a:rPr>
                        <a:t>Flow詳細: </a:t>
                      </a:r>
                    </a:p>
                    <a:p>
                      <a:pPr marL="742950" lvl="1" indent="-285750" eaLnBrk="0" fontAlgn="base" hangingPunct="0">
                        <a:spcBef>
                          <a:spcPct val="0"/>
                        </a:spcBef>
                        <a:spcAft>
                          <a:spcPct val="0"/>
                        </a:spcAft>
                        <a:buFont typeface="Arial" panose="020B0604020202020204" pitchFamily="34" charset="0"/>
                        <a:buChar char="•"/>
                      </a:pPr>
                      <a:r>
                        <a:rPr kumimoji="0" lang="zh-CN" altLang="zh-CN" sz="900" dirty="0">
                          <a:solidFill>
                            <a:schemeClr val="tx1"/>
                          </a:solidFill>
                          <a:latin typeface="Arial" panose="020B0604020202020204" pitchFamily="34" charset="0"/>
                        </a:rPr>
                        <a:t>Trigger: PowerApps</a:t>
                      </a:r>
                      <a:r>
                        <a:rPr kumimoji="0" lang="zh-CN" altLang="zh-CN" sz="900" dirty="0">
                          <a:latin typeface="Arial" panose="020B0604020202020204" pitchFamily="34" charset="0"/>
                        </a:rPr>
                        <a:t>から呼び出し（PowerApps V2 Trigger）。 </a:t>
                      </a:r>
                    </a:p>
                    <a:p>
                      <a:pPr marL="742950" lvl="1" indent="-285750" eaLnBrk="0" fontAlgn="base" hangingPunct="0">
                        <a:spcBef>
                          <a:spcPct val="0"/>
                        </a:spcBef>
                        <a:spcAft>
                          <a:spcPct val="0"/>
                        </a:spcAft>
                        <a:buFont typeface="Arial" panose="020B0604020202020204" pitchFamily="34" charset="0"/>
                        <a:buChar char="•"/>
                      </a:pPr>
                      <a:r>
                        <a:rPr kumimoji="0" lang="zh-CN" altLang="zh-CN" sz="900" dirty="0">
                          <a:latin typeface="Arial" panose="020B0604020202020204" pitchFamily="34" charset="0"/>
                        </a:rPr>
                        <a:t>Action: 選択</a:t>
                      </a:r>
                      <a:r>
                        <a:rPr kumimoji="0" lang="ja-JP" altLang="en-US" sz="900" dirty="0">
                          <a:latin typeface="Arial" panose="020B0604020202020204" pitchFamily="34" charset="0"/>
                        </a:rPr>
                        <a:t>対象添付</a:t>
                      </a:r>
                      <a:r>
                        <a:rPr kumimoji="0" lang="zh-CN" altLang="zh-CN" sz="900" dirty="0">
                          <a:latin typeface="Arial" panose="020B0604020202020204" pitchFamily="34" charset="0"/>
                        </a:rPr>
                        <a:t>ファイルのURLリストを取得 → ZIPファイル作成（OneDrive/SharePointのCreate fileアクション使用） → </a:t>
                      </a:r>
                      <a:r>
                        <a:rPr kumimoji="0" lang="en-US" altLang="ja-JP" sz="900" dirty="0">
                          <a:latin typeface="Arial" panose="020B0604020202020204" pitchFamily="34" charset="0"/>
                        </a:rPr>
                        <a:t>ZIP</a:t>
                      </a:r>
                      <a:r>
                        <a:rPr kumimoji="0" lang="zh-CN" altLang="zh-CN" sz="900" dirty="0">
                          <a:latin typeface="Arial" panose="020B0604020202020204" pitchFamily="34" charset="0"/>
                        </a:rPr>
                        <a:t>ダウンロードリンク生成。 </a:t>
                      </a:r>
                    </a:p>
                    <a:p>
                      <a:pPr marL="285750" lvl="0" indent="-285750" eaLnBrk="0" fontAlgn="base" hangingPunct="0">
                        <a:spcBef>
                          <a:spcPct val="0"/>
                        </a:spcBef>
                        <a:spcAft>
                          <a:spcPct val="0"/>
                        </a:spcAft>
                        <a:buFont typeface="Arial" panose="020B0604020202020204" pitchFamily="34" charset="0"/>
                        <a:buChar char="•"/>
                      </a:pPr>
                      <a:r>
                        <a:rPr kumimoji="0" lang="en-US" altLang="ja-JP" sz="900" dirty="0">
                          <a:latin typeface="Arial" panose="020B0604020202020204" pitchFamily="34" charset="0"/>
                        </a:rPr>
                        <a:t>PowerApps</a:t>
                      </a:r>
                      <a:r>
                        <a:rPr kumimoji="0" lang="zh-CN" altLang="zh-CN" sz="900" dirty="0">
                          <a:latin typeface="Arial" panose="020B0604020202020204" pitchFamily="34" charset="0"/>
                        </a:rPr>
                        <a:t>PowerAppsのDownload関数を使用。</a:t>
                      </a:r>
                      <a:endParaRPr kumimoji="0" lang="en-US" altLang="zh-CN" sz="900" dirty="0">
                        <a:latin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r>
                        <a:rPr kumimoji="0" lang="ja-JP" altLang="en-US" sz="900" dirty="0">
                          <a:latin typeface="Arial" panose="020B0604020202020204" pitchFamily="34" charset="0"/>
                        </a:rPr>
                        <a:t>ファイルの</a:t>
                      </a:r>
                      <a:r>
                        <a:rPr kumimoji="0" lang="zh-CN" altLang="zh-CN" sz="900" dirty="0">
                          <a:latin typeface="Arial" panose="020B0604020202020204" pitchFamily="34" charset="0"/>
                        </a:rPr>
                        <a:t>保存先: ユーザーが指定したディレクトリ（ブラウザダウンロード</a:t>
                      </a:r>
                      <a:r>
                        <a:rPr kumimoji="0" lang="ja-JP" altLang="en-US" sz="900" dirty="0">
                          <a:latin typeface="Arial" panose="020B0604020202020204" pitchFamily="34" charset="0"/>
                        </a:rPr>
                        <a:t>オプションを毎回確認にし、</a:t>
                      </a:r>
                      <a:r>
                        <a:rPr kumimoji="0" lang="zh-CN" altLang="zh-CN" sz="900" dirty="0">
                          <a:latin typeface="Arial" panose="020B0604020202020204" pitchFamily="34" charset="0"/>
                        </a:rPr>
                        <a:t>ユーザーが</a:t>
                      </a:r>
                      <a:r>
                        <a:rPr kumimoji="0" lang="ja-JP" altLang="en-US" sz="900" dirty="0">
                          <a:latin typeface="Arial" panose="020B0604020202020204" pitchFamily="34" charset="0"/>
                        </a:rPr>
                        <a:t>保存先</a:t>
                      </a:r>
                      <a:r>
                        <a:rPr kumimoji="0" lang="zh-CN" altLang="zh-CN" sz="900" dirty="0">
                          <a:latin typeface="Arial" panose="020B0604020202020204" pitchFamily="34" charset="0"/>
                        </a:rPr>
                        <a:t>選択）。</a:t>
                      </a:r>
                    </a:p>
                    <a:p>
                      <a:pPr marL="0" lvl="0" indent="0" eaLnBrk="0" fontAlgn="base" hangingPunct="0">
                        <a:spcBef>
                          <a:spcPct val="0"/>
                        </a:spcBef>
                        <a:spcAft>
                          <a:spcPct val="0"/>
                        </a:spcAft>
                        <a:buFont typeface="Arial" panose="020B0604020202020204" pitchFamily="34" charset="0"/>
                        <a:buNone/>
                      </a:pPr>
                      <a:r>
                        <a:rPr kumimoji="0" lang="ja-JP" altLang="en-US" sz="900" b="1" dirty="0">
                          <a:latin typeface="Arial" panose="020B0604020202020204" pitchFamily="34" charset="0"/>
                        </a:rPr>
                        <a:t>前提：</a:t>
                      </a:r>
                      <a:endParaRPr kumimoji="0" lang="en-US" altLang="ja-JP" sz="900" b="1" dirty="0">
                        <a:latin typeface="Arial" panose="020B0604020202020204" pitchFamily="34" charset="0"/>
                      </a:endParaRPr>
                    </a:p>
                    <a:p>
                      <a:pPr marL="0" lvl="0" indent="0" eaLnBrk="0" fontAlgn="base" hangingPunct="0">
                        <a:spcBef>
                          <a:spcPct val="0"/>
                        </a:spcBef>
                        <a:spcAft>
                          <a:spcPct val="0"/>
                        </a:spcAft>
                        <a:buFont typeface="Arial" panose="020B0604020202020204" pitchFamily="34" charset="0"/>
                        <a:buNone/>
                      </a:pPr>
                      <a:r>
                        <a:rPr kumimoji="0" lang="ja-JP" altLang="en-US" sz="900" dirty="0">
                          <a:latin typeface="Arial" panose="020B0604020202020204" pitchFamily="34" charset="0"/>
                        </a:rPr>
                        <a:t>　</a:t>
                      </a:r>
                      <a:r>
                        <a:rPr kumimoji="0" lang="en-US" altLang="ja-JP" sz="900" dirty="0">
                          <a:latin typeface="Arial" panose="020B0604020202020204" pitchFamily="34" charset="0"/>
                        </a:rPr>
                        <a:t>Browser</a:t>
                      </a:r>
                      <a:r>
                        <a:rPr kumimoji="0" lang="ja-JP" altLang="en-US" sz="900" dirty="0">
                          <a:latin typeface="Arial" panose="020B0604020202020204" pitchFamily="34" charset="0"/>
                        </a:rPr>
                        <a:t>で、ファイル保存オプションを事前に設定</a:t>
                      </a:r>
                      <a:endParaRPr kumimoji="0" lang="en-US" altLang="ja-JP" sz="900" dirty="0">
                        <a:latin typeface="Arial" panose="020B0604020202020204" pitchFamily="34" charset="0"/>
                      </a:endParaRPr>
                    </a:p>
                    <a:p>
                      <a:pPr marL="0" lvl="0" indent="0" eaLnBrk="0" fontAlgn="base" hangingPunct="0">
                        <a:spcBef>
                          <a:spcPct val="0"/>
                        </a:spcBef>
                        <a:spcAft>
                          <a:spcPct val="0"/>
                        </a:spcAft>
                        <a:buFont typeface="Arial" panose="020B0604020202020204" pitchFamily="34" charset="0"/>
                        <a:buNone/>
                      </a:pPr>
                      <a:endParaRPr kumimoji="0" lang="zh-CN" altLang="zh-CN" sz="900" dirty="0">
                        <a:latin typeface="Arial" panose="020B0604020202020204" pitchFamily="34" charset="0"/>
                      </a:endParaRPr>
                    </a:p>
                    <a:p>
                      <a:endParaRPr lang="en-US" altLang="ja-JP" sz="1000" dirty="0"/>
                    </a:p>
                    <a:p>
                      <a:endParaRPr lang="ja-JP" altLang="en-US" sz="1000" dirty="0"/>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1000" b="1" dirty="0">
                          <a:solidFill>
                            <a:schemeClr val="tx1"/>
                          </a:solidFill>
                        </a:rPr>
                        <a:t>PowerApps</a:t>
                      </a:r>
                      <a:r>
                        <a:rPr lang="ja-JP" altLang="en-US" sz="1000" b="1" dirty="0">
                          <a:solidFill>
                            <a:schemeClr val="tx1"/>
                          </a:solidFill>
                        </a:rPr>
                        <a:t> にて実現できる</a:t>
                      </a:r>
                      <a:r>
                        <a:rPr lang="ja-JP" altLang="en-US" sz="1000" dirty="0">
                          <a:solidFill>
                            <a:schemeClr val="tx1"/>
                          </a:solidFill>
                        </a:rPr>
                        <a:t>。詳細は下記：</a:t>
                      </a:r>
                      <a:endParaRPr lang="en-US" altLang="ja-JP" sz="1000" dirty="0">
                        <a:solidFill>
                          <a:schemeClr val="tx1"/>
                        </a:solidFill>
                      </a:endParaRPr>
                    </a:p>
                    <a:p>
                      <a:pPr marL="285750" marR="0" lvl="0" indent="-285750" algn="l" defTabSz="914400" rtl="0" eaLnBrk="0" fontAlgn="base" latinLnBrk="0" hangingPunct="0">
                        <a:lnSpc>
                          <a:spcPct val="100000"/>
                        </a:lnSpc>
                        <a:spcBef>
                          <a:spcPct val="0"/>
                        </a:spcBef>
                        <a:spcAft>
                          <a:spcPct val="0"/>
                        </a:spcAft>
                        <a:buClrTx/>
                        <a:buSzTx/>
                        <a:buFont typeface="+mj-lt"/>
                        <a:buAutoNum type="arabicPeriod"/>
                        <a:tabLst/>
                        <a:defRPr/>
                      </a:pPr>
                      <a:r>
                        <a:rPr kumimoji="0" lang="en-US" altLang="ja-JP" sz="900" kern="1200" dirty="0">
                          <a:solidFill>
                            <a:schemeClr val="tx1"/>
                          </a:solidFill>
                          <a:latin typeface="Arial" panose="020B0604020202020204" pitchFamily="34" charset="0"/>
                          <a:ea typeface="+mn-ea"/>
                          <a:cs typeface="+mn-cs"/>
                        </a:rPr>
                        <a:t>PowerApps</a:t>
                      </a:r>
                      <a:r>
                        <a:rPr kumimoji="0" lang="ja-JP" altLang="en-US" sz="900" kern="1200" dirty="0">
                          <a:solidFill>
                            <a:schemeClr val="tx1"/>
                          </a:solidFill>
                          <a:latin typeface="Arial" panose="020B0604020202020204" pitchFamily="34" charset="0"/>
                          <a:ea typeface="+mn-ea"/>
                          <a:cs typeface="+mn-cs"/>
                        </a:rPr>
                        <a:t>で</a:t>
                      </a:r>
                      <a:r>
                        <a:rPr kumimoji="0" lang="en-US" altLang="ja-JP" sz="900" kern="1200" dirty="0">
                          <a:solidFill>
                            <a:schemeClr val="tx1"/>
                          </a:solidFill>
                          <a:latin typeface="Arial" panose="020B0604020202020204" pitchFamily="34" charset="0"/>
                          <a:ea typeface="+mn-ea"/>
                          <a:cs typeface="+mn-cs"/>
                        </a:rPr>
                        <a:t>SPO</a:t>
                      </a:r>
                      <a:r>
                        <a:rPr kumimoji="0" lang="ja-JP" altLang="en-US" sz="900" kern="1200" dirty="0">
                          <a:solidFill>
                            <a:schemeClr val="tx1"/>
                          </a:solidFill>
                          <a:latin typeface="Arial" panose="020B0604020202020204" pitchFamily="34" charset="0"/>
                          <a:ea typeface="+mn-ea"/>
                          <a:cs typeface="+mn-cs"/>
                        </a:rPr>
                        <a:t>から添付ファイル情報取得</a:t>
                      </a:r>
                      <a:endParaRPr kumimoji="0" lang="en-US" altLang="zh-CN" sz="900" kern="1200" dirty="0">
                        <a:solidFill>
                          <a:schemeClr val="tx1"/>
                        </a:solidFill>
                        <a:latin typeface="Arial" panose="020B0604020202020204" pitchFamily="34" charset="0"/>
                        <a:ea typeface="+mn-ea"/>
                        <a:cs typeface="+mn-cs"/>
                      </a:endParaRPr>
                    </a:p>
                    <a:p>
                      <a:pPr marL="285750" lvl="0" indent="-285750" algn="l" defTabSz="914400" rtl="0" eaLnBrk="0" fontAlgn="base" latinLnBrk="0" hangingPunct="0">
                        <a:spcBef>
                          <a:spcPct val="0"/>
                        </a:spcBef>
                        <a:spcAft>
                          <a:spcPct val="0"/>
                        </a:spcAft>
                        <a:buFont typeface="+mj-lt"/>
                        <a:buAutoNum type="arabicPeriod"/>
                      </a:pPr>
                      <a:r>
                        <a:rPr kumimoji="0" lang="zh-CN" altLang="zh-CN" sz="900" kern="1200" dirty="0">
                          <a:solidFill>
                            <a:schemeClr val="tx1"/>
                          </a:solidFill>
                          <a:latin typeface="Arial" panose="020B0604020202020204" pitchFamily="34" charset="0"/>
                          <a:ea typeface="+mn-ea"/>
                          <a:cs typeface="+mn-cs"/>
                        </a:rPr>
                        <a:t>PowerAppsで選択機能を実装（Checkbox付きGallery）</a:t>
                      </a:r>
                      <a:endParaRPr kumimoji="0" lang="en-US" altLang="zh-CN" sz="900" kern="1200" dirty="0">
                        <a:solidFill>
                          <a:schemeClr val="tx1"/>
                        </a:solidFill>
                        <a:latin typeface="Arial" panose="020B0604020202020204" pitchFamily="34" charset="0"/>
                        <a:ea typeface="+mn-ea"/>
                        <a:cs typeface="+mn-cs"/>
                      </a:endParaRPr>
                    </a:p>
                    <a:p>
                      <a:pPr marL="285750" lvl="0" indent="-285750" algn="l" defTabSz="914400" rtl="0" eaLnBrk="0" fontAlgn="base" latinLnBrk="0" hangingPunct="0">
                        <a:spcBef>
                          <a:spcPct val="0"/>
                        </a:spcBef>
                        <a:spcAft>
                          <a:spcPct val="0"/>
                        </a:spcAft>
                        <a:buFont typeface="+mj-lt"/>
                        <a:buAutoNum type="arabicPeriod"/>
                      </a:pPr>
                      <a:r>
                        <a:rPr kumimoji="0" lang="en-US" altLang="ja-JP" sz="900" kern="1200" dirty="0">
                          <a:solidFill>
                            <a:schemeClr val="tx1"/>
                          </a:solidFill>
                          <a:latin typeface="Arial" panose="020B0604020202020204" pitchFamily="34" charset="0"/>
                          <a:ea typeface="+mn-ea"/>
                          <a:cs typeface="+mn-cs"/>
                        </a:rPr>
                        <a:t>PowerApps</a:t>
                      </a:r>
                      <a:r>
                        <a:rPr kumimoji="0" lang="ja-JP" altLang="en-US" sz="900" kern="1200" dirty="0">
                          <a:solidFill>
                            <a:schemeClr val="tx1"/>
                          </a:solidFill>
                          <a:latin typeface="Arial" panose="020B0604020202020204" pitchFamily="34" charset="0"/>
                          <a:ea typeface="+mn-ea"/>
                          <a:cs typeface="+mn-cs"/>
                        </a:rPr>
                        <a:t>に直接</a:t>
                      </a:r>
                      <a:r>
                        <a:rPr kumimoji="0" lang="en-US" altLang="ja-JP" sz="900" kern="1200" dirty="0">
                          <a:solidFill>
                            <a:schemeClr val="tx1"/>
                          </a:solidFill>
                          <a:latin typeface="Arial" panose="020B0604020202020204" pitchFamily="34" charset="0"/>
                          <a:ea typeface="+mn-ea"/>
                          <a:cs typeface="+mn-cs"/>
                        </a:rPr>
                        <a:t>JavaScript</a:t>
                      </a:r>
                      <a:r>
                        <a:rPr kumimoji="0" lang="ja-JP" altLang="en-US" sz="900" kern="1200" dirty="0">
                          <a:solidFill>
                            <a:schemeClr val="tx1"/>
                          </a:solidFill>
                          <a:latin typeface="Arial" panose="020B0604020202020204" pitchFamily="34" charset="0"/>
                          <a:ea typeface="+mn-ea"/>
                          <a:cs typeface="+mn-cs"/>
                        </a:rPr>
                        <a:t>が埋められないため、</a:t>
                      </a:r>
                      <a:r>
                        <a:rPr kumimoji="0" lang="zh-CN" altLang="zh-CN" sz="900" kern="1200" dirty="0">
                          <a:solidFill>
                            <a:schemeClr val="tx1"/>
                          </a:solidFill>
                          <a:latin typeface="Arial" panose="020B0604020202020204" pitchFamily="34" charset="0"/>
                          <a:ea typeface="+mn-ea"/>
                          <a:cs typeface="+mn-cs"/>
                        </a:rPr>
                        <a:t>PowerAppsで</a:t>
                      </a:r>
                      <a:r>
                        <a:rPr lang="en-US" altLang="ja-JP" sz="900" dirty="0">
                          <a:solidFill>
                            <a:schemeClr val="tx1"/>
                          </a:solidFill>
                          <a:latin typeface="Yu Gothic UI" panose="020B0500000000000000" pitchFamily="50" charset="-128"/>
                          <a:ea typeface="Yu Gothic UI" panose="020B0500000000000000" pitchFamily="50" charset="-128"/>
                        </a:rPr>
                        <a:t>Web </a:t>
                      </a:r>
                      <a:r>
                        <a:rPr lang="ja-JP" altLang="en-US" sz="900" dirty="0">
                          <a:solidFill>
                            <a:schemeClr val="tx1"/>
                          </a:solidFill>
                          <a:latin typeface="Yu Gothic UI" panose="020B0500000000000000" pitchFamily="50" charset="-128"/>
                          <a:ea typeface="Yu Gothic UI" panose="020B0500000000000000" pitchFamily="50" charset="-128"/>
                        </a:rPr>
                        <a:t>ページを埋め込むの</a:t>
                      </a:r>
                      <a:r>
                        <a:rPr lang="en-US" altLang="ja-JP" sz="900" dirty="0">
                          <a:solidFill>
                            <a:schemeClr val="tx1"/>
                          </a:solidFill>
                          <a:latin typeface="Yu Gothic UI" panose="020B0500000000000000" pitchFamily="50" charset="-128"/>
                          <a:ea typeface="Yu Gothic UI" panose="020B0500000000000000" pitchFamily="50" charset="-128"/>
                        </a:rPr>
                        <a:t>HTML text </a:t>
                      </a:r>
                      <a:r>
                        <a:rPr lang="ja-JP" altLang="en-US" sz="900" dirty="0">
                          <a:solidFill>
                            <a:schemeClr val="tx1"/>
                          </a:solidFill>
                          <a:latin typeface="Yu Gothic UI" panose="020B0500000000000000" pitchFamily="50" charset="-128"/>
                          <a:ea typeface="Yu Gothic UI" panose="020B0500000000000000" pitchFamily="50" charset="-128"/>
                        </a:rPr>
                        <a:t>コントロール（または </a:t>
                      </a:r>
                      <a:r>
                        <a:rPr lang="en-US" altLang="ja-JP" sz="900" dirty="0">
                          <a:solidFill>
                            <a:schemeClr val="tx1"/>
                          </a:solidFill>
                          <a:latin typeface="Yu Gothic UI" panose="020B0500000000000000" pitchFamily="50" charset="-128"/>
                          <a:ea typeface="Yu Gothic UI" panose="020B0500000000000000" pitchFamily="50" charset="-128"/>
                        </a:rPr>
                        <a:t>WebView </a:t>
                      </a:r>
                      <a:r>
                        <a:rPr lang="ja-JP" altLang="en-US" sz="900" dirty="0">
                          <a:solidFill>
                            <a:schemeClr val="tx1"/>
                          </a:solidFill>
                          <a:latin typeface="Yu Gothic UI" panose="020B0500000000000000" pitchFamily="50" charset="-128"/>
                          <a:ea typeface="Yu Gothic UI" panose="020B0500000000000000" pitchFamily="50" charset="-128"/>
                        </a:rPr>
                        <a:t>コントロール）により</a:t>
                      </a:r>
                      <a:r>
                        <a:rPr lang="en-US" altLang="ja-JP" sz="900" dirty="0">
                          <a:solidFill>
                            <a:schemeClr val="tx1"/>
                          </a:solidFill>
                          <a:latin typeface="Yu Gothic UI" panose="020B0500000000000000" pitchFamily="50" charset="-128"/>
                          <a:ea typeface="Yu Gothic UI" panose="020B0500000000000000" pitchFamily="50" charset="-128"/>
                        </a:rPr>
                        <a:t>Java Script</a:t>
                      </a:r>
                      <a:r>
                        <a:rPr lang="ja-JP" altLang="en-US" sz="900" dirty="0">
                          <a:solidFill>
                            <a:schemeClr val="tx1"/>
                          </a:solidFill>
                          <a:latin typeface="Yu Gothic UI" panose="020B0500000000000000" pitchFamily="50" charset="-128"/>
                          <a:ea typeface="Yu Gothic UI" panose="020B0500000000000000" pitchFamily="50" charset="-128"/>
                        </a:rPr>
                        <a:t>を導入</a:t>
                      </a:r>
                      <a:endParaRPr lang="en-US" altLang="ja-JP" sz="900" dirty="0">
                        <a:solidFill>
                          <a:schemeClr val="tx1"/>
                        </a:solidFill>
                        <a:latin typeface="Yu Gothic UI" panose="020B0500000000000000" pitchFamily="50" charset="-128"/>
                        <a:ea typeface="Yu Gothic UI" panose="020B0500000000000000" pitchFamily="50" charset="-128"/>
                      </a:endParaRPr>
                    </a:p>
                    <a:p>
                      <a:pPr marL="285750" lvl="0" indent="-285750" eaLnBrk="0" fontAlgn="base" hangingPunct="0">
                        <a:spcBef>
                          <a:spcPct val="0"/>
                        </a:spcBef>
                        <a:spcAft>
                          <a:spcPct val="0"/>
                        </a:spcAft>
                        <a:buFont typeface="+mj-lt"/>
                        <a:buAutoNum type="arabicPeriod"/>
                      </a:pPr>
                      <a:r>
                        <a:rPr kumimoji="0" lang="ja-JP" altLang="en-US" sz="900" dirty="0">
                          <a:solidFill>
                            <a:schemeClr val="tx1"/>
                          </a:solidFill>
                          <a:latin typeface="Arial" panose="020B0604020202020204" pitchFamily="34" charset="0"/>
                        </a:rPr>
                        <a:t>上記</a:t>
                      </a:r>
                      <a:r>
                        <a:rPr kumimoji="0" lang="en-US" altLang="ja-JP" sz="900" dirty="0">
                          <a:solidFill>
                            <a:schemeClr val="tx1"/>
                          </a:solidFill>
                          <a:latin typeface="Arial" panose="020B0604020202020204" pitchFamily="34" charset="0"/>
                        </a:rPr>
                        <a:t>No.3</a:t>
                      </a:r>
                      <a:r>
                        <a:rPr kumimoji="0" lang="ja-JP" altLang="en-US" sz="900" dirty="0">
                          <a:solidFill>
                            <a:schemeClr val="tx1"/>
                          </a:solidFill>
                          <a:latin typeface="Arial" panose="020B0604020202020204" pitchFamily="34" charset="0"/>
                        </a:rPr>
                        <a:t>で導入された</a:t>
                      </a:r>
                      <a:r>
                        <a:rPr kumimoji="0" lang="en-US" altLang="ja-JP" sz="900" dirty="0">
                          <a:solidFill>
                            <a:schemeClr val="tx1"/>
                          </a:solidFill>
                          <a:latin typeface="Arial" panose="020B0604020202020204" pitchFamily="34" charset="0"/>
                        </a:rPr>
                        <a:t>JavaScript</a:t>
                      </a:r>
                      <a:r>
                        <a:rPr kumimoji="0" lang="ja-JP" altLang="en-US" sz="900" dirty="0">
                          <a:solidFill>
                            <a:schemeClr val="tx1"/>
                          </a:solidFill>
                          <a:latin typeface="Arial" panose="020B0604020202020204" pitchFamily="34" charset="0"/>
                        </a:rPr>
                        <a:t>を利用し、</a:t>
                      </a:r>
                      <a:r>
                        <a:rPr kumimoji="0" lang="en-US" altLang="ja-JP" sz="900" dirty="0">
                          <a:solidFill>
                            <a:schemeClr val="tx1"/>
                          </a:solidFill>
                          <a:latin typeface="Arial" panose="020B0604020202020204" pitchFamily="34" charset="0"/>
                        </a:rPr>
                        <a:t>No.1</a:t>
                      </a:r>
                      <a:r>
                        <a:rPr kumimoji="0" lang="ja-JP" altLang="en-US" sz="900" dirty="0">
                          <a:solidFill>
                            <a:schemeClr val="tx1"/>
                          </a:solidFill>
                          <a:latin typeface="Arial" panose="020B0604020202020204" pitchFamily="34" charset="0"/>
                        </a:rPr>
                        <a:t>の添付添付ファイルを</a:t>
                      </a:r>
                      <a:r>
                        <a:rPr kumimoji="0" lang="en-US" altLang="ja-JP" sz="900" dirty="0">
                          <a:solidFill>
                            <a:schemeClr val="tx1"/>
                          </a:solidFill>
                          <a:latin typeface="Arial" panose="020B0604020202020204" pitchFamily="34" charset="0"/>
                        </a:rPr>
                        <a:t>Local Directory</a:t>
                      </a:r>
                      <a:r>
                        <a:rPr kumimoji="0" lang="ja-JP" altLang="en-US" sz="900" dirty="0">
                          <a:solidFill>
                            <a:schemeClr val="tx1"/>
                          </a:solidFill>
                          <a:latin typeface="Arial" panose="020B0604020202020204" pitchFamily="34" charset="0"/>
                        </a:rPr>
                        <a:t>に保存する（</a:t>
                      </a:r>
                      <a:r>
                        <a:rPr kumimoji="0" lang="en-US" altLang="ja-JP" sz="900" dirty="0">
                          <a:solidFill>
                            <a:schemeClr val="tx1"/>
                          </a:solidFill>
                          <a:latin typeface="Arial" panose="020B0604020202020204" pitchFamily="34" charset="0"/>
                        </a:rPr>
                        <a:t>JavaScript </a:t>
                      </a:r>
                      <a:r>
                        <a:rPr kumimoji="0" lang="ja-JP" altLang="en-US" sz="900" dirty="0">
                          <a:solidFill>
                            <a:schemeClr val="tx1"/>
                          </a:solidFill>
                          <a:latin typeface="Arial" panose="020B0604020202020204" pitchFamily="34" charset="0"/>
                        </a:rPr>
                        <a:t>によりの</a:t>
                      </a:r>
                      <a:r>
                        <a:rPr kumimoji="0" lang="en-US" altLang="ja-JP" sz="900" dirty="0">
                          <a:solidFill>
                            <a:schemeClr val="tx1"/>
                          </a:solidFill>
                          <a:latin typeface="Arial" panose="020B0604020202020204" pitchFamily="34" charset="0"/>
                        </a:rPr>
                        <a:t>Local File System</a:t>
                      </a:r>
                      <a:r>
                        <a:rPr kumimoji="0" lang="ja-JP" altLang="en-US" sz="900" dirty="0">
                          <a:solidFill>
                            <a:schemeClr val="tx1"/>
                          </a:solidFill>
                          <a:latin typeface="Arial" panose="020B0604020202020204" pitchFamily="34" charset="0"/>
                        </a:rPr>
                        <a:t>アクセスすための</a:t>
                      </a:r>
                      <a:r>
                        <a:rPr kumimoji="0" lang="en-US" altLang="ja-JP" sz="900" dirty="0">
                          <a:solidFill>
                            <a:schemeClr val="tx1"/>
                          </a:solidFill>
                          <a:latin typeface="Arial" panose="020B0604020202020204" pitchFamily="34" charset="0"/>
                        </a:rPr>
                        <a:t>Security</a:t>
                      </a:r>
                      <a:r>
                        <a:rPr kumimoji="0" lang="ja-JP" altLang="en-US" sz="900" dirty="0">
                          <a:solidFill>
                            <a:schemeClr val="tx1"/>
                          </a:solidFill>
                          <a:latin typeface="Arial" panose="020B0604020202020204" pitchFamily="34" charset="0"/>
                        </a:rPr>
                        <a:t>設定が必要）</a:t>
                      </a:r>
                      <a:endParaRPr kumimoji="0" lang="en-US" altLang="zh-CN" sz="900" dirty="0">
                        <a:solidFill>
                          <a:schemeClr val="tx1"/>
                        </a:solidFill>
                        <a:latin typeface="Arial" panose="020B0604020202020204" pitchFamily="34" charset="0"/>
                      </a:endParaRPr>
                    </a:p>
                    <a:p>
                      <a:pPr marL="0" lvl="0" indent="0" eaLnBrk="0" fontAlgn="base" hangingPunct="0">
                        <a:spcBef>
                          <a:spcPct val="0"/>
                        </a:spcBef>
                        <a:spcAft>
                          <a:spcPct val="0"/>
                        </a:spcAft>
                        <a:buFont typeface="+mj-lt"/>
                        <a:buNone/>
                      </a:pPr>
                      <a:r>
                        <a:rPr kumimoji="0" lang="en-US" altLang="ja-JP" sz="900" dirty="0">
                          <a:solidFill>
                            <a:schemeClr val="tx1"/>
                          </a:solidFill>
                          <a:latin typeface="Arial" panose="020B0604020202020204" pitchFamily="34" charset="0"/>
                        </a:rPr>
                        <a:t>※</a:t>
                      </a:r>
                      <a:r>
                        <a:rPr kumimoji="0" lang="ja-JP" altLang="en-US" sz="900" dirty="0">
                          <a:solidFill>
                            <a:schemeClr val="tx1"/>
                          </a:solidFill>
                          <a:latin typeface="Arial" panose="020B0604020202020204" pitchFamily="34" charset="0"/>
                        </a:rPr>
                        <a:t>　</a:t>
                      </a:r>
                      <a:r>
                        <a:rPr kumimoji="0" lang="en-US" altLang="ja-JP" sz="900" dirty="0">
                          <a:solidFill>
                            <a:schemeClr val="tx1"/>
                          </a:solidFill>
                          <a:latin typeface="Arial" panose="020B0604020202020204" pitchFamily="34" charset="0"/>
                        </a:rPr>
                        <a:t>No.4</a:t>
                      </a:r>
                      <a:r>
                        <a:rPr kumimoji="0" lang="ja-JP" altLang="en-US" sz="900" dirty="0">
                          <a:solidFill>
                            <a:schemeClr val="tx1"/>
                          </a:solidFill>
                          <a:latin typeface="Arial" panose="020B0604020202020204" pitchFamily="34" charset="0"/>
                        </a:rPr>
                        <a:t>のファイルの</a:t>
                      </a:r>
                      <a:r>
                        <a:rPr kumimoji="0" lang="zh-CN" altLang="zh-CN" sz="900" dirty="0">
                          <a:solidFill>
                            <a:schemeClr val="tx1"/>
                          </a:solidFill>
                          <a:latin typeface="Arial" panose="020B0604020202020204" pitchFamily="34" charset="0"/>
                        </a:rPr>
                        <a:t>保存先</a:t>
                      </a:r>
                      <a:r>
                        <a:rPr kumimoji="0" lang="ja-JP" altLang="en-US" sz="900" dirty="0">
                          <a:solidFill>
                            <a:schemeClr val="tx1"/>
                          </a:solidFill>
                          <a:latin typeface="Arial" panose="020B0604020202020204" pitchFamily="34" charset="0"/>
                        </a:rPr>
                        <a:t>取得は複数ファイルでも一回のみ</a:t>
                      </a:r>
                      <a:endParaRPr kumimoji="0" lang="en-US" altLang="ja-JP" sz="900" dirty="0">
                        <a:solidFill>
                          <a:schemeClr val="tx1"/>
                        </a:solidFill>
                        <a:latin typeface="Arial" panose="020B0604020202020204" pitchFamily="34" charset="0"/>
                      </a:endParaRPr>
                    </a:p>
                    <a:p>
                      <a:pPr marL="0" lvl="0" indent="0" eaLnBrk="0" fontAlgn="base" hangingPunct="0">
                        <a:spcBef>
                          <a:spcPct val="0"/>
                        </a:spcBef>
                        <a:spcAft>
                          <a:spcPct val="0"/>
                        </a:spcAft>
                        <a:buFont typeface="Arial" panose="020B0604020202020204" pitchFamily="34" charset="0"/>
                        <a:buNone/>
                      </a:pPr>
                      <a:r>
                        <a:rPr kumimoji="0" lang="ja-JP" altLang="en-US" sz="900" b="1" dirty="0">
                          <a:solidFill>
                            <a:schemeClr val="tx1"/>
                          </a:solidFill>
                          <a:latin typeface="Arial" panose="020B0604020202020204" pitchFamily="34" charset="0"/>
                        </a:rPr>
                        <a:t>前提：</a:t>
                      </a:r>
                      <a:endParaRPr kumimoji="0" lang="en-US" altLang="ja-JP" sz="900" b="1" dirty="0">
                        <a:solidFill>
                          <a:schemeClr val="tx1"/>
                        </a:solidFill>
                        <a:latin typeface="Arial" panose="020B0604020202020204" pitchFamily="34" charset="0"/>
                      </a:endParaRPr>
                    </a:p>
                    <a:p>
                      <a:pPr marL="0" lvl="0" indent="0" eaLnBrk="0" fontAlgn="base" hangingPunct="0">
                        <a:spcBef>
                          <a:spcPct val="0"/>
                        </a:spcBef>
                        <a:spcAft>
                          <a:spcPct val="0"/>
                        </a:spcAft>
                        <a:buFont typeface="Arial" panose="020B0604020202020204" pitchFamily="34" charset="0"/>
                        <a:buNone/>
                      </a:pPr>
                      <a:r>
                        <a:rPr kumimoji="0" lang="ja-JP" altLang="en-US" sz="900" dirty="0">
                          <a:solidFill>
                            <a:schemeClr val="tx1"/>
                          </a:solidFill>
                          <a:latin typeface="Arial" panose="020B0604020202020204" pitchFamily="34" charset="0"/>
                        </a:rPr>
                        <a:t>　社内標準ブラウザ</a:t>
                      </a:r>
                      <a:r>
                        <a:rPr kumimoji="0" lang="en-US" altLang="zh-CN" sz="900" dirty="0">
                          <a:solidFill>
                            <a:schemeClr val="tx1"/>
                          </a:solidFill>
                          <a:latin typeface="Arial" panose="020B0604020202020204" pitchFamily="34" charset="0"/>
                        </a:rPr>
                        <a:t>Chrome</a:t>
                      </a:r>
                      <a:r>
                        <a:rPr kumimoji="0" lang="ja-JP" altLang="en-US" sz="900" dirty="0">
                          <a:solidFill>
                            <a:schemeClr val="tx1"/>
                          </a:solidFill>
                          <a:latin typeface="Arial" panose="020B0604020202020204" pitchFamily="34" charset="0"/>
                        </a:rPr>
                        <a:t>に、</a:t>
                      </a:r>
                      <a:r>
                        <a:rPr kumimoji="0" lang="en-US" altLang="ja-JP" sz="900" dirty="0">
                          <a:solidFill>
                            <a:schemeClr val="tx1"/>
                          </a:solidFill>
                          <a:latin typeface="Arial" panose="020B0604020202020204" pitchFamily="34" charset="0"/>
                        </a:rPr>
                        <a:t>Java Script</a:t>
                      </a:r>
                      <a:r>
                        <a:rPr kumimoji="0" lang="ja-JP" altLang="en-US" sz="900" dirty="0">
                          <a:solidFill>
                            <a:schemeClr val="tx1"/>
                          </a:solidFill>
                          <a:latin typeface="Arial" panose="020B0604020202020204" pitchFamily="34" charset="0"/>
                        </a:rPr>
                        <a:t>はローカルディレクトリに</a:t>
                      </a:r>
                      <a:endParaRPr kumimoji="0" lang="en-US" altLang="ja-JP" sz="900" dirty="0">
                        <a:solidFill>
                          <a:schemeClr val="tx1"/>
                        </a:solidFill>
                        <a:latin typeface="Arial" panose="020B0604020202020204" pitchFamily="34" charset="0"/>
                      </a:endParaRPr>
                    </a:p>
                    <a:p>
                      <a:pPr marL="0" lvl="0" indent="0" eaLnBrk="0" fontAlgn="base" hangingPunct="0">
                        <a:spcBef>
                          <a:spcPct val="0"/>
                        </a:spcBef>
                        <a:spcAft>
                          <a:spcPct val="0"/>
                        </a:spcAft>
                        <a:buFont typeface="Arial" panose="020B0604020202020204" pitchFamily="34" charset="0"/>
                        <a:buNone/>
                      </a:pPr>
                      <a:r>
                        <a:rPr kumimoji="0" lang="ja-JP" altLang="en-US" sz="900" dirty="0">
                          <a:solidFill>
                            <a:schemeClr val="tx1"/>
                          </a:solidFill>
                          <a:latin typeface="Arial" panose="020B0604020202020204" pitchFamily="34" charset="0"/>
                        </a:rPr>
                        <a:t>　書出す、読込権限を付与する</a:t>
                      </a:r>
                      <a:endParaRPr kumimoji="0" lang="zh-CN" altLang="zh-CN" sz="900" dirty="0">
                        <a:solidFill>
                          <a:schemeClr val="tx1"/>
                        </a:solidFill>
                        <a:latin typeface="Arial" panose="020B0604020202020204" pitchFamily="34" charset="0"/>
                      </a:endParaRPr>
                    </a:p>
                  </a:txBody>
                  <a:tcPr marL="28046" marR="28046" marT="14023" marB="14023">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453962866"/>
                  </a:ext>
                </a:extLst>
              </a:tr>
              <a:tr h="389817">
                <a:tc>
                  <a:txBody>
                    <a:bodyPr/>
                    <a:lstStyle/>
                    <a:p>
                      <a:r>
                        <a:rPr lang="ja-JP" altLang="en-US" sz="1100" dirty="0"/>
                        <a:t>複数添付ファイル纏めて</a:t>
                      </a:r>
                      <a:r>
                        <a:rPr lang="en-US" altLang="ja-JP" sz="1100" dirty="0"/>
                        <a:t>ZIP</a:t>
                      </a:r>
                      <a:r>
                        <a:rPr lang="ja-JP" altLang="en-US" sz="1100" dirty="0"/>
                        <a:t>ダウンロード</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kumimoji="0" lang="ja-JP" altLang="en-US" sz="900" kern="1200" dirty="0">
                          <a:solidFill>
                            <a:schemeClr val="tx1"/>
                          </a:solidFill>
                          <a:latin typeface="Arial" panose="020B0604020202020204" pitchFamily="34" charset="0"/>
                          <a:ea typeface="+mn-ea"/>
                          <a:cs typeface="+mn-cs"/>
                        </a:rPr>
                        <a:t>下記のみが可能：</a:t>
                      </a:r>
                      <a:endParaRPr kumimoji="0" lang="en-US" altLang="ja-JP" sz="900" kern="1200" dirty="0">
                        <a:solidFill>
                          <a:schemeClr val="tx1"/>
                        </a:solidFill>
                        <a:latin typeface="Arial" panose="020B0604020202020204" pitchFamily="34" charset="0"/>
                        <a:ea typeface="+mn-ea"/>
                        <a:cs typeface="+mn-cs"/>
                      </a:endParaRPr>
                    </a:p>
                    <a:p>
                      <a:r>
                        <a:rPr kumimoji="0" lang="ja-JP" altLang="en-US" sz="900" kern="1200" dirty="0">
                          <a:solidFill>
                            <a:schemeClr val="tx1"/>
                          </a:solidFill>
                          <a:latin typeface="Arial" panose="020B0604020202020204" pitchFamily="34" charset="0"/>
                          <a:ea typeface="+mn-ea"/>
                          <a:cs typeface="+mn-cs"/>
                        </a:rPr>
                        <a:t>複数仕様書に紐付いた添付ファイルを纏めて</a:t>
                      </a:r>
                      <a:r>
                        <a:rPr kumimoji="0" lang="en-US" altLang="ja-JP" sz="900" kern="1200" dirty="0">
                          <a:solidFill>
                            <a:schemeClr val="tx1"/>
                          </a:solidFill>
                          <a:latin typeface="Arial" panose="020B0604020202020204" pitchFamily="34" charset="0"/>
                          <a:ea typeface="+mn-ea"/>
                          <a:cs typeface="+mn-cs"/>
                        </a:rPr>
                        <a:t>ZIP</a:t>
                      </a:r>
                      <a:r>
                        <a:rPr kumimoji="0" lang="ja-JP" altLang="en-US" sz="900" kern="1200" dirty="0">
                          <a:solidFill>
                            <a:schemeClr val="tx1"/>
                          </a:solidFill>
                          <a:latin typeface="Arial" panose="020B0604020202020204" pitchFamily="34" charset="0"/>
                          <a:ea typeface="+mn-ea"/>
                          <a:cs typeface="+mn-cs"/>
                        </a:rPr>
                        <a:t>ファイル形式でダウンロードする</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kumimoji="0" lang="en-US" altLang="ja-JP" sz="900" kern="1200" dirty="0">
                          <a:solidFill>
                            <a:schemeClr val="tx1"/>
                          </a:solidFill>
                          <a:latin typeface="Arial" panose="020B0604020202020204" pitchFamily="34" charset="0"/>
                          <a:ea typeface="+mn-ea"/>
                          <a:cs typeface="+mn-cs"/>
                        </a:rPr>
                        <a:t>N/A</a:t>
                      </a:r>
                    </a:p>
                  </a:txBody>
                  <a:tcPr marL="28046" marR="28046" marT="14023" marB="14023">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65751194"/>
                  </a:ext>
                </a:extLst>
              </a:tr>
              <a:tr h="544557">
                <a:tc>
                  <a:txBody>
                    <a:bodyPr/>
                    <a:lstStyle/>
                    <a:p>
                      <a:r>
                        <a:rPr lang="ja-JP" altLang="en-US" sz="1100" dirty="0"/>
                        <a:t>複数添付ファイル一括個別ファイルとしてダウンロード</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不可</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下記が論理的にできる（</a:t>
                      </a:r>
                      <a:r>
                        <a:rPr kumimoji="0" lang="en-US" altLang="ja-JP" sz="900" kern="1200" dirty="0">
                          <a:solidFill>
                            <a:schemeClr val="tx1"/>
                          </a:solidFill>
                          <a:latin typeface="Arial" panose="020B0604020202020204" pitchFamily="34" charset="0"/>
                          <a:ea typeface="+mn-ea"/>
                          <a:cs typeface="+mn-cs"/>
                        </a:rPr>
                        <a:t>POC</a:t>
                      </a:r>
                      <a:r>
                        <a:rPr kumimoji="0" lang="ja-JP" altLang="en-US" sz="900" kern="1200" dirty="0">
                          <a:solidFill>
                            <a:schemeClr val="tx1"/>
                          </a:solidFill>
                          <a:latin typeface="Arial" panose="020B0604020202020204" pitchFamily="34" charset="0"/>
                          <a:ea typeface="+mn-ea"/>
                          <a:cs typeface="+mn-cs"/>
                        </a:rPr>
                        <a:t>が必要）</a:t>
                      </a: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複数仕様書に紐付いた添付ファイルを指定フォルダに（例：</a:t>
                      </a:r>
                      <a:r>
                        <a:rPr kumimoji="0" lang="en-US" altLang="ja-JP" sz="900" kern="1200" dirty="0">
                          <a:solidFill>
                            <a:schemeClr val="tx1"/>
                          </a:solidFill>
                          <a:latin typeface="Arial" panose="020B0604020202020204" pitchFamily="34" charset="0"/>
                          <a:ea typeface="+mn-ea"/>
                          <a:cs typeface="+mn-cs"/>
                        </a:rPr>
                        <a:t>C:\MccOnline</a:t>
                      </a:r>
                      <a:r>
                        <a:rPr kumimoji="0" lang="ja-JP" altLang="en-US" sz="900" kern="1200" dirty="0">
                          <a:solidFill>
                            <a:schemeClr val="tx1"/>
                          </a:solidFill>
                          <a:latin typeface="Arial" panose="020B0604020202020204" pitchFamily="34" charset="0"/>
                          <a:ea typeface="+mn-ea"/>
                          <a:cs typeface="+mn-cs"/>
                        </a:rPr>
                        <a:t>仕様書管理</a:t>
                      </a:r>
                      <a:r>
                        <a:rPr kumimoji="0" lang="en-US" altLang="ja-JP" sz="900" kern="1200" dirty="0">
                          <a:solidFill>
                            <a:schemeClr val="tx1"/>
                          </a:solidFill>
                          <a:latin typeface="Arial" panose="020B0604020202020204" pitchFamily="34" charset="0"/>
                          <a:ea typeface="+mn-ea"/>
                          <a:cs typeface="+mn-cs"/>
                        </a:rPr>
                        <a:t>\</a:t>
                      </a:r>
                      <a:r>
                        <a:rPr kumimoji="0" lang="ja-JP" altLang="en-US" sz="900" kern="1200" dirty="0">
                          <a:solidFill>
                            <a:schemeClr val="tx1"/>
                          </a:solidFill>
                          <a:latin typeface="Arial" panose="020B0604020202020204" pitchFamily="34" charset="0"/>
                          <a:ea typeface="+mn-ea"/>
                          <a:cs typeface="+mn-cs"/>
                        </a:rPr>
                        <a:t>仕様書</a:t>
                      </a:r>
                      <a:r>
                        <a:rPr kumimoji="0" lang="en-US" altLang="ja-JP" sz="900" kern="1200" dirty="0">
                          <a:solidFill>
                            <a:schemeClr val="tx1"/>
                          </a:solidFill>
                          <a:latin typeface="Arial" panose="020B0604020202020204" pitchFamily="34" charset="0"/>
                          <a:ea typeface="+mn-ea"/>
                          <a:cs typeface="+mn-cs"/>
                        </a:rPr>
                        <a:t>No\</a:t>
                      </a:r>
                      <a:r>
                        <a:rPr kumimoji="0" lang="ja-JP" altLang="en-US" sz="900" kern="1200" dirty="0">
                          <a:solidFill>
                            <a:schemeClr val="tx1"/>
                          </a:solidFill>
                          <a:latin typeface="Arial" panose="020B0604020202020204" pitchFamily="34" charset="0"/>
                          <a:ea typeface="+mn-ea"/>
                          <a:cs typeface="+mn-cs"/>
                        </a:rPr>
                        <a:t>に個別出力する）</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58281788"/>
                  </a:ext>
                </a:extLst>
              </a:tr>
              <a:tr h="233008">
                <a:tc>
                  <a:txBody>
                    <a:bodyPr/>
                    <a:lstStyle/>
                    <a:p>
                      <a:r>
                        <a:rPr kumimoji="0" lang="zh-CN" altLang="zh-CN" sz="1050" dirty="0">
                          <a:latin typeface="Arial" panose="020B0604020202020204" pitchFamily="34" charset="0"/>
                        </a:rPr>
                        <a:t>パフォーマンス考慮</a:t>
                      </a:r>
                      <a:r>
                        <a:rPr kumimoji="0" lang="ja-JP" altLang="en-US" sz="1050" dirty="0">
                          <a:latin typeface="Arial" panose="020B0604020202020204" pitchFamily="34" charset="0"/>
                        </a:rPr>
                        <a:t>の制限</a:t>
                      </a:r>
                      <a:endParaRPr lang="ja-JP" altLang="en-US" sz="105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gridSpan="2">
                  <a:txBody>
                    <a:bodyPr/>
                    <a:lstStyle/>
                    <a:p>
                      <a:pPr algn="ctr"/>
                      <a:r>
                        <a:rPr kumimoji="0" lang="zh-CN" altLang="zh-CN" sz="900" dirty="0">
                          <a:latin typeface="Arial" panose="020B0604020202020204" pitchFamily="34" charset="0"/>
                        </a:rPr>
                        <a:t>最大100ファイル/回、合計サイズ500MB</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a:txBody>
                    <a:bodyPr/>
                    <a:lstStyle/>
                    <a:p>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501357562"/>
                  </a:ext>
                </a:extLst>
              </a:tr>
              <a:tr h="3746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kern="1200" dirty="0">
                          <a:solidFill>
                            <a:schemeClr val="tx1"/>
                          </a:solidFill>
                          <a:latin typeface="+mn-lt"/>
                          <a:ea typeface="+mn-ea"/>
                          <a:cs typeface="+mn-cs"/>
                        </a:rPr>
                        <a:t>メリッド</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確実実現</a:t>
                      </a:r>
                      <a:r>
                        <a:rPr kumimoji="0" lang="ja-JP" altLang="en-US" sz="900" kern="1200" dirty="0">
                          <a:solidFill>
                            <a:srgbClr val="FF0000"/>
                          </a:solidFill>
                          <a:latin typeface="Arial" panose="020B0604020202020204" pitchFamily="34" charset="0"/>
                          <a:ea typeface="+mn-ea"/>
                          <a:cs typeface="+mn-cs"/>
                        </a:rPr>
                        <a:t>できる</a:t>
                      </a:r>
                      <a:r>
                        <a:rPr kumimoji="0" lang="ja-JP" altLang="en-US" sz="900" kern="1200" dirty="0">
                          <a:solidFill>
                            <a:schemeClr val="tx1"/>
                          </a:solidFill>
                          <a:latin typeface="Arial" panose="020B0604020202020204" pitchFamily="34" charset="0"/>
                          <a:ea typeface="+mn-ea"/>
                          <a:cs typeface="+mn-cs"/>
                        </a:rPr>
                        <a:t>（実績あり）</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900" kern="1200" dirty="0">
                          <a:solidFill>
                            <a:schemeClr val="tx1"/>
                          </a:solidFill>
                          <a:latin typeface="Arial" panose="020B0604020202020204" pitchFamily="34" charset="0"/>
                          <a:ea typeface="+mn-ea"/>
                          <a:cs typeface="+mn-cs"/>
                        </a:rPr>
                        <a:t>Zip</a:t>
                      </a:r>
                      <a:r>
                        <a:rPr kumimoji="0" lang="ja-JP" altLang="en-US" sz="900" kern="1200" dirty="0">
                          <a:solidFill>
                            <a:schemeClr val="tx1"/>
                          </a:solidFill>
                          <a:latin typeface="Arial" panose="020B0604020202020204" pitchFamily="34" charset="0"/>
                          <a:ea typeface="+mn-ea"/>
                          <a:cs typeface="+mn-cs"/>
                        </a:rPr>
                        <a:t>を経由しないため、ユーザはダウンロード後、独自</a:t>
                      </a:r>
                      <a:r>
                        <a:rPr kumimoji="0" lang="en-US" altLang="ja-JP" sz="900" kern="1200" dirty="0">
                          <a:solidFill>
                            <a:schemeClr val="tx1"/>
                          </a:solidFill>
                          <a:latin typeface="Arial" panose="020B0604020202020204" pitchFamily="34" charset="0"/>
                          <a:ea typeface="+mn-ea"/>
                          <a:cs typeface="+mn-cs"/>
                        </a:rPr>
                        <a:t>Unzip</a:t>
                      </a:r>
                      <a:r>
                        <a:rPr kumimoji="0" lang="ja-JP" altLang="en-US" sz="900" kern="1200" dirty="0">
                          <a:solidFill>
                            <a:schemeClr val="tx1"/>
                          </a:solidFill>
                          <a:latin typeface="Arial" panose="020B0604020202020204" pitchFamily="34" charset="0"/>
                          <a:ea typeface="+mn-ea"/>
                          <a:cs typeface="+mn-cs"/>
                        </a:rPr>
                        <a:t>してからアクセスする手順は不要で、「</a:t>
                      </a:r>
                      <a:r>
                        <a:rPr kumimoji="0" lang="en-US" altLang="ja-JP" sz="900" kern="1200" dirty="0">
                          <a:solidFill>
                            <a:schemeClr val="tx1"/>
                          </a:solidFill>
                          <a:latin typeface="Arial" panose="020B0604020202020204" pitchFamily="34" charset="0"/>
                          <a:ea typeface="+mn-ea"/>
                          <a:cs typeface="+mn-cs"/>
                        </a:rPr>
                        <a:t>Upload</a:t>
                      </a:r>
                      <a:r>
                        <a:rPr kumimoji="0" lang="ja-JP" altLang="en-US" sz="900" kern="1200" dirty="0">
                          <a:solidFill>
                            <a:schemeClr val="tx1"/>
                          </a:solidFill>
                          <a:latin typeface="Arial" panose="020B0604020202020204" pitchFamily="34" charset="0"/>
                          <a:ea typeface="+mn-ea"/>
                          <a:cs typeface="+mn-cs"/>
                        </a:rPr>
                        <a:t>時ファイルと同じ形式」が実現でき、便利性が高められる</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515025090"/>
                  </a:ext>
                </a:extLst>
              </a:tr>
              <a:tr h="4715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kern="1200" dirty="0">
                          <a:solidFill>
                            <a:schemeClr val="tx1"/>
                          </a:solidFill>
                          <a:latin typeface="+mn-lt"/>
                          <a:ea typeface="+mn-ea"/>
                          <a:cs typeface="+mn-cs"/>
                        </a:rPr>
                        <a:t>デメリッド</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仕様書</a:t>
                      </a:r>
                      <a:r>
                        <a:rPr kumimoji="0" lang="en-US" altLang="ja-JP" sz="900" kern="1200" dirty="0">
                          <a:solidFill>
                            <a:schemeClr val="tx1"/>
                          </a:solidFill>
                          <a:latin typeface="Arial" panose="020B0604020202020204" pitchFamily="34" charset="0"/>
                          <a:ea typeface="+mn-ea"/>
                          <a:cs typeface="+mn-cs"/>
                        </a:rPr>
                        <a:t>Upload</a:t>
                      </a:r>
                      <a:r>
                        <a:rPr kumimoji="0" lang="ja-JP" altLang="en-US" sz="900" kern="1200" dirty="0">
                          <a:solidFill>
                            <a:schemeClr val="tx1"/>
                          </a:solidFill>
                          <a:latin typeface="Arial" panose="020B0604020202020204" pitchFamily="34" charset="0"/>
                          <a:ea typeface="+mn-ea"/>
                          <a:cs typeface="+mn-cs"/>
                        </a:rPr>
                        <a:t>時、複数</a:t>
                      </a:r>
                      <a:r>
                        <a:rPr kumimoji="0" lang="en-US" altLang="ja-JP" sz="900" kern="1200" dirty="0">
                          <a:solidFill>
                            <a:schemeClr val="tx1"/>
                          </a:solidFill>
                          <a:latin typeface="Arial" panose="020B0604020202020204" pitchFamily="34" charset="0"/>
                          <a:ea typeface="+mn-ea"/>
                          <a:cs typeface="+mn-cs"/>
                        </a:rPr>
                        <a:t>Office/Pdf</a:t>
                      </a:r>
                      <a:r>
                        <a:rPr kumimoji="0" lang="ja-JP" altLang="en-US" sz="900" kern="1200" dirty="0">
                          <a:solidFill>
                            <a:schemeClr val="tx1"/>
                          </a:solidFill>
                          <a:latin typeface="Arial" panose="020B0604020202020204" pitchFamily="34" charset="0"/>
                          <a:ea typeface="+mn-ea"/>
                          <a:cs typeface="+mn-cs"/>
                        </a:rPr>
                        <a:t>ファイルを</a:t>
                      </a:r>
                      <a:r>
                        <a:rPr kumimoji="0" lang="en-US" altLang="ja-JP" sz="900" kern="1200" dirty="0">
                          <a:solidFill>
                            <a:schemeClr val="tx1"/>
                          </a:solidFill>
                          <a:latin typeface="Arial" panose="020B0604020202020204" pitchFamily="34" charset="0"/>
                          <a:ea typeface="+mn-ea"/>
                          <a:cs typeface="+mn-cs"/>
                        </a:rPr>
                        <a:t>Upload</a:t>
                      </a:r>
                      <a:r>
                        <a:rPr kumimoji="0" lang="ja-JP" altLang="en-US" sz="900" kern="1200" dirty="0">
                          <a:solidFill>
                            <a:schemeClr val="tx1"/>
                          </a:solidFill>
                          <a:latin typeface="Arial" panose="020B0604020202020204" pitchFamily="34" charset="0"/>
                          <a:ea typeface="+mn-ea"/>
                          <a:cs typeface="+mn-cs"/>
                        </a:rPr>
                        <a:t>したが、ダウンロード時、一つ</a:t>
                      </a:r>
                      <a:r>
                        <a:rPr kumimoji="0" lang="en-US" altLang="ja-JP" sz="900" kern="1200" dirty="0">
                          <a:solidFill>
                            <a:schemeClr val="tx1"/>
                          </a:solidFill>
                          <a:latin typeface="Arial" panose="020B0604020202020204" pitchFamily="34" charset="0"/>
                          <a:ea typeface="+mn-ea"/>
                          <a:cs typeface="+mn-cs"/>
                        </a:rPr>
                        <a:t>Zip</a:t>
                      </a:r>
                      <a:r>
                        <a:rPr kumimoji="0" lang="ja-JP" altLang="en-US" sz="900" kern="1200" dirty="0">
                          <a:solidFill>
                            <a:schemeClr val="tx1"/>
                          </a:solidFill>
                          <a:latin typeface="Arial" panose="020B0604020202020204" pitchFamily="34" charset="0"/>
                          <a:ea typeface="+mn-ea"/>
                          <a:cs typeface="+mn-cs"/>
                        </a:rPr>
                        <a:t>ファイルとする。ユーザは添付ファイルを</a:t>
                      </a:r>
                      <a:r>
                        <a:rPr kumimoji="0" lang="en-US" altLang="ja-JP" sz="900" kern="1200" dirty="0">
                          <a:solidFill>
                            <a:schemeClr val="tx1"/>
                          </a:solidFill>
                          <a:latin typeface="Arial" panose="020B0604020202020204" pitchFamily="34" charset="0"/>
                          <a:ea typeface="+mn-ea"/>
                          <a:cs typeface="+mn-cs"/>
                        </a:rPr>
                        <a:t>Local</a:t>
                      </a:r>
                      <a:r>
                        <a:rPr kumimoji="0" lang="ja-JP" altLang="en-US" sz="900" kern="1200" dirty="0">
                          <a:solidFill>
                            <a:schemeClr val="tx1"/>
                          </a:solidFill>
                          <a:latin typeface="Arial" panose="020B0604020202020204" pitchFamily="34" charset="0"/>
                          <a:ea typeface="+mn-ea"/>
                          <a:cs typeface="+mn-cs"/>
                        </a:rPr>
                        <a:t>で確認するときに、</a:t>
                      </a:r>
                      <a:r>
                        <a:rPr kumimoji="0" lang="en-US" altLang="ja-JP" sz="900" kern="1200" dirty="0">
                          <a:solidFill>
                            <a:schemeClr val="tx1"/>
                          </a:solidFill>
                          <a:latin typeface="Arial" panose="020B0604020202020204" pitchFamily="34" charset="0"/>
                          <a:ea typeface="+mn-ea"/>
                          <a:cs typeface="+mn-cs"/>
                        </a:rPr>
                        <a:t>Zip</a:t>
                      </a:r>
                      <a:r>
                        <a:rPr kumimoji="0" lang="ja-JP" altLang="en-US" sz="900" kern="1200" dirty="0">
                          <a:solidFill>
                            <a:schemeClr val="tx1"/>
                          </a:solidFill>
                          <a:latin typeface="Arial" panose="020B0604020202020204" pitchFamily="34" charset="0"/>
                          <a:ea typeface="+mn-ea"/>
                          <a:cs typeface="+mn-cs"/>
                        </a:rPr>
                        <a:t>を展開してから確認しないといけない</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chemeClr val="tx1"/>
                          </a:solidFill>
                          <a:latin typeface="Arial" panose="020B0604020202020204" pitchFamily="34" charset="0"/>
                          <a:ea typeface="+mn-ea"/>
                          <a:cs typeface="+mn-cs"/>
                        </a:rPr>
                        <a:t>ブラザーのセキュリティ設定がが必要</a:t>
                      </a:r>
                      <a:endParaRPr kumimoji="0" lang="en-US" altLang="ja-JP" sz="900" kern="1200" dirty="0">
                        <a:solidFill>
                          <a:schemeClr val="tx1"/>
                        </a:solidFill>
                        <a:latin typeface="Arial" panose="020B060402020202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rgbClr val="FF0000"/>
                          </a:solidFill>
                          <a:latin typeface="Arial" panose="020B0604020202020204" pitchFamily="34" charset="0"/>
                          <a:ea typeface="+mn-ea"/>
                          <a:cs typeface="+mn-cs"/>
                        </a:rPr>
                        <a:t>実現のコードは多く、ロジックも複難</a:t>
                      </a:r>
                      <a:endParaRPr kumimoji="0" lang="en-US" altLang="ja-JP" sz="900" kern="1200" dirty="0">
                        <a:solidFill>
                          <a:srgbClr val="FF0000"/>
                        </a:solidFill>
                        <a:latin typeface="Arial" panose="020B060402020202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rgbClr val="FF0000"/>
                          </a:solidFill>
                          <a:latin typeface="Arial" panose="020B0604020202020204" pitchFamily="34" charset="0"/>
                          <a:ea typeface="+mn-ea"/>
                          <a:cs typeface="+mn-cs"/>
                        </a:rPr>
                        <a:t>論理的に可能だが、</a:t>
                      </a:r>
                      <a:r>
                        <a:rPr kumimoji="0" lang="en-US" altLang="ja-JP" sz="900" kern="1200" dirty="0">
                          <a:solidFill>
                            <a:srgbClr val="FF0000"/>
                          </a:solidFill>
                          <a:latin typeface="Arial" panose="020B0604020202020204" pitchFamily="34" charset="0"/>
                          <a:ea typeface="+mn-ea"/>
                          <a:cs typeface="+mn-cs"/>
                        </a:rPr>
                        <a:t>PowerApps</a:t>
                      </a:r>
                      <a:r>
                        <a:rPr kumimoji="0" lang="ja-JP" altLang="en-US" sz="900" kern="1200" dirty="0">
                          <a:solidFill>
                            <a:srgbClr val="FF0000"/>
                          </a:solidFill>
                          <a:latin typeface="Arial" panose="020B0604020202020204" pitchFamily="34" charset="0"/>
                          <a:ea typeface="+mn-ea"/>
                          <a:cs typeface="+mn-cs"/>
                        </a:rPr>
                        <a:t>にて実績がない、</a:t>
                      </a:r>
                      <a:r>
                        <a:rPr kumimoji="0" lang="en-US" altLang="ja-JP" sz="900" kern="1200" dirty="0">
                          <a:solidFill>
                            <a:srgbClr val="FF0000"/>
                          </a:solidFill>
                          <a:latin typeface="Arial" panose="020B0604020202020204" pitchFamily="34" charset="0"/>
                          <a:ea typeface="+mn-ea"/>
                          <a:cs typeface="+mn-cs"/>
                        </a:rPr>
                        <a:t>POC</a:t>
                      </a:r>
                      <a:r>
                        <a:rPr kumimoji="0" lang="ja-JP" altLang="en-US" sz="900" kern="1200" dirty="0">
                          <a:solidFill>
                            <a:srgbClr val="FF0000"/>
                          </a:solidFill>
                          <a:latin typeface="Arial" panose="020B0604020202020204" pitchFamily="34" charset="0"/>
                          <a:ea typeface="+mn-ea"/>
                          <a:cs typeface="+mn-cs"/>
                        </a:rPr>
                        <a:t>が必要</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271190"/>
                  </a:ext>
                </a:extLst>
              </a:tr>
            </a:tbl>
          </a:graphicData>
        </a:graphic>
      </p:graphicFrame>
      <p:pic>
        <p:nvPicPr>
          <p:cNvPr id="14" name="図 13">
            <a:extLst>
              <a:ext uri="{FF2B5EF4-FFF2-40B4-BE49-F238E27FC236}">
                <a16:creationId xmlns:a16="http://schemas.microsoft.com/office/drawing/2014/main" id="{E276B7D7-46A8-2191-847E-D87D9E696578}"/>
              </a:ext>
            </a:extLst>
          </p:cNvPr>
          <p:cNvPicPr>
            <a:picLocks noChangeAspect="1"/>
          </p:cNvPicPr>
          <p:nvPr/>
        </p:nvPicPr>
        <p:blipFill>
          <a:blip r:embed="rId3"/>
          <a:stretch>
            <a:fillRect/>
          </a:stretch>
        </p:blipFill>
        <p:spPr>
          <a:xfrm>
            <a:off x="4245488" y="3439437"/>
            <a:ext cx="2668824" cy="790866"/>
          </a:xfrm>
          <a:prstGeom prst="rect">
            <a:avLst/>
          </a:prstGeom>
        </p:spPr>
      </p:pic>
      <p:sp>
        <p:nvSpPr>
          <p:cNvPr id="3" name="テキスト ボックス 2">
            <a:extLst>
              <a:ext uri="{FF2B5EF4-FFF2-40B4-BE49-F238E27FC236}">
                <a16:creationId xmlns:a16="http://schemas.microsoft.com/office/drawing/2014/main" id="{D0FAC315-1B28-EC5B-6B8F-237F24721C0C}"/>
              </a:ext>
            </a:extLst>
          </p:cNvPr>
          <p:cNvSpPr txBox="1"/>
          <p:nvPr/>
        </p:nvSpPr>
        <p:spPr>
          <a:xfrm>
            <a:off x="414336" y="730023"/>
            <a:ext cx="10854253" cy="338554"/>
          </a:xfrm>
          <a:prstGeom prst="rect">
            <a:avLst/>
          </a:prstGeom>
          <a:noFill/>
        </p:spPr>
        <p:txBody>
          <a:bodyPr wrap="none" rtlCol="0">
            <a:spAutoFit/>
          </a:bodyPr>
          <a:lstStyle/>
          <a:p>
            <a:r>
              <a:rPr kumimoji="1" lang="ja-JP" altLang="en-US" sz="1600" dirty="0"/>
              <a:t>一括ダウンロード機能の要件のポイントは複数ファイル対応であり、前回の提案より、向上案も併せて提示します。</a:t>
            </a:r>
          </a:p>
        </p:txBody>
      </p:sp>
      <p:pic>
        <p:nvPicPr>
          <p:cNvPr id="5" name="図 4">
            <a:extLst>
              <a:ext uri="{FF2B5EF4-FFF2-40B4-BE49-F238E27FC236}">
                <a16:creationId xmlns:a16="http://schemas.microsoft.com/office/drawing/2014/main" id="{1789387A-77C1-1A06-2D60-A7A9E32FA611}"/>
              </a:ext>
            </a:extLst>
          </p:cNvPr>
          <p:cNvPicPr>
            <a:picLocks noChangeAspect="1"/>
          </p:cNvPicPr>
          <p:nvPr/>
        </p:nvPicPr>
        <p:blipFill>
          <a:blip r:embed="rId4"/>
          <a:stretch>
            <a:fillRect/>
          </a:stretch>
        </p:blipFill>
        <p:spPr>
          <a:xfrm>
            <a:off x="10774680" y="2343708"/>
            <a:ext cx="786830" cy="2026459"/>
          </a:xfrm>
          <a:prstGeom prst="rect">
            <a:avLst/>
          </a:prstGeom>
        </p:spPr>
      </p:pic>
      <p:sp>
        <p:nvSpPr>
          <p:cNvPr id="6" name="四角形: 角を丸くする 5">
            <a:extLst>
              <a:ext uri="{FF2B5EF4-FFF2-40B4-BE49-F238E27FC236}">
                <a16:creationId xmlns:a16="http://schemas.microsoft.com/office/drawing/2014/main" id="{08F1ABC6-D6DE-2BA1-DFB8-3DB9CFEA88CF}"/>
              </a:ext>
            </a:extLst>
          </p:cNvPr>
          <p:cNvSpPr/>
          <p:nvPr/>
        </p:nvSpPr>
        <p:spPr>
          <a:xfrm>
            <a:off x="10744200" y="3439437"/>
            <a:ext cx="846034" cy="128186"/>
          </a:xfrm>
          <a:prstGeom prst="roundRect">
            <a:avLst/>
          </a:prstGeom>
          <a:noFill/>
          <a:ln w="63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7901891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FD62F-34D8-415B-C407-D0A49B9660B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620D0FE-5CDC-B67D-B8FB-1A1CC0F0F359}"/>
              </a:ext>
            </a:extLst>
          </p:cNvPr>
          <p:cNvSpPr>
            <a:spLocks noGrp="1"/>
          </p:cNvSpPr>
          <p:nvPr>
            <p:ph type="title"/>
          </p:nvPr>
        </p:nvSpPr>
        <p:spPr>
          <a:xfrm>
            <a:off x="414336" y="255263"/>
            <a:ext cx="9327072" cy="683629"/>
          </a:xfrm>
        </p:spPr>
        <p:txBody>
          <a:bodyPr>
            <a:normAutofit/>
          </a:bodyPr>
          <a:lstStyle/>
          <a:p>
            <a:r>
              <a:rPr lang="ja-JP" altLang="en-US" dirty="0"/>
              <a:t>要件／ソリューション－ユーザ別の属性管理</a:t>
            </a:r>
            <a:endParaRPr lang="ja-JP" altLang="en-US" dirty="0">
              <a:effectLst/>
            </a:endParaRPr>
          </a:p>
        </p:txBody>
      </p:sp>
      <p:graphicFrame>
        <p:nvGraphicFramePr>
          <p:cNvPr id="3" name="表 2">
            <a:extLst>
              <a:ext uri="{FF2B5EF4-FFF2-40B4-BE49-F238E27FC236}">
                <a16:creationId xmlns:a16="http://schemas.microsoft.com/office/drawing/2014/main" id="{77285F7C-5C95-615B-81FB-6D03F60BA62C}"/>
              </a:ext>
            </a:extLst>
          </p:cNvPr>
          <p:cNvGraphicFramePr>
            <a:graphicFrameLocks noGrp="1"/>
          </p:cNvGraphicFramePr>
          <p:nvPr>
            <p:extLst>
              <p:ext uri="{D42A27DB-BD31-4B8C-83A1-F6EECF244321}">
                <p14:modId xmlns:p14="http://schemas.microsoft.com/office/powerpoint/2010/main" val="3416849515"/>
              </p:ext>
            </p:extLst>
          </p:nvPr>
        </p:nvGraphicFramePr>
        <p:xfrm>
          <a:off x="324028" y="1267321"/>
          <a:ext cx="11284856" cy="5056009"/>
        </p:xfrm>
        <a:graphic>
          <a:graphicData uri="http://schemas.openxmlformats.org/drawingml/2006/table">
            <a:tbl>
              <a:tblPr firstRow="1">
                <a:tableStyleId>{2D5ABB26-0587-4C30-8999-92F81FD0307C}</a:tableStyleId>
              </a:tblPr>
              <a:tblGrid>
                <a:gridCol w="1781628">
                  <a:extLst>
                    <a:ext uri="{9D8B030D-6E8A-4147-A177-3AD203B41FA5}">
                      <a16:colId xmlns:a16="http://schemas.microsoft.com/office/drawing/2014/main" val="307087368"/>
                    </a:ext>
                  </a:extLst>
                </a:gridCol>
                <a:gridCol w="2306320">
                  <a:extLst>
                    <a:ext uri="{9D8B030D-6E8A-4147-A177-3AD203B41FA5}">
                      <a16:colId xmlns:a16="http://schemas.microsoft.com/office/drawing/2014/main" val="1007415991"/>
                    </a:ext>
                  </a:extLst>
                </a:gridCol>
                <a:gridCol w="7196908">
                  <a:extLst>
                    <a:ext uri="{9D8B030D-6E8A-4147-A177-3AD203B41FA5}">
                      <a16:colId xmlns:a16="http://schemas.microsoft.com/office/drawing/2014/main" val="3160565433"/>
                    </a:ext>
                  </a:extLst>
                </a:gridCol>
              </a:tblGrid>
              <a:tr h="292919">
                <a:tc>
                  <a:txBody>
                    <a:bodyPr/>
                    <a:lstStyle/>
                    <a:p>
                      <a:r>
                        <a:rPr lang="ja-JP" altLang="en-US" sz="1200" dirty="0"/>
                        <a:t>要件</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機能</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ソリューション</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607360652"/>
                  </a:ext>
                </a:extLst>
              </a:tr>
              <a:tr h="1046879">
                <a:tc rowSpan="3">
                  <a:txBody>
                    <a:bodyPr/>
                    <a:lstStyle/>
                    <a:p>
                      <a:r>
                        <a:rPr lang="en-US" altLang="ja-JP" sz="900" dirty="0"/>
                        <a:t>i13</a:t>
                      </a:r>
                      <a:r>
                        <a:rPr lang="ja-JP" altLang="en-US" sz="900" dirty="0"/>
                        <a:t>：利用者は必要な項目に応じてビューの設定ができること。</a:t>
                      </a: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sz="900" dirty="0">
                          <a:solidFill>
                            <a:schemeClr val="tx1"/>
                          </a:solidFill>
                        </a:rPr>
                        <a:t>Grid</a:t>
                      </a:r>
                      <a:r>
                        <a:rPr lang="ja-JP" altLang="en-US" sz="900" dirty="0">
                          <a:solidFill>
                            <a:schemeClr val="tx1"/>
                          </a:solidFill>
                        </a:rPr>
                        <a:t>形式の列の表示／非表示</a:t>
                      </a:r>
                      <a:r>
                        <a:rPr lang="zh-CN" altLang="en-US" sz="900" dirty="0">
                          <a:solidFill>
                            <a:schemeClr val="tx1"/>
                          </a:solidFill>
                        </a:rPr>
                        <a:t>，</a:t>
                      </a:r>
                      <a:r>
                        <a:rPr lang="ja-JP" altLang="en-US" sz="900" dirty="0">
                          <a:solidFill>
                            <a:schemeClr val="tx1"/>
                          </a:solidFill>
                        </a:rPr>
                        <a:t>表示順、幅情報が設定することで実現できる</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rowSpan="2">
                  <a:txBody>
                    <a:bodyPr/>
                    <a:lstStyle/>
                    <a:p>
                      <a:endParaRPr lang="en-US" altLang="ja-JP" sz="900" dirty="0"/>
                    </a:p>
                    <a:p>
                      <a:r>
                        <a:rPr lang="en-US" altLang="ja-JP" sz="900" dirty="0"/>
                        <a:t>Grid</a:t>
                      </a:r>
                      <a:r>
                        <a:rPr lang="ja-JP" altLang="en-US" sz="900" dirty="0"/>
                        <a:t>ロード時、表示順、表示要否、幅は</a:t>
                      </a:r>
                      <a:r>
                        <a:rPr lang="de-DE" altLang="ja-JP" sz="900" dirty="0"/>
                        <a:t>Tbl_UserProperityes</a:t>
                      </a:r>
                      <a:r>
                        <a:rPr lang="ja-JP" altLang="en-US" sz="900" dirty="0"/>
                        <a:t> </a:t>
                      </a:r>
                      <a:r>
                        <a:rPr lang="en-US" altLang="ja-JP" sz="900" dirty="0"/>
                        <a:t>Table</a:t>
                      </a:r>
                      <a:r>
                        <a:rPr lang="ja-JP" altLang="en-US" sz="900" dirty="0"/>
                        <a:t>から取得し、動的に設定すること</a:t>
                      </a:r>
                      <a:endParaRPr lang="en-US" altLang="ja-JP" sz="900" dirty="0"/>
                    </a:p>
                    <a:p>
                      <a:r>
                        <a:rPr kumimoji="0" lang="ja-JP" altLang="en-US" sz="900" kern="1200" dirty="0">
                          <a:solidFill>
                            <a:schemeClr val="tx1"/>
                          </a:solidFill>
                          <a:latin typeface="Arial" panose="020B0604020202020204" pitchFamily="34" charset="0"/>
                          <a:ea typeface="+mn-ea"/>
                          <a:cs typeface="+mn-cs"/>
                        </a:rPr>
                        <a:t>ユーザが独自設定（調整）されていない場合、</a:t>
                      </a:r>
                      <a:r>
                        <a:rPr kumimoji="0" lang="en-US" altLang="ja-JP" sz="900" kern="1200" dirty="0">
                          <a:solidFill>
                            <a:schemeClr val="tx1"/>
                          </a:solidFill>
                          <a:latin typeface="Arial" panose="020B0604020202020204" pitchFamily="34" charset="0"/>
                          <a:ea typeface="+mn-ea"/>
                          <a:cs typeface="+mn-cs"/>
                        </a:rPr>
                        <a:t>Grid</a:t>
                      </a:r>
                      <a:r>
                        <a:rPr kumimoji="0" lang="ja-JP" altLang="en-US" sz="900" kern="1200" dirty="0">
                          <a:solidFill>
                            <a:schemeClr val="tx1"/>
                          </a:solidFill>
                          <a:latin typeface="Arial" panose="020B0604020202020204" pitchFamily="34" charset="0"/>
                          <a:ea typeface="+mn-ea"/>
                          <a:cs typeface="+mn-cs"/>
                        </a:rPr>
                        <a:t>毎の</a:t>
                      </a:r>
                      <a:r>
                        <a:rPr kumimoji="0" lang="en-US" altLang="ja-JP" sz="900" kern="1200" dirty="0">
                          <a:solidFill>
                            <a:schemeClr val="tx1"/>
                          </a:solidFill>
                          <a:latin typeface="Arial" panose="020B0604020202020204" pitchFamily="34" charset="0"/>
                          <a:ea typeface="+mn-ea"/>
                          <a:cs typeface="+mn-cs"/>
                        </a:rPr>
                        <a:t>Default</a:t>
                      </a:r>
                      <a:r>
                        <a:rPr kumimoji="0" lang="ja-JP" altLang="en-US" sz="900" kern="1200" dirty="0">
                          <a:solidFill>
                            <a:schemeClr val="tx1"/>
                          </a:solidFill>
                          <a:latin typeface="Arial" panose="020B0604020202020204" pitchFamily="34" charset="0"/>
                          <a:ea typeface="+mn-ea"/>
                          <a:cs typeface="+mn-cs"/>
                        </a:rPr>
                        <a:t>の幅、表示可否で表現する</a:t>
                      </a:r>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65751194"/>
                  </a:ext>
                </a:extLst>
              </a:tr>
              <a:tr h="2801629">
                <a:tc vMerge="1">
                  <a:txBody>
                    <a:bodyPr/>
                    <a:lstStyle/>
                    <a:p>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900" dirty="0">
                          <a:solidFill>
                            <a:schemeClr val="tx1"/>
                          </a:solidFill>
                        </a:rPr>
                        <a:t>ユーザは画面</a:t>
                      </a:r>
                      <a:r>
                        <a:rPr lang="en-US" altLang="ja-JP" sz="900" dirty="0">
                          <a:solidFill>
                            <a:schemeClr val="tx1"/>
                          </a:solidFill>
                        </a:rPr>
                        <a:t>Grid</a:t>
                      </a:r>
                      <a:r>
                        <a:rPr lang="ja-JP" altLang="en-US" sz="900" dirty="0">
                          <a:solidFill>
                            <a:schemeClr val="tx1"/>
                          </a:solidFill>
                        </a:rPr>
                        <a:t>毎に独自設定することで実現できる</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vMerge="1">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zh-CN" altLang="zh-CN" sz="900" dirty="0">
                        <a:latin typeface="Arial" panose="020B0604020202020204" pitchFamily="34" charset="0"/>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58281788"/>
                  </a:ext>
                </a:extLst>
              </a:tr>
              <a:tr h="914582">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性能懸念</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kumimoji="0" lang="ja-JP" altLang="en-US" sz="900" kern="1200" dirty="0">
                          <a:solidFill>
                            <a:schemeClr val="tx1"/>
                          </a:solidFill>
                          <a:latin typeface="Arial" panose="020B0604020202020204" pitchFamily="34" charset="0"/>
                          <a:ea typeface="+mn-ea"/>
                          <a:cs typeface="+mn-cs"/>
                        </a:rPr>
                        <a:t>すべての利用者・グリッド単位で独自の</a:t>
                      </a:r>
                      <a:r>
                        <a:rPr lang="ja-JP" altLang="en-US" sz="900" dirty="0"/>
                        <a:t>ビューが設定された場合、</a:t>
                      </a:r>
                      <a:r>
                        <a:rPr kumimoji="1" lang="en-US" altLang="ja-JP" sz="900" b="1" dirty="0" err="1"/>
                        <a:t>Tbl_UserProperityes</a:t>
                      </a:r>
                      <a:r>
                        <a:rPr lang="ja-JP" altLang="en-US" sz="900" kern="1200" dirty="0">
                          <a:solidFill>
                            <a:schemeClr val="tx1"/>
                          </a:solidFill>
                          <a:latin typeface="+mn-lt"/>
                          <a:ea typeface="+mn-ea"/>
                          <a:cs typeface="+mn-cs"/>
                        </a:rPr>
                        <a:t>が膨大化し、永続化データの膨大化だけではなく、該当データをサクセスするによりのパフォーマンス低下恐れがある。</a:t>
                      </a:r>
                      <a:endParaRPr lang="en-US" altLang="ja-JP" sz="900" kern="120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ja-JP" altLang="en-US" sz="900" kern="1200" dirty="0">
                          <a:solidFill>
                            <a:schemeClr val="tx1"/>
                          </a:solidFill>
                          <a:latin typeface="+mn-lt"/>
                          <a:ea typeface="+mn-ea"/>
                          <a:cs typeface="+mn-cs"/>
                        </a:rPr>
                        <a:t>技術面で可能ですが、</a:t>
                      </a:r>
                      <a:r>
                        <a:rPr lang="en-US" altLang="ja-JP" sz="900" kern="1200" dirty="0">
                          <a:solidFill>
                            <a:schemeClr val="tx1"/>
                          </a:solidFill>
                          <a:latin typeface="+mn-lt"/>
                          <a:ea typeface="+mn-ea"/>
                          <a:cs typeface="+mn-cs"/>
                        </a:rPr>
                        <a:t>POC</a:t>
                      </a:r>
                      <a:r>
                        <a:rPr lang="ja-JP" altLang="en-US" sz="900" kern="1200" dirty="0">
                          <a:solidFill>
                            <a:schemeClr val="tx1"/>
                          </a:solidFill>
                          <a:latin typeface="+mn-lt"/>
                          <a:ea typeface="+mn-ea"/>
                          <a:cs typeface="+mn-cs"/>
                        </a:rPr>
                        <a:t>フェーズで性能を評価してから最終実施対象とする・としないことを決める</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2437489"/>
                  </a:ext>
                </a:extLst>
              </a:tr>
            </a:tbl>
          </a:graphicData>
        </a:graphic>
      </p:graphicFrame>
      <p:pic>
        <p:nvPicPr>
          <p:cNvPr id="7" name="図 6">
            <a:extLst>
              <a:ext uri="{FF2B5EF4-FFF2-40B4-BE49-F238E27FC236}">
                <a16:creationId xmlns:a16="http://schemas.microsoft.com/office/drawing/2014/main" id="{B8C41F2B-F63D-FA24-2F2D-CD307EB0192F}"/>
              </a:ext>
            </a:extLst>
          </p:cNvPr>
          <p:cNvPicPr>
            <a:picLocks noChangeAspect="1"/>
          </p:cNvPicPr>
          <p:nvPr/>
        </p:nvPicPr>
        <p:blipFill>
          <a:blip r:embed="rId3"/>
          <a:stretch>
            <a:fillRect/>
          </a:stretch>
        </p:blipFill>
        <p:spPr>
          <a:xfrm>
            <a:off x="4398206" y="2306320"/>
            <a:ext cx="7065400" cy="2245360"/>
          </a:xfrm>
          <a:prstGeom prst="rect">
            <a:avLst/>
          </a:prstGeom>
        </p:spPr>
      </p:pic>
      <p:sp>
        <p:nvSpPr>
          <p:cNvPr id="4" name="テキスト ボックス 3">
            <a:extLst>
              <a:ext uri="{FF2B5EF4-FFF2-40B4-BE49-F238E27FC236}">
                <a16:creationId xmlns:a16="http://schemas.microsoft.com/office/drawing/2014/main" id="{388B322A-9989-4C16-2ADC-1F2BE850EA54}"/>
              </a:ext>
            </a:extLst>
          </p:cNvPr>
          <p:cNvSpPr txBox="1"/>
          <p:nvPr/>
        </p:nvSpPr>
        <p:spPr>
          <a:xfrm>
            <a:off x="501931" y="682546"/>
            <a:ext cx="10868248" cy="584775"/>
          </a:xfrm>
          <a:prstGeom prst="rect">
            <a:avLst/>
          </a:prstGeom>
          <a:noFill/>
        </p:spPr>
        <p:txBody>
          <a:bodyPr wrap="square" rtlCol="0">
            <a:spAutoFit/>
          </a:bodyPr>
          <a:lstStyle/>
          <a:p>
            <a:r>
              <a:rPr kumimoji="1" lang="ja-JP" altLang="en-US" sz="1600" dirty="0">
                <a:solidFill>
                  <a:srgbClr val="FF0000"/>
                </a:solidFill>
              </a:rPr>
              <a:t>ユーザ別の属性管理は実現可能であり、パフォーマンス低下及び</a:t>
            </a:r>
            <a:r>
              <a:rPr lang="ja-JP" altLang="en-US" sz="1600" dirty="0">
                <a:solidFill>
                  <a:srgbClr val="FF0000"/>
                </a:solidFill>
              </a:rPr>
              <a:t>開発</a:t>
            </a:r>
            <a:r>
              <a:rPr kumimoji="1" lang="ja-JP" altLang="en-US" sz="1600" dirty="0">
                <a:solidFill>
                  <a:srgbClr val="FF0000"/>
                </a:solidFill>
              </a:rPr>
              <a:t>コスト増、ユーザの管理作業増につながる恐れがあり、必須でなければ、推奨しません。</a:t>
            </a:r>
          </a:p>
        </p:txBody>
      </p:sp>
    </p:spTree>
    <p:extLst>
      <p:ext uri="{BB962C8B-B14F-4D97-AF65-F5344CB8AC3E}">
        <p14:creationId xmlns:p14="http://schemas.microsoft.com/office/powerpoint/2010/main" val="10894045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normAutofit/>
          </a:bodyPr>
          <a:lstStyle/>
          <a:p>
            <a:r>
              <a:rPr lang="ja-JP" altLang="en-US" dirty="0"/>
              <a:t>要件／ソリューション－非機能要件</a:t>
            </a:r>
            <a:endParaRPr lang="ja-JP" altLang="en-US" dirty="0">
              <a:effectLst/>
            </a:endParaRPr>
          </a:p>
        </p:txBody>
      </p:sp>
      <p:graphicFrame>
        <p:nvGraphicFramePr>
          <p:cNvPr id="3" name="表 2">
            <a:extLst>
              <a:ext uri="{FF2B5EF4-FFF2-40B4-BE49-F238E27FC236}">
                <a16:creationId xmlns:a16="http://schemas.microsoft.com/office/drawing/2014/main" id="{E7E67724-D206-B572-F611-ED6C3EACD9F5}"/>
              </a:ext>
            </a:extLst>
          </p:cNvPr>
          <p:cNvGraphicFramePr>
            <a:graphicFrameLocks noGrp="1"/>
          </p:cNvGraphicFramePr>
          <p:nvPr>
            <p:extLst>
              <p:ext uri="{D42A27DB-BD31-4B8C-83A1-F6EECF244321}">
                <p14:modId xmlns:p14="http://schemas.microsoft.com/office/powerpoint/2010/main" val="1573392209"/>
              </p:ext>
            </p:extLst>
          </p:nvPr>
        </p:nvGraphicFramePr>
        <p:xfrm>
          <a:off x="414336" y="890751"/>
          <a:ext cx="11284857" cy="5428233"/>
        </p:xfrm>
        <a:graphic>
          <a:graphicData uri="http://schemas.openxmlformats.org/drawingml/2006/table">
            <a:tbl>
              <a:tblPr firstRow="1">
                <a:tableStyleId>{2D5ABB26-0587-4C30-8999-92F81FD0307C}</a:tableStyleId>
              </a:tblPr>
              <a:tblGrid>
                <a:gridCol w="2234861">
                  <a:extLst>
                    <a:ext uri="{9D8B030D-6E8A-4147-A177-3AD203B41FA5}">
                      <a16:colId xmlns:a16="http://schemas.microsoft.com/office/drawing/2014/main" val="307087368"/>
                    </a:ext>
                  </a:extLst>
                </a:gridCol>
                <a:gridCol w="9049996">
                  <a:extLst>
                    <a:ext uri="{9D8B030D-6E8A-4147-A177-3AD203B41FA5}">
                      <a16:colId xmlns:a16="http://schemas.microsoft.com/office/drawing/2014/main" val="1007415991"/>
                    </a:ext>
                  </a:extLst>
                </a:gridCol>
              </a:tblGrid>
              <a:tr h="228895">
                <a:tc>
                  <a:txBody>
                    <a:bodyPr/>
                    <a:lstStyle/>
                    <a:p>
                      <a:r>
                        <a:rPr lang="ja-JP" altLang="en-US" sz="1200" b="1" dirty="0"/>
                        <a:t>システム要件</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b="1" dirty="0"/>
                        <a:t>ソリューション</a:t>
                      </a:r>
                      <a:endParaRPr lang="en-US" sz="1200" b="1"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607360652"/>
                  </a:ext>
                </a:extLst>
              </a:tr>
              <a:tr h="1022732">
                <a:tc>
                  <a:txBody>
                    <a:bodyPr/>
                    <a:lstStyle/>
                    <a:p>
                      <a:r>
                        <a:rPr kumimoji="0" lang="ja-JP" altLang="en-US" sz="1100" dirty="0">
                          <a:latin typeface="Arial" panose="020B0604020202020204" pitchFamily="34" charset="0"/>
                        </a:rPr>
                        <a:t>パフォーマンス</a:t>
                      </a:r>
                      <a:r>
                        <a:rPr kumimoji="0" lang="en-US" altLang="ja-JP" sz="1100" dirty="0">
                          <a:latin typeface="Arial" panose="020B0604020202020204" pitchFamily="34" charset="0"/>
                        </a:rPr>
                        <a:t>/</a:t>
                      </a:r>
                      <a:r>
                        <a:rPr kumimoji="0" lang="zh-CN" altLang="zh-CN" sz="1100" dirty="0">
                          <a:latin typeface="Arial" panose="020B0604020202020204" pitchFamily="34" charset="0"/>
                        </a:rPr>
                        <a:t>データアクセス</a:t>
                      </a:r>
                      <a:endParaRPr lang="ja-JP" altLang="en-US" sz="1100" dirty="0"/>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1000" dirty="0"/>
                        <a:t>仕様書の定型データ：</a:t>
                      </a:r>
                      <a:endParaRPr lang="en-US" altLang="ja-JP" sz="1000" dirty="0"/>
                    </a:p>
                    <a:p>
                      <a:pPr marL="171450" indent="-171450">
                        <a:buFont typeface="Arial" panose="020B0604020202020204" pitchFamily="34" charset="0"/>
                        <a:buChar char="•"/>
                      </a:pPr>
                      <a:r>
                        <a:rPr kumimoji="0" lang="zh-CN" altLang="zh-CN" sz="1000" dirty="0">
                          <a:latin typeface="Arial" panose="020B0604020202020204" pitchFamily="34" charset="0"/>
                        </a:rPr>
                        <a:t>SQL Serverのクエリ最適化（インデックス、ストアドプロシージャ使用）。</a:t>
                      </a:r>
                      <a:endParaRPr kumimoji="0" lang="en-US" altLang="zh-CN" sz="1000" dirty="0">
                        <a:latin typeface="Arial" panose="020B0604020202020204" pitchFamily="34" charset="0"/>
                      </a:endParaRPr>
                    </a:p>
                    <a:p>
                      <a:pPr marL="171450" indent="-171450">
                        <a:buFont typeface="Arial" panose="020B0604020202020204" pitchFamily="34" charset="0"/>
                        <a:buChar char="•"/>
                      </a:pPr>
                      <a:r>
                        <a:rPr kumimoji="0" lang="zh-CN" altLang="zh-CN" sz="1000" dirty="0">
                          <a:latin typeface="Arial" panose="020B0604020202020204" pitchFamily="34" charset="0"/>
                        </a:rPr>
                        <a:t>PowerAppsのDelegationを活用（Filter/Sortをサーバーサイド処理）</a:t>
                      </a:r>
                      <a:endParaRPr kumimoji="0" lang="en-US" altLang="zh-CN" sz="1000" dirty="0">
                        <a:latin typeface="Arial" panose="020B0604020202020204" pitchFamily="34" charset="0"/>
                      </a:endParaRPr>
                    </a:p>
                    <a:p>
                      <a:pPr marL="0" indent="0">
                        <a:buFont typeface="Arial" panose="020B0604020202020204" pitchFamily="34" charset="0"/>
                        <a:buNone/>
                      </a:pPr>
                      <a:r>
                        <a:rPr kumimoji="0" lang="ja-JP" altLang="en-US" sz="1000" dirty="0">
                          <a:latin typeface="Arial" panose="020B0604020202020204" pitchFamily="34" charset="0"/>
                        </a:rPr>
                        <a:t>添付ファイルの検索</a:t>
                      </a:r>
                      <a:endParaRPr kumimoji="0" lang="en-US" altLang="ja-JP" sz="1000" dirty="0">
                        <a:latin typeface="Arial" panose="020B0604020202020204" pitchFamily="34" charset="0"/>
                      </a:endParaRPr>
                    </a:p>
                    <a:p>
                      <a:pPr marL="171450" indent="-171450">
                        <a:buFont typeface="Arial" panose="020B0604020202020204" pitchFamily="34" charset="0"/>
                        <a:buChar char="•"/>
                      </a:pPr>
                      <a:r>
                        <a:rPr lang="en-US" altLang="ja-JP" sz="1000" dirty="0" err="1"/>
                        <a:t>GraphAPI</a:t>
                      </a:r>
                      <a:r>
                        <a:rPr lang="ja-JP" altLang="en-US" sz="1000" dirty="0"/>
                        <a:t>の検索パフォーマンスに依存（</a:t>
                      </a:r>
                      <a:r>
                        <a:rPr lang="en-US" altLang="ja-JP" sz="1000" dirty="0"/>
                        <a:t>SharePoint UI</a:t>
                      </a:r>
                      <a:r>
                        <a:rPr lang="ja-JP" altLang="en-US" sz="1000" dirty="0"/>
                        <a:t>にての検索と同じ程度）</a:t>
                      </a:r>
                      <a:endParaRPr lang="en-US" altLang="ja-JP" sz="1000" dirty="0"/>
                    </a:p>
                    <a:p>
                      <a:pPr marL="171450" indent="-171450">
                        <a:buFont typeface="Arial" panose="020B0604020202020204" pitchFamily="34" charset="0"/>
                        <a:buChar char="•"/>
                      </a:pPr>
                      <a:r>
                        <a:rPr lang="ja-JP" altLang="en-US" sz="1000" dirty="0"/>
                        <a:t>ページング機能を活用</a:t>
                      </a:r>
                      <a:endParaRPr lang="en-US" altLang="ja-JP" sz="1000"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453962866"/>
                  </a:ext>
                </a:extLst>
              </a:tr>
              <a:tr h="543122">
                <a:tc>
                  <a:txBody>
                    <a:bodyPr/>
                    <a:lstStyle/>
                    <a:p>
                      <a:r>
                        <a:rPr kumimoji="0" lang="ja-JP" altLang="en-US" sz="1100" dirty="0">
                          <a:latin typeface="Arial" panose="020B0604020202020204" pitchFamily="34" charset="0"/>
                        </a:rPr>
                        <a:t>パフォーマンス</a:t>
                      </a:r>
                      <a:r>
                        <a:rPr kumimoji="0" lang="en-US" altLang="ja-JP" sz="1100" dirty="0">
                          <a:latin typeface="Arial" panose="020B0604020202020204" pitchFamily="34" charset="0"/>
                        </a:rPr>
                        <a:t>/</a:t>
                      </a:r>
                      <a:r>
                        <a:rPr kumimoji="0" lang="zh-CN" altLang="zh-CN" sz="1100" dirty="0">
                          <a:latin typeface="Arial" panose="020B0604020202020204" pitchFamily="34" charset="0"/>
                        </a:rPr>
                        <a:t>ファイル扱い</a:t>
                      </a:r>
                      <a:endParaRPr lang="ja-JP" altLang="en-US" sz="110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kumimoji="0" lang="zh-CN" altLang="zh-CN" sz="1000" dirty="0">
                          <a:latin typeface="Arial" panose="020B0604020202020204" pitchFamily="34" charset="0"/>
                        </a:rPr>
                        <a:t>非同期ロード（PowerAppsのConcurrent関数）。</a:t>
                      </a:r>
                      <a:endParaRPr kumimoji="0" lang="en-US" altLang="zh-CN" sz="1000" dirty="0">
                        <a:latin typeface="Arial" panose="020B0604020202020204" pitchFamily="34" charset="0"/>
                      </a:endParaRPr>
                    </a:p>
                    <a:p>
                      <a:r>
                        <a:rPr kumimoji="0" lang="zh-CN" altLang="zh-CN" sz="1000" dirty="0">
                          <a:latin typeface="Arial" panose="020B0604020202020204" pitchFamily="34" charset="0"/>
                        </a:rPr>
                        <a:t>大容量ファイル時はストリーミング</a:t>
                      </a:r>
                      <a:r>
                        <a:rPr kumimoji="0" lang="zh-CN" altLang="zh-CN" sz="1050" dirty="0">
                          <a:latin typeface="Arial" panose="020B0604020202020204" pitchFamily="34" charset="0"/>
                        </a:rPr>
                        <a:t>。</a:t>
                      </a:r>
                      <a:endParaRPr kumimoji="0" lang="en-US" altLang="zh-CN" sz="1050" dirty="0">
                        <a:latin typeface="Arial" panose="020B0604020202020204" pitchFamily="34" charset="0"/>
                      </a:endParaRPr>
                    </a:p>
                    <a:p>
                      <a:r>
                        <a:rPr kumimoji="0" lang="en-US" altLang="ja-JP" sz="1050" kern="1200" dirty="0">
                          <a:solidFill>
                            <a:schemeClr val="tx1"/>
                          </a:solidFill>
                          <a:latin typeface="Arial" panose="020B0604020202020204" pitchFamily="34" charset="0"/>
                          <a:ea typeface="+mn-ea"/>
                          <a:cs typeface="+mn-cs"/>
                        </a:rPr>
                        <a:t>SPO</a:t>
                      </a:r>
                      <a:r>
                        <a:rPr kumimoji="0" lang="ja-JP" altLang="en-US" sz="1050" kern="1200" dirty="0">
                          <a:solidFill>
                            <a:schemeClr val="tx1"/>
                          </a:solidFill>
                          <a:latin typeface="Arial" panose="020B0604020202020204" pitchFamily="34" charset="0"/>
                          <a:ea typeface="+mn-ea"/>
                          <a:cs typeface="+mn-cs"/>
                        </a:rPr>
                        <a:t>に置く添付ファイルは多階層設計することで、フォルダ毎のサブフォルダ、ファイルの数を抑える</a:t>
                      </a:r>
                      <a:endParaRPr lang="en-US" altLang="ja-JP" sz="100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65751194"/>
                  </a:ext>
                </a:extLst>
              </a:tr>
              <a:tr h="204087">
                <a:tc>
                  <a:txBody>
                    <a:bodyPr/>
                    <a:lstStyle/>
                    <a:p>
                      <a:r>
                        <a:rPr kumimoji="0" lang="zh-CN" altLang="zh-CN" sz="1050" dirty="0">
                          <a:latin typeface="Arial" panose="020B0604020202020204" pitchFamily="34" charset="0"/>
                        </a:rPr>
                        <a:t>スケーラビリティ</a:t>
                      </a:r>
                      <a:endParaRPr lang="ja-JP" altLang="en-US" sz="105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000" kern="1200" dirty="0">
                          <a:solidFill>
                            <a:schemeClr val="tx1"/>
                          </a:solidFill>
                          <a:latin typeface="+mn-lt"/>
                          <a:ea typeface="+mn-ea"/>
                          <a:cs typeface="+mn-cs"/>
                        </a:rPr>
                        <a:t>Azure SQL</a:t>
                      </a:r>
                      <a:r>
                        <a:rPr lang="ja-JP" altLang="en-US" sz="1000" kern="1200" dirty="0">
                          <a:solidFill>
                            <a:schemeClr val="tx1"/>
                          </a:solidFill>
                          <a:latin typeface="+mn-lt"/>
                          <a:ea typeface="+mn-ea"/>
                          <a:cs typeface="+mn-cs"/>
                        </a:rPr>
                        <a:t>で動的に追加可能（</a:t>
                      </a:r>
                      <a:r>
                        <a:rPr lang="de-DE" altLang="ja-JP" sz="1000" kern="1200" dirty="0">
                          <a:solidFill>
                            <a:schemeClr val="tx1"/>
                          </a:solidFill>
                          <a:effectLst/>
                          <a:latin typeface="+mn-lt"/>
                          <a:ea typeface="+mn-ea"/>
                          <a:cs typeface="+mn-cs"/>
                        </a:rPr>
                        <a:t>PaaS</a:t>
                      </a:r>
                      <a:r>
                        <a:rPr lang="ja-JP" altLang="en-US" sz="1000" kern="1200" dirty="0">
                          <a:solidFill>
                            <a:schemeClr val="tx1"/>
                          </a:solidFill>
                          <a:latin typeface="+mn-lt"/>
                          <a:ea typeface="+mn-ea"/>
                          <a:cs typeface="+mn-cs"/>
                        </a:rPr>
                        <a:t>のため）</a:t>
                      </a:r>
                      <a:endParaRPr lang="en-US" altLang="ja-JP" sz="100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58281788"/>
                  </a:ext>
                </a:extLst>
              </a:tr>
              <a:tr h="2660022">
                <a:tc>
                  <a:txBody>
                    <a:bodyPr/>
                    <a:lstStyle/>
                    <a:p>
                      <a:r>
                        <a:rPr lang="en-US" altLang="ja-JP" sz="1050" dirty="0"/>
                        <a:t>HA</a:t>
                      </a:r>
                      <a:r>
                        <a:rPr lang="ja-JP" altLang="en-US" sz="1050" dirty="0"/>
                        <a:t>（高可用性）</a:t>
                      </a:r>
                      <a:endParaRPr lang="ja-JP" altLang="en-US" sz="105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ja-JP" altLang="en-US" sz="1000" dirty="0"/>
                        <a:t>リモートストレージ高可用性モデル </a:t>
                      </a:r>
                      <a:r>
                        <a:rPr lang="en-US" altLang="ja-JP" sz="1000" dirty="0"/>
                        <a:t>(</a:t>
                      </a:r>
                      <a:r>
                        <a:rPr lang="de-DE" altLang="ja-JP" sz="1000" dirty="0"/>
                        <a:t>Remote Storage High Availability Model)</a:t>
                      </a:r>
                      <a:r>
                        <a:rPr lang="ja-JP" altLang="en-US" sz="1000" dirty="0"/>
                        <a:t>　汎用 </a:t>
                      </a:r>
                      <a:r>
                        <a:rPr lang="en-US" altLang="ja-JP" sz="1000" dirty="0"/>
                        <a:t>(</a:t>
                      </a:r>
                      <a:r>
                        <a:rPr lang="de-DE" altLang="ja-JP" sz="1000" dirty="0"/>
                        <a:t>General Purpose) </a:t>
                      </a:r>
                      <a:r>
                        <a:rPr lang="ja-JP" altLang="en-US" sz="1000" dirty="0"/>
                        <a:t>サービス階層に適用</a:t>
                      </a:r>
                      <a:endParaRPr lang="en-US" altLang="ja-JP" sz="1000" dirty="0"/>
                    </a:p>
                    <a:p>
                      <a:pPr marL="457200" marR="0" lvl="1" indent="0" algn="l" defTabSz="914400" rtl="0" eaLnBrk="1" fontAlgn="auto" latinLnBrk="0" hangingPunct="1">
                        <a:lnSpc>
                          <a:spcPct val="100000"/>
                        </a:lnSpc>
                        <a:spcBef>
                          <a:spcPts val="0"/>
                        </a:spcBef>
                        <a:spcAft>
                          <a:spcPts val="0"/>
                        </a:spcAft>
                        <a:buClrTx/>
                        <a:buSzTx/>
                        <a:buFont typeface="+mj-lt"/>
                        <a:buNone/>
                        <a:tabLst/>
                        <a:defRPr/>
                      </a:pPr>
                      <a:r>
                        <a:rPr lang="ja-JP" altLang="en-US" sz="1000" b="1" dirty="0"/>
                        <a:t>アーキテクチャの概要</a:t>
                      </a:r>
                      <a:r>
                        <a:rPr lang="en-US" altLang="ja-JP" sz="1000" b="1" dirty="0"/>
                        <a:t>:</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ja-JP" altLang="en-US" sz="800" dirty="0"/>
                        <a:t>コンピューティング（</a:t>
                      </a:r>
                      <a:r>
                        <a:rPr lang="en-US" altLang="ja-JP" sz="800" dirty="0"/>
                        <a:t>SQL Server </a:t>
                      </a:r>
                      <a:r>
                        <a:rPr lang="ja-JP" altLang="en-US" sz="800" dirty="0"/>
                        <a:t>プロセス）とストレージが分離されています。</a:t>
                      </a:r>
                      <a:endParaRPr lang="en-US" altLang="ja-JP" sz="800" dirty="0"/>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ja-JP" altLang="en-US" sz="800" dirty="0"/>
                        <a:t>データファイルは </a:t>
                      </a:r>
                      <a:r>
                        <a:rPr lang="en-US" altLang="ja-JP" sz="800" dirty="0"/>
                        <a:t>Azure Premium Remote Storage </a:t>
                      </a:r>
                      <a:r>
                        <a:rPr lang="ja-JP" altLang="en-US" sz="800" dirty="0"/>
                        <a:t>に格納され、このストレージ自体が高可用性を確保しています（ゾーン冗長またはローカル冗長）。</a:t>
                      </a:r>
                      <a:endParaRPr lang="en-US" altLang="ja-JP" sz="800" dirty="0"/>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ja-JP" altLang="en-US" sz="800" dirty="0"/>
                        <a:t>プライマリ（主）レプリカに障害が発生した場合、新しい </a:t>
                      </a:r>
                      <a:r>
                        <a:rPr lang="en-US" altLang="ja-JP" sz="800" dirty="0"/>
                        <a:t>SQL Server </a:t>
                      </a:r>
                      <a:r>
                        <a:rPr lang="ja-JP" altLang="en-US" sz="800" dirty="0"/>
                        <a:t>プロセスが稼働し、リモートストレージに再接続してデータベースを復旧します。</a:t>
                      </a:r>
                      <a:endParaRPr lang="en-US" altLang="ja-JP" sz="900" dirty="0"/>
                    </a:p>
                    <a:p>
                      <a:pPr marL="457200" marR="0" lvl="1" indent="0" algn="l" defTabSz="914400" rtl="0" eaLnBrk="1" fontAlgn="auto" latinLnBrk="0" hangingPunct="1">
                        <a:lnSpc>
                          <a:spcPct val="100000"/>
                        </a:lnSpc>
                        <a:spcBef>
                          <a:spcPts val="0"/>
                        </a:spcBef>
                        <a:spcAft>
                          <a:spcPts val="0"/>
                        </a:spcAft>
                        <a:buClrTx/>
                        <a:buSzTx/>
                        <a:buFont typeface="+mj-lt"/>
                        <a:buNone/>
                        <a:tabLst/>
                        <a:defRPr/>
                      </a:pPr>
                      <a:r>
                        <a:rPr lang="ja-JP" altLang="en-US" sz="1000" b="1" dirty="0"/>
                        <a:t>特徴</a:t>
                      </a:r>
                      <a:r>
                        <a:rPr lang="en-US" altLang="ja-JP" sz="1000" b="1" dirty="0"/>
                        <a:t>:</a:t>
                      </a:r>
                      <a:r>
                        <a:rPr lang="en-US" altLang="ja-JP" sz="1000" dirty="0"/>
                        <a:t> </a:t>
                      </a:r>
                    </a:p>
                    <a:p>
                      <a:pPr marL="457200" marR="0" lvl="1" indent="0" algn="l" defTabSz="914400" rtl="0" eaLnBrk="1" fontAlgn="auto" latinLnBrk="0" hangingPunct="1">
                        <a:lnSpc>
                          <a:spcPct val="100000"/>
                        </a:lnSpc>
                        <a:spcBef>
                          <a:spcPts val="0"/>
                        </a:spcBef>
                        <a:spcAft>
                          <a:spcPts val="0"/>
                        </a:spcAft>
                        <a:buClrTx/>
                        <a:buSzTx/>
                        <a:buFont typeface="+mj-lt"/>
                        <a:buNone/>
                        <a:tabLst/>
                        <a:defRPr/>
                      </a:pPr>
                      <a:r>
                        <a:rPr lang="ja-JP" altLang="en-US" sz="800" dirty="0"/>
                        <a:t>データベースのコピー（レプリカ）は</a:t>
                      </a:r>
                      <a:r>
                        <a:rPr lang="en-US" altLang="ja-JP" sz="800" dirty="0"/>
                        <a:t>1</a:t>
                      </a:r>
                      <a:r>
                        <a:rPr lang="ja-JP" altLang="en-US" sz="800" dirty="0"/>
                        <a:t>つ（プライマリのみ）ですが、ストレージ側でデータの冗長性が確保されています。フェールオーバー時に新しいノードへの再接続が必要なため、トランザクションのコミット遅延が若干発生する可能性があります。</a:t>
                      </a:r>
                      <a:endParaRPr lang="de-DE" altLang="ja-JP" sz="800" dirty="0"/>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ja-JP" altLang="en-US" sz="1000" dirty="0"/>
                        <a:t>ローカルストレージ高可用性モデル </a:t>
                      </a:r>
                      <a:r>
                        <a:rPr lang="en-US" altLang="ja-JP" sz="1000" dirty="0"/>
                        <a:t>(</a:t>
                      </a:r>
                      <a:r>
                        <a:rPr lang="de-DE" altLang="ja-JP" sz="1000" dirty="0"/>
                        <a:t>Local Storage High Availability Model)- </a:t>
                      </a:r>
                      <a:r>
                        <a:rPr lang="ja-JP" altLang="en-US" sz="1000" b="1" dirty="0"/>
                        <a:t>ビジネスクリティカル </a:t>
                      </a:r>
                      <a:r>
                        <a:rPr lang="en-US" altLang="ja-JP" sz="1000" b="1" dirty="0"/>
                        <a:t>(Business Critical) </a:t>
                      </a:r>
                      <a:r>
                        <a:rPr lang="ja-JP" altLang="en-US" sz="1000" b="1" dirty="0"/>
                        <a:t>サービス階層</a:t>
                      </a:r>
                      <a:r>
                        <a:rPr lang="ja-JP" altLang="en-US" sz="1000" dirty="0"/>
                        <a:t>および </a:t>
                      </a:r>
                      <a:r>
                        <a:rPr lang="en-US" altLang="ja-JP" sz="1000" b="1" dirty="0"/>
                        <a:t>Premium </a:t>
                      </a:r>
                      <a:r>
                        <a:rPr lang="ja-JP" altLang="en-US" sz="1000" b="1" dirty="0"/>
                        <a:t>サービス階層に適用</a:t>
                      </a:r>
                      <a:endParaRPr lang="de-DE" altLang="ja-JP" sz="1000" dirty="0"/>
                    </a:p>
                    <a:p>
                      <a:pPr marL="457200" marR="0" lvl="1" indent="0" algn="l" defTabSz="914400" rtl="0" eaLnBrk="1" fontAlgn="auto" latinLnBrk="0" hangingPunct="1">
                        <a:lnSpc>
                          <a:spcPct val="100000"/>
                        </a:lnSpc>
                        <a:spcBef>
                          <a:spcPts val="0"/>
                        </a:spcBef>
                        <a:spcAft>
                          <a:spcPts val="0"/>
                        </a:spcAft>
                        <a:buClrTx/>
                        <a:buSzTx/>
                        <a:buFont typeface="+mj-lt"/>
                        <a:buNone/>
                        <a:tabLst/>
                        <a:defRPr/>
                      </a:pPr>
                      <a:r>
                        <a:rPr lang="ja-JP" altLang="en-US" sz="1000" b="1" dirty="0"/>
                        <a:t>アーキテクチャの概要</a:t>
                      </a:r>
                      <a:r>
                        <a:rPr lang="en-US" altLang="ja-JP" sz="1000" b="1" dirty="0"/>
                        <a:t>:</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altLang="ja-JP" sz="800" dirty="0"/>
                        <a:t>SQL Server </a:t>
                      </a:r>
                      <a:r>
                        <a:rPr lang="ja-JP" altLang="en-US" sz="800" dirty="0"/>
                        <a:t>の</a:t>
                      </a:r>
                      <a:r>
                        <a:rPr lang="en-US" altLang="ja-JP" sz="800" dirty="0"/>
                        <a:t>Always On </a:t>
                      </a:r>
                      <a:r>
                        <a:rPr lang="ja-JP" altLang="en-US" sz="800" dirty="0"/>
                        <a:t>可用性グループ </a:t>
                      </a:r>
                      <a:r>
                        <a:rPr lang="en-US" altLang="ja-JP" sz="800" dirty="0"/>
                        <a:t>(Always On Availability Groups) </a:t>
                      </a:r>
                      <a:r>
                        <a:rPr lang="ja-JP" altLang="en-US" sz="800" dirty="0"/>
                        <a:t>の技術に基づいています。</a:t>
                      </a:r>
                      <a:endParaRPr lang="en-US" altLang="ja-JP" sz="800" dirty="0"/>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altLang="ja-JP" sz="800" dirty="0"/>
                        <a:t>3</a:t>
                      </a:r>
                      <a:r>
                        <a:rPr lang="ja-JP" altLang="en-US" sz="800" dirty="0"/>
                        <a:t>つ以上の高可用性レプリカ（プライマリ </a:t>
                      </a:r>
                      <a:r>
                        <a:rPr lang="en-US" altLang="ja-JP" sz="800" dirty="0"/>
                        <a:t>1</a:t>
                      </a:r>
                      <a:r>
                        <a:rPr lang="ja-JP" altLang="en-US" sz="800" dirty="0"/>
                        <a:t>つ、セカンダリ </a:t>
                      </a:r>
                      <a:r>
                        <a:rPr lang="en-US" altLang="ja-JP" sz="800" dirty="0"/>
                        <a:t>2</a:t>
                      </a:r>
                      <a:r>
                        <a:rPr lang="ja-JP" altLang="en-US" sz="800" dirty="0"/>
                        <a:t>つ以上）が常に同期モードで維持され、各レプリカはローカル </a:t>
                      </a:r>
                      <a:r>
                        <a:rPr lang="en-US" altLang="ja-JP" sz="800" dirty="0"/>
                        <a:t>SSD </a:t>
                      </a:r>
                      <a:r>
                        <a:rPr lang="ja-JP" altLang="en-US" sz="800" dirty="0"/>
                        <a:t>ストレージを持っています。</a:t>
                      </a:r>
                      <a:endParaRPr lang="en-US" altLang="ja-JP" sz="800" dirty="0"/>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ja-JP" altLang="en-US" sz="800" dirty="0"/>
                        <a:t>データはすべてのレプリカに同時にコミットされるため、**非常に低いレイテンシー（待ち時間）**で高い可用性を実現します。</a:t>
                      </a:r>
                      <a:endParaRPr lang="en-US" altLang="ja-JP" sz="800" dirty="0"/>
                    </a:p>
                    <a:p>
                      <a:pPr marL="457200" marR="0" lvl="1" indent="0" algn="l" defTabSz="914400" rtl="0" eaLnBrk="1" fontAlgn="auto" latinLnBrk="0" hangingPunct="1">
                        <a:lnSpc>
                          <a:spcPct val="100000"/>
                        </a:lnSpc>
                        <a:spcBef>
                          <a:spcPts val="0"/>
                        </a:spcBef>
                        <a:spcAft>
                          <a:spcPts val="0"/>
                        </a:spcAft>
                        <a:buClrTx/>
                        <a:buSzTx/>
                        <a:buFont typeface="+mj-lt"/>
                        <a:buNone/>
                        <a:tabLst/>
                        <a:defRPr/>
                      </a:pPr>
                      <a:r>
                        <a:rPr lang="ja-JP" altLang="en-US" sz="1000" b="1" dirty="0"/>
                        <a:t>特徴</a:t>
                      </a:r>
                      <a:r>
                        <a:rPr lang="en-US" altLang="ja-JP" sz="1000" b="1" dirty="0"/>
                        <a:t>:</a:t>
                      </a:r>
                    </a:p>
                    <a:p>
                      <a:pPr marL="457200" marR="0" lvl="1" indent="0" algn="l" defTabSz="914400" rtl="0" eaLnBrk="1" fontAlgn="auto" latinLnBrk="0" hangingPunct="1">
                        <a:lnSpc>
                          <a:spcPct val="100000"/>
                        </a:lnSpc>
                        <a:spcBef>
                          <a:spcPts val="0"/>
                        </a:spcBef>
                        <a:spcAft>
                          <a:spcPts val="0"/>
                        </a:spcAft>
                        <a:buClrTx/>
                        <a:buSzTx/>
                        <a:buFont typeface="+mj-lt"/>
                        <a:buNone/>
                        <a:tabLst/>
                        <a:defRPr/>
                      </a:pPr>
                      <a:r>
                        <a:rPr lang="ja-JP" altLang="en-US" sz="800" dirty="0"/>
                        <a:t>プライマリに障害が発生した場合、セカンダリのいずれかが即座に新しいプライマリに昇格するため、**ダウンタイムが最小限（数秒以内）**に抑えられます。セカンダリレプリカは読み取り専用ワークロードにも利用できます。</a:t>
                      </a:r>
                      <a:endParaRPr lang="en-US" altLang="ja-JP" sz="800" dirty="0"/>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altLang="ja-JP" sz="900" b="1" dirty="0"/>
                        <a:t>※</a:t>
                      </a:r>
                      <a:r>
                        <a:rPr lang="ja-JP" altLang="en-US" sz="900" b="1" dirty="0"/>
                        <a:t>　今回のシステムは生産システムではなく、オフィス用システムなので、リモートストレージ高可用性モデル妥当だと思います。</a:t>
                      </a:r>
                      <a:endParaRPr lang="en-US" altLang="ja-JP" sz="900" b="1"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501357562"/>
                  </a:ext>
                </a:extLst>
              </a:tr>
              <a:tr h="204087">
                <a:tc>
                  <a:txBody>
                    <a:bodyPr/>
                    <a:lstStyle/>
                    <a:p>
                      <a:r>
                        <a:rPr kumimoji="0" lang="zh-CN" altLang="zh-CN" sz="1050" dirty="0">
                          <a:latin typeface="Arial" panose="020B0604020202020204" pitchFamily="34" charset="0"/>
                        </a:rPr>
                        <a:t>監視</a:t>
                      </a:r>
                      <a:endParaRPr lang="ja-JP" altLang="en-US" sz="105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zh-CN" sz="1000" dirty="0">
                          <a:latin typeface="Arial" panose="020B0604020202020204" pitchFamily="34" charset="0"/>
                        </a:rPr>
                        <a:t>Power BIでパフォーマンスレポート作成。ボトルネック検知のためのログ（Application Insights）。 </a:t>
                      </a:r>
                      <a:endParaRPr lang="ja-JP" altLang="en-US" sz="100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515025090"/>
                  </a:ext>
                </a:extLst>
              </a:tr>
              <a:tr h="204087">
                <a:tc>
                  <a:txBody>
                    <a:bodyPr/>
                    <a:lstStyle/>
                    <a:p>
                      <a:r>
                        <a:rPr lang="ja-JP" altLang="en-US" sz="1050" kern="1200" dirty="0">
                          <a:solidFill>
                            <a:schemeClr val="tx1"/>
                          </a:solidFill>
                          <a:latin typeface="+mn-lt"/>
                          <a:ea typeface="+mn-ea"/>
                          <a:cs typeface="+mn-cs"/>
                        </a:rPr>
                        <a:t>バックアップ</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000" dirty="0">
                          <a:latin typeface="Yu Gothic UI" panose="020B0500000000000000" pitchFamily="50" charset="-128"/>
                          <a:ea typeface="Yu Gothic UI" panose="020B0500000000000000" pitchFamily="50" charset="-128"/>
                        </a:rPr>
                        <a:t>PaaS</a:t>
                      </a:r>
                      <a:r>
                        <a:rPr lang="ja-JP" altLang="en-US" sz="1000" dirty="0">
                          <a:latin typeface="Yu Gothic UI" panose="020B0500000000000000" pitchFamily="50" charset="-128"/>
                          <a:ea typeface="Yu Gothic UI" panose="020B0500000000000000" pitchFamily="50" charset="-128"/>
                        </a:rPr>
                        <a:t>により対応</a:t>
                      </a:r>
                      <a:endParaRPr lang="en-US" altLang="ja-JP" sz="1000" dirty="0">
                        <a:latin typeface="Yu Gothic UI" panose="020B0500000000000000" pitchFamily="50" charset="-128"/>
                        <a:ea typeface="Yu Gothic UI" panose="020B0500000000000000" pitchFamily="50" charset="-128"/>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894016093"/>
                  </a:ext>
                </a:extLst>
              </a:tr>
              <a:tr h="3612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kern="1200" dirty="0">
                          <a:solidFill>
                            <a:schemeClr val="tx1"/>
                          </a:solidFill>
                          <a:latin typeface="+mn-lt"/>
                          <a:ea typeface="+mn-ea"/>
                          <a:cs typeface="+mn-cs"/>
                        </a:rPr>
                        <a:t>負荷分散</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sz="1000" dirty="0">
                          <a:latin typeface="Yu Gothic UI" panose="020B0500000000000000" pitchFamily="50" charset="-128"/>
                          <a:ea typeface="Yu Gothic UI" panose="020B0500000000000000" pitchFamily="50" charset="-128"/>
                        </a:rPr>
                        <a:t>PaaS</a:t>
                      </a:r>
                      <a:r>
                        <a:rPr lang="ja-JP" altLang="en-US" sz="1000" dirty="0">
                          <a:latin typeface="Yu Gothic UI" panose="020B0500000000000000" pitchFamily="50" charset="-128"/>
                          <a:ea typeface="Yu Gothic UI" panose="020B0500000000000000" pitchFamily="50" charset="-128"/>
                        </a:rPr>
                        <a:t>により対応</a:t>
                      </a:r>
                      <a:endParaRPr lang="en-US" altLang="ja-JP" sz="1000" kern="1200" dirty="0">
                        <a:solidFill>
                          <a:schemeClr val="tx1"/>
                        </a:solidFill>
                        <a:latin typeface="+mn-lt"/>
                        <a:ea typeface="+mn-ea"/>
                        <a:cs typeface="+mn-cs"/>
                      </a:endParaRPr>
                    </a:p>
                    <a:p>
                      <a:r>
                        <a:rPr kumimoji="0" lang="zh-CN" altLang="zh-CN" sz="1000" dirty="0">
                          <a:latin typeface="Arial" panose="020B0604020202020204" pitchFamily="34" charset="0"/>
                        </a:rPr>
                        <a:t>負荷テスト（例: 同時</a:t>
                      </a:r>
                      <a:r>
                        <a:rPr kumimoji="0" lang="en-US" altLang="ja-JP" sz="1000" dirty="0">
                          <a:latin typeface="Arial" panose="020B0604020202020204" pitchFamily="34" charset="0"/>
                        </a:rPr>
                        <a:t>50</a:t>
                      </a:r>
                      <a:r>
                        <a:rPr kumimoji="0" lang="zh-CN" altLang="zh-CN" sz="1000" dirty="0">
                          <a:latin typeface="Arial" panose="020B0604020202020204" pitchFamily="34" charset="0"/>
                        </a:rPr>
                        <a:t>ユーザーアクセス</a:t>
                      </a:r>
                      <a:r>
                        <a:rPr kumimoji="0" lang="zh-CN" altLang="en-US" sz="1000" dirty="0">
                          <a:latin typeface="Arial" panose="020B0604020202020204" pitchFamily="34" charset="0"/>
                        </a:rPr>
                        <a:t>，</a:t>
                      </a:r>
                      <a:r>
                        <a:rPr kumimoji="0" lang="en-US" altLang="zh-CN" sz="1000" dirty="0">
                          <a:latin typeface="Arial" panose="020B0604020202020204" pitchFamily="34" charset="0"/>
                        </a:rPr>
                        <a:t>Max 20000 </a:t>
                      </a:r>
                      <a:r>
                        <a:rPr kumimoji="0" lang="ja-JP" altLang="en-US" sz="1000" dirty="0">
                          <a:latin typeface="Arial" panose="020B0604020202020204" pitchFamily="34" charset="0"/>
                        </a:rPr>
                        <a:t>ユーザ、</a:t>
                      </a:r>
                      <a:r>
                        <a:rPr kumimoji="0" lang="en-US" altLang="ja-JP" sz="1000" dirty="0">
                          <a:latin typeface="Arial" panose="020B0604020202020204" pitchFamily="34" charset="0"/>
                        </a:rPr>
                        <a:t>10</a:t>
                      </a:r>
                      <a:r>
                        <a:rPr kumimoji="0" lang="ja-JP" altLang="en-US" sz="1000" dirty="0">
                          <a:latin typeface="Arial" panose="020B0604020202020204" pitchFamily="34" charset="0"/>
                        </a:rPr>
                        <a:t>年データ量ベース</a:t>
                      </a:r>
                      <a:r>
                        <a:rPr kumimoji="0" lang="zh-CN" altLang="zh-CN" sz="1000" dirty="0">
                          <a:latin typeface="Arial" panose="020B0604020202020204" pitchFamily="34" charset="0"/>
                        </a:rPr>
                        <a:t>）</a:t>
                      </a:r>
                      <a:r>
                        <a:rPr kumimoji="0" lang="ja-JP" altLang="en-US" sz="1000" dirty="0">
                          <a:latin typeface="Arial" panose="020B0604020202020204" pitchFamily="34" charset="0"/>
                        </a:rPr>
                        <a:t>は事前に</a:t>
                      </a:r>
                      <a:r>
                        <a:rPr kumimoji="0" lang="en-US" altLang="ja-JP" sz="1000" dirty="0">
                          <a:latin typeface="Arial" panose="020B0604020202020204" pitchFamily="34" charset="0"/>
                        </a:rPr>
                        <a:t>Facility</a:t>
                      </a:r>
                      <a:r>
                        <a:rPr kumimoji="0" lang="zh-CN" altLang="zh-CN" sz="1000" dirty="0">
                          <a:latin typeface="Arial" panose="020B0604020202020204" pitchFamily="34" charset="0"/>
                        </a:rPr>
                        <a:t>実施 </a:t>
                      </a:r>
                      <a:endParaRPr lang="en-US" altLang="ja-JP" sz="100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2867419"/>
                  </a:ext>
                </a:extLst>
              </a:tr>
            </a:tbl>
          </a:graphicData>
        </a:graphic>
      </p:graphicFrame>
      <p:graphicFrame>
        <p:nvGraphicFramePr>
          <p:cNvPr id="4" name="表 3">
            <a:extLst>
              <a:ext uri="{FF2B5EF4-FFF2-40B4-BE49-F238E27FC236}">
                <a16:creationId xmlns:a16="http://schemas.microsoft.com/office/drawing/2014/main" id="{FE571A1C-091B-BAC0-2C0A-3976BE308B16}"/>
              </a:ext>
            </a:extLst>
          </p:cNvPr>
          <p:cNvGraphicFramePr>
            <a:graphicFrameLocks noGrp="1"/>
          </p:cNvGraphicFramePr>
          <p:nvPr>
            <p:extLst>
              <p:ext uri="{D42A27DB-BD31-4B8C-83A1-F6EECF244321}">
                <p14:modId xmlns:p14="http://schemas.microsoft.com/office/powerpoint/2010/main" val="3976223472"/>
              </p:ext>
            </p:extLst>
          </p:nvPr>
        </p:nvGraphicFramePr>
        <p:xfrm>
          <a:off x="112815" y="4467705"/>
          <a:ext cx="2974770" cy="743832"/>
        </p:xfrm>
        <a:graphic>
          <a:graphicData uri="http://schemas.openxmlformats.org/drawingml/2006/table">
            <a:tbl>
              <a:tblPr>
                <a:tableStyleId>{2D5ABB26-0587-4C30-8999-92F81FD0307C}</a:tableStyleId>
              </a:tblPr>
              <a:tblGrid>
                <a:gridCol w="498764">
                  <a:extLst>
                    <a:ext uri="{9D8B030D-6E8A-4147-A177-3AD203B41FA5}">
                      <a16:colId xmlns:a16="http://schemas.microsoft.com/office/drawing/2014/main" val="3576838364"/>
                    </a:ext>
                  </a:extLst>
                </a:gridCol>
                <a:gridCol w="396681">
                  <a:extLst>
                    <a:ext uri="{9D8B030D-6E8A-4147-A177-3AD203B41FA5}">
                      <a16:colId xmlns:a16="http://schemas.microsoft.com/office/drawing/2014/main" val="3432411362"/>
                    </a:ext>
                  </a:extLst>
                </a:gridCol>
                <a:gridCol w="271216">
                  <a:extLst>
                    <a:ext uri="{9D8B030D-6E8A-4147-A177-3AD203B41FA5}">
                      <a16:colId xmlns:a16="http://schemas.microsoft.com/office/drawing/2014/main" val="1406044288"/>
                    </a:ext>
                  </a:extLst>
                </a:gridCol>
                <a:gridCol w="607008">
                  <a:extLst>
                    <a:ext uri="{9D8B030D-6E8A-4147-A177-3AD203B41FA5}">
                      <a16:colId xmlns:a16="http://schemas.microsoft.com/office/drawing/2014/main" val="159024894"/>
                    </a:ext>
                  </a:extLst>
                </a:gridCol>
                <a:gridCol w="1201101">
                  <a:extLst>
                    <a:ext uri="{9D8B030D-6E8A-4147-A177-3AD203B41FA5}">
                      <a16:colId xmlns:a16="http://schemas.microsoft.com/office/drawing/2014/main" val="809750389"/>
                    </a:ext>
                  </a:extLst>
                </a:gridCol>
              </a:tblGrid>
              <a:tr h="184444">
                <a:tc>
                  <a:txBody>
                    <a:bodyPr/>
                    <a:lstStyle/>
                    <a:p>
                      <a:pPr algn="l" fontAlgn="ctr">
                        <a:buNone/>
                      </a:pPr>
                      <a:r>
                        <a:rPr lang="ja-JP" altLang="en-US" sz="600" u="none" strike="noStrike" dirty="0">
                          <a:solidFill>
                            <a:srgbClr val="0070C0"/>
                          </a:solidFill>
                          <a:effectLst/>
                        </a:rPr>
                        <a:t>サービス階層</a:t>
                      </a:r>
                      <a:endParaRPr lang="ja-JP" altLang="en-US" sz="600" b="0" i="0" u="none" strike="noStrike" dirty="0">
                        <a:solidFill>
                          <a:srgbClr val="0070C0"/>
                        </a:solidFill>
                        <a:effectLst/>
                        <a:latin typeface="游ゴシック" panose="020B0400000000000000" pitchFamily="50" charset="-128"/>
                        <a:ea typeface="游ゴシック" panose="020B0400000000000000"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algn="l" fontAlgn="ctr"/>
                      <a:r>
                        <a:rPr lang="ja-JP" altLang="en-US" sz="600" u="none" strike="noStrike" dirty="0">
                          <a:solidFill>
                            <a:srgbClr val="0070C0"/>
                          </a:solidFill>
                          <a:effectLst/>
                        </a:rPr>
                        <a:t>高可用性</a:t>
                      </a:r>
                      <a:endParaRPr lang="en-US" altLang="ja-JP" sz="600" u="none" strike="noStrike" dirty="0">
                        <a:solidFill>
                          <a:srgbClr val="0070C0"/>
                        </a:solidFill>
                        <a:effectLst/>
                      </a:endParaRPr>
                    </a:p>
                    <a:p>
                      <a:pPr algn="l" fontAlgn="ctr"/>
                      <a:r>
                        <a:rPr lang="ja-JP" altLang="en-US" sz="600" u="none" strike="noStrike" dirty="0">
                          <a:solidFill>
                            <a:srgbClr val="0070C0"/>
                          </a:solidFill>
                          <a:effectLst/>
                        </a:rPr>
                        <a:t>モデル</a:t>
                      </a:r>
                      <a:endParaRPr lang="ja-JP" altLang="en-US" sz="600" b="0" i="0" u="none" strike="noStrike" dirty="0">
                        <a:solidFill>
                          <a:srgbClr val="0070C0"/>
                        </a:solidFill>
                        <a:effectLst/>
                        <a:latin typeface="游ゴシック" panose="020B0400000000000000" pitchFamily="50" charset="-128"/>
                        <a:ea typeface="游ゴシック" panose="020B0400000000000000"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algn="l" fontAlgn="ctr"/>
                      <a:r>
                        <a:rPr lang="ja-JP" altLang="en-US" sz="600" b="0" i="0" u="none" strike="noStrike" dirty="0">
                          <a:solidFill>
                            <a:srgbClr val="0070C0"/>
                          </a:solidFill>
                          <a:effectLst/>
                          <a:latin typeface="游ゴシック" panose="020B0400000000000000" pitchFamily="50" charset="-128"/>
                          <a:ea typeface="游ゴシック" panose="020B0400000000000000" pitchFamily="50" charset="-128"/>
                        </a:rPr>
                        <a:t>可用性</a:t>
                      </a:r>
                      <a:endParaRPr lang="en-US" altLang="ja-JP" sz="600" b="0" i="0" u="none" strike="noStrike" dirty="0">
                        <a:solidFill>
                          <a:srgbClr val="0070C0"/>
                        </a:solidFill>
                        <a:effectLst/>
                        <a:latin typeface="游ゴシック" panose="020B0400000000000000" pitchFamily="50" charset="-128"/>
                        <a:ea typeface="游ゴシック" panose="020B0400000000000000"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algn="l" fontAlgn="ctr"/>
                      <a:r>
                        <a:rPr lang="de-DE" sz="600" u="none" strike="noStrike" dirty="0">
                          <a:solidFill>
                            <a:srgbClr val="0070C0"/>
                          </a:solidFill>
                          <a:effectLst/>
                        </a:rPr>
                        <a:t>RTO (</a:t>
                      </a:r>
                      <a:r>
                        <a:rPr lang="ja-JP" altLang="en-US" sz="600" u="none" strike="noStrike" dirty="0">
                          <a:solidFill>
                            <a:srgbClr val="0070C0"/>
                          </a:solidFill>
                          <a:effectLst/>
                        </a:rPr>
                        <a:t>回復時間の目標</a:t>
                      </a:r>
                      <a:r>
                        <a:rPr lang="en-US" altLang="ja-JP" sz="600" u="none" strike="noStrike" dirty="0">
                          <a:solidFill>
                            <a:srgbClr val="0070C0"/>
                          </a:solidFill>
                          <a:effectLst/>
                        </a:rPr>
                        <a:t>)</a:t>
                      </a:r>
                      <a:endParaRPr lang="en-US" altLang="ja-JP" sz="600" b="0" i="0" u="none" strike="noStrike" dirty="0">
                        <a:solidFill>
                          <a:srgbClr val="0070C0"/>
                        </a:solidFill>
                        <a:effectLst/>
                        <a:latin typeface="游ゴシック" panose="020B0400000000000000" pitchFamily="50" charset="-128"/>
                        <a:ea typeface="游ゴシック" panose="020B0400000000000000"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algn="l" fontAlgn="ctr"/>
                      <a:r>
                        <a:rPr lang="en-US" altLang="ja-JP" sz="600" u="none" strike="noStrike" dirty="0">
                          <a:solidFill>
                            <a:srgbClr val="0070C0"/>
                          </a:solidFill>
                          <a:effectLst/>
                        </a:rPr>
                        <a:t>RPO (</a:t>
                      </a:r>
                      <a:r>
                        <a:rPr lang="ja-JP" altLang="en-US" sz="600" u="none" strike="noStrike" dirty="0">
                          <a:solidFill>
                            <a:srgbClr val="0070C0"/>
                          </a:solidFill>
                          <a:effectLst/>
                        </a:rPr>
                        <a:t>回復ポイントの目標</a:t>
                      </a:r>
                      <a:r>
                        <a:rPr lang="en-US" altLang="ja-JP" sz="600" u="none" strike="noStrike" dirty="0">
                          <a:solidFill>
                            <a:srgbClr val="0070C0"/>
                          </a:solidFill>
                          <a:effectLst/>
                        </a:rPr>
                        <a:t>)</a:t>
                      </a:r>
                      <a:endParaRPr lang="en-US" altLang="ja-JP" sz="600" b="0" i="0" u="none" strike="noStrike" dirty="0">
                        <a:solidFill>
                          <a:srgbClr val="0070C0"/>
                        </a:solidFill>
                        <a:effectLst/>
                        <a:latin typeface="游ゴシック" panose="020B0400000000000000" pitchFamily="50" charset="-128"/>
                        <a:ea typeface="游ゴシック" panose="020B0400000000000000"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719896608"/>
                  </a:ext>
                </a:extLst>
              </a:tr>
              <a:tr h="276666">
                <a:tc>
                  <a:txBody>
                    <a:bodyPr/>
                    <a:lstStyle/>
                    <a:p>
                      <a:pPr algn="l" fontAlgn="ctr"/>
                      <a:r>
                        <a:rPr lang="ja-JP" altLang="en-US" sz="600" u="none" strike="noStrike" dirty="0">
                          <a:solidFill>
                            <a:srgbClr val="0070C0"/>
                          </a:solidFill>
                          <a:effectLst/>
                        </a:rPr>
                        <a:t>汎用</a:t>
                      </a:r>
                      <a:endParaRPr lang="ja-JP" altLang="en-US" sz="600" b="1" i="0" u="none" strike="noStrike" dirty="0">
                        <a:solidFill>
                          <a:srgbClr val="0070C0"/>
                        </a:solidFill>
                        <a:effectLst/>
                        <a:latin typeface="游ゴシック" panose="020B0400000000000000" pitchFamily="50" charset="-128"/>
                        <a:ea typeface="游ゴシック" panose="020B0400000000000000"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algn="l" fontAlgn="ctr"/>
                      <a:r>
                        <a:rPr lang="ja-JP" altLang="en-US" sz="600" u="none" strike="noStrike" dirty="0">
                          <a:solidFill>
                            <a:srgbClr val="0070C0"/>
                          </a:solidFill>
                          <a:effectLst/>
                        </a:rPr>
                        <a:t>リモートストレージ</a:t>
                      </a:r>
                      <a:endParaRPr lang="ja-JP" altLang="en-US" sz="600" b="0" i="0" u="none" strike="noStrike" dirty="0">
                        <a:solidFill>
                          <a:srgbClr val="0070C0"/>
                        </a:solidFill>
                        <a:effectLst/>
                        <a:latin typeface="游ゴシック" panose="020B0400000000000000" pitchFamily="50" charset="-128"/>
                        <a:ea typeface="游ゴシック" panose="020B0400000000000000"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algn="l" fontAlgn="ctr"/>
                      <a:r>
                        <a:rPr lang="en-US" altLang="ja-JP" sz="600" b="0" i="0" u="none" strike="noStrike" dirty="0">
                          <a:solidFill>
                            <a:srgbClr val="0070C0"/>
                          </a:solidFill>
                          <a:effectLst/>
                          <a:latin typeface="游ゴシック" panose="020B0400000000000000" pitchFamily="50" charset="-128"/>
                          <a:ea typeface="游ゴシック" panose="020B0400000000000000" pitchFamily="50" charset="-128"/>
                        </a:rPr>
                        <a:t>99.99%</a:t>
                      </a:r>
                      <a:endParaRPr lang="ja-JP" altLang="en-US" sz="600" b="0" i="0" u="none" strike="noStrike" dirty="0">
                        <a:solidFill>
                          <a:srgbClr val="0070C0"/>
                        </a:solidFill>
                        <a:effectLst/>
                        <a:latin typeface="游ゴシック" panose="020B0400000000000000" pitchFamily="50" charset="-128"/>
                        <a:ea typeface="游ゴシック" panose="020B0400000000000000"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algn="l" fontAlgn="ctr"/>
                      <a:r>
                        <a:rPr lang="ja-JP" altLang="en-US" sz="600" u="none" strike="noStrike" dirty="0">
                          <a:solidFill>
                            <a:srgbClr val="0070C0"/>
                          </a:solidFill>
                          <a:effectLst/>
                        </a:rPr>
                        <a:t>数十秒程度</a:t>
                      </a:r>
                      <a:endParaRPr lang="ja-JP" altLang="en-US" sz="600" b="0" i="0" u="none" strike="noStrike" dirty="0">
                        <a:solidFill>
                          <a:srgbClr val="0070C0"/>
                        </a:solidFill>
                        <a:effectLst/>
                        <a:latin typeface="游ゴシック" panose="020B0400000000000000" pitchFamily="50" charset="-128"/>
                        <a:ea typeface="游ゴシック" panose="020B0400000000000000"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algn="l" fontAlgn="ctr"/>
                      <a:r>
                        <a:rPr lang="ja-JP" altLang="en-US" sz="600" u="none" strike="noStrike" dirty="0">
                          <a:solidFill>
                            <a:srgbClr val="0070C0"/>
                          </a:solidFill>
                          <a:effectLst/>
                        </a:rPr>
                        <a:t>ゼロを目指すが、わずかなデータ損失の可能性あり</a:t>
                      </a:r>
                      <a:endParaRPr lang="ja-JP" altLang="en-US" sz="600" b="0" i="0" u="none" strike="noStrike" dirty="0">
                        <a:solidFill>
                          <a:srgbClr val="0070C0"/>
                        </a:solidFill>
                        <a:effectLst/>
                        <a:latin typeface="游ゴシック" panose="020B0400000000000000" pitchFamily="50" charset="-128"/>
                        <a:ea typeface="游ゴシック" panose="020B0400000000000000"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953746224"/>
                  </a:ext>
                </a:extLst>
              </a:tr>
              <a:tr h="276666">
                <a:tc>
                  <a:txBody>
                    <a:bodyPr/>
                    <a:lstStyle/>
                    <a:p>
                      <a:pPr algn="l" fontAlgn="ctr"/>
                      <a:r>
                        <a:rPr lang="ja-JP" altLang="en-US" sz="600" u="none" strike="noStrike" dirty="0">
                          <a:solidFill>
                            <a:srgbClr val="0070C0"/>
                          </a:solidFill>
                          <a:effectLst/>
                        </a:rPr>
                        <a:t>ビジネスクリティカル</a:t>
                      </a:r>
                      <a:endParaRPr lang="ja-JP" altLang="en-US" sz="600" b="1" i="0" u="none" strike="noStrike" dirty="0">
                        <a:solidFill>
                          <a:srgbClr val="0070C0"/>
                        </a:solidFill>
                        <a:effectLst/>
                        <a:latin typeface="游ゴシック" panose="020B0400000000000000" pitchFamily="50" charset="-128"/>
                        <a:ea typeface="游ゴシック" panose="020B0400000000000000"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algn="l" fontAlgn="ctr"/>
                      <a:r>
                        <a:rPr lang="ja-JP" altLang="en-US" sz="600" u="none" strike="noStrike" dirty="0">
                          <a:solidFill>
                            <a:srgbClr val="0070C0"/>
                          </a:solidFill>
                          <a:effectLst/>
                        </a:rPr>
                        <a:t>ローカルストレージ</a:t>
                      </a:r>
                      <a:endParaRPr lang="ja-JP" altLang="en-US" sz="600" b="0" i="0" u="none" strike="noStrike" dirty="0">
                        <a:solidFill>
                          <a:srgbClr val="0070C0"/>
                        </a:solidFill>
                        <a:effectLst/>
                        <a:latin typeface="游ゴシック" panose="020B0400000000000000" pitchFamily="50" charset="-128"/>
                        <a:ea typeface="游ゴシック" panose="020B0400000000000000"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algn="l" fontAlgn="ctr"/>
                      <a:r>
                        <a:rPr lang="en-US" altLang="ja-JP" sz="600" b="0" i="0" u="none" strike="noStrike" kern="1200" dirty="0">
                          <a:solidFill>
                            <a:srgbClr val="0070C0"/>
                          </a:solidFill>
                          <a:effectLst/>
                          <a:latin typeface="游ゴシック" panose="020B0400000000000000" pitchFamily="50" charset="-128"/>
                          <a:ea typeface="游ゴシック" panose="020B0400000000000000" pitchFamily="50" charset="-128"/>
                          <a:cs typeface="+mn-cs"/>
                        </a:rPr>
                        <a:t>99.995%</a:t>
                      </a:r>
                      <a:endParaRPr lang="ja-JP" altLang="en-US" sz="600" b="0" i="0" u="none" strike="noStrike" kern="1200" dirty="0">
                        <a:solidFill>
                          <a:srgbClr val="0070C0"/>
                        </a:solidFill>
                        <a:effectLst/>
                        <a:latin typeface="游ゴシック" panose="020B0400000000000000" pitchFamily="50" charset="-128"/>
                        <a:ea typeface="游ゴシック" panose="020B0400000000000000" pitchFamily="50" charset="-128"/>
                        <a:cs typeface="+mn-cs"/>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algn="l" fontAlgn="ctr"/>
                      <a:r>
                        <a:rPr lang="en-US" altLang="ja-JP" sz="600" u="none" strike="noStrike" dirty="0">
                          <a:solidFill>
                            <a:srgbClr val="0070C0"/>
                          </a:solidFill>
                          <a:effectLst/>
                        </a:rPr>
                        <a:t>30 </a:t>
                      </a:r>
                      <a:r>
                        <a:rPr lang="ja-JP" altLang="en-US" sz="600" u="none" strike="noStrike" dirty="0">
                          <a:solidFill>
                            <a:srgbClr val="0070C0"/>
                          </a:solidFill>
                          <a:effectLst/>
                        </a:rPr>
                        <a:t>秒 </a:t>
                      </a:r>
                      <a:r>
                        <a:rPr lang="en-US" altLang="ja-JP" sz="600" u="none" strike="noStrike" dirty="0">
                          <a:solidFill>
                            <a:srgbClr val="0070C0"/>
                          </a:solidFill>
                          <a:effectLst/>
                        </a:rPr>
                        <a:t>(geo </a:t>
                      </a:r>
                      <a:r>
                        <a:rPr lang="ja-JP" altLang="en-US" sz="600" u="none" strike="noStrike" dirty="0">
                          <a:solidFill>
                            <a:srgbClr val="0070C0"/>
                          </a:solidFill>
                          <a:effectLst/>
                        </a:rPr>
                        <a:t>リカバリー時</a:t>
                      </a:r>
                      <a:r>
                        <a:rPr lang="en-US" altLang="ja-JP" sz="600" u="none" strike="noStrike" dirty="0">
                          <a:solidFill>
                            <a:srgbClr val="0070C0"/>
                          </a:solidFill>
                          <a:effectLst/>
                        </a:rPr>
                        <a:t>)</a:t>
                      </a:r>
                      <a:endParaRPr lang="ja-JP" altLang="en-US" sz="600" b="1" i="0" u="none" strike="noStrike" dirty="0">
                        <a:solidFill>
                          <a:srgbClr val="0070C0"/>
                        </a:solidFill>
                        <a:effectLst/>
                        <a:latin typeface="游ゴシック" panose="020B0400000000000000" pitchFamily="50" charset="-128"/>
                        <a:ea typeface="游ゴシック" panose="020B0400000000000000"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algn="l" fontAlgn="ctr"/>
                      <a:r>
                        <a:rPr lang="en-US" altLang="ja-JP" sz="600" u="none" strike="noStrike" dirty="0">
                          <a:solidFill>
                            <a:srgbClr val="0070C0"/>
                          </a:solidFill>
                          <a:effectLst/>
                        </a:rPr>
                        <a:t>5 </a:t>
                      </a:r>
                      <a:r>
                        <a:rPr lang="ja-JP" altLang="en-US" sz="600" u="none" strike="noStrike" dirty="0">
                          <a:solidFill>
                            <a:srgbClr val="0070C0"/>
                          </a:solidFill>
                          <a:effectLst/>
                        </a:rPr>
                        <a:t>秒 </a:t>
                      </a:r>
                      <a:r>
                        <a:rPr lang="en-US" altLang="ja-JP" sz="600" u="none" strike="noStrike" dirty="0">
                          <a:solidFill>
                            <a:srgbClr val="0070C0"/>
                          </a:solidFill>
                          <a:effectLst/>
                        </a:rPr>
                        <a:t>(geo </a:t>
                      </a:r>
                      <a:r>
                        <a:rPr lang="ja-JP" altLang="en-US" sz="600" u="none" strike="noStrike" dirty="0">
                          <a:solidFill>
                            <a:srgbClr val="0070C0"/>
                          </a:solidFill>
                          <a:effectLst/>
                        </a:rPr>
                        <a:t>リカバリー時</a:t>
                      </a:r>
                      <a:r>
                        <a:rPr lang="en-US" altLang="ja-JP" sz="600" u="none" strike="noStrike" dirty="0">
                          <a:solidFill>
                            <a:srgbClr val="0070C0"/>
                          </a:solidFill>
                          <a:effectLst/>
                        </a:rPr>
                        <a:t>)</a:t>
                      </a:r>
                      <a:endParaRPr lang="ja-JP" altLang="en-US" sz="600" b="1" i="0" u="none" strike="noStrike" dirty="0">
                        <a:solidFill>
                          <a:srgbClr val="0070C0"/>
                        </a:solidFill>
                        <a:effectLst/>
                        <a:latin typeface="游ゴシック" panose="020B0400000000000000" pitchFamily="50" charset="-128"/>
                        <a:ea typeface="游ゴシック" panose="020B0400000000000000"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437388293"/>
                  </a:ext>
                </a:extLst>
              </a:tr>
            </a:tbl>
          </a:graphicData>
        </a:graphic>
      </p:graphicFrame>
    </p:spTree>
    <p:extLst>
      <p:ext uri="{BB962C8B-B14F-4D97-AF65-F5344CB8AC3E}">
        <p14:creationId xmlns:p14="http://schemas.microsoft.com/office/powerpoint/2010/main" val="33212029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FB307-D22F-8B11-1CFA-D29F9A5C7F2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834ED7F-5930-BCDC-9035-4769215A66DF}"/>
              </a:ext>
            </a:extLst>
          </p:cNvPr>
          <p:cNvSpPr>
            <a:spLocks noGrp="1"/>
          </p:cNvSpPr>
          <p:nvPr>
            <p:ph type="title"/>
          </p:nvPr>
        </p:nvSpPr>
        <p:spPr>
          <a:xfrm>
            <a:off x="414336" y="255263"/>
            <a:ext cx="9327072" cy="683629"/>
          </a:xfrm>
        </p:spPr>
        <p:txBody>
          <a:bodyPr>
            <a:normAutofit/>
          </a:bodyPr>
          <a:lstStyle/>
          <a:p>
            <a:r>
              <a:rPr lang="ja-JP" altLang="en-US" dirty="0"/>
              <a:t>要件／ソリューションーデータ移行</a:t>
            </a:r>
            <a:endParaRPr lang="ja-JP" altLang="en-US" dirty="0">
              <a:effectLst/>
            </a:endParaRPr>
          </a:p>
        </p:txBody>
      </p:sp>
      <p:graphicFrame>
        <p:nvGraphicFramePr>
          <p:cNvPr id="3" name="表 2">
            <a:extLst>
              <a:ext uri="{FF2B5EF4-FFF2-40B4-BE49-F238E27FC236}">
                <a16:creationId xmlns:a16="http://schemas.microsoft.com/office/drawing/2014/main" id="{DA16FB71-9FF7-3BA5-1FD6-FEAD4D30EABB}"/>
              </a:ext>
            </a:extLst>
          </p:cNvPr>
          <p:cNvGraphicFramePr>
            <a:graphicFrameLocks noGrp="1"/>
          </p:cNvGraphicFramePr>
          <p:nvPr>
            <p:extLst>
              <p:ext uri="{D42A27DB-BD31-4B8C-83A1-F6EECF244321}">
                <p14:modId xmlns:p14="http://schemas.microsoft.com/office/powerpoint/2010/main" val="1594632960"/>
              </p:ext>
            </p:extLst>
          </p:nvPr>
        </p:nvGraphicFramePr>
        <p:xfrm>
          <a:off x="453572" y="867270"/>
          <a:ext cx="11284856" cy="5233809"/>
        </p:xfrm>
        <a:graphic>
          <a:graphicData uri="http://schemas.openxmlformats.org/drawingml/2006/table">
            <a:tbl>
              <a:tblPr firstRow="1">
                <a:tableStyleId>{2D5ABB26-0587-4C30-8999-92F81FD0307C}</a:tableStyleId>
              </a:tblPr>
              <a:tblGrid>
                <a:gridCol w="1781628">
                  <a:extLst>
                    <a:ext uri="{9D8B030D-6E8A-4147-A177-3AD203B41FA5}">
                      <a16:colId xmlns:a16="http://schemas.microsoft.com/office/drawing/2014/main" val="307087368"/>
                    </a:ext>
                  </a:extLst>
                </a:gridCol>
                <a:gridCol w="2306320">
                  <a:extLst>
                    <a:ext uri="{9D8B030D-6E8A-4147-A177-3AD203B41FA5}">
                      <a16:colId xmlns:a16="http://schemas.microsoft.com/office/drawing/2014/main" val="1007415991"/>
                    </a:ext>
                  </a:extLst>
                </a:gridCol>
                <a:gridCol w="7196908">
                  <a:extLst>
                    <a:ext uri="{9D8B030D-6E8A-4147-A177-3AD203B41FA5}">
                      <a16:colId xmlns:a16="http://schemas.microsoft.com/office/drawing/2014/main" val="3160565433"/>
                    </a:ext>
                  </a:extLst>
                </a:gridCol>
              </a:tblGrid>
              <a:tr h="280027">
                <a:tc>
                  <a:txBody>
                    <a:bodyPr/>
                    <a:lstStyle/>
                    <a:p>
                      <a:r>
                        <a:rPr lang="ja-JP" altLang="en-US" sz="1200" dirty="0"/>
                        <a:t>要件</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機能</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t>ソリューション</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607360652"/>
                  </a:ext>
                </a:extLst>
              </a:tr>
              <a:tr h="963929">
                <a:tc rowSpan="3">
                  <a:txBody>
                    <a:bodyPr/>
                    <a:lstStyle/>
                    <a:p>
                      <a:r>
                        <a:rPr kumimoji="0" lang="ja-JP" altLang="en-US" sz="900" kern="1200" dirty="0">
                          <a:solidFill>
                            <a:schemeClr val="tx1"/>
                          </a:solidFill>
                          <a:latin typeface="Arial" panose="020B0604020202020204" pitchFamily="34" charset="0"/>
                          <a:ea typeface="+mn-ea"/>
                          <a:cs typeface="+mn-cs"/>
                        </a:rPr>
                        <a:t>既存</a:t>
                      </a:r>
                      <a:r>
                        <a:rPr kumimoji="0" lang="en-US" altLang="ja-JP" sz="900" kern="1200" dirty="0">
                          <a:solidFill>
                            <a:schemeClr val="tx1"/>
                          </a:solidFill>
                          <a:latin typeface="Arial" panose="020B0604020202020204" pitchFamily="34" charset="0"/>
                          <a:ea typeface="+mn-ea"/>
                          <a:cs typeface="+mn-cs"/>
                        </a:rPr>
                        <a:t>Notes DB</a:t>
                      </a:r>
                      <a:r>
                        <a:rPr kumimoji="0" lang="ja-JP" altLang="en-US" sz="900" kern="1200" dirty="0">
                          <a:solidFill>
                            <a:schemeClr val="tx1"/>
                          </a:solidFill>
                          <a:latin typeface="Arial" panose="020B0604020202020204" pitchFamily="34" charset="0"/>
                          <a:ea typeface="+mn-ea"/>
                          <a:cs typeface="+mn-cs"/>
                        </a:rPr>
                        <a:t>データは新システムにてアクセスできること（添付ファイル含む）</a:t>
                      </a:r>
                      <a:endParaRPr kumimoji="0" lang="en-US" altLang="ja-JP" sz="900" kern="1200" dirty="0">
                        <a:solidFill>
                          <a:schemeClr val="tx1"/>
                        </a:solidFill>
                        <a:latin typeface="Arial" panose="020B0604020202020204" pitchFamily="34" charset="0"/>
                        <a:ea typeface="+mn-ea"/>
                        <a:cs typeface="+mn-cs"/>
                      </a:endParaRPr>
                    </a:p>
                    <a:p>
                      <a:r>
                        <a:rPr kumimoji="0" lang="ja-JP" altLang="en-US" sz="900" kern="1200" dirty="0">
                          <a:solidFill>
                            <a:schemeClr val="tx1"/>
                          </a:solidFill>
                          <a:latin typeface="Arial" panose="020B0604020202020204" pitchFamily="34" charset="0"/>
                          <a:ea typeface="+mn-ea"/>
                          <a:cs typeface="+mn-cs"/>
                        </a:rPr>
                        <a:t>⇒</a:t>
                      </a: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900" kern="1200" dirty="0">
                          <a:solidFill>
                            <a:schemeClr val="tx1"/>
                          </a:solidFill>
                          <a:latin typeface="Arial" panose="020B0604020202020204" pitchFamily="34" charset="0"/>
                          <a:ea typeface="+mn-ea"/>
                          <a:cs typeface="+mn-cs"/>
                        </a:rPr>
                        <a:t>Notes</a:t>
                      </a:r>
                      <a:r>
                        <a:rPr kumimoji="0" lang="ja-JP" altLang="en-US" sz="900" kern="1200" dirty="0">
                          <a:solidFill>
                            <a:schemeClr val="tx1"/>
                          </a:solidFill>
                          <a:latin typeface="Arial" panose="020B0604020202020204" pitchFamily="34" charset="0"/>
                          <a:ea typeface="+mn-ea"/>
                          <a:cs typeface="+mn-cs"/>
                        </a:rPr>
                        <a:t>移行ツール、手順が必須</a:t>
                      </a:r>
                      <a:endParaRPr kumimoji="0" lang="en-US" altLang="ja-JP" sz="900" kern="1200" dirty="0">
                        <a:solidFill>
                          <a:schemeClr val="tx1"/>
                        </a:solidFill>
                        <a:latin typeface="Arial" panose="020B0604020202020204" pitchFamily="34" charset="0"/>
                        <a:ea typeface="+mn-ea"/>
                        <a:cs typeface="+mn-cs"/>
                      </a:endParaRPr>
                    </a:p>
                    <a:p>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ja-JP" altLang="en-US" sz="900" kern="1200" dirty="0">
                          <a:solidFill>
                            <a:schemeClr val="tx1"/>
                          </a:solidFill>
                          <a:latin typeface="Arial" panose="020B0604020202020204" pitchFamily="34" charset="0"/>
                          <a:ea typeface="+mn-ea"/>
                          <a:cs typeface="+mn-cs"/>
                        </a:rPr>
                        <a:t>（</a:t>
                      </a:r>
                      <a:r>
                        <a:rPr kumimoji="0" lang="en-US" altLang="ja-JP" sz="900" kern="1200" dirty="0">
                          <a:solidFill>
                            <a:schemeClr val="tx1"/>
                          </a:solidFill>
                          <a:latin typeface="Arial" panose="020B0604020202020204" pitchFamily="34" charset="0"/>
                          <a:ea typeface="+mn-ea"/>
                          <a:cs typeface="+mn-cs"/>
                        </a:rPr>
                        <a:t>53DB</a:t>
                      </a:r>
                      <a:r>
                        <a:rPr kumimoji="0" lang="ja-JP" altLang="en-US" sz="900" kern="1200" dirty="0">
                          <a:solidFill>
                            <a:schemeClr val="tx1"/>
                          </a:solidFill>
                          <a:latin typeface="Arial" panose="020B0604020202020204" pitchFamily="34" charset="0"/>
                          <a:ea typeface="+mn-ea"/>
                          <a:cs typeface="+mn-cs"/>
                        </a:rPr>
                        <a:t>の）既存</a:t>
                      </a:r>
                      <a:r>
                        <a:rPr kumimoji="0" lang="en-US" altLang="ja-JP" sz="900" kern="1200" dirty="0">
                          <a:solidFill>
                            <a:schemeClr val="tx1"/>
                          </a:solidFill>
                          <a:latin typeface="Arial" panose="020B0604020202020204" pitchFamily="34" charset="0"/>
                          <a:ea typeface="+mn-ea"/>
                          <a:cs typeface="+mn-cs"/>
                        </a:rPr>
                        <a:t>Notes</a:t>
                      </a:r>
                      <a:r>
                        <a:rPr kumimoji="0" lang="ja-JP" altLang="en-US" sz="900" kern="1200" dirty="0">
                          <a:solidFill>
                            <a:schemeClr val="tx1"/>
                          </a:solidFill>
                          <a:latin typeface="Arial" panose="020B0604020202020204" pitchFamily="34" charset="0"/>
                          <a:ea typeface="+mn-ea"/>
                          <a:cs typeface="+mn-cs"/>
                        </a:rPr>
                        <a:t>定型データを移行する</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rowSpan="3">
                  <a:txBody>
                    <a:bodyPr/>
                    <a:lstStyle/>
                    <a:p>
                      <a:endParaRPr kumimoji="0" lang="en-US" altLang="ja-JP" sz="900" b="1" kern="1200" dirty="0">
                        <a:solidFill>
                          <a:schemeClr val="tx1"/>
                        </a:solidFill>
                        <a:latin typeface="Arial" panose="020B0604020202020204" pitchFamily="34" charset="0"/>
                        <a:ea typeface="+mn-ea"/>
                        <a:cs typeface="+mn-cs"/>
                      </a:endParaRPr>
                    </a:p>
                    <a:p>
                      <a:r>
                        <a:rPr kumimoji="0" lang="ja-JP" altLang="en-US" sz="900" b="1" kern="1200" dirty="0">
                          <a:solidFill>
                            <a:schemeClr val="tx1"/>
                          </a:solidFill>
                          <a:latin typeface="Arial" panose="020B0604020202020204" pitchFamily="34" charset="0"/>
                          <a:ea typeface="+mn-ea"/>
                          <a:cs typeface="+mn-cs"/>
                        </a:rPr>
                        <a:t>移行対象</a:t>
                      </a:r>
                      <a:endParaRPr kumimoji="0" lang="en-US" altLang="ja-JP" sz="900" b="1"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r>
                        <a:rPr kumimoji="0" lang="ja-JP" altLang="en-US" sz="900" b="1" kern="1200" dirty="0">
                          <a:solidFill>
                            <a:schemeClr val="tx1"/>
                          </a:solidFill>
                          <a:latin typeface="Arial" panose="020B0604020202020204" pitchFamily="34" charset="0"/>
                          <a:ea typeface="+mn-ea"/>
                          <a:cs typeface="+mn-cs"/>
                        </a:rPr>
                        <a:t>ソリューション</a:t>
                      </a:r>
                      <a:endParaRPr kumimoji="0" lang="en-US" altLang="ja-JP" sz="900" b="1"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5751194"/>
                  </a:ext>
                </a:extLst>
              </a:tr>
              <a:tr h="2579641">
                <a:tc vMerge="1">
                  <a:txBody>
                    <a:bodyPr/>
                    <a:lstStyle/>
                    <a:p>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kumimoji="0" lang="ja-JP" altLang="en-US" sz="900" kern="1200" dirty="0">
                          <a:solidFill>
                            <a:schemeClr val="tx1"/>
                          </a:solidFill>
                          <a:latin typeface="Arial" panose="020B0604020202020204" pitchFamily="34" charset="0"/>
                          <a:ea typeface="+mn-ea"/>
                          <a:cs typeface="+mn-cs"/>
                        </a:rPr>
                        <a:t>（</a:t>
                      </a:r>
                      <a:r>
                        <a:rPr kumimoji="0" lang="en-US" altLang="ja-JP" sz="900" kern="1200" dirty="0">
                          <a:solidFill>
                            <a:schemeClr val="tx1"/>
                          </a:solidFill>
                          <a:latin typeface="Arial" panose="020B0604020202020204" pitchFamily="34" charset="0"/>
                          <a:ea typeface="+mn-ea"/>
                          <a:cs typeface="+mn-cs"/>
                        </a:rPr>
                        <a:t>53DB</a:t>
                      </a:r>
                      <a:r>
                        <a:rPr kumimoji="0" lang="ja-JP" altLang="en-US" sz="900" kern="1200" dirty="0">
                          <a:solidFill>
                            <a:schemeClr val="tx1"/>
                          </a:solidFill>
                          <a:latin typeface="Arial" panose="020B0604020202020204" pitchFamily="34" charset="0"/>
                          <a:ea typeface="+mn-ea"/>
                          <a:cs typeface="+mn-cs"/>
                        </a:rPr>
                        <a:t>の）既存</a:t>
                      </a:r>
                      <a:r>
                        <a:rPr kumimoji="0" lang="en-US" altLang="ja-JP" sz="900" kern="1200" dirty="0">
                          <a:solidFill>
                            <a:schemeClr val="tx1"/>
                          </a:solidFill>
                          <a:latin typeface="Arial" panose="020B0604020202020204" pitchFamily="34" charset="0"/>
                          <a:ea typeface="+mn-ea"/>
                          <a:cs typeface="+mn-cs"/>
                        </a:rPr>
                        <a:t>Notes</a:t>
                      </a:r>
                      <a:r>
                        <a:rPr kumimoji="0" lang="ja-JP" altLang="en-US" sz="900" kern="1200" dirty="0">
                          <a:solidFill>
                            <a:schemeClr val="tx1"/>
                          </a:solidFill>
                          <a:latin typeface="Arial" panose="020B0604020202020204" pitchFamily="34" charset="0"/>
                          <a:ea typeface="+mn-ea"/>
                          <a:cs typeface="+mn-cs"/>
                        </a:rPr>
                        <a:t>の添付ファイルを</a:t>
                      </a:r>
                      <a:r>
                        <a:rPr kumimoji="0" lang="en-US" altLang="ja-JP" sz="900" kern="1200" dirty="0" err="1">
                          <a:solidFill>
                            <a:schemeClr val="tx1"/>
                          </a:solidFill>
                          <a:latin typeface="Arial" panose="020B0604020202020204" pitchFamily="34" charset="0"/>
                          <a:ea typeface="+mn-ea"/>
                          <a:cs typeface="+mn-cs"/>
                        </a:rPr>
                        <a:t>SharePont</a:t>
                      </a:r>
                      <a:r>
                        <a:rPr kumimoji="0" lang="ja-JP" altLang="en-US" sz="900" kern="1200" dirty="0">
                          <a:solidFill>
                            <a:schemeClr val="tx1"/>
                          </a:solidFill>
                          <a:latin typeface="Arial" panose="020B0604020202020204" pitchFamily="34" charset="0"/>
                          <a:ea typeface="+mn-ea"/>
                          <a:cs typeface="+mn-cs"/>
                        </a:rPr>
                        <a:t>に移行する</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vMerge="1">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zh-CN" altLang="zh-CN" sz="900" dirty="0">
                        <a:latin typeface="Arial" panose="020B0604020202020204" pitchFamily="34" charset="0"/>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58281788"/>
                  </a:ext>
                </a:extLst>
              </a:tr>
              <a:tr h="1410212">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移行前後のデータの一致性チェックを実行する</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277697783"/>
                  </a:ext>
                </a:extLst>
              </a:tr>
            </a:tbl>
          </a:graphicData>
        </a:graphic>
      </p:graphicFrame>
      <p:graphicFrame>
        <p:nvGraphicFramePr>
          <p:cNvPr id="4" name="表 3">
            <a:extLst>
              <a:ext uri="{FF2B5EF4-FFF2-40B4-BE49-F238E27FC236}">
                <a16:creationId xmlns:a16="http://schemas.microsoft.com/office/drawing/2014/main" id="{0C47FBC2-C509-F49E-5393-8BF352E94DDB}"/>
              </a:ext>
            </a:extLst>
          </p:cNvPr>
          <p:cNvGraphicFramePr>
            <a:graphicFrameLocks noGrp="1"/>
          </p:cNvGraphicFramePr>
          <p:nvPr>
            <p:extLst>
              <p:ext uri="{D42A27DB-BD31-4B8C-83A1-F6EECF244321}">
                <p14:modId xmlns:p14="http://schemas.microsoft.com/office/powerpoint/2010/main" val="955944901"/>
              </p:ext>
            </p:extLst>
          </p:nvPr>
        </p:nvGraphicFramePr>
        <p:xfrm>
          <a:off x="4734560" y="1513800"/>
          <a:ext cx="6659880" cy="1635801"/>
        </p:xfrm>
        <a:graphic>
          <a:graphicData uri="http://schemas.openxmlformats.org/drawingml/2006/table">
            <a:tbl>
              <a:tblPr firstRow="1" bandRow="1">
                <a:tableStyleId>{7DF18680-E054-41AD-8BC1-D1AEF772440D}</a:tableStyleId>
              </a:tblPr>
              <a:tblGrid>
                <a:gridCol w="2015229">
                  <a:extLst>
                    <a:ext uri="{9D8B030D-6E8A-4147-A177-3AD203B41FA5}">
                      <a16:colId xmlns:a16="http://schemas.microsoft.com/office/drawing/2014/main" val="2649257964"/>
                    </a:ext>
                  </a:extLst>
                </a:gridCol>
                <a:gridCol w="694056">
                  <a:extLst>
                    <a:ext uri="{9D8B030D-6E8A-4147-A177-3AD203B41FA5}">
                      <a16:colId xmlns:a16="http://schemas.microsoft.com/office/drawing/2014/main" val="3843299209"/>
                    </a:ext>
                  </a:extLst>
                </a:gridCol>
                <a:gridCol w="3950595">
                  <a:extLst>
                    <a:ext uri="{9D8B030D-6E8A-4147-A177-3AD203B41FA5}">
                      <a16:colId xmlns:a16="http://schemas.microsoft.com/office/drawing/2014/main" val="3345850908"/>
                    </a:ext>
                  </a:extLst>
                </a:gridCol>
              </a:tblGrid>
              <a:tr h="251662">
                <a:tc>
                  <a:txBody>
                    <a:bodyPr/>
                    <a:lstStyle/>
                    <a:p>
                      <a:r>
                        <a:rPr kumimoji="1" lang="ja-JP" altLang="en-US" sz="1000" dirty="0"/>
                        <a:t>カテゴリ</a:t>
                      </a:r>
                    </a:p>
                  </a:txBody>
                  <a:tcPr/>
                </a:tc>
                <a:tc>
                  <a:txBody>
                    <a:bodyPr/>
                    <a:lstStyle/>
                    <a:p>
                      <a:r>
                        <a:rPr kumimoji="1" lang="en-US" altLang="ja-JP" sz="1000" dirty="0"/>
                        <a:t>DB</a:t>
                      </a:r>
                      <a:r>
                        <a:rPr kumimoji="1" lang="ja-JP" altLang="en-US" sz="1000" dirty="0"/>
                        <a:t>数</a:t>
                      </a:r>
                    </a:p>
                  </a:txBody>
                  <a:tcPr/>
                </a:tc>
                <a:tc>
                  <a:txBody>
                    <a:bodyPr/>
                    <a:lstStyle/>
                    <a:p>
                      <a:endParaRPr kumimoji="1" lang="ja-JP" altLang="en-US" sz="1000"/>
                    </a:p>
                  </a:txBody>
                  <a:tcPr/>
                </a:tc>
                <a:extLst>
                  <a:ext uri="{0D108BD9-81ED-4DB2-BD59-A6C34878D82A}">
                    <a16:rowId xmlns:a16="http://schemas.microsoft.com/office/drawing/2014/main" val="2208701059"/>
                  </a:ext>
                </a:extLst>
              </a:tr>
              <a:tr h="408950">
                <a:tc>
                  <a:txBody>
                    <a:bodyPr/>
                    <a:lstStyle/>
                    <a:p>
                      <a:r>
                        <a:rPr lang="ja-JP" altLang="en-US" sz="1000" kern="1200" dirty="0">
                          <a:solidFill>
                            <a:schemeClr val="dk1"/>
                          </a:solidFill>
                          <a:latin typeface="+mn-lt"/>
                          <a:ea typeface="+mn-ea"/>
                          <a:cs typeface="+mn-cs"/>
                        </a:rPr>
                        <a:t>製品仕様書管理（黄）</a:t>
                      </a:r>
                    </a:p>
                  </a:txBody>
                  <a:tcPr/>
                </a:tc>
                <a:tc>
                  <a:txBody>
                    <a:bodyPr/>
                    <a:lstStyle/>
                    <a:p>
                      <a:r>
                        <a:rPr lang="en-US" altLang="ja-JP" sz="1000" kern="1200" dirty="0">
                          <a:solidFill>
                            <a:schemeClr val="dk1"/>
                          </a:solidFill>
                          <a:latin typeface="+mn-lt"/>
                          <a:ea typeface="+mn-ea"/>
                          <a:cs typeface="+mn-cs"/>
                        </a:rPr>
                        <a:t>33</a:t>
                      </a:r>
                      <a:endParaRPr lang="ja-JP" altLang="en-US" sz="1000" kern="1200" dirty="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000" dirty="0"/>
                        <a:t>3DB</a:t>
                      </a:r>
                      <a:r>
                        <a:rPr lang="ja-JP" altLang="en-US" sz="1000" dirty="0"/>
                        <a:t>で</a:t>
                      </a:r>
                      <a:r>
                        <a:rPr lang="en-US" altLang="ja-JP" sz="1000" dirty="0"/>
                        <a:t>1</a:t>
                      </a:r>
                      <a:r>
                        <a:rPr lang="ja-JP" altLang="en-US" sz="1000" dirty="0"/>
                        <a:t>セットとなる構成（同一設計）</a:t>
                      </a:r>
                      <a:br>
                        <a:rPr lang="en-US" altLang="ja-JP" sz="1000" dirty="0"/>
                      </a:br>
                      <a:r>
                        <a:rPr lang="en-US" altLang="ja-JP" sz="1000" dirty="0"/>
                        <a:t>※</a:t>
                      </a:r>
                      <a:r>
                        <a:rPr kumimoji="1" lang="ja-JP" altLang="en-US" sz="1000" dirty="0"/>
                        <a:t>製品仕様書管理</a:t>
                      </a:r>
                      <a:r>
                        <a:rPr kumimoji="1" lang="en-US" altLang="ja-JP" sz="1000" dirty="0"/>
                        <a:t>DB/</a:t>
                      </a:r>
                      <a:r>
                        <a:rPr lang="ja-JP" altLang="en-US" sz="1000" dirty="0"/>
                        <a:t>関連文書</a:t>
                      </a:r>
                      <a:r>
                        <a:rPr lang="en-US" altLang="ja-JP" sz="1000" dirty="0"/>
                        <a:t>DB/</a:t>
                      </a:r>
                      <a:r>
                        <a:rPr kumimoji="1" lang="ja-JP" altLang="en-US" sz="1000" dirty="0"/>
                        <a:t>品質情報</a:t>
                      </a:r>
                      <a:r>
                        <a:rPr kumimoji="1" lang="en-US" altLang="ja-JP" sz="1000" dirty="0"/>
                        <a:t>M</a:t>
                      </a:r>
                    </a:p>
                  </a:txBody>
                  <a:tcPr/>
                </a:tc>
                <a:extLst>
                  <a:ext uri="{0D108BD9-81ED-4DB2-BD59-A6C34878D82A}">
                    <a16:rowId xmlns:a16="http://schemas.microsoft.com/office/drawing/2014/main" val="3179909173"/>
                  </a:ext>
                </a:extLst>
              </a:tr>
              <a:tr h="723527">
                <a:tc>
                  <a:txBody>
                    <a:bodyPr/>
                    <a:lstStyle/>
                    <a:p>
                      <a:r>
                        <a:rPr lang="en-US" altLang="ja-JP" sz="1000" kern="1200">
                          <a:solidFill>
                            <a:schemeClr val="dk1"/>
                          </a:solidFill>
                          <a:latin typeface="+mn-lt"/>
                          <a:ea typeface="+mn-ea"/>
                          <a:cs typeface="+mn-cs"/>
                        </a:rPr>
                        <a:t>【</a:t>
                      </a:r>
                      <a:r>
                        <a:rPr lang="ja-JP" altLang="en-US" sz="1000" kern="1200">
                          <a:solidFill>
                            <a:schemeClr val="dk1"/>
                          </a:solidFill>
                          <a:latin typeface="+mn-lt"/>
                          <a:ea typeface="+mn-ea"/>
                          <a:cs typeface="+mn-cs"/>
                        </a:rPr>
                        <a:t>納入仕様書管理（青）</a:t>
                      </a:r>
                      <a:r>
                        <a:rPr lang="en-US" altLang="ja-JP" sz="1000" kern="1200">
                          <a:solidFill>
                            <a:schemeClr val="dk1"/>
                          </a:solidFill>
                          <a:latin typeface="+mn-lt"/>
                          <a:ea typeface="+mn-ea"/>
                          <a:cs typeface="+mn-cs"/>
                        </a:rPr>
                        <a:t>】</a:t>
                      </a:r>
                      <a:endParaRPr lang="ja-JP" altLang="en-US" sz="1000" kern="1200">
                        <a:solidFill>
                          <a:schemeClr val="dk1"/>
                        </a:solidFill>
                        <a:latin typeface="+mn-lt"/>
                        <a:ea typeface="+mn-ea"/>
                        <a:cs typeface="+mn-cs"/>
                      </a:endParaRPr>
                    </a:p>
                  </a:txBody>
                  <a:tcPr/>
                </a:tc>
                <a:tc>
                  <a:txBody>
                    <a:bodyPr/>
                    <a:lstStyle/>
                    <a:p>
                      <a:r>
                        <a:rPr lang="en-US" altLang="ja-JP" sz="1000" kern="1200">
                          <a:solidFill>
                            <a:schemeClr val="dk1"/>
                          </a:solidFill>
                          <a:latin typeface="+mn-lt"/>
                          <a:ea typeface="+mn-ea"/>
                          <a:cs typeface="+mn-cs"/>
                        </a:rPr>
                        <a:t>12</a:t>
                      </a:r>
                      <a:endParaRPr lang="ja-JP" altLang="en-US" sz="1000" kern="1200">
                        <a:solidFill>
                          <a:schemeClr val="dk1"/>
                        </a:solidFill>
                        <a:latin typeface="+mn-lt"/>
                        <a:ea typeface="+mn-ea"/>
                        <a:cs typeface="+mn-cs"/>
                      </a:endParaRPr>
                    </a:p>
                  </a:txBody>
                  <a:tcPr/>
                </a:tc>
                <a:tc>
                  <a:txBody>
                    <a:bodyPr/>
                    <a:lstStyle/>
                    <a:p>
                      <a:pPr marL="171450" indent="-171450">
                        <a:buFont typeface="Arial" panose="020B0604020202020204" pitchFamily="34" charset="0"/>
                        <a:buChar char="•"/>
                      </a:pPr>
                      <a:r>
                        <a:rPr lang="ja-JP" altLang="en-US" sz="1000" dirty="0"/>
                        <a:t>納入仕様書管理</a:t>
                      </a:r>
                      <a:r>
                        <a:rPr lang="en-US" altLang="ja-JP" sz="1000" dirty="0"/>
                        <a:t>1DB</a:t>
                      </a:r>
                      <a:r>
                        <a:rPr lang="ja-JP" altLang="en-US" sz="1000" dirty="0"/>
                        <a:t>を複数の事業部で利用する構成（同一設計）</a:t>
                      </a:r>
                      <a:br>
                        <a:rPr lang="en-US" altLang="ja-JP" sz="1000" dirty="0"/>
                      </a:br>
                      <a:r>
                        <a:rPr lang="en-US" altLang="ja-JP" sz="1000" dirty="0"/>
                        <a:t>※</a:t>
                      </a:r>
                      <a:r>
                        <a:rPr lang="ja-JP" altLang="en-US" sz="1000" dirty="0"/>
                        <a:t>仕様書関連文書</a:t>
                      </a:r>
                      <a:r>
                        <a:rPr lang="en-US" altLang="ja-JP" sz="1000" dirty="0"/>
                        <a:t>DB/</a:t>
                      </a:r>
                      <a:r>
                        <a:rPr lang="ja-JP" altLang="en-US" sz="1000" dirty="0"/>
                        <a:t>品質情報マスター</a:t>
                      </a:r>
                      <a:endParaRPr lang="en-US" altLang="ja-JP" sz="1000" dirty="0"/>
                    </a:p>
                    <a:p>
                      <a:pPr marL="171450" indent="-171450">
                        <a:buFont typeface="Arial" panose="020B0604020202020204" pitchFamily="34" charset="0"/>
                        <a:buChar char="•"/>
                      </a:pPr>
                      <a:r>
                        <a:rPr lang="ja-JP" altLang="en-US" sz="1000" dirty="0"/>
                        <a:t>アーカイブ用の</a:t>
                      </a:r>
                      <a:r>
                        <a:rPr lang="en-US" altLang="ja-JP" sz="1000" dirty="0"/>
                        <a:t>DB</a:t>
                      </a:r>
                      <a:r>
                        <a:rPr lang="ja-JP" altLang="en-US" sz="1000" dirty="0"/>
                        <a:t>を持つ構成</a:t>
                      </a:r>
                      <a:endParaRPr lang="en-US" altLang="ja-JP" sz="1000" dirty="0"/>
                    </a:p>
                  </a:txBody>
                  <a:tcPr/>
                </a:tc>
                <a:extLst>
                  <a:ext uri="{0D108BD9-81ED-4DB2-BD59-A6C34878D82A}">
                    <a16:rowId xmlns:a16="http://schemas.microsoft.com/office/drawing/2014/main" val="3928298953"/>
                  </a:ext>
                </a:extLst>
              </a:tr>
              <a:tr h="251662">
                <a:tc>
                  <a:txBody>
                    <a:bodyPr/>
                    <a:lstStyle/>
                    <a:p>
                      <a:r>
                        <a:rPr lang="en-US" altLang="ja-JP" sz="1000" kern="1200">
                          <a:solidFill>
                            <a:schemeClr val="dk1"/>
                          </a:solidFill>
                          <a:latin typeface="+mn-lt"/>
                          <a:ea typeface="+mn-ea"/>
                          <a:cs typeface="+mn-cs"/>
                        </a:rPr>
                        <a:t>【</a:t>
                      </a:r>
                      <a:r>
                        <a:rPr lang="ja-JP" altLang="en-US" sz="1000" kern="1200">
                          <a:solidFill>
                            <a:schemeClr val="dk1"/>
                          </a:solidFill>
                          <a:latin typeface="+mn-lt"/>
                          <a:ea typeface="+mn-ea"/>
                          <a:cs typeface="+mn-cs"/>
                        </a:rPr>
                        <a:t>その他個別</a:t>
                      </a:r>
                      <a:r>
                        <a:rPr lang="en-US" altLang="ja-JP" sz="1000" kern="1200">
                          <a:solidFill>
                            <a:schemeClr val="dk1"/>
                          </a:solidFill>
                          <a:latin typeface="+mn-lt"/>
                          <a:ea typeface="+mn-ea"/>
                          <a:cs typeface="+mn-cs"/>
                        </a:rPr>
                        <a:t>DB】</a:t>
                      </a:r>
                      <a:endParaRPr lang="ja-JP" altLang="en-US" sz="1000" kern="1200">
                        <a:solidFill>
                          <a:schemeClr val="dk1"/>
                        </a:solidFill>
                        <a:latin typeface="+mn-lt"/>
                        <a:ea typeface="+mn-ea"/>
                        <a:cs typeface="+mn-cs"/>
                      </a:endParaRPr>
                    </a:p>
                  </a:txBody>
                  <a:tcPr/>
                </a:tc>
                <a:tc>
                  <a:txBody>
                    <a:bodyPr/>
                    <a:lstStyle/>
                    <a:p>
                      <a:r>
                        <a:rPr lang="en-US" altLang="ja-JP" sz="1000" kern="1200">
                          <a:solidFill>
                            <a:schemeClr val="dk1"/>
                          </a:solidFill>
                          <a:latin typeface="+mn-lt"/>
                          <a:ea typeface="+mn-ea"/>
                          <a:cs typeface="+mn-cs"/>
                        </a:rPr>
                        <a:t>8</a:t>
                      </a:r>
                      <a:endParaRPr lang="ja-JP" altLang="en-US" sz="1000" kern="120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00" dirty="0"/>
                        <a:t>それぞれ設計が異なり、独立した構成</a:t>
                      </a:r>
                      <a:endParaRPr lang="en-US" altLang="ja-JP" sz="1000" dirty="0"/>
                    </a:p>
                  </a:txBody>
                  <a:tcPr/>
                </a:tc>
                <a:extLst>
                  <a:ext uri="{0D108BD9-81ED-4DB2-BD59-A6C34878D82A}">
                    <a16:rowId xmlns:a16="http://schemas.microsoft.com/office/drawing/2014/main" val="1289625531"/>
                  </a:ext>
                </a:extLst>
              </a:tr>
            </a:tbl>
          </a:graphicData>
        </a:graphic>
      </p:graphicFrame>
      <p:pic>
        <p:nvPicPr>
          <p:cNvPr id="5" name="図 4">
            <a:extLst>
              <a:ext uri="{FF2B5EF4-FFF2-40B4-BE49-F238E27FC236}">
                <a16:creationId xmlns:a16="http://schemas.microsoft.com/office/drawing/2014/main" id="{4151152B-5050-BBAB-7042-32B6D79363B7}"/>
              </a:ext>
            </a:extLst>
          </p:cNvPr>
          <p:cNvPicPr>
            <a:picLocks noChangeAspect="1"/>
          </p:cNvPicPr>
          <p:nvPr/>
        </p:nvPicPr>
        <p:blipFill>
          <a:blip r:embed="rId3"/>
          <a:stretch>
            <a:fillRect/>
          </a:stretch>
        </p:blipFill>
        <p:spPr>
          <a:xfrm>
            <a:off x="4625704" y="3708400"/>
            <a:ext cx="7256330" cy="2142926"/>
          </a:xfrm>
          <a:prstGeom prst="rect">
            <a:avLst/>
          </a:prstGeom>
        </p:spPr>
      </p:pic>
    </p:spTree>
    <p:extLst>
      <p:ext uri="{BB962C8B-B14F-4D97-AF65-F5344CB8AC3E}">
        <p14:creationId xmlns:p14="http://schemas.microsoft.com/office/powerpoint/2010/main" val="5040619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BE479-5FC9-9CCA-D99B-70E8795F043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E0A3B2A-7E2F-F016-3731-A5F75381D9F3}"/>
              </a:ext>
            </a:extLst>
          </p:cNvPr>
          <p:cNvSpPr>
            <a:spLocks noGrp="1"/>
          </p:cNvSpPr>
          <p:nvPr>
            <p:ph type="title"/>
          </p:nvPr>
        </p:nvSpPr>
        <p:spPr>
          <a:xfrm>
            <a:off x="414336" y="255263"/>
            <a:ext cx="9327072" cy="683629"/>
          </a:xfrm>
        </p:spPr>
        <p:txBody>
          <a:bodyPr>
            <a:normAutofit/>
          </a:bodyPr>
          <a:lstStyle/>
          <a:p>
            <a:r>
              <a:rPr lang="ja-JP" altLang="en-US" dirty="0"/>
              <a:t>機能一覧</a:t>
            </a:r>
            <a:r>
              <a:rPr lang="en-US" altLang="ja-JP" sz="1600" dirty="0">
                <a:solidFill>
                  <a:srgbClr val="FF0000"/>
                </a:solidFill>
              </a:rPr>
              <a:t>※</a:t>
            </a:r>
            <a:r>
              <a:rPr lang="ja-JP" altLang="en-US" sz="1600" dirty="0">
                <a:solidFill>
                  <a:srgbClr val="FF0000"/>
                </a:solidFill>
              </a:rPr>
              <a:t>ご提示頂いた「</a:t>
            </a:r>
            <a:r>
              <a:rPr lang="en-US" altLang="ja-JP" sz="1600" dirty="0">
                <a:solidFill>
                  <a:srgbClr val="FF0000"/>
                </a:solidFill>
              </a:rPr>
              <a:t>【</a:t>
            </a:r>
            <a:r>
              <a:rPr lang="ja-JP" altLang="en-US" sz="1600" dirty="0">
                <a:solidFill>
                  <a:srgbClr val="FF0000"/>
                </a:solidFill>
              </a:rPr>
              <a:t>新アプリ</a:t>
            </a:r>
            <a:r>
              <a:rPr lang="en-US" altLang="ja-JP" sz="1600" dirty="0">
                <a:solidFill>
                  <a:srgbClr val="FF0000"/>
                </a:solidFill>
              </a:rPr>
              <a:t>】</a:t>
            </a:r>
            <a:r>
              <a:rPr lang="ja-JP" altLang="en-US" sz="1600" dirty="0">
                <a:solidFill>
                  <a:srgbClr val="FF0000"/>
                </a:solidFill>
              </a:rPr>
              <a:t>機能要件一覧 </a:t>
            </a:r>
            <a:r>
              <a:rPr lang="en-US" altLang="ja-JP" sz="1600" dirty="0">
                <a:solidFill>
                  <a:srgbClr val="FF0000"/>
                </a:solidFill>
              </a:rPr>
              <a:t>V1.1.xlsx</a:t>
            </a:r>
            <a:r>
              <a:rPr lang="ja-JP" altLang="en-US" sz="1600" dirty="0">
                <a:solidFill>
                  <a:srgbClr val="FF0000"/>
                </a:solidFill>
              </a:rPr>
              <a:t>」の中項目単位で抽出</a:t>
            </a:r>
            <a:endParaRPr lang="ja-JP" altLang="en-US" dirty="0">
              <a:effectLst/>
            </a:endParaRPr>
          </a:p>
        </p:txBody>
      </p:sp>
      <p:graphicFrame>
        <p:nvGraphicFramePr>
          <p:cNvPr id="7" name="表 6">
            <a:extLst>
              <a:ext uri="{FF2B5EF4-FFF2-40B4-BE49-F238E27FC236}">
                <a16:creationId xmlns:a16="http://schemas.microsoft.com/office/drawing/2014/main" id="{12C87BA9-C0B9-D7F8-6EC4-F7BD151BE9A3}"/>
              </a:ext>
            </a:extLst>
          </p:cNvPr>
          <p:cNvGraphicFramePr>
            <a:graphicFrameLocks noGrp="1"/>
          </p:cNvGraphicFramePr>
          <p:nvPr/>
        </p:nvGraphicFramePr>
        <p:xfrm>
          <a:off x="288130" y="779668"/>
          <a:ext cx="11615739" cy="5745816"/>
        </p:xfrm>
        <a:graphic>
          <a:graphicData uri="http://schemas.openxmlformats.org/drawingml/2006/table">
            <a:tbl>
              <a:tblPr/>
              <a:tblGrid>
                <a:gridCol w="219461">
                  <a:extLst>
                    <a:ext uri="{9D8B030D-6E8A-4147-A177-3AD203B41FA5}">
                      <a16:colId xmlns:a16="http://schemas.microsoft.com/office/drawing/2014/main" val="2820677060"/>
                    </a:ext>
                  </a:extLst>
                </a:gridCol>
                <a:gridCol w="2116227">
                  <a:extLst>
                    <a:ext uri="{9D8B030D-6E8A-4147-A177-3AD203B41FA5}">
                      <a16:colId xmlns:a16="http://schemas.microsoft.com/office/drawing/2014/main" val="799914121"/>
                    </a:ext>
                  </a:extLst>
                </a:gridCol>
                <a:gridCol w="1426495">
                  <a:extLst>
                    <a:ext uri="{9D8B030D-6E8A-4147-A177-3AD203B41FA5}">
                      <a16:colId xmlns:a16="http://schemas.microsoft.com/office/drawing/2014/main" val="2402481679"/>
                    </a:ext>
                  </a:extLst>
                </a:gridCol>
                <a:gridCol w="1222709">
                  <a:extLst>
                    <a:ext uri="{9D8B030D-6E8A-4147-A177-3AD203B41FA5}">
                      <a16:colId xmlns:a16="http://schemas.microsoft.com/office/drawing/2014/main" val="2668831253"/>
                    </a:ext>
                  </a:extLst>
                </a:gridCol>
                <a:gridCol w="5361110">
                  <a:extLst>
                    <a:ext uri="{9D8B030D-6E8A-4147-A177-3AD203B41FA5}">
                      <a16:colId xmlns:a16="http://schemas.microsoft.com/office/drawing/2014/main" val="3132363046"/>
                    </a:ext>
                  </a:extLst>
                </a:gridCol>
                <a:gridCol w="1269737">
                  <a:extLst>
                    <a:ext uri="{9D8B030D-6E8A-4147-A177-3AD203B41FA5}">
                      <a16:colId xmlns:a16="http://schemas.microsoft.com/office/drawing/2014/main" val="1933255338"/>
                    </a:ext>
                  </a:extLst>
                </a:gridCol>
              </a:tblGrid>
              <a:tr h="126384">
                <a:tc>
                  <a:txBody>
                    <a:bodyPr/>
                    <a:lstStyle/>
                    <a:p>
                      <a:pPr algn="l" fontAlgn="t">
                        <a:buNone/>
                      </a:pPr>
                      <a:r>
                        <a:rPr lang="en-US" sz="800" b="1" i="0" u="none" strike="noStrike">
                          <a:solidFill>
                            <a:srgbClr val="FFFFFF"/>
                          </a:solidFill>
                          <a:effectLst/>
                          <a:latin typeface="ＭＳ Ｐゴシック" panose="020B0600070205080204" pitchFamily="50" charset="-128"/>
                          <a:ea typeface="ＭＳ Ｐゴシック" panose="020B0600070205080204" pitchFamily="50" charset="-128"/>
                        </a:rPr>
                        <a:t>No</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大項目</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中項目</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実施者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要件概要</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機能分類</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extLst>
                  <a:ext uri="{0D108BD9-81ED-4DB2-BD59-A6C34878D82A}">
                    <a16:rowId xmlns:a16="http://schemas.microsoft.com/office/drawing/2014/main" val="2700608525"/>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納入仕様書（依頼）起票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支店・支社（営業部門）</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納入仕様書を新規作成・改定できること。作成・改定時、納入仕様書の各項目を設定されて、システムは関連マスタから承認者情報を取得できること。それに、文書に必要な資料を添付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605257937"/>
                  </a:ext>
                </a:extLst>
              </a:tr>
              <a:tr h="37237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確認・承認①</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事業所窓口</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事業部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文書への回答可否に応じて、ワークフロー有無・直列並列を選択できること。文書の承認ルートを、事前に定義された承認ルートマスタから選択できること。ワークフローの各段階において、現在の担当者や承認者を他の利用者に変更できること。承認プロセス中の文書を、定義されたワークフローの次工程に進めることができること（申請・承認・差戻し等）。</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867895642"/>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確認・承認②</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事業所作成部署</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ワークフローの各承認段階（例：窓口確認、審査確認）において、担当者は承認をシステム上で実行できること。本文ファイル閲覧し、添付ファイルを直接編集・保存ができること。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926995604"/>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確認・承認③</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事業所窓口</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ワークフローの各承認段階（例：窓口確認、審査確認）において、担当者は承認をシステム上で実行できること。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192307590"/>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審査①</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事業所作成部署</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ワークフローの各承認段階（例：窓口確認、審査確認）において、担当者は承認をシステム上で実行できること。添付ファイルの閲覧、編集、添付、連絡事項が記入できること。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4086136667"/>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確認・承認④</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事業所窓口</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ワークフローの各承認段階（例：窓口確認、審査確認）において、担当者は承認をシステム上で実行できること。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920040131"/>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審査②</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事業所作成部署</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ワークフローの各承認段階（例：窓口確認、審査確認）において、担当者は承認をシステム上で実行できること。添付ファイルの閲覧、編集、添付、連絡事項が記入できること。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4197276658"/>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確認・承認⑤</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事業所窓口</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ワークフローの各承認段階（例：窓口確認、審査確認）において、担当者は承認をシステム上で実行できること。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821927837"/>
                  </a:ext>
                </a:extLst>
              </a:tr>
              <a:tr h="37237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確認・承認⑥</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最終承認部署</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担当者による最終確認後、利用者は文書を次工程（例：部署長確認）に進めることができること。連絡事項の入力、ファイル添付が可能な項目であること。部署長による最終確認後、利用者は文書を次工程（例：顧客提出準備）に進めることができること。システム設定に基づき、通知メールの件名等に文書の補足情報を付加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998445278"/>
                  </a:ext>
                </a:extLst>
              </a:tr>
              <a:tr h="37237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10</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顧客提出後処理</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支店・支社（営業部門）</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文書が顧客に提出済みであることをシステムに記録できること。文書をワークフローの次工程（例：保管責任部署作業）に進めることができること。必要に応じて上位者の確認プロセスを経ること。所定の承認プロセスが実行され、ワークフローの引継ぎ情報が設定された上で文書が保存され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071043778"/>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11</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締結完了処理</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保管責任者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契約成立日を入力できること。文書の締結処理を実行できること。改訂の場合、システムは旧版文書のステータスを「旧版」等に更新し、運用停止日等を設定すること。文書種類に応じた開示範囲を設定す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632791042"/>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12</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契約不成立処理</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関係者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利用者は、文書ステータス（例：制定中・改訂中）によって、任意のタイミングで文書の契約不成立処理を実行できること。所定の承認プロセスが実行されること。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243961259"/>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13</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承認クリア</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利用者（例：特定ロール保有者）は、文書の承認状態（承認フラグ、承認者、承認日等）を全てクリアし、承認ステータスを定義された初期状態（例：「製造窓口確認中」）に戻せること。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承認クリア</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931013020"/>
                  </a:ext>
                </a:extLst>
              </a:tr>
              <a:tr h="37237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14</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差戻</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承認プロセス中の文書を、指定した差戻し理由と共に特定の工程（例：事業部・事業所確認中）へ差し戻すことができること。差戻し時には、元の文書が保存・複製（版管理され、フォーム変更・アクセス権変更を伴う）され、差戻し情報（日時、理由、種別等）が記録されること。承認ステータスが適切な状態に戻され、以降の承認情報はクリアされ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承認差戻</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688018319"/>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15</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文書削除</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権限を持った利用者は、文書に削除フラグを設定し、論理削除できること。削除日も記録されること。重複する旧版文書がある場合、それらにも同様に削除フラグが設定されること。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文書削除</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808337629"/>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16</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督促メール停止</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利用者は、特定の文書に対する督促通知（メール等）の送信を停止するための設定を行えること。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通知メール（停止含む）</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981517253"/>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17</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関連文書</a:t>
                      </a:r>
                      <a:r>
                        <a:rPr lang="en-US" altLang="zh-TW" sz="800" b="0" i="0" u="none" strike="noStrike">
                          <a:solidFill>
                            <a:srgbClr val="000000"/>
                          </a:solidFill>
                          <a:effectLst/>
                          <a:latin typeface="游ゴシック 本文"/>
                          <a:ea typeface="ＭＳ Ｐゴシック" panose="020B0600070205080204" pitchFamily="50" charset="-128"/>
                        </a:rPr>
                        <a:t>DB</a:t>
                      </a:r>
                      <a:r>
                        <a:rPr lang="zh-TW" altLang="en-US" sz="800" b="0" i="0" u="none" strike="noStrike">
                          <a:solidFill>
                            <a:srgbClr val="000000"/>
                          </a:solidFill>
                          <a:effectLst/>
                          <a:latin typeface="游ゴシック 本文"/>
                          <a:ea typeface="ＭＳ Ｐゴシック" panose="020B0600070205080204" pitchFamily="50" charset="-128"/>
                        </a:rPr>
                        <a:t>参照</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利用者は、本システムから関連文書管理システム（または機能）へアクセスし、情報を参照できること。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615731376"/>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18</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編集</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利用者は、現在開いている文書を編集モードに切り替えることができること。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文書編集</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174074060"/>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19</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保存終了</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利用者は、編集中の文書を保存し、編集画面を閉じることができること。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文書編集</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577745692"/>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20</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印刷</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利用者は、現在開いている文書を印刷プレビューし、指定プリンタから印刷できること。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外部出力</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485050062"/>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21</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メール送信</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利用者は、現在開いている文書へのリンク情報を含む新規メール作成画面を、標準メーラーまたはシステム連携メーラーで表示できること。送付されたメールが受信トレイに格納されること。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通知メール（停止含む）</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890062738"/>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22</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本文閲覧</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利用者は、本文ファイルに添付された</a:t>
                      </a:r>
                      <a:r>
                        <a:rPr lang="en-US" altLang="ja-JP" sz="800" b="0" i="0" u="none" strike="noStrike">
                          <a:solidFill>
                            <a:srgbClr val="000000"/>
                          </a:solidFill>
                          <a:effectLst/>
                          <a:latin typeface="游ゴシック 本文"/>
                          <a:ea typeface="ＭＳ Ｐゴシック" panose="020B0600070205080204" pitchFamily="50" charset="-128"/>
                        </a:rPr>
                        <a:t>PDF</a:t>
                      </a:r>
                      <a:r>
                        <a:rPr lang="ja-JP" altLang="en-US" sz="800" b="0" i="0" u="none" strike="noStrike">
                          <a:solidFill>
                            <a:srgbClr val="000000"/>
                          </a:solidFill>
                          <a:effectLst/>
                          <a:latin typeface="游ゴシック 本文"/>
                          <a:ea typeface="ＭＳ Ｐゴシック" panose="020B0600070205080204" pitchFamily="50" charset="-128"/>
                        </a:rPr>
                        <a:t>を閲覧できること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746865168"/>
                  </a:ext>
                </a:extLst>
              </a:tr>
              <a:tr h="230477">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23</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旧版閲覧</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利用者は、現在開いている文書（または選択した文書）に対応する旧版文書を、文書番号や版番号等をキーに検索し、表示できること。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660506185"/>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24</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締結版閲覧</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利用者は、現在開いている文書（または選択した文書）に対応する締結版文書を、文書番号等をキーに検索し、表示できること。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56682223"/>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25</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複数納入先分作成</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利用者は、締結済みの納入仕様書を元に、複数の納入先に対応する納入仕様書を一括作成されること。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901093505"/>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26</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ワークフロー一括更新</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権限を持つ利用者は、ワークフロー申請先を登録したマスタデータから一括変更できること。申請先を更新した際は、実施済みの承認結果は引き継がれること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項目一括更新</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626578263"/>
                  </a:ext>
                </a:extLst>
              </a:tr>
            </a:tbl>
          </a:graphicData>
        </a:graphic>
      </p:graphicFrame>
    </p:spTree>
    <p:extLst>
      <p:ext uri="{BB962C8B-B14F-4D97-AF65-F5344CB8AC3E}">
        <p14:creationId xmlns:p14="http://schemas.microsoft.com/office/powerpoint/2010/main" val="16145505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B8CF94-ED59-EAD6-EE70-D0C32F0ACB4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82185BB-2E8F-0DD6-D588-AE129F70CC88}"/>
              </a:ext>
            </a:extLst>
          </p:cNvPr>
          <p:cNvSpPr>
            <a:spLocks noGrp="1"/>
          </p:cNvSpPr>
          <p:nvPr>
            <p:ph type="title"/>
          </p:nvPr>
        </p:nvSpPr>
        <p:spPr>
          <a:xfrm>
            <a:off x="414336" y="255263"/>
            <a:ext cx="9327072" cy="683629"/>
          </a:xfrm>
        </p:spPr>
        <p:txBody>
          <a:bodyPr/>
          <a:lstStyle/>
          <a:p>
            <a:r>
              <a:rPr lang="ja-JP" altLang="en-US" dirty="0"/>
              <a:t>機能一覧</a:t>
            </a:r>
            <a:endParaRPr lang="ja-JP" altLang="en-US" dirty="0">
              <a:effectLst/>
            </a:endParaRPr>
          </a:p>
        </p:txBody>
      </p:sp>
      <p:graphicFrame>
        <p:nvGraphicFramePr>
          <p:cNvPr id="5" name="表 4">
            <a:extLst>
              <a:ext uri="{FF2B5EF4-FFF2-40B4-BE49-F238E27FC236}">
                <a16:creationId xmlns:a16="http://schemas.microsoft.com/office/drawing/2014/main" id="{0972F7E1-D324-7C95-AAA8-6DD6247E2C6E}"/>
              </a:ext>
            </a:extLst>
          </p:cNvPr>
          <p:cNvGraphicFramePr>
            <a:graphicFrameLocks noGrp="1"/>
          </p:cNvGraphicFramePr>
          <p:nvPr/>
        </p:nvGraphicFramePr>
        <p:xfrm>
          <a:off x="288130" y="830468"/>
          <a:ext cx="11615739" cy="5616078"/>
        </p:xfrm>
        <a:graphic>
          <a:graphicData uri="http://schemas.openxmlformats.org/drawingml/2006/table">
            <a:tbl>
              <a:tblPr/>
              <a:tblGrid>
                <a:gridCol w="219460">
                  <a:extLst>
                    <a:ext uri="{9D8B030D-6E8A-4147-A177-3AD203B41FA5}">
                      <a16:colId xmlns:a16="http://schemas.microsoft.com/office/drawing/2014/main" val="799463105"/>
                    </a:ext>
                  </a:extLst>
                </a:gridCol>
                <a:gridCol w="2116228">
                  <a:extLst>
                    <a:ext uri="{9D8B030D-6E8A-4147-A177-3AD203B41FA5}">
                      <a16:colId xmlns:a16="http://schemas.microsoft.com/office/drawing/2014/main" val="2703095698"/>
                    </a:ext>
                  </a:extLst>
                </a:gridCol>
                <a:gridCol w="1426494">
                  <a:extLst>
                    <a:ext uri="{9D8B030D-6E8A-4147-A177-3AD203B41FA5}">
                      <a16:colId xmlns:a16="http://schemas.microsoft.com/office/drawing/2014/main" val="139665031"/>
                    </a:ext>
                  </a:extLst>
                </a:gridCol>
                <a:gridCol w="1222709">
                  <a:extLst>
                    <a:ext uri="{9D8B030D-6E8A-4147-A177-3AD203B41FA5}">
                      <a16:colId xmlns:a16="http://schemas.microsoft.com/office/drawing/2014/main" val="124102189"/>
                    </a:ext>
                  </a:extLst>
                </a:gridCol>
                <a:gridCol w="5361111">
                  <a:extLst>
                    <a:ext uri="{9D8B030D-6E8A-4147-A177-3AD203B41FA5}">
                      <a16:colId xmlns:a16="http://schemas.microsoft.com/office/drawing/2014/main" val="923264518"/>
                    </a:ext>
                  </a:extLst>
                </a:gridCol>
                <a:gridCol w="1269737">
                  <a:extLst>
                    <a:ext uri="{9D8B030D-6E8A-4147-A177-3AD203B41FA5}">
                      <a16:colId xmlns:a16="http://schemas.microsoft.com/office/drawing/2014/main" val="2764900046"/>
                    </a:ext>
                  </a:extLst>
                </a:gridCol>
              </a:tblGrid>
              <a:tr h="92013">
                <a:tc>
                  <a:txBody>
                    <a:bodyPr/>
                    <a:lstStyle/>
                    <a:p>
                      <a:pPr algn="l" fontAlgn="t">
                        <a:buNone/>
                      </a:pPr>
                      <a:r>
                        <a:rPr lang="en-US" sz="800" b="1" i="0" u="none" strike="noStrike">
                          <a:solidFill>
                            <a:srgbClr val="FFFFFF"/>
                          </a:solidFill>
                          <a:effectLst/>
                          <a:latin typeface="ＭＳ Ｐゴシック" panose="020B0600070205080204" pitchFamily="50" charset="-128"/>
                          <a:ea typeface="ＭＳ Ｐゴシック" panose="020B0600070205080204" pitchFamily="50" charset="-128"/>
                        </a:rPr>
                        <a:t>No</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大項目</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中項目</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実施者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要件概要</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機能分類</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extLst>
                  <a:ext uri="{0D108BD9-81ED-4DB2-BD59-A6C34878D82A}">
                    <a16:rowId xmlns:a16="http://schemas.microsoft.com/office/drawing/2014/main" val="1196562293"/>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27</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納入仕様書（締結版）作成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登録者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利用者は、納入仕様書（締結版）を新規作成・改定できること。文書種類に応じた開示範囲を設定すること。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文書登録</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617520809"/>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28</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保存終了</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利用者は、編集中の締結版文書を保存し、編集画面を閉じることができること。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文書編集</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828896702"/>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29</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印刷</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利用者は、現在開いている締結版文書を印刷プレビューし、指定プリンタから印刷できること。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外部出力</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2074668"/>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30</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メール送信</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利用者は、現在開いている締結版文書へのリンク情報を含む新規メール作成画面を、標準メーラーまたはシステム連携メーラーで表示できること。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通知メール（停止含む）</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458562480"/>
                  </a:ext>
                </a:extLst>
              </a:tr>
              <a:tr h="27285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31</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フロー版閲覧</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利用者は、締結版文書に対応する承認フロー中の文書（申請・承認過程の文書）を、文書番号等をキーに検索し、読み取り専用で表示できること。対象文書が見つからない場合は、その旨を通知すること。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346641748"/>
                  </a:ext>
                </a:extLst>
              </a:tr>
              <a:tr h="27285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32</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本文閲覧</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利用者が対象文書を開いて操作を行うと、添付ファイルを指定フォルダに</a:t>
                      </a:r>
                      <a:r>
                        <a:rPr lang="en-US" altLang="ja-JP" sz="800" b="0" i="0" u="none" strike="noStrike">
                          <a:solidFill>
                            <a:srgbClr val="000000"/>
                          </a:solidFill>
                          <a:effectLst/>
                          <a:latin typeface="游ゴシック 本文"/>
                          <a:ea typeface="ＭＳ Ｐゴシック" panose="020B0600070205080204" pitchFamily="50" charset="-128"/>
                        </a:rPr>
                        <a:t>PDF</a:t>
                      </a:r>
                      <a:r>
                        <a:rPr lang="ja-JP" altLang="en-US" sz="800" b="0" i="0" u="none" strike="noStrike">
                          <a:solidFill>
                            <a:srgbClr val="000000"/>
                          </a:solidFill>
                          <a:effectLst/>
                          <a:latin typeface="游ゴシック 本文"/>
                          <a:ea typeface="ＭＳ Ｐゴシック" panose="020B0600070205080204" pitchFamily="50" charset="-128"/>
                        </a:rPr>
                        <a:t>形式で出力し、</a:t>
                      </a:r>
                      <a:r>
                        <a:rPr lang="en-US" altLang="ja-JP" sz="800" b="0" i="0" u="none" strike="noStrike">
                          <a:solidFill>
                            <a:srgbClr val="000000"/>
                          </a:solidFill>
                          <a:effectLst/>
                          <a:latin typeface="游ゴシック 本文"/>
                          <a:ea typeface="ＭＳ Ｐゴシック" panose="020B0600070205080204" pitchFamily="50" charset="-128"/>
                        </a:rPr>
                        <a:t>PDF</a:t>
                      </a:r>
                      <a:r>
                        <a:rPr lang="ja-JP" altLang="en-US" sz="800" b="0" i="0" u="none" strike="noStrike">
                          <a:solidFill>
                            <a:srgbClr val="000000"/>
                          </a:solidFill>
                          <a:effectLst/>
                          <a:latin typeface="游ゴシック 本文"/>
                          <a:ea typeface="ＭＳ Ｐゴシック" panose="020B0600070205080204" pitchFamily="50" charset="-128"/>
                        </a:rPr>
                        <a:t>ビューアで表示すること。編集中でも保存せず処理を行い、エラー時はメッセージを表示して中断すること。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827617507"/>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33</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利用者は、締結済みの納入仕様書を改訂できること。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259968054"/>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34</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利用者が操作を実行すると、確認ダイアログを表示し、「はい」を選択した場合に対象文書のステータスを「廃版処理中」に変更できること。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144449327"/>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35</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顧客情報変更</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権限を持つ利用者（例：特定ロール保有者）は、締結版文書の顧客情報を変更できること。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顧客情報変更</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251333054"/>
                  </a:ext>
                </a:extLst>
              </a:tr>
              <a:tr h="27285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36</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文書削除</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締結版文書に削除フラグを設定し、論理削除できること。削除日も記録されること。関連する旧版文書がある場合、それらにも同様に削除フラグが設定されること。文書ステータス（最新版）に応じて機能制限が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文書削除</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41632788"/>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37</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関連文書</a:t>
                      </a:r>
                      <a:r>
                        <a:rPr lang="en-US" sz="800" b="0" i="0" u="none" strike="noStrike">
                          <a:solidFill>
                            <a:srgbClr val="000000"/>
                          </a:solidFill>
                          <a:effectLst/>
                          <a:latin typeface="游ゴシック 本文"/>
                          <a:ea typeface="ＭＳ Ｐゴシック" panose="020B0600070205080204" pitchFamily="50" charset="-128"/>
                        </a:rPr>
                        <a:t>DB</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利用者は、本システムから関連文書管理システム（または機能）へアクセスし、情報を参照できること。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594113468"/>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38</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編集</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利用者は、現在開いている文書を編集モードに切り替えることができること。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文書編集</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7933110"/>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39</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複数納入先分作成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利用者は、締結済みの納入仕様書を元に、複数の納入先に対応する納入仕様書を一括作成できること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639154924"/>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40</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製品規格（制定）依頼書起票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制定依頼者（事業所窓口）</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利用者は、製品規格書を新規作成・改定できること。文書種類に応じた開示範囲を設定すること。規格書のワークフローにおいて、各承認段階から次工程に進めることができること。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758658745"/>
                  </a:ext>
                </a:extLst>
              </a:tr>
              <a:tr h="27285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41</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確認・承認</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事業所作成部署（作成者）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利用者が文書を編集できること。添付資料をダウンロード、アップロードできること。規格書のワークフローの各承認段階において、担当者は自身の確認行為（承認）をシステム上で実行できること。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703934722"/>
                  </a:ext>
                </a:extLst>
              </a:tr>
              <a:tr h="27285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42</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審査</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事業所作成部署（承認者）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利用者が文書を編集できること。添付資料をダウンロード、アップロードできること。規格書のワークフローの各承認段階において、担当者は自身の確認行為（承認）をシステム上で実行できること。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775745593"/>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43</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規格登録</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制定依頼者（事業所窓口）</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利用者は、規格書の配布先を設定して登録できること。システム上で配付履歴が管理できること。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44378386"/>
                  </a:ext>
                </a:extLst>
              </a:tr>
              <a:tr h="92013">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44</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編集</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利用者は、現在開いている規格書を編集モードに切り替えることができること。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文書編集</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921125180"/>
                  </a:ext>
                </a:extLst>
              </a:tr>
              <a:tr h="92013">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45</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保存終了</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利用者は、編集中の規格書を保存し、編集画面を閉じることができること。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文書編集</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4056899834"/>
                  </a:ext>
                </a:extLst>
              </a:tr>
              <a:tr h="92013">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46</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印刷</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利用者は、現在開いている規格書を印刷プレビューし、指定プリンタから印刷できること。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外部出力</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114151290"/>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47</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メール送信</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利用者は、現在開いている規格書へのリンク情報を含む新規メール作成画面を、標準メーラーまたはシステム連携メーラーで表示できること。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通知メール（停止含む）</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033010315"/>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48</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旧版閲覧</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利用者は、現在開いている規格書（または選択した規格書）に対応する旧版文書を、表示できること。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502211538"/>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49</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利用者は、登録済みの規格書を改訂できること。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243761415"/>
                  </a:ext>
                </a:extLst>
              </a:tr>
              <a:tr h="27285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50</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廃棄承認ワークフロー実施</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設定に応じて利用者は、規格書の廃棄処理を開始し、承認ワークフローを実行できること。実行前にシステムは確認メッセージを表示し、利用者の意思確認を行うこと。文書を保存・更新、関連管理文書を起票し更新履歴を追記す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50091843"/>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51</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文書廃棄</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即廃棄</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システム設定に応じて利用者は、規格書を承認ワークフローを経ずに即時廃棄できること。実行前にシステムは確認メッセージを表示し、利用者の意思確認を行うこと。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853419108"/>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52</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廃棄取消</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利用者は、一度「廃版処理中」となった規格書の廃棄処理を取り消すことができること。実行前にシステムは確認メッセージを表示し、利用者の意思確認を行うこと。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873223829"/>
                  </a:ext>
                </a:extLst>
              </a:tr>
            </a:tbl>
          </a:graphicData>
        </a:graphic>
      </p:graphicFrame>
    </p:spTree>
    <p:extLst>
      <p:ext uri="{BB962C8B-B14F-4D97-AF65-F5344CB8AC3E}">
        <p14:creationId xmlns:p14="http://schemas.microsoft.com/office/powerpoint/2010/main" val="12795116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F29F4-8089-DCCE-8249-7AAD90C264A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55561E9-FB4B-FA8B-FC60-52E0F7E51BD4}"/>
              </a:ext>
            </a:extLst>
          </p:cNvPr>
          <p:cNvSpPr>
            <a:spLocks noGrp="1"/>
          </p:cNvSpPr>
          <p:nvPr>
            <p:ph type="title"/>
          </p:nvPr>
        </p:nvSpPr>
        <p:spPr>
          <a:xfrm>
            <a:off x="414336" y="255263"/>
            <a:ext cx="9327072" cy="683629"/>
          </a:xfrm>
        </p:spPr>
        <p:txBody>
          <a:bodyPr/>
          <a:lstStyle/>
          <a:p>
            <a:r>
              <a:rPr lang="ja-JP" altLang="en-US" dirty="0"/>
              <a:t>機能一覧</a:t>
            </a:r>
            <a:endParaRPr lang="ja-JP" altLang="en-US" dirty="0">
              <a:effectLst/>
            </a:endParaRPr>
          </a:p>
        </p:txBody>
      </p:sp>
      <p:graphicFrame>
        <p:nvGraphicFramePr>
          <p:cNvPr id="6" name="表 5">
            <a:extLst>
              <a:ext uri="{FF2B5EF4-FFF2-40B4-BE49-F238E27FC236}">
                <a16:creationId xmlns:a16="http://schemas.microsoft.com/office/drawing/2014/main" id="{222F90E7-C603-055B-C149-663D0397BE88}"/>
              </a:ext>
            </a:extLst>
          </p:cNvPr>
          <p:cNvGraphicFramePr>
            <a:graphicFrameLocks noGrp="1"/>
          </p:cNvGraphicFramePr>
          <p:nvPr/>
        </p:nvGraphicFramePr>
        <p:xfrm>
          <a:off x="288130" y="840628"/>
          <a:ext cx="11615740" cy="5420520"/>
        </p:xfrm>
        <a:graphic>
          <a:graphicData uri="http://schemas.openxmlformats.org/drawingml/2006/table">
            <a:tbl>
              <a:tblPr/>
              <a:tblGrid>
                <a:gridCol w="219461">
                  <a:extLst>
                    <a:ext uri="{9D8B030D-6E8A-4147-A177-3AD203B41FA5}">
                      <a16:colId xmlns:a16="http://schemas.microsoft.com/office/drawing/2014/main" val="3538993151"/>
                    </a:ext>
                  </a:extLst>
                </a:gridCol>
                <a:gridCol w="2116228">
                  <a:extLst>
                    <a:ext uri="{9D8B030D-6E8A-4147-A177-3AD203B41FA5}">
                      <a16:colId xmlns:a16="http://schemas.microsoft.com/office/drawing/2014/main" val="1286442542"/>
                    </a:ext>
                  </a:extLst>
                </a:gridCol>
                <a:gridCol w="1426494">
                  <a:extLst>
                    <a:ext uri="{9D8B030D-6E8A-4147-A177-3AD203B41FA5}">
                      <a16:colId xmlns:a16="http://schemas.microsoft.com/office/drawing/2014/main" val="974574590"/>
                    </a:ext>
                  </a:extLst>
                </a:gridCol>
                <a:gridCol w="1222710">
                  <a:extLst>
                    <a:ext uri="{9D8B030D-6E8A-4147-A177-3AD203B41FA5}">
                      <a16:colId xmlns:a16="http://schemas.microsoft.com/office/drawing/2014/main" val="2037760273"/>
                    </a:ext>
                  </a:extLst>
                </a:gridCol>
                <a:gridCol w="5361110">
                  <a:extLst>
                    <a:ext uri="{9D8B030D-6E8A-4147-A177-3AD203B41FA5}">
                      <a16:colId xmlns:a16="http://schemas.microsoft.com/office/drawing/2014/main" val="660889682"/>
                    </a:ext>
                  </a:extLst>
                </a:gridCol>
                <a:gridCol w="1269737">
                  <a:extLst>
                    <a:ext uri="{9D8B030D-6E8A-4147-A177-3AD203B41FA5}">
                      <a16:colId xmlns:a16="http://schemas.microsoft.com/office/drawing/2014/main" val="1927077323"/>
                    </a:ext>
                  </a:extLst>
                </a:gridCol>
              </a:tblGrid>
              <a:tr h="50726">
                <a:tc>
                  <a:txBody>
                    <a:bodyPr/>
                    <a:lstStyle/>
                    <a:p>
                      <a:pPr algn="l" fontAlgn="t">
                        <a:buNone/>
                      </a:pPr>
                      <a:r>
                        <a:rPr lang="en-US" sz="800" b="1" i="0" u="none" strike="noStrike">
                          <a:solidFill>
                            <a:srgbClr val="FFFFFF"/>
                          </a:solidFill>
                          <a:effectLst/>
                          <a:latin typeface="ＭＳ Ｐゴシック" panose="020B0600070205080204" pitchFamily="50" charset="-128"/>
                          <a:ea typeface="ＭＳ Ｐゴシック" panose="020B0600070205080204" pitchFamily="50" charset="-128"/>
                        </a:rPr>
                        <a:t>No</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大項目</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中項目</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実施者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要件概要</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機能分類</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extLst>
                  <a:ext uri="{0D108BD9-81ED-4DB2-BD59-A6C34878D82A}">
                    <a16:rowId xmlns:a16="http://schemas.microsoft.com/office/drawing/2014/main" val="2720975212"/>
                  </a:ext>
                </a:extLst>
              </a:tr>
              <a:tr h="100050">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53</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権限を持った利用者は、文書に削除フラグを設定し、論理削除できること。削除日も記録されること。関連する旧版文書がある場合、それらにも同様に削除フラグが設定されること。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451579832"/>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54</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督促メール停止</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利用者は、特定の規格書に対する督促通知（メール等）の送信を停止するための設定を行えること。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通知メール（停止含む）</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403328405"/>
                  </a:ext>
                </a:extLst>
              </a:tr>
              <a:tr h="100050">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55</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ワークフロー一括更新</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権限を持つ利用者は、ワークフロー申請先を登録したマスタデータから一括変更できること。申請先を更新した際は、実施済みの承認結果は引き継がれること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項目一括更新</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389731418"/>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56</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文書メンテナンス</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事業所変更</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利用者は、既存の納入仕様書の事業部・事業所情報を一括で変更できること。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項目一括更新</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951453060"/>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57</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事業所窓口マスタ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利用者は、事業所窓口マスタを作成・登録・削除できること。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585790864"/>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58</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事業所ルートマスタ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利用者は、事業所ルートマスタを作成・登録・削除できること。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462445075"/>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59</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承認窓口マスタ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利用者は、承認窓口マスタを作成・登録・削除できること。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14686675"/>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60</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en-US" sz="800" b="0" i="0" u="none" strike="noStrike">
                          <a:solidFill>
                            <a:srgbClr val="000000"/>
                          </a:solidFill>
                          <a:effectLst/>
                          <a:latin typeface="游ゴシック 本文"/>
                          <a:ea typeface="ＭＳ Ｐゴシック" panose="020B0600070205080204" pitchFamily="50" charset="-128"/>
                        </a:rPr>
                        <a:t>DB</a:t>
                      </a:r>
                      <a:r>
                        <a:rPr lang="ja-JP" altLang="en-US" sz="800" b="0" i="0" u="none" strike="noStrike">
                          <a:solidFill>
                            <a:srgbClr val="000000"/>
                          </a:solidFill>
                          <a:effectLst/>
                          <a:latin typeface="游ゴシック 本文"/>
                          <a:ea typeface="ＭＳ Ｐゴシック" panose="020B0600070205080204" pitchFamily="50" charset="-128"/>
                        </a:rPr>
                        <a:t>情報マスタ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a:t>
                      </a:r>
                      <a:r>
                        <a:rPr lang="en-US" altLang="ja-JP" sz="800" b="0" i="0" u="none" strike="noStrike">
                          <a:solidFill>
                            <a:srgbClr val="000000"/>
                          </a:solidFill>
                          <a:effectLst/>
                          <a:latin typeface="游ゴシック 本文"/>
                          <a:ea typeface="ＭＳ Ｐゴシック" panose="020B0600070205080204" pitchFamily="50" charset="-128"/>
                        </a:rPr>
                        <a:t>DB</a:t>
                      </a:r>
                      <a:r>
                        <a:rPr lang="ja-JP" altLang="en-US" sz="800" b="0" i="0" u="none" strike="noStrike">
                          <a:solidFill>
                            <a:srgbClr val="000000"/>
                          </a:solidFill>
                          <a:effectLst/>
                          <a:latin typeface="游ゴシック 本文"/>
                          <a:ea typeface="ＭＳ Ｐゴシック" panose="020B0600070205080204" pitchFamily="50" charset="-128"/>
                        </a:rPr>
                        <a:t>情報マスタを作成・登録・削除できること。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4101010184"/>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61</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事業部マスタ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利用者は、事業部マスタを作成・登録・削除できること。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587604045"/>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62</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環境マスタ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利用者は、環境マスタを作成・登録・削除できること。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348028435"/>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63</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文書種類マスタ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利用者は、文書種類マスタを作成・登録・削除できること。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802666314"/>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64</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システム管理者マスタ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利用者は、システム管理者マスタを作成・登録・削除できること。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84470058"/>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65</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品質情報管理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製品情報作成</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利用者は、仕様書に関連する新規文書を作成できること。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321074504"/>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66</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品質情報管理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組管未登録会社マスタ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組管未登録会社マスタを作成・登録・削除できること。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23529580"/>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67</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品質情報管理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システム定義</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システム定義を作成・登録・削除できること。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235936855"/>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68</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品質情報管理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事業部変更</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利用者は、複数の既存文書に記録されている事業部情報を一括で変更できること。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465867099"/>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69</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関連文書管理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関連文書登録</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利用者は、仕様書に関連する新規文書を作成できること。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87422044"/>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70</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関連文書管理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データメンテナンス</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利用者は、選択した複数の仕様書関連文書に対して、管理部署情報を一括で変更できること。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項目一括更新</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084982981"/>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71</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関連文書管理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関連文書廃棄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利用者は、仕様書関連文書を廃棄処理できること。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205006013"/>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72</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関連文書管理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場所マスタ設定</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利用者は、場所マスタ編集（または作成）時に、事業所名・事業所コードを文書の所定フィールドに設定できること。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50571891"/>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73</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アナウンス</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資料</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お知らせ作成</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利用者は、システム上で共有すべき情報を新規作成・改訂できること。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461009869"/>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74</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納入仕様書閲覧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利用者が文書ステータスごとに、確認したいビューの設定ができること。ビューに表示されている本文が閲覧できること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319843021"/>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75</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一般規格閲覧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利用者が文書ステータスごとに、確認したいビューの設定ができること。ビューに表示されている本文が閲覧できること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987802719"/>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76</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en-US" sz="800" b="0" i="0" u="none" strike="noStrike">
                          <a:solidFill>
                            <a:srgbClr val="000000"/>
                          </a:solidFill>
                          <a:effectLst/>
                          <a:latin typeface="游ゴシック 本文"/>
                          <a:ea typeface="ＭＳ Ｐゴシック" panose="020B0600070205080204" pitchFamily="50" charset="-128"/>
                        </a:rPr>
                        <a:t>Excel</a:t>
                      </a:r>
                      <a:r>
                        <a:rPr lang="ja-JP" altLang="en-US" sz="800" b="0" i="0" u="none" strike="noStrike">
                          <a:solidFill>
                            <a:srgbClr val="000000"/>
                          </a:solidFill>
                          <a:effectLst/>
                          <a:latin typeface="游ゴシック 本文"/>
                          <a:ea typeface="ＭＳ Ｐゴシック" panose="020B0600070205080204" pitchFamily="50" charset="-128"/>
                        </a:rPr>
                        <a:t>書き出し閲覧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利用者が文書ステータスごとに、本文が閲覧できること。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093888230"/>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77</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マスター閲覧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利用者が文書ステータスごとに、本文が閲覧できること。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25033321"/>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78</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管理者用閲覧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利用者が文書ステータスごとに、本文が閲覧できること。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312103597"/>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79</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閲覧制御</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利用者が対象文書を開いて操作を行うと、添付ファイルを指定フォルダに</a:t>
                      </a:r>
                      <a:r>
                        <a:rPr lang="en-US" altLang="ja-JP" sz="800" b="0" i="0" u="none" strike="noStrike">
                          <a:solidFill>
                            <a:srgbClr val="000000"/>
                          </a:solidFill>
                          <a:effectLst/>
                          <a:latin typeface="游ゴシック 本文"/>
                          <a:ea typeface="ＭＳ Ｐゴシック" panose="020B0600070205080204" pitchFamily="50" charset="-128"/>
                        </a:rPr>
                        <a:t>PDF</a:t>
                      </a:r>
                      <a:r>
                        <a:rPr lang="ja-JP" altLang="en-US" sz="800" b="0" i="0" u="none" strike="noStrike">
                          <a:solidFill>
                            <a:srgbClr val="000000"/>
                          </a:solidFill>
                          <a:effectLst/>
                          <a:latin typeface="游ゴシック 本文"/>
                          <a:ea typeface="ＭＳ Ｐゴシック" panose="020B0600070205080204" pitchFamily="50" charset="-128"/>
                        </a:rPr>
                        <a:t>形式で出力し、</a:t>
                      </a:r>
                      <a:r>
                        <a:rPr lang="en-US" altLang="ja-JP" sz="800" b="0" i="0" u="none" strike="noStrike">
                          <a:solidFill>
                            <a:srgbClr val="000000"/>
                          </a:solidFill>
                          <a:effectLst/>
                          <a:latin typeface="游ゴシック 本文"/>
                          <a:ea typeface="ＭＳ Ｐゴシック" panose="020B0600070205080204" pitchFamily="50" charset="-128"/>
                        </a:rPr>
                        <a:t>PDF</a:t>
                      </a:r>
                      <a:r>
                        <a:rPr lang="ja-JP" altLang="en-US" sz="800" b="0" i="0" u="none" strike="noStrike">
                          <a:solidFill>
                            <a:srgbClr val="000000"/>
                          </a:solidFill>
                          <a:effectLst/>
                          <a:latin typeface="游ゴシック 本文"/>
                          <a:ea typeface="ＭＳ Ｐゴシック" panose="020B0600070205080204" pitchFamily="50" charset="-128"/>
                        </a:rPr>
                        <a:t>ビューアで表示すること。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031501394"/>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80</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納入仕様書（締結版）閲覧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利用者は、現在開いている文書（または選択した文書）に対応する締結版文書を、文書番号等をキーに検索し、表示できること。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79318544"/>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81</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納入仕様書（締結版）文書閲覧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利用者が対象文書を開いて操作を行うと、添付ファイルを指定フォルダに</a:t>
                      </a:r>
                      <a:r>
                        <a:rPr lang="en-US" altLang="ja-JP" sz="800" b="0" i="0" u="none" strike="noStrike">
                          <a:solidFill>
                            <a:srgbClr val="000000"/>
                          </a:solidFill>
                          <a:effectLst/>
                          <a:latin typeface="游ゴシック 本文"/>
                          <a:ea typeface="ＭＳ Ｐゴシック" panose="020B0600070205080204" pitchFamily="50" charset="-128"/>
                        </a:rPr>
                        <a:t>PDF</a:t>
                      </a:r>
                      <a:r>
                        <a:rPr lang="ja-JP" altLang="en-US" sz="800" b="0" i="0" u="none" strike="noStrike">
                          <a:solidFill>
                            <a:srgbClr val="000000"/>
                          </a:solidFill>
                          <a:effectLst/>
                          <a:latin typeface="游ゴシック 本文"/>
                          <a:ea typeface="ＭＳ Ｐゴシック" panose="020B0600070205080204" pitchFamily="50" charset="-128"/>
                        </a:rPr>
                        <a:t>形式で出力し、</a:t>
                      </a:r>
                      <a:r>
                        <a:rPr lang="en-US" altLang="ja-JP" sz="800" b="0" i="0" u="none" strike="noStrike">
                          <a:solidFill>
                            <a:srgbClr val="000000"/>
                          </a:solidFill>
                          <a:effectLst/>
                          <a:latin typeface="游ゴシック 本文"/>
                          <a:ea typeface="ＭＳ Ｐゴシック" panose="020B0600070205080204" pitchFamily="50" charset="-128"/>
                        </a:rPr>
                        <a:t>PDF</a:t>
                      </a:r>
                      <a:r>
                        <a:rPr lang="ja-JP" altLang="en-US" sz="800" b="0" i="0" u="none" strike="noStrike">
                          <a:solidFill>
                            <a:srgbClr val="000000"/>
                          </a:solidFill>
                          <a:effectLst/>
                          <a:latin typeface="游ゴシック 本文"/>
                          <a:ea typeface="ＭＳ Ｐゴシック" panose="020B0600070205080204" pitchFamily="50" charset="-128"/>
                        </a:rPr>
                        <a:t>ビューアで表示すること。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872851452"/>
                  </a:ext>
                </a:extLst>
              </a:tr>
              <a:tr h="9528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82</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納入仕様書（フロー版）閲覧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利用者は、締結版文書に対応する承認フロー中の文書（申請・承認過程の文書）を、文書番号等をキーに検索し、読み取り専用で表示できること。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946789858"/>
                  </a:ext>
                </a:extLst>
              </a:tr>
              <a:tr h="9528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83</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旧版閲覧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利用者は、現在開いている文書（または選択した文書）に対応する旧版文書を、文書番号や版番号等をキーに検索し、表示できること。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408050650"/>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84</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en-US" sz="800" b="0" i="0" u="none" strike="noStrike">
                          <a:solidFill>
                            <a:srgbClr val="000000"/>
                          </a:solidFill>
                          <a:effectLst/>
                          <a:latin typeface="游ゴシック 本文"/>
                          <a:ea typeface="ＭＳ Ｐゴシック" panose="020B0600070205080204" pitchFamily="50" charset="-128"/>
                        </a:rPr>
                        <a:t>Excel</a:t>
                      </a:r>
                      <a:r>
                        <a:rPr lang="ja-JP" altLang="en-US" sz="800" b="0" i="0" u="none" strike="noStrike">
                          <a:solidFill>
                            <a:srgbClr val="000000"/>
                          </a:solidFill>
                          <a:effectLst/>
                          <a:latin typeface="游ゴシック 本文"/>
                          <a:ea typeface="ＭＳ Ｐゴシック" panose="020B0600070205080204" pitchFamily="50" charset="-128"/>
                        </a:rPr>
                        <a:t>書き出し</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利用者は、一覧等で選択された複数の文書情報を、表計算ソフト互換ファイル形式（例：</a:t>
                      </a:r>
                      <a:r>
                        <a:rPr lang="en-US" altLang="ja-JP" sz="800" b="0" i="0" u="none" strike="noStrike">
                          <a:solidFill>
                            <a:srgbClr val="000000"/>
                          </a:solidFill>
                          <a:effectLst/>
                          <a:latin typeface="游ゴシック 本文"/>
                          <a:ea typeface="ＭＳ Ｐゴシック" panose="020B0600070205080204" pitchFamily="50" charset="-128"/>
                        </a:rPr>
                        <a:t>Excel</a:t>
                      </a:r>
                      <a:r>
                        <a:rPr lang="ja-JP" altLang="en-US" sz="800" b="0" i="0" u="none" strike="noStrike">
                          <a:solidFill>
                            <a:srgbClr val="000000"/>
                          </a:solidFill>
                          <a:effectLst/>
                          <a:latin typeface="游ゴシック 本文"/>
                          <a:ea typeface="ＭＳ Ｐゴシック" panose="020B0600070205080204" pitchFamily="50" charset="-128"/>
                        </a:rPr>
                        <a:t>、</a:t>
                      </a:r>
                      <a:r>
                        <a:rPr lang="en-US" altLang="ja-JP" sz="800" b="0" i="0" u="none" strike="noStrike">
                          <a:solidFill>
                            <a:srgbClr val="000000"/>
                          </a:solidFill>
                          <a:effectLst/>
                          <a:latin typeface="游ゴシック 本文"/>
                          <a:ea typeface="ＭＳ Ｐゴシック" panose="020B0600070205080204" pitchFamily="50" charset="-128"/>
                        </a:rPr>
                        <a:t>CSV</a:t>
                      </a:r>
                      <a:r>
                        <a:rPr lang="ja-JP" altLang="en-US" sz="800" b="0" i="0" u="none" strike="noStrike">
                          <a:solidFill>
                            <a:srgbClr val="000000"/>
                          </a:solidFill>
                          <a:effectLst/>
                          <a:latin typeface="游ゴシック 本文"/>
                          <a:ea typeface="ＭＳ Ｐゴシック" panose="020B0600070205080204" pitchFamily="50" charset="-128"/>
                        </a:rPr>
                        <a:t>）でエクスポートできること。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4017193467"/>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85</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検索</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利用者は、文書内容や添付ファイルを含めて検索し、該当する文書が表示できること。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403533229"/>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86</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ビュー設定</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利用者は必要な項目に応じてビューの設定ができること。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739800188"/>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87</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運用中文書廃棄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利用者が操作を実行すると、対象文書のステータスを「廃版処理中」に変更できること。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328379167"/>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88</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納入仕様書（締結版）廃棄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登録者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利用者は、締結版文書の廃棄処理を完了できること。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746738144"/>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89</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製品規格廃棄開始</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利用者は、規格書を承認ワークフローを経ずに即時廃棄できること。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896536060"/>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90</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製品規格廃棄情報の登録</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利用者は、規格書の廃版情報に関連する配布先を設定して規格書の廃棄処理を完了できること。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360105098"/>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91</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製品規格廃棄取り消し</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利用者は、一度「廃版処理中」となった規格書の廃棄処理を取り消すことができること。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731510950"/>
                  </a:ext>
                </a:extLst>
              </a:tr>
            </a:tbl>
          </a:graphicData>
        </a:graphic>
      </p:graphicFrame>
    </p:spTree>
    <p:extLst>
      <p:ext uri="{BB962C8B-B14F-4D97-AF65-F5344CB8AC3E}">
        <p14:creationId xmlns:p14="http://schemas.microsoft.com/office/powerpoint/2010/main" val="9228283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8DF211-D340-F663-89DC-8951D563408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37AF1DB-F9D5-EE5F-A91D-13DB97041D9B}"/>
              </a:ext>
            </a:extLst>
          </p:cNvPr>
          <p:cNvSpPr>
            <a:spLocks noGrp="1"/>
          </p:cNvSpPr>
          <p:nvPr>
            <p:ph type="title"/>
          </p:nvPr>
        </p:nvSpPr>
        <p:spPr>
          <a:xfrm>
            <a:off x="414336" y="255263"/>
            <a:ext cx="9327072" cy="683629"/>
          </a:xfrm>
        </p:spPr>
        <p:txBody>
          <a:bodyPr/>
          <a:lstStyle/>
          <a:p>
            <a:r>
              <a:rPr lang="ja-JP" altLang="en-US" dirty="0"/>
              <a:t>機能一覧</a:t>
            </a:r>
            <a:endParaRPr lang="ja-JP" altLang="en-US" dirty="0">
              <a:effectLst/>
            </a:endParaRPr>
          </a:p>
        </p:txBody>
      </p:sp>
      <p:graphicFrame>
        <p:nvGraphicFramePr>
          <p:cNvPr id="5" name="表 4">
            <a:extLst>
              <a:ext uri="{FF2B5EF4-FFF2-40B4-BE49-F238E27FC236}">
                <a16:creationId xmlns:a16="http://schemas.microsoft.com/office/drawing/2014/main" id="{79886BEB-E96A-6CDA-3769-DFDFF7A883AA}"/>
              </a:ext>
            </a:extLst>
          </p:cNvPr>
          <p:cNvGraphicFramePr>
            <a:graphicFrameLocks noGrp="1"/>
          </p:cNvGraphicFramePr>
          <p:nvPr/>
        </p:nvGraphicFramePr>
        <p:xfrm>
          <a:off x="327974" y="896508"/>
          <a:ext cx="11615740" cy="5016611"/>
        </p:xfrm>
        <a:graphic>
          <a:graphicData uri="http://schemas.openxmlformats.org/drawingml/2006/table">
            <a:tbl>
              <a:tblPr/>
              <a:tblGrid>
                <a:gridCol w="219460">
                  <a:extLst>
                    <a:ext uri="{9D8B030D-6E8A-4147-A177-3AD203B41FA5}">
                      <a16:colId xmlns:a16="http://schemas.microsoft.com/office/drawing/2014/main" val="4085510554"/>
                    </a:ext>
                  </a:extLst>
                </a:gridCol>
                <a:gridCol w="2116228">
                  <a:extLst>
                    <a:ext uri="{9D8B030D-6E8A-4147-A177-3AD203B41FA5}">
                      <a16:colId xmlns:a16="http://schemas.microsoft.com/office/drawing/2014/main" val="463652928"/>
                    </a:ext>
                  </a:extLst>
                </a:gridCol>
                <a:gridCol w="1426495">
                  <a:extLst>
                    <a:ext uri="{9D8B030D-6E8A-4147-A177-3AD203B41FA5}">
                      <a16:colId xmlns:a16="http://schemas.microsoft.com/office/drawing/2014/main" val="946555260"/>
                    </a:ext>
                  </a:extLst>
                </a:gridCol>
                <a:gridCol w="1222710">
                  <a:extLst>
                    <a:ext uri="{9D8B030D-6E8A-4147-A177-3AD203B41FA5}">
                      <a16:colId xmlns:a16="http://schemas.microsoft.com/office/drawing/2014/main" val="690609709"/>
                    </a:ext>
                  </a:extLst>
                </a:gridCol>
                <a:gridCol w="5361110">
                  <a:extLst>
                    <a:ext uri="{9D8B030D-6E8A-4147-A177-3AD203B41FA5}">
                      <a16:colId xmlns:a16="http://schemas.microsoft.com/office/drawing/2014/main" val="2818717537"/>
                    </a:ext>
                  </a:extLst>
                </a:gridCol>
                <a:gridCol w="1269737">
                  <a:extLst>
                    <a:ext uri="{9D8B030D-6E8A-4147-A177-3AD203B41FA5}">
                      <a16:colId xmlns:a16="http://schemas.microsoft.com/office/drawing/2014/main" val="2040657454"/>
                    </a:ext>
                  </a:extLst>
                </a:gridCol>
              </a:tblGrid>
              <a:tr h="169428">
                <a:tc>
                  <a:txBody>
                    <a:bodyPr/>
                    <a:lstStyle/>
                    <a:p>
                      <a:pPr algn="l" fontAlgn="t">
                        <a:buNone/>
                      </a:pPr>
                      <a:r>
                        <a:rPr lang="en-US" sz="800" b="1" i="0" u="none" strike="noStrike">
                          <a:solidFill>
                            <a:srgbClr val="FFFFFF"/>
                          </a:solidFill>
                          <a:effectLst/>
                          <a:latin typeface="ＭＳ Ｐゴシック" panose="020B0600070205080204" pitchFamily="50" charset="-128"/>
                          <a:ea typeface="ＭＳ Ｐゴシック" panose="020B0600070205080204" pitchFamily="50" charset="-128"/>
                        </a:rPr>
                        <a:t>No</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大項目</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中項目</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実施者</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要件概要</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機能分類</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extLst>
                  <a:ext uri="{0D108BD9-81ED-4DB2-BD59-A6C34878D82A}">
                    <a16:rowId xmlns:a16="http://schemas.microsoft.com/office/drawing/2014/main" val="3092403812"/>
                  </a:ext>
                </a:extLst>
              </a:tr>
              <a:tr h="335545">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92</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競合管理文書削除</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日次指定時刻）により、不要となった競合管理用の一時文書等を自動的に削除できること。処理結果（例：削除件数、エラー情報）はシステム管理者に通知され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211626563"/>
                  </a:ext>
                </a:extLst>
              </a:tr>
              <a:tr h="50166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93</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回答期限超過連絡メール送信</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日次指定時刻）により、文書に設定された回答期限を超過した案件を検出し、関係者（例：担当者、申請者）及びシステム管理者に自動的に通知（メール等）できること。通知の要否、通知内容（件名への補足情報付加等）、対象期間はシステム設定により制御でき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4220742084"/>
                  </a:ext>
                </a:extLst>
              </a:tr>
              <a:tr h="50166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94</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メール文書削除</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月次指定時刻）により、システムが送受信したメールログ等のうち、保存期間を経過した不要なメール関連文書を自動的に削除できること。処理結果はシステム管理者に通知され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527653392"/>
                  </a:ext>
                </a:extLst>
              </a:tr>
              <a:tr h="335545">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95</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不要文書削除</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月次指定時刻）により、完全に不要となった文書（例：削除フラグ設定後、一定期間経過した文書）を物理的に削除できること。処理結果はシステム管理者に通知され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820712109"/>
                  </a:ext>
                </a:extLst>
              </a:tr>
              <a:tr h="50166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96</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旧版ソースファイル削除</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月次指定時刻）により、旧版となった文書に添付されているソースファイル等のうち、保管ポリシーに基づき不要と判断されたものを自動的に削除できること。処理結果はシステム管理者に通知され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358513294"/>
                  </a:ext>
                </a:extLst>
              </a:tr>
              <a:tr h="83389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97</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督促メール送信＊納入仕様書</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日次指定時刻）により、納入仕様書の承認プロセスにおいて、予め設定された督促基準日及び督促日数を超過しても未処理の案件を検出し、該当の未承認者及び関係者に督促通知（メール等）を自動的に送信できること。督促機能の利用有無、通知内容、督促日数のカウント方法（例：営業日のみ）はシステム設定により制御できること。督促対象期間も設定できること。処理結果はシステム管理者に通知され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798067126"/>
                  </a:ext>
                </a:extLst>
              </a:tr>
              <a:tr h="83389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98</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督促メール送信＊一般規格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日次指定時刻）により、一般規格書の承認プロセスにおいて、予め設定された督促基準日及び督促日数を超過しても未処理の案件を検出し、該当の未承認者及び関係者に督促通知（メール等）を自動的に送信できること。督促機能の利用有無、通知内容、督促日数のカウント方法（例：営業日のみ）はシステム設定により制御できること。督促対象期間も設定できること。処理結果はシステム管理者に通知され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713822153"/>
                  </a:ext>
                </a:extLst>
              </a:tr>
              <a:tr h="50166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99</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廃版置換</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日次指定時刻）により、廃版となった文書に対応する旧版文書を自動的に検索し、それらの旧版文書のステータスも「廃版」に更新し、文書種類に応じた開示範囲を再設定できること。処理結果はシステム管理者に通知され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039079646"/>
                  </a:ext>
                </a:extLst>
              </a:tr>
              <a:tr h="50166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100</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補助項目反映</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日次指定時刻）により、文書種類マスター等で設定変更された補助項目情報を、関連する既存の全文書に一括で反映できること。反映対象となる文書種類やタイミングはシステム設定で制御できること。処理結果はシステム管理者に通知され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216497497"/>
                  </a:ext>
                </a:extLst>
              </a:tr>
            </a:tbl>
          </a:graphicData>
        </a:graphic>
      </p:graphicFrame>
    </p:spTree>
    <p:extLst>
      <p:ext uri="{BB962C8B-B14F-4D97-AF65-F5344CB8AC3E}">
        <p14:creationId xmlns:p14="http://schemas.microsoft.com/office/powerpoint/2010/main" val="12934960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64689-F7E0-D2F9-56FF-F8587D583D1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A49342F-9EFE-C639-81D0-71975EF6ACFC}"/>
              </a:ext>
            </a:extLst>
          </p:cNvPr>
          <p:cNvSpPr>
            <a:spLocks noGrp="1"/>
          </p:cNvSpPr>
          <p:nvPr>
            <p:ph type="title"/>
          </p:nvPr>
        </p:nvSpPr>
        <p:spPr>
          <a:xfrm>
            <a:off x="414336" y="255263"/>
            <a:ext cx="9327072" cy="683629"/>
          </a:xfrm>
        </p:spPr>
        <p:txBody>
          <a:bodyPr>
            <a:normAutofit/>
          </a:bodyPr>
          <a:lstStyle/>
          <a:p>
            <a:r>
              <a:rPr lang="ja-JP" altLang="en-US" dirty="0"/>
              <a:t>プロジェクト重要検討事項</a:t>
            </a:r>
            <a:endParaRPr lang="zh-CN" altLang="en-US" dirty="0"/>
          </a:p>
        </p:txBody>
      </p:sp>
      <p:graphicFrame>
        <p:nvGraphicFramePr>
          <p:cNvPr id="4" name="表 3">
            <a:extLst>
              <a:ext uri="{FF2B5EF4-FFF2-40B4-BE49-F238E27FC236}">
                <a16:creationId xmlns:a16="http://schemas.microsoft.com/office/drawing/2014/main" id="{D1F2B9F7-D95B-1715-0897-B3D4CFA7E58A}"/>
              </a:ext>
            </a:extLst>
          </p:cNvPr>
          <p:cNvGraphicFramePr>
            <a:graphicFrameLocks noGrp="1"/>
          </p:cNvGraphicFramePr>
          <p:nvPr>
            <p:extLst>
              <p:ext uri="{D42A27DB-BD31-4B8C-83A1-F6EECF244321}">
                <p14:modId xmlns:p14="http://schemas.microsoft.com/office/powerpoint/2010/main" val="251365849"/>
              </p:ext>
            </p:extLst>
          </p:nvPr>
        </p:nvGraphicFramePr>
        <p:xfrm>
          <a:off x="532873" y="938893"/>
          <a:ext cx="11126254" cy="5307904"/>
        </p:xfrm>
        <a:graphic>
          <a:graphicData uri="http://schemas.openxmlformats.org/drawingml/2006/table">
            <a:tbl>
              <a:tblPr firstRow="1" bandRow="1">
                <a:tableStyleId>{7DF18680-E054-41AD-8BC1-D1AEF772440D}</a:tableStyleId>
              </a:tblPr>
              <a:tblGrid>
                <a:gridCol w="375261">
                  <a:extLst>
                    <a:ext uri="{9D8B030D-6E8A-4147-A177-3AD203B41FA5}">
                      <a16:colId xmlns:a16="http://schemas.microsoft.com/office/drawing/2014/main" val="2481844383"/>
                    </a:ext>
                  </a:extLst>
                </a:gridCol>
                <a:gridCol w="1878715">
                  <a:extLst>
                    <a:ext uri="{9D8B030D-6E8A-4147-A177-3AD203B41FA5}">
                      <a16:colId xmlns:a16="http://schemas.microsoft.com/office/drawing/2014/main" val="2412485662"/>
                    </a:ext>
                  </a:extLst>
                </a:gridCol>
                <a:gridCol w="846461">
                  <a:extLst>
                    <a:ext uri="{9D8B030D-6E8A-4147-A177-3AD203B41FA5}">
                      <a16:colId xmlns:a16="http://schemas.microsoft.com/office/drawing/2014/main" val="1209637643"/>
                    </a:ext>
                  </a:extLst>
                </a:gridCol>
                <a:gridCol w="846461">
                  <a:extLst>
                    <a:ext uri="{9D8B030D-6E8A-4147-A177-3AD203B41FA5}">
                      <a16:colId xmlns:a16="http://schemas.microsoft.com/office/drawing/2014/main" val="1385327848"/>
                    </a:ext>
                  </a:extLst>
                </a:gridCol>
                <a:gridCol w="747011">
                  <a:extLst>
                    <a:ext uri="{9D8B030D-6E8A-4147-A177-3AD203B41FA5}">
                      <a16:colId xmlns:a16="http://schemas.microsoft.com/office/drawing/2014/main" val="240944020"/>
                    </a:ext>
                  </a:extLst>
                </a:gridCol>
                <a:gridCol w="6432345">
                  <a:extLst>
                    <a:ext uri="{9D8B030D-6E8A-4147-A177-3AD203B41FA5}">
                      <a16:colId xmlns:a16="http://schemas.microsoft.com/office/drawing/2014/main" val="187323411"/>
                    </a:ext>
                  </a:extLst>
                </a:gridCol>
              </a:tblGrid>
              <a:tr h="276624">
                <a:tc>
                  <a:txBody>
                    <a:bodyPr/>
                    <a:lstStyle/>
                    <a:p>
                      <a:pPr marL="0" algn="ctr" defTabSz="914400" rtl="0" eaLnBrk="1" fontAlgn="b" latinLnBrk="0" hangingPunct="1"/>
                      <a:r>
                        <a:rPr lang="en-US" altLang="ja-JP" sz="1100" b="0" i="0" u="none" strike="noStrike" kern="1200">
                          <a:solidFill>
                            <a:schemeClr val="bg1"/>
                          </a:solidFill>
                          <a:effectLst/>
                          <a:latin typeface="Meiryo UI" panose="020B0604030504040204" pitchFamily="50" charset="-128"/>
                          <a:ea typeface="Meiryo UI" panose="020B0604030504040204" pitchFamily="50" charset="-128"/>
                          <a:cs typeface="+mn-cs"/>
                        </a:rPr>
                        <a:t>No.</a:t>
                      </a:r>
                      <a:endParaRPr lang="ja-JP" altLang="en-US" sz="1100" b="0" i="0" u="none" strike="noStrike" kern="1200">
                        <a:solidFill>
                          <a:schemeClr val="bg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bg1"/>
                          </a:solidFill>
                          <a:effectLst/>
                        </a:rPr>
                        <a:t>リスク内容</a:t>
                      </a:r>
                      <a:endParaRPr lang="de-DE" sz="1100" b="0" i="0" u="none" strike="noStrike" kern="1200">
                        <a:solidFill>
                          <a:schemeClr val="bg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i="0" u="none" strike="noStrike" kern="1200" dirty="0">
                          <a:solidFill>
                            <a:schemeClr val="bg1"/>
                          </a:solidFill>
                          <a:effectLst/>
                          <a:latin typeface="Meiryo UI" panose="020B0604030504040204" pitchFamily="50" charset="-128"/>
                          <a:ea typeface="Meiryo UI" panose="020B0604030504040204" pitchFamily="50" charset="-128"/>
                          <a:cs typeface="+mn-cs"/>
                        </a:rPr>
                        <a:t>分類</a:t>
                      </a:r>
                      <a:endParaRPr lang="de-DE" sz="1100" b="0" i="0" u="none" strike="noStrike" kern="1200" dirty="0">
                        <a:solidFill>
                          <a:schemeClr val="bg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i="0" u="none" strike="noStrike" kern="1200" dirty="0">
                          <a:solidFill>
                            <a:schemeClr val="bg1"/>
                          </a:solidFill>
                          <a:effectLst/>
                          <a:latin typeface="Meiryo UI" panose="020B0604030504040204" pitchFamily="50" charset="-128"/>
                          <a:ea typeface="Meiryo UI" panose="020B0604030504040204" pitchFamily="50" charset="-128"/>
                          <a:cs typeface="+mn-cs"/>
                        </a:rPr>
                        <a:t>リスクあり</a:t>
                      </a:r>
                      <a:endParaRPr lang="de-DE" sz="1100" b="0" i="0" u="none" strike="noStrike" kern="1200" dirty="0">
                        <a:solidFill>
                          <a:schemeClr val="bg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100" b="0" i="0" u="none" strike="noStrike" kern="1200" dirty="0">
                          <a:solidFill>
                            <a:schemeClr val="bg1"/>
                          </a:solidFill>
                          <a:effectLst/>
                          <a:latin typeface="Meiryo UI" panose="020B0604030504040204" pitchFamily="50" charset="-128"/>
                          <a:ea typeface="Meiryo UI" panose="020B0604030504040204" pitchFamily="50" charset="-128"/>
                          <a:cs typeface="+mn-cs"/>
                        </a:rPr>
                        <a:t>POC</a:t>
                      </a:r>
                      <a:r>
                        <a:rPr lang="ja-JP" altLang="en-US" sz="1100" b="0" i="0" u="none" strike="noStrike" kern="1200" dirty="0">
                          <a:solidFill>
                            <a:schemeClr val="bg1"/>
                          </a:solidFill>
                          <a:effectLst/>
                          <a:latin typeface="Meiryo UI" panose="020B0604030504040204" pitchFamily="50" charset="-128"/>
                          <a:ea typeface="Meiryo UI" panose="020B0604030504040204" pitchFamily="50" charset="-128"/>
                          <a:cs typeface="+mn-cs"/>
                        </a:rPr>
                        <a:t>対象</a:t>
                      </a:r>
                      <a:endParaRPr lang="de-DE" sz="1100" b="0" i="0" u="none" strike="noStrike" kern="1200" dirty="0">
                        <a:solidFill>
                          <a:schemeClr val="bg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bg1"/>
                          </a:solidFill>
                          <a:effectLst/>
                        </a:rPr>
                        <a:t>説明</a:t>
                      </a:r>
                      <a:endParaRPr lang="ja-JP" altLang="en-US" sz="1100" b="0" i="0" u="none" strike="noStrike" kern="1200">
                        <a:solidFill>
                          <a:schemeClr val="bg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3239716863"/>
                  </a:ext>
                </a:extLst>
              </a:tr>
              <a:tr h="276624">
                <a:tc>
                  <a:txBody>
                    <a:bodyPr/>
                    <a:lstStyle/>
                    <a:p>
                      <a:pPr marL="0" algn="ctr" defTabSz="914400" rtl="0" eaLnBrk="1" fontAlgn="b" latinLnBrk="0" hangingPunct="1"/>
                      <a:r>
                        <a:rPr lang="en-US" altLang="ja-JP" sz="1100" b="0" u="none" strike="noStrike" kern="1200">
                          <a:solidFill>
                            <a:schemeClr val="tx1"/>
                          </a:solidFill>
                          <a:effectLst/>
                          <a:latin typeface="+mn-lt"/>
                          <a:ea typeface="+mn-ea"/>
                          <a:cs typeface="+mn-cs"/>
                        </a:rPr>
                        <a:t>1</a:t>
                      </a:r>
                      <a:endParaRPr lang="ja-JP" altLang="en-US"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データ移行時の整合性</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移行</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ctr"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ー</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ctr"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ー</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会社毎に実施</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597438182"/>
                  </a:ext>
                </a:extLst>
              </a:tr>
              <a:tr h="276624">
                <a:tc>
                  <a:txBody>
                    <a:bodyPr/>
                    <a:lstStyle/>
                    <a:p>
                      <a:pPr marL="0" algn="ctr" defTabSz="914400" rtl="0" eaLnBrk="1" fontAlgn="b" latinLnBrk="0" hangingPunct="1"/>
                      <a:r>
                        <a:rPr lang="en-US" altLang="ja-JP" sz="1100" b="0" u="none" strike="noStrike" kern="1200" dirty="0">
                          <a:solidFill>
                            <a:schemeClr val="tx1"/>
                          </a:solidFill>
                          <a:effectLst/>
                          <a:latin typeface="+mn-lt"/>
                          <a:ea typeface="+mn-ea"/>
                          <a:cs typeface="+mn-cs"/>
                        </a:rPr>
                        <a:t>2</a:t>
                      </a:r>
                      <a:endParaRPr lang="ja-JP" altLang="en-US"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Office</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統合の互換性</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システム</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ctr"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ー</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ctr"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ー</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MCC</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様標準業務用機器（予インストールオフィスバージョンに限定）</a:t>
                      </a:r>
                    </a:p>
                  </a:txBody>
                  <a:tcPr marL="0" marR="0" marT="0" marB="0" anchor="ctr"/>
                </a:tc>
                <a:extLst>
                  <a:ext uri="{0D108BD9-81ED-4DB2-BD59-A6C34878D82A}">
                    <a16:rowId xmlns:a16="http://schemas.microsoft.com/office/drawing/2014/main" val="2178132955"/>
                  </a:ext>
                </a:extLst>
              </a:tr>
              <a:tr h="276624">
                <a:tc>
                  <a:txBody>
                    <a:bodyPr/>
                    <a:lstStyle/>
                    <a:p>
                      <a:pPr marL="0" algn="ctr" defTabSz="914400" rtl="0" eaLnBrk="1" fontAlgn="b" latinLnBrk="0" hangingPunct="1"/>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3</a:t>
                      </a:r>
                      <a:endPar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File Batch</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 </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Download</a:t>
                      </a:r>
                    </a:p>
                  </a:txBody>
                  <a:tcPr marL="0" marR="0" marT="0" marB="0" anchor="ctr"/>
                </a:tc>
                <a:tc>
                  <a:txBody>
                    <a:bodyPr/>
                    <a:lstStyle/>
                    <a:p>
                      <a:pPr marL="0" algn="l"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システム</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ctr"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〇</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ctr" defTabSz="914400" rtl="0" eaLnBrk="1" fontAlgn="b" latinLnBrk="0" hangingPunct="1"/>
                      <a:r>
                        <a:rPr lang="ja-JP" altLang="en-US" sz="1100" b="0" i="0" u="none" strike="noStrike" kern="1200" noProof="0" dirty="0">
                          <a:solidFill>
                            <a:schemeClr val="tx1"/>
                          </a:solidFill>
                          <a:effectLst/>
                          <a:latin typeface="Meiryo UI" panose="020B0604030504040204" pitchFamily="50" charset="-128"/>
                          <a:ea typeface="Meiryo UI" panose="020B0604030504040204" pitchFamily="50" charset="-128"/>
                          <a:cs typeface="+mn-cs"/>
                        </a:rPr>
                        <a:t>○</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Html Page</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の</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JavaScript</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で複数ファイルを指定場所にそれぞれ保存の実機検証</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4200175862"/>
                  </a:ext>
                </a:extLst>
              </a:tr>
              <a:tr h="276624">
                <a:tc>
                  <a:txBody>
                    <a:bodyPr/>
                    <a:lstStyle/>
                    <a:p>
                      <a:pPr marL="0" algn="ctr" defTabSz="914400" rtl="0" eaLnBrk="1" fontAlgn="b" latinLnBrk="0" hangingPunct="1"/>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4</a:t>
                      </a:r>
                      <a:endPar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Guest</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ユーザの対応</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システム</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ctr"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〇</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ctr"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ー</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非</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MCC</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様</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 Domain</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ユーザの利用可能性検討。必要な場合、</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POC</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検証、依存性処理</a:t>
                      </a:r>
                    </a:p>
                  </a:txBody>
                  <a:tcPr marL="0" marR="0" marT="0" marB="0" anchor="ctr"/>
                </a:tc>
                <a:extLst>
                  <a:ext uri="{0D108BD9-81ED-4DB2-BD59-A6C34878D82A}">
                    <a16:rowId xmlns:a16="http://schemas.microsoft.com/office/drawing/2014/main" val="1757612833"/>
                  </a:ext>
                </a:extLst>
              </a:tr>
              <a:tr h="1106495">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5</a:t>
                      </a:r>
                      <a:endPar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各社の具体仕様面（操作面含む）に差異が出る</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具体業務</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ctr"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〇</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ctr"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ー</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本質的にはこれは現行要件の変更、変更</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Buffer</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を事前に用意</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p>
                      <a:pPr marL="0" algn="l"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３</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Round</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分けて開発計画</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p>
                      <a:pPr marL="228600" indent="-228600" algn="l" defTabSz="914400" rtl="0" eaLnBrk="1" fontAlgn="b" latinLnBrk="0" hangingPunct="1">
                        <a:buFont typeface="+mj-lt"/>
                        <a:buAutoNum type="arabicPeriod"/>
                      </a:pP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Round1</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には機能主体、すべてのパターンをカバー</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p>
                      <a:pPr marL="228600" indent="-228600" algn="l" defTabSz="914400" rtl="0" eaLnBrk="1" fontAlgn="b" latinLnBrk="0" hangingPunct="1">
                        <a:buFont typeface="+mj-lt"/>
                        <a:buAutoNum type="arabicPeriod"/>
                      </a:pP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Round2,3</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は段階的に移行を実施（</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Notes</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歴史データが閲覧可能ように）、個別要望対応、検収</a:t>
                      </a:r>
                    </a:p>
                  </a:txBody>
                  <a:tcPr marL="0" marR="0" marT="0" marB="0" anchor="ctr"/>
                </a:tc>
                <a:extLst>
                  <a:ext uri="{0D108BD9-81ED-4DB2-BD59-A6C34878D82A}">
                    <a16:rowId xmlns:a16="http://schemas.microsoft.com/office/drawing/2014/main" val="2757891935"/>
                  </a:ext>
                </a:extLst>
              </a:tr>
              <a:tr h="881924">
                <a:tc>
                  <a:txBody>
                    <a:bodyPr/>
                    <a:lstStyle/>
                    <a:p>
                      <a:pPr marL="0" algn="ctr" defTabSz="914400" rtl="0" eaLnBrk="1" fontAlgn="b" latinLnBrk="0" hangingPunct="1"/>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6</a:t>
                      </a:r>
                      <a:endPar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添付ファイルの権限制御の検証</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marR="0" lvl="0" indent="0" algn="l" defTabSz="914400" rtl="0" eaLnBrk="1" fontAlgn="b" latinLnBrk="0" hangingPunct="1">
                        <a:lnSpc>
                          <a:spcPct val="100000"/>
                        </a:lnSpc>
                        <a:spcBef>
                          <a:spcPts val="0"/>
                        </a:spcBef>
                        <a:spcAft>
                          <a:spcPts val="0"/>
                        </a:spcAft>
                        <a:buClrTx/>
                        <a:buSzTx/>
                        <a:buFont typeface="+mj-lt"/>
                        <a:buNone/>
                        <a:tabLst/>
                        <a:defRPr/>
                      </a:pP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権限</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marR="0" lvl="0" indent="0" algn="ctr" defTabSz="914400" rtl="0" eaLnBrk="1" fontAlgn="b" latinLnBrk="0" hangingPunct="1">
                        <a:lnSpc>
                          <a:spcPct val="100000"/>
                        </a:lnSpc>
                        <a:spcBef>
                          <a:spcPts val="0"/>
                        </a:spcBef>
                        <a:spcAft>
                          <a:spcPts val="0"/>
                        </a:spcAft>
                        <a:buClrTx/>
                        <a:buSzTx/>
                        <a:buFont typeface="+mj-lt"/>
                        <a:buNone/>
                        <a:tabLst/>
                        <a:defRPr/>
                      </a:pP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ー</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171450" marR="0" lvl="0" indent="-1714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閲覧権限ありの仕様書の添付ファイルのみが直接叩き開く（オンライン編集含む）の実機検証</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p>
                      <a:pPr marL="171450" marR="0" lvl="0" indent="-1714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閲覧権限ありの仕様書の添付ファイルのみが検索結果に出るの実機検証</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600835017"/>
                  </a:ext>
                </a:extLst>
              </a:tr>
              <a:tr h="829871">
                <a:tc>
                  <a:txBody>
                    <a:bodyPr/>
                    <a:lstStyle/>
                    <a:p>
                      <a:pPr marL="0" algn="ctr" defTabSz="914400" rtl="0" eaLnBrk="1" fontAlgn="b" latinLnBrk="0" hangingPunct="1"/>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7</a:t>
                      </a:r>
                      <a:endPar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添付ファイルの権限制御の性能検証</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性能</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〇</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ja-JP" altLang="en-US" sz="1100" b="0" i="0" u="none" strike="noStrike" kern="1200" noProof="0" dirty="0">
                          <a:solidFill>
                            <a:schemeClr val="tx1"/>
                          </a:solidFill>
                          <a:effectLst/>
                          <a:latin typeface="Meiryo UI" panose="020B0604030504040204" pitchFamily="50" charset="-128"/>
                          <a:ea typeface="Meiryo UI" panose="020B0604030504040204" pitchFamily="50" charset="-128"/>
                          <a:cs typeface="+mn-cs"/>
                        </a:rPr>
                        <a:t>〇</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機能面に実績があるので、</a:t>
                      </a:r>
                      <a:r>
                        <a:rPr lang="ja-JP" altLang="en-US" sz="1100" b="0" i="0" u="none" strike="noStrike" kern="1200" dirty="0">
                          <a:solidFill>
                            <a:srgbClr val="FF0000"/>
                          </a:solidFill>
                          <a:effectLst/>
                          <a:latin typeface="Meiryo UI" panose="020B0604030504040204" pitchFamily="50" charset="-128"/>
                          <a:ea typeface="Meiryo UI" panose="020B0604030504040204" pitchFamily="50" charset="-128"/>
                          <a:cs typeface="+mn-cs"/>
                        </a:rPr>
                        <a:t>主に性能観点の確認。</a:t>
                      </a:r>
                      <a:endParaRPr lang="en-US" altLang="ja-JP" sz="1100" b="0" i="0" u="none" strike="noStrike" kern="1200" dirty="0">
                        <a:solidFill>
                          <a:srgbClr val="FF0000"/>
                        </a:solidFill>
                        <a:effectLst/>
                        <a:latin typeface="Meiryo UI" panose="020B0604030504040204" pitchFamily="50" charset="-128"/>
                        <a:ea typeface="Meiryo UI" panose="020B0604030504040204" pitchFamily="50" charset="-128"/>
                        <a:cs typeface="+mn-cs"/>
                      </a:endParaRPr>
                    </a:p>
                    <a:p>
                      <a:pPr marL="0" algn="l" defTabSz="914400" rtl="0" eaLnBrk="1" fontAlgn="b" latinLnBrk="0" hangingPunct="1"/>
                      <a:r>
                        <a:rPr kumimoji="0" lang="en-US" altLang="ja-JP" sz="1100" kern="1200" dirty="0">
                          <a:solidFill>
                            <a:schemeClr val="tx1"/>
                          </a:solidFill>
                          <a:latin typeface="Arial" panose="020B0604020202020204" pitchFamily="34" charset="0"/>
                          <a:ea typeface="+mn-ea"/>
                          <a:cs typeface="+mn-cs"/>
                        </a:rPr>
                        <a:t>※</a:t>
                      </a:r>
                      <a:r>
                        <a:rPr kumimoji="0" lang="ja-JP" altLang="en-US" sz="1100" kern="1200" dirty="0">
                          <a:solidFill>
                            <a:schemeClr val="tx1"/>
                          </a:solidFill>
                          <a:latin typeface="Arial" panose="020B0604020202020204" pitchFamily="34" charset="0"/>
                          <a:ea typeface="+mn-ea"/>
                          <a:cs typeface="+mn-cs"/>
                        </a:rPr>
                        <a:t>　</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権限</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Group(DB</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で管理される論理</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Group)</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が変更されるときに、すでに登録済みの仕様書の添付ファイルに対して、承認フローの状態に合わせて、</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SPO</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に保存する添付ファイル毎のユーザ毎の権限再設定</a:t>
                      </a:r>
                    </a:p>
                  </a:txBody>
                  <a:tcPr marL="0" marR="0" marT="0" marB="0" anchor="ctr"/>
                </a:tc>
                <a:extLst>
                  <a:ext uri="{0D108BD9-81ED-4DB2-BD59-A6C34878D82A}">
                    <a16:rowId xmlns:a16="http://schemas.microsoft.com/office/drawing/2014/main" val="2592905887"/>
                  </a:ext>
                </a:extLst>
              </a:tr>
              <a:tr h="553247">
                <a:tc>
                  <a:txBody>
                    <a:bodyPr/>
                    <a:lstStyle/>
                    <a:p>
                      <a:pPr marL="0" algn="ctr" defTabSz="914400" rtl="0" eaLnBrk="1" fontAlgn="b" latinLnBrk="0" hangingPunct="1"/>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9</a:t>
                      </a:r>
                      <a:endPar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全体性能</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Facility</a:t>
                      </a:r>
                    </a:p>
                  </a:txBody>
                  <a:tcPr marL="0" marR="0" marT="0" marB="0" anchor="ctr"/>
                </a:tc>
                <a:tc>
                  <a:txBody>
                    <a:bodyPr/>
                    <a:lstStyle/>
                    <a:p>
                      <a:pPr marL="0" algn="l"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性能</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ctr"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〇</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ctr" defTabSz="914400" rtl="0" eaLnBrk="1" fontAlgn="b" latinLnBrk="0" hangingPunct="1"/>
                      <a:r>
                        <a:rPr lang="ja-JP" altLang="en-US" sz="1100" b="0" i="0" u="none" strike="noStrike" kern="1200" noProof="0" dirty="0">
                          <a:solidFill>
                            <a:schemeClr val="tx1"/>
                          </a:solidFill>
                          <a:effectLst/>
                          <a:latin typeface="Meiryo UI" panose="020B0604030504040204" pitchFamily="50" charset="-128"/>
                          <a:ea typeface="Meiryo UI" panose="020B0604030504040204" pitchFamily="50" charset="-128"/>
                          <a:cs typeface="+mn-cs"/>
                        </a:rPr>
                        <a:t>○</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Dummy</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データを利用した性能評価、</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10</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年間データ、</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20000</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ユーザを想定で、</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Sizing</a:t>
                      </a:r>
                    </a:p>
                    <a:p>
                      <a:pPr marL="0" marR="0" lvl="0" indent="0" algn="l" defTabSz="914400" rtl="0" eaLnBrk="1" fontAlgn="b" latinLnBrk="0" hangingPunct="1">
                        <a:lnSpc>
                          <a:spcPct val="100000"/>
                        </a:lnSpc>
                        <a:spcBef>
                          <a:spcPts val="0"/>
                        </a:spcBef>
                        <a:spcAft>
                          <a:spcPts val="0"/>
                        </a:spcAft>
                        <a:buClrTx/>
                        <a:buSzTx/>
                        <a:buFontTx/>
                        <a:buNone/>
                        <a:tabLst/>
                        <a:defRPr/>
                      </a:pP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（一覧、</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Export</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中心）</a:t>
                      </a:r>
                    </a:p>
                  </a:txBody>
                  <a:tcPr marL="0" marR="0" marT="0" marB="0" anchor="ctr"/>
                </a:tc>
                <a:extLst>
                  <a:ext uri="{0D108BD9-81ED-4DB2-BD59-A6C34878D82A}">
                    <a16:rowId xmlns:a16="http://schemas.microsoft.com/office/drawing/2014/main" val="3562567830"/>
                  </a:ext>
                </a:extLst>
              </a:tr>
              <a:tr h="553247">
                <a:tc>
                  <a:txBody>
                    <a:bodyPr/>
                    <a:lstStyle/>
                    <a:p>
                      <a:pPr marL="0" algn="ctr" defTabSz="914400" rtl="0" eaLnBrk="1" fontAlgn="b" latinLnBrk="0" hangingPunct="1"/>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10</a:t>
                      </a:r>
                      <a:endPar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利用者は必要な項目に応じてビューの設定</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marR="0" lvl="0" indent="0" algn="l" defTabSz="914400" rtl="0" eaLnBrk="1" fontAlgn="b" latinLnBrk="0" hangingPunct="1">
                        <a:lnSpc>
                          <a:spcPct val="100000"/>
                        </a:lnSpc>
                        <a:spcBef>
                          <a:spcPts val="0"/>
                        </a:spcBef>
                        <a:spcAft>
                          <a:spcPts val="0"/>
                        </a:spcAft>
                        <a:buClrTx/>
                        <a:buSzTx/>
                        <a:buFont typeface="+mj-lt"/>
                        <a:buNone/>
                        <a:tabLst/>
                        <a:defRPr/>
                      </a:pP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性能</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marR="0" lvl="0" indent="0" algn="ctr" defTabSz="914400" rtl="0" eaLnBrk="1" fontAlgn="b" latinLnBrk="0" hangingPunct="1">
                        <a:lnSpc>
                          <a:spcPct val="100000"/>
                        </a:lnSpc>
                        <a:spcBef>
                          <a:spcPts val="0"/>
                        </a:spcBef>
                        <a:spcAft>
                          <a:spcPts val="0"/>
                        </a:spcAft>
                        <a:buClrTx/>
                        <a:buSzTx/>
                        <a:buFont typeface="+mj-lt"/>
                        <a:buNone/>
                        <a:tabLst/>
                        <a:defRPr/>
                      </a:pP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〇</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ctr"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要検討</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主に性能観点の評価、性能評価次第、該当機能の本番機能対象にする・にしない（実装面の技術リスクがない）</a:t>
                      </a:r>
                    </a:p>
                  </a:txBody>
                  <a:tcPr marL="0" marR="0" marT="0" marB="0" anchor="ctr"/>
                </a:tc>
                <a:extLst>
                  <a:ext uri="{0D108BD9-81ED-4DB2-BD59-A6C34878D82A}">
                    <a16:rowId xmlns:a16="http://schemas.microsoft.com/office/drawing/2014/main" val="1043138237"/>
                  </a:ext>
                </a:extLst>
              </a:tr>
            </a:tbl>
          </a:graphicData>
        </a:graphic>
      </p:graphicFrame>
    </p:spTree>
    <p:extLst>
      <p:ext uri="{BB962C8B-B14F-4D97-AF65-F5344CB8AC3E}">
        <p14:creationId xmlns:p14="http://schemas.microsoft.com/office/powerpoint/2010/main" val="13258863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65B37-079E-4621-E6A1-D4D3ABF71AF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5DC5037-33B3-F5A8-9A9B-9180AA6742ED}"/>
              </a:ext>
            </a:extLst>
          </p:cNvPr>
          <p:cNvSpPr>
            <a:spLocks noGrp="1"/>
          </p:cNvSpPr>
          <p:nvPr>
            <p:ph type="title"/>
          </p:nvPr>
        </p:nvSpPr>
        <p:spPr>
          <a:xfrm>
            <a:off x="414336" y="255263"/>
            <a:ext cx="9327072" cy="683629"/>
          </a:xfrm>
        </p:spPr>
        <p:txBody>
          <a:bodyPr>
            <a:normAutofit/>
          </a:bodyPr>
          <a:lstStyle/>
          <a:p>
            <a:r>
              <a:rPr lang="ja-JP" altLang="en-US" dirty="0"/>
              <a:t>スケジュール</a:t>
            </a:r>
            <a:endParaRPr lang="zh-CN" altLang="en-US" dirty="0">
              <a:effectLst/>
            </a:endParaRPr>
          </a:p>
        </p:txBody>
      </p:sp>
      <p:sp>
        <p:nvSpPr>
          <p:cNvPr id="10" name="四角形: 角を丸くする 9">
            <a:extLst>
              <a:ext uri="{FF2B5EF4-FFF2-40B4-BE49-F238E27FC236}">
                <a16:creationId xmlns:a16="http://schemas.microsoft.com/office/drawing/2014/main" id="{28024763-2637-B1F5-D64F-BDA01A756097}"/>
              </a:ext>
            </a:extLst>
          </p:cNvPr>
          <p:cNvSpPr/>
          <p:nvPr/>
        </p:nvSpPr>
        <p:spPr bwMode="gray">
          <a:xfrm>
            <a:off x="1058675" y="1831368"/>
            <a:ext cx="10398783" cy="4012364"/>
          </a:xfrm>
          <a:prstGeom prst="roundRect">
            <a:avLst>
              <a:gd name="adj" fmla="val 3324"/>
            </a:avLst>
          </a:prstGeom>
          <a:gradFill>
            <a:gsLst>
              <a:gs pos="0">
                <a:srgbClr val="FFC000"/>
              </a:gs>
              <a:gs pos="50000">
                <a:srgbClr val="FDF0CC"/>
              </a:gs>
              <a:gs pos="100000">
                <a:schemeClr val="accent6">
                  <a:lumMod val="105000"/>
                  <a:satMod val="109000"/>
                  <a:tint val="81000"/>
                </a:schemeClr>
              </a:gs>
            </a:gsLst>
          </a:gradFill>
          <a:ln>
            <a:solidFill>
              <a:srgbClr val="0070C0"/>
            </a:solidFill>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auto" latinLnBrk="0" hangingPunct="1">
              <a:lnSpc>
                <a:spcPct val="100000"/>
              </a:lnSpc>
              <a:spcBef>
                <a:spcPct val="0"/>
              </a:spcBef>
              <a:spcAft>
                <a:spcPct val="0"/>
              </a:spcAft>
              <a:buClrTx/>
              <a:buSzTx/>
              <a:buFontTx/>
              <a:buNone/>
              <a:tabLst/>
              <a:defRPr/>
            </a:pPr>
            <a:r>
              <a:rPr kumimoji="1" lang="ja-JP" altLang="en-US" sz="1200" b="0" i="0" u="none" strike="noStrike" kern="0" cap="none" spc="0" normalizeH="0" baseline="0" noProof="0">
                <a:ln>
                  <a:noFill/>
                </a:ln>
                <a:solidFill>
                  <a:prstClr val="black"/>
                </a:solidFill>
                <a:effectLst/>
                <a:uLnTx/>
                <a:uFillTx/>
                <a:latin typeface="Arial"/>
                <a:ea typeface="Yu Gothic UI"/>
                <a:cs typeface="Arial"/>
              </a:rPr>
              <a:t>UI見直す、DB統合再構築</a:t>
            </a:r>
          </a:p>
        </p:txBody>
      </p:sp>
      <p:sp>
        <p:nvSpPr>
          <p:cNvPr id="11" name="四角形: 角を丸くする 10">
            <a:extLst>
              <a:ext uri="{FF2B5EF4-FFF2-40B4-BE49-F238E27FC236}">
                <a16:creationId xmlns:a16="http://schemas.microsoft.com/office/drawing/2014/main" id="{F2D43134-EC2A-1320-E944-9688421C95EA}"/>
              </a:ext>
            </a:extLst>
          </p:cNvPr>
          <p:cNvSpPr/>
          <p:nvPr/>
        </p:nvSpPr>
        <p:spPr bwMode="gray">
          <a:xfrm>
            <a:off x="1238487" y="1953321"/>
            <a:ext cx="2754964" cy="262504"/>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algn="ctr" fontAlgn="b"/>
            <a:r>
              <a:rPr kumimoji="0" lang="ja-JP" altLang="en-US" sz="1200" kern="0" dirty="0">
                <a:solidFill>
                  <a:srgbClr val="000000"/>
                </a:solidFill>
                <a:latin typeface="Arial"/>
                <a:ea typeface="Yu Gothic UI"/>
                <a:cs typeface="Arial" panose="020B0604020202020204" pitchFamily="34" charset="0"/>
              </a:rPr>
              <a:t>要件定義理解、仕様確認</a:t>
            </a:r>
          </a:p>
        </p:txBody>
      </p:sp>
      <p:sp>
        <p:nvSpPr>
          <p:cNvPr id="12" name="四角形: 角を丸くする 11">
            <a:extLst>
              <a:ext uri="{FF2B5EF4-FFF2-40B4-BE49-F238E27FC236}">
                <a16:creationId xmlns:a16="http://schemas.microsoft.com/office/drawing/2014/main" id="{C107AF1B-881D-F0E1-8FE6-1AEB4D3022EC}"/>
              </a:ext>
            </a:extLst>
          </p:cNvPr>
          <p:cNvSpPr/>
          <p:nvPr/>
        </p:nvSpPr>
        <p:spPr bwMode="gray">
          <a:xfrm>
            <a:off x="1936526" y="3453513"/>
            <a:ext cx="2056925"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dirty="0">
                <a:ln>
                  <a:noFill/>
                </a:ln>
                <a:solidFill>
                  <a:srgbClr val="000000"/>
                </a:solidFill>
                <a:effectLst/>
                <a:uLnTx/>
                <a:uFillTx/>
                <a:latin typeface="Arial"/>
                <a:ea typeface="Yu Gothic UI"/>
                <a:cs typeface="Arial" panose="020B0604020202020204" pitchFamily="34" charset="0"/>
              </a:rPr>
              <a:t>システム設計（画面）</a:t>
            </a:r>
          </a:p>
        </p:txBody>
      </p:sp>
      <p:sp>
        <p:nvSpPr>
          <p:cNvPr id="13" name="四角形: 角を丸くする 12">
            <a:extLst>
              <a:ext uri="{FF2B5EF4-FFF2-40B4-BE49-F238E27FC236}">
                <a16:creationId xmlns:a16="http://schemas.microsoft.com/office/drawing/2014/main" id="{4DFB5ABB-0E71-B8E7-5E59-CB963147CFD3}"/>
              </a:ext>
            </a:extLst>
          </p:cNvPr>
          <p:cNvSpPr/>
          <p:nvPr/>
        </p:nvSpPr>
        <p:spPr bwMode="gray">
          <a:xfrm>
            <a:off x="4036547" y="3132693"/>
            <a:ext cx="3049502" cy="630763"/>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開発単体、結合試験</a:t>
            </a:r>
            <a:endPar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(Round 1)</a:t>
            </a: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 すべてパターンをカバー</a:t>
            </a: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(10</a:t>
            </a: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部署程度</a:t>
            </a: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a:t>
            </a:r>
            <a:endPar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endParaRPr>
          </a:p>
        </p:txBody>
      </p:sp>
      <p:sp>
        <p:nvSpPr>
          <p:cNvPr id="14" name="四角形: 角を丸くする 13">
            <a:extLst>
              <a:ext uri="{FF2B5EF4-FFF2-40B4-BE49-F238E27FC236}">
                <a16:creationId xmlns:a16="http://schemas.microsoft.com/office/drawing/2014/main" id="{A438ED60-12DC-DC8C-09A5-221461DF8618}"/>
              </a:ext>
            </a:extLst>
          </p:cNvPr>
          <p:cNvSpPr/>
          <p:nvPr/>
        </p:nvSpPr>
        <p:spPr bwMode="gray">
          <a:xfrm>
            <a:off x="4067773" y="3867352"/>
            <a:ext cx="2845949"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移行ツールの計画と実装</a:t>
            </a:r>
          </a:p>
        </p:txBody>
      </p:sp>
      <p:sp>
        <p:nvSpPr>
          <p:cNvPr id="21" name="四角形: 角を丸くする 20">
            <a:extLst>
              <a:ext uri="{FF2B5EF4-FFF2-40B4-BE49-F238E27FC236}">
                <a16:creationId xmlns:a16="http://schemas.microsoft.com/office/drawing/2014/main" id="{1D07EFFF-C2F3-75D8-2400-9B5E036311FA}"/>
              </a:ext>
            </a:extLst>
          </p:cNvPr>
          <p:cNvSpPr/>
          <p:nvPr/>
        </p:nvSpPr>
        <p:spPr bwMode="gray">
          <a:xfrm>
            <a:off x="7131729" y="3130324"/>
            <a:ext cx="1577386" cy="62492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Round 1</a:t>
            </a:r>
          </a:p>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MCC</a:t>
            </a: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様受け入れ、</a:t>
            </a: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UAT</a:t>
            </a:r>
            <a:endPar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endParaRPr>
          </a:p>
        </p:txBody>
      </p:sp>
      <p:sp>
        <p:nvSpPr>
          <p:cNvPr id="22" name="四角形: 角を丸くする 21">
            <a:extLst>
              <a:ext uri="{FF2B5EF4-FFF2-40B4-BE49-F238E27FC236}">
                <a16:creationId xmlns:a16="http://schemas.microsoft.com/office/drawing/2014/main" id="{AE7A92AD-BD85-372B-74DE-7E054C9664A4}"/>
              </a:ext>
            </a:extLst>
          </p:cNvPr>
          <p:cNvSpPr/>
          <p:nvPr/>
        </p:nvSpPr>
        <p:spPr bwMode="gray">
          <a:xfrm>
            <a:off x="6432858" y="4199344"/>
            <a:ext cx="1120894"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rPr>
              <a:t>マニュアル作成</a:t>
            </a:r>
          </a:p>
        </p:txBody>
      </p:sp>
      <p:cxnSp>
        <p:nvCxnSpPr>
          <p:cNvPr id="23" name="直線コネクタ 22">
            <a:extLst>
              <a:ext uri="{FF2B5EF4-FFF2-40B4-BE49-F238E27FC236}">
                <a16:creationId xmlns:a16="http://schemas.microsoft.com/office/drawing/2014/main" id="{77E29CAC-A901-EB76-CA59-D3A7821AF6E3}"/>
              </a:ext>
            </a:extLst>
          </p:cNvPr>
          <p:cNvCxnSpPr>
            <a:cxnSpLocks/>
          </p:cNvCxnSpPr>
          <p:nvPr/>
        </p:nvCxnSpPr>
        <p:spPr>
          <a:xfrm>
            <a:off x="966642" y="6042285"/>
            <a:ext cx="10800000" cy="0"/>
          </a:xfrm>
          <a:prstGeom prst="line">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4" name="直線コネクタ 23">
            <a:extLst>
              <a:ext uri="{FF2B5EF4-FFF2-40B4-BE49-F238E27FC236}">
                <a16:creationId xmlns:a16="http://schemas.microsoft.com/office/drawing/2014/main" id="{7205E5CB-276D-E47F-208B-77273075D6E4}"/>
              </a:ext>
            </a:extLst>
          </p:cNvPr>
          <p:cNvCxnSpPr>
            <a:cxnSpLocks/>
          </p:cNvCxnSpPr>
          <p:nvPr/>
        </p:nvCxnSpPr>
        <p:spPr>
          <a:xfrm>
            <a:off x="1251467"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5" name="直線コネクタ 24">
            <a:extLst>
              <a:ext uri="{FF2B5EF4-FFF2-40B4-BE49-F238E27FC236}">
                <a16:creationId xmlns:a16="http://schemas.microsoft.com/office/drawing/2014/main" id="{CAA13CB4-9610-AD46-F7D9-3341091336E7}"/>
              </a:ext>
            </a:extLst>
          </p:cNvPr>
          <p:cNvCxnSpPr>
            <a:cxnSpLocks/>
          </p:cNvCxnSpPr>
          <p:nvPr/>
        </p:nvCxnSpPr>
        <p:spPr>
          <a:xfrm>
            <a:off x="11315008"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6" name="直線コネクタ 25">
            <a:extLst>
              <a:ext uri="{FF2B5EF4-FFF2-40B4-BE49-F238E27FC236}">
                <a16:creationId xmlns:a16="http://schemas.microsoft.com/office/drawing/2014/main" id="{AC48EE47-079D-783F-E544-9A189C06D16D}"/>
              </a:ext>
            </a:extLst>
          </p:cNvPr>
          <p:cNvCxnSpPr>
            <a:cxnSpLocks/>
          </p:cNvCxnSpPr>
          <p:nvPr/>
        </p:nvCxnSpPr>
        <p:spPr>
          <a:xfrm>
            <a:off x="3981300"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7A83CE27-8FBA-DA6B-6425-07C5AF50C7E1}"/>
              </a:ext>
            </a:extLst>
          </p:cNvPr>
          <p:cNvCxnSpPr>
            <a:cxnSpLocks/>
          </p:cNvCxnSpPr>
          <p:nvPr/>
        </p:nvCxnSpPr>
        <p:spPr>
          <a:xfrm>
            <a:off x="7132064"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A68DDC3B-10CD-F423-F5E8-E0A5C5498DD7}"/>
              </a:ext>
            </a:extLst>
          </p:cNvPr>
          <p:cNvCxnSpPr>
            <a:cxnSpLocks/>
          </p:cNvCxnSpPr>
          <p:nvPr/>
        </p:nvCxnSpPr>
        <p:spPr>
          <a:xfrm>
            <a:off x="9481288"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394F86B6-8CD3-3C65-9DAF-7D7BF1ED332F}"/>
              </a:ext>
            </a:extLst>
          </p:cNvPr>
          <p:cNvSpPr txBox="1"/>
          <p:nvPr/>
        </p:nvSpPr>
        <p:spPr>
          <a:xfrm>
            <a:off x="1295149" y="5865763"/>
            <a:ext cx="565367" cy="113773"/>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Arial"/>
                <a:ea typeface="游ゴシック Medium"/>
                <a:cs typeface="+mn-cs"/>
              </a:rPr>
              <a:t>11/1</a:t>
            </a:r>
            <a:endParaRPr kumimoji="1" lang="ja-JP" altLang="en-US" sz="1000" b="0" i="0" u="none" strike="noStrike" kern="1200" cap="none" spc="0" normalizeH="0" baseline="0" noProof="0" err="1">
              <a:ln>
                <a:noFill/>
              </a:ln>
              <a:solidFill>
                <a:srgbClr val="000000"/>
              </a:solidFill>
              <a:effectLst/>
              <a:uLnTx/>
              <a:uFillTx/>
              <a:latin typeface="Arial"/>
              <a:ea typeface="游ゴシック Medium"/>
              <a:cs typeface="+mn-cs"/>
            </a:endParaRPr>
          </a:p>
        </p:txBody>
      </p:sp>
      <p:sp>
        <p:nvSpPr>
          <p:cNvPr id="32" name="テキスト ボックス 31">
            <a:extLst>
              <a:ext uri="{FF2B5EF4-FFF2-40B4-BE49-F238E27FC236}">
                <a16:creationId xmlns:a16="http://schemas.microsoft.com/office/drawing/2014/main" id="{445D4A36-746C-EB35-F7EF-FA1B870CA843}"/>
              </a:ext>
            </a:extLst>
          </p:cNvPr>
          <p:cNvSpPr txBox="1"/>
          <p:nvPr/>
        </p:nvSpPr>
        <p:spPr>
          <a:xfrm>
            <a:off x="4065715" y="5857519"/>
            <a:ext cx="669077" cy="130260"/>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000000"/>
                </a:solidFill>
                <a:effectLst/>
                <a:uLnTx/>
                <a:uFillTx/>
                <a:latin typeface="Arial"/>
                <a:ea typeface="游ゴシック Medium"/>
                <a:cs typeface="+mn-cs"/>
              </a:rPr>
              <a:t>1/6</a:t>
            </a:r>
            <a:endParaRPr kumimoji="1" lang="ja-JP" altLang="en-US" sz="1000" b="0" i="0" u="none" strike="noStrike" kern="1200" cap="none" spc="0" normalizeH="0" baseline="0" noProof="0" dirty="0">
              <a:ln>
                <a:noFill/>
              </a:ln>
              <a:solidFill>
                <a:srgbClr val="000000"/>
              </a:solidFill>
              <a:effectLst/>
              <a:uLnTx/>
              <a:uFillTx/>
              <a:latin typeface="Arial"/>
              <a:ea typeface="游ゴシック Medium"/>
              <a:cs typeface="+mn-cs"/>
            </a:endParaRPr>
          </a:p>
        </p:txBody>
      </p:sp>
      <p:sp>
        <p:nvSpPr>
          <p:cNvPr id="33" name="テキスト ボックス 32">
            <a:extLst>
              <a:ext uri="{FF2B5EF4-FFF2-40B4-BE49-F238E27FC236}">
                <a16:creationId xmlns:a16="http://schemas.microsoft.com/office/drawing/2014/main" id="{DA17DDF1-8DD1-5EE5-446B-9E7B5D691992}"/>
              </a:ext>
            </a:extLst>
          </p:cNvPr>
          <p:cNvSpPr txBox="1"/>
          <p:nvPr/>
        </p:nvSpPr>
        <p:spPr>
          <a:xfrm>
            <a:off x="8818224" y="5850414"/>
            <a:ext cx="458043" cy="144470"/>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000000"/>
                </a:solidFill>
                <a:effectLst/>
                <a:uLnTx/>
                <a:uFillTx/>
                <a:latin typeface="Arial"/>
                <a:ea typeface="游ゴシック Medium"/>
                <a:cs typeface="+mn-cs"/>
              </a:rPr>
              <a:t>8/1</a:t>
            </a:r>
            <a:endParaRPr kumimoji="1" lang="ja-JP" altLang="en-US" sz="1000" b="0" i="0" u="none" strike="noStrike" kern="1200" cap="none" spc="0" normalizeH="0" baseline="0" noProof="0" dirty="0">
              <a:ln>
                <a:noFill/>
              </a:ln>
              <a:solidFill>
                <a:srgbClr val="000000"/>
              </a:solidFill>
              <a:effectLst/>
              <a:uLnTx/>
              <a:uFillTx/>
              <a:latin typeface="Arial"/>
              <a:ea typeface="游ゴシック Medium"/>
              <a:cs typeface="+mn-cs"/>
            </a:endParaRPr>
          </a:p>
        </p:txBody>
      </p:sp>
      <p:sp>
        <p:nvSpPr>
          <p:cNvPr id="34" name="テキスト ボックス 33">
            <a:extLst>
              <a:ext uri="{FF2B5EF4-FFF2-40B4-BE49-F238E27FC236}">
                <a16:creationId xmlns:a16="http://schemas.microsoft.com/office/drawing/2014/main" id="{0CAE35ED-3D04-A665-42F3-AA5C20D855C3}"/>
              </a:ext>
            </a:extLst>
          </p:cNvPr>
          <p:cNvSpPr txBox="1"/>
          <p:nvPr/>
        </p:nvSpPr>
        <p:spPr>
          <a:xfrm>
            <a:off x="7174125" y="5843732"/>
            <a:ext cx="584302" cy="157834"/>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Arial"/>
                <a:ea typeface="游ゴシック Medium"/>
                <a:cs typeface="+mn-cs"/>
              </a:rPr>
              <a:t>6/1</a:t>
            </a:r>
            <a:endParaRPr kumimoji="1" lang="ja-JP" altLang="en-US" sz="1000" b="0" i="0" u="none" strike="noStrike" kern="1200" cap="none" spc="0" normalizeH="0" baseline="0" noProof="0">
              <a:ln>
                <a:noFill/>
              </a:ln>
              <a:solidFill>
                <a:srgbClr val="000000"/>
              </a:solidFill>
              <a:effectLst/>
              <a:uLnTx/>
              <a:uFillTx/>
              <a:latin typeface="Arial"/>
              <a:ea typeface="游ゴシック Medium"/>
              <a:cs typeface="+mn-cs"/>
            </a:endParaRPr>
          </a:p>
        </p:txBody>
      </p:sp>
      <p:sp>
        <p:nvSpPr>
          <p:cNvPr id="36" name="テキスト ボックス 35">
            <a:extLst>
              <a:ext uri="{FF2B5EF4-FFF2-40B4-BE49-F238E27FC236}">
                <a16:creationId xmlns:a16="http://schemas.microsoft.com/office/drawing/2014/main" id="{8850596D-F2C3-F204-CF0E-C15AB7D0632A}"/>
              </a:ext>
            </a:extLst>
          </p:cNvPr>
          <p:cNvSpPr txBox="1"/>
          <p:nvPr/>
        </p:nvSpPr>
        <p:spPr>
          <a:xfrm>
            <a:off x="9549114" y="5850414"/>
            <a:ext cx="584301" cy="125274"/>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000000"/>
                </a:solidFill>
                <a:effectLst/>
                <a:uLnTx/>
                <a:uFillTx/>
                <a:latin typeface="Arial"/>
                <a:ea typeface="游ゴシック Medium"/>
                <a:cs typeface="+mn-cs"/>
              </a:rPr>
              <a:t>10/1</a:t>
            </a:r>
            <a:endParaRPr kumimoji="1" lang="ja-JP" altLang="en-US" sz="1000" b="0" i="0" u="none" strike="noStrike" kern="1200" cap="none" spc="0" normalizeH="0" baseline="0" noProof="0" dirty="0">
              <a:ln>
                <a:noFill/>
              </a:ln>
              <a:solidFill>
                <a:srgbClr val="000000"/>
              </a:solidFill>
              <a:effectLst/>
              <a:uLnTx/>
              <a:uFillTx/>
              <a:latin typeface="Arial"/>
              <a:ea typeface="游ゴシック Medium"/>
              <a:cs typeface="+mn-cs"/>
            </a:endParaRPr>
          </a:p>
        </p:txBody>
      </p:sp>
      <p:sp>
        <p:nvSpPr>
          <p:cNvPr id="37" name="テキスト ボックス 36">
            <a:extLst>
              <a:ext uri="{FF2B5EF4-FFF2-40B4-BE49-F238E27FC236}">
                <a16:creationId xmlns:a16="http://schemas.microsoft.com/office/drawing/2014/main" id="{6F87F9A2-D21D-F5A1-F71F-17A8D7D99A14}"/>
              </a:ext>
            </a:extLst>
          </p:cNvPr>
          <p:cNvSpPr txBox="1"/>
          <p:nvPr/>
        </p:nvSpPr>
        <p:spPr>
          <a:xfrm>
            <a:off x="11396013" y="5850414"/>
            <a:ext cx="584302" cy="144470"/>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000000"/>
                </a:solidFill>
                <a:effectLst/>
                <a:uLnTx/>
                <a:uFillTx/>
                <a:latin typeface="Arial"/>
                <a:ea typeface="游ゴシック Medium"/>
                <a:cs typeface="+mn-cs"/>
              </a:rPr>
              <a:t>12/1</a:t>
            </a:r>
            <a:endParaRPr kumimoji="1" lang="ja-JP" altLang="en-US" sz="1000" b="0" i="0" u="none" strike="noStrike" kern="1200" cap="none" spc="0" normalizeH="0" baseline="0" noProof="0" dirty="0">
              <a:ln>
                <a:noFill/>
              </a:ln>
              <a:solidFill>
                <a:srgbClr val="000000"/>
              </a:solidFill>
              <a:effectLst/>
              <a:uLnTx/>
              <a:uFillTx/>
              <a:latin typeface="Arial"/>
              <a:ea typeface="游ゴシック Medium"/>
              <a:cs typeface="+mn-cs"/>
            </a:endParaRPr>
          </a:p>
        </p:txBody>
      </p:sp>
      <p:sp>
        <p:nvSpPr>
          <p:cNvPr id="38" name="四角形: 角を丸くする 37">
            <a:extLst>
              <a:ext uri="{FF2B5EF4-FFF2-40B4-BE49-F238E27FC236}">
                <a16:creationId xmlns:a16="http://schemas.microsoft.com/office/drawing/2014/main" id="{B3A17B5B-E598-F1A5-C9D7-3226AB7B19C7}"/>
              </a:ext>
            </a:extLst>
          </p:cNvPr>
          <p:cNvSpPr/>
          <p:nvPr/>
        </p:nvSpPr>
        <p:spPr bwMode="gray">
          <a:xfrm>
            <a:off x="1933003" y="3128393"/>
            <a:ext cx="2060448" cy="282449"/>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0" i="0" u="none" strike="noStrike" kern="0" cap="none" spc="0" normalizeH="0" baseline="0" noProof="0" dirty="0">
                <a:ln>
                  <a:noFill/>
                </a:ln>
                <a:solidFill>
                  <a:srgbClr val="000000"/>
                </a:solidFill>
                <a:effectLst/>
                <a:uLnTx/>
                <a:uFillTx/>
                <a:latin typeface="Arial"/>
                <a:ea typeface="Yu Gothic UI"/>
                <a:cs typeface="Arial" panose="020B0604020202020204" pitchFamily="34" charset="0"/>
              </a:rPr>
              <a:t>DB</a:t>
            </a:r>
            <a:r>
              <a:rPr kumimoji="0" lang="ja-JP" altLang="en-US" sz="1200" b="0" i="0" u="none" strike="noStrike" kern="0" cap="none" spc="0" normalizeH="0" baseline="0" noProof="0" dirty="0">
                <a:ln>
                  <a:noFill/>
                </a:ln>
                <a:solidFill>
                  <a:srgbClr val="000000"/>
                </a:solidFill>
                <a:effectLst/>
                <a:uLnTx/>
                <a:uFillTx/>
                <a:latin typeface="Arial"/>
                <a:ea typeface="Yu Gothic UI"/>
                <a:cs typeface="Arial" panose="020B0604020202020204" pitchFamily="34" charset="0"/>
              </a:rPr>
              <a:t>設計</a:t>
            </a:r>
          </a:p>
        </p:txBody>
      </p:sp>
      <p:sp>
        <p:nvSpPr>
          <p:cNvPr id="43" name="四角形: 角を丸くする 42">
            <a:extLst>
              <a:ext uri="{FF2B5EF4-FFF2-40B4-BE49-F238E27FC236}">
                <a16:creationId xmlns:a16="http://schemas.microsoft.com/office/drawing/2014/main" id="{D86B4C42-B58B-D290-3107-C9EFFC00DFAF}"/>
              </a:ext>
            </a:extLst>
          </p:cNvPr>
          <p:cNvSpPr/>
          <p:nvPr/>
        </p:nvSpPr>
        <p:spPr bwMode="gray">
          <a:xfrm>
            <a:off x="1236849" y="2363173"/>
            <a:ext cx="2177307"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lvl="0" algn="ctr" fontAlgn="base">
              <a:spcBef>
                <a:spcPct val="0"/>
              </a:spcBef>
              <a:spcAft>
                <a:spcPct val="0"/>
              </a:spcAft>
              <a:defRPr/>
            </a:pPr>
            <a:r>
              <a:rPr lang="ja-JP" altLang="en-US" sz="1200" dirty="0">
                <a:solidFill>
                  <a:schemeClr val="tx1"/>
                </a:solidFill>
              </a:rPr>
              <a:t>構造設計＆</a:t>
            </a:r>
            <a:r>
              <a:rPr lang="en-US" altLang="ja-JP" sz="1200" dirty="0">
                <a:solidFill>
                  <a:schemeClr val="tx1"/>
                </a:solidFill>
              </a:rPr>
              <a:t>POC</a:t>
            </a:r>
            <a:endParaRPr kumimoji="0" lang="ja-JP" altLang="en-US" sz="1200" b="0" i="0" u="none" strike="noStrike" kern="0" cap="none" spc="0" normalizeH="0" baseline="0" noProof="0" dirty="0">
              <a:ln>
                <a:noFill/>
              </a:ln>
              <a:solidFill>
                <a:srgbClr val="000000"/>
              </a:solidFill>
              <a:effectLst/>
              <a:uLnTx/>
              <a:uFillTx/>
              <a:latin typeface="Arial"/>
              <a:ea typeface="Yu Gothic UI"/>
              <a:cs typeface="Arial" panose="020B0604020202020204" pitchFamily="34" charset="0"/>
            </a:endParaRPr>
          </a:p>
        </p:txBody>
      </p:sp>
      <p:cxnSp>
        <p:nvCxnSpPr>
          <p:cNvPr id="44" name="直線コネクタ 43">
            <a:extLst>
              <a:ext uri="{FF2B5EF4-FFF2-40B4-BE49-F238E27FC236}">
                <a16:creationId xmlns:a16="http://schemas.microsoft.com/office/drawing/2014/main" id="{9C2B0C8D-B716-65F2-C868-270853D3EB9C}"/>
              </a:ext>
            </a:extLst>
          </p:cNvPr>
          <p:cNvCxnSpPr>
            <a:cxnSpLocks/>
          </p:cNvCxnSpPr>
          <p:nvPr/>
        </p:nvCxnSpPr>
        <p:spPr>
          <a:xfrm>
            <a:off x="2028729" y="1623226"/>
            <a:ext cx="0" cy="42228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5" name="正方形/長方形 44">
            <a:extLst>
              <a:ext uri="{FF2B5EF4-FFF2-40B4-BE49-F238E27FC236}">
                <a16:creationId xmlns:a16="http://schemas.microsoft.com/office/drawing/2014/main" id="{7CEA5C84-1E69-72F3-FD5B-32FD04446BFA}"/>
              </a:ext>
            </a:extLst>
          </p:cNvPr>
          <p:cNvSpPr/>
          <p:nvPr/>
        </p:nvSpPr>
        <p:spPr bwMode="gray">
          <a:xfrm>
            <a:off x="367031" y="1167637"/>
            <a:ext cx="2391122" cy="478800"/>
          </a:xfrm>
          <a:prstGeom prst="rect">
            <a:avLst/>
          </a:prstGeom>
          <a:solidFill>
            <a:sysClr val="window" lastClr="FFFFFF"/>
          </a:solidFill>
          <a:ln w="12700" algn="ctr">
            <a:solidFill>
              <a:sysClr val="window" lastClr="FFFFFF">
                <a:lumMod val="50000"/>
              </a:sysClr>
            </a:solidFill>
            <a:miter lim="800000"/>
            <a:headEnd/>
            <a:tailEnd/>
          </a:ln>
        </p:spPr>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1" lang="ja-JP" altLang="en-US" sz="1200" b="1"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a:t>
            </a:r>
            <a:r>
              <a:rPr kumimoji="1" lang="en-US" altLang="ja-JP" sz="1200" b="1"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POC</a:t>
            </a:r>
            <a:r>
              <a:rPr kumimoji="1" lang="ja-JP" altLang="en-US" sz="1200" b="1"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、構造設計</a:t>
            </a:r>
            <a:r>
              <a:rPr kumimoji="0" lang="ja-JP" altLang="en-US" sz="1200" b="1"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・製造工程の概算見積</a:t>
            </a:r>
            <a:r>
              <a:rPr kumimoji="1" lang="ja-JP" altLang="en-US" sz="1200" b="1"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⇒社内稟議</a:t>
            </a:r>
            <a:endPar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endParaRPr>
          </a:p>
        </p:txBody>
      </p:sp>
      <p:cxnSp>
        <p:nvCxnSpPr>
          <p:cNvPr id="46" name="直線コネクタ 45">
            <a:extLst>
              <a:ext uri="{FF2B5EF4-FFF2-40B4-BE49-F238E27FC236}">
                <a16:creationId xmlns:a16="http://schemas.microsoft.com/office/drawing/2014/main" id="{D27F703A-E61F-56C5-8C41-BBF3168FD21E}"/>
              </a:ext>
            </a:extLst>
          </p:cNvPr>
          <p:cNvCxnSpPr>
            <a:cxnSpLocks/>
          </p:cNvCxnSpPr>
          <p:nvPr/>
        </p:nvCxnSpPr>
        <p:spPr>
          <a:xfrm>
            <a:off x="3980498" y="1623226"/>
            <a:ext cx="0" cy="42228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7" name="正方形/長方形 46">
            <a:extLst>
              <a:ext uri="{FF2B5EF4-FFF2-40B4-BE49-F238E27FC236}">
                <a16:creationId xmlns:a16="http://schemas.microsoft.com/office/drawing/2014/main" id="{0C9BDF41-92C5-8248-8160-ECAD1F61F913}"/>
              </a:ext>
            </a:extLst>
          </p:cNvPr>
          <p:cNvSpPr/>
          <p:nvPr/>
        </p:nvSpPr>
        <p:spPr bwMode="gray">
          <a:xfrm>
            <a:off x="3893224" y="1167637"/>
            <a:ext cx="1453297" cy="478800"/>
          </a:xfrm>
          <a:prstGeom prst="rect">
            <a:avLst/>
          </a:prstGeom>
          <a:solidFill>
            <a:sysClr val="window" lastClr="FFFFFF"/>
          </a:solidFill>
          <a:ln w="12700" algn="ctr">
            <a:solidFill>
              <a:sysClr val="window" lastClr="FFFFFF">
                <a:lumMod val="50000"/>
              </a:sysClr>
            </a:solidFill>
            <a:miter lim="800000"/>
            <a:headEnd/>
            <a:tailEnd/>
          </a:ln>
        </p:spPr>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1"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製造工程の正式見積</a:t>
            </a:r>
            <a:endParaRPr kumimoji="0" lang="en-US" altLang="ja-JP" sz="1200" b="1"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1" lang="ja-JP" altLang="en-US" sz="1200" b="1"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⇒ご</a:t>
            </a:r>
            <a:r>
              <a:rPr kumimoji="0" lang="ja-JP" altLang="en-US" sz="1200" b="1"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発注</a:t>
            </a:r>
            <a:endPar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endParaRPr>
          </a:p>
        </p:txBody>
      </p:sp>
      <p:cxnSp>
        <p:nvCxnSpPr>
          <p:cNvPr id="48" name="直線コネクタ 47">
            <a:extLst>
              <a:ext uri="{FF2B5EF4-FFF2-40B4-BE49-F238E27FC236}">
                <a16:creationId xmlns:a16="http://schemas.microsoft.com/office/drawing/2014/main" id="{5141F68C-7A5B-A2D2-A73F-42ED08DBFA9F}"/>
              </a:ext>
            </a:extLst>
          </p:cNvPr>
          <p:cNvCxnSpPr>
            <a:cxnSpLocks/>
          </p:cNvCxnSpPr>
          <p:nvPr/>
        </p:nvCxnSpPr>
        <p:spPr>
          <a:xfrm>
            <a:off x="7086049" y="1623226"/>
            <a:ext cx="48125" cy="42228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9" name="正方形/長方形 48">
            <a:extLst>
              <a:ext uri="{FF2B5EF4-FFF2-40B4-BE49-F238E27FC236}">
                <a16:creationId xmlns:a16="http://schemas.microsoft.com/office/drawing/2014/main" id="{0F452686-3E39-0A52-CCF0-18D2CA2484BA}"/>
              </a:ext>
            </a:extLst>
          </p:cNvPr>
          <p:cNvSpPr/>
          <p:nvPr/>
        </p:nvSpPr>
        <p:spPr bwMode="gray">
          <a:xfrm>
            <a:off x="6407371" y="1167637"/>
            <a:ext cx="1496228" cy="478800"/>
          </a:xfrm>
          <a:prstGeom prst="rect">
            <a:avLst/>
          </a:prstGeom>
          <a:solidFill>
            <a:sysClr val="window" lastClr="FFFFFF"/>
          </a:solidFill>
          <a:ln w="12700" algn="ctr">
            <a:solidFill>
              <a:sysClr val="window" lastClr="FFFFFF">
                <a:lumMod val="50000"/>
              </a:sysClr>
            </a:solidFill>
            <a:miter lim="800000"/>
            <a:headEnd/>
            <a:tailEnd/>
          </a:ln>
        </p:spPr>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1" i="0" u="none" strike="noStrike" kern="0" cap="none" spc="0" normalizeH="0" baseline="0" noProof="0">
                <a:ln>
                  <a:noFill/>
                </a:ln>
                <a:solidFill>
                  <a:prstClr val="black"/>
                </a:solidFill>
                <a:effectLst/>
                <a:uLnTx/>
                <a:uFillTx/>
                <a:latin typeface="Arial"/>
                <a:ea typeface="Yu Gothic UI"/>
                <a:cs typeface="Arial" panose="020B0604020202020204" pitchFamily="34" charset="0"/>
              </a:rPr>
              <a:t>Round1</a:t>
            </a:r>
            <a:r>
              <a:rPr kumimoji="0" lang="ja-JP" altLang="en-US" sz="1200" b="1" i="0" u="none" strike="noStrike" kern="0" cap="none" spc="0" normalizeH="0" baseline="0" noProof="0">
                <a:ln>
                  <a:noFill/>
                </a:ln>
                <a:solidFill>
                  <a:prstClr val="black"/>
                </a:solidFill>
                <a:effectLst/>
                <a:uLnTx/>
                <a:uFillTx/>
                <a:latin typeface="Arial"/>
                <a:ea typeface="Yu Gothic UI"/>
                <a:cs typeface="Arial" panose="020B0604020202020204" pitchFamily="34" charset="0"/>
              </a:rPr>
              <a:t>検証</a:t>
            </a:r>
            <a:r>
              <a:rPr kumimoji="0" lang="en-US" altLang="ja-JP" sz="1200" b="1" i="0" u="none" strike="noStrike" kern="0" cap="none" spc="0" normalizeH="0" baseline="0" noProof="0">
                <a:ln>
                  <a:noFill/>
                </a:ln>
                <a:solidFill>
                  <a:prstClr val="black"/>
                </a:solidFill>
                <a:effectLst/>
                <a:uLnTx/>
                <a:uFillTx/>
                <a:latin typeface="Arial"/>
                <a:ea typeface="Yu Gothic UI"/>
                <a:cs typeface="Arial" panose="020B0604020202020204" pitchFamily="34" charset="0"/>
              </a:rPr>
              <a:t>UAT</a:t>
            </a:r>
            <a:endPar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endParaRPr>
          </a:p>
        </p:txBody>
      </p:sp>
      <p:cxnSp>
        <p:nvCxnSpPr>
          <p:cNvPr id="50" name="直線コネクタ 49">
            <a:extLst>
              <a:ext uri="{FF2B5EF4-FFF2-40B4-BE49-F238E27FC236}">
                <a16:creationId xmlns:a16="http://schemas.microsoft.com/office/drawing/2014/main" id="{49F660E1-D11F-57DE-CAF9-CAC095A7BA9F}"/>
              </a:ext>
            </a:extLst>
          </p:cNvPr>
          <p:cNvCxnSpPr>
            <a:cxnSpLocks/>
          </p:cNvCxnSpPr>
          <p:nvPr/>
        </p:nvCxnSpPr>
        <p:spPr>
          <a:xfrm>
            <a:off x="11290006" y="1623226"/>
            <a:ext cx="26578" cy="42228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51" name="正方形/長方形 50">
            <a:extLst>
              <a:ext uri="{FF2B5EF4-FFF2-40B4-BE49-F238E27FC236}">
                <a16:creationId xmlns:a16="http://schemas.microsoft.com/office/drawing/2014/main" id="{05579155-6BA7-3E59-F5A8-FB7A218D19F0}"/>
              </a:ext>
            </a:extLst>
          </p:cNvPr>
          <p:cNvSpPr/>
          <p:nvPr/>
        </p:nvSpPr>
        <p:spPr bwMode="gray">
          <a:xfrm>
            <a:off x="10840563" y="1167637"/>
            <a:ext cx="899247" cy="478800"/>
          </a:xfrm>
          <a:prstGeom prst="rect">
            <a:avLst/>
          </a:prstGeom>
          <a:solidFill>
            <a:sysClr val="window" lastClr="FFFFFF"/>
          </a:solidFill>
          <a:ln w="12700" algn="ctr">
            <a:solidFill>
              <a:sysClr val="window" lastClr="FFFFFF">
                <a:lumMod val="50000"/>
              </a:sysClr>
            </a:solidFill>
            <a:miter lim="800000"/>
            <a:headEnd/>
            <a:tailEnd/>
          </a:ln>
        </p:spPr>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ja-JP" sz="1200" b="1" i="0" u="none" strike="noStrike" kern="0" cap="none" spc="0" normalizeH="0" baseline="0" noProof="0">
                <a:ln>
                  <a:noFill/>
                </a:ln>
                <a:solidFill>
                  <a:prstClr val="black"/>
                </a:solidFill>
                <a:effectLst/>
                <a:uLnTx/>
                <a:uFillTx/>
                <a:latin typeface="Arial"/>
                <a:ea typeface="Yu Gothic UI"/>
                <a:cs typeface="Arial" panose="020B0604020202020204" pitchFamily="34" charset="0"/>
              </a:rPr>
              <a:t>Round3</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ja-JP" altLang="en-US" sz="1200" b="1" i="0" u="none" strike="noStrike" kern="0" cap="none" spc="0" normalizeH="0" baseline="0" noProof="0">
                <a:ln>
                  <a:noFill/>
                </a:ln>
                <a:solidFill>
                  <a:prstClr val="black"/>
                </a:solidFill>
                <a:effectLst/>
                <a:uLnTx/>
                <a:uFillTx/>
                <a:latin typeface="Arial"/>
                <a:ea typeface="Yu Gothic UI"/>
                <a:cs typeface="Arial" panose="020B0604020202020204" pitchFamily="34" charset="0"/>
              </a:rPr>
              <a:t>全体</a:t>
            </a:r>
            <a:r>
              <a:rPr kumimoji="0" lang="en-US" altLang="ja-JP" sz="1200" b="1" i="0" u="none" strike="noStrike" kern="0" cap="none" spc="0" normalizeH="0" baseline="0" noProof="0">
                <a:ln>
                  <a:noFill/>
                </a:ln>
                <a:solidFill>
                  <a:prstClr val="black"/>
                </a:solidFill>
                <a:effectLst/>
                <a:uLnTx/>
                <a:uFillTx/>
                <a:latin typeface="Arial"/>
                <a:ea typeface="Yu Gothic UI"/>
                <a:cs typeface="Arial" panose="020B0604020202020204" pitchFamily="34" charset="0"/>
              </a:rPr>
              <a:t>GA</a:t>
            </a:r>
            <a:endPar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endParaRPr>
          </a:p>
        </p:txBody>
      </p:sp>
      <p:sp>
        <p:nvSpPr>
          <p:cNvPr id="55" name="四角形: 角を丸くする 54">
            <a:extLst>
              <a:ext uri="{FF2B5EF4-FFF2-40B4-BE49-F238E27FC236}">
                <a16:creationId xmlns:a16="http://schemas.microsoft.com/office/drawing/2014/main" id="{86F9785E-007D-1BCB-75A7-A39AD03FCA47}"/>
              </a:ext>
            </a:extLst>
          </p:cNvPr>
          <p:cNvSpPr/>
          <p:nvPr/>
        </p:nvSpPr>
        <p:spPr bwMode="gray">
          <a:xfrm>
            <a:off x="5095154" y="2792973"/>
            <a:ext cx="1985481"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rPr>
              <a:t>性能評価と改善</a:t>
            </a:r>
          </a:p>
        </p:txBody>
      </p:sp>
      <p:sp>
        <p:nvSpPr>
          <p:cNvPr id="56" name="四角形: 角を丸くする 55">
            <a:extLst>
              <a:ext uri="{FF2B5EF4-FFF2-40B4-BE49-F238E27FC236}">
                <a16:creationId xmlns:a16="http://schemas.microsoft.com/office/drawing/2014/main" id="{A0E8404E-386C-CFFA-DF97-03B7E450C544}"/>
              </a:ext>
            </a:extLst>
          </p:cNvPr>
          <p:cNvSpPr/>
          <p:nvPr/>
        </p:nvSpPr>
        <p:spPr bwMode="gray">
          <a:xfrm>
            <a:off x="7120916" y="2785215"/>
            <a:ext cx="1588536"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rPr>
              <a:t>性能試験</a:t>
            </a:r>
          </a:p>
        </p:txBody>
      </p:sp>
      <p:sp>
        <p:nvSpPr>
          <p:cNvPr id="57" name="四角形: 角を丸くする 56">
            <a:extLst>
              <a:ext uri="{FF2B5EF4-FFF2-40B4-BE49-F238E27FC236}">
                <a16:creationId xmlns:a16="http://schemas.microsoft.com/office/drawing/2014/main" id="{9977DAB9-0C17-1F9A-4B9D-EB046AF6A6B1}"/>
              </a:ext>
            </a:extLst>
          </p:cNvPr>
          <p:cNvSpPr/>
          <p:nvPr/>
        </p:nvSpPr>
        <p:spPr bwMode="gray">
          <a:xfrm>
            <a:off x="1236849" y="2775159"/>
            <a:ext cx="2756602"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性能</a:t>
            </a: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Facility</a:t>
            </a:r>
            <a:endPar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endParaRPr>
          </a:p>
        </p:txBody>
      </p:sp>
      <p:sp>
        <p:nvSpPr>
          <p:cNvPr id="58" name="四角形: 角を丸くする 57">
            <a:extLst>
              <a:ext uri="{FF2B5EF4-FFF2-40B4-BE49-F238E27FC236}">
                <a16:creationId xmlns:a16="http://schemas.microsoft.com/office/drawing/2014/main" id="{2803AC68-3BCE-4FD9-0DD7-86F8B6984539}"/>
              </a:ext>
            </a:extLst>
          </p:cNvPr>
          <p:cNvSpPr/>
          <p:nvPr/>
        </p:nvSpPr>
        <p:spPr bwMode="gray">
          <a:xfrm>
            <a:off x="6956848" y="3864809"/>
            <a:ext cx="1321801" cy="277890"/>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ctr"/>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Round1 </a:t>
            </a: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データ移行</a:t>
            </a: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 </a:t>
            </a:r>
          </a:p>
        </p:txBody>
      </p:sp>
      <p:sp>
        <p:nvSpPr>
          <p:cNvPr id="63" name="四角形: 角を丸くする 62">
            <a:extLst>
              <a:ext uri="{FF2B5EF4-FFF2-40B4-BE49-F238E27FC236}">
                <a16:creationId xmlns:a16="http://schemas.microsoft.com/office/drawing/2014/main" id="{74939399-2281-94CB-EC22-9B08172CB810}"/>
              </a:ext>
            </a:extLst>
          </p:cNvPr>
          <p:cNvSpPr/>
          <p:nvPr/>
        </p:nvSpPr>
        <p:spPr bwMode="gray">
          <a:xfrm>
            <a:off x="7157754" y="4540383"/>
            <a:ext cx="2275409" cy="490942"/>
          </a:xfrm>
          <a:prstGeom prst="roundRect">
            <a:avLst/>
          </a:prstGeom>
          <a:noFill/>
          <a:ln w="12700">
            <a:solidFill>
              <a:srgbClr val="0070C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Round</a:t>
            </a:r>
            <a:r>
              <a:rPr kumimoji="1" lang="ja-JP" altLang="en-US" sz="12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２展開</a:t>
            </a:r>
            <a:endParaRPr kumimoji="1" lang="en-US" altLang="ja-JP" sz="12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a:t>
            </a:r>
            <a:r>
              <a:rPr kumimoji="0" lang="ja-JP" altLang="en-US" sz="105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データ移行と受入</a:t>
            </a:r>
            <a:r>
              <a:rPr kumimoji="0" lang="en-US" altLang="ja-JP" sz="105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a:t>
            </a:r>
            <a:r>
              <a:rPr kumimoji="0" lang="ja-JP" altLang="en-US" sz="105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対応</a:t>
            </a:r>
            <a:r>
              <a:rPr kumimoji="0" lang="en-US" altLang="ja-JP" sz="105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 </a:t>
            </a:r>
            <a:r>
              <a:rPr kumimoji="0" lang="ja-JP" altLang="en-US" sz="105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a:t>
            </a:r>
            <a:endParaRPr kumimoji="1" lang="ja-JP" altLang="en-US"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endParaRPr>
          </a:p>
        </p:txBody>
      </p:sp>
      <p:sp>
        <p:nvSpPr>
          <p:cNvPr id="65" name="四角形: 角を丸くする 64">
            <a:extLst>
              <a:ext uri="{FF2B5EF4-FFF2-40B4-BE49-F238E27FC236}">
                <a16:creationId xmlns:a16="http://schemas.microsoft.com/office/drawing/2014/main" id="{A0592155-6DA1-FAD7-1A1C-4BD215B1642C}"/>
              </a:ext>
            </a:extLst>
          </p:cNvPr>
          <p:cNvSpPr/>
          <p:nvPr/>
        </p:nvSpPr>
        <p:spPr bwMode="gray">
          <a:xfrm>
            <a:off x="9511469" y="5150883"/>
            <a:ext cx="1778718" cy="490942"/>
          </a:xfrm>
          <a:prstGeom prst="roundRect">
            <a:avLst/>
          </a:prstGeom>
          <a:noFill/>
          <a:ln w="12700">
            <a:solidFill>
              <a:srgbClr val="0070C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Round3</a:t>
            </a:r>
            <a:r>
              <a:rPr kumimoji="1" lang="ja-JP" altLang="en-US" sz="12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展開</a:t>
            </a:r>
            <a:endParaRPr kumimoji="1" lang="en-US" altLang="ja-JP" sz="12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（データ移行と受入</a:t>
            </a:r>
            <a:r>
              <a:rPr kumimoji="0" lang="en-US" altLang="ja-JP" sz="105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a:t>
            </a:r>
            <a:r>
              <a:rPr kumimoji="0" lang="ja-JP" altLang="en-US" sz="105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対応</a:t>
            </a:r>
            <a:r>
              <a:rPr kumimoji="0" lang="en-US" altLang="ja-JP" sz="105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 </a:t>
            </a:r>
            <a:r>
              <a:rPr kumimoji="0" lang="ja-JP" altLang="en-US" sz="105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a:t>
            </a:r>
            <a:endParaRPr kumimoji="1" lang="ja-JP" altLang="en-US"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endParaRPr>
          </a:p>
        </p:txBody>
      </p:sp>
      <p:cxnSp>
        <p:nvCxnSpPr>
          <p:cNvPr id="66" name="直線コネクタ 65">
            <a:extLst>
              <a:ext uri="{FF2B5EF4-FFF2-40B4-BE49-F238E27FC236}">
                <a16:creationId xmlns:a16="http://schemas.microsoft.com/office/drawing/2014/main" id="{AAF15E5E-DD10-6CE7-512D-3B13735B4547}"/>
              </a:ext>
            </a:extLst>
          </p:cNvPr>
          <p:cNvCxnSpPr>
            <a:cxnSpLocks/>
          </p:cNvCxnSpPr>
          <p:nvPr/>
        </p:nvCxnSpPr>
        <p:spPr>
          <a:xfrm>
            <a:off x="8716560" y="1623226"/>
            <a:ext cx="48125" cy="42228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67" name="正方形/長方形 66">
            <a:extLst>
              <a:ext uri="{FF2B5EF4-FFF2-40B4-BE49-F238E27FC236}">
                <a16:creationId xmlns:a16="http://schemas.microsoft.com/office/drawing/2014/main" id="{8F9CC12C-432C-A845-7AE2-714E51D67214}"/>
              </a:ext>
            </a:extLst>
          </p:cNvPr>
          <p:cNvSpPr/>
          <p:nvPr/>
        </p:nvSpPr>
        <p:spPr bwMode="gray">
          <a:xfrm>
            <a:off x="8374332" y="1167637"/>
            <a:ext cx="691251" cy="478800"/>
          </a:xfrm>
          <a:prstGeom prst="rect">
            <a:avLst/>
          </a:prstGeom>
          <a:solidFill>
            <a:sysClr val="window" lastClr="FFFFFF"/>
          </a:solidFill>
          <a:ln w="12700" algn="ctr">
            <a:solidFill>
              <a:sysClr val="window" lastClr="FFFFFF">
                <a:lumMod val="50000"/>
              </a:sysClr>
            </a:solidFill>
            <a:miter lim="800000"/>
            <a:headEnd/>
            <a:tailEnd/>
          </a:ln>
        </p:spPr>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1" i="0" u="none" strike="noStrike" kern="0" cap="none" spc="0" normalizeH="0" baseline="0" noProof="0">
                <a:ln>
                  <a:noFill/>
                </a:ln>
                <a:solidFill>
                  <a:prstClr val="black"/>
                </a:solidFill>
                <a:effectLst/>
                <a:uLnTx/>
                <a:uFillTx/>
                <a:latin typeface="Arial"/>
                <a:ea typeface="Yu Gothic UI"/>
                <a:cs typeface="Arial" panose="020B0604020202020204" pitchFamily="34" charset="0"/>
              </a:rPr>
              <a:t>Round1GA</a:t>
            </a:r>
          </a:p>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endPar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endParaRPr>
          </a:p>
        </p:txBody>
      </p:sp>
      <p:cxnSp>
        <p:nvCxnSpPr>
          <p:cNvPr id="68" name="直線コネクタ 67">
            <a:extLst>
              <a:ext uri="{FF2B5EF4-FFF2-40B4-BE49-F238E27FC236}">
                <a16:creationId xmlns:a16="http://schemas.microsoft.com/office/drawing/2014/main" id="{696C7525-BF4C-15EE-667C-387E91C37642}"/>
              </a:ext>
            </a:extLst>
          </p:cNvPr>
          <p:cNvCxnSpPr>
            <a:cxnSpLocks/>
          </p:cNvCxnSpPr>
          <p:nvPr/>
        </p:nvCxnSpPr>
        <p:spPr>
          <a:xfrm>
            <a:off x="8765290"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69" name="直線コネクタ 68">
            <a:extLst>
              <a:ext uri="{FF2B5EF4-FFF2-40B4-BE49-F238E27FC236}">
                <a16:creationId xmlns:a16="http://schemas.microsoft.com/office/drawing/2014/main" id="{2C0AB001-8F84-B4C2-AB40-2E2458A0150B}"/>
              </a:ext>
            </a:extLst>
          </p:cNvPr>
          <p:cNvCxnSpPr>
            <a:cxnSpLocks/>
          </p:cNvCxnSpPr>
          <p:nvPr/>
        </p:nvCxnSpPr>
        <p:spPr>
          <a:xfrm>
            <a:off x="9439043" y="1623226"/>
            <a:ext cx="48125" cy="42228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70" name="正方形/長方形 69">
            <a:extLst>
              <a:ext uri="{FF2B5EF4-FFF2-40B4-BE49-F238E27FC236}">
                <a16:creationId xmlns:a16="http://schemas.microsoft.com/office/drawing/2014/main" id="{72498D41-D631-0D0B-8187-574209529682}"/>
              </a:ext>
            </a:extLst>
          </p:cNvPr>
          <p:cNvSpPr/>
          <p:nvPr/>
        </p:nvSpPr>
        <p:spPr bwMode="gray">
          <a:xfrm>
            <a:off x="9147854" y="1167637"/>
            <a:ext cx="691251" cy="478800"/>
          </a:xfrm>
          <a:prstGeom prst="rect">
            <a:avLst/>
          </a:prstGeom>
          <a:solidFill>
            <a:sysClr val="window" lastClr="FFFFFF"/>
          </a:solidFill>
          <a:ln w="12700" algn="ctr">
            <a:solidFill>
              <a:sysClr val="window" lastClr="FFFFFF">
                <a:lumMod val="50000"/>
              </a:sysClr>
            </a:solidFill>
            <a:miter lim="800000"/>
            <a:headEnd/>
            <a:tailEnd/>
          </a:ln>
        </p:spPr>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1" i="0" u="none" strike="noStrike" kern="0" cap="none" spc="0" normalizeH="0" baseline="0" noProof="0">
                <a:ln>
                  <a:noFill/>
                </a:ln>
                <a:solidFill>
                  <a:prstClr val="black"/>
                </a:solidFill>
                <a:effectLst/>
                <a:uLnTx/>
                <a:uFillTx/>
                <a:latin typeface="Arial"/>
                <a:ea typeface="Yu Gothic UI"/>
                <a:cs typeface="Arial" panose="020B0604020202020204" pitchFamily="34" charset="0"/>
              </a:rPr>
              <a:t>Round2GA</a:t>
            </a:r>
            <a:endPar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endParaRPr>
          </a:p>
        </p:txBody>
      </p:sp>
      <p:cxnSp>
        <p:nvCxnSpPr>
          <p:cNvPr id="74" name="直線コネクタ 73">
            <a:extLst>
              <a:ext uri="{FF2B5EF4-FFF2-40B4-BE49-F238E27FC236}">
                <a16:creationId xmlns:a16="http://schemas.microsoft.com/office/drawing/2014/main" id="{107190CD-2A78-A2C7-02D2-23FFD2896D13}"/>
              </a:ext>
            </a:extLst>
          </p:cNvPr>
          <p:cNvCxnSpPr>
            <a:cxnSpLocks/>
          </p:cNvCxnSpPr>
          <p:nvPr/>
        </p:nvCxnSpPr>
        <p:spPr>
          <a:xfrm>
            <a:off x="2030829"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75" name="テキスト ボックス 74">
            <a:extLst>
              <a:ext uri="{FF2B5EF4-FFF2-40B4-BE49-F238E27FC236}">
                <a16:creationId xmlns:a16="http://schemas.microsoft.com/office/drawing/2014/main" id="{FBEC3BB5-C8FC-6A0E-31DF-26689B441FC5}"/>
              </a:ext>
            </a:extLst>
          </p:cNvPr>
          <p:cNvSpPr txBox="1"/>
          <p:nvPr/>
        </p:nvSpPr>
        <p:spPr>
          <a:xfrm>
            <a:off x="2074511" y="5865763"/>
            <a:ext cx="565367" cy="113773"/>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Arial"/>
                <a:ea typeface="游ゴシック Medium"/>
                <a:cs typeface="+mn-cs"/>
              </a:rPr>
              <a:t>12/1</a:t>
            </a:r>
            <a:endParaRPr kumimoji="1" lang="ja-JP" altLang="en-US" sz="1000" b="0" i="0" u="none" strike="noStrike" kern="1200" cap="none" spc="0" normalizeH="0" baseline="0" noProof="0" err="1">
              <a:ln>
                <a:noFill/>
              </a:ln>
              <a:solidFill>
                <a:srgbClr val="000000"/>
              </a:solidFill>
              <a:effectLst/>
              <a:uLnTx/>
              <a:uFillTx/>
              <a:latin typeface="Arial"/>
              <a:ea typeface="游ゴシック Medium"/>
              <a:cs typeface="+mn-cs"/>
            </a:endParaRPr>
          </a:p>
        </p:txBody>
      </p:sp>
      <p:sp>
        <p:nvSpPr>
          <p:cNvPr id="3" name="四角形: 角を丸くする 2">
            <a:extLst>
              <a:ext uri="{FF2B5EF4-FFF2-40B4-BE49-F238E27FC236}">
                <a16:creationId xmlns:a16="http://schemas.microsoft.com/office/drawing/2014/main" id="{0E7D35CA-037F-CC93-EAEA-24158C4F5585}"/>
              </a:ext>
            </a:extLst>
          </p:cNvPr>
          <p:cNvSpPr/>
          <p:nvPr/>
        </p:nvSpPr>
        <p:spPr>
          <a:xfrm>
            <a:off x="6679939" y="3108382"/>
            <a:ext cx="2085351" cy="1068931"/>
          </a:xfrm>
          <a:prstGeom prst="roundRect">
            <a:avLst>
              <a:gd name="adj" fmla="val 5456"/>
            </a:avLst>
          </a:prstGeom>
          <a:noFill/>
          <a:ln w="12700">
            <a:solidFill>
              <a:srgbClr val="0070C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Gill Sans MT"/>
              <a:ea typeface="游ゴシック" panose="020B0400000000000000" pitchFamily="50" charset="-128"/>
              <a:cs typeface="+mn-cs"/>
            </a:endParaRPr>
          </a:p>
        </p:txBody>
      </p:sp>
      <p:sp>
        <p:nvSpPr>
          <p:cNvPr id="7" name="テキスト ボックス 6">
            <a:extLst>
              <a:ext uri="{FF2B5EF4-FFF2-40B4-BE49-F238E27FC236}">
                <a16:creationId xmlns:a16="http://schemas.microsoft.com/office/drawing/2014/main" id="{F1C308A9-6186-221A-EE6A-7A6A28CC0F50}"/>
              </a:ext>
            </a:extLst>
          </p:cNvPr>
          <p:cNvSpPr txBox="1"/>
          <p:nvPr/>
        </p:nvSpPr>
        <p:spPr>
          <a:xfrm>
            <a:off x="4033732" y="2587937"/>
            <a:ext cx="6766132"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rPr>
              <a:t>Round 1 </a:t>
            </a:r>
            <a:r>
              <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rPr>
              <a:t>全体システム構築と先行運用</a:t>
            </a:r>
            <a:endParaRPr kumimoji="1" lang="ja-JP" altLang="en-US" sz="1200" b="0" i="0" u="none" strike="noStrike" kern="1200" cap="none" spc="0" normalizeH="0" baseline="0" noProof="0">
              <a:ln>
                <a:noFill/>
              </a:ln>
              <a:solidFill>
                <a:prstClr val="black"/>
              </a:solidFill>
              <a:effectLst/>
              <a:uLnTx/>
              <a:uFillTx/>
              <a:latin typeface="Gill Sans MT"/>
              <a:ea typeface="游ゴシック" panose="020B0400000000000000" pitchFamily="50" charset="-128"/>
              <a:cs typeface="+mn-cs"/>
            </a:endParaRPr>
          </a:p>
        </p:txBody>
      </p:sp>
      <p:graphicFrame>
        <p:nvGraphicFramePr>
          <p:cNvPr id="9" name="表 8">
            <a:extLst>
              <a:ext uri="{FF2B5EF4-FFF2-40B4-BE49-F238E27FC236}">
                <a16:creationId xmlns:a16="http://schemas.microsoft.com/office/drawing/2014/main" id="{3314AD2A-418D-785B-B887-306FA70A215D}"/>
              </a:ext>
            </a:extLst>
          </p:cNvPr>
          <p:cNvGraphicFramePr>
            <a:graphicFrameLocks noGrp="1"/>
          </p:cNvGraphicFramePr>
          <p:nvPr/>
        </p:nvGraphicFramePr>
        <p:xfrm>
          <a:off x="403231" y="3864809"/>
          <a:ext cx="2873349" cy="1916430"/>
        </p:xfrm>
        <a:graphic>
          <a:graphicData uri="http://schemas.openxmlformats.org/drawingml/2006/table">
            <a:tbl>
              <a:tblPr firstRow="1" bandRow="1">
                <a:tableStyleId>{5C22544A-7EE6-4342-B048-85BDC9FD1C3A}</a:tableStyleId>
              </a:tblPr>
              <a:tblGrid>
                <a:gridCol w="148988">
                  <a:extLst>
                    <a:ext uri="{9D8B030D-6E8A-4147-A177-3AD203B41FA5}">
                      <a16:colId xmlns:a16="http://schemas.microsoft.com/office/drawing/2014/main" val="1590383083"/>
                    </a:ext>
                  </a:extLst>
                </a:gridCol>
                <a:gridCol w="1039114">
                  <a:extLst>
                    <a:ext uri="{9D8B030D-6E8A-4147-A177-3AD203B41FA5}">
                      <a16:colId xmlns:a16="http://schemas.microsoft.com/office/drawing/2014/main" val="1710678529"/>
                    </a:ext>
                  </a:extLst>
                </a:gridCol>
                <a:gridCol w="1685247">
                  <a:extLst>
                    <a:ext uri="{9D8B030D-6E8A-4147-A177-3AD203B41FA5}">
                      <a16:colId xmlns:a16="http://schemas.microsoft.com/office/drawing/2014/main" val="2280072178"/>
                    </a:ext>
                  </a:extLst>
                </a:gridCol>
              </a:tblGrid>
              <a:tr h="0">
                <a:tc>
                  <a:txBody>
                    <a:bodyPr/>
                    <a:lstStyle/>
                    <a:p>
                      <a:r>
                        <a:rPr kumimoji="1" lang="en-US" altLang="ja-JP" sz="600" dirty="0"/>
                        <a:t>#</a:t>
                      </a:r>
                      <a:endParaRPr kumimoji="1" lang="ja-JP" altLang="en-US" sz="600" dirty="0"/>
                    </a:p>
                  </a:txBody>
                  <a:tcPr marL="36000" marR="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1">
                        <a:lumMod val="50000"/>
                        <a:lumOff val="50000"/>
                      </a:schemeClr>
                    </a:solidFill>
                  </a:tcPr>
                </a:tc>
                <a:tc>
                  <a:txBody>
                    <a:bodyPr/>
                    <a:lstStyle/>
                    <a:p>
                      <a:r>
                        <a:rPr kumimoji="1" lang="ja-JP" altLang="en-US" sz="600" dirty="0"/>
                        <a:t>代表</a:t>
                      </a:r>
                      <a:r>
                        <a:rPr kumimoji="1" lang="en-US" altLang="ja-JP" sz="600" dirty="0"/>
                        <a:t>DB</a:t>
                      </a:r>
                      <a:r>
                        <a:rPr kumimoji="1" lang="ja-JP" altLang="en-US" sz="600" dirty="0"/>
                        <a:t>名</a:t>
                      </a:r>
                    </a:p>
                  </a:txBody>
                  <a:tcPr marL="36000" marR="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1">
                        <a:lumMod val="50000"/>
                        <a:lumOff val="50000"/>
                      </a:schemeClr>
                    </a:solidFill>
                  </a:tcPr>
                </a:tc>
                <a:tc>
                  <a:txBody>
                    <a:bodyPr/>
                    <a:lstStyle/>
                    <a:p>
                      <a:r>
                        <a:rPr kumimoji="1" lang="ja-JP" altLang="en-US" sz="600"/>
                        <a:t>関連</a:t>
                      </a:r>
                      <a:r>
                        <a:rPr kumimoji="1" lang="en-US" altLang="ja-JP" sz="600"/>
                        <a:t>DB</a:t>
                      </a:r>
                      <a:r>
                        <a:rPr kumimoji="1" lang="ja-JP" altLang="en-US" sz="600"/>
                        <a:t>名　　　　　</a:t>
                      </a:r>
                    </a:p>
                  </a:txBody>
                  <a:tcPr marL="36000" marR="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1">
                        <a:lumMod val="50000"/>
                        <a:lumOff val="50000"/>
                      </a:schemeClr>
                    </a:solidFill>
                  </a:tcPr>
                </a:tc>
                <a:extLst>
                  <a:ext uri="{0D108BD9-81ED-4DB2-BD59-A6C34878D82A}">
                    <a16:rowId xmlns:a16="http://schemas.microsoft.com/office/drawing/2014/main" val="1588210174"/>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1</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3">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イオン</a:t>
                      </a:r>
                      <a:r>
                        <a:rPr kumimoji="1" lang="en-US" altLang="ja-JP" sz="600" b="0" kern="1200" dirty="0">
                          <a:solidFill>
                            <a:schemeClr val="tx1"/>
                          </a:solidFill>
                          <a:latin typeface="+mn-lt"/>
                          <a:ea typeface="+mn-ea"/>
                          <a:cs typeface="+mn-cs"/>
                        </a:rPr>
                        <a:t>) </a:t>
                      </a:r>
                    </a:p>
                    <a:p>
                      <a:pPr marL="0" algn="l" defTabSz="914400" rtl="0" eaLnBrk="1" fontAlgn="ctr" latinLnBrk="0" hangingPunct="1"/>
                      <a:r>
                        <a:rPr kumimoji="1" lang="ja-JP" altLang="en-US" sz="600" b="0" kern="1200" dirty="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en-US" altLang="ja-JP" sz="600" b="0" kern="1200">
                          <a:solidFill>
                            <a:schemeClr val="tx1"/>
                          </a:solidFill>
                          <a:latin typeface="+mn-lt"/>
                          <a:ea typeface="+mn-ea"/>
                          <a:cs typeface="+mn-cs"/>
                        </a:rPr>
                        <a:t>(</a:t>
                      </a:r>
                      <a:r>
                        <a:rPr kumimoji="1" lang="ja-JP" altLang="en-US" sz="600" b="0" kern="1200">
                          <a:solidFill>
                            <a:schemeClr val="tx1"/>
                          </a:solidFill>
                          <a:latin typeface="+mn-lt"/>
                          <a:ea typeface="+mn-ea"/>
                          <a:cs typeface="+mn-cs"/>
                        </a:rPr>
                        <a:t>イオン</a:t>
                      </a:r>
                      <a:r>
                        <a:rPr kumimoji="1" lang="en-US" altLang="ja-JP" sz="600" b="0" kern="1200">
                          <a:solidFill>
                            <a:schemeClr val="tx1"/>
                          </a:solidFill>
                          <a:latin typeface="+mn-lt"/>
                          <a:ea typeface="+mn-ea"/>
                          <a:cs typeface="+mn-cs"/>
                        </a:rPr>
                        <a:t>) </a:t>
                      </a:r>
                      <a:r>
                        <a:rPr kumimoji="1" lang="ja-JP" altLang="en-US" sz="600" b="0" kern="120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33184910"/>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2</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algn="l" defTabSz="914400" rtl="0" eaLnBrk="1" fontAlgn="ctr" latinLnBrk="0" hangingPunct="1"/>
                      <a:endParaRPr kumimoji="1" lang="ja-JP" altLang="en-US" sz="1100" b="0" kern="1200">
                        <a:solidFill>
                          <a:schemeClr val="tx1"/>
                        </a:solidFill>
                        <a:latin typeface="+mn-lt"/>
                        <a:ea typeface="+mn-ea"/>
                        <a:cs typeface="+mn-cs"/>
                      </a:endParaRPr>
                    </a:p>
                  </a:txBody>
                  <a:tcPr marL="36000" marR="360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イオン</a:t>
                      </a:r>
                      <a:r>
                        <a:rPr kumimoji="1" lang="en-US" altLang="ja-JP" sz="600" b="0" kern="1200" dirty="0">
                          <a:solidFill>
                            <a:schemeClr val="tx1"/>
                          </a:solidFill>
                          <a:latin typeface="+mn-lt"/>
                          <a:ea typeface="+mn-ea"/>
                          <a:cs typeface="+mn-cs"/>
                        </a:rPr>
                        <a:t>) </a:t>
                      </a:r>
                      <a:r>
                        <a:rPr kumimoji="1" lang="ja-JP" altLang="en-US" sz="600" b="0" kern="1200" dirty="0">
                          <a:solidFill>
                            <a:schemeClr val="tx1"/>
                          </a:solidFill>
                          <a:latin typeface="+mn-lt"/>
                          <a:ea typeface="+mn-ea"/>
                          <a:cs typeface="+mn-cs"/>
                        </a:rPr>
                        <a:t>関連文書</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250767317"/>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3</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algn="l" defTabSz="914400" rtl="0" eaLnBrk="1" fontAlgn="ctr" latinLnBrk="0" hangingPunct="1"/>
                      <a:endParaRPr kumimoji="1" lang="ja-JP" altLang="en-US" sz="1100" b="0" kern="1200">
                        <a:solidFill>
                          <a:schemeClr val="tx1"/>
                        </a:solidFill>
                        <a:latin typeface="+mn-lt"/>
                        <a:ea typeface="+mn-ea"/>
                        <a:cs typeface="+mn-cs"/>
                      </a:endParaRPr>
                    </a:p>
                  </a:txBody>
                  <a:tcPr marL="36000" marR="360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イオン</a:t>
                      </a:r>
                      <a:r>
                        <a:rPr kumimoji="1" lang="en-US" altLang="ja-JP" sz="600" b="0" kern="1200" dirty="0">
                          <a:solidFill>
                            <a:schemeClr val="tx1"/>
                          </a:solidFill>
                          <a:latin typeface="+mn-lt"/>
                          <a:ea typeface="+mn-ea"/>
                          <a:cs typeface="+mn-cs"/>
                        </a:rPr>
                        <a:t>) </a:t>
                      </a:r>
                      <a:r>
                        <a:rPr kumimoji="1" lang="ja-JP" altLang="en-US" sz="600" b="0" kern="1200" dirty="0">
                          <a:solidFill>
                            <a:schemeClr val="tx1"/>
                          </a:solidFill>
                          <a:latin typeface="+mn-lt"/>
                          <a:ea typeface="+mn-ea"/>
                          <a:cs typeface="+mn-cs"/>
                        </a:rPr>
                        <a:t>品質情報Ｍ</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22943419"/>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4</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3">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イメージング</a:t>
                      </a:r>
                      <a:r>
                        <a:rPr kumimoji="1" lang="en-US" altLang="ja-JP" sz="600" b="0" kern="1200" dirty="0">
                          <a:solidFill>
                            <a:schemeClr val="tx1"/>
                          </a:solidFill>
                          <a:latin typeface="+mn-lt"/>
                          <a:ea typeface="+mn-ea"/>
                          <a:cs typeface="+mn-cs"/>
                        </a:rPr>
                        <a:t>)</a:t>
                      </a:r>
                    </a:p>
                    <a:p>
                      <a:pPr marL="0" algn="l" defTabSz="914400" rtl="0" eaLnBrk="1" fontAlgn="ctr" latinLnBrk="0" hangingPunct="1"/>
                      <a:r>
                        <a:rPr kumimoji="1" lang="ja-JP" altLang="en-US" sz="600" b="0" kern="1200" dirty="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イメージング</a:t>
                      </a:r>
                      <a:r>
                        <a:rPr kumimoji="1" lang="en-US" altLang="ja-JP" sz="600" b="0" kern="1200" dirty="0">
                          <a:solidFill>
                            <a:schemeClr val="tx1"/>
                          </a:solidFill>
                          <a:latin typeface="+mn-lt"/>
                          <a:ea typeface="+mn-ea"/>
                          <a:cs typeface="+mn-cs"/>
                        </a:rPr>
                        <a:t>) </a:t>
                      </a:r>
                      <a:r>
                        <a:rPr kumimoji="1" lang="ja-JP" altLang="en-US" sz="600" b="0" kern="1200" dirty="0">
                          <a:solidFill>
                            <a:schemeClr val="tx1"/>
                          </a:solidFill>
                          <a:latin typeface="+mn-lt"/>
                          <a:ea typeface="+mn-ea"/>
                          <a:cs typeface="+mn-cs"/>
                        </a:rPr>
                        <a:t>製品仕様書 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533943938"/>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5</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algn="l" defTabSz="914400" rtl="0" eaLnBrk="1" fontAlgn="ctr" latinLnBrk="0" hangingPunct="1"/>
                      <a:endParaRPr kumimoji="1" lang="ja-JP" altLang="en-US" sz="1100" b="0" kern="1200">
                        <a:solidFill>
                          <a:schemeClr val="tx1"/>
                        </a:solidFill>
                        <a:latin typeface="+mn-lt"/>
                        <a:ea typeface="+mn-ea"/>
                        <a:cs typeface="+mn-cs"/>
                      </a:endParaRPr>
                    </a:p>
                  </a:txBody>
                  <a:tcPr marL="36000" marR="360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イメージング</a:t>
                      </a:r>
                      <a:r>
                        <a:rPr kumimoji="1" lang="en-US" altLang="ja-JP" sz="600" b="0" kern="1200" dirty="0">
                          <a:solidFill>
                            <a:schemeClr val="tx1"/>
                          </a:solidFill>
                          <a:latin typeface="+mn-lt"/>
                          <a:ea typeface="+mn-ea"/>
                          <a:cs typeface="+mn-cs"/>
                        </a:rPr>
                        <a:t>) </a:t>
                      </a:r>
                      <a:r>
                        <a:rPr kumimoji="1" lang="ja-JP" altLang="en-US" sz="600" b="0" kern="1200" dirty="0">
                          <a:solidFill>
                            <a:schemeClr val="tx1"/>
                          </a:solidFill>
                          <a:latin typeface="+mn-lt"/>
                          <a:ea typeface="+mn-ea"/>
                          <a:cs typeface="+mn-cs"/>
                        </a:rPr>
                        <a:t>関連文書</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4890753"/>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6</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algn="l" defTabSz="914400" rtl="0" eaLnBrk="1" fontAlgn="ctr" latinLnBrk="0" hangingPunct="1"/>
                      <a:endParaRPr kumimoji="1" lang="ja-JP" altLang="en-US" sz="1100" b="0" kern="1200">
                        <a:solidFill>
                          <a:schemeClr val="tx1"/>
                        </a:solidFill>
                        <a:latin typeface="+mn-lt"/>
                        <a:ea typeface="+mn-ea"/>
                        <a:cs typeface="+mn-cs"/>
                      </a:endParaRPr>
                    </a:p>
                  </a:txBody>
                  <a:tcPr marL="36000" marR="360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ja-JP" sz="600" b="0" kern="1200">
                          <a:solidFill>
                            <a:schemeClr val="tx1"/>
                          </a:solidFill>
                          <a:latin typeface="+mn-lt"/>
                          <a:ea typeface="+mn-ea"/>
                          <a:cs typeface="+mn-cs"/>
                        </a:rPr>
                        <a:t>(</a:t>
                      </a:r>
                      <a:r>
                        <a:rPr kumimoji="1" lang="ja-JP" altLang="en-US" sz="600" b="0" kern="1200">
                          <a:solidFill>
                            <a:schemeClr val="tx1"/>
                          </a:solidFill>
                          <a:latin typeface="+mn-lt"/>
                          <a:ea typeface="+mn-ea"/>
                          <a:cs typeface="+mn-cs"/>
                        </a:rPr>
                        <a:t>イメージング</a:t>
                      </a:r>
                      <a:r>
                        <a:rPr kumimoji="1" lang="en-US" altLang="ja-JP" sz="600" b="0" kern="1200">
                          <a:solidFill>
                            <a:schemeClr val="tx1"/>
                          </a:solidFill>
                          <a:latin typeface="+mn-lt"/>
                          <a:ea typeface="+mn-ea"/>
                          <a:cs typeface="+mn-cs"/>
                        </a:rPr>
                        <a:t>) </a:t>
                      </a:r>
                      <a:r>
                        <a:rPr kumimoji="1" lang="ja-JP" altLang="en-US" sz="600" b="0" kern="1200">
                          <a:solidFill>
                            <a:schemeClr val="tx1"/>
                          </a:solidFill>
                          <a:latin typeface="+mn-lt"/>
                          <a:ea typeface="+mn-ea"/>
                          <a:cs typeface="+mn-cs"/>
                        </a:rPr>
                        <a:t>品質情報Ｍ</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418703620"/>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7</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3">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ガリナイ</a:t>
                      </a:r>
                      <a:r>
                        <a:rPr kumimoji="1" lang="en-US" altLang="ja-JP" sz="600" b="0" kern="1200" dirty="0">
                          <a:solidFill>
                            <a:schemeClr val="tx1"/>
                          </a:solidFill>
                          <a:latin typeface="+mn-lt"/>
                          <a:ea typeface="+mn-ea"/>
                          <a:cs typeface="+mn-cs"/>
                        </a:rPr>
                        <a:t>)</a:t>
                      </a:r>
                    </a:p>
                    <a:p>
                      <a:pPr marL="0" algn="l" defTabSz="914400" rtl="0" eaLnBrk="1" fontAlgn="ctr" latinLnBrk="0" hangingPunct="1"/>
                      <a:r>
                        <a:rPr kumimoji="1" lang="ja-JP" altLang="en-US" sz="600" b="0" kern="1200" dirty="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ガリナイ</a:t>
                      </a:r>
                      <a:r>
                        <a:rPr kumimoji="1" lang="en-US" altLang="ja-JP" sz="600" b="0" kern="1200" dirty="0">
                          <a:solidFill>
                            <a:schemeClr val="tx1"/>
                          </a:solidFill>
                          <a:latin typeface="+mn-lt"/>
                          <a:ea typeface="+mn-ea"/>
                          <a:cs typeface="+mn-cs"/>
                        </a:rPr>
                        <a:t>) </a:t>
                      </a:r>
                      <a:r>
                        <a:rPr kumimoji="1" lang="ja-JP" altLang="en-US" sz="600" b="0" kern="1200" dirty="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08352444"/>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8</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algn="l" defTabSz="914400" rtl="0" eaLnBrk="1" fontAlgn="ctr" latinLnBrk="0" hangingPunct="1"/>
                      <a:endParaRPr kumimoji="1" lang="ja-JP" altLang="en-US" sz="1100" b="0" kern="1200">
                        <a:solidFill>
                          <a:schemeClr val="tx1"/>
                        </a:solidFill>
                        <a:latin typeface="+mn-lt"/>
                        <a:ea typeface="+mn-ea"/>
                        <a:cs typeface="+mn-cs"/>
                      </a:endParaRPr>
                    </a:p>
                  </a:txBody>
                  <a:tcPr marL="36000" marR="360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ja-JP" sz="600" b="0" kern="1200">
                          <a:solidFill>
                            <a:schemeClr val="tx1"/>
                          </a:solidFill>
                          <a:latin typeface="+mn-lt"/>
                          <a:ea typeface="+mn-ea"/>
                          <a:cs typeface="+mn-cs"/>
                        </a:rPr>
                        <a:t>(</a:t>
                      </a:r>
                      <a:r>
                        <a:rPr kumimoji="1" lang="ja-JP" altLang="en-US" sz="600" b="0" kern="1200">
                          <a:solidFill>
                            <a:schemeClr val="tx1"/>
                          </a:solidFill>
                          <a:latin typeface="+mn-lt"/>
                          <a:ea typeface="+mn-ea"/>
                          <a:cs typeface="+mn-cs"/>
                        </a:rPr>
                        <a:t>ガリナイ</a:t>
                      </a:r>
                      <a:r>
                        <a:rPr kumimoji="1" lang="en-US" altLang="ja-JP" sz="600" b="0" kern="1200">
                          <a:solidFill>
                            <a:schemeClr val="tx1"/>
                          </a:solidFill>
                          <a:latin typeface="+mn-lt"/>
                          <a:ea typeface="+mn-ea"/>
                          <a:cs typeface="+mn-cs"/>
                        </a:rPr>
                        <a:t>) </a:t>
                      </a:r>
                      <a:r>
                        <a:rPr kumimoji="1" lang="ja-JP" altLang="en-US" sz="600" b="0" kern="1200">
                          <a:solidFill>
                            <a:schemeClr val="tx1"/>
                          </a:solidFill>
                          <a:latin typeface="+mn-lt"/>
                          <a:ea typeface="+mn-ea"/>
                          <a:cs typeface="+mn-cs"/>
                        </a:rPr>
                        <a:t>関連文書</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05427576"/>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9</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algn="l" defTabSz="914400" rtl="0" eaLnBrk="1" fontAlgn="ctr" latinLnBrk="0" hangingPunct="1"/>
                      <a:endParaRPr kumimoji="1" lang="ja-JP" altLang="en-US" sz="1100" b="0" kern="1200">
                        <a:solidFill>
                          <a:schemeClr val="tx1"/>
                        </a:solidFill>
                        <a:latin typeface="+mn-lt"/>
                        <a:ea typeface="+mn-ea"/>
                        <a:cs typeface="+mn-cs"/>
                      </a:endParaRPr>
                    </a:p>
                  </a:txBody>
                  <a:tcPr marL="36000" marR="360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ガリナイ</a:t>
                      </a:r>
                      <a:r>
                        <a:rPr kumimoji="1" lang="en-US" altLang="ja-JP" sz="600" b="0" kern="1200" dirty="0">
                          <a:solidFill>
                            <a:schemeClr val="tx1"/>
                          </a:solidFill>
                          <a:latin typeface="+mn-lt"/>
                          <a:ea typeface="+mn-ea"/>
                          <a:cs typeface="+mn-cs"/>
                        </a:rPr>
                        <a:t>) </a:t>
                      </a:r>
                      <a:r>
                        <a:rPr kumimoji="1" lang="ja-JP" altLang="en-US" sz="600" b="0" kern="1200" dirty="0">
                          <a:solidFill>
                            <a:schemeClr val="tx1"/>
                          </a:solidFill>
                          <a:latin typeface="+mn-lt"/>
                          <a:ea typeface="+mn-ea"/>
                          <a:cs typeface="+mn-cs"/>
                        </a:rPr>
                        <a:t>品質情報Ｍ</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45219389"/>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10</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ディスプ</a:t>
                      </a:r>
                      <a:r>
                        <a:rPr kumimoji="1" lang="en-US" altLang="ja-JP" sz="600" b="0" kern="1200" dirty="0">
                          <a:solidFill>
                            <a:schemeClr val="tx1"/>
                          </a:solidFill>
                          <a:latin typeface="+mn-lt"/>
                          <a:ea typeface="+mn-ea"/>
                          <a:cs typeface="+mn-cs"/>
                        </a:rPr>
                        <a:t>) </a:t>
                      </a:r>
                    </a:p>
                    <a:p>
                      <a:pPr marL="0" algn="l" defTabSz="914400" rtl="0" eaLnBrk="1" fontAlgn="ctr" latinLnBrk="0" hangingPunct="1"/>
                      <a:r>
                        <a:rPr kumimoji="1" lang="ja-JP" altLang="en-US" sz="600" b="0" kern="1200" dirty="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en-US" altLang="ja-JP" sz="600" b="0" kern="1200">
                          <a:solidFill>
                            <a:schemeClr val="tx1"/>
                          </a:solidFill>
                          <a:latin typeface="+mn-lt"/>
                          <a:ea typeface="+mn-ea"/>
                          <a:cs typeface="+mn-cs"/>
                        </a:rPr>
                        <a:t>(</a:t>
                      </a:r>
                      <a:r>
                        <a:rPr kumimoji="1" lang="ja-JP" altLang="en-US" sz="600" b="0" kern="1200">
                          <a:solidFill>
                            <a:schemeClr val="tx1"/>
                          </a:solidFill>
                          <a:latin typeface="+mn-lt"/>
                          <a:ea typeface="+mn-ea"/>
                          <a:cs typeface="+mn-cs"/>
                        </a:rPr>
                        <a:t>ディスプ</a:t>
                      </a:r>
                      <a:r>
                        <a:rPr kumimoji="1" lang="en-US" altLang="ja-JP" sz="600" b="0" kern="1200">
                          <a:solidFill>
                            <a:schemeClr val="tx1"/>
                          </a:solidFill>
                          <a:latin typeface="+mn-lt"/>
                          <a:ea typeface="+mn-ea"/>
                          <a:cs typeface="+mn-cs"/>
                        </a:rPr>
                        <a:t>) </a:t>
                      </a:r>
                      <a:r>
                        <a:rPr kumimoji="1" lang="ja-JP" altLang="en-US" sz="600" b="0" kern="120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192444399"/>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1</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4">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ja-JP" altLang="en-US" sz="600" b="0" kern="1200" noProof="0" dirty="0">
                          <a:solidFill>
                            <a:schemeClr val="tx1"/>
                          </a:solidFill>
                          <a:latin typeface="+mn-lt"/>
                          <a:ea typeface="+mn-ea"/>
                          <a:cs typeface="+mn-cs"/>
                        </a:rPr>
                        <a:t>納入仕様書管理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zh-TW" altLang="en-US" sz="600" b="0" kern="1200" dirty="0">
                          <a:solidFill>
                            <a:schemeClr val="tx1"/>
                          </a:solidFill>
                          <a:latin typeface="+mn-lt"/>
                          <a:ea typeface="+mn-ea"/>
                          <a:cs typeface="+mn-cs"/>
                        </a:rPr>
                        <a:t>納入仕様書 管理</a:t>
                      </a:r>
                    </a:p>
                  </a:txBody>
                  <a:tcPr marL="46800" marR="468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7492847"/>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2</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1" lang="ja-JP" altLang="en-US" sz="1100" b="0" i="0" u="none" strike="noStrike" kern="1200" cap="none" spc="0" normalizeH="0" baseline="0" noProof="0">
                        <a:ln>
                          <a:noFill/>
                        </a:ln>
                        <a:solidFill>
                          <a:srgbClr val="000000"/>
                        </a:solidFill>
                        <a:effectLst/>
                        <a:uLnTx/>
                        <a:uFillTx/>
                        <a:latin typeface="Arial"/>
                        <a:ea typeface="游ゴシック Medium"/>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en-US" altLang="ja-JP" sz="600" b="0" kern="1200">
                          <a:solidFill>
                            <a:schemeClr val="tx1"/>
                          </a:solidFill>
                          <a:latin typeface="+mn-lt"/>
                          <a:ea typeface="+mn-ea"/>
                          <a:cs typeface="+mn-cs"/>
                        </a:rPr>
                        <a:t>【</a:t>
                      </a:r>
                      <a:r>
                        <a:rPr kumimoji="1" lang="ja-JP" altLang="en-US" sz="600" b="0" kern="1200">
                          <a:solidFill>
                            <a:schemeClr val="tx1"/>
                          </a:solidFill>
                          <a:latin typeface="+mn-lt"/>
                          <a:ea typeface="+mn-ea"/>
                          <a:cs typeface="+mn-cs"/>
                        </a:rPr>
                        <a:t>アーカイブ</a:t>
                      </a:r>
                      <a:r>
                        <a:rPr kumimoji="1" lang="en-US" altLang="ja-JP" sz="600" b="0" kern="1200">
                          <a:solidFill>
                            <a:schemeClr val="tx1"/>
                          </a:solidFill>
                          <a:latin typeface="+mn-lt"/>
                          <a:ea typeface="+mn-ea"/>
                          <a:cs typeface="+mn-cs"/>
                        </a:rPr>
                        <a:t>】</a:t>
                      </a:r>
                      <a:r>
                        <a:rPr kumimoji="1" lang="ja-JP" altLang="en-US" sz="600" b="0" kern="1200">
                          <a:solidFill>
                            <a:schemeClr val="tx1"/>
                          </a:solidFill>
                          <a:latin typeface="+mn-lt"/>
                          <a:ea typeface="+mn-ea"/>
                          <a:cs typeface="+mn-cs"/>
                        </a:rPr>
                        <a:t>納入仕様書 管理</a:t>
                      </a:r>
                    </a:p>
                  </a:txBody>
                  <a:tcPr marL="46800" marR="468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06526466"/>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3</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1" lang="ja-JP" altLang="en-US" sz="1100" b="0" i="0" u="none" strike="noStrike" kern="1200" cap="none" spc="0" normalizeH="0" baseline="0" noProof="0">
                        <a:ln>
                          <a:noFill/>
                        </a:ln>
                        <a:solidFill>
                          <a:srgbClr val="000000"/>
                        </a:solidFill>
                        <a:effectLst/>
                        <a:uLnTx/>
                        <a:uFillTx/>
                        <a:latin typeface="Arial"/>
                        <a:ea typeface="游ゴシック Medium"/>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zh-TW" sz="600" b="0" kern="1200" dirty="0">
                          <a:solidFill>
                            <a:schemeClr val="tx1"/>
                          </a:solidFill>
                          <a:latin typeface="+mn-lt"/>
                          <a:ea typeface="+mn-ea"/>
                          <a:cs typeface="+mn-cs"/>
                        </a:rPr>
                        <a:t>(</a:t>
                      </a:r>
                      <a:r>
                        <a:rPr kumimoji="1" lang="zh-TW" altLang="en-US" sz="600" b="0" kern="1200" dirty="0">
                          <a:solidFill>
                            <a:schemeClr val="tx1"/>
                          </a:solidFill>
                          <a:latin typeface="+mn-lt"/>
                          <a:ea typeface="+mn-ea"/>
                          <a:cs typeface="+mn-cs"/>
                        </a:rPr>
                        <a:t>黒崎</a:t>
                      </a:r>
                      <a:r>
                        <a:rPr kumimoji="1" lang="en-US" altLang="zh-TW" sz="600" b="0" kern="1200" dirty="0">
                          <a:solidFill>
                            <a:schemeClr val="tx1"/>
                          </a:solidFill>
                          <a:latin typeface="+mn-lt"/>
                          <a:ea typeface="+mn-ea"/>
                          <a:cs typeface="+mn-cs"/>
                        </a:rPr>
                        <a:t>)</a:t>
                      </a:r>
                      <a:r>
                        <a:rPr kumimoji="1" lang="zh-TW" altLang="en-US" sz="600" b="0" kern="1200" dirty="0">
                          <a:solidFill>
                            <a:schemeClr val="tx1"/>
                          </a:solidFill>
                          <a:latin typeface="+mn-lt"/>
                          <a:ea typeface="+mn-ea"/>
                          <a:cs typeface="+mn-cs"/>
                        </a:rPr>
                        <a:t>仕様書 関連文書</a:t>
                      </a:r>
                    </a:p>
                  </a:txBody>
                  <a:tcPr marL="46800" marR="468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93798787"/>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4</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1" lang="ja-JP" altLang="en-US" sz="1100" b="0" i="0" u="none" strike="noStrike" kern="1200" cap="none" spc="0" normalizeH="0" baseline="0" noProof="0">
                        <a:ln>
                          <a:noFill/>
                        </a:ln>
                        <a:solidFill>
                          <a:srgbClr val="000000"/>
                        </a:solidFill>
                        <a:effectLst/>
                        <a:uLnTx/>
                        <a:uFillTx/>
                        <a:latin typeface="Arial"/>
                        <a:ea typeface="游ゴシック Medium"/>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zh-TW" sz="600" b="0" kern="1200" dirty="0">
                          <a:solidFill>
                            <a:schemeClr val="tx1"/>
                          </a:solidFill>
                          <a:latin typeface="+mn-lt"/>
                          <a:ea typeface="+mn-ea"/>
                          <a:cs typeface="+mn-cs"/>
                        </a:rPr>
                        <a:t>(</a:t>
                      </a:r>
                      <a:r>
                        <a:rPr kumimoji="1" lang="zh-TW" altLang="en-US" sz="600" b="0" kern="1200" dirty="0">
                          <a:solidFill>
                            <a:schemeClr val="tx1"/>
                          </a:solidFill>
                          <a:latin typeface="+mn-lt"/>
                          <a:ea typeface="+mn-ea"/>
                          <a:cs typeface="+mn-cs"/>
                        </a:rPr>
                        <a:t>黒崎</a:t>
                      </a:r>
                      <a:r>
                        <a:rPr kumimoji="1" lang="en-US" altLang="zh-TW" sz="600" b="0" kern="1200" dirty="0">
                          <a:solidFill>
                            <a:schemeClr val="tx1"/>
                          </a:solidFill>
                          <a:latin typeface="+mn-lt"/>
                          <a:ea typeface="+mn-ea"/>
                          <a:cs typeface="+mn-cs"/>
                        </a:rPr>
                        <a:t>)</a:t>
                      </a:r>
                      <a:r>
                        <a:rPr kumimoji="1" lang="zh-TW" altLang="en-US" sz="600" b="0" kern="1200" dirty="0">
                          <a:solidFill>
                            <a:schemeClr val="tx1"/>
                          </a:solidFill>
                          <a:latin typeface="+mn-lt"/>
                          <a:ea typeface="+mn-ea"/>
                          <a:cs typeface="+mn-cs"/>
                        </a:rPr>
                        <a:t>品質情報ﾏｽﾀ</a:t>
                      </a:r>
                      <a:r>
                        <a:rPr kumimoji="1" lang="en-US" altLang="zh-TW" sz="600" b="0" kern="1200" dirty="0">
                          <a:solidFill>
                            <a:schemeClr val="tx1"/>
                          </a:solidFill>
                          <a:latin typeface="+mn-lt"/>
                          <a:ea typeface="+mn-ea"/>
                          <a:cs typeface="+mn-cs"/>
                        </a:rPr>
                        <a:t>-</a:t>
                      </a:r>
                    </a:p>
                  </a:txBody>
                  <a:tcPr marL="46800" marR="468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02442234"/>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1</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ja-JP" altLang="en-US" sz="600" b="0" kern="1200" dirty="0">
                          <a:solidFill>
                            <a:schemeClr val="tx1"/>
                          </a:solidFill>
                          <a:latin typeface="+mn-lt"/>
                          <a:ea typeface="+mn-ea"/>
                          <a:cs typeface="+mn-cs"/>
                        </a:rPr>
                        <a:t>貿易管理・納入仕様書ＤＢ</a:t>
                      </a:r>
                    </a:p>
                  </a:txBody>
                  <a:tcPr marL="9525"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endParaRPr lang="ja-JP" altLang="en-US" sz="1000" dirty="0"/>
                    </a:p>
                  </a:txBody>
                  <a:tcPr marL="46800" marR="468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144546574"/>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2</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ja-JP" altLang="en-US" sz="600" b="0" kern="1200">
                          <a:solidFill>
                            <a:schemeClr val="tx1"/>
                          </a:solidFill>
                          <a:latin typeface="+mn-lt"/>
                          <a:ea typeface="+mn-ea"/>
                          <a:cs typeface="+mn-cs"/>
                        </a:rPr>
                        <a:t>納入仕様書システム</a:t>
                      </a:r>
                    </a:p>
                  </a:txBody>
                  <a:tcPr marL="9525"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endParaRPr lang="ja-JP" altLang="en-US" sz="1000" dirty="0"/>
                    </a:p>
                  </a:txBody>
                  <a:tcPr marL="46800" marR="468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98560373"/>
                  </a:ext>
                </a:extLst>
              </a:tr>
            </a:tbl>
          </a:graphicData>
        </a:graphic>
      </p:graphicFrame>
      <p:sp>
        <p:nvSpPr>
          <p:cNvPr id="16" name="テキスト ボックス 15">
            <a:extLst>
              <a:ext uri="{FF2B5EF4-FFF2-40B4-BE49-F238E27FC236}">
                <a16:creationId xmlns:a16="http://schemas.microsoft.com/office/drawing/2014/main" id="{25BCE0B0-1F5F-45BE-B802-E388599E127D}"/>
              </a:ext>
            </a:extLst>
          </p:cNvPr>
          <p:cNvSpPr txBox="1"/>
          <p:nvPr/>
        </p:nvSpPr>
        <p:spPr>
          <a:xfrm>
            <a:off x="311630" y="3622150"/>
            <a:ext cx="676656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1" i="0" u="none" strike="noStrike" kern="1200" cap="none" spc="0" normalizeH="0" baseline="0" noProof="0">
                <a:ln>
                  <a:noFill/>
                </a:ln>
                <a:solidFill>
                  <a:prstClr val="black"/>
                </a:solidFill>
                <a:effectLst/>
                <a:uLnTx/>
                <a:uFillTx/>
                <a:latin typeface="Gill Sans MT"/>
                <a:ea typeface="游ゴシック" panose="020B0400000000000000" pitchFamily="50" charset="-128"/>
                <a:cs typeface="+mn-cs"/>
              </a:rPr>
              <a:t>Round1</a:t>
            </a:r>
            <a:r>
              <a:rPr kumimoji="1" lang="ja-JP" altLang="en-US" sz="800" b="1" i="0" u="none" strike="noStrike" kern="1200" cap="none" spc="0" normalizeH="0" baseline="0" noProof="0">
                <a:ln>
                  <a:noFill/>
                </a:ln>
                <a:solidFill>
                  <a:prstClr val="black"/>
                </a:solidFill>
                <a:effectLst/>
                <a:uLnTx/>
                <a:uFillTx/>
                <a:latin typeface="Gill Sans MT"/>
                <a:ea typeface="游ゴシック" panose="020B0400000000000000" pitchFamily="50" charset="-128"/>
                <a:cs typeface="+mn-cs"/>
              </a:rPr>
              <a:t>対象機能想定</a:t>
            </a:r>
          </a:p>
        </p:txBody>
      </p:sp>
      <p:sp>
        <p:nvSpPr>
          <p:cNvPr id="4" name="四角形: 角を丸くする 3">
            <a:extLst>
              <a:ext uri="{FF2B5EF4-FFF2-40B4-BE49-F238E27FC236}">
                <a16:creationId xmlns:a16="http://schemas.microsoft.com/office/drawing/2014/main" id="{FEBE013F-CF39-1C75-A02D-82D9ACC3F784}"/>
              </a:ext>
            </a:extLst>
          </p:cNvPr>
          <p:cNvSpPr/>
          <p:nvPr/>
        </p:nvSpPr>
        <p:spPr>
          <a:xfrm>
            <a:off x="8911647" y="3194304"/>
            <a:ext cx="3249729" cy="1207726"/>
          </a:xfrm>
          <a:prstGeom prst="roundRect">
            <a:avLst>
              <a:gd name="adj" fmla="val 6115"/>
            </a:avLst>
          </a:prstGeom>
          <a:solidFill>
            <a:schemeClr val="accent6">
              <a:lumMod val="20000"/>
              <a:lumOff val="80000"/>
              <a:alpha val="50000"/>
            </a:schemeClr>
          </a:solidFill>
          <a:ln w="317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Round2, Round3</a:t>
            </a:r>
            <a:r>
              <a:rPr kumimoji="1" lang="ja-JP" altLang="en-US" sz="10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に関する説明：</a:t>
            </a:r>
            <a:endParaRPr kumimoji="1" lang="en-US" altLang="ja-JP" sz="10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システム全体は一つ</a:t>
            </a:r>
            <a:r>
              <a:rPr kumimoji="1" lang="en-US" altLang="ja-JP" sz="8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App</a:t>
            </a:r>
            <a:r>
              <a:rPr kumimoji="1" lang="ja-JP" altLang="en-US" sz="8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になるため、</a:t>
            </a:r>
            <a:r>
              <a:rPr kumimoji="1" lang="en-US" altLang="ja-JP" sz="8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Round2,3</a:t>
            </a:r>
            <a:r>
              <a:rPr kumimoji="1" lang="ja-JP" altLang="en-US" sz="8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の主作業は移行作業</a:t>
            </a:r>
            <a:endParaRPr kumimoji="1" lang="en-US" altLang="ja-JP" sz="8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移行ツールの入力となる</a:t>
            </a:r>
            <a:r>
              <a:rPr kumimoji="1" lang="en-US" altLang="ja-JP"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DB</a:t>
            </a:r>
            <a:r>
              <a:rPr kumimoji="1" lang="ja-JP" altLang="en-US"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ファイルの差異の対応</a:t>
            </a:r>
            <a:endParaRPr kumimoji="1" lang="en-US" altLang="ja-JP"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入力データの差異によりの</a:t>
            </a:r>
            <a:r>
              <a:rPr kumimoji="1" lang="en-US" altLang="ja-JP"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Data mapping</a:t>
            </a:r>
            <a:r>
              <a:rPr kumimoji="1" lang="ja-JP" altLang="en-US"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の見直す</a:t>
            </a:r>
            <a:endParaRPr kumimoji="1" lang="en-US" altLang="ja-JP"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ツール実行</a:t>
            </a:r>
            <a:endParaRPr kumimoji="1" lang="en-US" altLang="ja-JP"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移行前後データの比較、差異分析、必要によりの対応、移行報告</a:t>
            </a:r>
            <a:endParaRPr kumimoji="1" lang="en-US" altLang="ja-JP"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8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会社・組織の業務差異</a:t>
            </a:r>
            <a:r>
              <a:rPr kumimoji="1" lang="en-US" altLang="ja-JP" sz="8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a:t>
            </a:r>
            <a:r>
              <a:rPr kumimoji="1" lang="ja-JP" altLang="en-US" sz="8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表現差異対応、エンハンス要件がない限り、</a:t>
            </a:r>
            <a:r>
              <a:rPr kumimoji="1" lang="en-US" altLang="ja-JP" sz="8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Round2, Round3</a:t>
            </a:r>
            <a:r>
              <a:rPr kumimoji="1" lang="ja-JP" altLang="en-US" sz="8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のリリース自体は不要</a:t>
            </a:r>
            <a:endParaRPr kumimoji="1" lang="en-US" altLang="ja-JP" sz="8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 Round2, Round3</a:t>
            </a:r>
            <a:r>
              <a:rPr kumimoji="1" lang="ja-JP" altLang="en-US"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の本質は：</a:t>
            </a:r>
            <a:r>
              <a:rPr kumimoji="1" lang="en-US" altLang="ja-JP"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 Round2, Round3</a:t>
            </a:r>
            <a:r>
              <a:rPr kumimoji="1" lang="ja-JP" altLang="en-US"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対象会社の履歴が利用可能時期のみ</a:t>
            </a:r>
            <a:endParaRPr kumimoji="1" lang="en-US" altLang="ja-JP"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endParaRPr>
          </a:p>
        </p:txBody>
      </p:sp>
      <p:sp>
        <p:nvSpPr>
          <p:cNvPr id="5" name="テキスト ボックス 4">
            <a:extLst>
              <a:ext uri="{FF2B5EF4-FFF2-40B4-BE49-F238E27FC236}">
                <a16:creationId xmlns:a16="http://schemas.microsoft.com/office/drawing/2014/main" id="{12DD182B-5953-4742-68E2-0A9449153500}"/>
              </a:ext>
            </a:extLst>
          </p:cNvPr>
          <p:cNvSpPr txBox="1"/>
          <p:nvPr/>
        </p:nvSpPr>
        <p:spPr>
          <a:xfrm>
            <a:off x="414336" y="735600"/>
            <a:ext cx="11469807"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下記スケジュールは弊社の想定で、ご要望に合わせて開始時間について、調整することが可能で、相談させてください。</a:t>
            </a:r>
          </a:p>
        </p:txBody>
      </p:sp>
    </p:spTree>
    <p:extLst>
      <p:ext uri="{BB962C8B-B14F-4D97-AF65-F5344CB8AC3E}">
        <p14:creationId xmlns:p14="http://schemas.microsoft.com/office/powerpoint/2010/main" val="23793186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2B63A-A269-41E1-262D-D3147F22FAE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F4FA795-B486-6687-FDCA-70067EC925B7}"/>
              </a:ext>
            </a:extLst>
          </p:cNvPr>
          <p:cNvSpPr>
            <a:spLocks noGrp="1"/>
          </p:cNvSpPr>
          <p:nvPr>
            <p:ph type="title"/>
          </p:nvPr>
        </p:nvSpPr>
        <p:spPr>
          <a:xfrm>
            <a:off x="414336" y="255263"/>
            <a:ext cx="9327072" cy="683629"/>
          </a:xfrm>
        </p:spPr>
        <p:txBody>
          <a:bodyPr/>
          <a:lstStyle/>
          <a:p>
            <a:r>
              <a:rPr lang="ja-JP" altLang="en-US" dirty="0"/>
              <a:t>見積もり</a:t>
            </a:r>
            <a:endParaRPr lang="ja-JP" altLang="en-US" dirty="0">
              <a:effectLst/>
            </a:endParaRPr>
          </a:p>
        </p:txBody>
      </p:sp>
      <p:graphicFrame>
        <p:nvGraphicFramePr>
          <p:cNvPr id="5" name="表 4">
            <a:extLst>
              <a:ext uri="{FF2B5EF4-FFF2-40B4-BE49-F238E27FC236}">
                <a16:creationId xmlns:a16="http://schemas.microsoft.com/office/drawing/2014/main" id="{D1DBF01F-6469-C2E7-4F07-07E3E6884DD0}"/>
              </a:ext>
            </a:extLst>
          </p:cNvPr>
          <p:cNvGraphicFramePr>
            <a:graphicFrameLocks noGrp="1"/>
          </p:cNvGraphicFramePr>
          <p:nvPr>
            <p:extLst>
              <p:ext uri="{D42A27DB-BD31-4B8C-83A1-F6EECF244321}">
                <p14:modId xmlns:p14="http://schemas.microsoft.com/office/powerpoint/2010/main" val="2501041052"/>
              </p:ext>
            </p:extLst>
          </p:nvPr>
        </p:nvGraphicFramePr>
        <p:xfrm>
          <a:off x="479552" y="836571"/>
          <a:ext cx="11219955" cy="5276694"/>
        </p:xfrm>
        <a:graphic>
          <a:graphicData uri="http://schemas.openxmlformats.org/drawingml/2006/table">
            <a:tbl>
              <a:tblPr firstRow="1" bandRow="1">
                <a:tableStyleId>{7DF18680-E054-41AD-8BC1-D1AEF772440D}</a:tableStyleId>
              </a:tblPr>
              <a:tblGrid>
                <a:gridCol w="1981682">
                  <a:extLst>
                    <a:ext uri="{9D8B030D-6E8A-4147-A177-3AD203B41FA5}">
                      <a16:colId xmlns:a16="http://schemas.microsoft.com/office/drawing/2014/main" val="1822749168"/>
                    </a:ext>
                  </a:extLst>
                </a:gridCol>
                <a:gridCol w="1267618">
                  <a:extLst>
                    <a:ext uri="{9D8B030D-6E8A-4147-A177-3AD203B41FA5}">
                      <a16:colId xmlns:a16="http://schemas.microsoft.com/office/drawing/2014/main" val="1141317570"/>
                    </a:ext>
                  </a:extLst>
                </a:gridCol>
                <a:gridCol w="7970655">
                  <a:extLst>
                    <a:ext uri="{9D8B030D-6E8A-4147-A177-3AD203B41FA5}">
                      <a16:colId xmlns:a16="http://schemas.microsoft.com/office/drawing/2014/main" val="371397195"/>
                    </a:ext>
                  </a:extLst>
                </a:gridCol>
              </a:tblGrid>
              <a:tr h="137622">
                <a:tc>
                  <a:txBody>
                    <a:bodyPr/>
                    <a:lstStyle/>
                    <a:p>
                      <a:pPr marL="0" algn="l" defTabSz="914400" rtl="0" eaLnBrk="1" fontAlgn="b" latinLnBrk="0" hangingPunct="1"/>
                      <a:r>
                        <a:rPr lang="ja-JP" altLang="en-US" sz="1100" b="0" u="none" strike="noStrike" kern="1200" dirty="0">
                          <a:solidFill>
                            <a:schemeClr val="tx1"/>
                          </a:solidFill>
                          <a:effectLst/>
                        </a:rPr>
                        <a:t>工程</a:t>
                      </a:r>
                      <a:endPar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tx1"/>
                          </a:solidFill>
                          <a:effectLst/>
                        </a:rPr>
                        <a:t>工数（</a:t>
                      </a:r>
                      <a:r>
                        <a:rPr lang="de-DE" sz="1100" b="0" u="none" strike="noStrike" kern="1200">
                          <a:solidFill>
                            <a:schemeClr val="tx1"/>
                          </a:solidFill>
                          <a:effectLst/>
                        </a:rPr>
                        <a:t>MM）</a:t>
                      </a:r>
                      <a:endParaRPr lang="de-DE"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tx1"/>
                          </a:solidFill>
                          <a:effectLst/>
                        </a:rPr>
                        <a:t>説明</a:t>
                      </a:r>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306662851"/>
                  </a:ext>
                </a:extLst>
              </a:tr>
              <a:tr h="788202">
                <a:tc>
                  <a:txBody>
                    <a:bodyPr/>
                    <a:lstStyle/>
                    <a:p>
                      <a:pPr marL="0" algn="l" defTabSz="914400" rtl="0" eaLnBrk="1" fontAlgn="b" latinLnBrk="0" hangingPunct="1"/>
                      <a:r>
                        <a:rPr lang="ja-JP" altLang="en-US" sz="1050" b="0" u="none" strike="noStrike" kern="1200" dirty="0">
                          <a:solidFill>
                            <a:schemeClr val="tx1"/>
                          </a:solidFill>
                          <a:effectLst/>
                        </a:rPr>
                        <a:t>要件</a:t>
                      </a:r>
                      <a:r>
                        <a:rPr lang="ja-JP" altLang="en-US" sz="1050" b="0" u="none" strike="noStrike" kern="1200" dirty="0">
                          <a:solidFill>
                            <a:schemeClr val="tx1"/>
                          </a:solidFill>
                          <a:effectLst/>
                          <a:latin typeface="+mn-lt"/>
                          <a:ea typeface="+mn-ea"/>
                          <a:cs typeface="+mn-cs"/>
                        </a:rPr>
                        <a:t>定義理解、仕様確認</a:t>
                      </a: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8.00 </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■製品仕様書管理：</a:t>
                      </a:r>
                      <a:r>
                        <a:rPr lang="en-US" altLang="ja-JP" sz="1050" b="0" u="none" strike="noStrike" kern="1200" dirty="0">
                          <a:solidFill>
                            <a:schemeClr val="tx1"/>
                          </a:solidFill>
                          <a:effectLst/>
                        </a:rPr>
                        <a:t>4.20MM</a:t>
                      </a:r>
                      <a:br>
                        <a:rPr lang="en-US" altLang="ja-JP" sz="1050" b="0" u="none" strike="noStrike" kern="1200" dirty="0">
                          <a:solidFill>
                            <a:schemeClr val="tx1"/>
                          </a:solidFill>
                          <a:effectLst/>
                        </a:rPr>
                      </a:br>
                      <a:r>
                        <a:rPr lang="ja-JP" altLang="en-US" sz="1050" b="0" u="none" strike="noStrike" kern="1200" dirty="0">
                          <a:solidFill>
                            <a:schemeClr val="tx1"/>
                          </a:solidFill>
                          <a:effectLst/>
                        </a:rPr>
                        <a:t>　</a:t>
                      </a:r>
                      <a:r>
                        <a:rPr lang="en-US" altLang="ja-JP" sz="900" b="0" u="none" strike="noStrike" kern="1200" dirty="0">
                          <a:solidFill>
                            <a:schemeClr val="tx1"/>
                          </a:solidFill>
                          <a:effectLst/>
                        </a:rPr>
                        <a:t>1</a:t>
                      </a:r>
                      <a:r>
                        <a:rPr lang="ja-JP" altLang="en-US" sz="900" b="0" u="none" strike="noStrike" kern="1200" dirty="0">
                          <a:solidFill>
                            <a:schemeClr val="tx1"/>
                          </a:solidFill>
                          <a:effectLst/>
                        </a:rPr>
                        <a:t>部署の三つ</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をメインで実施（</a:t>
                      </a:r>
                      <a:r>
                        <a:rPr lang="en-US" altLang="ja-JP" sz="900" b="0" u="none" strike="noStrike" kern="1200" dirty="0">
                          <a:solidFill>
                            <a:schemeClr val="tx1"/>
                          </a:solidFill>
                          <a:effectLst/>
                        </a:rPr>
                        <a:t>2.00MM</a:t>
                      </a:r>
                      <a:r>
                        <a:rPr lang="ja-JP" altLang="en-US" sz="900" b="0" u="none" strike="noStrike" kern="1200" dirty="0">
                          <a:solidFill>
                            <a:schemeClr val="tx1"/>
                          </a:solidFill>
                          <a:effectLst/>
                        </a:rPr>
                        <a:t>）、残り</a:t>
                      </a:r>
                      <a:r>
                        <a:rPr lang="en-US" altLang="ja-JP" sz="900" b="0" u="none" strike="noStrike" kern="1200" dirty="0">
                          <a:solidFill>
                            <a:schemeClr val="tx1"/>
                          </a:solidFill>
                          <a:effectLst/>
                        </a:rPr>
                        <a:t>11</a:t>
                      </a:r>
                      <a:r>
                        <a:rPr lang="ja-JP" altLang="en-US" sz="900" b="0" u="none" strike="noStrike" kern="1200" dirty="0">
                          <a:solidFill>
                            <a:schemeClr val="tx1"/>
                          </a:solidFill>
                          <a:effectLst/>
                        </a:rPr>
                        <a:t>部署の差分解析は</a:t>
                      </a:r>
                      <a:r>
                        <a:rPr lang="en-US" altLang="ja-JP" sz="900" b="0" u="none" strike="noStrike" kern="1200" dirty="0">
                          <a:solidFill>
                            <a:schemeClr val="tx1"/>
                          </a:solidFill>
                          <a:effectLst/>
                        </a:rPr>
                        <a:t>4MD</a:t>
                      </a:r>
                      <a:r>
                        <a:rPr lang="ja-JP" altLang="en-US" sz="900" b="0" u="none" strike="noStrike" kern="1200" dirty="0">
                          <a:solidFill>
                            <a:schemeClr val="tx1"/>
                          </a:solidFill>
                          <a:effectLst/>
                        </a:rPr>
                        <a:t>／</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で</a:t>
                      </a:r>
                      <a:r>
                        <a:rPr lang="en-US" altLang="ja-JP" sz="900" b="0" u="none" strike="noStrike" kern="1200" dirty="0">
                          <a:solidFill>
                            <a:schemeClr val="tx1"/>
                          </a:solidFill>
                          <a:effectLst/>
                        </a:rPr>
                        <a:t>2.20MM</a:t>
                      </a:r>
                      <a:br>
                        <a:rPr lang="en-US" altLang="ja-JP" sz="1050" b="0" u="none" strike="noStrike" kern="1200" dirty="0">
                          <a:solidFill>
                            <a:schemeClr val="tx1"/>
                          </a:solidFill>
                          <a:effectLst/>
                        </a:rPr>
                      </a:br>
                      <a:r>
                        <a:rPr lang="en-US" altLang="ja-JP" sz="1050" b="0" u="none" strike="noStrike" kern="1200" dirty="0">
                          <a:solidFill>
                            <a:schemeClr val="tx1"/>
                          </a:solidFill>
                          <a:effectLst/>
                        </a:rPr>
                        <a:t>■</a:t>
                      </a:r>
                      <a:r>
                        <a:rPr lang="ja-JP" altLang="en-US" sz="1050" b="0" u="none" strike="noStrike" kern="1200" dirty="0">
                          <a:solidFill>
                            <a:schemeClr val="tx1"/>
                          </a:solidFill>
                          <a:effectLst/>
                        </a:rPr>
                        <a:t>納入仕様書管理：</a:t>
                      </a:r>
                      <a:r>
                        <a:rPr lang="en-US" altLang="ja-JP" sz="1050" b="0" u="none" strike="noStrike" kern="1200" dirty="0">
                          <a:solidFill>
                            <a:schemeClr val="tx1"/>
                          </a:solidFill>
                          <a:effectLst/>
                        </a:rPr>
                        <a:t>2.10MM</a:t>
                      </a:r>
                      <a:br>
                        <a:rPr lang="en-US" altLang="ja-JP" sz="1050" b="0" u="none" strike="noStrike" kern="1200" dirty="0">
                          <a:solidFill>
                            <a:schemeClr val="tx1"/>
                          </a:solidFill>
                          <a:effectLst/>
                        </a:rPr>
                      </a:br>
                      <a:r>
                        <a:rPr lang="ja-JP" altLang="en-US" sz="1050" b="0" u="none" strike="noStrike" kern="1200" dirty="0">
                          <a:solidFill>
                            <a:schemeClr val="tx1"/>
                          </a:solidFill>
                          <a:effectLst/>
                        </a:rPr>
                        <a:t>　</a:t>
                      </a:r>
                      <a:r>
                        <a:rPr lang="en-US" altLang="ja-JP" sz="900" b="0" u="none" strike="noStrike" kern="1200" dirty="0">
                          <a:solidFill>
                            <a:schemeClr val="tx1"/>
                          </a:solidFill>
                          <a:effectLst/>
                        </a:rPr>
                        <a:t>1</a:t>
                      </a:r>
                      <a:r>
                        <a:rPr lang="ja-JP" altLang="en-US" sz="900" b="0" u="none" strike="noStrike" kern="1200" dirty="0">
                          <a:solidFill>
                            <a:schemeClr val="tx1"/>
                          </a:solidFill>
                          <a:effectLst/>
                        </a:rPr>
                        <a:t>部署の</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をメインで実施（</a:t>
                      </a:r>
                      <a:r>
                        <a:rPr lang="en-US" altLang="ja-JP" sz="900" b="0" u="none" strike="noStrike" kern="1200" dirty="0">
                          <a:solidFill>
                            <a:schemeClr val="tx1"/>
                          </a:solidFill>
                          <a:effectLst/>
                        </a:rPr>
                        <a:t>1.00MM</a:t>
                      </a:r>
                      <a:r>
                        <a:rPr lang="ja-JP" altLang="en-US" sz="900" b="0" u="none" strike="noStrike" kern="1200" dirty="0">
                          <a:solidFill>
                            <a:schemeClr val="tx1"/>
                          </a:solidFill>
                          <a:effectLst/>
                        </a:rPr>
                        <a:t>）、残り</a:t>
                      </a:r>
                      <a:r>
                        <a:rPr lang="en-US" altLang="ja-JP" sz="900" b="0" u="none" strike="noStrike" kern="1200" dirty="0">
                          <a:solidFill>
                            <a:schemeClr val="tx1"/>
                          </a:solidFill>
                          <a:effectLst/>
                        </a:rPr>
                        <a:t>11</a:t>
                      </a:r>
                      <a:r>
                        <a:rPr lang="ja-JP" altLang="en-US" sz="900" b="0" u="none" strike="noStrike" kern="1200" dirty="0">
                          <a:solidFill>
                            <a:schemeClr val="tx1"/>
                          </a:solidFill>
                          <a:effectLst/>
                        </a:rPr>
                        <a:t>部署の差分解析は</a:t>
                      </a:r>
                      <a:r>
                        <a:rPr lang="en-US" altLang="ja-JP" sz="900" b="0" u="none" strike="noStrike" kern="1200" dirty="0">
                          <a:solidFill>
                            <a:schemeClr val="tx1"/>
                          </a:solidFill>
                          <a:effectLst/>
                        </a:rPr>
                        <a:t>2MD</a:t>
                      </a:r>
                      <a:r>
                        <a:rPr lang="ja-JP" altLang="en-US" sz="900" b="0" u="none" strike="noStrike" kern="1200" dirty="0">
                          <a:solidFill>
                            <a:schemeClr val="tx1"/>
                          </a:solidFill>
                          <a:effectLst/>
                        </a:rPr>
                        <a:t>／</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で</a:t>
                      </a:r>
                      <a:r>
                        <a:rPr lang="en-US" altLang="ja-JP" sz="900" b="0" u="none" strike="noStrike" kern="1200" dirty="0">
                          <a:solidFill>
                            <a:schemeClr val="tx1"/>
                          </a:solidFill>
                          <a:effectLst/>
                        </a:rPr>
                        <a:t>1.10MM</a:t>
                      </a:r>
                      <a:br>
                        <a:rPr lang="en-US" altLang="ja-JP" sz="900" b="0" u="none" strike="noStrike" kern="1200" dirty="0">
                          <a:solidFill>
                            <a:schemeClr val="tx1"/>
                          </a:solidFill>
                          <a:effectLst/>
                        </a:rPr>
                      </a:br>
                      <a:r>
                        <a:rPr lang="en-US" altLang="ja-JP" sz="1050" b="0" u="none" strike="noStrike" kern="1200" dirty="0">
                          <a:solidFill>
                            <a:schemeClr val="tx1"/>
                          </a:solidFill>
                          <a:effectLst/>
                        </a:rPr>
                        <a:t>■</a:t>
                      </a:r>
                      <a:r>
                        <a:rPr lang="ja-JP" altLang="en-US" sz="1050" b="0" u="none" strike="noStrike" kern="1200" dirty="0">
                          <a:solidFill>
                            <a:schemeClr val="tx1"/>
                          </a:solidFill>
                          <a:effectLst/>
                        </a:rPr>
                        <a:t>その他個別</a:t>
                      </a:r>
                      <a:r>
                        <a:rPr lang="en-US" altLang="ja-JP" sz="1050" b="0" u="none" strike="noStrike" kern="1200" dirty="0">
                          <a:solidFill>
                            <a:schemeClr val="tx1"/>
                          </a:solidFill>
                          <a:effectLst/>
                        </a:rPr>
                        <a:t>DB</a:t>
                      </a:r>
                      <a:r>
                        <a:rPr lang="ja-JP" altLang="en-US" sz="1050" b="0" u="none" strike="noStrike" kern="1200" dirty="0">
                          <a:solidFill>
                            <a:schemeClr val="tx1"/>
                          </a:solidFill>
                          <a:effectLst/>
                        </a:rPr>
                        <a:t>：</a:t>
                      </a:r>
                      <a:r>
                        <a:rPr lang="en-US" altLang="ja-JP" sz="1050" b="0" u="none" strike="noStrike" kern="1200" dirty="0">
                          <a:solidFill>
                            <a:schemeClr val="tx1"/>
                          </a:solidFill>
                          <a:effectLst/>
                        </a:rPr>
                        <a:t>1.70MM</a:t>
                      </a:r>
                      <a:br>
                        <a:rPr lang="en-US" altLang="ja-JP" sz="1050" b="0" u="none" strike="noStrike" kern="1200" dirty="0">
                          <a:solidFill>
                            <a:schemeClr val="tx1"/>
                          </a:solidFill>
                          <a:effectLst/>
                        </a:rPr>
                      </a:br>
                      <a:r>
                        <a:rPr lang="ja-JP" altLang="en-US" sz="1050" b="0" u="none" strike="noStrike" kern="1200" dirty="0">
                          <a:solidFill>
                            <a:schemeClr val="tx1"/>
                          </a:solidFill>
                          <a:effectLst/>
                        </a:rPr>
                        <a:t>　</a:t>
                      </a:r>
                      <a:r>
                        <a:rPr lang="en-US" altLang="ja-JP" sz="900" b="0" u="none" strike="noStrike" kern="1200" dirty="0">
                          <a:solidFill>
                            <a:schemeClr val="tx1"/>
                          </a:solidFill>
                          <a:effectLst/>
                        </a:rPr>
                        <a:t>1</a:t>
                      </a:r>
                      <a:r>
                        <a:rPr lang="ja-JP" altLang="en-US" sz="900" b="0" u="none" strike="noStrike" kern="1200" dirty="0">
                          <a:solidFill>
                            <a:schemeClr val="tx1"/>
                          </a:solidFill>
                          <a:effectLst/>
                        </a:rPr>
                        <a:t>部署の</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をメインで実施（</a:t>
                      </a:r>
                      <a:r>
                        <a:rPr lang="en-US" altLang="ja-JP" sz="900" b="0" u="none" strike="noStrike" kern="1200" dirty="0">
                          <a:solidFill>
                            <a:schemeClr val="tx1"/>
                          </a:solidFill>
                          <a:effectLst/>
                        </a:rPr>
                        <a:t>1.00MM</a:t>
                      </a:r>
                      <a:r>
                        <a:rPr lang="ja-JP" altLang="en-US" sz="900" b="0" u="none" strike="noStrike" kern="1200" dirty="0">
                          <a:solidFill>
                            <a:schemeClr val="tx1"/>
                          </a:solidFill>
                          <a:effectLst/>
                        </a:rPr>
                        <a:t>）、残り</a:t>
                      </a:r>
                      <a:r>
                        <a:rPr lang="en-US" altLang="ja-JP" sz="900" b="0" u="none" strike="noStrike" kern="1200" dirty="0">
                          <a:solidFill>
                            <a:schemeClr val="tx1"/>
                          </a:solidFill>
                          <a:effectLst/>
                        </a:rPr>
                        <a:t>7</a:t>
                      </a:r>
                      <a:r>
                        <a:rPr lang="ja-JP" altLang="en-US" sz="900" b="0" u="none" strike="noStrike" kern="1200" dirty="0">
                          <a:solidFill>
                            <a:schemeClr val="tx1"/>
                          </a:solidFill>
                          <a:effectLst/>
                        </a:rPr>
                        <a:t>部署の差分解析は</a:t>
                      </a:r>
                      <a:r>
                        <a:rPr lang="en-US" altLang="ja-JP" sz="900" b="0" u="none" strike="noStrike" kern="1200" dirty="0">
                          <a:solidFill>
                            <a:schemeClr val="tx1"/>
                          </a:solidFill>
                          <a:effectLst/>
                        </a:rPr>
                        <a:t>2MD</a:t>
                      </a:r>
                      <a:r>
                        <a:rPr lang="ja-JP" altLang="en-US" sz="900" b="0" u="none" strike="noStrike" kern="1200" dirty="0">
                          <a:solidFill>
                            <a:schemeClr val="tx1"/>
                          </a:solidFill>
                          <a:effectLst/>
                        </a:rPr>
                        <a:t>／</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で</a:t>
                      </a:r>
                      <a:r>
                        <a:rPr lang="en-US" altLang="ja-JP" sz="900" b="0" u="none" strike="noStrike" kern="1200" dirty="0">
                          <a:solidFill>
                            <a:schemeClr val="tx1"/>
                          </a:solidFill>
                          <a:effectLst/>
                        </a:rPr>
                        <a:t>0.70MM</a:t>
                      </a:r>
                      <a:endParaRPr lang="en-US" altLang="ja-JP" sz="9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625447426"/>
                  </a:ext>
                </a:extLst>
              </a:tr>
              <a:tr h="317802">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構造設計＆</a:t>
                      </a:r>
                      <a:r>
                        <a:rPr lang="en-US" altLang="ja-JP" sz="1050" b="0" u="none" strike="noStrike" kern="1200" dirty="0">
                          <a:solidFill>
                            <a:schemeClr val="tx1"/>
                          </a:solidFill>
                          <a:effectLst/>
                          <a:latin typeface="+mn-lt"/>
                          <a:ea typeface="+mn-ea"/>
                          <a:cs typeface="+mn-cs"/>
                        </a:rPr>
                        <a:t>POC</a:t>
                      </a:r>
                    </a:p>
                    <a:p>
                      <a:pPr marL="0" algn="l" defTabSz="914400" rtl="0" eaLnBrk="1" fontAlgn="b" latinLnBrk="0" hangingPunct="1"/>
                      <a:r>
                        <a:rPr lang="ja-JP" altLang="en-US" sz="1050" b="0" u="none" strike="noStrike" kern="1200" dirty="0">
                          <a:solidFill>
                            <a:schemeClr val="tx1"/>
                          </a:solidFill>
                          <a:effectLst/>
                          <a:latin typeface="+mn-lt"/>
                          <a:ea typeface="+mn-ea"/>
                          <a:cs typeface="+mn-cs"/>
                        </a:rPr>
                        <a:t>（性能</a:t>
                      </a:r>
                      <a:r>
                        <a:rPr lang="en-US" altLang="ja-JP" sz="1050" b="0" u="none" strike="noStrike" kern="1200" dirty="0">
                          <a:solidFill>
                            <a:schemeClr val="tx1"/>
                          </a:solidFill>
                          <a:effectLst/>
                          <a:latin typeface="+mn-lt"/>
                          <a:ea typeface="+mn-ea"/>
                          <a:cs typeface="+mn-cs"/>
                        </a:rPr>
                        <a:t>Facility</a:t>
                      </a:r>
                      <a:r>
                        <a:rPr lang="ja-JP" altLang="en-US" sz="1050" b="0" u="none" strike="noStrike" kern="1200" dirty="0">
                          <a:solidFill>
                            <a:schemeClr val="tx1"/>
                          </a:solidFill>
                          <a:effectLst/>
                          <a:latin typeface="+mn-lt"/>
                          <a:ea typeface="+mn-ea"/>
                          <a:cs typeface="+mn-cs"/>
                        </a:rPr>
                        <a:t>含む）</a:t>
                      </a: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8.00</a:t>
                      </a:r>
                    </a:p>
                  </a:txBody>
                  <a:tcPr marL="0" marR="0" marT="0" marB="0" anchor="ctr"/>
                </a:tc>
                <a:tc>
                  <a:txBody>
                    <a:bodyPr/>
                    <a:lstStyle/>
                    <a:p>
                      <a:pPr marL="228600" indent="-228600" algn="l" defTabSz="914400" rtl="0" eaLnBrk="1" fontAlgn="b" latinLnBrk="0" hangingPunct="1">
                        <a:buFont typeface="+mj-lt"/>
                        <a:buAutoNum type="arabicPeriod"/>
                      </a:pPr>
                      <a:r>
                        <a:rPr lang="en-US" altLang="ja-JP" sz="1050" b="0" u="none" strike="noStrike" kern="1200" dirty="0">
                          <a:solidFill>
                            <a:schemeClr val="tx1"/>
                          </a:solidFill>
                          <a:effectLst/>
                          <a:latin typeface="+mn-lt"/>
                          <a:ea typeface="+mn-ea"/>
                          <a:cs typeface="+mn-cs"/>
                        </a:rPr>
                        <a:t>Automation Flow</a:t>
                      </a:r>
                      <a:r>
                        <a:rPr lang="ja-JP" altLang="en-US" sz="1050" b="0" u="none" strike="noStrike" kern="1200" dirty="0">
                          <a:solidFill>
                            <a:schemeClr val="tx1"/>
                          </a:solidFill>
                          <a:effectLst/>
                          <a:latin typeface="+mn-lt"/>
                          <a:ea typeface="+mn-ea"/>
                          <a:cs typeface="+mn-cs"/>
                        </a:rPr>
                        <a:t>で複数ファイルまとめて</a:t>
                      </a:r>
                      <a:r>
                        <a:rPr lang="en-US" altLang="ja-JP" sz="1050" b="0" u="none" strike="noStrike" kern="1200" dirty="0">
                          <a:solidFill>
                            <a:schemeClr val="tx1"/>
                          </a:solidFill>
                          <a:effectLst/>
                          <a:latin typeface="+mn-lt"/>
                          <a:ea typeface="+mn-ea"/>
                          <a:cs typeface="+mn-cs"/>
                        </a:rPr>
                        <a:t>Download</a:t>
                      </a:r>
                      <a:r>
                        <a:rPr lang="ja-JP" altLang="en-US" sz="1050" b="0" u="none" strike="noStrike" kern="1200" dirty="0">
                          <a:solidFill>
                            <a:schemeClr val="tx1"/>
                          </a:solidFill>
                          <a:effectLst/>
                          <a:latin typeface="+mn-lt"/>
                          <a:ea typeface="+mn-ea"/>
                          <a:cs typeface="+mn-cs"/>
                        </a:rPr>
                        <a:t>とユーザにより個別ファイル</a:t>
                      </a:r>
                      <a:r>
                        <a:rPr lang="en-US" altLang="ja-JP" sz="1050" b="0" u="none" strike="noStrike" kern="1200" dirty="0">
                          <a:solidFill>
                            <a:schemeClr val="tx1"/>
                          </a:solidFill>
                          <a:effectLst/>
                          <a:latin typeface="+mn-lt"/>
                          <a:ea typeface="+mn-ea"/>
                          <a:cs typeface="+mn-cs"/>
                        </a:rPr>
                        <a:t>Upload/Download</a:t>
                      </a:r>
                      <a:r>
                        <a:rPr lang="ja-JP" altLang="en-US" sz="1050" b="0" u="none" strike="noStrike" kern="1200" dirty="0">
                          <a:solidFill>
                            <a:schemeClr val="tx1"/>
                          </a:solidFill>
                          <a:effectLst/>
                          <a:latin typeface="+mn-lt"/>
                          <a:ea typeface="+mn-ea"/>
                          <a:cs typeface="+mn-cs"/>
                        </a:rPr>
                        <a:t>のコスト差異がなし</a:t>
                      </a:r>
                      <a:endParaRPr lang="en-US" altLang="ja-JP" sz="1050" b="0" u="none" strike="noStrike" kern="1200" dirty="0">
                        <a:solidFill>
                          <a:schemeClr val="tx1"/>
                        </a:solidFill>
                        <a:effectLst/>
                        <a:latin typeface="+mn-lt"/>
                        <a:ea typeface="+mn-ea"/>
                        <a:cs typeface="+mn-cs"/>
                      </a:endParaRPr>
                    </a:p>
                    <a:p>
                      <a:pPr marL="228600" indent="-228600" algn="l" defTabSz="914400" rtl="0" eaLnBrk="1" fontAlgn="b" latinLnBrk="0" hangingPunct="1">
                        <a:buFont typeface="+mj-lt"/>
                        <a:buAutoNum type="arabicPeriod"/>
                      </a:pPr>
                      <a:r>
                        <a:rPr lang="en-US" altLang="ja-JP" sz="1050" b="0" u="none" strike="noStrike" kern="1200" dirty="0">
                          <a:solidFill>
                            <a:schemeClr val="tx1"/>
                          </a:solidFill>
                          <a:effectLst/>
                          <a:latin typeface="+mn-lt"/>
                          <a:ea typeface="+mn-ea"/>
                          <a:cs typeface="+mn-cs"/>
                        </a:rPr>
                        <a:t>5000User</a:t>
                      </a:r>
                      <a:r>
                        <a:rPr lang="ja-JP" altLang="en-US" sz="1050" b="0" u="none" strike="noStrike" kern="1200" dirty="0">
                          <a:solidFill>
                            <a:schemeClr val="tx1"/>
                          </a:solidFill>
                          <a:effectLst/>
                          <a:latin typeface="+mn-lt"/>
                          <a:ea typeface="+mn-ea"/>
                          <a:cs typeface="+mn-cs"/>
                        </a:rPr>
                        <a:t>と</a:t>
                      </a:r>
                      <a:r>
                        <a:rPr lang="en-US" altLang="ja-JP" sz="1050" b="0" u="none" strike="noStrike" kern="1200" dirty="0">
                          <a:solidFill>
                            <a:schemeClr val="tx1"/>
                          </a:solidFill>
                          <a:effectLst/>
                          <a:latin typeface="+mn-lt"/>
                          <a:ea typeface="+mn-ea"/>
                          <a:cs typeface="+mn-cs"/>
                        </a:rPr>
                        <a:t>10000User</a:t>
                      </a:r>
                      <a:r>
                        <a:rPr lang="ja-JP" altLang="en-US" sz="1050" b="0" u="none" strike="noStrike" kern="1200" dirty="0">
                          <a:solidFill>
                            <a:schemeClr val="tx1"/>
                          </a:solidFill>
                          <a:effectLst/>
                          <a:latin typeface="+mn-lt"/>
                          <a:ea typeface="+mn-ea"/>
                          <a:cs typeface="+mn-cs"/>
                        </a:rPr>
                        <a:t>の影響は誤差範囲（</a:t>
                      </a:r>
                      <a:r>
                        <a:rPr lang="en-US" altLang="ja-JP" sz="1050" b="0" u="none" strike="noStrike" kern="1200" dirty="0">
                          <a:solidFill>
                            <a:schemeClr val="tx1"/>
                          </a:solidFill>
                          <a:effectLst/>
                          <a:latin typeface="+mn-lt"/>
                          <a:ea typeface="+mn-ea"/>
                          <a:cs typeface="+mn-cs"/>
                        </a:rPr>
                        <a:t>Sizing</a:t>
                      </a:r>
                      <a:r>
                        <a:rPr lang="ja-JP" altLang="en-US" sz="1050" b="0" u="none" strike="noStrike" kern="1200" dirty="0">
                          <a:solidFill>
                            <a:schemeClr val="tx1"/>
                          </a:solidFill>
                          <a:effectLst/>
                          <a:latin typeface="+mn-lt"/>
                          <a:ea typeface="+mn-ea"/>
                          <a:cs typeface="+mn-cs"/>
                        </a:rPr>
                        <a:t>と性能試験に影響するのみ、性能測定に</a:t>
                      </a:r>
                      <a:r>
                        <a:rPr lang="en-US" altLang="ja-JP" sz="1050" b="0" u="none" strike="noStrike" kern="1200" dirty="0">
                          <a:solidFill>
                            <a:schemeClr val="tx1"/>
                          </a:solidFill>
                          <a:effectLst/>
                          <a:latin typeface="+mn-lt"/>
                          <a:ea typeface="+mn-ea"/>
                          <a:cs typeface="+mn-cs"/>
                        </a:rPr>
                        <a:t>10</a:t>
                      </a:r>
                      <a:r>
                        <a:rPr lang="ja-JP" altLang="en-US" sz="1050" b="0" u="none" strike="noStrike" kern="1200" dirty="0">
                          <a:solidFill>
                            <a:schemeClr val="tx1"/>
                          </a:solidFill>
                          <a:effectLst/>
                          <a:latin typeface="+mn-lt"/>
                          <a:ea typeface="+mn-ea"/>
                          <a:cs typeface="+mn-cs"/>
                        </a:rPr>
                        <a:t>年間データを考えると、略）</a:t>
                      </a:r>
                      <a:endParaRPr lang="en-US" altLang="ja-JP" sz="1050" b="0" u="none" strike="noStrike" kern="1200" dirty="0">
                        <a:solidFill>
                          <a:schemeClr val="tx1"/>
                        </a:solidFill>
                        <a:effectLst/>
                        <a:latin typeface="+mn-lt"/>
                        <a:ea typeface="+mn-ea"/>
                        <a:cs typeface="+mn-cs"/>
                      </a:endParaRPr>
                    </a:p>
                  </a:txBody>
                  <a:tcPr marL="0" marR="0" marT="0" marB="0" anchor="ctr"/>
                </a:tc>
                <a:extLst>
                  <a:ext uri="{0D108BD9-81ED-4DB2-BD59-A6C34878D82A}">
                    <a16:rowId xmlns:a16="http://schemas.microsoft.com/office/drawing/2014/main" val="849158256"/>
                  </a:ext>
                </a:extLst>
              </a:tr>
              <a:tr h="131367">
                <a:tc>
                  <a:txBody>
                    <a:bodyPr/>
                    <a:lstStyle/>
                    <a:p>
                      <a:pPr marL="0" algn="l" defTabSz="914400" rtl="0" eaLnBrk="1" fontAlgn="b" latinLnBrk="0" hangingPunct="1"/>
                      <a:r>
                        <a:rPr lang="ja-JP" altLang="en-US" sz="1050" b="1" u="none" strike="noStrike" kern="1200" dirty="0">
                          <a:solidFill>
                            <a:srgbClr val="0070C0"/>
                          </a:solidFill>
                          <a:effectLst/>
                          <a:latin typeface="+mn-lt"/>
                          <a:ea typeface="+mn-ea"/>
                          <a:cs typeface="+mn-cs"/>
                        </a:rPr>
                        <a:t>ー先行作業工数小計</a:t>
                      </a:r>
                    </a:p>
                  </a:txBody>
                  <a:tcPr marL="0" marR="0" marT="0" marB="0" anchor="ctr"/>
                </a:tc>
                <a:tc>
                  <a:txBody>
                    <a:bodyPr/>
                    <a:lstStyle/>
                    <a:p>
                      <a:pPr marL="0" algn="l" defTabSz="914400" rtl="0" eaLnBrk="1" fontAlgn="b" latinLnBrk="0" hangingPunct="1"/>
                      <a:r>
                        <a:rPr lang="en-US" altLang="ja-JP" sz="1050" b="1" u="none" strike="noStrike" kern="1200" dirty="0">
                          <a:solidFill>
                            <a:srgbClr val="0070C0"/>
                          </a:solidFill>
                          <a:effectLst/>
                          <a:latin typeface="+mn-lt"/>
                          <a:ea typeface="+mn-ea"/>
                          <a:cs typeface="+mn-cs"/>
                        </a:rPr>
                        <a:t>16MM/1440</a:t>
                      </a:r>
                      <a:r>
                        <a:rPr lang="ja-JP" altLang="en-US" sz="1050" b="1" u="none" strike="noStrike" kern="1200" dirty="0">
                          <a:solidFill>
                            <a:srgbClr val="0070C0"/>
                          </a:solidFill>
                          <a:effectLst/>
                          <a:latin typeface="+mn-lt"/>
                          <a:ea typeface="+mn-ea"/>
                          <a:cs typeface="+mn-cs"/>
                        </a:rPr>
                        <a:t>万</a:t>
                      </a:r>
                      <a:endParaRPr lang="en-US" altLang="ja-JP" sz="1050" b="1" u="none" strike="noStrike" kern="1200" dirty="0">
                        <a:solidFill>
                          <a:srgbClr val="0070C0"/>
                        </a:solidFill>
                        <a:effectLst/>
                        <a:latin typeface="+mn-lt"/>
                        <a:ea typeface="+mn-ea"/>
                        <a:cs typeface="+mn-cs"/>
                      </a:endParaRPr>
                    </a:p>
                  </a:txBody>
                  <a:tcPr marL="0" marR="0" marT="0" marB="0" anchor="ctr"/>
                </a:tc>
                <a:tc>
                  <a:txBody>
                    <a:bodyPr/>
                    <a:lstStyle/>
                    <a:p>
                      <a:pPr marL="0" algn="l" defTabSz="914400" rtl="0" eaLnBrk="1" fontAlgn="b" latinLnBrk="0" hangingPunct="1"/>
                      <a:endParaRPr lang="ja-JP" altLang="en-US" sz="1050" b="1" u="none" strike="noStrike" kern="1200" dirty="0">
                        <a:solidFill>
                          <a:srgbClr val="0070C0"/>
                        </a:solidFill>
                        <a:effectLst/>
                        <a:latin typeface="+mn-lt"/>
                        <a:ea typeface="+mn-ea"/>
                        <a:cs typeface="+mn-cs"/>
                      </a:endParaRPr>
                    </a:p>
                  </a:txBody>
                  <a:tcPr marL="0" marR="0" marT="0" marB="0" anchor="ctr"/>
                </a:tc>
                <a:extLst>
                  <a:ext uri="{0D108BD9-81ED-4DB2-BD59-A6C34878D82A}">
                    <a16:rowId xmlns:a16="http://schemas.microsoft.com/office/drawing/2014/main" val="3375774082"/>
                  </a:ext>
                </a:extLst>
              </a:tr>
              <a:tr h="131367">
                <a:tc>
                  <a:txBody>
                    <a:bodyPr/>
                    <a:lstStyle/>
                    <a:p>
                      <a:pPr marL="0" algn="l" defTabSz="914400" rtl="0" eaLnBrk="1" fontAlgn="b" latinLnBrk="0" hangingPunct="1"/>
                      <a:r>
                        <a:rPr lang="ja-JP" altLang="en-US" sz="1050" b="0" u="none" strike="noStrike" kern="1200" dirty="0">
                          <a:solidFill>
                            <a:schemeClr val="tx1"/>
                          </a:solidFill>
                          <a:effectLst/>
                        </a:rPr>
                        <a:t>システム設計①</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12.82 </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開発単体①部分の設計、工数は開発単体工数</a:t>
                      </a:r>
                      <a:r>
                        <a:rPr lang="en-US" altLang="ja-JP" sz="1050" b="0" u="none" strike="noStrike" kern="1200" dirty="0">
                          <a:solidFill>
                            <a:schemeClr val="tx1"/>
                          </a:solidFill>
                          <a:effectLst/>
                        </a:rPr>
                        <a:t>×0.3</a:t>
                      </a:r>
                      <a:r>
                        <a:rPr lang="ja-JP" altLang="en-US" sz="1050" b="0" u="none" strike="noStrike" kern="1200" dirty="0">
                          <a:solidFill>
                            <a:schemeClr val="tx1"/>
                          </a:solidFill>
                          <a:effectLst/>
                        </a:rPr>
                        <a:t>とする</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2204961108"/>
                  </a:ext>
                </a:extLst>
              </a:tr>
              <a:tr h="131367">
                <a:tc>
                  <a:txBody>
                    <a:bodyPr/>
                    <a:lstStyle/>
                    <a:p>
                      <a:pPr marL="0" algn="l" defTabSz="914400" rtl="0" eaLnBrk="1" fontAlgn="b" latinLnBrk="0" hangingPunct="1"/>
                      <a:r>
                        <a:rPr lang="ja-JP" altLang="en-US" sz="1050" b="0" u="none" strike="noStrike" kern="1200" dirty="0">
                          <a:solidFill>
                            <a:schemeClr val="tx1"/>
                          </a:solidFill>
                          <a:effectLst/>
                        </a:rPr>
                        <a:t>システム設計②</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2.00 </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開発単体②部分の設計、</a:t>
                      </a:r>
                      <a:r>
                        <a:rPr lang="en-US" altLang="ja-JP" sz="1050" b="0" u="none" strike="noStrike" kern="1200" dirty="0">
                          <a:solidFill>
                            <a:schemeClr val="tx1"/>
                          </a:solidFill>
                          <a:effectLst/>
                        </a:rPr>
                        <a:t>1</a:t>
                      </a:r>
                      <a:r>
                        <a:rPr lang="ja-JP" altLang="en-US" sz="1050" b="0" u="none" strike="noStrike" kern="1200" dirty="0">
                          <a:solidFill>
                            <a:schemeClr val="tx1"/>
                          </a:solidFill>
                          <a:effectLst/>
                        </a:rPr>
                        <a:t>機能１</a:t>
                      </a:r>
                      <a:r>
                        <a:rPr lang="en-US" altLang="ja-JP" sz="1050" b="0" u="none" strike="noStrike" kern="1200" dirty="0">
                          <a:solidFill>
                            <a:schemeClr val="tx1"/>
                          </a:solidFill>
                          <a:effectLst/>
                        </a:rPr>
                        <a:t>MM</a:t>
                      </a:r>
                      <a:r>
                        <a:rPr lang="ja-JP" altLang="en-US" sz="1050" b="0" u="none" strike="noStrike" kern="1200" dirty="0">
                          <a:solidFill>
                            <a:schemeClr val="tx1"/>
                          </a:solidFill>
                          <a:effectLst/>
                        </a:rPr>
                        <a:t>と概算する</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366353059"/>
                  </a:ext>
                </a:extLst>
              </a:tr>
              <a:tr h="131367">
                <a:tc>
                  <a:txBody>
                    <a:bodyPr/>
                    <a:lstStyle/>
                    <a:p>
                      <a:pPr marL="0" algn="l" defTabSz="914400" rtl="0" eaLnBrk="1" fontAlgn="b" latinLnBrk="0" hangingPunct="1"/>
                      <a:r>
                        <a:rPr lang="ja-JP" altLang="en-US" sz="1050" b="0" u="none" strike="noStrike" kern="1200" dirty="0">
                          <a:solidFill>
                            <a:schemeClr val="tx1"/>
                          </a:solidFill>
                          <a:effectLst/>
                        </a:rPr>
                        <a:t>開発単体①</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42.74 </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機能一覧の</a:t>
                      </a:r>
                      <a:r>
                        <a:rPr lang="en-US" altLang="ja-JP" sz="1050" b="0" u="none" strike="noStrike" kern="1200" dirty="0">
                          <a:solidFill>
                            <a:schemeClr val="tx1"/>
                          </a:solidFill>
                          <a:effectLst/>
                        </a:rPr>
                        <a:t>i12,i13</a:t>
                      </a:r>
                      <a:r>
                        <a:rPr lang="ja-JP" altLang="en-US" sz="1050" b="0" u="none" strike="noStrike" kern="1200" dirty="0">
                          <a:solidFill>
                            <a:schemeClr val="tx1"/>
                          </a:solidFill>
                          <a:effectLst/>
                        </a:rPr>
                        <a:t>以外、システム設計</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915517710"/>
                  </a:ext>
                </a:extLst>
              </a:tr>
              <a:tr h="131367">
                <a:tc>
                  <a:txBody>
                    <a:bodyPr/>
                    <a:lstStyle/>
                    <a:p>
                      <a:pPr marL="0" algn="l" defTabSz="914400" rtl="0" eaLnBrk="1" fontAlgn="b" latinLnBrk="0" hangingPunct="1"/>
                      <a:r>
                        <a:rPr lang="ja-JP" altLang="en-US" sz="1050" b="0" u="none" strike="noStrike" kern="1200" dirty="0">
                          <a:solidFill>
                            <a:schemeClr val="tx1"/>
                          </a:solidFill>
                          <a:effectLst/>
                        </a:rPr>
                        <a:t>開発単体②</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15.00 </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機能一覧の</a:t>
                      </a:r>
                      <a:r>
                        <a:rPr lang="de-DE" sz="1050" b="0" u="none" strike="noStrike" kern="1200" dirty="0">
                          <a:solidFill>
                            <a:schemeClr val="tx1"/>
                          </a:solidFill>
                          <a:effectLst/>
                        </a:rPr>
                        <a:t>i12,i13</a:t>
                      </a:r>
                      <a:r>
                        <a:rPr lang="ja-JP" altLang="en-US" sz="1050" b="0" u="none" strike="noStrike" kern="1200" dirty="0">
                          <a:solidFill>
                            <a:schemeClr val="tx1"/>
                          </a:solidFill>
                          <a:effectLst/>
                        </a:rPr>
                        <a:t>分</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922087986"/>
                  </a:ext>
                </a:extLst>
              </a:tr>
              <a:tr h="131367">
                <a:tc>
                  <a:txBody>
                    <a:bodyPr/>
                    <a:lstStyle/>
                    <a:p>
                      <a:pPr marL="0" algn="l" defTabSz="914400" rtl="0" eaLnBrk="1" fontAlgn="b" latinLnBrk="0" hangingPunct="1"/>
                      <a:r>
                        <a:rPr lang="ja-JP" altLang="en-US" sz="1050" b="0" u="none" strike="noStrike" kern="1200" dirty="0">
                          <a:solidFill>
                            <a:schemeClr val="tx1"/>
                          </a:solidFill>
                          <a:effectLst/>
                        </a:rPr>
                        <a:t>結合テスト</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8.55 </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開発単体①部分の結合テスト、工数は開発単体工数</a:t>
                      </a:r>
                      <a:r>
                        <a:rPr lang="en-US" altLang="ja-JP" sz="1050" b="0" u="none" strike="noStrike" kern="1200" dirty="0">
                          <a:solidFill>
                            <a:schemeClr val="tx1"/>
                          </a:solidFill>
                          <a:effectLst/>
                        </a:rPr>
                        <a:t>×0.2</a:t>
                      </a:r>
                      <a:r>
                        <a:rPr lang="ja-JP" altLang="en-US" sz="1050" b="0" u="none" strike="noStrike" kern="1200" dirty="0">
                          <a:solidFill>
                            <a:schemeClr val="tx1"/>
                          </a:solidFill>
                          <a:effectLst/>
                        </a:rPr>
                        <a:t>とする</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139015387"/>
                  </a:ext>
                </a:extLst>
              </a:tr>
              <a:tr h="131367">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仕様などリスク</a:t>
                      </a:r>
                      <a:r>
                        <a:rPr lang="en-US" altLang="ja-JP" sz="1050" b="0" u="none" strike="noStrike" kern="1200" dirty="0">
                          <a:solidFill>
                            <a:schemeClr val="tx1"/>
                          </a:solidFill>
                          <a:effectLst/>
                          <a:latin typeface="+mn-lt"/>
                          <a:ea typeface="+mn-ea"/>
                          <a:cs typeface="+mn-cs"/>
                        </a:rPr>
                        <a:t>Buffer</a:t>
                      </a:r>
                      <a:endParaRPr lang="ja-JP" altLang="en-US" sz="105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15</a:t>
                      </a:r>
                    </a:p>
                  </a:txBody>
                  <a:tcPr marL="0" marR="0" marT="0" marB="0" anchor="ctr"/>
                </a:tc>
                <a:tc>
                  <a:txBody>
                    <a:bodyPr/>
                    <a:lstStyle/>
                    <a:p>
                      <a:pPr marL="0" algn="l" defTabSz="914400" rtl="0" eaLnBrk="1" fontAlgn="b" latinLnBrk="0" hangingPunct="1"/>
                      <a:r>
                        <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rPr>
                        <a:t>開発工数の約</a:t>
                      </a:r>
                      <a:r>
                        <a:rPr lang="en-US" altLang="ja-JP" sz="1050" b="0" i="0" u="none" strike="noStrike" kern="1200" dirty="0">
                          <a:solidFill>
                            <a:schemeClr val="tx1"/>
                          </a:solidFill>
                          <a:effectLst/>
                          <a:latin typeface="Meiryo UI" panose="020B0604030504040204" pitchFamily="50" charset="-128"/>
                          <a:ea typeface="Meiryo UI" panose="020B0604030504040204" pitchFamily="50" charset="-128"/>
                          <a:cs typeface="+mn-cs"/>
                        </a:rPr>
                        <a:t>20%</a:t>
                      </a:r>
                      <a:r>
                        <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rPr>
                        <a:t>程度　</a:t>
                      </a:r>
                    </a:p>
                  </a:txBody>
                  <a:tcPr marL="0" marR="0" marT="0" marB="0" anchor="ctr"/>
                </a:tc>
                <a:extLst>
                  <a:ext uri="{0D108BD9-81ED-4DB2-BD59-A6C34878D82A}">
                    <a16:rowId xmlns:a16="http://schemas.microsoft.com/office/drawing/2014/main" val="1502352858"/>
                  </a:ext>
                </a:extLst>
              </a:tr>
              <a:tr h="1351203">
                <a:tc>
                  <a:txBody>
                    <a:bodyPr/>
                    <a:lstStyle/>
                    <a:p>
                      <a:pPr marL="0" algn="l" defTabSz="914400" rtl="0" eaLnBrk="1" fontAlgn="b" latinLnBrk="0" hangingPunct="1"/>
                      <a:r>
                        <a:rPr lang="ja-JP" altLang="en-US" sz="1050" b="0" u="none" strike="noStrike" kern="1200" dirty="0">
                          <a:solidFill>
                            <a:schemeClr val="tx1"/>
                          </a:solidFill>
                          <a:effectLst/>
                        </a:rPr>
                        <a:t>移行</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25.95</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■移行開発</a:t>
                      </a:r>
                      <a:br>
                        <a:rPr lang="ja-JP" altLang="en-US" sz="1050" b="0" u="none" strike="noStrike" kern="1200" dirty="0">
                          <a:solidFill>
                            <a:schemeClr val="tx1"/>
                          </a:solidFill>
                          <a:effectLst/>
                        </a:rPr>
                      </a:br>
                      <a:r>
                        <a:rPr lang="ja-JP" altLang="en-US" sz="1050" b="0" u="none" strike="noStrike" kern="1200" dirty="0">
                          <a:solidFill>
                            <a:schemeClr val="tx1"/>
                          </a:solidFill>
                          <a:effectLst/>
                        </a:rPr>
                        <a:t>　</a:t>
                      </a:r>
                      <a:r>
                        <a:rPr lang="ja-JP" altLang="en-US" sz="900" b="0" u="none" strike="noStrike" kern="1200" dirty="0">
                          <a:solidFill>
                            <a:schemeClr val="tx1"/>
                          </a:solidFill>
                          <a:effectLst/>
                        </a:rPr>
                        <a:t>①製品仕様書管理：</a:t>
                      </a:r>
                      <a:r>
                        <a:rPr lang="en-US" altLang="ja-JP" sz="900" b="0" u="none" strike="noStrike" kern="1200" dirty="0">
                          <a:solidFill>
                            <a:schemeClr val="tx1"/>
                          </a:solidFill>
                          <a:effectLst/>
                        </a:rPr>
                        <a:t>10.50MM</a:t>
                      </a:r>
                      <a:br>
                        <a:rPr lang="en-US" altLang="ja-JP" sz="900" b="0" u="none" strike="noStrike" kern="1200" dirty="0">
                          <a:solidFill>
                            <a:schemeClr val="tx1"/>
                          </a:solidFill>
                          <a:effectLst/>
                        </a:rPr>
                      </a:br>
                      <a:r>
                        <a:rPr lang="en-US" altLang="ja-JP" sz="900" b="0" u="none" strike="noStrike" kern="1200" dirty="0">
                          <a:solidFill>
                            <a:schemeClr val="tx1"/>
                          </a:solidFill>
                          <a:effectLst/>
                        </a:rPr>
                        <a:t>  </a:t>
                      </a:r>
                      <a:r>
                        <a:rPr lang="ja-JP" altLang="en-US" sz="900" b="0" u="none" strike="noStrike" kern="1200" dirty="0">
                          <a:solidFill>
                            <a:schemeClr val="tx1"/>
                          </a:solidFill>
                          <a:effectLst/>
                        </a:rPr>
                        <a:t>　</a:t>
                      </a:r>
                      <a:r>
                        <a:rPr lang="en-US" altLang="ja-JP" sz="900" b="0" u="none" strike="noStrike" kern="1200" dirty="0">
                          <a:solidFill>
                            <a:schemeClr val="tx1"/>
                          </a:solidFill>
                          <a:effectLst/>
                        </a:rPr>
                        <a:t>1</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の三つ</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をメインで実施（</a:t>
                      </a:r>
                      <a:r>
                        <a:rPr lang="en-US" altLang="ja-JP" sz="900" b="0" u="none" strike="noStrike" kern="1200" dirty="0">
                          <a:solidFill>
                            <a:schemeClr val="tx1"/>
                          </a:solidFill>
                          <a:effectLst/>
                        </a:rPr>
                        <a:t>5.00MM</a:t>
                      </a:r>
                      <a:r>
                        <a:rPr lang="ja-JP" altLang="en-US" sz="900" b="0" u="none" strike="noStrike" kern="1200" dirty="0">
                          <a:solidFill>
                            <a:schemeClr val="tx1"/>
                          </a:solidFill>
                          <a:effectLst/>
                        </a:rPr>
                        <a:t>）、残り</a:t>
                      </a:r>
                      <a:r>
                        <a:rPr lang="en-US" altLang="ja-JP" sz="900" b="0" u="none" strike="noStrike" kern="1200" dirty="0">
                          <a:solidFill>
                            <a:schemeClr val="tx1"/>
                          </a:solidFill>
                          <a:effectLst/>
                        </a:rPr>
                        <a:t>11</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の差分解析は</a:t>
                      </a:r>
                      <a:r>
                        <a:rPr lang="en-US" altLang="ja-JP" sz="900" b="0" u="none" strike="noStrike" kern="1200" dirty="0">
                          <a:solidFill>
                            <a:schemeClr val="tx1"/>
                          </a:solidFill>
                          <a:effectLst/>
                        </a:rPr>
                        <a:t>10MD</a:t>
                      </a:r>
                      <a:r>
                        <a:rPr lang="ja-JP" altLang="en-US" sz="900" b="0" u="none" strike="noStrike" kern="1200" dirty="0">
                          <a:solidFill>
                            <a:schemeClr val="tx1"/>
                          </a:solidFill>
                          <a:effectLst/>
                        </a:rPr>
                        <a:t>／</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で</a:t>
                      </a:r>
                      <a:r>
                        <a:rPr lang="en-US" altLang="ja-JP" sz="900" b="0" u="none" strike="noStrike" kern="1200" dirty="0">
                          <a:solidFill>
                            <a:schemeClr val="tx1"/>
                          </a:solidFill>
                          <a:effectLst/>
                        </a:rPr>
                        <a:t>5.50MM</a:t>
                      </a:r>
                      <a:br>
                        <a:rPr lang="en-US" altLang="ja-JP" sz="900" b="0" u="none" strike="noStrike" kern="1200" dirty="0">
                          <a:solidFill>
                            <a:schemeClr val="tx1"/>
                          </a:solidFill>
                          <a:effectLst/>
                        </a:rPr>
                      </a:br>
                      <a:r>
                        <a:rPr lang="ja-JP" altLang="en-US" sz="900" b="0" u="none" strike="noStrike" kern="1200" dirty="0">
                          <a:solidFill>
                            <a:schemeClr val="tx1"/>
                          </a:solidFill>
                          <a:effectLst/>
                        </a:rPr>
                        <a:t>　②納入仕様書管理：</a:t>
                      </a:r>
                      <a:r>
                        <a:rPr lang="en-US" altLang="ja-JP" sz="900" b="0" u="none" strike="noStrike" kern="1200" dirty="0">
                          <a:solidFill>
                            <a:schemeClr val="tx1"/>
                          </a:solidFill>
                          <a:effectLst/>
                        </a:rPr>
                        <a:t>4.75MM</a:t>
                      </a:r>
                      <a:br>
                        <a:rPr lang="en-US" altLang="ja-JP" sz="900" b="0" u="none" strike="noStrike" kern="1200" dirty="0">
                          <a:solidFill>
                            <a:schemeClr val="tx1"/>
                          </a:solidFill>
                          <a:effectLst/>
                        </a:rPr>
                      </a:br>
                      <a:r>
                        <a:rPr lang="ja-JP" altLang="en-US" sz="900" b="0" u="none" strike="noStrike" kern="1200" dirty="0">
                          <a:solidFill>
                            <a:schemeClr val="tx1"/>
                          </a:solidFill>
                          <a:effectLst/>
                        </a:rPr>
                        <a:t>　　</a:t>
                      </a:r>
                      <a:r>
                        <a:rPr lang="en-US" altLang="ja-JP" sz="900" b="0" u="none" strike="noStrike" kern="1200" dirty="0">
                          <a:solidFill>
                            <a:schemeClr val="tx1"/>
                          </a:solidFill>
                          <a:effectLst/>
                        </a:rPr>
                        <a:t>1</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の</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をメインで実施（</a:t>
                      </a:r>
                      <a:r>
                        <a:rPr lang="en-US" altLang="ja-JP" sz="900" b="0" u="none" strike="noStrike" kern="1200" dirty="0">
                          <a:solidFill>
                            <a:schemeClr val="tx1"/>
                          </a:solidFill>
                          <a:effectLst/>
                        </a:rPr>
                        <a:t>2.00MM</a:t>
                      </a:r>
                      <a:r>
                        <a:rPr lang="ja-JP" altLang="en-US" sz="900" b="0" u="none" strike="noStrike" kern="1200" dirty="0">
                          <a:solidFill>
                            <a:schemeClr val="tx1"/>
                          </a:solidFill>
                          <a:effectLst/>
                        </a:rPr>
                        <a:t>）、残り</a:t>
                      </a:r>
                      <a:r>
                        <a:rPr lang="en-US" altLang="ja-JP" sz="900" b="0" u="none" strike="noStrike" kern="1200" dirty="0">
                          <a:solidFill>
                            <a:schemeClr val="tx1"/>
                          </a:solidFill>
                          <a:effectLst/>
                        </a:rPr>
                        <a:t>11</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の差分解析は</a:t>
                      </a:r>
                      <a:r>
                        <a:rPr lang="en-US" altLang="ja-JP" sz="900" b="0" u="none" strike="noStrike" kern="1200" dirty="0">
                          <a:solidFill>
                            <a:schemeClr val="tx1"/>
                          </a:solidFill>
                          <a:effectLst/>
                        </a:rPr>
                        <a:t>5MD</a:t>
                      </a:r>
                      <a:r>
                        <a:rPr lang="ja-JP" altLang="en-US" sz="900" b="0" u="none" strike="noStrike" kern="1200" dirty="0">
                          <a:solidFill>
                            <a:schemeClr val="tx1"/>
                          </a:solidFill>
                          <a:effectLst/>
                        </a:rPr>
                        <a:t>／</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で</a:t>
                      </a:r>
                      <a:r>
                        <a:rPr lang="en-US" altLang="ja-JP" sz="900" b="0" u="none" strike="noStrike" kern="1200" dirty="0">
                          <a:solidFill>
                            <a:schemeClr val="tx1"/>
                          </a:solidFill>
                          <a:effectLst/>
                        </a:rPr>
                        <a:t>2.75MM</a:t>
                      </a:r>
                      <a:br>
                        <a:rPr lang="en-US" altLang="ja-JP" sz="900" b="0" u="none" strike="noStrike" kern="1200" dirty="0">
                          <a:solidFill>
                            <a:schemeClr val="tx1"/>
                          </a:solidFill>
                          <a:effectLst/>
                        </a:rPr>
                      </a:br>
                      <a:r>
                        <a:rPr lang="ja-JP" altLang="en-US" sz="900" b="0" u="none" strike="noStrike" kern="1200" dirty="0">
                          <a:solidFill>
                            <a:schemeClr val="tx1"/>
                          </a:solidFill>
                          <a:effectLst/>
                        </a:rPr>
                        <a:t>　③その他個別</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a:t>
                      </a:r>
                      <a:r>
                        <a:rPr lang="en-US" altLang="ja-JP" sz="900" b="0" u="none" strike="noStrike" kern="1200" dirty="0">
                          <a:solidFill>
                            <a:schemeClr val="tx1"/>
                          </a:solidFill>
                          <a:effectLst/>
                        </a:rPr>
                        <a:t>2.35MM</a:t>
                      </a:r>
                      <a:br>
                        <a:rPr lang="en-US" altLang="ja-JP" sz="900" b="0" u="none" strike="noStrike" kern="1200" dirty="0">
                          <a:solidFill>
                            <a:schemeClr val="tx1"/>
                          </a:solidFill>
                          <a:effectLst/>
                        </a:rPr>
                      </a:br>
                      <a:r>
                        <a:rPr lang="ja-JP" altLang="en-US" sz="900" b="0" u="none" strike="noStrike" kern="1200" dirty="0">
                          <a:solidFill>
                            <a:schemeClr val="tx1"/>
                          </a:solidFill>
                          <a:effectLst/>
                        </a:rPr>
                        <a:t>　  </a:t>
                      </a:r>
                      <a:r>
                        <a:rPr lang="en-US" altLang="ja-JP" sz="900" b="0" u="none" strike="noStrike" kern="1200" dirty="0">
                          <a:solidFill>
                            <a:schemeClr val="tx1"/>
                          </a:solidFill>
                          <a:effectLst/>
                        </a:rPr>
                        <a:t>1</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の</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をメインで実施（</a:t>
                      </a:r>
                      <a:r>
                        <a:rPr lang="en-US" altLang="ja-JP" sz="900" b="0" u="none" strike="noStrike" kern="1200" dirty="0">
                          <a:solidFill>
                            <a:schemeClr val="tx1"/>
                          </a:solidFill>
                          <a:effectLst/>
                        </a:rPr>
                        <a:t>2.0MM</a:t>
                      </a:r>
                      <a:r>
                        <a:rPr lang="ja-JP" altLang="en-US" sz="900" b="0" u="none" strike="noStrike" kern="1200" dirty="0">
                          <a:solidFill>
                            <a:schemeClr val="tx1"/>
                          </a:solidFill>
                          <a:effectLst/>
                        </a:rPr>
                        <a:t>）、残り</a:t>
                      </a:r>
                      <a:r>
                        <a:rPr lang="en-US" altLang="ja-JP" sz="900" b="0" u="none" strike="noStrike" kern="1200" dirty="0">
                          <a:solidFill>
                            <a:schemeClr val="tx1"/>
                          </a:solidFill>
                          <a:effectLst/>
                        </a:rPr>
                        <a:t>7</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の差分解析は</a:t>
                      </a:r>
                      <a:r>
                        <a:rPr lang="en-US" altLang="ja-JP" sz="900" b="0" u="none" strike="noStrike" kern="1200" dirty="0">
                          <a:solidFill>
                            <a:schemeClr val="tx1"/>
                          </a:solidFill>
                          <a:effectLst/>
                        </a:rPr>
                        <a:t>5MD</a:t>
                      </a:r>
                      <a:r>
                        <a:rPr lang="ja-JP" altLang="en-US" sz="900" b="0" u="none" strike="noStrike" kern="1200" dirty="0">
                          <a:solidFill>
                            <a:schemeClr val="tx1"/>
                          </a:solidFill>
                          <a:effectLst/>
                        </a:rPr>
                        <a:t>／</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で</a:t>
                      </a:r>
                      <a:r>
                        <a:rPr lang="en-US" altLang="ja-JP" sz="900" b="0" u="none" strike="noStrike" kern="1200" dirty="0">
                          <a:solidFill>
                            <a:schemeClr val="tx1"/>
                          </a:solidFill>
                          <a:effectLst/>
                        </a:rPr>
                        <a:t>0.35MM</a:t>
                      </a:r>
                      <a:br>
                        <a:rPr lang="en-US" altLang="ja-JP" sz="1050" b="0" u="none" strike="noStrike" kern="1200" dirty="0">
                          <a:solidFill>
                            <a:schemeClr val="tx1"/>
                          </a:solidFill>
                          <a:effectLst/>
                        </a:rPr>
                      </a:br>
                      <a:r>
                        <a:rPr lang="en-US" altLang="ja-JP" sz="1050" b="0" u="none" strike="noStrike" kern="1200" dirty="0">
                          <a:solidFill>
                            <a:schemeClr val="tx1"/>
                          </a:solidFill>
                          <a:effectLst/>
                        </a:rPr>
                        <a:t>■</a:t>
                      </a:r>
                      <a:r>
                        <a:rPr lang="ja-JP" altLang="en-US" sz="1050" b="0" u="none" strike="noStrike" kern="1200" dirty="0">
                          <a:solidFill>
                            <a:schemeClr val="tx1"/>
                          </a:solidFill>
                          <a:effectLst/>
                        </a:rPr>
                        <a:t>移行手順書作成：</a:t>
                      </a:r>
                      <a:r>
                        <a:rPr lang="en-US" altLang="ja-JP" sz="1050" b="0" u="none" strike="noStrike" kern="1200" dirty="0">
                          <a:solidFill>
                            <a:schemeClr val="tx1"/>
                          </a:solidFill>
                          <a:effectLst/>
                        </a:rPr>
                        <a:t>1.00MM</a:t>
                      </a:r>
                      <a:br>
                        <a:rPr lang="en-US" altLang="ja-JP" sz="1050" b="0" u="none" strike="noStrike" kern="1200" dirty="0">
                          <a:solidFill>
                            <a:schemeClr val="tx1"/>
                          </a:solidFill>
                          <a:effectLst/>
                        </a:rPr>
                      </a:br>
                      <a:r>
                        <a:rPr lang="ja-JP" altLang="en-US" sz="1050" b="0" u="none" strike="noStrike" kern="1200" dirty="0">
                          <a:solidFill>
                            <a:schemeClr val="tx1"/>
                          </a:solidFill>
                          <a:effectLst/>
                        </a:rPr>
                        <a:t>　</a:t>
                      </a:r>
                      <a:r>
                        <a:rPr lang="en-US" altLang="ja-JP" sz="900" b="0" u="none" strike="noStrike" kern="1200" dirty="0">
                          <a:solidFill>
                            <a:schemeClr val="tx1"/>
                          </a:solidFill>
                          <a:effectLst/>
                        </a:rPr>
                        <a:t>20MD</a:t>
                      </a:r>
                      <a:r>
                        <a:rPr lang="ja-JP" altLang="en-US" sz="900" b="0" u="none" strike="noStrike" kern="1200" dirty="0">
                          <a:solidFill>
                            <a:schemeClr val="tx1"/>
                          </a:solidFill>
                          <a:effectLst/>
                        </a:rPr>
                        <a:t>の作業想定（メインはそれぞれの</a:t>
                      </a:r>
                      <a:r>
                        <a:rPr lang="en-US" altLang="ja-JP" sz="900" b="0" u="none" strike="noStrike" kern="1200" dirty="0">
                          <a:solidFill>
                            <a:schemeClr val="tx1"/>
                          </a:solidFill>
                          <a:effectLst/>
                        </a:rPr>
                        <a:t>1</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で、残りの</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はコピー展開）</a:t>
                      </a:r>
                      <a:br>
                        <a:rPr lang="ja-JP" altLang="en-US" sz="900" b="0" u="none" strike="noStrike" kern="1200" dirty="0">
                          <a:solidFill>
                            <a:schemeClr val="tx1"/>
                          </a:solidFill>
                          <a:effectLst/>
                        </a:rPr>
                      </a:br>
                      <a:r>
                        <a:rPr lang="ja-JP" altLang="en-US" sz="1050" b="0" u="none" strike="noStrike" kern="1200" dirty="0">
                          <a:solidFill>
                            <a:schemeClr val="tx1"/>
                          </a:solidFill>
                          <a:effectLst/>
                        </a:rPr>
                        <a:t>■移行リハーサル：</a:t>
                      </a:r>
                      <a:r>
                        <a:rPr lang="en-US" altLang="ja-JP" sz="1050" b="0" u="none" strike="noStrike" kern="1200" dirty="0">
                          <a:solidFill>
                            <a:schemeClr val="tx1"/>
                          </a:solidFill>
                          <a:effectLst/>
                        </a:rPr>
                        <a:t>7.60MM</a:t>
                      </a:r>
                      <a:br>
                        <a:rPr lang="en-US" altLang="ja-JP" sz="1050" b="0" u="none" strike="noStrike" kern="1200" dirty="0">
                          <a:solidFill>
                            <a:schemeClr val="tx1"/>
                          </a:solidFill>
                          <a:effectLst/>
                        </a:rPr>
                      </a:br>
                      <a:r>
                        <a:rPr lang="ja-JP" altLang="en-US" sz="1050" b="0" u="none" strike="noStrike" kern="1200" dirty="0">
                          <a:solidFill>
                            <a:schemeClr val="tx1"/>
                          </a:solidFill>
                          <a:effectLst/>
                        </a:rPr>
                        <a:t>　</a:t>
                      </a:r>
                      <a:r>
                        <a:rPr lang="ja-JP" altLang="en-US" sz="900" b="0" u="none" strike="noStrike" kern="1200" dirty="0">
                          <a:solidFill>
                            <a:schemeClr val="tx1"/>
                          </a:solidFill>
                          <a:effectLst/>
                        </a:rPr>
                        <a:t>マインはそれぞれの</a:t>
                      </a:r>
                      <a:r>
                        <a:rPr lang="en-US" altLang="ja-JP" sz="900" b="0" u="none" strike="noStrike" kern="1200" dirty="0">
                          <a:solidFill>
                            <a:schemeClr val="tx1"/>
                          </a:solidFill>
                          <a:effectLst/>
                        </a:rPr>
                        <a:t>1</a:t>
                      </a:r>
                      <a:r>
                        <a:rPr lang="ja-JP" altLang="en-US" sz="900" b="0" u="none" strike="noStrike" kern="1200" dirty="0">
                          <a:solidFill>
                            <a:schemeClr val="tx1"/>
                          </a:solidFill>
                          <a:effectLst/>
                          <a:latin typeface="+mn-lt"/>
                          <a:ea typeface="+mn-ea"/>
                          <a:cs typeface="+mn-cs"/>
                        </a:rPr>
                        <a:t>システム</a:t>
                      </a:r>
                      <a:r>
                        <a:rPr lang="en-US" altLang="ja-JP" sz="900" b="0" u="none" strike="noStrike" kern="1200" dirty="0">
                          <a:solidFill>
                            <a:schemeClr val="tx1"/>
                          </a:solidFill>
                          <a:effectLst/>
                          <a:latin typeface="+mn-lt"/>
                          <a:ea typeface="+mn-ea"/>
                          <a:cs typeface="+mn-cs"/>
                        </a:rPr>
                        <a:t>3</a:t>
                      </a:r>
                      <a:r>
                        <a:rPr lang="ja-JP" altLang="en-US" sz="900" b="0" u="none" strike="noStrike" kern="1200" dirty="0">
                          <a:solidFill>
                            <a:schemeClr val="tx1"/>
                          </a:solidFill>
                          <a:effectLst/>
                          <a:latin typeface="+mn-lt"/>
                          <a:ea typeface="+mn-ea"/>
                          <a:cs typeface="+mn-cs"/>
                        </a:rPr>
                        <a:t>回実施で</a:t>
                      </a:r>
                      <a:r>
                        <a:rPr lang="en-US" altLang="ja-JP" sz="900" b="0" u="none" strike="noStrike" kern="1200" dirty="0">
                          <a:solidFill>
                            <a:schemeClr val="tx1"/>
                          </a:solidFill>
                          <a:effectLst/>
                        </a:rPr>
                        <a:t>12MD/</a:t>
                      </a:r>
                      <a:r>
                        <a:rPr lang="ja-JP" altLang="en-US" sz="900" b="0" u="none" strike="noStrike" kern="1200" dirty="0">
                          <a:solidFill>
                            <a:schemeClr val="tx1"/>
                          </a:solidFill>
                          <a:effectLst/>
                        </a:rPr>
                        <a:t>システム、残り</a:t>
                      </a:r>
                      <a:r>
                        <a:rPr lang="en-US" altLang="ja-JP" sz="900" b="0" u="none" strike="noStrike" kern="1200" dirty="0">
                          <a:solidFill>
                            <a:schemeClr val="tx1"/>
                          </a:solidFill>
                          <a:effectLst/>
                        </a:rPr>
                        <a:t>29</a:t>
                      </a:r>
                      <a:r>
                        <a:rPr lang="ja-JP" altLang="en-US" sz="900" b="0" u="none" strike="noStrike" kern="1200" dirty="0">
                          <a:solidFill>
                            <a:schemeClr val="tx1"/>
                          </a:solidFill>
                          <a:effectLst/>
                          <a:latin typeface="+mn-lt"/>
                          <a:ea typeface="+mn-ea"/>
                          <a:cs typeface="+mn-cs"/>
                        </a:rPr>
                        <a:t>システムは</a:t>
                      </a:r>
                      <a:r>
                        <a:rPr lang="en-US" altLang="ja-JP" sz="900" b="0" u="none" strike="noStrike" kern="1200" dirty="0">
                          <a:solidFill>
                            <a:schemeClr val="tx1"/>
                          </a:solidFill>
                          <a:effectLst/>
                          <a:latin typeface="+mn-lt"/>
                          <a:ea typeface="+mn-ea"/>
                          <a:cs typeface="+mn-cs"/>
                        </a:rPr>
                        <a:t>2</a:t>
                      </a:r>
                      <a:r>
                        <a:rPr lang="ja-JP" altLang="en-US" sz="900" b="0" u="none" strike="noStrike" kern="1200" dirty="0">
                          <a:solidFill>
                            <a:schemeClr val="tx1"/>
                          </a:solidFill>
                          <a:effectLst/>
                          <a:latin typeface="+mn-lt"/>
                          <a:ea typeface="+mn-ea"/>
                          <a:cs typeface="+mn-cs"/>
                        </a:rPr>
                        <a:t>回実施</a:t>
                      </a:r>
                      <a:r>
                        <a:rPr lang="en-US" altLang="ja-JP" sz="900" b="0" u="none" strike="noStrike" kern="1200" dirty="0">
                          <a:solidFill>
                            <a:schemeClr val="tx1"/>
                          </a:solidFill>
                          <a:effectLst/>
                          <a:latin typeface="+mn-lt"/>
                          <a:ea typeface="+mn-ea"/>
                          <a:cs typeface="+mn-cs"/>
                        </a:rPr>
                        <a:t>4MD</a:t>
                      </a:r>
                      <a:r>
                        <a:rPr lang="en-US" altLang="ja-JP" sz="900" b="0" u="none" strike="noStrike" kern="1200" dirty="0">
                          <a:solidFill>
                            <a:schemeClr val="tx1"/>
                          </a:solidFill>
                          <a:effectLst/>
                        </a:rPr>
                        <a:t>/</a:t>
                      </a:r>
                      <a:r>
                        <a:rPr lang="ja-JP" altLang="en-US" sz="900" b="0" u="none" strike="noStrike" kern="1200" dirty="0">
                          <a:solidFill>
                            <a:schemeClr val="tx1"/>
                          </a:solidFill>
                          <a:effectLst/>
                        </a:rPr>
                        <a:t>システム</a:t>
                      </a:r>
                      <a:endParaRPr lang="ja-JP" altLang="en-US" sz="1050" b="0" i="0" u="none" strike="sngStrike" kern="1200" baseline="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705557341"/>
                  </a:ext>
                </a:extLst>
              </a:tr>
              <a:tr h="131367">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性能測定、</a:t>
                      </a:r>
                      <a:r>
                        <a:rPr lang="en-US" altLang="ja-JP" sz="1050" b="0" u="none" strike="noStrike" kern="1200" dirty="0">
                          <a:solidFill>
                            <a:schemeClr val="tx1"/>
                          </a:solidFill>
                          <a:effectLst/>
                          <a:latin typeface="+mn-lt"/>
                          <a:ea typeface="+mn-ea"/>
                          <a:cs typeface="+mn-cs"/>
                        </a:rPr>
                        <a:t>Tunning</a:t>
                      </a:r>
                      <a:endParaRPr lang="ja-JP" altLang="en-US" sz="105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6.00</a:t>
                      </a:r>
                    </a:p>
                  </a:txBody>
                  <a:tcPr marL="0" marR="0" marT="0" marB="0" anchor="ctr"/>
                </a:tc>
                <a:tc>
                  <a:txBody>
                    <a:bodyPr/>
                    <a:lstStyle/>
                    <a:p>
                      <a:pPr marL="0" algn="l" defTabSz="914400" rtl="0" eaLnBrk="1" fontAlgn="b" latinLnBrk="0" hangingPunct="1"/>
                      <a:endParaRPr lang="ja-JP" altLang="en-US" sz="1050" b="0" u="none" strike="noStrike" kern="1200" dirty="0">
                        <a:solidFill>
                          <a:schemeClr val="tx1"/>
                        </a:solidFill>
                        <a:effectLst/>
                        <a:latin typeface="+mn-lt"/>
                        <a:ea typeface="+mn-ea"/>
                        <a:cs typeface="+mn-cs"/>
                      </a:endParaRPr>
                    </a:p>
                  </a:txBody>
                  <a:tcPr marL="0" marR="0" marT="0" marB="0" anchor="ctr"/>
                </a:tc>
                <a:extLst>
                  <a:ext uri="{0D108BD9-81ED-4DB2-BD59-A6C34878D82A}">
                    <a16:rowId xmlns:a16="http://schemas.microsoft.com/office/drawing/2014/main" val="1346797334"/>
                  </a:ext>
                </a:extLst>
              </a:tr>
              <a:tr h="131367">
                <a:tc>
                  <a:txBody>
                    <a:bodyPr/>
                    <a:lstStyle/>
                    <a:p>
                      <a:pPr marL="0" algn="l" defTabSz="914400" rtl="0" eaLnBrk="1" fontAlgn="b" latinLnBrk="0" hangingPunct="1"/>
                      <a:r>
                        <a:rPr lang="ja-JP" altLang="en-US" sz="1050" b="1" u="none" strike="noStrike" kern="1200" dirty="0">
                          <a:solidFill>
                            <a:srgbClr val="0070C0"/>
                          </a:solidFill>
                          <a:effectLst/>
                          <a:latin typeface="+mn-lt"/>
                          <a:ea typeface="+mn-ea"/>
                          <a:cs typeface="+mn-cs"/>
                        </a:rPr>
                        <a:t>ー開発工数小計</a:t>
                      </a:r>
                    </a:p>
                  </a:txBody>
                  <a:tcPr marL="0" marR="0" marT="0" marB="0" anchor="ctr"/>
                </a:tc>
                <a:tc>
                  <a:txBody>
                    <a:bodyPr/>
                    <a:lstStyle/>
                    <a:p>
                      <a:pPr marL="0" algn="l" defTabSz="914400" rtl="0" eaLnBrk="1" fontAlgn="b" latinLnBrk="0" hangingPunct="1"/>
                      <a:r>
                        <a:rPr lang="en-US" altLang="ja-JP" sz="1050" b="1" u="none" strike="noStrike" kern="1200" dirty="0">
                          <a:solidFill>
                            <a:srgbClr val="0070C0"/>
                          </a:solidFill>
                          <a:effectLst/>
                          <a:latin typeface="+mn-lt"/>
                          <a:ea typeface="+mn-ea"/>
                          <a:cs typeface="+mn-cs"/>
                        </a:rPr>
                        <a:t>128.06MM/8530</a:t>
                      </a:r>
                      <a:r>
                        <a:rPr lang="ja-JP" altLang="en-US" sz="1050" b="1" u="none" strike="noStrike" kern="1200" dirty="0">
                          <a:solidFill>
                            <a:srgbClr val="0070C0"/>
                          </a:solidFill>
                          <a:effectLst/>
                          <a:latin typeface="+mn-lt"/>
                          <a:ea typeface="+mn-ea"/>
                          <a:cs typeface="+mn-cs"/>
                        </a:rPr>
                        <a:t>万</a:t>
                      </a:r>
                      <a:endParaRPr lang="en-US" altLang="ja-JP" sz="1050" b="1" u="none" strike="noStrike" kern="1200" dirty="0">
                        <a:solidFill>
                          <a:srgbClr val="0070C0"/>
                        </a:solidFill>
                        <a:effectLst/>
                        <a:latin typeface="+mn-lt"/>
                        <a:ea typeface="+mn-ea"/>
                        <a:cs typeface="+mn-cs"/>
                      </a:endParaRPr>
                    </a:p>
                  </a:txBody>
                  <a:tcPr marL="0" marR="0" marT="0" marB="0" anchor="ctr"/>
                </a:tc>
                <a:tc>
                  <a:txBody>
                    <a:bodyPr/>
                    <a:lstStyle/>
                    <a:p>
                      <a:pPr marL="0" algn="l" defTabSz="914400" rtl="0" eaLnBrk="1" fontAlgn="b" latinLnBrk="0" hangingPunct="1"/>
                      <a:endParaRPr lang="ja-JP" altLang="en-US" sz="1050" b="1" u="none" strike="noStrike" kern="1200" dirty="0">
                        <a:solidFill>
                          <a:srgbClr val="0070C0"/>
                        </a:solidFill>
                        <a:effectLst/>
                        <a:latin typeface="+mn-lt"/>
                        <a:ea typeface="+mn-ea"/>
                        <a:cs typeface="+mn-cs"/>
                      </a:endParaRPr>
                    </a:p>
                  </a:txBody>
                  <a:tcPr marL="0" marR="0" marT="0" marB="0" anchor="ctr"/>
                </a:tc>
                <a:extLst>
                  <a:ext uri="{0D108BD9-81ED-4DB2-BD59-A6C34878D82A}">
                    <a16:rowId xmlns:a16="http://schemas.microsoft.com/office/drawing/2014/main" val="1301011314"/>
                  </a:ext>
                </a:extLst>
              </a:tr>
              <a:tr h="131367">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検収対応、</a:t>
                      </a:r>
                      <a:r>
                        <a:rPr lang="en-US" altLang="ja-JP" sz="1050" b="0" u="none" strike="noStrike" kern="1200" dirty="0">
                          <a:solidFill>
                            <a:schemeClr val="tx1"/>
                          </a:solidFill>
                          <a:effectLst/>
                          <a:latin typeface="+mn-lt"/>
                          <a:ea typeface="+mn-ea"/>
                          <a:cs typeface="+mn-cs"/>
                        </a:rPr>
                        <a:t>UAT</a:t>
                      </a:r>
                      <a:r>
                        <a:rPr lang="ja-JP" altLang="en-US" sz="1050" b="0" u="none" strike="noStrike" kern="1200" dirty="0">
                          <a:solidFill>
                            <a:schemeClr val="tx1"/>
                          </a:solidFill>
                          <a:effectLst/>
                          <a:latin typeface="+mn-lt"/>
                          <a:ea typeface="+mn-ea"/>
                          <a:cs typeface="+mn-cs"/>
                        </a:rPr>
                        <a:t>支援、リリース</a:t>
                      </a: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15.5</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最初の</a:t>
                      </a:r>
                      <a:r>
                        <a:rPr lang="en-US" altLang="ja-JP" sz="1050" b="0" u="none" strike="noStrike" kern="1200" dirty="0">
                          <a:solidFill>
                            <a:schemeClr val="tx1"/>
                          </a:solidFill>
                          <a:effectLst/>
                          <a:latin typeface="+mn-lt"/>
                          <a:ea typeface="+mn-ea"/>
                          <a:cs typeface="+mn-cs"/>
                        </a:rPr>
                        <a:t>10</a:t>
                      </a:r>
                      <a:r>
                        <a:rPr lang="ja-JP" altLang="en-US" sz="1050" b="0" u="none" strike="noStrike" kern="1200" dirty="0">
                          <a:solidFill>
                            <a:schemeClr val="tx1"/>
                          </a:solidFill>
                          <a:effectLst/>
                          <a:latin typeface="+mn-lt"/>
                          <a:ea typeface="+mn-ea"/>
                          <a:cs typeface="+mn-cs"/>
                        </a:rPr>
                        <a:t>部署に平均１</a:t>
                      </a:r>
                      <a:r>
                        <a:rPr lang="en-US" altLang="ja-JP" sz="1050" b="0" u="none" strike="noStrike" kern="1200" dirty="0">
                          <a:solidFill>
                            <a:schemeClr val="tx1"/>
                          </a:solidFill>
                          <a:effectLst/>
                          <a:latin typeface="+mn-lt"/>
                          <a:ea typeface="+mn-ea"/>
                          <a:cs typeface="+mn-cs"/>
                        </a:rPr>
                        <a:t>MM/</a:t>
                      </a:r>
                      <a:r>
                        <a:rPr lang="ja-JP" altLang="en-US" sz="1050" b="0" u="none" strike="noStrike" kern="1200" dirty="0">
                          <a:solidFill>
                            <a:schemeClr val="tx1"/>
                          </a:solidFill>
                          <a:effectLst/>
                        </a:rPr>
                        <a:t>部署</a:t>
                      </a:r>
                      <a:r>
                        <a:rPr lang="ja-JP" altLang="en-US" sz="1050" b="0" u="none" strike="noStrike" kern="1200" dirty="0">
                          <a:solidFill>
                            <a:schemeClr val="tx1"/>
                          </a:solidFill>
                          <a:effectLst/>
                          <a:latin typeface="+mn-lt"/>
                          <a:ea typeface="+mn-ea"/>
                          <a:cs typeface="+mn-cs"/>
                        </a:rPr>
                        <a:t>、残り</a:t>
                      </a:r>
                      <a:r>
                        <a:rPr lang="en-US" altLang="ja-JP" sz="1050" b="0" u="none" strike="noStrike" kern="1200" dirty="0">
                          <a:solidFill>
                            <a:schemeClr val="tx1"/>
                          </a:solidFill>
                          <a:effectLst/>
                          <a:latin typeface="+mn-lt"/>
                          <a:ea typeface="+mn-ea"/>
                          <a:cs typeface="+mn-cs"/>
                        </a:rPr>
                        <a:t>22</a:t>
                      </a:r>
                      <a:r>
                        <a:rPr lang="ja-JP" altLang="en-US" sz="1050" b="0" u="none" strike="noStrike" kern="1200" dirty="0">
                          <a:solidFill>
                            <a:schemeClr val="tx1"/>
                          </a:solidFill>
                          <a:effectLst/>
                          <a:latin typeface="+mn-lt"/>
                          <a:ea typeface="+mn-ea"/>
                          <a:cs typeface="+mn-cs"/>
                        </a:rPr>
                        <a:t>部署は変更調整のみで、</a:t>
                      </a:r>
                      <a:r>
                        <a:rPr lang="en-US" altLang="ja-JP" sz="1050" b="0" u="none" strike="noStrike" kern="1200" dirty="0">
                          <a:solidFill>
                            <a:schemeClr val="tx1"/>
                          </a:solidFill>
                          <a:effectLst/>
                          <a:latin typeface="+mn-lt"/>
                          <a:ea typeface="+mn-ea"/>
                          <a:cs typeface="+mn-cs"/>
                        </a:rPr>
                        <a:t>0.25MM/</a:t>
                      </a:r>
                      <a:r>
                        <a:rPr lang="ja-JP" altLang="en-US" sz="1050" b="0" u="none" strike="noStrike" kern="1200" dirty="0">
                          <a:solidFill>
                            <a:schemeClr val="tx1"/>
                          </a:solidFill>
                          <a:effectLst/>
                        </a:rPr>
                        <a:t>部署</a:t>
                      </a:r>
                      <a:r>
                        <a:rPr lang="ja-JP" altLang="en-US" sz="1050" b="0" u="none" strike="noStrike" kern="1200" dirty="0">
                          <a:solidFill>
                            <a:schemeClr val="tx1"/>
                          </a:solidFill>
                          <a:effectLst/>
                          <a:latin typeface="+mn-lt"/>
                          <a:ea typeface="+mn-ea"/>
                          <a:cs typeface="+mn-cs"/>
                        </a:rPr>
                        <a:t>で</a:t>
                      </a:r>
                    </a:p>
                  </a:txBody>
                  <a:tcPr marL="0" marR="0" marT="0" marB="0" anchor="ctr"/>
                </a:tc>
                <a:extLst>
                  <a:ext uri="{0D108BD9-81ED-4DB2-BD59-A6C34878D82A}">
                    <a16:rowId xmlns:a16="http://schemas.microsoft.com/office/drawing/2014/main" val="3197948973"/>
                  </a:ext>
                </a:extLst>
              </a:tr>
              <a:tr h="262734">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初期サポート</a:t>
                      </a: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15.5</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最初の</a:t>
                      </a:r>
                      <a:r>
                        <a:rPr lang="en-US" altLang="ja-JP" sz="1050" b="0" u="none" strike="noStrike" kern="1200" dirty="0">
                          <a:solidFill>
                            <a:schemeClr val="tx1"/>
                          </a:solidFill>
                          <a:effectLst/>
                          <a:latin typeface="+mn-lt"/>
                          <a:ea typeface="+mn-ea"/>
                          <a:cs typeface="+mn-cs"/>
                        </a:rPr>
                        <a:t>10</a:t>
                      </a:r>
                      <a:r>
                        <a:rPr lang="ja-JP" altLang="en-US" sz="1050" b="0" u="none" strike="noStrike" kern="1200" dirty="0">
                          <a:solidFill>
                            <a:schemeClr val="tx1"/>
                          </a:solidFill>
                          <a:effectLst/>
                          <a:latin typeface="+mn-lt"/>
                          <a:ea typeface="+mn-ea"/>
                          <a:cs typeface="+mn-cs"/>
                        </a:rPr>
                        <a:t>部署に平均１</a:t>
                      </a:r>
                      <a:r>
                        <a:rPr lang="en-US" altLang="ja-JP" sz="1050" b="0" u="none" strike="noStrike" kern="1200" dirty="0">
                          <a:solidFill>
                            <a:schemeClr val="tx1"/>
                          </a:solidFill>
                          <a:effectLst/>
                          <a:latin typeface="+mn-lt"/>
                          <a:ea typeface="+mn-ea"/>
                          <a:cs typeface="+mn-cs"/>
                        </a:rPr>
                        <a:t>MM/</a:t>
                      </a:r>
                      <a:r>
                        <a:rPr lang="ja-JP" altLang="en-US" sz="1050" b="0" u="none" strike="noStrike" kern="1200" dirty="0">
                          <a:solidFill>
                            <a:schemeClr val="tx1"/>
                          </a:solidFill>
                          <a:effectLst/>
                        </a:rPr>
                        <a:t>部署</a:t>
                      </a:r>
                      <a:r>
                        <a:rPr lang="ja-JP" altLang="en-US" sz="1050" b="0" u="none" strike="noStrike" kern="1200" dirty="0">
                          <a:solidFill>
                            <a:schemeClr val="tx1"/>
                          </a:solidFill>
                          <a:effectLst/>
                          <a:latin typeface="+mn-lt"/>
                          <a:ea typeface="+mn-ea"/>
                          <a:cs typeface="+mn-cs"/>
                        </a:rPr>
                        <a:t>、残り</a:t>
                      </a:r>
                      <a:r>
                        <a:rPr lang="en-US" altLang="ja-JP" sz="1050" b="0" u="none" strike="noStrike" kern="1200" dirty="0">
                          <a:solidFill>
                            <a:schemeClr val="tx1"/>
                          </a:solidFill>
                          <a:effectLst/>
                          <a:latin typeface="+mn-lt"/>
                          <a:ea typeface="+mn-ea"/>
                          <a:cs typeface="+mn-cs"/>
                        </a:rPr>
                        <a:t>22</a:t>
                      </a:r>
                      <a:r>
                        <a:rPr lang="ja-JP" altLang="en-US" sz="1050" b="0" u="none" strike="noStrike" kern="1200" dirty="0">
                          <a:solidFill>
                            <a:schemeClr val="tx1"/>
                          </a:solidFill>
                          <a:effectLst/>
                          <a:latin typeface="+mn-lt"/>
                          <a:ea typeface="+mn-ea"/>
                          <a:cs typeface="+mn-cs"/>
                        </a:rPr>
                        <a:t>部署は変更調整のみで、（</a:t>
                      </a:r>
                      <a:r>
                        <a:rPr lang="en-US" altLang="ja-JP" sz="1050" b="0" u="none" strike="noStrike" kern="1200" dirty="0">
                          <a:solidFill>
                            <a:schemeClr val="tx1"/>
                          </a:solidFill>
                          <a:effectLst/>
                          <a:latin typeface="+mn-lt"/>
                          <a:ea typeface="+mn-ea"/>
                          <a:cs typeface="+mn-cs"/>
                        </a:rPr>
                        <a:t>2</a:t>
                      </a:r>
                      <a:r>
                        <a:rPr lang="ja-JP" altLang="en-US" sz="1050" b="0" u="none" strike="noStrike" kern="1200" dirty="0">
                          <a:solidFill>
                            <a:schemeClr val="tx1"/>
                          </a:solidFill>
                          <a:effectLst/>
                          <a:latin typeface="+mn-lt"/>
                          <a:ea typeface="+mn-ea"/>
                          <a:cs typeface="+mn-cs"/>
                        </a:rPr>
                        <a:t>－</a:t>
                      </a:r>
                      <a:r>
                        <a:rPr lang="en-US" altLang="ja-JP" sz="1050" b="0" u="none" strike="noStrike" kern="1200" dirty="0">
                          <a:solidFill>
                            <a:schemeClr val="tx1"/>
                          </a:solidFill>
                          <a:effectLst/>
                          <a:latin typeface="+mn-lt"/>
                          <a:ea typeface="+mn-ea"/>
                          <a:cs typeface="+mn-cs"/>
                        </a:rPr>
                        <a:t>4</a:t>
                      </a:r>
                      <a:r>
                        <a:rPr lang="ja-JP" altLang="en-US" sz="1050" b="0" u="none" strike="noStrike" kern="1200" dirty="0">
                          <a:solidFill>
                            <a:schemeClr val="tx1"/>
                          </a:solidFill>
                          <a:effectLst/>
                          <a:latin typeface="+mn-lt"/>
                          <a:ea typeface="+mn-ea"/>
                          <a:cs typeface="+mn-cs"/>
                        </a:rPr>
                        <a:t>週間程度の問い合わせ</a:t>
                      </a:r>
                      <a:r>
                        <a:rPr lang="en-US" altLang="ja-JP" sz="1050" b="0" u="none" strike="noStrike" kern="1200" dirty="0">
                          <a:solidFill>
                            <a:schemeClr val="tx1"/>
                          </a:solidFill>
                          <a:effectLst/>
                          <a:latin typeface="+mn-lt"/>
                          <a:ea typeface="+mn-ea"/>
                          <a:cs typeface="+mn-cs"/>
                        </a:rPr>
                        <a:t>,</a:t>
                      </a:r>
                      <a:r>
                        <a:rPr lang="ja-JP" altLang="en-US" sz="1050" b="0" u="none" strike="noStrike" kern="1200" dirty="0">
                          <a:solidFill>
                            <a:schemeClr val="tx1"/>
                          </a:solidFill>
                          <a:effectLst/>
                          <a:latin typeface="+mn-lt"/>
                          <a:ea typeface="+mn-ea"/>
                          <a:cs typeface="+mn-cs"/>
                        </a:rPr>
                        <a:t>対応）、初期稼働後の運用保守は該当見積もり範囲外（備考参照）</a:t>
                      </a:r>
                    </a:p>
                  </a:txBody>
                  <a:tcPr marL="0" marR="0" marT="0" marB="0" anchor="ctr"/>
                </a:tc>
                <a:extLst>
                  <a:ext uri="{0D108BD9-81ED-4DB2-BD59-A6C34878D82A}">
                    <a16:rowId xmlns:a16="http://schemas.microsoft.com/office/drawing/2014/main" val="83785411"/>
                  </a:ext>
                </a:extLst>
              </a:tr>
              <a:tr h="262734">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ja-JP" altLang="en-US" sz="1050" b="1" u="none" strike="noStrike" kern="1200" dirty="0">
                          <a:solidFill>
                            <a:srgbClr val="0070C0"/>
                          </a:solidFill>
                          <a:effectLst/>
                          <a:latin typeface="+mn-lt"/>
                          <a:ea typeface="+mn-ea"/>
                          <a:cs typeface="+mn-cs"/>
                        </a:rPr>
                        <a:t>ー</a:t>
                      </a:r>
                      <a:r>
                        <a:rPr lang="ja-JP" altLang="en-US" sz="1050" b="1" u="none" strike="noStrike" kern="1200">
                          <a:solidFill>
                            <a:srgbClr val="0070C0"/>
                          </a:solidFill>
                          <a:effectLst/>
                          <a:latin typeface="+mn-lt"/>
                          <a:ea typeface="+mn-ea"/>
                          <a:cs typeface="+mn-cs"/>
                        </a:rPr>
                        <a:t>検収、初期サポート</a:t>
                      </a:r>
                      <a:r>
                        <a:rPr lang="ja-JP" altLang="en-US" sz="1050" b="1" u="none" strike="noStrike" kern="1200" dirty="0">
                          <a:solidFill>
                            <a:srgbClr val="0070C0"/>
                          </a:solidFill>
                          <a:effectLst/>
                          <a:latin typeface="+mn-lt"/>
                          <a:ea typeface="+mn-ea"/>
                          <a:cs typeface="+mn-cs"/>
                        </a:rPr>
                        <a:t>小計</a:t>
                      </a:r>
                    </a:p>
                  </a:txBody>
                  <a:tcPr marL="0" marR="0" marT="0" marB="0" anchor="ctr"/>
                </a:tc>
                <a:tc>
                  <a:txBody>
                    <a:bodyPr/>
                    <a:lstStyle/>
                    <a:p>
                      <a:pPr marL="0" algn="l" defTabSz="914400" rtl="0" eaLnBrk="1" fontAlgn="b" latinLnBrk="0" hangingPunct="1"/>
                      <a:r>
                        <a:rPr lang="en-US" altLang="ja-JP" sz="1050" b="1" u="none" strike="noStrike" kern="1200" dirty="0">
                          <a:solidFill>
                            <a:srgbClr val="0070C0"/>
                          </a:solidFill>
                          <a:effectLst/>
                          <a:latin typeface="+mn-lt"/>
                          <a:ea typeface="+mn-ea"/>
                          <a:cs typeface="+mn-cs"/>
                        </a:rPr>
                        <a:t>31MM/2685</a:t>
                      </a:r>
                      <a:r>
                        <a:rPr lang="ja-JP" altLang="en-US" sz="1050" b="1" u="none" strike="noStrike" kern="1200" dirty="0">
                          <a:solidFill>
                            <a:srgbClr val="0070C0"/>
                          </a:solidFill>
                          <a:effectLst/>
                          <a:latin typeface="+mn-lt"/>
                          <a:ea typeface="+mn-ea"/>
                          <a:cs typeface="+mn-cs"/>
                        </a:rPr>
                        <a:t>万</a:t>
                      </a:r>
                      <a:endParaRPr lang="en-US" altLang="ja-JP" sz="1050" b="1" u="none" strike="noStrike" kern="1200" dirty="0">
                        <a:solidFill>
                          <a:srgbClr val="0070C0"/>
                        </a:solidFill>
                        <a:effectLst/>
                        <a:latin typeface="+mn-lt"/>
                        <a:ea typeface="+mn-ea"/>
                        <a:cs typeface="+mn-cs"/>
                      </a:endParaRPr>
                    </a:p>
                  </a:txBody>
                  <a:tcPr marL="0" marR="0" marT="0" marB="0" anchor="ctr"/>
                </a:tc>
                <a:tc>
                  <a:txBody>
                    <a:bodyPr/>
                    <a:lstStyle/>
                    <a:p>
                      <a:pPr marL="0" algn="l" defTabSz="914400" rtl="0" eaLnBrk="1" fontAlgn="b" latinLnBrk="0" hangingPunct="1"/>
                      <a:endParaRPr lang="ja-JP" altLang="en-US" sz="1050" b="1" u="none" strike="noStrike" kern="1200" dirty="0">
                        <a:solidFill>
                          <a:srgbClr val="0070C0"/>
                        </a:solidFill>
                        <a:effectLst/>
                        <a:latin typeface="+mn-lt"/>
                        <a:ea typeface="+mn-ea"/>
                        <a:cs typeface="+mn-cs"/>
                      </a:endParaRPr>
                    </a:p>
                  </a:txBody>
                  <a:tcPr marL="0" marR="0" marT="0" marB="0" anchor="ctr"/>
                </a:tc>
                <a:extLst>
                  <a:ext uri="{0D108BD9-81ED-4DB2-BD59-A6C34878D82A}">
                    <a16:rowId xmlns:a16="http://schemas.microsoft.com/office/drawing/2014/main" val="550416032"/>
                  </a:ext>
                </a:extLst>
              </a:tr>
            </a:tbl>
          </a:graphicData>
        </a:graphic>
      </p:graphicFrame>
      <p:sp>
        <p:nvSpPr>
          <p:cNvPr id="6" name="テキスト ボックス 5">
            <a:extLst>
              <a:ext uri="{FF2B5EF4-FFF2-40B4-BE49-F238E27FC236}">
                <a16:creationId xmlns:a16="http://schemas.microsoft.com/office/drawing/2014/main" id="{03DEC960-4B25-821A-07E2-7849403E7F11}"/>
              </a:ext>
            </a:extLst>
          </p:cNvPr>
          <p:cNvSpPr txBox="1"/>
          <p:nvPr/>
        </p:nvSpPr>
        <p:spPr>
          <a:xfrm>
            <a:off x="453136" y="6086581"/>
            <a:ext cx="828040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工数：</a:t>
            </a:r>
            <a:r>
              <a:rPr kumimoji="1" lang="en-US" altLang="ja-JP" sz="16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175.06MM</a:t>
            </a:r>
            <a:r>
              <a:rPr kumimoji="1" lang="ja-JP" altLang="en-US" sz="16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、費用： </a:t>
            </a:r>
            <a:r>
              <a:rPr kumimoji="1" lang="en-US" altLang="ja-JP" sz="16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1,261</a:t>
            </a:r>
            <a:r>
              <a:rPr kumimoji="1" lang="ja-JP" altLang="en-US" sz="16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万</a:t>
            </a:r>
          </a:p>
        </p:txBody>
      </p:sp>
    </p:spTree>
    <p:extLst>
      <p:ext uri="{BB962C8B-B14F-4D97-AF65-F5344CB8AC3E}">
        <p14:creationId xmlns:p14="http://schemas.microsoft.com/office/powerpoint/2010/main" val="4651679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494723"/>
          </a:xfrm>
        </p:spPr>
        <p:txBody>
          <a:bodyPr>
            <a:normAutofit fontScale="90000"/>
          </a:bodyPr>
          <a:lstStyle/>
          <a:p>
            <a:r>
              <a:rPr lang="zh-CN" altLang="en-US" dirty="0">
                <a:latin typeface="游ゴシック Light" panose="020B0300000000000000" pitchFamily="50" charset="-128"/>
                <a:ea typeface="游ゴシック Light" panose="020B0300000000000000" pitchFamily="50" charset="-128"/>
              </a:rPr>
              <a:t>結論</a:t>
            </a:r>
            <a:endParaRPr lang="zh-CN" altLang="en-US" dirty="0">
              <a:effectLst/>
              <a:latin typeface="游ゴシック Light" panose="020B0300000000000000" pitchFamily="50" charset="-128"/>
              <a:ea typeface="游ゴシック Light" panose="020B0300000000000000" pitchFamily="50" charset="-128"/>
            </a:endParaRPr>
          </a:p>
        </p:txBody>
      </p:sp>
      <p:sp>
        <p:nvSpPr>
          <p:cNvPr id="15" name="テキスト ボックス 14"/>
          <p:cNvSpPr txBox="1"/>
          <p:nvPr/>
        </p:nvSpPr>
        <p:spPr>
          <a:xfrm>
            <a:off x="414336" y="783771"/>
            <a:ext cx="11490793" cy="5324243"/>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285750" lvl="0"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提案のまとめ: </a:t>
            </a:r>
            <a:endParaRPr kumimoji="0" lang="en-US"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本方案により、効率的でセキュアな</a:t>
            </a:r>
            <a:r>
              <a:rPr kumimoji="0" lang="ja-JP" altLang="en-US" dirty="0">
                <a:latin typeface="Arial" panose="020B0604020202020204" pitchFamily="34" charset="0"/>
              </a:rPr>
              <a:t>文書</a:t>
            </a:r>
            <a:r>
              <a:rPr kumimoji="0" lang="zh-CN" altLang="zh-CN" dirty="0">
                <a:latin typeface="Arial" panose="020B0604020202020204" pitchFamily="34" charset="0"/>
              </a:rPr>
              <a:t>管理を</a:t>
            </a:r>
            <a:r>
              <a:rPr kumimoji="0" lang="en-US" altLang="ja-JP" dirty="0">
                <a:latin typeface="Arial" panose="020B0604020202020204" pitchFamily="34" charset="0"/>
              </a:rPr>
              <a:t>Power  Platform</a:t>
            </a:r>
            <a:r>
              <a:rPr kumimoji="0" lang="ja-JP" altLang="en-US" dirty="0">
                <a:latin typeface="Arial" panose="020B0604020202020204" pitchFamily="34" charset="0"/>
              </a:rPr>
              <a:t>にて</a:t>
            </a:r>
            <a:r>
              <a:rPr kumimoji="0" lang="zh-CN" altLang="zh-CN" dirty="0">
                <a:latin typeface="Arial" panose="020B0604020202020204" pitchFamily="34" charset="0"/>
              </a:rPr>
              <a:t>実現。</a:t>
            </a:r>
            <a:endParaRPr kumimoji="0" lang="en-US"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ja-JP" dirty="0">
                <a:latin typeface="Arial" panose="020B0604020202020204" pitchFamily="34" charset="0"/>
              </a:rPr>
              <a:t>3</a:t>
            </a:r>
            <a:r>
              <a:rPr kumimoji="0" lang="en-US" altLang="ja-JP" baseline="30000" dirty="0">
                <a:latin typeface="Arial" panose="020B0604020202020204" pitchFamily="34" charset="0"/>
              </a:rPr>
              <a:t>rd</a:t>
            </a:r>
            <a:r>
              <a:rPr kumimoji="0" lang="en-US" altLang="ja-JP" dirty="0">
                <a:latin typeface="Arial" panose="020B0604020202020204" pitchFamily="34" charset="0"/>
              </a:rPr>
              <a:t> Party</a:t>
            </a:r>
            <a:r>
              <a:rPr kumimoji="0" lang="ja-JP" altLang="en-US" dirty="0">
                <a:latin typeface="Arial" panose="020B0604020202020204" pitchFamily="34" charset="0"/>
              </a:rPr>
              <a:t>の</a:t>
            </a:r>
            <a:r>
              <a:rPr kumimoji="0" lang="en-US" altLang="ja-JP" dirty="0">
                <a:latin typeface="Arial" panose="020B0604020202020204" pitchFamily="34" charset="0"/>
              </a:rPr>
              <a:t>CMS</a:t>
            </a:r>
            <a:r>
              <a:rPr kumimoji="0" lang="ja-JP" altLang="en-US" dirty="0">
                <a:latin typeface="Arial" panose="020B0604020202020204" pitchFamily="34" charset="0"/>
              </a:rPr>
              <a:t>パッケージを導入せず、</a:t>
            </a:r>
            <a:r>
              <a:rPr kumimoji="0" lang="en-US" altLang="ja-JP" dirty="0">
                <a:latin typeface="Arial" panose="020B0604020202020204" pitchFamily="34" charset="0"/>
              </a:rPr>
              <a:t>10</a:t>
            </a:r>
            <a:r>
              <a:rPr kumimoji="0" lang="ja-JP" altLang="en-US" dirty="0">
                <a:latin typeface="Arial" panose="020B0604020202020204" pitchFamily="34" charset="0"/>
              </a:rPr>
              <a:t>年間数億のライセンス費用節約</a:t>
            </a:r>
            <a:r>
              <a:rPr kumimoji="0" lang="zh-CN" altLang="zh-CN" dirty="0">
                <a:latin typeface="Arial" panose="020B0604020202020204" pitchFamily="34" charset="0"/>
              </a:rPr>
              <a:t> </a:t>
            </a:r>
          </a:p>
          <a:p>
            <a:pPr marL="285750" lvl="0"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次ステップ:</a:t>
            </a:r>
            <a:endParaRPr kumimoji="0" lang="en-US"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ja-JP" dirty="0">
                <a:latin typeface="Arial" panose="020B0604020202020204" pitchFamily="34" charset="0"/>
              </a:rPr>
              <a:t>Q/A</a:t>
            </a:r>
            <a:r>
              <a:rPr kumimoji="0" lang="ja-JP" altLang="en-US" dirty="0">
                <a:latin typeface="Arial" panose="020B0604020202020204" pitchFamily="34" charset="0"/>
              </a:rPr>
              <a:t>ミーティングの日程調整（必要に応じてセッティング）</a:t>
            </a:r>
            <a:endParaRPr kumimoji="0" lang="en-US" altLang="ja-JP"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本方案</a:t>
            </a:r>
            <a:r>
              <a:rPr kumimoji="0" lang="ja-JP" altLang="en-US" dirty="0">
                <a:latin typeface="Arial" panose="020B0604020202020204" pitchFamily="34" charset="0"/>
              </a:rPr>
              <a:t>に合意が取れた場合、社内稟議に必要となる期間の確認</a:t>
            </a:r>
            <a:endParaRPr kumimoji="0" lang="zh-CN" altLang="zh-CN" dirty="0">
              <a:latin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連絡先: </a:t>
            </a:r>
            <a:endParaRPr kumimoji="0" lang="en-US"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zh-CN" dirty="0">
                <a:latin typeface="Arial" panose="020B0604020202020204" pitchFamily="34" charset="0"/>
                <a:hlinkClick r:id="rId3">
                  <a:extLst>
                    <a:ext uri="{A12FA001-AC4F-418D-AE19-62706E023703}">
                      <ahyp:hlinkClr xmlns:ahyp="http://schemas.microsoft.com/office/drawing/2018/hyperlinkcolor" val="tx"/>
                    </a:ext>
                  </a:extLst>
                </a:hlinkClick>
              </a:rPr>
              <a:t>yli@gcsoft-jp.com</a:t>
            </a:r>
            <a:endParaRPr kumimoji="0" lang="en-US"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zh-CN" dirty="0">
                <a:latin typeface="Arial" panose="020B0604020202020204" pitchFamily="34" charset="0"/>
              </a:rPr>
              <a:t>zdhe@gcsoft-jp.com</a:t>
            </a:r>
            <a:endParaRPr kumimoji="0" lang="zh-CN"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zh-CN" dirty="0">
                <a:latin typeface="Arial" panose="020B0604020202020204" pitchFamily="34" charset="0"/>
              </a:rPr>
              <a:t>cc: admin@gcsoft-jp.com </a:t>
            </a:r>
          </a:p>
          <a:p>
            <a:pPr marL="285750" indent="-285750" eaLnBrk="0" fontAlgn="base" hangingPunct="0">
              <a:spcBef>
                <a:spcPct val="0"/>
              </a:spcBef>
              <a:spcAft>
                <a:spcPct val="0"/>
              </a:spcAft>
              <a:buFont typeface="Arial" panose="020B0604020202020204" pitchFamily="34" charset="0"/>
              <a:buChar char="•"/>
            </a:pPr>
            <a:r>
              <a:rPr kumimoji="0" lang="ja-JP" altLang="en-US" dirty="0">
                <a:latin typeface="Arial" panose="020B0604020202020204" pitchFamily="34" charset="0"/>
              </a:rPr>
              <a:t>前提条件：</a:t>
            </a:r>
            <a:endParaRPr kumimoji="0" lang="en-US" altLang="ja-JP"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en-US" dirty="0">
                <a:latin typeface="Arial" panose="020B0604020202020204" pitchFamily="34" charset="0"/>
              </a:rPr>
              <a:t>この見積は、</a:t>
            </a:r>
            <a:r>
              <a:rPr kumimoji="0" lang="en-US" altLang="ja-JP" dirty="0">
                <a:latin typeface="Arial" panose="020B0604020202020204" pitchFamily="34" charset="0"/>
              </a:rPr>
              <a:t>11/30</a:t>
            </a:r>
            <a:r>
              <a:rPr kumimoji="0" lang="ja-JP" altLang="en-US" dirty="0">
                <a:latin typeface="Arial" panose="020B0604020202020204" pitchFamily="34" charset="0"/>
              </a:rPr>
              <a:t>まで有効とする</a:t>
            </a:r>
            <a:endParaRPr kumimoji="0" lang="en-US" altLang="ja-JP"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en-US" dirty="0">
                <a:latin typeface="Arial" panose="020B0604020202020204" pitchFamily="34" charset="0"/>
              </a:rPr>
              <a:t>この見積は、仕様書定型データを</a:t>
            </a:r>
            <a:r>
              <a:rPr kumimoji="0" lang="en-US" altLang="ja-JP" dirty="0">
                <a:latin typeface="Arial" panose="020B0604020202020204" pitchFamily="34" charset="0"/>
              </a:rPr>
              <a:t>Azure SQL</a:t>
            </a:r>
            <a:r>
              <a:rPr kumimoji="0" lang="ja-JP" altLang="en-US" dirty="0">
                <a:latin typeface="Arial" panose="020B0604020202020204" pitchFamily="34" charset="0"/>
              </a:rPr>
              <a:t>に管理、添付ファイルは</a:t>
            </a:r>
            <a:r>
              <a:rPr kumimoji="0" lang="en-US" altLang="ja-JP" dirty="0">
                <a:latin typeface="Arial" panose="020B0604020202020204" pitchFamily="34" charset="0"/>
              </a:rPr>
              <a:t>SPO</a:t>
            </a:r>
            <a:r>
              <a:rPr kumimoji="0" lang="ja-JP" altLang="en-US" dirty="0">
                <a:latin typeface="Arial" panose="020B0604020202020204" pitchFamily="34" charset="0"/>
              </a:rPr>
              <a:t>に管理の前提とする</a:t>
            </a:r>
            <a:endParaRPr kumimoji="0" lang="en-US" altLang="ja-JP"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en-US" dirty="0">
                <a:solidFill>
                  <a:prstClr val="black"/>
                </a:solidFill>
                <a:latin typeface="Arial" panose="020B0604020202020204" pitchFamily="34" charset="0"/>
              </a:rPr>
              <a:t>作業用クラウド環境、</a:t>
            </a:r>
            <a:r>
              <a:rPr kumimoji="0" lang="en-US" altLang="ja-JP" dirty="0">
                <a:solidFill>
                  <a:prstClr val="black"/>
                </a:solidFill>
                <a:latin typeface="Arial" panose="020B0604020202020204" pitchFamily="34" charset="0"/>
              </a:rPr>
              <a:t>Azure License</a:t>
            </a:r>
            <a:r>
              <a:rPr kumimoji="0" lang="ja-JP" altLang="en-US" dirty="0">
                <a:solidFill>
                  <a:prstClr val="black"/>
                </a:solidFill>
                <a:latin typeface="Arial" panose="020B0604020202020204" pitchFamily="34" charset="0"/>
              </a:rPr>
              <a:t>含む各種ライセンス</a:t>
            </a:r>
            <a:r>
              <a:rPr kumimoji="0" lang="en-US" altLang="ja-JP" dirty="0">
                <a:solidFill>
                  <a:prstClr val="black"/>
                </a:solidFill>
                <a:latin typeface="Arial" panose="020B0604020202020204" pitchFamily="34" charset="0"/>
              </a:rPr>
              <a:t>/</a:t>
            </a:r>
            <a:r>
              <a:rPr kumimoji="0" lang="ja-JP" altLang="en-US" dirty="0">
                <a:solidFill>
                  <a:prstClr val="black"/>
                </a:solidFill>
                <a:latin typeface="Arial" panose="020B0604020202020204" pitchFamily="34" charset="0"/>
              </a:rPr>
              <a:t>開発環境は</a:t>
            </a:r>
            <a:r>
              <a:rPr kumimoji="0" lang="en-US" altLang="ja-JP" dirty="0">
                <a:solidFill>
                  <a:prstClr val="black"/>
                </a:solidFill>
                <a:latin typeface="Arial" panose="020B0604020202020204" pitchFamily="34" charset="0"/>
              </a:rPr>
              <a:t>MCC</a:t>
            </a:r>
            <a:r>
              <a:rPr kumimoji="0" lang="ja-JP" altLang="en-US" dirty="0">
                <a:solidFill>
                  <a:prstClr val="black"/>
                </a:solidFill>
                <a:latin typeface="Arial" panose="020B0604020202020204" pitchFamily="34" charset="0"/>
              </a:rPr>
              <a:t>により提供する</a:t>
            </a:r>
            <a:endParaRPr kumimoji="0" lang="en-US" altLang="ja-JP"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endParaRPr kumimoji="0" lang="en-US" altLang="zh-CN" dirty="0">
              <a:latin typeface="Arial" panose="020B0604020202020204"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ctrTitle"/>
          </p:nvPr>
        </p:nvSpPr>
        <p:spPr/>
        <p:txBody>
          <a:bodyPr/>
          <a:lstStyle/>
          <a:p>
            <a:r>
              <a:rPr lang="ja-JP" altLang="en-US"/>
              <a:t>備考</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normAutofit/>
          </a:bodyPr>
          <a:lstStyle/>
          <a:p>
            <a:r>
              <a:rPr lang="ja-JP" altLang="en-US" dirty="0"/>
              <a:t>サポートとメンテナンス－瑕疵範囲、保守提案</a:t>
            </a:r>
            <a:endParaRPr lang="ja-JP" altLang="en-US" dirty="0">
              <a:effectLst/>
            </a:endParaRPr>
          </a:p>
        </p:txBody>
      </p:sp>
      <p:sp>
        <p:nvSpPr>
          <p:cNvPr id="15" name="テキスト ボックス 14"/>
          <p:cNvSpPr txBox="1"/>
          <p:nvPr/>
        </p:nvSpPr>
        <p:spPr>
          <a:xfrm>
            <a:off x="414336" y="833179"/>
            <a:ext cx="11490793" cy="5405533"/>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285750" lvl="0" indent="-285750" eaLnBrk="0" fontAlgn="base" hangingPunct="0">
              <a:spcBef>
                <a:spcPct val="0"/>
              </a:spcBef>
              <a:spcAft>
                <a:spcPct val="0"/>
              </a:spcAft>
              <a:buFont typeface="Arial" panose="020B0604020202020204" pitchFamily="34" charset="0"/>
              <a:buChar char="•"/>
            </a:pPr>
            <a:r>
              <a:rPr lang="ja-JP" altLang="en-US" dirty="0"/>
              <a:t>瑕疵範囲は半年とする（バグ対応のみが対象、本見積もりに含む）</a:t>
            </a:r>
            <a:endParaRPr lang="en-US" altLang="ja-JP" dirty="0"/>
          </a:p>
          <a:p>
            <a:pPr marL="285750" indent="-285750" eaLnBrk="0" fontAlgn="base" hangingPunct="0">
              <a:spcBef>
                <a:spcPct val="0"/>
              </a:spcBef>
              <a:spcAft>
                <a:spcPct val="0"/>
              </a:spcAft>
              <a:buFont typeface="Arial" panose="020B0604020202020204" pitchFamily="34" charset="0"/>
              <a:buChar char="•"/>
            </a:pPr>
            <a:r>
              <a:rPr kumimoji="0" lang="ja-JP" altLang="en-US" dirty="0">
                <a:latin typeface="Arial" panose="020B0604020202020204" pitchFamily="34" charset="0"/>
              </a:rPr>
              <a:t>システム</a:t>
            </a:r>
            <a:r>
              <a:rPr kumimoji="0" lang="en-US" altLang="ja-JP" dirty="0">
                <a:latin typeface="Arial" panose="020B0604020202020204" pitchFamily="34" charset="0"/>
              </a:rPr>
              <a:t>GA</a:t>
            </a:r>
            <a:r>
              <a:rPr kumimoji="0" lang="ja-JP" altLang="en-US" dirty="0">
                <a:latin typeface="Arial" panose="020B0604020202020204" pitchFamily="34" charset="0"/>
              </a:rPr>
              <a:t>の対応体制は、本見積の</a:t>
            </a:r>
            <a:r>
              <a:rPr lang="ja-JP" altLang="en-US" dirty="0"/>
              <a:t>初期サポートに含む（稼働日からの</a:t>
            </a:r>
            <a:r>
              <a:rPr lang="en-US" altLang="ja-JP" dirty="0"/>
              <a:t>1</a:t>
            </a:r>
            <a:r>
              <a:rPr lang="ja-JP" altLang="en-US" dirty="0"/>
              <a:t>か月を想定、見積もりに含む）</a:t>
            </a:r>
            <a:endParaRPr kumimoji="0" lang="en-US" altLang="ja-JP" dirty="0">
              <a:latin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r>
              <a:rPr kumimoji="0" lang="ja-JP" altLang="en-US" dirty="0">
                <a:latin typeface="Arial" panose="020B0604020202020204" pitchFamily="34" charset="0"/>
              </a:rPr>
              <a:t>運用保守費用は今回の見積もりに含まない（システム</a:t>
            </a:r>
            <a:r>
              <a:rPr kumimoji="0" lang="en-US" altLang="ja-JP" dirty="0">
                <a:latin typeface="Arial" panose="020B0604020202020204" pitchFamily="34" charset="0"/>
              </a:rPr>
              <a:t>GA</a:t>
            </a:r>
            <a:r>
              <a:rPr kumimoji="0" lang="ja-JP" altLang="en-US" dirty="0">
                <a:latin typeface="Arial" panose="020B0604020202020204" pitchFamily="34" charset="0"/>
              </a:rPr>
              <a:t>の第二か月～）</a:t>
            </a:r>
            <a:endParaRPr kumimoji="0" lang="en-US" altLang="ja-JP"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en-US" dirty="0">
                <a:latin typeface="Arial" panose="020B0604020202020204" pitchFamily="34" charset="0"/>
              </a:rPr>
              <a:t>初期半年、</a:t>
            </a:r>
            <a:r>
              <a:rPr kumimoji="0" lang="en-US" altLang="ja-JP" dirty="0">
                <a:latin typeface="Arial" panose="020B0604020202020204" pitchFamily="34" charset="0"/>
              </a:rPr>
              <a:t>MAX 8</a:t>
            </a:r>
            <a:r>
              <a:rPr kumimoji="0" lang="ja-JP" altLang="en-US" dirty="0">
                <a:latin typeface="Arial" panose="020B0604020202020204" pitchFamily="34" charset="0"/>
              </a:rPr>
              <a:t>人体制、</a:t>
            </a:r>
            <a:r>
              <a:rPr kumimoji="0" lang="en-US" altLang="ja-JP" dirty="0">
                <a:latin typeface="Arial" panose="020B0604020202020204" pitchFamily="34" charset="0"/>
              </a:rPr>
              <a:t>Onsite</a:t>
            </a:r>
            <a:r>
              <a:rPr kumimoji="0" lang="ja-JP" altLang="en-US" dirty="0">
                <a:latin typeface="Arial" panose="020B0604020202020204" pitchFamily="34" charset="0"/>
              </a:rPr>
              <a:t> </a:t>
            </a:r>
            <a:r>
              <a:rPr kumimoji="0" lang="en-US" altLang="ja-JP" dirty="0">
                <a:latin typeface="Arial" panose="020B0604020202020204" pitchFamily="34" charset="0"/>
              </a:rPr>
              <a:t>2</a:t>
            </a:r>
            <a:r>
              <a:rPr kumimoji="0" lang="ja-JP" altLang="en-US" dirty="0">
                <a:latin typeface="Arial" panose="020B0604020202020204" pitchFamily="34" charset="0"/>
              </a:rPr>
              <a:t>人、</a:t>
            </a:r>
            <a:r>
              <a:rPr kumimoji="0" lang="en-US" altLang="ja-JP" dirty="0">
                <a:latin typeface="Arial" panose="020B0604020202020204" pitchFamily="34" charset="0"/>
              </a:rPr>
              <a:t>Offsite 6</a:t>
            </a:r>
            <a:r>
              <a:rPr kumimoji="0" lang="ja-JP" altLang="en-US" dirty="0">
                <a:latin typeface="Arial" panose="020B0604020202020204" pitchFamily="34" charset="0"/>
              </a:rPr>
              <a:t>人）</a:t>
            </a:r>
            <a:r>
              <a:rPr kumimoji="0" lang="en-US" altLang="ja-JP" dirty="0">
                <a:latin typeface="Arial" panose="020B0604020202020204" pitchFamily="34" charset="0"/>
              </a:rPr>
              <a:t>&lt;=550</a:t>
            </a:r>
            <a:r>
              <a:rPr kumimoji="0" lang="ja-JP" altLang="en-US" dirty="0">
                <a:latin typeface="Arial" panose="020B0604020202020204" pitchFamily="34" charset="0"/>
              </a:rPr>
              <a:t>万</a:t>
            </a:r>
            <a:r>
              <a:rPr kumimoji="0" lang="en-US" altLang="ja-JP" dirty="0">
                <a:latin typeface="Arial" panose="020B0604020202020204" pitchFamily="34" charset="0"/>
              </a:rPr>
              <a:t>/</a:t>
            </a:r>
            <a:r>
              <a:rPr kumimoji="0" lang="ja-JP" altLang="en-US" dirty="0">
                <a:latin typeface="Arial" panose="020B0604020202020204" pitchFamily="34" charset="0"/>
              </a:rPr>
              <a:t>月程度。</a:t>
            </a:r>
            <a:endParaRPr kumimoji="0" lang="en-US" altLang="ja-JP"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en-US" dirty="0">
                <a:latin typeface="Arial" panose="020B0604020202020204" pitchFamily="34" charset="0"/>
              </a:rPr>
              <a:t>半年後、体制が半分に縮小すると想定</a:t>
            </a:r>
            <a:endParaRPr lang="ja-JP" altLang="en-US" dirty="0"/>
          </a:p>
          <a:p>
            <a:pPr marL="742950" lvl="1" indent="-285750" eaLnBrk="0" fontAlgn="base" hangingPunct="0">
              <a:spcBef>
                <a:spcPct val="0"/>
              </a:spcBef>
              <a:spcAft>
                <a:spcPct val="0"/>
              </a:spcAft>
              <a:buFont typeface="Arial" panose="020B0604020202020204" pitchFamily="34" charset="0"/>
              <a:buChar char="•"/>
            </a:pPr>
            <a:endParaRPr lang="ja-JP" altLang="en-US" dirty="0">
              <a:effectLst/>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35e8e40f-b990-41de-a0fc-543397efce71"/>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tatPL7yq0m3OU.Hh.tYRuw"/>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tatPL7yq0m3OU.Hh.tYRuw"/>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Confidential_Main template_Blue and Cool gray">
  <a:themeElements>
    <a:clrScheme name="blue and cool gray 1">
      <a:dk1>
        <a:srgbClr val="000000"/>
      </a:dk1>
      <a:lt1>
        <a:srgbClr val="FFFFFF"/>
      </a:lt1>
      <a:dk2>
        <a:srgbClr val="D6E0E5"/>
      </a:dk2>
      <a:lt2>
        <a:srgbClr val="EBEFF2"/>
      </a:lt2>
      <a:accent1>
        <a:srgbClr val="005BAB"/>
      </a:accent1>
      <a:accent2>
        <a:srgbClr val="003F7E"/>
      </a:accent2>
      <a:accent3>
        <a:srgbClr val="8A9093"/>
      </a:accent3>
      <a:accent4>
        <a:srgbClr val="B3BBBF"/>
      </a:accent4>
      <a:accent5>
        <a:srgbClr val="D7E0E5"/>
      </a:accent5>
      <a:accent6>
        <a:srgbClr val="6F92CC"/>
      </a:accent6>
      <a:hlink>
        <a:srgbClr val="005BAB"/>
      </a:hlink>
      <a:folHlink>
        <a:srgbClr val="000000"/>
      </a:folHlink>
    </a:clrScheme>
    <a:fontScheme name="游ゴシックMR＋Arial">
      <a:majorFont>
        <a:latin typeface="Arial"/>
        <a:ea typeface="游ゴシック"/>
        <a:cs typeface=""/>
      </a:majorFont>
      <a:minorFont>
        <a:latin typeface="Arial"/>
        <a:ea typeface="游ゴシック Medium"/>
        <a:cs typeface=""/>
      </a:minorFont>
    </a:fontScheme>
    <a:fmtScheme name="ホワイ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5"/>
        </a:solidFill>
        <a:ln w="6350" cap="flat" cmpd="sng" algn="ctr">
          <a:noFill/>
          <a:prstDash val="solid"/>
          <a:miter lim="800000"/>
          <a:headEnd type="none" w="med" len="med"/>
          <a:tailEnd type="none" w="med" len="med"/>
        </a:ln>
      </a:spPr>
      <a:bodyPr lIns="72000" tIns="72000" rIns="72000" bIns="72000" rtlCol="0" anchor="t" anchorCtr="0"/>
      <a:lstStyle>
        <a:defPPr marL="171450" indent="-171450" algn="l">
          <a:buFont typeface="Wingdings" panose="05000000000000000000" pitchFamily="2" charset="2"/>
          <a:buChar char="Ø"/>
          <a:defRPr kumimoji="1" sz="1200" dirty="0" smtClean="0"/>
        </a:defPPr>
      </a:lstStyle>
      <a:style>
        <a:lnRef idx="1">
          <a:schemeClr val="accent1"/>
        </a:lnRef>
        <a:fillRef idx="0">
          <a:schemeClr val="accent1"/>
        </a:fillRef>
        <a:effectRef idx="0">
          <a:schemeClr val="accent1"/>
        </a:effectRef>
        <a:fontRef idx="minor">
          <a:schemeClr val="tx1"/>
        </a:fontRef>
      </a:style>
    </a:spDef>
    <a:lnDef>
      <a:spPr>
        <a:ln w="6350" cap="flat" cmpd="sng" algn="ctr">
          <a:solidFill>
            <a:schemeClr val="tx1"/>
          </a:solidFill>
          <a:prstDash val="solid"/>
          <a:miter lim="800000"/>
          <a:headEnd type="none" w="med" len="med"/>
          <a:tailEnd type="triangle" w="med" len="med"/>
        </a:ln>
      </a:spPr>
      <a:bodyPr/>
      <a:lstStyle/>
      <a:style>
        <a:lnRef idx="1">
          <a:schemeClr val="accent1"/>
        </a:lnRef>
        <a:fillRef idx="0">
          <a:schemeClr val="accent1"/>
        </a:fillRef>
        <a:effectRef idx="0">
          <a:schemeClr val="accent1"/>
        </a:effectRef>
        <a:fontRef idx="minor">
          <a:schemeClr val="tx1"/>
        </a:fontRef>
      </a:style>
    </a:lnDef>
    <a:txDef>
      <a:spPr>
        <a:noFill/>
        <a:ln w="9525" cap="flat" cmpd="sng" algn="ctr">
          <a:solidFill>
            <a:schemeClr val="tx1"/>
          </a:solidFill>
          <a:prstDash val="solid"/>
          <a:round/>
          <a:headEnd type="oval" w="med" len="med"/>
          <a:tailEnd type="oval" w="med" len="med"/>
        </a:ln>
      </a:spPr>
      <a:bodyPr wrap="square" lIns="36000" tIns="36000" rIns="36000" bIns="36000" rtlCol="0" anchor="ctr" anchorCtr="0">
        <a:noAutofit/>
      </a:bodyPr>
      <a:lstStyle>
        <a:defPPr marL="171450" indent="-171450" algn="l">
          <a:buFont typeface="Arial" panose="020B0604020202020204" pitchFamily="34" charset="0"/>
          <a:buChar char="•"/>
          <a:defRPr kumimoji="1" sz="120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Main template_Blue and Cool gray">
  <a:themeElements>
    <a:clrScheme name="blue and cool gray 1">
      <a:dk1>
        <a:srgbClr val="000000"/>
      </a:dk1>
      <a:lt1>
        <a:srgbClr val="FFFFFF"/>
      </a:lt1>
      <a:dk2>
        <a:srgbClr val="D6E0E5"/>
      </a:dk2>
      <a:lt2>
        <a:srgbClr val="EBEFF2"/>
      </a:lt2>
      <a:accent1>
        <a:srgbClr val="005BAB"/>
      </a:accent1>
      <a:accent2>
        <a:srgbClr val="003F7E"/>
      </a:accent2>
      <a:accent3>
        <a:srgbClr val="8A9093"/>
      </a:accent3>
      <a:accent4>
        <a:srgbClr val="B3BBBF"/>
      </a:accent4>
      <a:accent5>
        <a:srgbClr val="D7E0E5"/>
      </a:accent5>
      <a:accent6>
        <a:srgbClr val="6F92CC"/>
      </a:accent6>
      <a:hlink>
        <a:srgbClr val="005BAB"/>
      </a:hlink>
      <a:folHlink>
        <a:srgbClr val="000000"/>
      </a:folHlink>
    </a:clrScheme>
    <a:fontScheme name="游ゴシックMR＋Arial">
      <a:majorFont>
        <a:latin typeface="Arial"/>
        <a:ea typeface="游ゴシック"/>
        <a:cs typeface=""/>
      </a:majorFont>
      <a:minorFont>
        <a:latin typeface="Arial"/>
        <a:ea typeface="游ゴシック Medium"/>
        <a:cs typeface=""/>
      </a:minorFont>
    </a:fontScheme>
    <a:fmtScheme name="ホワイ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72000" rIns="234000" bIns="0" anchor="t" anchorCtr="0">
        <a:noAutofit/>
      </a:bodyPr>
      <a:lstStyle>
        <a:defPPr algn="l">
          <a:defRPr dirty="0" err="1"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DT Template_A4_J_202201">
  <a:themeElements>
    <a:clrScheme name="DT">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T">
      <a:majorFont>
        <a:latin typeface="Calibri"/>
        <a:ea typeface="Yu Gothic UI"/>
        <a:cs typeface=""/>
      </a:majorFont>
      <a:minorFont>
        <a:latin typeface="Calibri Light"/>
        <a:ea typeface="Yu Gothic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rgbClr val="BBBCBC"/>
        </a:solidFill>
        <a:ln w="12700" algn="ctr">
          <a:solidFill>
            <a:srgbClr val="BBBCBC"/>
          </a:solidFill>
          <a:miter lim="800000"/>
        </a:ln>
      </a:spPr>
      <a:bodyPr rot="0" spcFirstLastPara="0" vertOverflow="overflow" horzOverflow="overflow" vert="horz" wrap="square" lIns="0" tIns="0" rIns="0" bIns="0" numCol="1" spcCol="0" rtlCol="0" fromWordArt="0" anchor="ctr" anchorCtr="0" forceAA="0" compatLnSpc="1">
        <a:noAutofit/>
      </a:bodyPr>
      <a:lstStyle>
        <a:defPPr marL="0" marR="0" indent="0" algn="ctr" defTabSz="990600" rtl="0" eaLnBrk="1" fontAlgn="auto" latinLnBrk="0" hangingPunct="1">
          <a:lnSpc>
            <a:spcPct val="100000"/>
          </a:lnSpc>
          <a:spcBef>
            <a:spcPts val="0"/>
          </a:spcBef>
          <a:spcAft>
            <a:spcPts val="0"/>
          </a:spcAft>
          <a:buClrTx/>
          <a:buSzPct val="100000"/>
          <a:buFont typeface="Wingdings" panose="05000000000000000000" pitchFamily="2" charset="2"/>
          <a:buNone/>
          <a:defRPr kumimoji="1" sz="1200" b="0" i="0" u="none" strike="noStrike" kern="1200" cap="none" spc="0" normalizeH="0" baseline="0" noProof="0" dirty="0" smtClean="0">
            <a:ln>
              <a:noFill/>
            </a:ln>
            <a:solidFill>
              <a:prstClr val="black"/>
            </a:solidFill>
            <a:effectLst/>
            <a:uLnTx/>
            <a:uFillTx/>
            <a:latin typeface="+mn-lt"/>
            <a:ea typeface="+mn-ea"/>
            <a:cs typeface="+mn-cs"/>
          </a:defRPr>
        </a:defPPr>
      </a:lstStyle>
    </a:spDef>
    <a:lnDef>
      <a:spPr bwMode="gray">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none" lIns="0" tIns="0" rIns="0" bIns="0" rtlCol="0">
        <a:spAutoFit/>
      </a:bodyPr>
      <a:lstStyle>
        <a:defPPr marL="0" marR="0" indent="0" algn="l" defTabSz="990600" rtl="0" eaLnBrk="1" fontAlgn="auto" latinLnBrk="0" hangingPunct="1">
          <a:lnSpc>
            <a:spcPct val="100000"/>
          </a:lnSpc>
          <a:spcBef>
            <a:spcPts val="0"/>
          </a:spcBef>
          <a:spcAft>
            <a:spcPts val="0"/>
          </a:spcAft>
          <a:buClrTx/>
          <a:buSzPct val="100000"/>
          <a:buFont typeface="Wingdings" panose="05000000000000000000" pitchFamily="2" charset="2"/>
          <a:buNone/>
          <a:defRPr kumimoji="1" sz="1200" b="0" i="0" u="none" strike="noStrike" kern="1200" cap="none" spc="0" normalizeH="0" baseline="0" noProof="0" dirty="0" smtClean="0">
            <a:ln>
              <a:noFill/>
            </a:ln>
            <a:solidFill>
              <a:prstClr val="black"/>
            </a:solidFill>
            <a:effectLst/>
            <a:uLnTx/>
            <a:uFillTx/>
            <a:latin typeface="+mn-lt"/>
            <a:ea typeface="+mn-ea"/>
            <a:cs typeface="+mn-cs"/>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DT Template_16:9_J_202201">
  <a:themeElements>
    <a:clrScheme name="DT">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T">
      <a:majorFont>
        <a:latin typeface="Calibri"/>
        <a:ea typeface="Yu Gothic UI"/>
        <a:cs typeface=""/>
      </a:majorFont>
      <a:minorFont>
        <a:latin typeface="Calibri Light"/>
        <a:ea typeface="Yu Gothic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rgbClr val="BBBCBC"/>
        </a:solidFill>
        <a:ln w="12700" algn="ctr">
          <a:solidFill>
            <a:srgbClr val="BBBCBC"/>
          </a:solidFill>
          <a:miter lim="800000"/>
        </a:ln>
      </a:spPr>
      <a:bodyPr rot="0" spcFirstLastPara="0" vertOverflow="overflow" horzOverflow="overflow" vert="horz" wrap="square" lIns="0" tIns="0" rIns="0" bIns="0" numCol="1" spcCol="0" rtlCol="0" fromWordArt="0" anchor="ctr" anchorCtr="0" forceAA="0" compatLnSpc="1">
        <a:noAutofit/>
      </a:bodyPr>
      <a:lstStyle>
        <a:defPPr marL="0" marR="0" indent="0" algn="ctr" defTabSz="990600" rtl="0" eaLnBrk="1" fontAlgn="auto" latinLnBrk="0" hangingPunct="1">
          <a:lnSpc>
            <a:spcPct val="100000"/>
          </a:lnSpc>
          <a:spcBef>
            <a:spcPts val="0"/>
          </a:spcBef>
          <a:spcAft>
            <a:spcPts val="0"/>
          </a:spcAft>
          <a:buClrTx/>
          <a:buSzPct val="100000"/>
          <a:buFont typeface="Wingdings" panose="05000000000000000000" pitchFamily="2" charset="2"/>
          <a:buNone/>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spDef>
    <a:lnDef>
      <a:spPr bwMode="gray">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none" lIns="0" tIns="0" rIns="0" bIns="0" rtlCol="0">
        <a:spAutoFit/>
      </a:bodyPr>
      <a:lstStyle>
        <a:defPPr marL="0" marR="0" indent="0" algn="l" defTabSz="990600" rtl="0" eaLnBrk="1" fontAlgn="auto" latinLnBrk="0" hangingPunct="1">
          <a:lnSpc>
            <a:spcPct val="100000"/>
          </a:lnSpc>
          <a:spcBef>
            <a:spcPts val="0"/>
          </a:spcBef>
          <a:spcAft>
            <a:spcPts val="0"/>
          </a:spcAft>
          <a:buClrTx/>
          <a:buSzPct val="100000"/>
          <a:buFont typeface="Wingdings" panose="05000000000000000000" pitchFamily="2" charset="2"/>
          <a:buNone/>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DT Template_16:9_J_202201">
  <a:themeElements>
    <a:clrScheme name="DT">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T">
      <a:majorFont>
        <a:latin typeface="Calibri"/>
        <a:ea typeface="Yu Gothic UI"/>
        <a:cs typeface=""/>
      </a:majorFont>
      <a:minorFont>
        <a:latin typeface="Calibri Light"/>
        <a:ea typeface="Yu Gothic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rgbClr val="BBBCBC"/>
        </a:solidFill>
        <a:ln w="12700" algn="ctr">
          <a:solidFill>
            <a:srgbClr val="BBBCBC"/>
          </a:solidFill>
          <a:miter lim="800000"/>
        </a:ln>
      </a:spPr>
      <a:bodyPr rot="0" spcFirstLastPara="0" vertOverflow="overflow" horzOverflow="overflow" vert="horz" wrap="square" lIns="0" tIns="0" rIns="0" bIns="0" numCol="1" spcCol="0" rtlCol="0" fromWordArt="0" anchor="ctr" anchorCtr="0" forceAA="0" compatLnSpc="1">
        <a:noAutofit/>
      </a:bodyPr>
      <a:lstStyle>
        <a:defPPr marL="0" marR="0" indent="0" algn="ctr" defTabSz="990600" rtl="0" eaLnBrk="1" fontAlgn="auto" latinLnBrk="0" hangingPunct="1">
          <a:lnSpc>
            <a:spcPct val="100000"/>
          </a:lnSpc>
          <a:spcBef>
            <a:spcPts val="0"/>
          </a:spcBef>
          <a:spcAft>
            <a:spcPts val="0"/>
          </a:spcAft>
          <a:buClrTx/>
          <a:buSzPct val="100000"/>
          <a:buFont typeface="Wingdings" panose="05000000000000000000" pitchFamily="2" charset="2"/>
          <a:buNone/>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spDef>
    <a:lnDef>
      <a:spPr bwMode="gray">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none" lIns="0" tIns="0" rIns="0" bIns="0" rtlCol="0">
        <a:spAutoFit/>
      </a:bodyPr>
      <a:lstStyle>
        <a:defPPr marL="0" marR="0" indent="0" algn="l" defTabSz="990600" rtl="0" eaLnBrk="1" fontAlgn="auto" latinLnBrk="0" hangingPunct="1">
          <a:lnSpc>
            <a:spcPct val="100000"/>
          </a:lnSpc>
          <a:spcBef>
            <a:spcPts val="0"/>
          </a:spcBef>
          <a:spcAft>
            <a:spcPts val="0"/>
          </a:spcAft>
          <a:buClrTx/>
          <a:buSzPct val="100000"/>
          <a:buFont typeface="Wingdings" panose="05000000000000000000" pitchFamily="2" charset="2"/>
          <a:buNone/>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画廊">
  <a:themeElements>
    <a:clrScheme name="画廊">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画廊">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画廊">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FF8755027893A4E9210A5EC1A82EFF5" ma:contentTypeVersion="8" ma:contentTypeDescription="Create a new document." ma:contentTypeScope="" ma:versionID="edf87b1fa72454dc10dcbc6515930825">
  <xsd:schema xmlns:xsd="http://www.w3.org/2001/XMLSchema" xmlns:xs="http://www.w3.org/2001/XMLSchema" xmlns:p="http://schemas.microsoft.com/office/2006/metadata/properties" xmlns:ns2="259acf4b-b80a-47bc-9c5c-11234d21311e" targetNamespace="http://schemas.microsoft.com/office/2006/metadata/properties" ma:root="true" ma:fieldsID="c09ac35cf20a1c318ca1facae5dcb3d2" ns2:_="">
    <xsd:import namespace="259acf4b-b80a-47bc-9c5c-11234d21311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GenerationTime" minOccurs="0"/>
                <xsd:element ref="ns2:MediaServiceEventHashCode"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9acf4b-b80a-47bc-9c5c-11234d2131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CB922EE-95E3-497F-8326-C2ABF66A4B77}">
  <ds:schemaRefs/>
</ds:datastoreItem>
</file>

<file path=customXml/itemProps2.xml><?xml version="1.0" encoding="utf-8"?>
<ds:datastoreItem xmlns:ds="http://schemas.openxmlformats.org/officeDocument/2006/customXml" ds:itemID="{4216C17B-9ACF-4273-9EF4-F7A543FAF213}">
  <ds:schemaRefs/>
</ds:datastoreItem>
</file>

<file path=customXml/itemProps3.xml><?xml version="1.0" encoding="utf-8"?>
<ds:datastoreItem xmlns:ds="http://schemas.openxmlformats.org/officeDocument/2006/customXml" ds:itemID="{E31EB569-1790-46AF-B846-C3C8AF03910D}">
  <ds:schemaRefs>
    <ds:schemaRef ds:uri="259acf4b-b80a-47bc-9c5c-11234d21311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MCG_jp_rev1</Template>
  <TotalTime>6536</TotalTime>
  <Words>15743</Words>
  <Application>Microsoft Office PowerPoint</Application>
  <PresentationFormat>ワイド画面</PresentationFormat>
  <Paragraphs>1891</Paragraphs>
  <Slides>35</Slides>
  <Notes>33</Notes>
  <HiddenSlides>0</HiddenSlides>
  <MMClips>0</MMClips>
  <ScaleCrop>false</ScaleCrop>
  <HeadingPairs>
    <vt:vector size="8" baseType="variant">
      <vt:variant>
        <vt:lpstr>使用されているフォント</vt:lpstr>
      </vt:variant>
      <vt:variant>
        <vt:i4>13</vt:i4>
      </vt:variant>
      <vt:variant>
        <vt:lpstr>テーマ</vt:lpstr>
      </vt:variant>
      <vt:variant>
        <vt:i4>6</vt:i4>
      </vt:variant>
      <vt:variant>
        <vt:lpstr>埋め込まれた OLE サーバー</vt:lpstr>
      </vt:variant>
      <vt:variant>
        <vt:i4>1</vt:i4>
      </vt:variant>
      <vt:variant>
        <vt:lpstr>スライド タイトル</vt:lpstr>
      </vt:variant>
      <vt:variant>
        <vt:i4>35</vt:i4>
      </vt:variant>
    </vt:vector>
  </HeadingPairs>
  <TitlesOfParts>
    <vt:vector size="55" baseType="lpstr">
      <vt:lpstr>Meiryo UI</vt:lpstr>
      <vt:lpstr>ＭＳ Ｐゴシック</vt:lpstr>
      <vt:lpstr>Yu Gothic UI</vt:lpstr>
      <vt:lpstr>游ゴシック</vt:lpstr>
      <vt:lpstr>游ゴシック Light</vt:lpstr>
      <vt:lpstr>游ゴシック 本文</vt:lpstr>
      <vt:lpstr>Arial</vt:lpstr>
      <vt:lpstr>Calibri</vt:lpstr>
      <vt:lpstr>Calibri Light</vt:lpstr>
      <vt:lpstr>Gill Sans MT</vt:lpstr>
      <vt:lpstr>Verdana</vt:lpstr>
      <vt:lpstr>Wingdings</vt:lpstr>
      <vt:lpstr>Wingdings 2</vt:lpstr>
      <vt:lpstr>1_Confidential_Main template_Blue and Cool gray</vt:lpstr>
      <vt:lpstr>2_Main template_Blue and Cool gray</vt:lpstr>
      <vt:lpstr>DT Template_A4_J_202201</vt:lpstr>
      <vt:lpstr>DT Template_16:9_J_202201</vt:lpstr>
      <vt:lpstr>2_DT Template_16:9_J_202201</vt:lpstr>
      <vt:lpstr>画廊</vt:lpstr>
      <vt:lpstr>think-cellスライド</vt:lpstr>
      <vt:lpstr>Notesアプリ刷新 （製品仕様書管理） Power Apps + AZURE Sql 提案と見積</vt:lpstr>
      <vt:lpstr>提案要旨</vt:lpstr>
      <vt:lpstr>ストレージの選定理由（ AzureSQL＋SPO）</vt:lpstr>
      <vt:lpstr>全体アーキテクチャ</vt:lpstr>
      <vt:lpstr>システム概要</vt:lpstr>
      <vt:lpstr>スケジュール</vt:lpstr>
      <vt:lpstr>見積もり</vt:lpstr>
      <vt:lpstr>結論</vt:lpstr>
      <vt:lpstr>PowerPoint プレゼンテーション</vt:lpstr>
      <vt:lpstr>前書き</vt:lpstr>
      <vt:lpstr>PowerPoint プレゼンテーション</vt:lpstr>
      <vt:lpstr>提案の背景</vt:lpstr>
      <vt:lpstr>システム概要</vt:lpstr>
      <vt:lpstr>ストレージの比較</vt:lpstr>
      <vt:lpstr>ストレージの評価</vt:lpstr>
      <vt:lpstr>ストレージの選定理由（ AzureSQL＋SPO）</vt:lpstr>
      <vt:lpstr>全体アーキテクチャ</vt:lpstr>
      <vt:lpstr>要件の実現（メイン機能）</vt:lpstr>
      <vt:lpstr>要件／ソリューション－添付ファイル管理（編集を含む）</vt:lpstr>
      <vt:lpstr>要件／ソリューション－権限管理</vt:lpstr>
      <vt:lpstr>要件／ソリューション－検索機能</vt:lpstr>
      <vt:lpstr>要件／ソリューション－一括ダウンロード機能</vt:lpstr>
      <vt:lpstr>要件／ソリューション－ユーザ別の属性管理</vt:lpstr>
      <vt:lpstr>要件／ソリューション－非機能要件</vt:lpstr>
      <vt:lpstr>要件／ソリューションーデータ移行</vt:lpstr>
      <vt:lpstr>機能一覧※ご提示頂いた「【新アプリ】機能要件一覧 V1.1.xlsx」の中項目単位で抽出</vt:lpstr>
      <vt:lpstr>機能一覧</vt:lpstr>
      <vt:lpstr>機能一覧</vt:lpstr>
      <vt:lpstr>機能一覧</vt:lpstr>
      <vt:lpstr>プロジェクト重要検討事項</vt:lpstr>
      <vt:lpstr>スケジュール</vt:lpstr>
      <vt:lpstr>見積もり</vt:lpstr>
      <vt:lpstr>結論</vt:lpstr>
      <vt:lpstr>備考</vt:lpstr>
      <vt:lpstr>サポートとメンテナンス－瑕疵範囲、保守提案</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Administrator</dc:creator>
  <cp:lastModifiedBy>he zhendong/0494938/何　振東</cp:lastModifiedBy>
  <cp:revision>80</cp:revision>
  <dcterms:created xsi:type="dcterms:W3CDTF">2023-05-25T05:41:00Z</dcterms:created>
  <dcterms:modified xsi:type="dcterms:W3CDTF">2025-10-20T07:39:40Z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2023-05-25T05:41:11Z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2049bfcc-162e-4d78-8c9a-b897432490f3</vt:lpwstr>
  </property>
  <property fmtid="{D5CDD505-2E9C-101B-9397-08002B2CF9AE}" pid="8" name="MSIP_Label_ea60d57e-af5b-4752-ac57-3e4f28ca11dc_ContentBits">
    <vt:lpwstr>0</vt:lpwstr>
  </property>
  <property fmtid="{D5CDD505-2E9C-101B-9397-08002B2CF9AE}" pid="9" name="MediaServiceImageTags">
    <vt:lpwstr/>
  </property>
  <property fmtid="{D5CDD505-2E9C-101B-9397-08002B2CF9AE}" pid="10" name="ContentTypeId">
    <vt:lpwstr>0x0101009FF8755027893A4E9210A5EC1A82EFF5</vt:lpwstr>
  </property>
  <property fmtid="{D5CDD505-2E9C-101B-9397-08002B2CF9AE}" pid="11" name="Order">
    <vt:r8>5977900</vt:r8>
  </property>
  <property fmtid="{D5CDD505-2E9C-101B-9397-08002B2CF9AE}" pid="12" name="xd_Signature">
    <vt:bool>false</vt:bool>
  </property>
  <property fmtid="{D5CDD505-2E9C-101B-9397-08002B2CF9AE}" pid="13" name="xd_ProgID">
    <vt:lpwstr/>
  </property>
  <property fmtid="{D5CDD505-2E9C-101B-9397-08002B2CF9AE}" pid="14" name="TriggerFlowInfo">
    <vt:lpwstr/>
  </property>
  <property fmtid="{D5CDD505-2E9C-101B-9397-08002B2CF9AE}" pid="15" name="ComplianceAssetId">
    <vt:lpwstr/>
  </property>
  <property fmtid="{D5CDD505-2E9C-101B-9397-08002B2CF9AE}" pid="16" name="TemplateUrl">
    <vt:lpwstr/>
  </property>
  <property fmtid="{D5CDD505-2E9C-101B-9397-08002B2CF9AE}" pid="17" name="_ExtendedDescription">
    <vt:lpwstr/>
  </property>
  <property fmtid="{D5CDD505-2E9C-101B-9397-08002B2CF9AE}" pid="18" name="ICV">
    <vt:lpwstr>61FD6D9CD5724BDC8EF554E0A7F685BE_12</vt:lpwstr>
  </property>
  <property fmtid="{D5CDD505-2E9C-101B-9397-08002B2CF9AE}" pid="19" name="KSOProductBuildVer">
    <vt:lpwstr>2052-12.1.0.20305</vt:lpwstr>
  </property>
</Properties>
</file>